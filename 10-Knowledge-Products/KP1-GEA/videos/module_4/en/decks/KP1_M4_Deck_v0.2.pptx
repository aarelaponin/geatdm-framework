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gaps surface. Duplicate registries — three learner lists where there should be one. Identity not consumed — education re-enters identity on paper instead of using the Identity Authority. No shared data exchange — every link is a custom point-to-point connection or a paper form. And no clear owner — everyone uses 'the learner', nobody is accountable for the authoritative copy.</a:t>
            </a:r>
          </a:p>
          <a:p/>
          <a:p>
            <a:r>
              <a:t>Production cue: this slide answers the retrieval prompt set on the title slide. Give the viewer a beat to compare their list against these four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scoring Progressa's capabilities against the reference architecture's standards. Register a learner: low maturity — three lists, none authoritative. Prove identity: medium — the Identity Authority exists but education does not consume it. Certify a result: high — the Examination Authority does this well. Share data across bodies: very low — almost everything is paper. A simple maturity score per capability turns a vague sense that things are bad into a picture of exactly where the sector is weak and where it is strong.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 see the method work, you need a realistic place to run it. Progressa is a demonstration country with an education sector like many across the continent — real institutions, a real fragmentation problem, and a minister who wants results.</a:t>
            </a:r>
          </a:p>
          <a:p/>
          <a:p>
            <a:r>
              <a:t>On screen: Progressa is a fictional demonstration country. All institutions are fictional and appear as plain-text labels — no emblems, no logos.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education sector has five bodies that matter. The Ministry of Education, Youth and Sport sets policy and funds schools. The National Examination Authority runs examinations and certifies results. The Learner Registry is meant to be the one list of who is a learner. The National Identity Authority owns the person identity every sector reuses. And the Digital Government Authority runs the shared data-exchange backbone and payments. Five bodies — a policy unit, a service authority, two registries, and a shared-platform provider.</a:t>
            </a:r>
          </a:p>
          <a:p/>
          <a:p>
            <a:r>
              <a:t>Production cue: this is the cast for the whole module. Hold it a beat longer than a normal list slide — every later video refers back to these five.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problem the minister feels. A learner is registered three times — once in the school census, once by the Examination Authority for exams, once by a social grant programme. None of the three lists agree. A parent proves the child's identity on paper at every counter, because no system trusts another's. The minister has promised a single learner record that follows the child from primary school to university — and it cannot be delivered, because the systems do not fit together. This is not a Progressa problem. It is the problem most education sectors share.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is fictional on purpose: it shows every step without exposing any real country, and its shapes — duplicate registries, paper re-entry, a stalled flagship — are the ones you will recognise. At each step, ask what the equivalent would be in your own sector.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Running the method on Progressa produces six things across the five phases: a picture of what exists today, a ranked gap analysis, a localised framework with build, buy or share calls, a target architecture, a sequenced costed roadmap, and a living, governed architecture — six deliverables, produced in that order.</a:t>
            </a:r>
          </a:p>
          <a:p/>
          <a:p>
            <a:r>
              <a:t>Production cue: the advance organiser for the module — one sentence of narration, so let the six rows sit on screen while it is read.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this is Progressa. A realistic education sector, five institutions, and the fragmentation problem most countries live with — the canvas the whole method runs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phase is Discover. One question: what exists today? Not what is wrong — that comes later. An accurate picture of where the sector is now. On Progressa, Discovery takes about three to four weeks and produces a single deliverable: the Discovery brief.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collects five things on Progressa. The strategies in force — the national digital strategy, the education sector plan. The systems that exist — the school census system, the exam-management system, the social grant system. The registries and who owns them — the learner lists, the identity register. The stakeholders — the ministry, the authorities, the donors funding each piece. And the legal framework — the data-protection act, the mandates of each body. You gather, you do not judge.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hardest discipline in Discovery is to describe without recommending. When your architects find that the Examination Authority keeps its own learner list, the urge is to write 'this should be fixed'. Resist it. Discovery records that the list exists, who owns it, how many learners it holds. The judgement — is this a problem, how severe, what priority — belongs to the next phase. Mixing them biases the assessment before you have the full picture. Discover first. Judge second.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Discovery brief lays it out plainly. Five institutions, classified. The systems each runs. The registries — and here the brief simply records the fact that three separate learner lists exist, in the census, the Examination Authority, and the grant programme. The data flows — mostly paper and manual re-entry between systems. The legal constraints — what each body is mandated to hold. No recommendations. Just the picture, accurate enough to build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ends with the first of the lifecycle's four sign-offs. The senior decision-maker — on Progressa, the digitalisation officer chairing the EA Board — confirms one thing: the picture is accurate enough to build on. Not complete, not perfect — accurate. This gate is cheap and fast, and skipping it is expensive: an assessment built on a wrong picture produces wrong priorities. Get the picture signed off as true, and the next phase stands on solid ground.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1 on Progressa. One question — what exists today. One deliverable — the Discovery brief. One discipline — describe, do not recommend. One sign-off — the picture is accurate.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two is Assess. Now you judge: what is the gap between where Progressa is and where it needs to be? The deliverable is the current state in four layers, maturity scorecards, and a gap analysis that ranks the problems. About six to eight weeks.</a:t>
            </a:r>
          </a:p>
          <a:p/>
          <a:p>
            <a:r>
              <a:t>Retrieval prompt — ask before playing on: in your own sector, name the gaps you would expect a first assessment to find. Hold your list. The four Progressa surfaces are two slides from now.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4 deck. Each section that follows is one standalone ~3–4 minute video. Modules 1 to 3 taught the pieces — why an architecture matters, how to read and model a government, how to house and govern the practice. Module 4 puts them in motion: the whole lifecycle run on Progressa, a fictional demonstration education sector, so the architect watches each phase produce its deliverable and pass its sign-off.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4.1 sets the canvas; 4.2–4.7 run the five phases in order, each producing its deliverable and passing its sign-off; 4.8 strips the method to what transfers. Note that the Plan phase spans two videos — design the target (4.5), then sequence the roadmap (4.6) — so the count is five phases, four sign-offs, six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 Progressa the duplicate learner registry tops the list. It is the direct cause of the minister's stalled single-learner-record promise, it burdens every parent, and it is closable by making the Learner Registry authoritative and having the others consume it. The no-data-exchange gap is high impact but harder, so it sequences later.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Assess ends with the second sign-off: the gap analysis reflects ground truth. On Progressa that has a cost. One of the three learner lists is owned by a powerful programme that does not want to give it up. An assessment that softens that gap to avoid the fight fails — quietly, a year later, when the single learner record still does not exist.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2 on Progressa. Score the capabilities. Name the four gaps. Rank by impact where movement is possible. Sign it off as honest ground truth — including the uncomfortable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three is Adapt. PAERA is a starting point, not a constraint, so now the architects shape it to Progressa — its own principles, its sector priorities, and a sourcing decision for each building block. About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localise the principles. Progressa adopts PAERA's principles as its baseline and points each at its own laws — once-only against the data-protection act, reuse-before-build against the procurement rules. It adds one principle its context needs, about offline access for rural schools, and gives every principle a written implication so the Board can use it to settle an argument. Progressa does not draft principles from scratch. It inherits the thinking and localises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heart of Adapt: for each building block, a deliberate sourcing call. Progressa's Learner Registry — build it properly, because it is the authoritative core nobody else can own. Identity — do not build; share the national Identity Authority's platform. Exam management — buy a mature market product, it is a solved problem. Data exchange — share the Digital Government Authority's backbone. A new analytics capability nobody is sure about — sandbox it first, before committing. Four kinds of decision, made on purpose, written down with a reason each.</a:t>
            </a:r>
          </a:p>
          <a:p/>
          <a:p>
            <a:r>
              <a:t>On screen: no vendor or product names anywhere on this slide — the call is about the kind of sourcing, not the supplier.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pattern in those calls. The default is reuse and share; build is the exception that must justify itself. This is the phase where the whole-of-government saving is actually chosen — a procurement rule could not make these calls, only an architect looking across the whole sector.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Adapt ends with the third sign-off: the localised framework and the sourcing approach are approved. On Progressa, the Board signs the principle set and the build-buy-share-sandbox matrix. This is a consequential gate — it commits the shape of everything that follows. Approve it, and the roadmap has a clear set of decisions to sequence. Skip the deliberation, and every project re-litigates build-versus-reuse on its own, which is exactly the fragmentation the EA exists to prevent.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3 on Progressa. Localise the principles. Make a deliberate sourcing call for each building block, with reuse as the default. Sign off the framework and the matrix.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Between where Progressa is today and how it gets somewhere sits the deliverable the whole architecture exists to produce: the target architecture, the picture of the future state you are building toward. Skip it, and you sequence a roadmap to a destination nobody drew.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architecture is the future-state picture, drawn in the same four layers you used for the current state — but designed, not observed. The target capability map: each capability owned by exactly one body, the duplicates resolved. The target data domains: one authoritative owner for the learner, the person, the result — the three lists collapsed to one. The target shared platforms: the identity platform and the data-exchange backbone every sector will consume. And the target technology standards. It is the current-state picture's mirror — what the sector should look like once the gaps are closed.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invent the target from imagination. You design it by applying the principles you adopted in Adapt to the gaps you found in Assess. Once-only says the three learner lists become one — so the target has a single authoritative Learner Registry. Reuse-before-build says education consumes the national identity rather than minting its own — so the target shows the Examination Authority consuming the Identity Authority. One-owner-per-domain resolves who owns what. The principles are not decoration; they are the design rules. Apply them to the current state, and the target architecture almost draws itself.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adds one artefact the current state never had: the integration map. It names which bodies need to exchange which data, over what mechanism, in what priority order. On Progressa: the Examination Authority reads the learner from the Learner Registry and the identity from the Identity Authority, both over the Digital Government Authority's data-exchange backbone, replacing the paper re-entry. The integration map is the target's connective tissue — the picture of a government whose systems finally talk to each other. Here you draw it as a first cut; designing those exchanges in full detail is the interoperability work that the next knowledge product covers.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keeps the target useful. It must be reachable, not a fantasy. Every element of the target should trace back to a gap it closes and forward to a sourcing decision — build, buy or share — that obtains it. A target capability with no way to build or acquire it is a wish, not an architecture. So the target architecture and the sourcing decisions are designed together: the target says what the future state is; the sourcing says how each piece is obtained. Signed off together, they are the agreed destination the roadmap then sequences.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you sequence anything, design the target: the future-state picture in four layers plus the integration map, reached by applying your principles to the gaps you found, every element traceable to a sourcing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is Plan. Now the decisions become a sequence: how does Progressa get from today to the target, in what order, at what cost? The deliverable is a roadmap in waves with investment estimates. About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sequences the work into waves, the way PAERA's recommended roadmap suggests. Wave one is inception — stand up the repository and the Board, and make the Learner Registry the authoritative learner. Wave two is the high-priority use case — the single learner record, by having the Examination Authority and the grant programme consume the Learner Registry and the Identity Authority instead of their own lists. Wave three builds out the shared data-exchange backbone. Wave four takes it to mass scale — every education service running on the backbone. Each wave delivers something the minister can show, not just groundwork.</a:t>
            </a:r>
          </a:p>
          <a:p/>
          <a:p>
            <a:r>
              <a:t>Production cue: this is the module's centrepiece slide. Hold it. The wave names follow PAERA §5.7.2–§5.7.5 (Inception, High-priority Use Case, Initial Transformation, Mass-scale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wave gets an honest cost. Wave one is mostly people — the initial engagement and the small permanent EA team. Wave two adds the integration work to connect the authorities to the registries. Wave three is the backbone investment. The estimates are directional, not quotations — enough for cabinet to commit a five-year envelope, not an annual line that vanishes. And the sequencing is deliberate: the minister sees the single learner record — the thing they promised — land in wave two, inside the first year, not in year five.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roadmap does a second job: it is the one page the business side and the IT side both point at — the minister reading outcomes and dates, the architects reading the sequence and its dependencies — so the policy goal and the technical sequence line up without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Plan ends with the fourth sign-off, the most consequential of the four. The decision-maker and the EA Board approve the roadmap and commit the budget — ideally a multi-year envelope, not an annual line. This is the deliverable the minister takes to cabinet. With it approved, Progressa moves from planning to building. Four sign-offs done, in roughly six months from the first day of Discovery. Now the work shifts to making it live.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4 on Progressa. Sequence into waves, each delivering something visible. Cost each wave honestly. Put the minister's promise in an early wave. Sign off the roadmap and commit the budget.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is Execute and Govern — the phase that never ends. The approved roadmap becomes a project pipeline, and a small permanent EA team turns it into a living practice. Three things make it real on Progressa: the repository, the Board, the review gate.</a:t>
            </a:r>
          </a:p>
          <a:p/>
          <a:p>
            <a:r>
              <a:t>Retrieval prompt — ask before playing on: a funded project in a hurry wants to build its own small learner list, because integrating with the registry would be slower for them. What should the gate do, and what happens to the country if it does nothing? The answer is on the Board's ruling slide, three slides 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repository goes live — the single store of Progressa's architecture: the layers, the sourcing decisions, the principle set, the decision log. One named architect keeps it current, updated as each wave delivers. And the permanent team — two to four architects reporting to the digitalisation officer — exists whether or not any single project is running. It is Progressa's standing muscle for cross-cutting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gate does its work. A new scholarship programme arrives, funded and in a hurry. Its plan: build its own small learner list, because integrating with the Learner Registry would mean learning it and waiting on its team. For the project, building is faster — the same rational choice every project makes. The gate asks its few questions. Does a shared building block already exist for this? Yes — the Learner Registry, made authoritative back in wave one.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Board rules: consume the Learner Registry; do not build a fourth list. Left alone, the scholarship programme would have built Progressa's fourth learner list, and the fragmentation the assessment found would have grown instead of shrinking. The gate caught it while it was still a line in a project plan. A procurement rule could not have done this; only the whole-of-government view, plus a Board that can say no. The decision goes in the log, with its reason. And four times a year that same Board sits the business side and the IT side over the same repository, so the two keep deciding together.</a:t>
            </a:r>
          </a:p>
          <a:p/>
          <a:p>
            <a:r>
              <a:t>Production cue: this is the pivotal slide of the whole module and its one full-colour block. Hold it a beat longer. It also answers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5 on Progressa. The repository live and current. The Board binding. The gate catching the fourth learner list before it is built. The business and IT sides deciding together, quarterly, forever.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of a worked example is not Progressa itself — it is that the same five phases, four sign-offs and six deliverables run on any public-sector domain you are handed. Here is the recipe, stripped to what transfers.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recipe is five phases and six deliverables, with a sign-off after each of the first four phases. Discover produces an honest picture. Assess produces a ranked gap analysis. Adapt produces a localised framework and a build-buy-share matrix. Plan produces two: the target architecture — the designed future state — and then the wave-sequenced, costed roadmap that reaches it. Execute and Govern produces a living, governed architecture. Discover before you judge; judge before you adapt; adapt before you design the target; design the target before you sequence the roadmap; govern always. That order is the method.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Moving to your sector, be clear about what changes and what does not. What changes: the institutions — your ministry, your authorities, your registries instead of Progressa's. The data domains — a patient, a farmer, a taxpayer instead of a learner. The specific gaps you find. What does not change: the five phases, the four sign-offs, the six deliverables, the reuse-before-build default, and the binding Board. You swap the contents; you keep the method.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travels beyond education: the same five phases run on health, where the duplicated thing is a patient record; on agriculture, where it is a farmer registry; on social protection, where it is a beneficiary record — and once your country has run the lifecycle once, the second sector is cheaper than the first, because the team, the framework and the governance are already there.</a:t>
            </a:r>
          </a:p>
          <a:p/>
          <a:p>
            <a:r>
              <a:t>On screen: these sectors are named as places the method applies, not as worked examples — education is the worked sector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things to carry from Progressa when you start on your own sector. Start small — pick the one high-priority use case, the equivalent of the single learner record, and make it land in an early wave. Sign off honestly — including the politically uncomfortable gap, because the assessment that flatters fails a year later. And protect the team — the most common way the practice dies is the architects being pulled onto the urgent project of the week. Get those three right and the method does the rest.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recipe: five phases, four sign-offs, six deliverables, reuse before build, a Board that can say no. Change the institutions and the domains, keep the method, and it runs on any sector you are handed.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Running the whole method
on one real sector</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4</a:t>
            </a:r>
          </a:p>
          <a:p>
            <a:r>
              <a:rPr sz="1400" b="0" i="0">
                <a:solidFill>
                  <a:srgbClr val="595959"/>
                </a:solidFill>
                <a:latin typeface="Arial"/>
              </a:rPr>
              <a:t>Eight standalone videos that run the five-phase lifecycle end to end on Progressa, a demonstration education sector: meet the sector, discover what exists, rank the gaps, fit the framework, design the target architecture, sequence the costed roadmap, stand up the governance that keeps re-use happening — then the recipe to run it on your own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~28 mins across 8 videos (4.1 – 4.8)</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4 — eight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4.1  Meet Progressa and its fragmentation problem</a:t>
            </a:r>
            <a:r>
              <a:rPr sz="1200" b="0" i="0">
                <a:solidFill>
                  <a:srgbClr val="595959"/>
                </a:solidFill>
                <a:latin typeface="Arial"/>
              </a:rPr>
              <a:t>   ~3 min</a:t>
            </a:r>
          </a:p>
          <a:p>
            <a:pPr algn="l">
              <a:spcAft>
                <a:spcPts val="900"/>
              </a:spcAft>
            </a:pPr>
            <a:r>
              <a:rPr sz="1500" b="1" i="0">
                <a:solidFill>
                  <a:srgbClr val="1A1A1A"/>
                </a:solidFill>
                <a:latin typeface="Arial"/>
              </a:rPr>
              <a:t>4.2  Phase 1, Discover — map what the sector has today</a:t>
            </a:r>
            <a:r>
              <a:rPr sz="1200" b="0" i="0">
                <a:solidFill>
                  <a:srgbClr val="595959"/>
                </a:solidFill>
                <a:latin typeface="Arial"/>
              </a:rPr>
              <a:t>   ~4 min</a:t>
            </a:r>
          </a:p>
          <a:p>
            <a:pPr algn="l">
              <a:spcAft>
                <a:spcPts val="900"/>
              </a:spcAft>
            </a:pPr>
            <a:r>
              <a:rPr sz="1500" b="1" i="0">
                <a:solidFill>
                  <a:srgbClr val="1A1A1A"/>
                </a:solidFill>
                <a:latin typeface="Arial"/>
              </a:rPr>
              <a:t>4.3  Phase 2, Assess — find the gaps and rank them</a:t>
            </a:r>
            <a:r>
              <a:rPr sz="1200" b="0" i="0">
                <a:solidFill>
                  <a:srgbClr val="595959"/>
                </a:solidFill>
                <a:latin typeface="Arial"/>
              </a:rPr>
              <a:t>   ~3 min</a:t>
            </a:r>
          </a:p>
          <a:p>
            <a:pPr algn="l">
              <a:spcAft>
                <a:spcPts val="900"/>
              </a:spcAft>
            </a:pPr>
            <a:r>
              <a:rPr sz="1500" b="1" i="0">
                <a:solidFill>
                  <a:srgbClr val="1A1A1A"/>
                </a:solidFill>
                <a:latin typeface="Arial"/>
              </a:rPr>
              <a:t>4.4  Phase 3, Adapt — fit PAERA, decide build, buy or share</a:t>
            </a:r>
            <a:r>
              <a:rPr sz="1200" b="0" i="0">
                <a:solidFill>
                  <a:srgbClr val="595959"/>
                </a:solidFill>
                <a:latin typeface="Arial"/>
              </a:rPr>
              <a:t>   ~3 min</a:t>
            </a:r>
          </a:p>
          <a:p>
            <a:pPr algn="l">
              <a:spcAft>
                <a:spcPts val="900"/>
              </a:spcAft>
            </a:pPr>
            <a:r>
              <a:rPr sz="1500" b="1" i="0">
                <a:solidFill>
                  <a:srgbClr val="1A1A1A"/>
                </a:solidFill>
                <a:latin typeface="Arial"/>
              </a:rPr>
              <a:t>4.5  Phase 4, Plan — design the target architecture</a:t>
            </a:r>
            <a:r>
              <a:rPr sz="1200" b="0" i="0">
                <a:solidFill>
                  <a:srgbClr val="595959"/>
                </a:solidFill>
                <a:latin typeface="Arial"/>
              </a:rPr>
              <a:t>   ~4 min</a:t>
            </a:r>
          </a:p>
          <a:p>
            <a:pPr algn="l">
              <a:spcAft>
                <a:spcPts val="900"/>
              </a:spcAft>
            </a:pPr>
            <a:r>
              <a:rPr sz="1500" b="1" i="0">
                <a:solidFill>
                  <a:srgbClr val="1A1A1A"/>
                </a:solidFill>
                <a:latin typeface="Arial"/>
              </a:rPr>
              <a:t>4.6  Phase 4, Plan — sequence the roadmap and cost it</a:t>
            </a:r>
            <a:r>
              <a:rPr sz="1200" b="0" i="0">
                <a:solidFill>
                  <a:srgbClr val="595959"/>
                </a:solidFill>
                <a:latin typeface="Arial"/>
              </a:rPr>
              <a:t>   ~4 min</a:t>
            </a:r>
          </a:p>
          <a:p>
            <a:pPr algn="l">
              <a:spcAft>
                <a:spcPts val="900"/>
              </a:spcAft>
            </a:pPr>
            <a:r>
              <a:rPr sz="1500" b="1" i="0">
                <a:solidFill>
                  <a:srgbClr val="1A1A1A"/>
                </a:solidFill>
                <a:latin typeface="Arial"/>
              </a:rPr>
              <a:t>4.7  Phase 5, Execute &amp; Govern — stand up the living EA</a:t>
            </a:r>
            <a:r>
              <a:rPr sz="1200" b="0" i="0">
                <a:solidFill>
                  <a:srgbClr val="595959"/>
                </a:solidFill>
                <a:latin typeface="Arial"/>
              </a:rPr>
              <a:t>   ~3 min</a:t>
            </a:r>
          </a:p>
          <a:p>
            <a:pPr algn="l">
              <a:spcAft>
                <a:spcPts val="900"/>
              </a:spcAft>
            </a:pPr>
            <a:r>
              <a:rPr sz="1500" b="1" i="0">
                <a:solidFill>
                  <a:srgbClr val="1A1A1A"/>
                </a:solidFill>
                <a:latin typeface="Arial"/>
              </a:rPr>
              <a:t>4.8  Run this on your own sector — the transferable recipe</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 method you have only been told about is a method you cannot run. So this module runs the whole lifecycle, phase by phase, on one sector you can see all of.</a:t>
            </a:r>
          </a:p>
          <a:p>
            <a:pPr>
              <a:spcAft>
                <a:spcPts val="1000"/>
              </a:spcAft>
            </a:pPr>
            <a:r>
              <a:rPr sz="1900" b="0" i="1">
                <a:solidFill>
                  <a:srgbClr val="1A1A1A"/>
                </a:solidFill>
                <a:latin typeface="Arial"/>
              </a:rPr>
              <a:t>Progressa is fictional on purpose — it lets every step be shown in detail. The institutions change when you take this home. The method does not.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Meet Progressa — a real sector with a real fragmentation problem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Progressa is a demonstration education sector with the fragmentation problem most countries share — the same learner registered in several places, identity proven on paper. Meet its institutions and its problem, because the rest of this module runs the full method on exactly this canvas.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To see the method work, you need a realistic place to run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Progressa — a demonstration country with an education sector like many across the continent.</a:t>
            </a:r>
          </a:p>
          <a:p>
            <a:pPr>
              <a:spcAft>
                <a:spcPts val="800"/>
              </a:spcAft>
            </a:pPr>
            <a:r>
              <a:rPr sz="1700" b="0" i="0">
                <a:solidFill>
                  <a:srgbClr val="595959"/>
                </a:solidFill>
                <a:latin typeface="Arial"/>
              </a:rPr>
              <a:t>Real institutions. A real fragmentation problem. A minister who wants results.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bodies: a policy unit, a service authority, two registries, a platform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Ministry of Education, Youth and Sport (MoEYS)</a:t>
            </a:r>
          </a:p>
          <a:p>
            <a:pPr>
              <a:spcAft>
                <a:spcPts val="300"/>
              </a:spcAft>
            </a:pPr>
            <a:r>
              <a:rPr sz="1550" b="0" i="0">
                <a:solidFill>
                  <a:srgbClr val="595959"/>
                </a:solidFill>
                <a:latin typeface="Arial"/>
              </a:rPr>
              <a:t>Sets policy and funds schools. The policy unit.</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Examination Authority (PNEA)</a:t>
            </a:r>
          </a:p>
          <a:p>
            <a:pPr>
              <a:spcAft>
                <a:spcPts val="300"/>
              </a:spcAft>
            </a:pPr>
            <a:r>
              <a:rPr sz="1550" b="0" i="0">
                <a:solidFill>
                  <a:srgbClr val="595959"/>
                </a:solidFill>
                <a:latin typeface="Arial"/>
              </a:rPr>
              <a:t>Runs examinations and certifies results. The service authority.</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Learner Registry (PLR)</a:t>
            </a:r>
          </a:p>
          <a:p>
            <a:pPr>
              <a:spcAft>
                <a:spcPts val="300"/>
              </a:spcAft>
            </a:pPr>
            <a:r>
              <a:rPr sz="1550" b="0" i="0">
                <a:solidFill>
                  <a:srgbClr val="595959"/>
                </a:solidFill>
                <a:latin typeface="Arial"/>
              </a:rPr>
              <a:t>Meant to be the one list of who is a learner.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Identity Authority (PNIA)</a:t>
            </a:r>
          </a:p>
          <a:p>
            <a:pPr>
              <a:spcAft>
                <a:spcPts val="300"/>
              </a:spcAft>
            </a:pPr>
            <a:r>
              <a:rPr sz="1550" b="0" i="0">
                <a:solidFill>
                  <a:srgbClr val="595959"/>
                </a:solidFill>
                <a:latin typeface="Arial"/>
              </a:rPr>
              <a:t>Owns the person identity every sector reuses.</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Digital Government Authority (PDGA)</a:t>
            </a:r>
          </a:p>
          <a:p>
            <a:pPr>
              <a:spcAft>
                <a:spcPts val="300"/>
              </a:spcAft>
            </a:pPr>
            <a:r>
              <a:rPr sz="1550" b="0" i="0">
                <a:solidFill>
                  <a:srgbClr val="595959"/>
                </a:solidFill>
                <a:latin typeface="Arial"/>
              </a:rPr>
              <a:t>Runs the shared data-exchange backbone and payments.</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registries — and neither is the undisputed owner of the learner.</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learner, three registrations, and the three lists do not agree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learner is registered three times — once in the school census, once by the Examination Authority for exams, once by a social grant programme. None of the three lists agree.</a:t>
            </a:r>
          </a:p>
          <a:p>
            <a:pPr>
              <a:spcAft>
                <a:spcPts val="1200"/>
              </a:spcAft>
            </a:pPr>
            <a:r>
              <a:rPr sz="2000" b="0" i="0">
                <a:solidFill>
                  <a:srgbClr val="1A1A1A"/>
                </a:solidFill>
                <a:latin typeface="Arial"/>
              </a:rPr>
              <a:t>A parent proves the child's identity on paper at every counter, because no system trusts another's. The minister has promised a single learner record that follows the child from primary school to university — and it cannot be delivered, because the systems do not fit together.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Progressa problem. Most education sectors share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Fictional on purpose — so every step can be shown in full detail</a:t>
            </a:r>
          </a:p>
        </p:txBody>
      </p:sp>
      <p:sp>
        <p:nvSpPr>
          <p:cNvPr id="4" name="TextBox 3"/>
          <p:cNvSpPr txBox="1"/>
          <p:nvPr/>
        </p:nvSpPr>
        <p:spPr>
          <a:xfrm>
            <a:off x="658368" y="1600200"/>
            <a:ext cx="10881360" cy="1508760"/>
          </a:xfrm>
          <a:prstGeom prst="rect">
            <a:avLst/>
          </a:prstGeom>
          <a:noFill/>
        </p:spPr>
        <p:txBody>
          <a:bodyPr wrap="square">
            <a:spAutoFit/>
          </a:bodyPr>
          <a:lstStyle/>
          <a:p>
            <a:pPr>
              <a:spcAft>
                <a:spcPts val="1200"/>
              </a:spcAft>
            </a:pPr>
            <a:r>
              <a:rPr sz="2000" b="0" i="0">
                <a:solidFill>
                  <a:srgbClr val="1A1A1A"/>
                </a:solidFill>
                <a:latin typeface="Arial"/>
              </a:rPr>
              <a:t>Progressa shows every step in detail without exposing any real country, and its shapes — duplicate registries, paper re-entry, a stalled flagship — are the ones you will recognise.</a:t>
            </a:r>
          </a:p>
          <a:p>
            <a:pPr>
              <a:spcAft>
                <a:spcPts val="1200"/>
              </a:spcAft>
            </a:pPr>
            <a:r>
              <a:rPr sz="2000" b="0" i="0">
                <a:solidFill>
                  <a:srgbClr val="1A1A1A"/>
                </a:solidFill>
                <a:latin typeface="Arial"/>
              </a:rPr>
              <a:t>Keep your own sector in mind as we go.</a:t>
            </a:r>
          </a:p>
        </p:txBody>
      </p:sp>
      <p:sp>
        <p:nvSpPr>
          <p:cNvPr id="5" name="Rounded Rectangle 4"/>
          <p:cNvSpPr/>
          <p:nvPr/>
        </p:nvSpPr>
        <p:spPr>
          <a:xfrm>
            <a:off x="658368" y="3291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483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institutions change. The method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six deliverables — this is what you will watch being built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A picture of what exists today</a:t>
            </a:r>
          </a:p>
          <a:p>
            <a:pPr>
              <a:spcAft>
                <a:spcPts val="300"/>
              </a:spcAft>
            </a:pPr>
            <a:r>
              <a:rPr sz="1550" b="0" i="0">
                <a:solidFill>
                  <a:srgbClr val="595959"/>
                </a:solidFill>
                <a:latin typeface="Arial"/>
              </a:rPr>
              <a:t>Discover</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 ranked gap analysis</a:t>
            </a:r>
          </a:p>
          <a:p>
            <a:pPr>
              <a:spcAft>
                <a:spcPts val="300"/>
              </a:spcAft>
            </a:pPr>
            <a:r>
              <a:rPr sz="1550" b="0" i="0">
                <a:solidFill>
                  <a:srgbClr val="595959"/>
                </a:solidFill>
                <a:latin typeface="Arial"/>
              </a:rPr>
              <a:t>Assess</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 localised framework with build, buy or share calls</a:t>
            </a:r>
          </a:p>
          <a:p>
            <a:pPr>
              <a:spcAft>
                <a:spcPts val="300"/>
              </a:spcAft>
            </a:pPr>
            <a:r>
              <a:rPr sz="1550" b="0" i="0">
                <a:solidFill>
                  <a:srgbClr val="595959"/>
                </a:solidFill>
                <a:latin typeface="Arial"/>
              </a:rPr>
              <a:t>Adapt</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A target architecture — the designed future state</a:t>
            </a:r>
          </a:p>
          <a:p>
            <a:pPr>
              <a:spcAft>
                <a:spcPts val="300"/>
              </a:spcAft>
            </a:pPr>
            <a:r>
              <a:rPr sz="1550" b="0" i="0">
                <a:solidFill>
                  <a:srgbClr val="595959"/>
                </a:solidFill>
                <a:latin typeface="Arial"/>
              </a:rPr>
              <a:t>Plan</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A sequenced, costed roadmap</a:t>
            </a:r>
          </a:p>
          <a:p>
            <a:pPr>
              <a:spcAft>
                <a:spcPts val="300"/>
              </a:spcAft>
            </a:pPr>
            <a:r>
              <a:rPr sz="1550" b="0" i="0">
                <a:solidFill>
                  <a:srgbClr val="595959"/>
                </a:solidFill>
                <a:latin typeface="Arial"/>
              </a:rPr>
              <a:t>Plan</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A living, governed architecture</a:t>
            </a:r>
          </a:p>
          <a:p>
            <a:pPr>
              <a:spcAft>
                <a:spcPts val="300"/>
              </a:spcAft>
            </a:pPr>
            <a:r>
              <a:rPr sz="1550" b="0" i="0">
                <a:solidFill>
                  <a:srgbClr val="595959"/>
                </a:solidFill>
                <a:latin typeface="Arial"/>
              </a:rPr>
              <a:t>Execute &amp; Govern</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Six deliverables across five phases, produced in that order — Plan produces two.</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Progressa is a realistic education sector with the fragmentation problem most countries share — the canvas for running the whole method, step by step, so you can reproduce it on your own.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own demonstration canvas.</a:t>
            </a:r>
          </a:p>
          <a:p>
            <a:pPr algn="l">
              <a:spcAft>
                <a:spcPts val="400"/>
              </a:spcAft>
            </a:pPr>
            <a:r>
              <a:rPr sz="1800" b="0" i="0">
                <a:solidFill>
                  <a:srgbClr val="595959"/>
                </a:solidFill>
                <a:latin typeface="Arial"/>
              </a:rPr>
              <a:t>The prompt in the companion material gives you a one-page canvas (bodies, symptoms, stalled flagship).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1, Discover — map what the sector has today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Discovery produces one deliverable — an honest picture of what the sector has today, with no recommendations yet — signed off as accurate before any analysis begins. Watch it done on Progressa.</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1 — Discover. One question: what exists today?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 what is wrong — that comes later.</a:t>
            </a:r>
          </a:p>
          <a:p>
            <a:pPr>
              <a:spcAft>
                <a:spcPts val="800"/>
              </a:spcAft>
            </a:pPr>
            <a:r>
              <a:rPr sz="1700" b="0" i="0">
                <a:solidFill>
                  <a:srgbClr val="595959"/>
                </a:solidFill>
                <a:latin typeface="Arial"/>
              </a:rPr>
              <a:t>About three to four weeks on Progressa.</a:t>
            </a:r>
          </a:p>
          <a:p>
            <a:pPr>
              <a:spcAft>
                <a:spcPts val="800"/>
              </a:spcAft>
            </a:pPr>
            <a:r>
              <a:rPr sz="1700" b="0" i="0">
                <a:solidFill>
                  <a:srgbClr val="595959"/>
                </a:solidFill>
                <a:latin typeface="Arial"/>
              </a:rPr>
              <a:t>One deliverable: the Discovery brief.</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Discovery collects five things — and judges none of them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Strategies in force</a:t>
            </a:r>
          </a:p>
          <a:p>
            <a:pPr>
              <a:spcAft>
                <a:spcPts val="300"/>
              </a:spcAft>
            </a:pPr>
            <a:r>
              <a:rPr sz="1550" b="0" i="0">
                <a:solidFill>
                  <a:srgbClr val="595959"/>
                </a:solidFill>
                <a:latin typeface="Arial"/>
              </a:rPr>
              <a:t>The national digital strategy; the education sector plan.</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Systems that exist</a:t>
            </a:r>
          </a:p>
          <a:p>
            <a:pPr>
              <a:spcAft>
                <a:spcPts val="300"/>
              </a:spcAft>
            </a:pPr>
            <a:r>
              <a:rPr sz="1550" b="0" i="0">
                <a:solidFill>
                  <a:srgbClr val="595959"/>
                </a:solidFill>
                <a:latin typeface="Arial"/>
              </a:rPr>
              <a:t>School census, exam management, the social grant system.</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Registries and who owns them</a:t>
            </a:r>
          </a:p>
          <a:p>
            <a:pPr>
              <a:spcAft>
                <a:spcPts val="300"/>
              </a:spcAft>
            </a:pPr>
            <a:r>
              <a:rPr sz="1550" b="0" i="0">
                <a:solidFill>
                  <a:srgbClr val="595959"/>
                </a:solidFill>
                <a:latin typeface="Arial"/>
              </a:rPr>
              <a:t>The learner lists; the identity register.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Stakeholders</a:t>
            </a:r>
          </a:p>
          <a:p>
            <a:pPr>
              <a:spcAft>
                <a:spcPts val="300"/>
              </a:spcAft>
            </a:pPr>
            <a:r>
              <a:rPr sz="1550" b="0" i="0">
                <a:solidFill>
                  <a:srgbClr val="595959"/>
                </a:solidFill>
                <a:latin typeface="Arial"/>
              </a:rPr>
              <a:t>The ministry, the authorities, the donors funding each piece.</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The legal framework</a:t>
            </a:r>
          </a:p>
          <a:p>
            <a:pPr>
              <a:spcAft>
                <a:spcPts val="300"/>
              </a:spcAft>
            </a:pPr>
            <a:r>
              <a:rPr sz="1550" b="0" i="0">
                <a:solidFill>
                  <a:srgbClr val="595959"/>
                </a:solidFill>
                <a:latin typeface="Arial"/>
              </a:rPr>
              <a:t>The data-protection act; the mandate of each body.</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gather. You do not judge.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Describe without recommending — the judgement belongs to the next phase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When your architects find that the Examination Authority keeps its own learner list, the urge is to write "this should be fixed". Resist it.</a:t>
            </a:r>
          </a:p>
          <a:p>
            <a:pPr>
              <a:spcAft>
                <a:spcPts val="1200"/>
              </a:spcAft>
            </a:pPr>
            <a:r>
              <a:rPr sz="2000" b="0" i="0">
                <a:solidFill>
                  <a:srgbClr val="1A1A1A"/>
                </a:solidFill>
                <a:latin typeface="Arial"/>
              </a:rPr>
              <a:t>Discovery records that the list exists, who owns it, how many learners it holds. Whether it is a problem, how severe, what priority — that belongs to Assess. Mixing them biases the assessment before you have the full picture.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Discover first. Judge second.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brief records three learner lists as a fact, not yet as a problem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Progressa's Discovery brief lays it out plainly. Five institutions, classified. The systems each runs. The registries — and here the brief simply records that three separate learner lists exist, in the census, the Examination Authority, and the grant programme.</a:t>
            </a:r>
          </a:p>
          <a:p>
            <a:pPr>
              <a:spcAft>
                <a:spcPts val="1200"/>
              </a:spcAft>
            </a:pPr>
            <a:r>
              <a:rPr sz="2000" b="0" i="0">
                <a:solidFill>
                  <a:srgbClr val="1A1A1A"/>
                </a:solidFill>
                <a:latin typeface="Arial"/>
              </a:rPr>
              <a:t>The data flows — mostly paper and manual re-entry between systems. The legal constraints — what each body is mandated to hold.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 recommendations. Just the picture, accurate enough to build 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one: accurate. Not complete, not perfect — accurate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Discovery ends with the first of the lifecycle's four sign-offs. On Progressa, the digitalisation officer chairing the EA Board confirms one thing: the picture is accurate enough to build on.</a:t>
            </a:r>
          </a:p>
          <a:p>
            <a:pPr>
              <a:spcAft>
                <a:spcPts val="1200"/>
              </a:spcAft>
            </a:pPr>
            <a:r>
              <a:rPr sz="2000" b="0" i="0">
                <a:solidFill>
                  <a:srgbClr val="1A1A1A"/>
                </a:solidFill>
                <a:latin typeface="Arial"/>
              </a:rPr>
              <a:t>This gate is cheap and fast, and skipping it is expensive.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built on a wrong picture produces wrong priorities.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Discover produces one honest picture of what the sector has today — described, not judged — signed off as accurate before any analysis begins.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Discovery brief outline.</a:t>
            </a:r>
          </a:p>
          <a:p>
            <a:pPr algn="l">
              <a:spcAft>
                <a:spcPts val="400"/>
              </a:spcAft>
            </a:pPr>
            <a:r>
              <a:rPr sz="1800" b="0" i="0">
                <a:solidFill>
                  <a:srgbClr val="595959"/>
                </a:solidFill>
                <a:latin typeface="Arial"/>
              </a:rPr>
              <a:t>The prompt in the companion material gives you a Discovery brief outline with capture questions, a source column and the sign-off question.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2, Assess — find the gaps and rank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Assess turns Progressa's picture into a ranked gap analysis — the right problems, in the right order — signed off as ground truth. It is the assessment method applied to a real sector.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2 — Assess. Now you judge.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What is the gap between where Progressa is and where it needs to be?</a:t>
            </a:r>
          </a:p>
          <a:p>
            <a:pPr>
              <a:spcAft>
                <a:spcPts val="800"/>
              </a:spcAft>
            </a:pPr>
            <a:r>
              <a:rPr sz="1700" b="0" i="0">
                <a:solidFill>
                  <a:srgbClr val="595959"/>
                </a:solidFill>
                <a:latin typeface="Arial"/>
              </a:rPr>
              <a:t>The current state in four layers, maturity scorecards, and a gap analysis that ranks the problems.</a:t>
            </a:r>
          </a:p>
          <a:p>
            <a:pPr>
              <a:spcAft>
                <a:spcPts val="800"/>
              </a:spcAft>
            </a:pPr>
            <a:r>
              <a:rPr sz="1700" b="0" i="0">
                <a:solidFill>
                  <a:srgbClr val="595959"/>
                </a:solidFill>
                <a:latin typeface="Arial"/>
              </a:rPr>
              <a:t>About six to eight weeks.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Score the capabilities and “things are bad” becomes a map</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Register a learner — LOW</a:t>
            </a:r>
          </a:p>
          <a:p>
            <a:pPr>
              <a:spcAft>
                <a:spcPts val="300"/>
              </a:spcAft>
            </a:pPr>
            <a:r>
              <a:rPr sz="1550" b="0" i="0">
                <a:solidFill>
                  <a:srgbClr val="595959"/>
                </a:solidFill>
                <a:latin typeface="Arial"/>
              </a:rPr>
              <a:t>Three lists, none of them authoritative.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Prove identity — MEDIUM</a:t>
            </a:r>
          </a:p>
          <a:p>
            <a:pPr>
              <a:spcAft>
                <a:spcPts val="300"/>
              </a:spcAft>
            </a:pPr>
            <a:r>
              <a:rPr sz="1550" b="0" i="0">
                <a:solidFill>
                  <a:srgbClr val="595959"/>
                </a:solidFill>
                <a:latin typeface="Arial"/>
              </a:rPr>
              <a:t>PNIA exists; education does not consume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Certify a result — HIGH</a:t>
            </a:r>
          </a:p>
          <a:p>
            <a:pPr>
              <a:spcAft>
                <a:spcPts val="300"/>
              </a:spcAft>
            </a:pPr>
            <a:r>
              <a:rPr sz="1550" b="0" i="0">
                <a:solidFill>
                  <a:srgbClr val="595959"/>
                </a:solidFill>
                <a:latin typeface="Arial"/>
              </a:rPr>
              <a:t>The Examination Authority does this well.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Share data across bodies — VERY LOW</a:t>
            </a:r>
          </a:p>
          <a:p>
            <a:pPr>
              <a:spcAft>
                <a:spcPts val="300"/>
              </a:spcAft>
            </a:pPr>
            <a:r>
              <a:rPr sz="1550" b="0" i="0">
                <a:solidFill>
                  <a:srgbClr val="595959"/>
                </a:solidFill>
                <a:latin typeface="Arial"/>
              </a:rPr>
              <a:t>Almost everything still moves on paper.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everything is broken. Knowing exactly which part is, is the point.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surface on Progressa — and one has no owner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54430"/>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Three learner lists where there should be one.</a:t>
            </a:r>
          </a:p>
        </p:txBody>
      </p:sp>
      <p:sp>
        <p:nvSpPr>
          <p:cNvPr id="6" name="Rectangle 5"/>
          <p:cNvSpPr/>
          <p:nvPr/>
        </p:nvSpPr>
        <p:spPr>
          <a:xfrm>
            <a:off x="621792" y="262204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70891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63190"/>
            <a:ext cx="10527487" cy="1154430"/>
          </a:xfrm>
          <a:prstGeom prst="rect">
            <a:avLst/>
          </a:prstGeom>
          <a:noFill/>
        </p:spPr>
        <p:txBody>
          <a:bodyPr wrap="square">
            <a:spAutoFit/>
          </a:bodyPr>
          <a:lstStyle/>
          <a:p>
            <a:pPr>
              <a:spcAft>
                <a:spcPts val="300"/>
              </a:spcAft>
            </a:pPr>
            <a:r>
              <a:rPr sz="1900" b="1" i="0">
                <a:solidFill>
                  <a:srgbClr val="1A1A1A"/>
                </a:solidFill>
                <a:latin typeface="Arial"/>
              </a:rPr>
              <a:t>Identity not consumed</a:t>
            </a:r>
          </a:p>
          <a:p>
            <a:pPr>
              <a:spcAft>
                <a:spcPts val="300"/>
              </a:spcAft>
            </a:pPr>
            <a:r>
              <a:rPr sz="1550" b="0" i="0">
                <a:solidFill>
                  <a:srgbClr val="595959"/>
                </a:solidFill>
                <a:latin typeface="Arial"/>
              </a:rPr>
              <a:t>Education re-enters identity on paper instead of using PNIA.</a:t>
            </a:r>
          </a:p>
        </p:txBody>
      </p:sp>
      <p:sp>
        <p:nvSpPr>
          <p:cNvPr id="9" name="Rectangle 8"/>
          <p:cNvSpPr/>
          <p:nvPr/>
        </p:nvSpPr>
        <p:spPr>
          <a:xfrm>
            <a:off x="621792" y="38221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90905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63339"/>
            <a:ext cx="10527487" cy="1154430"/>
          </a:xfrm>
          <a:prstGeom prst="rect">
            <a:avLst/>
          </a:prstGeom>
          <a:noFill/>
        </p:spPr>
        <p:txBody>
          <a:bodyPr wrap="square">
            <a:spAutoFit/>
          </a:bodyPr>
          <a:lstStyle/>
          <a:p>
            <a:pPr>
              <a:spcAft>
                <a:spcPts val="300"/>
              </a:spcAft>
            </a:pPr>
            <a:r>
              <a:rPr sz="1900" b="1" i="0">
                <a:solidFill>
                  <a:srgbClr val="1A1A1A"/>
                </a:solidFill>
                <a:latin typeface="Arial"/>
              </a:rPr>
              <a:t>No shared data exchange</a:t>
            </a:r>
          </a:p>
          <a:p>
            <a:pPr>
              <a:spcAft>
                <a:spcPts val="300"/>
              </a:spcAft>
            </a:pPr>
            <a:r>
              <a:rPr sz="1550" b="0" i="0">
                <a:solidFill>
                  <a:srgbClr val="595959"/>
                </a:solidFill>
                <a:latin typeface="Arial"/>
              </a:rPr>
              <a:t>Every link is a custom point-to-point connection or a paper form.</a:t>
            </a:r>
          </a:p>
        </p:txBody>
      </p:sp>
      <p:sp>
        <p:nvSpPr>
          <p:cNvPr id="12" name="Rectangle 11"/>
          <p:cNvSpPr/>
          <p:nvPr/>
        </p:nvSpPr>
        <p:spPr>
          <a:xfrm>
            <a:off x="621792" y="502234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10920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63490"/>
            <a:ext cx="10527487" cy="1154430"/>
          </a:xfrm>
          <a:prstGeom prst="rect">
            <a:avLst/>
          </a:prstGeom>
          <a:noFill/>
        </p:spPr>
        <p:txBody>
          <a:bodyPr wrap="square">
            <a:spAutoFit/>
          </a:bodyPr>
          <a:lstStyle/>
          <a:p>
            <a:pPr>
              <a:spcAft>
                <a:spcPts val="300"/>
              </a:spcAft>
            </a:pPr>
            <a:r>
              <a:rPr sz="1900" b="1" i="0">
                <a:solidFill>
                  <a:srgbClr val="1A1A1A"/>
                </a:solidFill>
                <a:latin typeface="Arial"/>
              </a:rPr>
              <a:t>No clear owner of the authoritative learner</a:t>
            </a:r>
          </a:p>
          <a:p>
            <a:pPr>
              <a:spcAft>
                <a:spcPts val="300"/>
              </a:spcAft>
            </a:pPr>
            <a:r>
              <a:rPr sz="1550" b="0" i="0">
                <a:solidFill>
                  <a:srgbClr val="595959"/>
                </a:solidFill>
                <a:latin typeface="Arial"/>
              </a:rPr>
              <a:t>Everyone uses “the learner”; nobody is accountable for the copy of record.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duplicate learner registry tops the list — it hurts most and it can move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Score each gap by how much it hurts and how hard it is to close. On Progressa the duplicate learner registry tops the list: it is the direct cause of the minister's stalled promise, it burdens every parent, and it is closable — make the Learner Registry authoritative and have the others consume it.</a:t>
            </a:r>
          </a:p>
          <a:p>
            <a:pPr>
              <a:spcAft>
                <a:spcPts val="1200"/>
              </a:spcAft>
            </a:pPr>
            <a:r>
              <a:rPr sz="2000" b="0" i="0">
                <a:solidFill>
                  <a:srgbClr val="1A1A1A"/>
                </a:solidFill>
                <a:latin typeface="Arial"/>
              </a:rPr>
              <a:t>The no-data-exchange gap is high impact but harder, so it sequences later.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Rank by impact where movement is possible.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two carries an honesty test you can fail quietly</a:t>
            </a:r>
          </a:p>
        </p:txBody>
      </p:sp>
      <p:sp>
        <p:nvSpPr>
          <p:cNvPr id="4" name="TextBox 3"/>
          <p:cNvSpPr txBox="1"/>
          <p:nvPr/>
        </p:nvSpPr>
        <p:spPr>
          <a:xfrm>
            <a:off x="658368" y="1600200"/>
            <a:ext cx="10881360" cy="1965960"/>
          </a:xfrm>
          <a:prstGeom prst="rect">
            <a:avLst/>
          </a:prstGeom>
          <a:noFill/>
        </p:spPr>
        <p:txBody>
          <a:bodyPr wrap="square">
            <a:spAutoFit/>
          </a:bodyPr>
          <a:lstStyle/>
          <a:p>
            <a:pPr>
              <a:spcAft>
                <a:spcPts val="1200"/>
              </a:spcAft>
            </a:pPr>
            <a:r>
              <a:rPr sz="2000" b="0" i="0">
                <a:solidFill>
                  <a:srgbClr val="1A1A1A"/>
                </a:solidFill>
                <a:latin typeface="Arial"/>
              </a:rPr>
              <a:t>On Progressa, one of the three learner lists is owned by a powerful programme that does not want to give it up.</a:t>
            </a:r>
          </a:p>
          <a:p>
            <a:pPr>
              <a:spcAft>
                <a:spcPts val="1200"/>
              </a:spcAft>
            </a:pPr>
            <a:r>
              <a:rPr sz="2000" b="0" i="0">
                <a:solidFill>
                  <a:srgbClr val="1A1A1A"/>
                </a:solidFill>
                <a:latin typeface="Arial"/>
              </a:rPr>
              <a:t>The gap analysis must reflect ground truth — including that one.</a:t>
            </a:r>
          </a:p>
        </p:txBody>
      </p:sp>
      <p:sp>
        <p:nvSpPr>
          <p:cNvPr id="5" name="Rounded Rectangle 4"/>
          <p:cNvSpPr/>
          <p:nvPr/>
        </p:nvSpPr>
        <p:spPr>
          <a:xfrm>
            <a:off x="658368" y="37490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41063"/>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that softens that gap fails —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Assess turns Progressa’s picture into a ranked gap analysis — the right problems in the right order, signed off as ground truth — including the uncomfortable ones.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your Discovery brief into a ranked gap analysis.</a:t>
            </a:r>
          </a:p>
          <a:p>
            <a:pPr algn="l">
              <a:spcAft>
                <a:spcPts val="400"/>
              </a:spcAft>
            </a:pPr>
            <a:r>
              <a:rPr sz="1800" b="0" i="0">
                <a:solidFill>
                  <a:srgbClr val="595959"/>
                </a:solidFill>
                <a:latin typeface="Arial"/>
              </a:rPr>
              <a:t>The prompt in the companion material gives you capability maturity scores, a ranked gap table, and the honesty flags.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§5.1 (Capabilities Assessment)</a:t>
            </a:r>
          </a:p>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§3.1.3 (Readiness Assessment)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3, Adapt — fit PAERA and decide build, buy or share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Adapt fits PAERA to Progressa — localising principles, setting sector priorities, and deciding for each building block whether to build, buy, share or sandbox — signed off as the framework and sourcing approach.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3 — Adapt. PAERA is a starting point, not a constraint.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architects shape it to Progressa — its own principles, its sector priorities,</a:t>
            </a:r>
          </a:p>
          <a:p>
            <a:pPr>
              <a:spcAft>
                <a:spcPts val="800"/>
              </a:spcAft>
            </a:pPr>
            <a:r>
              <a:rPr sz="1700" b="0" i="0">
                <a:solidFill>
                  <a:srgbClr val="595959"/>
                </a:solidFill>
                <a:latin typeface="Arial"/>
              </a:rPr>
              <a:t>and a sourcing decision for each building block.</a:t>
            </a:r>
          </a:p>
          <a:p>
            <a:pPr>
              <a:spcAft>
                <a:spcPts val="800"/>
              </a:spcAft>
            </a:pPr>
            <a:r>
              <a:rPr sz="1700" b="0" i="0">
                <a:solidFill>
                  <a:srgbClr val="595959"/>
                </a:solidFill>
                <a:latin typeface="Arial"/>
              </a:rPr>
              <a:t>About four to six weeks.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does not draft principles from scratch — it inherits and localises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 adopts PAERA's principles as its baseline and points each at its own laws — once-only against the data-protection act, reuse-before-build against the procurement rules.</a:t>
            </a:r>
          </a:p>
          <a:p>
            <a:pPr>
              <a:spcAft>
                <a:spcPts val="1200"/>
              </a:spcAft>
            </a:pPr>
            <a:r>
              <a:rPr sz="2000" b="0" i="0">
                <a:solidFill>
                  <a:srgbClr val="1A1A1A"/>
                </a:solidFill>
                <a:latin typeface="Arial"/>
              </a:rPr>
              <a:t>It adds one principle its own context needs, about offline access for rural schools.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Every principle gets a written implication the Board can rule with.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kinds of decision, made on purpose, one building block at a time</a:t>
            </a:r>
          </a:p>
        </p:txBody>
      </p:sp>
      <p:sp>
        <p:nvSpPr>
          <p:cNvPr id="4" name="Rounded Rectangle 3"/>
          <p:cNvSpPr/>
          <p:nvPr/>
        </p:nvSpPr>
        <p:spPr>
          <a:xfrm>
            <a:off x="658368" y="1536192"/>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82495"/>
            <a:ext cx="3200400" cy="457200"/>
          </a:xfrm>
          <a:prstGeom prst="rect">
            <a:avLst/>
          </a:prstGeom>
          <a:noFill/>
        </p:spPr>
        <p:txBody>
          <a:bodyPr wrap="square">
            <a:spAutoFit/>
          </a:bodyPr>
          <a:lstStyle/>
          <a:p>
            <a:r>
              <a:rPr sz="1700" b="1" i="0">
                <a:solidFill>
                  <a:srgbClr val="1A1A1A"/>
                </a:solidFill>
                <a:latin typeface="Arial"/>
              </a:rPr>
              <a:t>Learner Registry (PLR)</a:t>
            </a:r>
          </a:p>
        </p:txBody>
      </p:sp>
      <p:sp>
        <p:nvSpPr>
          <p:cNvPr id="6" name="Rounded Rectangle 5"/>
          <p:cNvSpPr/>
          <p:nvPr/>
        </p:nvSpPr>
        <p:spPr>
          <a:xfrm>
            <a:off x="4224528" y="1719072"/>
            <a:ext cx="1508760" cy="384048"/>
          </a:xfrm>
          <a:prstGeom prst="roundRect">
            <a:avLst>
              <a:gd name="adj" fmla="val 35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24528" y="1755648"/>
            <a:ext cx="1508760" cy="329184"/>
          </a:xfrm>
          <a:prstGeom prst="rect">
            <a:avLst/>
          </a:prstGeom>
          <a:noFill/>
        </p:spPr>
        <p:txBody>
          <a:bodyPr wrap="square">
            <a:spAutoFit/>
          </a:bodyPr>
          <a:lstStyle/>
          <a:p>
            <a:pPr algn="ctr"/>
            <a:r>
              <a:rPr sz="1200" b="1" i="0">
                <a:solidFill>
                  <a:srgbClr val="FFFFFF"/>
                </a:solidFill>
                <a:latin typeface="Arial"/>
              </a:rPr>
              <a:t>BUILD</a:t>
            </a:r>
          </a:p>
        </p:txBody>
      </p:sp>
      <p:sp>
        <p:nvSpPr>
          <p:cNvPr id="8" name="TextBox 7"/>
          <p:cNvSpPr txBox="1"/>
          <p:nvPr/>
        </p:nvSpPr>
        <p:spPr>
          <a:xfrm>
            <a:off x="5989320" y="1691639"/>
            <a:ext cx="5394960" cy="502920"/>
          </a:xfrm>
          <a:prstGeom prst="rect">
            <a:avLst/>
          </a:prstGeom>
          <a:noFill/>
        </p:spPr>
        <p:txBody>
          <a:bodyPr wrap="square">
            <a:spAutoFit/>
          </a:bodyPr>
          <a:lstStyle/>
          <a:p>
            <a:r>
              <a:rPr sz="1550" b="0" i="0">
                <a:solidFill>
                  <a:srgbClr val="1A1A1A"/>
                </a:solidFill>
                <a:latin typeface="Arial"/>
              </a:rPr>
              <a:t>The authoritative core. Nobody else can own it.</a:t>
            </a:r>
          </a:p>
        </p:txBody>
      </p:sp>
      <p:sp>
        <p:nvSpPr>
          <p:cNvPr id="9" name="Rounded Rectangle 8"/>
          <p:cNvSpPr/>
          <p:nvPr/>
        </p:nvSpPr>
        <p:spPr>
          <a:xfrm>
            <a:off x="658368" y="2377440"/>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23744"/>
            <a:ext cx="3200400" cy="457200"/>
          </a:xfrm>
          <a:prstGeom prst="rect">
            <a:avLst/>
          </a:prstGeom>
          <a:noFill/>
        </p:spPr>
        <p:txBody>
          <a:bodyPr wrap="square">
            <a:spAutoFit/>
          </a:bodyPr>
          <a:lstStyle/>
          <a:p>
            <a:r>
              <a:rPr sz="1700" b="1" i="0">
                <a:solidFill>
                  <a:srgbClr val="1A1A1A"/>
                </a:solidFill>
                <a:latin typeface="Arial"/>
              </a:rPr>
              <a:t>Identity</a:t>
            </a:r>
          </a:p>
        </p:txBody>
      </p:sp>
      <p:sp>
        <p:nvSpPr>
          <p:cNvPr id="11" name="Rounded Rectangle 10"/>
          <p:cNvSpPr/>
          <p:nvPr/>
        </p:nvSpPr>
        <p:spPr>
          <a:xfrm>
            <a:off x="4224528" y="2560320"/>
            <a:ext cx="1508760" cy="384048"/>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24528" y="2596896"/>
            <a:ext cx="1508760" cy="329184"/>
          </a:xfrm>
          <a:prstGeom prst="rect">
            <a:avLst/>
          </a:prstGeom>
          <a:noFill/>
        </p:spPr>
        <p:txBody>
          <a:bodyPr wrap="square">
            <a:spAutoFit/>
          </a:bodyPr>
          <a:lstStyle/>
          <a:p>
            <a:pPr algn="ctr"/>
            <a:r>
              <a:rPr sz="1200" b="1" i="0">
                <a:solidFill>
                  <a:srgbClr val="FFFFFF"/>
                </a:solidFill>
                <a:latin typeface="Arial"/>
              </a:rPr>
              <a:t>SHARE</a:t>
            </a:r>
          </a:p>
        </p:txBody>
      </p:sp>
      <p:sp>
        <p:nvSpPr>
          <p:cNvPr id="13" name="TextBox 12"/>
          <p:cNvSpPr txBox="1"/>
          <p:nvPr/>
        </p:nvSpPr>
        <p:spPr>
          <a:xfrm>
            <a:off x="5989320" y="2532888"/>
            <a:ext cx="5394960" cy="502920"/>
          </a:xfrm>
          <a:prstGeom prst="rect">
            <a:avLst/>
          </a:prstGeom>
          <a:noFill/>
        </p:spPr>
        <p:txBody>
          <a:bodyPr wrap="square">
            <a:spAutoFit/>
          </a:bodyPr>
          <a:lstStyle/>
          <a:p>
            <a:r>
              <a:rPr sz="1550" b="0" i="0">
                <a:solidFill>
                  <a:srgbClr val="1A1A1A"/>
                </a:solidFill>
                <a:latin typeface="Arial"/>
              </a:rPr>
              <a:t>Consume PNIA’s platform. Do not mint a second identity.</a:t>
            </a:r>
          </a:p>
        </p:txBody>
      </p:sp>
      <p:sp>
        <p:nvSpPr>
          <p:cNvPr id="14" name="Rounded Rectangle 13"/>
          <p:cNvSpPr/>
          <p:nvPr/>
        </p:nvSpPr>
        <p:spPr>
          <a:xfrm>
            <a:off x="658368" y="3218688"/>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364992"/>
            <a:ext cx="3200400" cy="457200"/>
          </a:xfrm>
          <a:prstGeom prst="rect">
            <a:avLst/>
          </a:prstGeom>
          <a:noFill/>
        </p:spPr>
        <p:txBody>
          <a:bodyPr wrap="square">
            <a:spAutoFit/>
          </a:bodyPr>
          <a:lstStyle/>
          <a:p>
            <a:r>
              <a:rPr sz="1700" b="1" i="0">
                <a:solidFill>
                  <a:srgbClr val="1A1A1A"/>
                </a:solidFill>
                <a:latin typeface="Arial"/>
              </a:rPr>
              <a:t>Exam management</a:t>
            </a:r>
          </a:p>
        </p:txBody>
      </p:sp>
      <p:sp>
        <p:nvSpPr>
          <p:cNvPr id="16" name="Rounded Rectangle 15"/>
          <p:cNvSpPr/>
          <p:nvPr/>
        </p:nvSpPr>
        <p:spPr>
          <a:xfrm>
            <a:off x="4224528" y="3401568"/>
            <a:ext cx="1508760" cy="384048"/>
          </a:xfrm>
          <a:prstGeom prst="roundRect">
            <a:avLst>
              <a:gd name="adj" fmla="val 35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24528" y="3438144"/>
            <a:ext cx="1508760" cy="329184"/>
          </a:xfrm>
          <a:prstGeom prst="rect">
            <a:avLst/>
          </a:prstGeom>
          <a:noFill/>
        </p:spPr>
        <p:txBody>
          <a:bodyPr wrap="square">
            <a:spAutoFit/>
          </a:bodyPr>
          <a:lstStyle/>
          <a:p>
            <a:pPr algn="ctr"/>
            <a:r>
              <a:rPr sz="1200" b="1" i="0">
                <a:solidFill>
                  <a:srgbClr val="FFFFFF"/>
                </a:solidFill>
                <a:latin typeface="Arial"/>
              </a:rPr>
              <a:t>BUY</a:t>
            </a:r>
          </a:p>
        </p:txBody>
      </p:sp>
      <p:sp>
        <p:nvSpPr>
          <p:cNvPr id="18" name="TextBox 17"/>
          <p:cNvSpPr txBox="1"/>
          <p:nvPr/>
        </p:nvSpPr>
        <p:spPr>
          <a:xfrm>
            <a:off x="5989320" y="3374136"/>
            <a:ext cx="5394960" cy="502920"/>
          </a:xfrm>
          <a:prstGeom prst="rect">
            <a:avLst/>
          </a:prstGeom>
          <a:noFill/>
        </p:spPr>
        <p:txBody>
          <a:bodyPr wrap="square">
            <a:spAutoFit/>
          </a:bodyPr>
          <a:lstStyle/>
          <a:p>
            <a:r>
              <a:rPr sz="1550" b="0" i="0">
                <a:solidFill>
                  <a:srgbClr val="1A1A1A"/>
                </a:solidFill>
                <a:latin typeface="Arial"/>
              </a:rPr>
              <a:t>A solved problem with a mature market product.</a:t>
            </a:r>
          </a:p>
        </p:txBody>
      </p:sp>
      <p:sp>
        <p:nvSpPr>
          <p:cNvPr id="19" name="Rounded Rectangle 18"/>
          <p:cNvSpPr/>
          <p:nvPr/>
        </p:nvSpPr>
        <p:spPr>
          <a:xfrm>
            <a:off x="658368" y="4059936"/>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06240"/>
            <a:ext cx="3200400" cy="457200"/>
          </a:xfrm>
          <a:prstGeom prst="rect">
            <a:avLst/>
          </a:prstGeom>
          <a:noFill/>
        </p:spPr>
        <p:txBody>
          <a:bodyPr wrap="square">
            <a:spAutoFit/>
          </a:bodyPr>
          <a:lstStyle/>
          <a:p>
            <a:r>
              <a:rPr sz="1700" b="1" i="0">
                <a:solidFill>
                  <a:srgbClr val="1A1A1A"/>
                </a:solidFill>
                <a:latin typeface="Arial"/>
              </a:rPr>
              <a:t>Data exchange</a:t>
            </a:r>
          </a:p>
        </p:txBody>
      </p:sp>
      <p:sp>
        <p:nvSpPr>
          <p:cNvPr id="21" name="Rounded Rectangle 20"/>
          <p:cNvSpPr/>
          <p:nvPr/>
        </p:nvSpPr>
        <p:spPr>
          <a:xfrm>
            <a:off x="4224528" y="4242816"/>
            <a:ext cx="1508760" cy="384048"/>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24528" y="4279392"/>
            <a:ext cx="1508760" cy="329184"/>
          </a:xfrm>
          <a:prstGeom prst="rect">
            <a:avLst/>
          </a:prstGeom>
          <a:noFill/>
        </p:spPr>
        <p:txBody>
          <a:bodyPr wrap="square">
            <a:spAutoFit/>
          </a:bodyPr>
          <a:lstStyle/>
          <a:p>
            <a:pPr algn="ctr"/>
            <a:r>
              <a:rPr sz="1200" b="1" i="0">
                <a:solidFill>
                  <a:srgbClr val="FFFFFF"/>
                </a:solidFill>
                <a:latin typeface="Arial"/>
              </a:rPr>
              <a:t>SHARE</a:t>
            </a:r>
          </a:p>
        </p:txBody>
      </p:sp>
      <p:sp>
        <p:nvSpPr>
          <p:cNvPr id="23" name="TextBox 22"/>
          <p:cNvSpPr txBox="1"/>
          <p:nvPr/>
        </p:nvSpPr>
        <p:spPr>
          <a:xfrm>
            <a:off x="5989320" y="4215384"/>
            <a:ext cx="5394960" cy="502920"/>
          </a:xfrm>
          <a:prstGeom prst="rect">
            <a:avLst/>
          </a:prstGeom>
          <a:noFill/>
        </p:spPr>
        <p:txBody>
          <a:bodyPr wrap="square">
            <a:spAutoFit/>
          </a:bodyPr>
          <a:lstStyle/>
          <a:p>
            <a:r>
              <a:rPr sz="1550" b="0" i="0">
                <a:solidFill>
                  <a:srgbClr val="1A1A1A"/>
                </a:solidFill>
                <a:latin typeface="Arial"/>
              </a:rPr>
              <a:t>PDGA’s backbone — paid for once, for the whole government.</a:t>
            </a:r>
          </a:p>
        </p:txBody>
      </p:sp>
      <p:sp>
        <p:nvSpPr>
          <p:cNvPr id="24" name="Rounded Rectangle 23"/>
          <p:cNvSpPr/>
          <p:nvPr/>
        </p:nvSpPr>
        <p:spPr>
          <a:xfrm>
            <a:off x="658368" y="4901184"/>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047488"/>
            <a:ext cx="3200400" cy="457200"/>
          </a:xfrm>
          <a:prstGeom prst="rect">
            <a:avLst/>
          </a:prstGeom>
          <a:noFill/>
        </p:spPr>
        <p:txBody>
          <a:bodyPr wrap="square">
            <a:spAutoFit/>
          </a:bodyPr>
          <a:lstStyle/>
          <a:p>
            <a:r>
              <a:rPr sz="1700" b="1" i="0">
                <a:solidFill>
                  <a:srgbClr val="1A1A1A"/>
                </a:solidFill>
                <a:latin typeface="Arial"/>
              </a:rPr>
              <a:t>New analytics</a:t>
            </a:r>
          </a:p>
        </p:txBody>
      </p:sp>
      <p:sp>
        <p:nvSpPr>
          <p:cNvPr id="26" name="Rounded Rectangle 25"/>
          <p:cNvSpPr/>
          <p:nvPr/>
        </p:nvSpPr>
        <p:spPr>
          <a:xfrm>
            <a:off x="4224528" y="5084064"/>
            <a:ext cx="1508760" cy="384048"/>
          </a:xfrm>
          <a:prstGeom prst="roundRect">
            <a:avLst>
              <a:gd name="adj" fmla="val 35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5120640"/>
            <a:ext cx="1508760" cy="329184"/>
          </a:xfrm>
          <a:prstGeom prst="rect">
            <a:avLst/>
          </a:prstGeom>
          <a:noFill/>
        </p:spPr>
        <p:txBody>
          <a:bodyPr wrap="square">
            <a:spAutoFit/>
          </a:bodyPr>
          <a:lstStyle/>
          <a:p>
            <a:pPr algn="ctr"/>
            <a:r>
              <a:rPr sz="1200" b="1" i="0">
                <a:solidFill>
                  <a:srgbClr val="FFFFFF"/>
                </a:solidFill>
                <a:latin typeface="Arial"/>
              </a:rPr>
              <a:t>SANDBOX</a:t>
            </a:r>
          </a:p>
        </p:txBody>
      </p:sp>
      <p:sp>
        <p:nvSpPr>
          <p:cNvPr id="28" name="TextBox 27"/>
          <p:cNvSpPr txBox="1"/>
          <p:nvPr/>
        </p:nvSpPr>
        <p:spPr>
          <a:xfrm>
            <a:off x="5989320" y="5056632"/>
            <a:ext cx="5394960" cy="502920"/>
          </a:xfrm>
          <a:prstGeom prst="rect">
            <a:avLst/>
          </a:prstGeom>
          <a:noFill/>
        </p:spPr>
        <p:txBody>
          <a:bodyPr wrap="square">
            <a:spAutoFit/>
          </a:bodyPr>
          <a:lstStyle/>
          <a:p>
            <a:r>
              <a:rPr sz="1550" b="0" i="0">
                <a:solidFill>
                  <a:srgbClr val="1A1A1A"/>
                </a:solidFill>
                <a:latin typeface="Arial"/>
              </a:rPr>
              <a:t>Nobody is sure yet. Try it before committing.</a:t>
            </a:r>
          </a:p>
        </p:txBody>
      </p:sp>
      <p:sp>
        <p:nvSpPr>
          <p:cNvPr id="29" name="TextBox 2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kinds of decision — each written down, each with its reason.</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before build is where the country-level saving is actually chosen</a:t>
            </a:r>
          </a:p>
        </p:txBody>
      </p:sp>
      <p:sp>
        <p:nvSpPr>
          <p:cNvPr id="4" name="TextBox 3"/>
          <p:cNvSpPr txBox="1"/>
          <p:nvPr/>
        </p:nvSpPr>
        <p:spPr>
          <a:xfrm>
            <a:off x="658368" y="1600200"/>
            <a:ext cx="10881360" cy="1508760"/>
          </a:xfrm>
          <a:prstGeom prst="rect">
            <a:avLst/>
          </a:prstGeom>
          <a:noFill/>
        </p:spPr>
        <p:txBody>
          <a:bodyPr wrap="square">
            <a:spAutoFit/>
          </a:bodyPr>
          <a:lstStyle/>
          <a:p>
            <a:pPr>
              <a:spcAft>
                <a:spcPts val="1200"/>
              </a:spcAft>
            </a:pPr>
            <a:r>
              <a:rPr sz="2000" b="0" i="0">
                <a:solidFill>
                  <a:srgbClr val="1A1A1A"/>
                </a:solidFill>
                <a:latin typeface="Arial"/>
              </a:rPr>
              <a:t>The default is reuse and share; build is the exception that must justify itself. Every share — identity, data exchange — is paid for once instead of in every programme.</a:t>
            </a:r>
          </a:p>
        </p:txBody>
      </p:sp>
      <p:sp>
        <p:nvSpPr>
          <p:cNvPr id="5" name="Rounded Rectangle 4"/>
          <p:cNvSpPr/>
          <p:nvPr/>
        </p:nvSpPr>
        <p:spPr>
          <a:xfrm>
            <a:off x="658368" y="3291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483864"/>
            <a:ext cx="10479024" cy="1051560"/>
          </a:xfrm>
          <a:prstGeom prst="rect">
            <a:avLst/>
          </a:prstGeom>
          <a:noFill/>
        </p:spPr>
        <p:txBody>
          <a:bodyPr wrap="square">
            <a:spAutoFit/>
          </a:bodyPr>
          <a:lstStyle/>
          <a:p>
            <a:pPr>
              <a:spcAft>
                <a:spcPts val="700"/>
              </a:spcAft>
            </a:pPr>
            <a:r>
              <a:rPr sz="2300" b="1" i="0">
                <a:solidFill>
                  <a:srgbClr val="006E96"/>
                </a:solidFill>
                <a:latin typeface="Arial"/>
              </a:rPr>
              <a:t>A procurement rule cannot make these calls. An architect looking across the sector can.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three commits the shape of everything that follows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 Progressa the Board signs the localised principle set and the build-buy-share-sandbox matrix. This is a consequential gate.</a:t>
            </a:r>
          </a:p>
          <a:p>
            <a:pPr>
              <a:spcAft>
                <a:spcPts val="1200"/>
              </a:spcAft>
            </a:pPr>
            <a:r>
              <a:rPr sz="2000" b="0" i="0">
                <a:solidFill>
                  <a:srgbClr val="1A1A1A"/>
                </a:solidFill>
                <a:latin typeface="Arial"/>
              </a:rPr>
              <a:t>Approve it, and the roadmap has a clear set of decisions to sequence.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Skip it and every project re-litigates build-versus-reuse on its 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Adapt fits PAERA to Progressa — localised principles and a deliberate build, buy, share or sandbox call for every building block — with reuse as the default that build must justify against.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sourcing matrix.</a:t>
            </a:r>
          </a:p>
          <a:p>
            <a:pPr algn="l">
              <a:spcAft>
                <a:spcPts val="400"/>
              </a:spcAft>
            </a:pPr>
            <a:r>
              <a:rPr sz="1800" b="0" i="0">
                <a:solidFill>
                  <a:srgbClr val="595959"/>
                </a:solidFill>
                <a:latin typeface="Arial"/>
              </a:rPr>
              <a:t>The prompt in the companion material gives you a build/buy/share/sandbox matrix with flags.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design the target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Between the gaps and the roadmap sits the deliverable the whole EA is for — the target architecture: a future-state picture of the capabilities, the data owners, the shared platforms and the integration map your government should have. Design it by applying your principles to the gaps, and the roadmap finally has somewhere to go.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target architecture: the picture of the future state you are building toward.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sits between where Progressa is today and how it gets somewhere.</a:t>
            </a:r>
          </a:p>
          <a:p>
            <a:pPr>
              <a:spcAft>
                <a:spcPts val="800"/>
              </a:spcAft>
            </a:pPr>
            <a:r>
              <a:rPr sz="1700" b="0" i="0">
                <a:solidFill>
                  <a:srgbClr val="595959"/>
                </a:solidFill>
                <a:latin typeface="Arial"/>
              </a:rPr>
              <a:t>Skip it, and you sequence a roadmap to a destination nobody drew.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target is the current-state picture, designed instead of observed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capabilities</a:t>
            </a:r>
          </a:p>
          <a:p>
            <a:pPr>
              <a:spcAft>
                <a:spcPts val="300"/>
              </a:spcAft>
            </a:pPr>
            <a:r>
              <a:rPr sz="1550" b="0" i="0">
                <a:solidFill>
                  <a:srgbClr val="595959"/>
                </a:solidFill>
                <a:latin typeface="Arial"/>
              </a:rPr>
              <a:t>Each owned by exactly one body. The duplicates resolved.</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data domains</a:t>
            </a:r>
          </a:p>
          <a:p>
            <a:pPr>
              <a:spcAft>
                <a:spcPts val="300"/>
              </a:spcAft>
            </a:pPr>
            <a:r>
              <a:rPr sz="1550" b="0" i="0">
                <a:solidFill>
                  <a:srgbClr val="595959"/>
                </a:solidFill>
                <a:latin typeface="Arial"/>
              </a:rPr>
              <a:t>One authoritative owner for the learner, the person, the result.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shared platforms</a:t>
            </a:r>
          </a:p>
          <a:p>
            <a:pPr>
              <a:spcAft>
                <a:spcPts val="300"/>
              </a:spcAft>
            </a:pPr>
            <a:r>
              <a:rPr sz="1550" b="0" i="0">
                <a:solidFill>
                  <a:srgbClr val="595959"/>
                </a:solidFill>
                <a:latin typeface="Arial"/>
              </a:rPr>
              <a:t>The identity platform and the data-exchange backbone, consumed by all.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technology standards</a:t>
            </a:r>
          </a:p>
          <a:p>
            <a:pPr>
              <a:spcAft>
                <a:spcPts val="300"/>
              </a:spcAft>
            </a:pPr>
            <a:r>
              <a:rPr sz="1550" b="0" i="0">
                <a:solidFill>
                  <a:srgbClr val="595959"/>
                </a:solidFill>
                <a:latin typeface="Arial"/>
              </a:rPr>
              <a:t>What everything that follows is built to.</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same four layers as the AS-IS — drawn forward, not recorded.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do not invent the target — you apply your principles to your gaps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Once-only says the three learner lists become one, so the target has a single authoritative Learner Registry. Reuse-before-build says education consumes the national identity rather than minting its own, so the target shows the Examination Authority consuming the Identity Authority.</a:t>
            </a:r>
          </a:p>
          <a:p>
            <a:pPr>
              <a:spcAft>
                <a:spcPts val="1200"/>
              </a:spcAft>
            </a:pPr>
            <a:r>
              <a:rPr sz="2000" b="0" i="0">
                <a:solidFill>
                  <a:srgbClr val="1A1A1A"/>
                </a:solidFill>
                <a:latin typeface="Arial"/>
              </a:rPr>
              <a:t>One-owner-per-domain resolves who owns what. Apply the principles to the current state and the target architecture almost draws itself.</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principles are not decoration. They are the design rules.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integration map is the one artefact the current state never had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It names which bodies exchange which data, over what mechanism, in what priority order. On Progressa: the Examination Authority reads the learner from the Learner Registry and the identity from the Identity Authority, both over the Digital Government Authority's backbone, replacing the paper re-entry.</a:t>
            </a:r>
          </a:p>
          <a:p>
            <a:pPr>
              <a:spcAft>
                <a:spcPts val="1200"/>
              </a:spcAft>
            </a:pPr>
            <a:r>
              <a:rPr sz="2000" b="0" i="0">
                <a:solidFill>
                  <a:srgbClr val="1A1A1A"/>
                </a:solidFill>
                <a:latin typeface="Arial"/>
              </a:rPr>
              <a:t>It is the target's connective tissue — the picture of a government whose systems finally talk to each other.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first cut here. The full design is the interoperability knowledge product.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target element traces back to a gap and forward to a sourcing call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target must be reachable, not a fantasy. Each element should trace back to a gap it closes, and forward to a sourcing decision — build, buy or share — that obtains it.</a:t>
            </a:r>
          </a:p>
          <a:p>
            <a:pPr>
              <a:spcAft>
                <a:spcPts val="1200"/>
              </a:spcAft>
            </a:pPr>
            <a:r>
              <a:rPr sz="2000" b="0" i="0">
                <a:solidFill>
                  <a:srgbClr val="1A1A1A"/>
                </a:solidFill>
                <a:latin typeface="Arial"/>
              </a:rPr>
              <a:t>So the target architecture and the sourcing decisions are designed together, and signed off together, as the agreed destination the roadmap then sequences.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target capability with no way to obtain it is a wish, not an architecture.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target architecture is the designed future-state picture — target capabilities, one owner per data domain, shared platforms, and the integration map — reached by applying your principles to the gaps, and traceable to a sourcing decision for every element.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Design a first-cut target architecture from your gaps.</a:t>
            </a:r>
          </a:p>
          <a:p>
            <a:pPr algn="l">
              <a:spcAft>
                <a:spcPts val="400"/>
              </a:spcAft>
            </a:pPr>
            <a:r>
              <a:rPr sz="1800" b="0" i="0">
                <a:solidFill>
                  <a:srgbClr val="595959"/>
                </a:solidFill>
                <a:latin typeface="Arial"/>
              </a:rPr>
              <a:t>The prompt in the companion material gives you a first-cut target architecture in four layers, an integration map.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§3.4.3 (Interoperability)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sequence the roadmap and cost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Plan turns Progressa's decisions into a sequenced, costed roadmap in waves — the deliverable the minister takes to cabinet — signed off with budget committed.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4 — Plan. In what order, at what cost?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How does Progressa get from today to the target?</a:t>
            </a:r>
          </a:p>
          <a:p>
            <a:pPr>
              <a:spcAft>
                <a:spcPts val="800"/>
              </a:spcAft>
            </a:pPr>
            <a:r>
              <a:rPr sz="1700" b="0" i="0">
                <a:solidFill>
                  <a:srgbClr val="595959"/>
                </a:solidFill>
                <a:latin typeface="Arial"/>
              </a:rPr>
              <a:t>The deliverable: a roadmap in waves, with investment estimates.</a:t>
            </a:r>
          </a:p>
          <a:p>
            <a:pPr>
              <a:spcAft>
                <a:spcPts val="800"/>
              </a:spcAft>
            </a:pPr>
            <a:r>
              <a:rPr sz="1700" b="0" i="0">
                <a:solidFill>
                  <a:srgbClr val="595959"/>
                </a:solidFill>
                <a:latin typeface="Arial"/>
              </a:rPr>
              <a:t>About six to eight weeks.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waves, and each one delivers something the minister can show</a:t>
            </a:r>
          </a:p>
        </p:txBody>
      </p:sp>
      <p:sp>
        <p:nvSpPr>
          <p:cNvPr id="4" name="Rounded Rectangle 3"/>
          <p:cNvSpPr/>
          <p:nvPr/>
        </p:nvSpPr>
        <p:spPr>
          <a:xfrm>
            <a:off x="658368" y="153619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682495"/>
            <a:ext cx="1371600" cy="320040"/>
          </a:xfrm>
          <a:prstGeom prst="rect">
            <a:avLst/>
          </a:prstGeom>
          <a:noFill/>
        </p:spPr>
        <p:txBody>
          <a:bodyPr wrap="square">
            <a:spAutoFit/>
          </a:bodyPr>
          <a:lstStyle/>
          <a:p>
            <a:r>
              <a:rPr sz="1200" b="1" i="0">
                <a:solidFill>
                  <a:srgbClr val="006E96"/>
                </a:solidFill>
                <a:latin typeface="Arial"/>
              </a:rPr>
              <a:t>WAVE 1</a:t>
            </a:r>
          </a:p>
        </p:txBody>
      </p:sp>
      <p:sp>
        <p:nvSpPr>
          <p:cNvPr id="6" name="TextBox 5"/>
          <p:cNvSpPr txBox="1"/>
          <p:nvPr/>
        </p:nvSpPr>
        <p:spPr>
          <a:xfrm>
            <a:off x="896112" y="1993391"/>
            <a:ext cx="3840480" cy="411480"/>
          </a:xfrm>
          <a:prstGeom prst="rect">
            <a:avLst/>
          </a:prstGeom>
          <a:noFill/>
        </p:spPr>
        <p:txBody>
          <a:bodyPr wrap="square">
            <a:spAutoFit/>
          </a:bodyPr>
          <a:lstStyle/>
          <a:p>
            <a:r>
              <a:rPr sz="1900" b="1" i="0">
                <a:solidFill>
                  <a:srgbClr val="1A1A1A"/>
                </a:solidFill>
                <a:latin typeface="Arial"/>
              </a:rPr>
              <a:t>Inception</a:t>
            </a:r>
          </a:p>
        </p:txBody>
      </p:sp>
      <p:sp>
        <p:nvSpPr>
          <p:cNvPr id="7" name="TextBox 6"/>
          <p:cNvSpPr txBox="1"/>
          <p:nvPr/>
        </p:nvSpPr>
        <p:spPr>
          <a:xfrm>
            <a:off x="5029200" y="1737360"/>
            <a:ext cx="6309360" cy="640080"/>
          </a:xfrm>
          <a:prstGeom prst="rect">
            <a:avLst/>
          </a:prstGeom>
          <a:noFill/>
        </p:spPr>
        <p:txBody>
          <a:bodyPr wrap="square">
            <a:spAutoFit/>
          </a:bodyPr>
          <a:lstStyle/>
          <a:p>
            <a:r>
              <a:rPr sz="1550" b="0" i="0">
                <a:solidFill>
                  <a:srgbClr val="1A1A1A"/>
                </a:solidFill>
                <a:latin typeface="Arial"/>
              </a:rPr>
              <a:t>Stand up the repository and the Board; make the Learner Registry authoritative.</a:t>
            </a:r>
          </a:p>
        </p:txBody>
      </p:sp>
      <p:sp>
        <p:nvSpPr>
          <p:cNvPr id="8" name="Rounded Rectangle 7"/>
          <p:cNvSpPr/>
          <p:nvPr/>
        </p:nvSpPr>
        <p:spPr>
          <a:xfrm>
            <a:off x="658368" y="258775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734056"/>
            <a:ext cx="1371600" cy="320040"/>
          </a:xfrm>
          <a:prstGeom prst="rect">
            <a:avLst/>
          </a:prstGeom>
          <a:noFill/>
        </p:spPr>
        <p:txBody>
          <a:bodyPr wrap="square">
            <a:spAutoFit/>
          </a:bodyPr>
          <a:lstStyle/>
          <a:p>
            <a:r>
              <a:rPr sz="1200" b="1" i="0">
                <a:solidFill>
                  <a:srgbClr val="006E96"/>
                </a:solidFill>
                <a:latin typeface="Arial"/>
              </a:rPr>
              <a:t>WAVE 2</a:t>
            </a:r>
          </a:p>
        </p:txBody>
      </p:sp>
      <p:sp>
        <p:nvSpPr>
          <p:cNvPr id="10" name="TextBox 9"/>
          <p:cNvSpPr txBox="1"/>
          <p:nvPr/>
        </p:nvSpPr>
        <p:spPr>
          <a:xfrm>
            <a:off x="896112" y="3044952"/>
            <a:ext cx="3840480" cy="411480"/>
          </a:xfrm>
          <a:prstGeom prst="rect">
            <a:avLst/>
          </a:prstGeom>
          <a:noFill/>
        </p:spPr>
        <p:txBody>
          <a:bodyPr wrap="square">
            <a:spAutoFit/>
          </a:bodyPr>
          <a:lstStyle/>
          <a:p>
            <a:r>
              <a:rPr sz="1900" b="1" i="0">
                <a:solidFill>
                  <a:srgbClr val="1A1A1A"/>
                </a:solidFill>
                <a:latin typeface="Arial"/>
              </a:rPr>
              <a:t>High-priority use case</a:t>
            </a:r>
          </a:p>
        </p:txBody>
      </p:sp>
      <p:sp>
        <p:nvSpPr>
          <p:cNvPr id="11" name="TextBox 10"/>
          <p:cNvSpPr txBox="1"/>
          <p:nvPr/>
        </p:nvSpPr>
        <p:spPr>
          <a:xfrm>
            <a:off x="5029200" y="2788920"/>
            <a:ext cx="6309360" cy="640080"/>
          </a:xfrm>
          <a:prstGeom prst="rect">
            <a:avLst/>
          </a:prstGeom>
          <a:noFill/>
        </p:spPr>
        <p:txBody>
          <a:bodyPr wrap="square">
            <a:spAutoFit/>
          </a:bodyPr>
          <a:lstStyle/>
          <a:p>
            <a:r>
              <a:rPr sz="1550" b="0" i="0">
                <a:solidFill>
                  <a:srgbClr val="1A1A1A"/>
                </a:solidFill>
                <a:latin typeface="Arial"/>
              </a:rPr>
              <a:t>The single learner record — PNEA and the grant programme consume PLR and PNIA.</a:t>
            </a:r>
          </a:p>
        </p:txBody>
      </p:sp>
      <p:sp>
        <p:nvSpPr>
          <p:cNvPr id="12" name="Rounded Rectangle 11"/>
          <p:cNvSpPr/>
          <p:nvPr/>
        </p:nvSpPr>
        <p:spPr>
          <a:xfrm>
            <a:off x="658368" y="363931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85615"/>
            <a:ext cx="1371600" cy="320040"/>
          </a:xfrm>
          <a:prstGeom prst="rect">
            <a:avLst/>
          </a:prstGeom>
          <a:noFill/>
        </p:spPr>
        <p:txBody>
          <a:bodyPr wrap="square">
            <a:spAutoFit/>
          </a:bodyPr>
          <a:lstStyle/>
          <a:p>
            <a:r>
              <a:rPr sz="1200" b="1" i="0">
                <a:solidFill>
                  <a:srgbClr val="006E96"/>
                </a:solidFill>
                <a:latin typeface="Arial"/>
              </a:rPr>
              <a:t>WAVE 3</a:t>
            </a:r>
          </a:p>
        </p:txBody>
      </p:sp>
      <p:sp>
        <p:nvSpPr>
          <p:cNvPr id="14" name="TextBox 13"/>
          <p:cNvSpPr txBox="1"/>
          <p:nvPr/>
        </p:nvSpPr>
        <p:spPr>
          <a:xfrm>
            <a:off x="896112" y="4096512"/>
            <a:ext cx="3840480" cy="411480"/>
          </a:xfrm>
          <a:prstGeom prst="rect">
            <a:avLst/>
          </a:prstGeom>
          <a:noFill/>
        </p:spPr>
        <p:txBody>
          <a:bodyPr wrap="square">
            <a:spAutoFit/>
          </a:bodyPr>
          <a:lstStyle/>
          <a:p>
            <a:r>
              <a:rPr sz="1900" b="1" i="0">
                <a:solidFill>
                  <a:srgbClr val="1A1A1A"/>
                </a:solidFill>
                <a:latin typeface="Arial"/>
              </a:rPr>
              <a:t>The shared backbone</a:t>
            </a:r>
          </a:p>
        </p:txBody>
      </p:sp>
      <p:sp>
        <p:nvSpPr>
          <p:cNvPr id="15" name="TextBox 14"/>
          <p:cNvSpPr txBox="1"/>
          <p:nvPr/>
        </p:nvSpPr>
        <p:spPr>
          <a:xfrm>
            <a:off x="5029200" y="3840480"/>
            <a:ext cx="6309360" cy="640080"/>
          </a:xfrm>
          <a:prstGeom prst="rect">
            <a:avLst/>
          </a:prstGeom>
          <a:noFill/>
        </p:spPr>
        <p:txBody>
          <a:bodyPr wrap="square">
            <a:spAutoFit/>
          </a:bodyPr>
          <a:lstStyle/>
          <a:p>
            <a:r>
              <a:rPr sz="1550" b="0" i="0">
                <a:solidFill>
                  <a:srgbClr val="1A1A1A"/>
                </a:solidFill>
                <a:latin typeface="Arial"/>
              </a:rPr>
              <a:t>Build out PDGA’s data-exchange backbone.</a:t>
            </a:r>
          </a:p>
        </p:txBody>
      </p:sp>
      <p:sp>
        <p:nvSpPr>
          <p:cNvPr id="16" name="Rounded Rectangle 15"/>
          <p:cNvSpPr/>
          <p:nvPr/>
        </p:nvSpPr>
        <p:spPr>
          <a:xfrm>
            <a:off x="658368" y="469087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37176"/>
            <a:ext cx="1371600" cy="320040"/>
          </a:xfrm>
          <a:prstGeom prst="rect">
            <a:avLst/>
          </a:prstGeom>
          <a:noFill/>
        </p:spPr>
        <p:txBody>
          <a:bodyPr wrap="square">
            <a:spAutoFit/>
          </a:bodyPr>
          <a:lstStyle/>
          <a:p>
            <a:r>
              <a:rPr sz="1200" b="1" i="0">
                <a:solidFill>
                  <a:srgbClr val="006E96"/>
                </a:solidFill>
                <a:latin typeface="Arial"/>
              </a:rPr>
              <a:t>WAVE 4</a:t>
            </a:r>
          </a:p>
        </p:txBody>
      </p:sp>
      <p:sp>
        <p:nvSpPr>
          <p:cNvPr id="18" name="TextBox 17"/>
          <p:cNvSpPr txBox="1"/>
          <p:nvPr/>
        </p:nvSpPr>
        <p:spPr>
          <a:xfrm>
            <a:off x="896112" y="5148072"/>
            <a:ext cx="3840480" cy="411480"/>
          </a:xfrm>
          <a:prstGeom prst="rect">
            <a:avLst/>
          </a:prstGeom>
          <a:noFill/>
        </p:spPr>
        <p:txBody>
          <a:bodyPr wrap="square">
            <a:spAutoFit/>
          </a:bodyPr>
          <a:lstStyle/>
          <a:p>
            <a:r>
              <a:rPr sz="1900" b="1" i="0">
                <a:solidFill>
                  <a:srgbClr val="1A1A1A"/>
                </a:solidFill>
                <a:latin typeface="Arial"/>
              </a:rPr>
              <a:t>Mass scale</a:t>
            </a:r>
          </a:p>
        </p:txBody>
      </p:sp>
      <p:sp>
        <p:nvSpPr>
          <p:cNvPr id="19" name="TextBox 18"/>
          <p:cNvSpPr txBox="1"/>
          <p:nvPr/>
        </p:nvSpPr>
        <p:spPr>
          <a:xfrm>
            <a:off x="5029200" y="4892040"/>
            <a:ext cx="6309360" cy="640080"/>
          </a:xfrm>
          <a:prstGeom prst="rect">
            <a:avLst/>
          </a:prstGeom>
          <a:noFill/>
        </p:spPr>
        <p:txBody>
          <a:bodyPr wrap="square">
            <a:spAutoFit/>
          </a:bodyPr>
          <a:lstStyle/>
          <a:p>
            <a:r>
              <a:rPr sz="1550" b="0" i="0">
                <a:solidFill>
                  <a:srgbClr val="1A1A1A"/>
                </a:solidFill>
                <a:latin typeface="Arial"/>
              </a:rPr>
              <a:t>Every education service running on the backbone.</a:t>
            </a:r>
          </a:p>
        </p:txBody>
      </p:sp>
      <p:sp>
        <p:nvSpPr>
          <p:cNvPr id="20" name="TextBox 19"/>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Each wave delivers something visible — not just groundwork.</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Cost each wave honestly — directional estimates, not quotations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Wave one is mostly people: the initial engagement and the small permanent EA team. Wave two adds the integration work connecting the authorities to the registries. Wave three is the backbone investment.</a:t>
            </a:r>
          </a:p>
          <a:p>
            <a:pPr>
              <a:spcAft>
                <a:spcPts val="1200"/>
              </a:spcAft>
            </a:pPr>
            <a:r>
              <a:rPr sz="2000" b="0" i="0">
                <a:solidFill>
                  <a:srgbClr val="1A1A1A"/>
                </a:solidFill>
                <a:latin typeface="Arial"/>
              </a:rPr>
              <a:t>Directional is enough for cabinet to commit a five-year envelope, rather than an annual line that vanishes.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promised single learner record lands in Wave 2 — inside the first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roadmap is the one page both sides point at</a:t>
            </a:r>
          </a:p>
        </p:txBody>
      </p:sp>
      <p:sp>
        <p:nvSpPr>
          <p:cNvPr id="4" name="Rounded Rectangle 3"/>
          <p:cNvSpPr/>
          <p:nvPr/>
        </p:nvSpPr>
        <p:spPr>
          <a:xfrm>
            <a:off x="658368" y="1554480"/>
            <a:ext cx="5394960" cy="2377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THE MINISTER READS</a:t>
            </a:r>
          </a:p>
          <a:p>
            <a:pPr>
              <a:spcAft>
                <a:spcPts val="700"/>
              </a:spcAft>
            </a:pPr>
            <a:r>
              <a:rPr sz="1600" b="0" i="0">
                <a:solidFill>
                  <a:srgbClr val="1A1A1A"/>
                </a:solidFill>
                <a:latin typeface="Arial"/>
              </a:rPr>
              <a:t>Outcomes and dates.</a:t>
            </a:r>
          </a:p>
          <a:p>
            <a:pPr>
              <a:spcAft>
                <a:spcPts val="700"/>
              </a:spcAft>
            </a:pPr>
            <a:r>
              <a:rPr sz="1600" b="0" i="0">
                <a:solidFill>
                  <a:srgbClr val="1A1A1A"/>
                </a:solidFill>
                <a:latin typeface="Arial"/>
              </a:rPr>
              <a:t>The single learner record by next year.</a:t>
            </a:r>
          </a:p>
        </p:txBody>
      </p:sp>
      <p:sp>
        <p:nvSpPr>
          <p:cNvPr id="6" name="Rounded Rectangle 5"/>
          <p:cNvSpPr/>
          <p:nvPr/>
        </p:nvSpPr>
        <p:spPr>
          <a:xfrm>
            <a:off x="6263640" y="1554480"/>
            <a:ext cx="5394960" cy="23774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THE ARCHITECT READS</a:t>
            </a:r>
          </a:p>
          <a:p>
            <a:pPr>
              <a:spcAft>
                <a:spcPts val="700"/>
              </a:spcAft>
            </a:pPr>
            <a:r>
              <a:rPr sz="1600" b="0" i="0">
                <a:solidFill>
                  <a:srgbClr val="1A1A1A"/>
                </a:solidFill>
                <a:latin typeface="Arial"/>
              </a:rPr>
              <a:t>The sequence and its dependencies.</a:t>
            </a:r>
          </a:p>
          <a:p>
            <a:pPr>
              <a:spcAft>
                <a:spcPts val="700"/>
              </a:spcAft>
            </a:pPr>
            <a:r>
              <a:rPr sz="1600" b="0" i="0">
                <a:solidFill>
                  <a:srgbClr val="1A1A1A"/>
                </a:solidFill>
                <a:latin typeface="Arial"/>
              </a:rPr>
              <a:t>Wave 2 cannot start until PLR is authoritative in Wave 1.</a:t>
            </a:r>
          </a:p>
        </p:txBody>
      </p:sp>
      <p:sp>
        <p:nvSpPr>
          <p:cNvPr id="8" name="TextBox 7"/>
          <p:cNvSpPr txBox="1"/>
          <p:nvPr/>
        </p:nvSpPr>
        <p:spPr>
          <a:xfrm>
            <a:off x="658368" y="4114800"/>
            <a:ext cx="10881360" cy="548640"/>
          </a:xfrm>
          <a:prstGeom prst="rect">
            <a:avLst/>
          </a:prstGeom>
          <a:noFill/>
        </p:spPr>
        <p:txBody>
          <a:bodyPr wrap="square">
            <a:spAutoFit/>
          </a:bodyPr>
          <a:lstStyle/>
          <a:p>
            <a:r>
              <a:rPr sz="1550" b="1" i="0">
                <a:solidFill>
                  <a:srgbClr val="006E96"/>
                </a:solidFill>
                <a:latin typeface="Arial"/>
              </a:rPr>
              <a:t>Same page, two readings, no translation lost.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four is the most consequential gate of the four</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decision-maker and the EA Board approve the roadmap and commit the budget — ideally a multi-year envelope, not an annual line. This is the deliverable the minister takes to cabinet.</a:t>
            </a:r>
          </a:p>
          <a:p>
            <a:pPr>
              <a:spcAft>
                <a:spcPts val="1200"/>
              </a:spcAft>
            </a:pPr>
            <a:r>
              <a:rPr sz="2000" b="0" i="0">
                <a:solidFill>
                  <a:srgbClr val="1A1A1A"/>
                </a:solidFill>
                <a:latin typeface="Arial"/>
              </a:rPr>
              <a:t>With it approved, Progressa moves from planning to building.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Four sign-offs done, roughly six months from the first day of Discovery.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Plan turns Progressa’s decisions into a wave-sequenced, costed roadmap — the cabinet-ready document business and IT both read — with the minister’s flagship landing inside the first year.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Sequence your roadmap into waves.</a:t>
            </a:r>
          </a:p>
          <a:p>
            <a:pPr algn="l">
              <a:spcAft>
                <a:spcPts val="400"/>
              </a:spcAft>
            </a:pPr>
            <a:r>
              <a:rPr sz="1800" b="0" i="0">
                <a:solidFill>
                  <a:srgbClr val="595959"/>
                </a:solidFill>
                <a:latin typeface="Arial"/>
              </a:rPr>
              <a:t>The prompt in the companion material gives you a four-wave roadmap with deliverables, dependencies and cost drivers.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wave sequence §5.7.2–§5.7.5)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5, Execute &amp; Govern — stand up the living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Execute &amp; Govern makes Progressa's architecture live — the repository, the Board, and the review gate that catches a project trying to build its own learner list and tells it to consume the registry. This is where re-use actually happens.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5 — Execute and Govern. The phase that never ends.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approved roadmap becomes a project pipeline.</a:t>
            </a:r>
          </a:p>
          <a:p>
            <a:pPr>
              <a:spcAft>
                <a:spcPts val="800"/>
              </a:spcAft>
            </a:pPr>
            <a:r>
              <a:rPr sz="1700" b="0" i="0">
                <a:solidFill>
                  <a:srgbClr val="595959"/>
                </a:solidFill>
                <a:latin typeface="Arial"/>
              </a:rPr>
              <a:t>A small permanent EA team turns it into a living practice.</a:t>
            </a:r>
          </a:p>
          <a:p>
            <a:pPr>
              <a:spcAft>
                <a:spcPts val="800"/>
              </a:spcAft>
            </a:pPr>
            <a:r>
              <a:rPr sz="1700" b="0" i="0">
                <a:solidFill>
                  <a:srgbClr val="595959"/>
                </a:solidFill>
                <a:latin typeface="Arial"/>
              </a:rPr>
              <a:t>Three things make it real: the repository, the Board, the review gate.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goes live and a small permanent team keeps it true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repository holds Progressa's layers, its sourcing decisions, its principle set and its decision log. One named architect keeps it current, updated as each wave delivers.</a:t>
            </a:r>
          </a:p>
          <a:p>
            <a:pPr>
              <a:spcAft>
                <a:spcPts val="1200"/>
              </a:spcAft>
            </a:pPr>
            <a:r>
              <a:rPr sz="2000" b="0" i="0">
                <a:solidFill>
                  <a:srgbClr val="1A1A1A"/>
                </a:solidFill>
                <a:latin typeface="Arial"/>
              </a:rPr>
              <a:t>The permanent team — two to four architects reporting to the digitalisation officer — is Progressa's standing muscle for cross-cutting decisions.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exists whether or not any single project is running.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funded project in a hurry plans to build its own learner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scholarship programme arrives at the gate. Its plan: build its own small learner list, because integrating with the Learner Registry would mean learning it and waiting on its team.</a:t>
            </a:r>
          </a:p>
          <a:p>
            <a:pPr>
              <a:spcAft>
                <a:spcPts val="1200"/>
              </a:spcAft>
            </a:pPr>
            <a:r>
              <a:rPr sz="2000" b="0" i="0">
                <a:solidFill>
                  <a:srgbClr val="1A1A1A"/>
                </a:solidFill>
                <a:latin typeface="Arial"/>
              </a:rPr>
              <a:t>The gate asks its few questions. Does a shared building block already exist for this? Yes — the Learner Registry, made authoritative back in Wave 1.</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For the project, building is faster. Every project makes that same rational choice.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rules: consume the Registry. Do not build a fourth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Left alone, the scholarship programme would have built Progressa's fourth learner list, and the fragmentation would have grown. The gate caught it while it was still a line in a project plan. The decision goes in the log, with its reason.</a:t>
            </a:r>
          </a:p>
          <a:p>
            <a:pPr>
              <a:spcAft>
                <a:spcPts val="1200"/>
              </a:spcAft>
            </a:pPr>
            <a:r>
              <a:rPr sz="2000" b="0" i="0">
                <a:solidFill>
                  <a:srgbClr val="1A1A1A"/>
                </a:solidFill>
                <a:latin typeface="Arial"/>
              </a:rPr>
              <a:t>A procurement rule could not have done this — only the whole-of-government view, plus a Board that can say no.</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Four times a year the same Board sits the business and IT sides over the same repository.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Execute &amp; Govern makes the architecture live — a repository kept true, a Board that enforces re-use at the gate, and the standing rhythm where business and IT keep deciding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gate decision on a real project.</a:t>
            </a:r>
          </a:p>
          <a:p>
            <a:pPr algn="l">
              <a:spcAft>
                <a:spcPts val="400"/>
              </a:spcAft>
            </a:pPr>
            <a:r>
              <a:rPr sz="1800" b="0" i="0">
                <a:solidFill>
                  <a:srgbClr val="595959"/>
                </a:solidFill>
                <a:latin typeface="Arial"/>
              </a:rPr>
              <a:t>The prompt in the companion material gives you answered gate questions, a recommended ruling, and a decision-log entry.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this on your own sector — the transferable recipe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five phases, four sign-offs and six deliverables you watched on Progressa are the recipe — change the institutions and the data domains, and the same method runs on any sector you are handed.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Swap the data. Keep the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value of a worked example is not Progressa itself.</a:t>
            </a:r>
          </a:p>
          <a:p>
            <a:pPr>
              <a:spcAft>
                <a:spcPts val="800"/>
              </a:spcAft>
            </a:pPr>
            <a:r>
              <a:rPr sz="1700" b="0" i="0">
                <a:solidFill>
                  <a:srgbClr val="595959"/>
                </a:solidFill>
                <a:latin typeface="Arial"/>
              </a:rPr>
              <a:t>The same five phases, four sign-offs and six deliverables run on any public-sector domain you are handed.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recipe: five phases, six deliverables, four sign-offs</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Discover</a:t>
            </a:r>
          </a:p>
          <a:p>
            <a:pPr>
              <a:spcAft>
                <a:spcPts val="300"/>
              </a:spcAft>
            </a:pPr>
            <a:r>
              <a:rPr sz="1550" b="0" i="0">
                <a:solidFill>
                  <a:srgbClr val="595959"/>
                </a:solidFill>
                <a:latin typeface="Arial"/>
              </a:rPr>
              <a:t>An honest picture of what exists today.</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Assess</a:t>
            </a:r>
          </a:p>
          <a:p>
            <a:pPr>
              <a:spcAft>
                <a:spcPts val="300"/>
              </a:spcAft>
            </a:pPr>
            <a:r>
              <a:rPr sz="1550" b="0" i="0">
                <a:solidFill>
                  <a:srgbClr val="595959"/>
                </a:solidFill>
                <a:latin typeface="Arial"/>
              </a:rPr>
              <a:t>A ranked gap analysis.</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Adapt</a:t>
            </a:r>
          </a:p>
          <a:p>
            <a:pPr>
              <a:spcAft>
                <a:spcPts val="300"/>
              </a:spcAft>
            </a:pPr>
            <a:r>
              <a:rPr sz="1550" b="0" i="0">
                <a:solidFill>
                  <a:srgbClr val="595959"/>
                </a:solidFill>
                <a:latin typeface="Arial"/>
              </a:rPr>
              <a:t>A localised framework and a build-buy-share matrix.</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Plan, first half</a:t>
            </a:r>
          </a:p>
          <a:p>
            <a:pPr>
              <a:spcAft>
                <a:spcPts val="300"/>
              </a:spcAft>
            </a:pPr>
            <a:r>
              <a:rPr sz="1550" b="0" i="0">
                <a:solidFill>
                  <a:srgbClr val="595959"/>
                </a:solidFill>
                <a:latin typeface="Arial"/>
              </a:rPr>
              <a:t>The target architecture — the designed future state.</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Plan, second half</a:t>
            </a:r>
          </a:p>
          <a:p>
            <a:pPr>
              <a:spcAft>
                <a:spcPts val="300"/>
              </a:spcAft>
            </a:pPr>
            <a:r>
              <a:rPr sz="1550" b="0" i="0">
                <a:solidFill>
                  <a:srgbClr val="595959"/>
                </a:solidFill>
                <a:latin typeface="Arial"/>
              </a:rPr>
              <a:t>The wave-sequenced, costed roadmap that reaches it.</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Execute &amp; Govern</a:t>
            </a:r>
          </a:p>
          <a:p>
            <a:pPr>
              <a:spcAft>
                <a:spcPts val="300"/>
              </a:spcAft>
            </a:pPr>
            <a:r>
              <a:rPr sz="1550" b="0" i="0">
                <a:solidFill>
                  <a:srgbClr val="595959"/>
                </a:solidFill>
                <a:latin typeface="Arial"/>
              </a:rPr>
              <a:t>A living, governed architecture.</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A sign-off after each of the first four phases. That order is the method.</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Swap the contents. Keep the method</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CHANGES</a:t>
            </a:r>
          </a:p>
          <a:p>
            <a:pPr>
              <a:spcAft>
                <a:spcPts val="700"/>
              </a:spcAft>
            </a:pPr>
            <a:r>
              <a:rPr sz="1600" b="0" i="0">
                <a:solidFill>
                  <a:srgbClr val="1A1A1A"/>
                </a:solidFill>
                <a:latin typeface="Arial"/>
              </a:rPr>
              <a:t>The institutions — your ministry, your authorities, your registries.</a:t>
            </a:r>
          </a:p>
          <a:p>
            <a:pPr>
              <a:spcAft>
                <a:spcPts val="700"/>
              </a:spcAft>
            </a:pPr>
            <a:r>
              <a:rPr sz="1600" b="0" i="0">
                <a:solidFill>
                  <a:srgbClr val="1A1A1A"/>
                </a:solidFill>
                <a:latin typeface="Arial"/>
              </a:rPr>
              <a:t>The data domains — a patient, a farmer, a taxpayer instead of a learner.</a:t>
            </a:r>
          </a:p>
          <a:p>
            <a:pPr>
              <a:spcAft>
                <a:spcPts val="700"/>
              </a:spcAft>
            </a:pPr>
            <a:r>
              <a:rPr sz="1600" b="0" i="0">
                <a:solidFill>
                  <a:srgbClr val="1A1A1A"/>
                </a:solidFill>
                <a:latin typeface="Arial"/>
              </a:rPr>
              <a:t>The specific gaps you find.</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DOES NOT</a:t>
            </a:r>
          </a:p>
          <a:p>
            <a:pPr>
              <a:spcAft>
                <a:spcPts val="700"/>
              </a:spcAft>
            </a:pPr>
            <a:r>
              <a:rPr sz="1600" b="0" i="0">
                <a:solidFill>
                  <a:srgbClr val="1A1A1A"/>
                </a:solidFill>
                <a:latin typeface="Arial"/>
              </a:rPr>
              <a:t>The five phases.</a:t>
            </a:r>
          </a:p>
          <a:p>
            <a:pPr>
              <a:spcAft>
                <a:spcPts val="700"/>
              </a:spcAft>
            </a:pPr>
            <a:r>
              <a:rPr sz="1600" b="0" i="0">
                <a:solidFill>
                  <a:srgbClr val="1A1A1A"/>
                </a:solidFill>
                <a:latin typeface="Arial"/>
              </a:rPr>
              <a:t>The four sign-offs.</a:t>
            </a:r>
          </a:p>
          <a:p>
            <a:pPr>
              <a:spcAft>
                <a:spcPts val="700"/>
              </a:spcAft>
            </a:pPr>
            <a:r>
              <a:rPr sz="1600" b="0" i="0">
                <a:solidFill>
                  <a:srgbClr val="1A1A1A"/>
                </a:solidFill>
                <a:latin typeface="Arial"/>
              </a:rPr>
              <a:t>The six deliverables.</a:t>
            </a:r>
          </a:p>
          <a:p>
            <a:pPr>
              <a:spcAft>
                <a:spcPts val="700"/>
              </a:spcAft>
            </a:pPr>
            <a:r>
              <a:rPr sz="1600" b="0" i="0">
                <a:solidFill>
                  <a:srgbClr val="1A1A1A"/>
                </a:solidFill>
                <a:latin typeface="Arial"/>
              </a:rPr>
              <a:t>Reuse before build.</a:t>
            </a:r>
          </a:p>
          <a:p>
            <a:pPr>
              <a:spcAft>
                <a:spcPts val="700"/>
              </a:spcAft>
            </a:pPr>
            <a:r>
              <a:rPr sz="1600" b="0" i="0">
                <a:solidFill>
                  <a:srgbClr val="1A1A1A"/>
                </a:solidFill>
                <a:latin typeface="Arial"/>
              </a:rPr>
              <a:t>The binding Board.</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The contents are yours. The method is the same one you just watched.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method travels — and the second sector is cheaper than the first</a:t>
            </a:r>
          </a:p>
        </p:txBody>
      </p:sp>
      <p:sp>
        <p:nvSpPr>
          <p:cNvPr id="4" name="TextBox 3"/>
          <p:cNvSpPr txBox="1"/>
          <p:nvPr/>
        </p:nvSpPr>
        <p:spPr>
          <a:xfrm>
            <a:off x="658368" y="1600200"/>
            <a:ext cx="10881360" cy="1508760"/>
          </a:xfrm>
          <a:prstGeom prst="rect">
            <a:avLst/>
          </a:prstGeom>
          <a:noFill/>
        </p:spPr>
        <p:txBody>
          <a:bodyPr wrap="square">
            <a:spAutoFit/>
          </a:bodyPr>
          <a:lstStyle/>
          <a:p>
            <a:pPr>
              <a:spcAft>
                <a:spcPts val="1200"/>
              </a:spcAft>
            </a:pPr>
            <a:r>
              <a:rPr sz="2000" b="0" i="0">
                <a:solidFill>
                  <a:srgbClr val="1A1A1A"/>
                </a:solidFill>
                <a:latin typeface="Arial"/>
              </a:rPr>
              <a:t>The same five phases run on health (a patient record), agriculture (a farmer registry), social protection (a beneficiary record). Same shapes, same steps.</a:t>
            </a:r>
          </a:p>
        </p:txBody>
      </p:sp>
      <p:sp>
        <p:nvSpPr>
          <p:cNvPr id="5" name="Rounded Rectangle 4"/>
          <p:cNvSpPr/>
          <p:nvPr/>
        </p:nvSpPr>
        <p:spPr>
          <a:xfrm>
            <a:off x="658368" y="3291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483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the framework and the governance are already there.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to carry from Progressa into your own sector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Start small</a:t>
            </a:r>
          </a:p>
          <a:p>
            <a:pPr>
              <a:spcAft>
                <a:spcPts val="300"/>
              </a:spcAft>
            </a:pPr>
            <a:r>
              <a:rPr sz="1550" b="0" i="0">
                <a:solidFill>
                  <a:srgbClr val="595959"/>
                </a:solidFill>
                <a:latin typeface="Arial"/>
              </a:rPr>
              <a:t>Pick the one high-priority use case and make it land in an early wave.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Sign off honestly</a:t>
            </a:r>
          </a:p>
          <a:p>
            <a:pPr>
              <a:spcAft>
                <a:spcPts val="300"/>
              </a:spcAft>
            </a:pPr>
            <a:r>
              <a:rPr sz="1550" b="0" i="0">
                <a:solidFill>
                  <a:srgbClr val="595959"/>
                </a:solidFill>
                <a:latin typeface="Arial"/>
              </a:rPr>
              <a:t>Including the politically uncomfortable gap — the flattering assessment fails later.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Protect the team</a:t>
            </a:r>
          </a:p>
          <a:p>
            <a:pPr>
              <a:spcAft>
                <a:spcPts val="300"/>
              </a:spcAft>
            </a:pPr>
            <a:r>
              <a:rPr sz="1550" b="0" i="0">
                <a:solidFill>
                  <a:srgbClr val="595959"/>
                </a:solidFill>
                <a:latin typeface="Arial"/>
              </a:rPr>
              <a:t>The practice dies when the architects are pulled onto the urgent project of the week.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Get those three right and the method does the rest.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Five phases, four sign-offs, six deliverables — change the institutions and the data domains, and the method you watched on Progressa runs on any sector you are handed.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the Progressa method to your sector.</a:t>
            </a:r>
          </a:p>
          <a:p>
            <a:pPr algn="l">
              <a:spcAft>
                <a:spcPts val="400"/>
              </a:spcAft>
            </a:pPr>
            <a:r>
              <a:rPr sz="1800" b="0" i="0">
                <a:solidFill>
                  <a:srgbClr val="595959"/>
                </a:solidFill>
                <a:latin typeface="Arial"/>
              </a:rPr>
              <a:t>The prompt in the companion material gives you a one-page transfer plan (classification, the high-priority use case, the six deliverables, the first two waves).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