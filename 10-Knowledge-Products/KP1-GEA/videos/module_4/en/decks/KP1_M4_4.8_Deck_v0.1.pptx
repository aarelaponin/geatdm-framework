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46" r:id="rId68"/>
    <p:sldId id="2747" r:id="rId69"/>
    <p:sldId id="2748" r:id="rId70"/>
    <p:sldId id="2749" r:id="rId71"/>
    <p:sldId id="2750" r:id="rId72"/>
    <p:sldId id="2751" r:id="rId73"/>
    <p:sldId id="2752"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4.8. Content slides are identical to the corresponding section of the combined deck KP1_M4_Deck_v0.1.pptx;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have watched the whole method run on Progressa. The last step is to make it yours. Because the value of a worked example is not Progressa — it is that the same five phases, four sign-offs and six deliverables run on any public-sector domain you are handed. Here is the recipe, stripped to what transfers.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recipe is five phases and six deliverables, with a sign-off after each of the first four phases. Discover produces an honest picture. Assess produces a ranked gap analysis. Adapt produces a localised framework and a build-buy-share matrix. Plan produces two: the target architecture — the designed future state — and then the wave-sequenced, costed roadmap that reaches it. Execute and Govern produces a living, governed architecture. Discover before you judge; judge before you adapt; adapt before you design the target; design the target before you sequence the roadmap; govern always. That order is the method.</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Moving to your sector, be clear about what changes and what does not. What changes: the institutions — your ministry, your authorities, your registries instead of Progressa's. The data domains — a patient, a farmer, a taxpayer instead of a learner. The specific gaps you find. What does not change: the five phases, the four sign-offs, the six deliverables, the reuse-before-build default, and the binding Board. You swap the contents; you keep the method.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the method travels beyond education. The same five phases run on health, where the duplicated thing is a patient record; on agriculture, where it is a farmer registry; on social protection, where it is a beneficiary record. The shapes are the same — duplicate registries, paper re-entry, a stalled flagship — and so are the steps to fix them. Once your country has run the lifecycle once and built the EA muscle, the second sector is cheaper than the first, and the third cheaper still, because the team, the framework and the governance are already there.</a:t>
            </a:r>
          </a:p>
          <a:p/>
          <a:p>
            <a:r>
              <a:t>On screen: these sectors are named as places the method applies, not as worked examples — education is the worked sector throughout.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Three things to carry from Progressa when you start on your own sector. Start small — pick the one high-priority use case, the equivalent of the single learner record, and make it land in an early wave. Sign off honestly — including the politically uncomfortable gap, because the assessment that flatters fails a year later. And protect the team — the most common way the practice dies is the architects being pulled onto the urgent project of the week. Get those three right and the method does the rest.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that is the method, end to end, on a real sector — and the recipe to run it on yours. Five phases. Four sign-offs. Six deliverables, the target architecture and the roadmap among them. Reuse before build. A Board that can say no. Change the institutions and the domains, keep the method, and you can take any sector in your country from a fragmented start to a living, governed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4.8 — Run this on your own sector — the transferable recipe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4 · Video 4.8</a:t>
            </a:r>
          </a:p>
          <a:p>
            <a:r>
              <a:rPr sz="1200" b="0" i="1">
                <a:solidFill>
                  <a:srgbClr val="595959"/>
                </a:solidFill>
                <a:latin typeface="Arial"/>
              </a:rPr>
              <a:t>The five phases, four sign-offs and six deliverables you watched on Progressa are the recipe — change the institutions and the data domains, and the same method runs on any sector you are handed.</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~4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PHASES, RUN ON ONE SECTOR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 — an honest picture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 — a ranked gap analysis</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 — framework and sourcing</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 — the target, then the roadmap</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 — the living EA</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phases · 4 sign-offs · 6 deliverables · 1 worked sector</a:t>
            </a:r>
          </a:p>
        </p:txBody>
      </p:sp>
    </p:spTree>
    <p:extLst>
      <p:ext uri="{BB962C8B-B14F-4D97-AF65-F5344CB8AC3E}">
        <p14:creationId xmlns:p14="http://schemas.microsoft.com/office/powerpoint/2010/main" val="1196800265"/>
      </p:ext>
    </p:extLst>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Run this on your own sector — the transferable recipe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five phases, four sign-offs and six deliverables you watched on Progressa are the recipe — change the institutions and the data domains, and the same method runs on any sector you are handed.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recipe: five phases, six deliverables, four sign-offs</a:t>
            </a:r>
          </a:p>
        </p:txBody>
      </p:sp>
      <p:sp>
        <p:nvSpPr>
          <p:cNvPr id="4" name="Oval 3"/>
          <p:cNvSpPr/>
          <p:nvPr/>
        </p:nvSpPr>
        <p:spPr>
          <a:xfrm>
            <a:off x="621792" y="14630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17320"/>
            <a:ext cx="10527487" cy="685799"/>
          </a:xfrm>
          <a:prstGeom prst="rect">
            <a:avLst/>
          </a:prstGeom>
          <a:noFill/>
        </p:spPr>
        <p:txBody>
          <a:bodyPr wrap="square">
            <a:spAutoFit/>
          </a:bodyPr>
          <a:lstStyle/>
          <a:p>
            <a:pPr>
              <a:spcAft>
                <a:spcPts val="300"/>
              </a:spcAft>
            </a:pPr>
            <a:r>
              <a:rPr sz="1700" b="1" i="0">
                <a:solidFill>
                  <a:srgbClr val="1A1A1A"/>
                </a:solidFill>
                <a:latin typeface="Arial"/>
              </a:rPr>
              <a:t>Discover</a:t>
            </a:r>
          </a:p>
          <a:p>
            <a:pPr>
              <a:spcAft>
                <a:spcPts val="300"/>
              </a:spcAft>
            </a:pPr>
            <a:r>
              <a:rPr sz="1550" b="0" i="0">
                <a:solidFill>
                  <a:srgbClr val="595959"/>
                </a:solidFill>
                <a:latin typeface="Arial"/>
              </a:rPr>
              <a:t>An honest picture of what exists today.</a:t>
            </a:r>
          </a:p>
        </p:txBody>
      </p:sp>
      <p:sp>
        <p:nvSpPr>
          <p:cNvPr id="6" name="Rectangle 5"/>
          <p:cNvSpPr/>
          <p:nvPr/>
        </p:nvSpPr>
        <p:spPr>
          <a:xfrm>
            <a:off x="621792" y="210769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1945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148840"/>
            <a:ext cx="10527487" cy="685799"/>
          </a:xfrm>
          <a:prstGeom prst="rect">
            <a:avLst/>
          </a:prstGeom>
          <a:noFill/>
        </p:spPr>
        <p:txBody>
          <a:bodyPr wrap="square">
            <a:spAutoFit/>
          </a:bodyPr>
          <a:lstStyle/>
          <a:p>
            <a:pPr>
              <a:spcAft>
                <a:spcPts val="300"/>
              </a:spcAft>
            </a:pPr>
            <a:r>
              <a:rPr sz="1700" b="1" i="0">
                <a:solidFill>
                  <a:srgbClr val="1A1A1A"/>
                </a:solidFill>
                <a:latin typeface="Arial"/>
              </a:rPr>
              <a:t>Assess</a:t>
            </a:r>
          </a:p>
          <a:p>
            <a:pPr>
              <a:spcAft>
                <a:spcPts val="300"/>
              </a:spcAft>
            </a:pPr>
            <a:r>
              <a:rPr sz="1550" b="0" i="0">
                <a:solidFill>
                  <a:srgbClr val="595959"/>
                </a:solidFill>
                <a:latin typeface="Arial"/>
              </a:rPr>
              <a:t>A ranked gap analysis.</a:t>
            </a:r>
          </a:p>
        </p:txBody>
      </p:sp>
      <p:sp>
        <p:nvSpPr>
          <p:cNvPr id="9" name="Rectangle 8"/>
          <p:cNvSpPr/>
          <p:nvPr/>
        </p:nvSpPr>
        <p:spPr>
          <a:xfrm>
            <a:off x="621792" y="28392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29260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2880360"/>
            <a:ext cx="10527487" cy="685799"/>
          </a:xfrm>
          <a:prstGeom prst="rect">
            <a:avLst/>
          </a:prstGeom>
          <a:noFill/>
        </p:spPr>
        <p:txBody>
          <a:bodyPr wrap="square">
            <a:spAutoFit/>
          </a:bodyPr>
          <a:lstStyle/>
          <a:p>
            <a:pPr>
              <a:spcAft>
                <a:spcPts val="300"/>
              </a:spcAft>
            </a:pPr>
            <a:r>
              <a:rPr sz="1700" b="1" i="0">
                <a:solidFill>
                  <a:srgbClr val="1A1A1A"/>
                </a:solidFill>
                <a:latin typeface="Arial"/>
              </a:rPr>
              <a:t>Adapt</a:t>
            </a:r>
          </a:p>
          <a:p>
            <a:pPr>
              <a:spcAft>
                <a:spcPts val="300"/>
              </a:spcAft>
            </a:pPr>
            <a:r>
              <a:rPr sz="1550" b="0" i="0">
                <a:solidFill>
                  <a:srgbClr val="595959"/>
                </a:solidFill>
                <a:latin typeface="Arial"/>
              </a:rPr>
              <a:t>A localised framework and a build-buy-share matrix.</a:t>
            </a:r>
          </a:p>
        </p:txBody>
      </p:sp>
      <p:sp>
        <p:nvSpPr>
          <p:cNvPr id="12" name="Rectangle 11"/>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365760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3611880"/>
            <a:ext cx="10527487" cy="685799"/>
          </a:xfrm>
          <a:prstGeom prst="rect">
            <a:avLst/>
          </a:prstGeom>
          <a:noFill/>
        </p:spPr>
        <p:txBody>
          <a:bodyPr wrap="square">
            <a:spAutoFit/>
          </a:bodyPr>
          <a:lstStyle/>
          <a:p>
            <a:pPr>
              <a:spcAft>
                <a:spcPts val="300"/>
              </a:spcAft>
            </a:pPr>
            <a:r>
              <a:rPr sz="1700" b="1" i="0">
                <a:solidFill>
                  <a:srgbClr val="1A1A1A"/>
                </a:solidFill>
                <a:latin typeface="Arial"/>
              </a:rPr>
              <a:t>Plan, first half</a:t>
            </a:r>
          </a:p>
          <a:p>
            <a:pPr>
              <a:spcAft>
                <a:spcPts val="300"/>
              </a:spcAft>
            </a:pPr>
            <a:r>
              <a:rPr sz="1550" b="0" i="0">
                <a:solidFill>
                  <a:srgbClr val="595959"/>
                </a:solidFill>
                <a:latin typeface="Arial"/>
              </a:rPr>
              <a:t>The target architecture — the designed future state.</a:t>
            </a:r>
          </a:p>
        </p:txBody>
      </p:sp>
      <p:sp>
        <p:nvSpPr>
          <p:cNvPr id="15" name="Rectangle 14"/>
          <p:cNvSpPr/>
          <p:nvPr/>
        </p:nvSpPr>
        <p:spPr>
          <a:xfrm>
            <a:off x="621792" y="43022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3891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343400"/>
            <a:ext cx="10527487" cy="685799"/>
          </a:xfrm>
          <a:prstGeom prst="rect">
            <a:avLst/>
          </a:prstGeom>
          <a:noFill/>
        </p:spPr>
        <p:txBody>
          <a:bodyPr wrap="square">
            <a:spAutoFit/>
          </a:bodyPr>
          <a:lstStyle/>
          <a:p>
            <a:pPr>
              <a:spcAft>
                <a:spcPts val="300"/>
              </a:spcAft>
            </a:pPr>
            <a:r>
              <a:rPr sz="1700" b="1" i="0">
                <a:solidFill>
                  <a:srgbClr val="1A1A1A"/>
                </a:solidFill>
                <a:latin typeface="Arial"/>
              </a:rPr>
              <a:t>Plan, second half</a:t>
            </a:r>
          </a:p>
          <a:p>
            <a:pPr>
              <a:spcAft>
                <a:spcPts val="300"/>
              </a:spcAft>
            </a:pPr>
            <a:r>
              <a:rPr sz="1550" b="0" i="0">
                <a:solidFill>
                  <a:srgbClr val="595959"/>
                </a:solidFill>
                <a:latin typeface="Arial"/>
              </a:rPr>
              <a:t>The wave-sequenced, costed roadmap that reaches it.</a:t>
            </a:r>
          </a:p>
        </p:txBody>
      </p:sp>
      <p:sp>
        <p:nvSpPr>
          <p:cNvPr id="18" name="Rectangle 17"/>
          <p:cNvSpPr/>
          <p:nvPr/>
        </p:nvSpPr>
        <p:spPr>
          <a:xfrm>
            <a:off x="621792" y="50337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21792" y="512064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6</a:t>
            </a:r>
          </a:p>
        </p:txBody>
      </p:sp>
      <p:sp>
        <p:nvSpPr>
          <p:cNvPr id="20" name="TextBox 19"/>
          <p:cNvSpPr txBox="1"/>
          <p:nvPr/>
        </p:nvSpPr>
        <p:spPr>
          <a:xfrm>
            <a:off x="1115568" y="5074920"/>
            <a:ext cx="10527487" cy="685799"/>
          </a:xfrm>
          <a:prstGeom prst="rect">
            <a:avLst/>
          </a:prstGeom>
          <a:noFill/>
        </p:spPr>
        <p:txBody>
          <a:bodyPr wrap="square">
            <a:spAutoFit/>
          </a:bodyPr>
          <a:lstStyle/>
          <a:p>
            <a:pPr>
              <a:spcAft>
                <a:spcPts val="300"/>
              </a:spcAft>
            </a:pPr>
            <a:r>
              <a:rPr sz="1700" b="1" i="0">
                <a:solidFill>
                  <a:srgbClr val="1A1A1A"/>
                </a:solidFill>
                <a:latin typeface="Arial"/>
              </a:rPr>
              <a:t>Execute &amp; Govern</a:t>
            </a:r>
          </a:p>
          <a:p>
            <a:pPr>
              <a:spcAft>
                <a:spcPts val="300"/>
              </a:spcAft>
            </a:pPr>
            <a:r>
              <a:rPr sz="1550" b="0" i="0">
                <a:solidFill>
                  <a:srgbClr val="595959"/>
                </a:solidFill>
                <a:latin typeface="Arial"/>
              </a:rPr>
              <a:t>A living, governed architecture.</a:t>
            </a:r>
          </a:p>
        </p:txBody>
      </p:sp>
      <p:sp>
        <p:nvSpPr>
          <p:cNvPr id="21" name="TextBox 20"/>
          <p:cNvSpPr txBox="1"/>
          <p:nvPr/>
        </p:nvSpPr>
        <p:spPr>
          <a:xfrm>
            <a:off x="658368" y="5916168"/>
            <a:ext cx="10881360" cy="548640"/>
          </a:xfrm>
          <a:prstGeom prst="rect">
            <a:avLst/>
          </a:prstGeom>
          <a:noFill/>
        </p:spPr>
        <p:txBody>
          <a:bodyPr wrap="square">
            <a:spAutoFit/>
          </a:bodyPr>
          <a:lstStyle/>
          <a:p>
            <a:r>
              <a:rPr sz="1550" b="1" i="0">
                <a:solidFill>
                  <a:srgbClr val="006E96"/>
                </a:solidFill>
                <a:latin typeface="Arial"/>
              </a:rPr>
              <a:t>A sign-off after each of the first four phases. That order is the method.</a:t>
            </a:r>
          </a:p>
        </p:txBody>
      </p:sp>
      <p:sp>
        <p:nvSpPr>
          <p:cNvPr id="22" name="TextBox 2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Swap the contents. Keep the method</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CHANGES</a:t>
            </a:r>
          </a:p>
          <a:p>
            <a:pPr>
              <a:spcAft>
                <a:spcPts val="700"/>
              </a:spcAft>
            </a:pPr>
            <a:r>
              <a:rPr sz="1600" b="0" i="0">
                <a:solidFill>
                  <a:srgbClr val="1A1A1A"/>
                </a:solidFill>
                <a:latin typeface="Arial"/>
              </a:rPr>
              <a:t>The institutions — your ministry, your authorities, your registries.</a:t>
            </a:r>
          </a:p>
          <a:p>
            <a:pPr>
              <a:spcAft>
                <a:spcPts val="700"/>
              </a:spcAft>
            </a:pPr>
            <a:r>
              <a:rPr sz="1600" b="0" i="0">
                <a:solidFill>
                  <a:srgbClr val="1A1A1A"/>
                </a:solidFill>
                <a:latin typeface="Arial"/>
              </a:rPr>
              <a:t>The data domains — a patient, a farmer, a taxpayer instead of a learner.</a:t>
            </a:r>
          </a:p>
          <a:p>
            <a:pPr>
              <a:spcAft>
                <a:spcPts val="700"/>
              </a:spcAft>
            </a:pPr>
            <a:r>
              <a:rPr sz="1600" b="0" i="0">
                <a:solidFill>
                  <a:srgbClr val="1A1A1A"/>
                </a:solidFill>
                <a:latin typeface="Arial"/>
              </a:rPr>
              <a:t>The specific gaps you find.</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WHAT DOES NOT</a:t>
            </a:r>
          </a:p>
          <a:p>
            <a:pPr>
              <a:spcAft>
                <a:spcPts val="700"/>
              </a:spcAft>
            </a:pPr>
            <a:r>
              <a:rPr sz="1600" b="0" i="0">
                <a:solidFill>
                  <a:srgbClr val="1A1A1A"/>
                </a:solidFill>
                <a:latin typeface="Arial"/>
              </a:rPr>
              <a:t>The five phases.</a:t>
            </a:r>
          </a:p>
          <a:p>
            <a:pPr>
              <a:spcAft>
                <a:spcPts val="700"/>
              </a:spcAft>
            </a:pPr>
            <a:r>
              <a:rPr sz="1600" b="0" i="0">
                <a:solidFill>
                  <a:srgbClr val="1A1A1A"/>
                </a:solidFill>
                <a:latin typeface="Arial"/>
              </a:rPr>
              <a:t>The four sign-offs.</a:t>
            </a:r>
          </a:p>
          <a:p>
            <a:pPr>
              <a:spcAft>
                <a:spcPts val="700"/>
              </a:spcAft>
            </a:pPr>
            <a:r>
              <a:rPr sz="1600" b="0" i="0">
                <a:solidFill>
                  <a:srgbClr val="1A1A1A"/>
                </a:solidFill>
                <a:latin typeface="Arial"/>
              </a:rPr>
              <a:t>The six deliverables.</a:t>
            </a:r>
          </a:p>
          <a:p>
            <a:pPr>
              <a:spcAft>
                <a:spcPts val="700"/>
              </a:spcAft>
            </a:pPr>
            <a:r>
              <a:rPr sz="1600" b="0" i="0">
                <a:solidFill>
                  <a:srgbClr val="1A1A1A"/>
                </a:solidFill>
                <a:latin typeface="Arial"/>
              </a:rPr>
              <a:t>Reuse before build.</a:t>
            </a:r>
          </a:p>
          <a:p>
            <a:pPr>
              <a:spcAft>
                <a:spcPts val="700"/>
              </a:spcAft>
            </a:pPr>
            <a:r>
              <a:rPr sz="1600" b="0" i="0">
                <a:solidFill>
                  <a:srgbClr val="1A1A1A"/>
                </a:solidFill>
                <a:latin typeface="Arial"/>
              </a:rPr>
              <a:t>The binding Board.</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The contents are yours. The method is the same one you just watched.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second sector is cheaper than the first, and the third cheaper still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same five phases run on health, where the duplicated thing is a patient record; on agriculture, where it is a farmer registry; on social protection, where it is a beneficiary record.</a:t>
            </a:r>
          </a:p>
          <a:p>
            <a:pPr>
              <a:spcAft>
                <a:spcPts val="1200"/>
              </a:spcAft>
            </a:pPr>
            <a:r>
              <a:rPr sz="2000" b="0" i="0">
                <a:solidFill>
                  <a:srgbClr val="1A1A1A"/>
                </a:solidFill>
                <a:latin typeface="Arial"/>
              </a:rPr>
              <a:t>The shapes are the same — duplicate registries, paper re-entry, a stalled flagship — and so are the steps to fix them.</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team, the framework and the governance are already there.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things to carry from Progressa into your own sector</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Start small</a:t>
            </a:r>
          </a:p>
          <a:p>
            <a:pPr>
              <a:spcAft>
                <a:spcPts val="300"/>
              </a:spcAft>
            </a:pPr>
            <a:r>
              <a:rPr sz="1550" b="0" i="0">
                <a:solidFill>
                  <a:srgbClr val="595959"/>
                </a:solidFill>
                <a:latin typeface="Arial"/>
              </a:rPr>
              <a:t>Pick the one high-priority use case and make it land in an early wave.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Sign off honestly</a:t>
            </a:r>
          </a:p>
          <a:p>
            <a:pPr>
              <a:spcAft>
                <a:spcPts val="300"/>
              </a:spcAft>
            </a:pPr>
            <a:r>
              <a:rPr sz="1550" b="0" i="0">
                <a:solidFill>
                  <a:srgbClr val="595959"/>
                </a:solidFill>
                <a:latin typeface="Arial"/>
              </a:rPr>
              <a:t>Including the politically uncomfortable gap — the flattering assessment fails later.</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Protect the team</a:t>
            </a:r>
          </a:p>
          <a:p>
            <a:pPr>
              <a:spcAft>
                <a:spcPts val="300"/>
              </a:spcAft>
            </a:pPr>
            <a:r>
              <a:rPr sz="1550" b="0" i="0">
                <a:solidFill>
                  <a:srgbClr val="595959"/>
                </a:solidFill>
                <a:latin typeface="Arial"/>
              </a:rPr>
              <a:t>The practice dies when the architects are pulled onto the urgent project of the week.</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Get those three right and the method does the rest.</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Five phases, four sign-offs, six deliverables — change the institutions and the data domains, and the method you watched on Progressa runs on any sector you are handed.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4.8 · Run this on your own sector — the transferable recipe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