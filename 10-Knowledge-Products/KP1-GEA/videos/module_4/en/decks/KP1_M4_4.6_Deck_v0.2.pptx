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6" r:id="rId58"/>
    <p:sldId id="2737" r:id="rId59"/>
    <p:sldId id="2738" r:id="rId60"/>
    <p:sldId id="2739" r:id="rId61"/>
    <p:sldId id="2740" r:id="rId62"/>
    <p:sldId id="2741" r:id="rId63"/>
    <p:sldId id="2742" r:id="rId64"/>
    <p:sldId id="2743"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four is Plan. Now the decisions become a sequence: how does Progressa get from today to the target, in what order, at what cost? The deliverable is a roadmap in waves with investment estimates. About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 sequences the work into waves, the way PAERA's recommended roadmap suggests. Wave one is inception — stand up the repository and the Board, and make the Learner Registry the authoritative learner. Wave two is the high-priority use case — the single learner record, by having the Examination Authority and the grant programme consume the Learner Registry and the Identity Authority instead of their own lists. Wave three builds out the shared data-exchange backbone. Wave four takes it to mass scale — every education service running on the backbone. Each wave delivers something the minister can show, not just groundwork.</a:t>
            </a:r>
          </a:p>
          <a:p/>
          <a:p>
            <a:r>
              <a:t>Production cue: this is the module's centrepiece slide. Hold it. The wave names follow PAERA §5.7.2–§5.7.5 (Inception, High-priority Use Case, Initial Transformation, Mass-scale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wave gets an honest cost. Wave one is mostly people — the initial engagement and the small permanent EA team. Wave two adds the integration work to connect the authorities to the registries. Wave three is the backbone investment. The estimates are directional, not quotations — enough for cabinet to commit a five-year envelope, not an annual line that vanishes. And the sequencing is deliberate: the minister sees the single learner record — the thing they promised — land in wave two, inside the first year, not in year five.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roadmap does a second job: it is the one page the business side and the IT side both point at — the minister reading outcomes and dates, the architects reading the sequence and its dependencies — so the policy goal and the technical sequence line up without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Plan ends with the fourth sign-off, the most consequential of the four. The decision-maker and the EA Board approve the roadmap and commit the budget — ideally a multi-year envelope, not an annual line. This is the deliverable the minister takes to cabinet. With it approved, Progressa moves from planning to building. Four sign-offs done, in roughly six months from the first day of Discovery. Now the work shifts to making it live.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Phase 4 on Progressa. Sequence into waves, each delivering something visible. Cost each wave honestly. Put the minister's promise in an early wave. Sign off the roadmap and commit the budget.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4, Plan — sequence the roadmap and cost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Plan turns Progressa's decisions into a sequenced, costed roadmap in waves — the deliverable the minister takes to cabinet — signed off with budget committed.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Phase 4 — Plan. In what order, at what cost?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How does Progressa get from today to the target?</a:t>
            </a:r>
          </a:p>
          <a:p>
            <a:pPr>
              <a:spcAft>
                <a:spcPts val="800"/>
              </a:spcAft>
            </a:pPr>
            <a:r>
              <a:rPr sz="1700" b="0" i="0">
                <a:solidFill>
                  <a:srgbClr val="595959"/>
                </a:solidFill>
                <a:latin typeface="Arial"/>
              </a:rPr>
              <a:t>The deliverable: a roadmap in waves, with investment estimates.</a:t>
            </a:r>
          </a:p>
          <a:p>
            <a:pPr>
              <a:spcAft>
                <a:spcPts val="800"/>
              </a:spcAft>
            </a:pPr>
            <a:r>
              <a:rPr sz="1700" b="0" i="0">
                <a:solidFill>
                  <a:srgbClr val="595959"/>
                </a:solidFill>
                <a:latin typeface="Arial"/>
              </a:rPr>
              <a:t>About six to eight weeks.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waves, and each one delivers something the minister can show</a:t>
            </a:r>
          </a:p>
        </p:txBody>
      </p:sp>
      <p:sp>
        <p:nvSpPr>
          <p:cNvPr id="4" name="Rounded Rectangle 3"/>
          <p:cNvSpPr/>
          <p:nvPr/>
        </p:nvSpPr>
        <p:spPr>
          <a:xfrm>
            <a:off x="658368" y="153619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682495"/>
            <a:ext cx="1371600" cy="320040"/>
          </a:xfrm>
          <a:prstGeom prst="rect">
            <a:avLst/>
          </a:prstGeom>
          <a:noFill/>
        </p:spPr>
        <p:txBody>
          <a:bodyPr wrap="square">
            <a:spAutoFit/>
          </a:bodyPr>
          <a:lstStyle/>
          <a:p>
            <a:r>
              <a:rPr sz="1200" b="1" i="0">
                <a:solidFill>
                  <a:srgbClr val="006E96"/>
                </a:solidFill>
                <a:latin typeface="Arial"/>
              </a:rPr>
              <a:t>WAVE 1</a:t>
            </a:r>
          </a:p>
        </p:txBody>
      </p:sp>
      <p:sp>
        <p:nvSpPr>
          <p:cNvPr id="6" name="TextBox 5"/>
          <p:cNvSpPr txBox="1"/>
          <p:nvPr/>
        </p:nvSpPr>
        <p:spPr>
          <a:xfrm>
            <a:off x="896112" y="1993391"/>
            <a:ext cx="3840480" cy="411480"/>
          </a:xfrm>
          <a:prstGeom prst="rect">
            <a:avLst/>
          </a:prstGeom>
          <a:noFill/>
        </p:spPr>
        <p:txBody>
          <a:bodyPr wrap="square">
            <a:spAutoFit/>
          </a:bodyPr>
          <a:lstStyle/>
          <a:p>
            <a:r>
              <a:rPr sz="1900" b="1" i="0">
                <a:solidFill>
                  <a:srgbClr val="1A1A1A"/>
                </a:solidFill>
                <a:latin typeface="Arial"/>
              </a:rPr>
              <a:t>Inception</a:t>
            </a:r>
          </a:p>
        </p:txBody>
      </p:sp>
      <p:sp>
        <p:nvSpPr>
          <p:cNvPr id="7" name="TextBox 6"/>
          <p:cNvSpPr txBox="1"/>
          <p:nvPr/>
        </p:nvSpPr>
        <p:spPr>
          <a:xfrm>
            <a:off x="5029200" y="1737360"/>
            <a:ext cx="6309360" cy="640080"/>
          </a:xfrm>
          <a:prstGeom prst="rect">
            <a:avLst/>
          </a:prstGeom>
          <a:noFill/>
        </p:spPr>
        <p:txBody>
          <a:bodyPr wrap="square">
            <a:spAutoFit/>
          </a:bodyPr>
          <a:lstStyle/>
          <a:p>
            <a:r>
              <a:rPr sz="1550" b="0" i="0">
                <a:solidFill>
                  <a:srgbClr val="1A1A1A"/>
                </a:solidFill>
                <a:latin typeface="Arial"/>
              </a:rPr>
              <a:t>Stand up the repository and the Board; make the Learner Registry authoritative.</a:t>
            </a:r>
          </a:p>
        </p:txBody>
      </p:sp>
      <p:sp>
        <p:nvSpPr>
          <p:cNvPr id="8" name="Rounded Rectangle 7"/>
          <p:cNvSpPr/>
          <p:nvPr/>
        </p:nvSpPr>
        <p:spPr>
          <a:xfrm>
            <a:off x="658368" y="258775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734056"/>
            <a:ext cx="1371600" cy="320040"/>
          </a:xfrm>
          <a:prstGeom prst="rect">
            <a:avLst/>
          </a:prstGeom>
          <a:noFill/>
        </p:spPr>
        <p:txBody>
          <a:bodyPr wrap="square">
            <a:spAutoFit/>
          </a:bodyPr>
          <a:lstStyle/>
          <a:p>
            <a:r>
              <a:rPr sz="1200" b="1" i="0">
                <a:solidFill>
                  <a:srgbClr val="006E96"/>
                </a:solidFill>
                <a:latin typeface="Arial"/>
              </a:rPr>
              <a:t>WAVE 2</a:t>
            </a:r>
          </a:p>
        </p:txBody>
      </p:sp>
      <p:sp>
        <p:nvSpPr>
          <p:cNvPr id="10" name="TextBox 9"/>
          <p:cNvSpPr txBox="1"/>
          <p:nvPr/>
        </p:nvSpPr>
        <p:spPr>
          <a:xfrm>
            <a:off x="896112" y="3044952"/>
            <a:ext cx="3840480" cy="411480"/>
          </a:xfrm>
          <a:prstGeom prst="rect">
            <a:avLst/>
          </a:prstGeom>
          <a:noFill/>
        </p:spPr>
        <p:txBody>
          <a:bodyPr wrap="square">
            <a:spAutoFit/>
          </a:bodyPr>
          <a:lstStyle/>
          <a:p>
            <a:r>
              <a:rPr sz="1900" b="1" i="0">
                <a:solidFill>
                  <a:srgbClr val="1A1A1A"/>
                </a:solidFill>
                <a:latin typeface="Arial"/>
              </a:rPr>
              <a:t>High-priority use case</a:t>
            </a:r>
          </a:p>
        </p:txBody>
      </p:sp>
      <p:sp>
        <p:nvSpPr>
          <p:cNvPr id="11" name="TextBox 10"/>
          <p:cNvSpPr txBox="1"/>
          <p:nvPr/>
        </p:nvSpPr>
        <p:spPr>
          <a:xfrm>
            <a:off x="5029200" y="2788920"/>
            <a:ext cx="6309360" cy="640080"/>
          </a:xfrm>
          <a:prstGeom prst="rect">
            <a:avLst/>
          </a:prstGeom>
          <a:noFill/>
        </p:spPr>
        <p:txBody>
          <a:bodyPr wrap="square">
            <a:spAutoFit/>
          </a:bodyPr>
          <a:lstStyle/>
          <a:p>
            <a:r>
              <a:rPr sz="1550" b="0" i="0">
                <a:solidFill>
                  <a:srgbClr val="1A1A1A"/>
                </a:solidFill>
                <a:latin typeface="Arial"/>
              </a:rPr>
              <a:t>The single learner record — PNEA and the grant programme consume PLR and PNIA.</a:t>
            </a:r>
          </a:p>
        </p:txBody>
      </p:sp>
      <p:sp>
        <p:nvSpPr>
          <p:cNvPr id="12" name="Rounded Rectangle 11"/>
          <p:cNvSpPr/>
          <p:nvPr/>
        </p:nvSpPr>
        <p:spPr>
          <a:xfrm>
            <a:off x="658368" y="363931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785615"/>
            <a:ext cx="1371600" cy="320040"/>
          </a:xfrm>
          <a:prstGeom prst="rect">
            <a:avLst/>
          </a:prstGeom>
          <a:noFill/>
        </p:spPr>
        <p:txBody>
          <a:bodyPr wrap="square">
            <a:spAutoFit/>
          </a:bodyPr>
          <a:lstStyle/>
          <a:p>
            <a:r>
              <a:rPr sz="1200" b="1" i="0">
                <a:solidFill>
                  <a:srgbClr val="006E96"/>
                </a:solidFill>
                <a:latin typeface="Arial"/>
              </a:rPr>
              <a:t>WAVE 3</a:t>
            </a:r>
          </a:p>
        </p:txBody>
      </p:sp>
      <p:sp>
        <p:nvSpPr>
          <p:cNvPr id="14" name="TextBox 13"/>
          <p:cNvSpPr txBox="1"/>
          <p:nvPr/>
        </p:nvSpPr>
        <p:spPr>
          <a:xfrm>
            <a:off x="896112" y="4096512"/>
            <a:ext cx="3840480" cy="411480"/>
          </a:xfrm>
          <a:prstGeom prst="rect">
            <a:avLst/>
          </a:prstGeom>
          <a:noFill/>
        </p:spPr>
        <p:txBody>
          <a:bodyPr wrap="square">
            <a:spAutoFit/>
          </a:bodyPr>
          <a:lstStyle/>
          <a:p>
            <a:r>
              <a:rPr sz="1900" b="1" i="0">
                <a:solidFill>
                  <a:srgbClr val="1A1A1A"/>
                </a:solidFill>
                <a:latin typeface="Arial"/>
              </a:rPr>
              <a:t>The shared backbone</a:t>
            </a:r>
          </a:p>
        </p:txBody>
      </p:sp>
      <p:sp>
        <p:nvSpPr>
          <p:cNvPr id="15" name="TextBox 14"/>
          <p:cNvSpPr txBox="1"/>
          <p:nvPr/>
        </p:nvSpPr>
        <p:spPr>
          <a:xfrm>
            <a:off x="5029200" y="3840480"/>
            <a:ext cx="6309360" cy="640080"/>
          </a:xfrm>
          <a:prstGeom prst="rect">
            <a:avLst/>
          </a:prstGeom>
          <a:noFill/>
        </p:spPr>
        <p:txBody>
          <a:bodyPr wrap="square">
            <a:spAutoFit/>
          </a:bodyPr>
          <a:lstStyle/>
          <a:p>
            <a:r>
              <a:rPr sz="1550" b="0" i="0">
                <a:solidFill>
                  <a:srgbClr val="1A1A1A"/>
                </a:solidFill>
                <a:latin typeface="Arial"/>
              </a:rPr>
              <a:t>Build out PDGA’s data-exchange backbone.</a:t>
            </a:r>
          </a:p>
        </p:txBody>
      </p:sp>
      <p:sp>
        <p:nvSpPr>
          <p:cNvPr id="16" name="Rounded Rectangle 15"/>
          <p:cNvSpPr/>
          <p:nvPr/>
        </p:nvSpPr>
        <p:spPr>
          <a:xfrm>
            <a:off x="658368" y="469087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37176"/>
            <a:ext cx="1371600" cy="320040"/>
          </a:xfrm>
          <a:prstGeom prst="rect">
            <a:avLst/>
          </a:prstGeom>
          <a:noFill/>
        </p:spPr>
        <p:txBody>
          <a:bodyPr wrap="square">
            <a:spAutoFit/>
          </a:bodyPr>
          <a:lstStyle/>
          <a:p>
            <a:r>
              <a:rPr sz="1200" b="1" i="0">
                <a:solidFill>
                  <a:srgbClr val="006E96"/>
                </a:solidFill>
                <a:latin typeface="Arial"/>
              </a:rPr>
              <a:t>WAVE 4</a:t>
            </a:r>
          </a:p>
        </p:txBody>
      </p:sp>
      <p:sp>
        <p:nvSpPr>
          <p:cNvPr id="18" name="TextBox 17"/>
          <p:cNvSpPr txBox="1"/>
          <p:nvPr/>
        </p:nvSpPr>
        <p:spPr>
          <a:xfrm>
            <a:off x="896112" y="5148072"/>
            <a:ext cx="3840480" cy="411480"/>
          </a:xfrm>
          <a:prstGeom prst="rect">
            <a:avLst/>
          </a:prstGeom>
          <a:noFill/>
        </p:spPr>
        <p:txBody>
          <a:bodyPr wrap="square">
            <a:spAutoFit/>
          </a:bodyPr>
          <a:lstStyle/>
          <a:p>
            <a:r>
              <a:rPr sz="1900" b="1" i="0">
                <a:solidFill>
                  <a:srgbClr val="1A1A1A"/>
                </a:solidFill>
                <a:latin typeface="Arial"/>
              </a:rPr>
              <a:t>Mass scale</a:t>
            </a:r>
          </a:p>
        </p:txBody>
      </p:sp>
      <p:sp>
        <p:nvSpPr>
          <p:cNvPr id="19" name="TextBox 18"/>
          <p:cNvSpPr txBox="1"/>
          <p:nvPr/>
        </p:nvSpPr>
        <p:spPr>
          <a:xfrm>
            <a:off x="5029200" y="4892040"/>
            <a:ext cx="6309360" cy="640080"/>
          </a:xfrm>
          <a:prstGeom prst="rect">
            <a:avLst/>
          </a:prstGeom>
          <a:noFill/>
        </p:spPr>
        <p:txBody>
          <a:bodyPr wrap="square">
            <a:spAutoFit/>
          </a:bodyPr>
          <a:lstStyle/>
          <a:p>
            <a:r>
              <a:rPr sz="1550" b="0" i="0">
                <a:solidFill>
                  <a:srgbClr val="1A1A1A"/>
                </a:solidFill>
                <a:latin typeface="Arial"/>
              </a:rPr>
              <a:t>Every education service running on the backbone.</a:t>
            </a:r>
          </a:p>
        </p:txBody>
      </p:sp>
      <p:sp>
        <p:nvSpPr>
          <p:cNvPr id="20" name="TextBox 19"/>
          <p:cNvSpPr txBox="1"/>
          <p:nvPr/>
        </p:nvSpPr>
        <p:spPr>
          <a:xfrm>
            <a:off x="658368" y="5806440"/>
            <a:ext cx="10881360" cy="548640"/>
          </a:xfrm>
          <a:prstGeom prst="rect">
            <a:avLst/>
          </a:prstGeom>
          <a:noFill/>
        </p:spPr>
        <p:txBody>
          <a:bodyPr wrap="square">
            <a:spAutoFit/>
          </a:bodyPr>
          <a:lstStyle/>
          <a:p>
            <a:r>
              <a:rPr sz="1550" b="1" i="0">
                <a:solidFill>
                  <a:srgbClr val="006E96"/>
                </a:solidFill>
                <a:latin typeface="Arial"/>
              </a:rPr>
              <a:t>Each wave delivers something visible — not just groundwork.</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Cost each wave honestly — directional estimates, not quotations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Wave one is mostly people: the initial engagement and the small permanent EA team. Wave two adds the integration work connecting the authorities to the registries. Wave three is the backbone investment.</a:t>
            </a:r>
          </a:p>
          <a:p>
            <a:pPr>
              <a:spcAft>
                <a:spcPts val="1200"/>
              </a:spcAft>
            </a:pPr>
            <a:r>
              <a:rPr sz="2000" b="0" i="0">
                <a:solidFill>
                  <a:srgbClr val="1A1A1A"/>
                </a:solidFill>
                <a:latin typeface="Arial"/>
              </a:rPr>
              <a:t>Directional is enough for cabinet to commit a five-year envelope, rather than an annual line that vanishes.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promised single learner record lands in Wave 2 — inside the first year.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roadmap is the one page both sides point at</a:t>
            </a:r>
          </a:p>
        </p:txBody>
      </p:sp>
      <p:sp>
        <p:nvSpPr>
          <p:cNvPr id="4" name="Rounded Rectangle 3"/>
          <p:cNvSpPr/>
          <p:nvPr/>
        </p:nvSpPr>
        <p:spPr>
          <a:xfrm>
            <a:off x="658368" y="1554480"/>
            <a:ext cx="5394960" cy="23774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103120"/>
          </a:xfrm>
          <a:prstGeom prst="rect">
            <a:avLst/>
          </a:prstGeom>
          <a:noFill/>
        </p:spPr>
        <p:txBody>
          <a:bodyPr wrap="square">
            <a:spAutoFit/>
          </a:bodyPr>
          <a:lstStyle/>
          <a:p>
            <a:pPr>
              <a:spcAft>
                <a:spcPts val="700"/>
              </a:spcAft>
            </a:pPr>
            <a:r>
              <a:rPr sz="1900" b="1" i="0">
                <a:solidFill>
                  <a:srgbClr val="006E96"/>
                </a:solidFill>
                <a:latin typeface="Arial"/>
              </a:rPr>
              <a:t>THE MINISTER READS</a:t>
            </a:r>
          </a:p>
          <a:p>
            <a:pPr>
              <a:spcAft>
                <a:spcPts val="700"/>
              </a:spcAft>
            </a:pPr>
            <a:r>
              <a:rPr sz="1600" b="0" i="0">
                <a:solidFill>
                  <a:srgbClr val="1A1A1A"/>
                </a:solidFill>
                <a:latin typeface="Arial"/>
              </a:rPr>
              <a:t>Outcomes and dates.</a:t>
            </a:r>
          </a:p>
          <a:p>
            <a:pPr>
              <a:spcAft>
                <a:spcPts val="700"/>
              </a:spcAft>
            </a:pPr>
            <a:r>
              <a:rPr sz="1600" b="0" i="0">
                <a:solidFill>
                  <a:srgbClr val="1A1A1A"/>
                </a:solidFill>
                <a:latin typeface="Arial"/>
              </a:rPr>
              <a:t>The single learner record by next year.</a:t>
            </a:r>
          </a:p>
        </p:txBody>
      </p:sp>
      <p:sp>
        <p:nvSpPr>
          <p:cNvPr id="6" name="Rounded Rectangle 5"/>
          <p:cNvSpPr/>
          <p:nvPr/>
        </p:nvSpPr>
        <p:spPr>
          <a:xfrm>
            <a:off x="6263640" y="1554480"/>
            <a:ext cx="5394960" cy="23774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103120"/>
          </a:xfrm>
          <a:prstGeom prst="rect">
            <a:avLst/>
          </a:prstGeom>
          <a:noFill/>
        </p:spPr>
        <p:txBody>
          <a:bodyPr wrap="square">
            <a:spAutoFit/>
          </a:bodyPr>
          <a:lstStyle/>
          <a:p>
            <a:pPr>
              <a:spcAft>
                <a:spcPts val="700"/>
              </a:spcAft>
            </a:pPr>
            <a:r>
              <a:rPr sz="1900" b="1" i="0">
                <a:solidFill>
                  <a:srgbClr val="006E96"/>
                </a:solidFill>
                <a:latin typeface="Arial"/>
              </a:rPr>
              <a:t>THE ARCHITECT READS</a:t>
            </a:r>
          </a:p>
          <a:p>
            <a:pPr>
              <a:spcAft>
                <a:spcPts val="700"/>
              </a:spcAft>
            </a:pPr>
            <a:r>
              <a:rPr sz="1600" b="0" i="0">
                <a:solidFill>
                  <a:srgbClr val="1A1A1A"/>
                </a:solidFill>
                <a:latin typeface="Arial"/>
              </a:rPr>
              <a:t>The sequence and its dependencies.</a:t>
            </a:r>
          </a:p>
          <a:p>
            <a:pPr>
              <a:spcAft>
                <a:spcPts val="700"/>
              </a:spcAft>
            </a:pPr>
            <a:r>
              <a:rPr sz="1600" b="0" i="0">
                <a:solidFill>
                  <a:srgbClr val="1A1A1A"/>
                </a:solidFill>
                <a:latin typeface="Arial"/>
              </a:rPr>
              <a:t>Wave 2 cannot start until PLR is authoritative in Wave 1.</a:t>
            </a:r>
          </a:p>
        </p:txBody>
      </p:sp>
      <p:sp>
        <p:nvSpPr>
          <p:cNvPr id="8" name="TextBox 7"/>
          <p:cNvSpPr txBox="1"/>
          <p:nvPr/>
        </p:nvSpPr>
        <p:spPr>
          <a:xfrm>
            <a:off x="658368" y="4114800"/>
            <a:ext cx="10881360" cy="548640"/>
          </a:xfrm>
          <a:prstGeom prst="rect">
            <a:avLst/>
          </a:prstGeom>
          <a:noFill/>
        </p:spPr>
        <p:txBody>
          <a:bodyPr wrap="square">
            <a:spAutoFit/>
          </a:bodyPr>
          <a:lstStyle/>
          <a:p>
            <a:r>
              <a:rPr sz="1550" b="1" i="0">
                <a:solidFill>
                  <a:srgbClr val="006E96"/>
                </a:solidFill>
                <a:latin typeface="Arial"/>
              </a:rPr>
              <a:t>Same page, two readings, no translation lost.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four is the most consequential gate of the four</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decision-maker and the EA Board approve the roadmap and commit the budget — ideally a multi-year envelope, not an annual line. This is the deliverable the minister takes to cabinet.</a:t>
            </a:r>
          </a:p>
          <a:p>
            <a:pPr>
              <a:spcAft>
                <a:spcPts val="1200"/>
              </a:spcAft>
            </a:pPr>
            <a:r>
              <a:rPr sz="2000" b="0" i="0">
                <a:solidFill>
                  <a:srgbClr val="1A1A1A"/>
                </a:solidFill>
                <a:latin typeface="Arial"/>
              </a:rPr>
              <a:t>With it approved, Progressa moves from planning to building.</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Four sign-offs done, roughly six months from the first day of Discovery.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Plan turns Progressa’s decisions into a wave-sequenced, costed roadmap — the cabinet-ready document business and IT both read — with the minister’s flagship landing inside the first year.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Sequence your roadmap into waves.</a:t>
            </a:r>
          </a:p>
          <a:p>
            <a:pPr algn="l">
              <a:spcAft>
                <a:spcPts val="400"/>
              </a:spcAft>
            </a:pPr>
            <a:r>
              <a:rPr sz="1800" b="0" i="0">
                <a:solidFill>
                  <a:srgbClr val="595959"/>
                </a:solidFill>
                <a:latin typeface="Arial"/>
              </a:rPr>
              <a:t>The prompt in the companion material gives you a four-wave roadmap with deliverables, dependencies and cost drivers.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 — wave sequence §5.7.2–§5.7.5)</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