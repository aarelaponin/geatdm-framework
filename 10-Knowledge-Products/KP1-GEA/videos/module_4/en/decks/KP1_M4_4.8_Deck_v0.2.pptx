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709" r:id="rId5"/>
    <p:sldMasterId id="2147483713" r:id="rId6"/>
    <p:sldMasterId id="2147483691" r:id="rId7"/>
  </p:sldMasterIdLst>
  <p:notesMasterIdLst>
    <p:notesMasterId r:id="rId46"/>
  </p:notesMasterIdLst>
  <p:handoutMasterIdLst>
    <p:handoutMasterId r:id="rId47"/>
  </p:handoutMasterIdLst>
  <p:sldIdLst>
    <p:sldId id="2751" r:id="rId73"/>
    <p:sldId id="2752" r:id="rId74"/>
    <p:sldId id="2753" r:id="rId75"/>
    <p:sldId id="2754" r:id="rId76"/>
    <p:sldId id="2755" r:id="rId77"/>
    <p:sldId id="2756" r:id="rId78"/>
    <p:sldId id="2757" r:id="rId79"/>
    <p:sldId id="2758" r:id="rId8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0083B3"/>
    <a:srgbClr val="9D26FF"/>
    <a:srgbClr val="0076A1"/>
    <a:srgbClr val="FFFFFF"/>
    <a:srgbClr val="009CD6"/>
    <a:srgbClr val="A5A5A5"/>
    <a:srgbClr val="757070"/>
    <a:srgbClr val="6F6F6E"/>
    <a:srgbClr val="F5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BC4942-2EA4-48B8-A075-B5F2ABFFFDF6}" v="10" dt="2026-07-22T19:37:31.0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12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188" y="8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microsoft.com/office/2016/11/relationships/changesInfo" Target="changesInfos/changesInfo1.xml"/><Relationship Id="rId53" Type="http://schemas.microsoft.com/office/2015/10/relationships/revisionInfo" Target="revisionInfo.xml"/><Relationship Id="rId73" Type="http://schemas.openxmlformats.org/officeDocument/2006/relationships/slide" Target="slides/slide58.xml"/><Relationship Id="rId74" Type="http://schemas.openxmlformats.org/officeDocument/2006/relationships/slide" Target="slides/slide59.xml"/><Relationship Id="rId75" Type="http://schemas.openxmlformats.org/officeDocument/2006/relationships/slide" Target="slides/slide60.xml"/><Relationship Id="rId76" Type="http://schemas.openxmlformats.org/officeDocument/2006/relationships/slide" Target="slides/slide61.xml"/><Relationship Id="rId77" Type="http://schemas.openxmlformats.org/officeDocument/2006/relationships/slide" Target="slides/slide62.xml"/><Relationship Id="rId78" Type="http://schemas.openxmlformats.org/officeDocument/2006/relationships/slide" Target="slides/slide63.xml"/><Relationship Id="rId79" Type="http://schemas.openxmlformats.org/officeDocument/2006/relationships/slide" Target="slides/slide64.xml"/><Relationship Id="rId80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elmino, Carolina" userId="5c3f6dd0-fb53-498d-9f5e-392bc2a3ffc7" providerId="ADAL" clId="{E38CDB5B-0F14-49C4-839B-AE81B7033013}"/>
    <pc:docChg chg="undo custSel addSld delSld modSld">
      <pc:chgData name="Anselmino, Carolina" userId="5c3f6dd0-fb53-498d-9f5e-392bc2a3ffc7" providerId="ADAL" clId="{E38CDB5B-0F14-49C4-839B-AE81B7033013}" dt="2026-07-22T19:37:31.024" v="702" actId="164"/>
      <pc:docMkLst>
        <pc:docMk/>
      </pc:docMkLst>
      <pc:sldChg chg="modSp mod">
        <pc:chgData name="Anselmino, Carolina" userId="5c3f6dd0-fb53-498d-9f5e-392bc2a3ffc7" providerId="ADAL" clId="{E38CDB5B-0F14-49C4-839B-AE81B7033013}" dt="2026-07-22T11:43:29.600" v="14" actId="1076"/>
        <pc:sldMkLst>
          <pc:docMk/>
          <pc:sldMk cId="1405143857" sldId="280"/>
        </pc:sldMkLst>
        <pc:spChg chg="mod">
          <ac:chgData name="Anselmino, Carolina" userId="5c3f6dd0-fb53-498d-9f5e-392bc2a3ffc7" providerId="ADAL" clId="{E38CDB5B-0F14-49C4-839B-AE81B7033013}" dt="2026-07-22T11:43:19.760" v="12" actId="1076"/>
          <ac:spMkLst>
            <pc:docMk/>
            <pc:sldMk cId="1405143857" sldId="280"/>
            <ac:spMk id="45" creationId="{1FF21F3A-03EB-4BF7-B952-9FA7182F69DE}"/>
          </ac:spMkLst>
        </pc:spChg>
        <pc:grpChg chg="mod">
          <ac:chgData name="Anselmino, Carolina" userId="5c3f6dd0-fb53-498d-9f5e-392bc2a3ffc7" providerId="ADAL" clId="{E38CDB5B-0F14-49C4-839B-AE81B7033013}" dt="2026-07-22T11:43:29.600" v="14" actId="1076"/>
          <ac:grpSpMkLst>
            <pc:docMk/>
            <pc:sldMk cId="1405143857" sldId="280"/>
            <ac:grpSpMk id="44" creationId="{B8FF808C-B389-4C00-87CD-F61A6779EE7C}"/>
          </ac:grpSpMkLst>
        </pc:grpChg>
      </pc:sldChg>
      <pc:sldChg chg="addSp delSp modSp mod">
        <pc:chgData name="Anselmino, Carolina" userId="5c3f6dd0-fb53-498d-9f5e-392bc2a3ffc7" providerId="ADAL" clId="{E38CDB5B-0F14-49C4-839B-AE81B7033013}" dt="2026-07-22T19:37:31.024" v="702" actId="164"/>
        <pc:sldMkLst>
          <pc:docMk/>
          <pc:sldMk cId="1196800265" sldId="2681"/>
        </pc:sldMkLst>
        <pc:spChg chg="mod">
          <ac:chgData name="Anselmino, Carolina" userId="5c3f6dd0-fb53-498d-9f5e-392bc2a3ffc7" providerId="ADAL" clId="{E38CDB5B-0F14-49C4-839B-AE81B7033013}" dt="2026-07-22T11:44:01.404" v="22" actId="12788"/>
          <ac:spMkLst>
            <pc:docMk/>
            <pc:sldMk cId="1196800265" sldId="2681"/>
            <ac:spMk id="9" creationId="{A74A033E-F2C4-63F1-935E-B0E00C34458D}"/>
          </ac:spMkLst>
        </pc:spChg>
        <pc:spChg chg="mod">
          <ac:chgData name="Anselmino, Carolina" userId="5c3f6dd0-fb53-498d-9f5e-392bc2a3ffc7" providerId="ADAL" clId="{E38CDB5B-0F14-49C4-839B-AE81B7033013}" dt="2026-07-22T11:46:41.299" v="210" actId="20577"/>
          <ac:spMkLst>
            <pc:docMk/>
            <pc:sldMk cId="1196800265" sldId="2681"/>
            <ac:spMk id="12" creationId="{EEB08032-CE0E-4986-AEDF-A41026C0E8B9}"/>
          </ac:spMkLst>
        </pc:spChg>
        <pc:spChg chg="add mod">
          <ac:chgData name="Anselmino, Carolina" userId="5c3f6dd0-fb53-498d-9f5e-392bc2a3ffc7" providerId="ADAL" clId="{E38CDB5B-0F14-49C4-839B-AE81B7033013}" dt="2026-07-22T11:46:31.178" v="195" actId="20577"/>
          <ac:spMkLst>
            <pc:docMk/>
            <pc:sldMk cId="1196800265" sldId="2681"/>
            <ac:spMk id="14" creationId="{B5087B80-3EE4-1881-0130-ED58CA625092}"/>
          </ac:spMkLst>
        </pc:spChg>
        <pc:spChg chg="add mod">
          <ac:chgData name="Anselmino, Carolina" userId="5c3f6dd0-fb53-498d-9f5e-392bc2a3ffc7" providerId="ADAL" clId="{E38CDB5B-0F14-49C4-839B-AE81B7033013}" dt="2026-07-22T11:51:15.375" v="432" actId="20577"/>
          <ac:spMkLst>
            <pc:docMk/>
            <pc:sldMk cId="1196800265" sldId="2681"/>
            <ac:spMk id="17" creationId="{5E8796F7-DD26-D250-5E97-B38B22298E72}"/>
          </ac:spMkLst>
        </pc:spChg>
        <pc:spChg chg="add mod">
          <ac:chgData name="Anselmino, Carolina" userId="5c3f6dd0-fb53-498d-9f5e-392bc2a3ffc7" providerId="ADAL" clId="{E38CDB5B-0F14-49C4-839B-AE81B7033013}" dt="2026-07-22T19:37:31.024" v="702" actId="164"/>
          <ac:spMkLst>
            <pc:docMk/>
            <pc:sldMk cId="1196800265" sldId="2681"/>
            <ac:spMk id="19" creationId="{352ECD8B-4B24-AB9F-BF07-5E33A295F52D}"/>
          </ac:spMkLst>
        </pc:s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8" creationId="{759E7638-035C-C837-D321-A8C06D48B5DC}"/>
          </ac:grpSpMkLst>
        </pc:gr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20" creationId="{0D0761BD-2F2F-6D79-B3EF-A531E092890D}"/>
          </ac:grpSpMkLst>
        </pc:grpChg>
        <pc:picChg chg="add del">
          <ac:chgData name="Anselmino, Carolina" userId="5c3f6dd0-fb53-498d-9f5e-392bc2a3ffc7" providerId="ADAL" clId="{E38CDB5B-0F14-49C4-839B-AE81B7033013}" dt="2026-07-22T11:42:32.545" v="4" actId="478"/>
          <ac:picMkLst>
            <pc:docMk/>
            <pc:sldMk cId="1196800265" sldId="2681"/>
            <ac:picMk id="3" creationId="{49CB780D-15A3-48FD-506A-45097B8C84EF}"/>
          </ac:picMkLst>
        </pc:picChg>
        <pc:picChg chg="add mod">
          <ac:chgData name="Anselmino, Carolina" userId="5c3f6dd0-fb53-498d-9f5e-392bc2a3ffc7" providerId="ADAL" clId="{E38CDB5B-0F14-49C4-839B-AE81B7033013}" dt="2026-07-22T11:42:43.855" v="6" actId="1076"/>
          <ac:picMkLst>
            <pc:docMk/>
            <pc:sldMk cId="1196800265" sldId="2681"/>
            <ac:picMk id="4" creationId="{69007BE6-4165-6B9F-CABD-19BC8B326D8F}"/>
          </ac:picMkLst>
        </pc:picChg>
        <pc:picChg chg="add del mod">
          <ac:chgData name="Anselmino, Carolina" userId="5c3f6dd0-fb53-498d-9f5e-392bc2a3ffc7" providerId="ADAL" clId="{E38CDB5B-0F14-49C4-839B-AE81B7033013}" dt="2026-07-22T11:43:03.472" v="10" actId="478"/>
          <ac:picMkLst>
            <pc:docMk/>
            <pc:sldMk cId="1196800265" sldId="2681"/>
            <ac:picMk id="6" creationId="{7BDA84B0-A315-5710-DC3F-3108F335D58B}"/>
          </ac:picMkLst>
        </pc:picChg>
        <pc:picChg chg="mod modCrop">
          <ac:chgData name="Anselmino, Carolina" userId="5c3f6dd0-fb53-498d-9f5e-392bc2a3ffc7" providerId="ADAL" clId="{E38CDB5B-0F14-49C4-839B-AE81B7033013}" dt="2026-07-22T11:36:58.998" v="2" actId="732"/>
          <ac:picMkLst>
            <pc:docMk/>
            <pc:sldMk cId="1196800265" sldId="2681"/>
            <ac:picMk id="7" creationId="{A2066351-C569-4C4C-A096-308777FCDC32}"/>
          </ac:picMkLst>
        </pc:picChg>
        <pc:picChg chg="mod">
          <ac:chgData name="Anselmino, Carolina" userId="5c3f6dd0-fb53-498d-9f5e-392bc2a3ffc7" providerId="ADAL" clId="{E38CDB5B-0F14-49C4-839B-AE81B7033013}" dt="2026-07-22T11:44:01.404" v="22" actId="12788"/>
          <ac:picMkLst>
            <pc:docMk/>
            <pc:sldMk cId="1196800265" sldId="2681"/>
            <ac:picMk id="10" creationId="{D4EAC1CC-FDEC-CB2B-4814-426FB9337D67}"/>
          </ac:picMkLst>
        </pc:picChg>
        <pc:cxnChg chg="mod">
          <ac:chgData name="Anselmino, Carolina" userId="5c3f6dd0-fb53-498d-9f5e-392bc2a3ffc7" providerId="ADAL" clId="{E38CDB5B-0F14-49C4-839B-AE81B7033013}" dt="2026-07-22T11:46:16.310" v="179" actId="14100"/>
          <ac:cxnSpMkLst>
            <pc:docMk/>
            <pc:sldMk cId="1196800265" sldId="2681"/>
            <ac:cxnSpMk id="11" creationId="{D9AD66F2-F7C0-4D03-9150-D28F17AC561D}"/>
          </ac:cxnSpMkLst>
        </pc:cxnChg>
      </pc:sldChg>
      <pc:sldChg chg="del">
        <pc:chgData name="Anselmino, Carolina" userId="5c3f6dd0-fb53-498d-9f5e-392bc2a3ffc7" providerId="ADAL" clId="{E38CDB5B-0F14-49C4-839B-AE81B7033013}" dt="2026-07-22T19:26:38.574" v="665" actId="47"/>
        <pc:sldMkLst>
          <pc:docMk/>
          <pc:sldMk cId="1763900471" sldId="2682"/>
        </pc:sldMkLst>
      </pc:sldChg>
      <pc:sldChg chg="del">
        <pc:chgData name="Anselmino, Carolina" userId="5c3f6dd0-fb53-498d-9f5e-392bc2a3ffc7" providerId="ADAL" clId="{E38CDB5B-0F14-49C4-839B-AE81B7033013}" dt="2026-07-22T19:26:35.304" v="664" actId="47"/>
        <pc:sldMkLst>
          <pc:docMk/>
          <pc:sldMk cId="1891845127" sldId="2685"/>
        </pc:sldMkLst>
      </pc:sldChg>
      <pc:sldChg chg="add del">
        <pc:chgData name="Anselmino, Carolina" userId="5c3f6dd0-fb53-498d-9f5e-392bc2a3ffc7" providerId="ADAL" clId="{E38CDB5B-0F14-49C4-839B-AE81B7033013}" dt="2026-07-22T15:50:00.267" v="434" actId="47"/>
        <pc:sldMkLst>
          <pc:docMk/>
          <pc:sldMk cId="2459501262" sldId="2695"/>
        </pc:sldMkLst>
      </pc:sldChg>
      <pc:sldChg chg="modSp add mod">
        <pc:chgData name="Anselmino, Carolina" userId="5c3f6dd0-fb53-498d-9f5e-392bc2a3ffc7" providerId="ADAL" clId="{E38CDB5B-0F14-49C4-839B-AE81B7033013}" dt="2026-07-22T19:17:50.009" v="663" actId="14100"/>
        <pc:sldMkLst>
          <pc:docMk/>
          <pc:sldMk cId="2895905977" sldId="2695"/>
        </pc:sldMkLst>
        <pc:spChg chg="mod">
          <ac:chgData name="Anselmino, Carolina" userId="5c3f6dd0-fb53-498d-9f5e-392bc2a3ffc7" providerId="ADAL" clId="{E38CDB5B-0F14-49C4-839B-AE81B7033013}" dt="2026-07-22T15:51:46.203" v="494" actId="20577"/>
          <ac:spMkLst>
            <pc:docMk/>
            <pc:sldMk cId="2895905977" sldId="2695"/>
            <ac:spMk id="5" creationId="{05ECEA81-427F-77E6-3A96-077D430CC49C}"/>
          </ac:spMkLst>
        </pc:spChg>
        <pc:spChg chg="mod">
          <ac:chgData name="Anselmino, Carolina" userId="5c3f6dd0-fb53-498d-9f5e-392bc2a3ffc7" providerId="ADAL" clId="{E38CDB5B-0F14-49C4-839B-AE81B7033013}" dt="2026-07-22T19:17:50.009" v="663" actId="14100"/>
          <ac:spMkLst>
            <pc:docMk/>
            <pc:sldMk cId="2895905977" sldId="2695"/>
            <ac:spMk id="6" creationId="{F5AB7147-07E3-D061-CD69-902D615A346F}"/>
          </ac:spMkLst>
        </pc:spChg>
        <pc:spChg chg="mod">
          <ac:chgData name="Anselmino, Carolina" userId="5c3f6dd0-fb53-498d-9f5e-392bc2a3ffc7" providerId="ADAL" clId="{E38CDB5B-0F14-49C4-839B-AE81B7033013}" dt="2026-07-22T15:52:40.119" v="519" actId="14100"/>
          <ac:spMkLst>
            <pc:docMk/>
            <pc:sldMk cId="2895905977" sldId="2695"/>
            <ac:spMk id="7" creationId="{645C8C6B-29A8-B1C0-3772-5822CAB07F15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E192EA-4FB5-417A-96F6-B3058A54AB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D5479-0008-4BFD-BE18-7442B16913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72114D-3A05-4B20-822E-8261653B33D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BD4BE7-9FD8-4D10-87DD-2B2BC23B46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342B2-B657-4BF5-B0C4-8D3FD65073D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5079B-D1F0-49DB-8DFB-E06CD09E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47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008D2-43B4-45EB-8E80-36DCF9CD046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A8591F-50F3-4C40-9DA2-D793276CC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94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card — the cold open. The hosts name the module, the video number, the title and the single message on this slide; no scripted narration. Hold until the opener begins; the opener is narrated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value of a worked example is not Progressa itself — it is that the same five phases, four sign-offs and six deliverables run on any public-sector domain you are handed. Here is the recipe, stripped to what transfers.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recipe is five phases and six deliverables, with a sign-off after each of the first four phases. Discover produces an honest picture. Assess produces a ranked gap analysis. Adapt produces a localised framework and a build-buy-share matrix. Plan produces two: the target architecture — the designed future state — and then the wave-sequenced, costed roadmap that reaches it. Execute and Govern produces a living, governed architecture. Discover before you judge; judge before you adapt; adapt before you design the target; design the target before you sequence the roadmap; govern always. That order is the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Moving to your sector, be clear about what changes and what does not. What changes: the institutions — your ministry, your authorities, your registries instead of Progressa's. The data domains — a patient, a farmer, a taxpayer instead of a learner. The specific gaps you find. What does not change: the five phases, the four sign-offs, the six deliverables, the reuse-before-build default, and the binding Board. You swap the contents; you keep the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method travels beyond education: the same five phases run on health, where the duplicated thing is a patient record; on agriculture, where it is a farmer registry; on social protection, where it is a beneficiary record — and once your country has run the lifecycle once, the second sector is cheaper than the first, because the team, the framework and the governance are already there.</a:t>
            </a:r>
          </a:p>
          <a:p/>
          <a:p>
            <a:r>
              <a:t>On screen: these sectors are named as places the method applies, not as worked examples — education is the worked sector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Three things to carry from Progressa when you start on your own sector. Start small — pick the one high-priority use case, the equivalent of the single learner record, and make it land in an early wave. Sign off honestly — including the politically uncomfortable gap, because the assessment that flatters fails a year later. And protect the team — the most common way the practice dies is the architects being pulled onto the urgent project of the week. Get those three right and the method does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BOX (on-screen only — never read it, never paraphrase it, never point at it). It replaces the narrated handoff: this video ends on the recap and the Sources slide.</a:t>
            </a:r>
          </a:p>
          <a:p/>
          <a:p>
            <a:r>
              <a:t>VO: The recipe: five phases, four sign-offs, six deliverables, reuse before build, a Board that can say no. Change the institutions and the domains, keep the method, and it runs on any sector you are handed.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slide, held ~5 seconds at the end of the video. Links are compiled into the YouTube description per ITU convention; no URLs read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margin-Content with Caption (White b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28691" y="1959151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E0F6D26-4165-4298-B9DF-69A0CA57C65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5018432" y="1959150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ED336FC-6E45-4A2D-A5AB-BE24E693E0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91" y="1265849"/>
            <a:ext cx="9051731" cy="50288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EB37B9-0614-41D6-8AFE-EB91B451A9F5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E8CDBB-5A4D-4444-85CC-7578EF050F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718176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Tit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6A0DE-A965-4E02-8A8B-981E2FDE5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8687" y="1994663"/>
            <a:ext cx="4860830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20F59-7539-405E-B005-C5C92782E9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28687" y="2490758"/>
            <a:ext cx="4860830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AE6D208-1F00-412A-86E9-1A7081F5657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892510" y="1994663"/>
            <a:ext cx="4751106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8B83478-806A-4C07-A7A7-0CDF7E621EB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5892510" y="2490758"/>
            <a:ext cx="4751106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0A48B77-BCF1-4349-8EF0-B33A17893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87" y="1238515"/>
            <a:ext cx="9914929" cy="63590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E4054A-3251-41A6-8BA5-67C64EF3E610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1AD81-2712-4CFB-B585-60CDC561D6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8803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78E5A-AB76-4634-8AD9-64C991C6FC0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1372" y="2040524"/>
            <a:ext cx="4393315" cy="4125355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8F227-A22B-432C-84DE-6E0A3BE38D6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460255" y="2040523"/>
            <a:ext cx="4393316" cy="4126191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346557F-F9B0-433A-9FC1-56C38B19DE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1373" y="1251017"/>
            <a:ext cx="9132198" cy="56507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157FF2-E1F2-41A6-A3CB-3DE59785DD4D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8A78C8E-6713-4582-84CE-8C8A0FE572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5137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37226" y="1975104"/>
            <a:ext cx="6256106" cy="4210543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F01D386-9240-4F38-9F1C-4325351B0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225" y="1261501"/>
            <a:ext cx="7177821" cy="54214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5B0268-1877-4B50-85FE-85F64126C828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6C6763-4EEE-47FB-A7AD-A329AC0386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144347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9A3B-CF71-48AC-B4B0-550E5EC77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83" y="1234865"/>
            <a:ext cx="10313024" cy="635902"/>
          </a:xfrm>
          <a:prstGeom prst="rect">
            <a:avLst/>
          </a:prstGeo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33313" y="1927476"/>
            <a:ext cx="10700345" cy="42181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8B0405-4014-43E6-B303-902A4F998E13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69F8470-F06D-4D52-9A69-30EBD8DA60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139101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557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500046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0046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593546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52770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173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46823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6823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56173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255004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0457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457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73533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5337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253639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02635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373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98862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8862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92362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82314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957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160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07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0957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864113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image-L (White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94302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64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64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60144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144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278066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Footer (white bg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554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6082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blu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0641AD-3AD5-4F67-A775-821CB3080BD2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8022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Slide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35E03-ED1F-4BA6-A9DB-BAA193266DF0}"/>
              </a:ext>
            </a:extLst>
          </p:cNvPr>
          <p:cNvSpPr txBox="1"/>
          <p:nvPr userDrawn="1"/>
        </p:nvSpPr>
        <p:spPr>
          <a:xfrm>
            <a:off x="3457462" y="2905780"/>
            <a:ext cx="5246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5BEDD7-9550-46FC-AAD4-3BCDC60161D9}"/>
              </a:ext>
            </a:extLst>
          </p:cNvPr>
          <p:cNvSpPr/>
          <p:nvPr userDrawn="1"/>
        </p:nvSpPr>
        <p:spPr>
          <a:xfrm>
            <a:off x="0" y="6115986"/>
            <a:ext cx="12192000" cy="742013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9CD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607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CD000AF-B921-43E9-B432-355A07B6E46E}"/>
              </a:ext>
            </a:extLst>
          </p:cNvPr>
          <p:cNvSpPr/>
          <p:nvPr userDrawn="1"/>
        </p:nvSpPr>
        <p:spPr>
          <a:xfrm>
            <a:off x="0" y="6115986"/>
            <a:ext cx="10028420" cy="74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536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08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8999926" cy="4067251"/>
          </a:xfrm>
        </p:spPr>
        <p:txBody>
          <a:bodyPr numCol="2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  <a:p>
            <a:pPr lvl="0"/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 Donec </a:t>
            </a:r>
            <a:r>
              <a:rPr lang="en-US" dirty="0" err="1"/>
              <a:t>pede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</a:t>
            </a:r>
            <a:r>
              <a:rPr lang="en-US" dirty="0" err="1"/>
              <a:t>fringilla</a:t>
            </a:r>
            <a:r>
              <a:rPr lang="en-US" dirty="0"/>
              <a:t> vel,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.</a:t>
            </a:r>
          </a:p>
          <a:p>
            <a:pPr marL="9144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/>
            </a:pPr>
            <a:r>
              <a:rPr lang="en-US" dirty="0"/>
              <a:t>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506702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6297178" cy="4067251"/>
          </a:xfrm>
        </p:spPr>
        <p:txBody>
          <a:bodyPr numCol="1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564074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37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big quote ma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336800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87959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658534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“Lorem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mus.”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E0DB947-B9BF-4F5D-BCB3-A4E551A7C9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473700" y="1215232"/>
            <a:ext cx="1244600" cy="12446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>
              <a:defRPr sz="1400" b="0"/>
            </a:lvl1pPr>
          </a:lstStyle>
          <a:p>
            <a:r>
              <a:rPr lang="en-US" dirty="0"/>
              <a:t>Insert</a:t>
            </a:r>
            <a:br>
              <a:rPr lang="en-US" dirty="0"/>
            </a:br>
            <a:r>
              <a:rPr lang="en-US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10683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 (light blue bg)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98526" y="1881427"/>
            <a:ext cx="10976290" cy="3985973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FA0E66-7846-4BCB-AE09-F966602C759F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0B2556-6FCF-4306-988D-12A70352A4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0DA0626-8521-4B9A-A854-E817A6A12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1231105"/>
            <a:ext cx="10515600" cy="56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208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light 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5F4467-8115-4C34-B39A-8E571F625EA9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71806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Next LT Pro" panose="020B05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03565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5A063-7EAA-4705-81BD-73270FF5BA28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ED357C-3FA0-42D4-850C-879BB0BE1875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108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3" r:id="rId2"/>
    <p:sldLayoutId id="2147483652" r:id="rId3"/>
    <p:sldLayoutId id="2147483675" r:id="rId4"/>
    <p:sldLayoutId id="2147483676" r:id="rId5"/>
    <p:sldLayoutId id="2147483674" r:id="rId6"/>
    <p:sldLayoutId id="2147483672" r:id="rId7"/>
    <p:sldLayoutId id="2147483657" r:id="rId8"/>
    <p:sldLayoutId id="2147483717" r:id="rId9"/>
    <p:sldLayoutId id="2147483718" r:id="rId10"/>
    <p:sldLayoutId id="2147483719" r:id="rId11"/>
    <p:sldLayoutId id="2147483670" r:id="rId12"/>
    <p:sldLayoutId id="2147483660" r:id="rId13"/>
    <p:sldLayoutId id="2147483687" r:id="rId14"/>
    <p:sldLayoutId id="2147483707" r:id="rId15"/>
    <p:sldLayoutId id="2147483712" r:id="rId16"/>
    <p:sldLayoutId id="2147483721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ts val="22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3ABCAB-1B02-4C7B-89B1-A5BB0E479D06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62A7B-D8AC-460A-9C3E-1872390023D8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039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6" r:id="rId2"/>
    <p:sldLayoutId id="214748371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6313" y="2209801"/>
            <a:ext cx="8559373" cy="37930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/>
            <a:r>
              <a:rPr lang="en-US" sz="2800" i="1" dirty="0">
                <a:latin typeface="Georgia" panose="02040502050405020303" pitchFamily="18" charset="0"/>
              </a:rPr>
              <a:t>We grew up with the internet. </a:t>
            </a:r>
            <a:br>
              <a:rPr lang="en-US" sz="2800" i="1" dirty="0">
                <a:latin typeface="Georgia" panose="02040502050405020303" pitchFamily="18" charset="0"/>
              </a:rPr>
            </a:br>
            <a:r>
              <a:rPr lang="en-US" sz="2800" i="1" dirty="0">
                <a:latin typeface="Georgia" panose="02040502050405020303" pitchFamily="18" charset="0"/>
              </a:rPr>
              <a:t>I mean, the internet has always been here with us. The grown-ups are like ‘Wow the internet appeared’, while it is perfectly normal for us.”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FB8933-3AE5-487A-8B03-0B68C8923CB0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9BF5BD-2163-4157-A2AF-C24DDF31C8DA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13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91440" indent="0" algn="ctr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Tx/>
        <a:buNone/>
        <a:defRPr sz="36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486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058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4630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903303-232A-4935-AFB3-F7B88DD72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93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83453-70D1-44FB-B9C3-2EEFC1554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137160" algn="l" defTabSz="914400" rtl="0" eaLnBrk="1" fontAlgn="auto" latinLnBrk="0" hangingPunct="1">
              <a:lnSpc>
                <a:spcPts val="22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685800" marR="0" lvl="1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143000" marR="0" lvl="2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1600200" marR="0" lvl="3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BFC052-984C-4106-B990-03A1EB3873C1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202A0A-9127-4C98-B796-7DD30E32B3B1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0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78" r:id="rId2"/>
    <p:sldLayoutId id="214748372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5.xml"/></Relationships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95959"/>
                </a:solidFill>
                <a:latin typeface="Arial"/>
              </a:rPr>
              <a:t>MODULE 4 · VIDEO 4.8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 i="0">
                <a:solidFill>
                  <a:srgbClr val="009CD6"/>
                </a:solidFill>
                <a:latin typeface="Arial"/>
              </a:rPr>
              <a:t>4.8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A1A1A"/>
                </a:solidFill>
                <a:latin typeface="Arial"/>
              </a:rPr>
              <a:t>Run this on your own sector — the transferable recipe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9875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1">
                <a:solidFill>
                  <a:srgbClr val="595959"/>
                </a:solidFill>
                <a:latin typeface="Arial"/>
              </a:rPr>
              <a:t>The five phases, four sign-offs and six deliverables you watched on Progressa are the recipe — change the institutions and the data domains, and the same method runs on any sector you are handed.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Arial"/>
              </a:rPr>
              <a:t>standalone video · voice-over on text slides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WHERE WE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8308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Swap the data. Keep the method.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1188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The value of a worked example is not Progressa itself.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The same five phases, four sign-offs and six deliverables run on any public-sector domain you are handed.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4.8 · Run this on your own sector — the transferable recipe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The recipe: five phases, six deliverables, four sign-offs</a:t>
            </a:r>
          </a:p>
        </p:txBody>
      </p:sp>
      <p:sp>
        <p:nvSpPr>
          <p:cNvPr id="4" name="Oval 3"/>
          <p:cNvSpPr/>
          <p:nvPr/>
        </p:nvSpPr>
        <p:spPr>
          <a:xfrm>
            <a:off x="621792" y="1463040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1417320"/>
            <a:ext cx="10527487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Discover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An honest picture of what exists today.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210769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1792" y="2194560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148840"/>
            <a:ext cx="10527487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Assess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A ranked gap analysis.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83921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" y="2926079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880360"/>
            <a:ext cx="10527487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Adapt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A localised framework and a build-buy-share matrix.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357073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1792" y="3657600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611880"/>
            <a:ext cx="10527487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Plan, first half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The target architecture — the designed future state.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430225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1792" y="4389120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343400"/>
            <a:ext cx="10527487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Plan, second half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The wave-sequenced, costed roadmap that reaches 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503377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1792" y="5120640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5074920"/>
            <a:ext cx="10527487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Execute &amp; Govern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A living, governed architecture.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9161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A sign-off after each of the first four phases. That order is the method.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4.8 · Run this on your own sector — the transferable recipe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Swap the contents. Keep the method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54480"/>
            <a:ext cx="5394960" cy="3977639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700784"/>
            <a:ext cx="4992624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006E96"/>
                </a:solidFill>
                <a:latin typeface="Arial"/>
              </a:rPr>
              <a:t>WHAT CHANGES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institutions — your ministry, your authorities, your registries.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data domains — a patient, a farmer, a taxpayer instead of a learner.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specific gaps you find.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54480"/>
            <a:ext cx="5394960" cy="3977639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64808" y="1700784"/>
            <a:ext cx="4992624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006E96"/>
                </a:solidFill>
                <a:latin typeface="Arial"/>
              </a:rPr>
              <a:t>WHAT DOES NOT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five phases.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four sign-offs.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six deliverables.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Reuse before build.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binding 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715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The contents are yours. The method is the same one you just watched.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4.8 · Run this on your own sector — the transferable recipe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The method travels — and the second sector is cheaper than the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10881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The same five phases run on health (a patient record), agriculture (a farmer registry), social protection (a beneficiary record). Same shapes, same steps.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291840"/>
            <a:ext cx="10881360" cy="132588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3483864"/>
            <a:ext cx="104790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300" b="1" i="0">
                <a:solidFill>
                  <a:srgbClr val="006E96"/>
                </a:solidFill>
                <a:latin typeface="Arial"/>
              </a:rPr>
              <a:t>The team, the framework and the governance are already there.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4.8 · Run this on your own sector — the transferable recipe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Three things to carry from Progressa into your own sector</a:t>
            </a:r>
          </a:p>
        </p:txBody>
      </p:sp>
      <p:sp>
        <p:nvSpPr>
          <p:cNvPr id="4" name="Oval 3"/>
          <p:cNvSpPr/>
          <p:nvPr/>
        </p:nvSpPr>
        <p:spPr>
          <a:xfrm>
            <a:off x="621792" y="1508760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1463040"/>
            <a:ext cx="10527487" cy="1386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Start small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Pick the one high-priority use case and make it land in an early wave.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285445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1792" y="2941319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895600"/>
            <a:ext cx="10527487" cy="1386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Sign off honestly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Including the politically uncomfortable gap — the flattering assessment fails later.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4287011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" y="4373879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328159"/>
            <a:ext cx="10527487" cy="1386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Protect the team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The practice dies when the architects are pulled onto the urgent project of the week.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87044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Get those three right and the method does the rest.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4.8 · Run this on your own sector — the transferable recipe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10312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Five phases, four sign-offs, six deliverables — change the institutions and the data domains, and the method you watched on Progressa runs on any sector you are handed.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IN ONE SENTENCE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4709160"/>
            <a:ext cx="10881360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00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06E96"/>
                </a:solidFill>
                <a:latin typeface="Arial"/>
              </a:rPr>
              <a:t>Do this on your own sector.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Map the Progressa method to your sector.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The prompt in the companion material gives you a one-page transfer plan (classification, the high-priority use case, the six deliverables, the first two waves). Before the next video.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4.8 · Run this on your own sector — the transferable recipe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PAERA v1.0 — §5.4 (Organisational Assessment &amp; Roadmap)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PAERA v1.0 — §5.7 (Recommended Roadmap)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06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6E96"/>
                </a:solidFill>
                <a:latin typeface="Arial"/>
              </a:rPr>
              <a:t>Find the link in the description.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4.8 · Run this on your own sector — the transferable recipe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U Theme - Whit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0000"/>
      </a:hlink>
      <a:folHlink>
        <a:srgbClr val="757070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A0500DBE-3369-4A4A-B28D-9AE5003E2570}"/>
    </a:ext>
  </a:extLst>
</a:theme>
</file>

<file path=ppt/theme/theme2.xml><?xml version="1.0" encoding="utf-8"?>
<a:theme xmlns:a="http://schemas.openxmlformats.org/drawingml/2006/main" name="Big text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EA5A528F-177A-4F34-B410-08836428AF20}"/>
    </a:ext>
  </a:extLst>
</a:theme>
</file>

<file path=ppt/theme/theme3.xml><?xml version="1.0" encoding="utf-8"?>
<a:theme xmlns:a="http://schemas.openxmlformats.org/drawingml/2006/main" name="Quote Slide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B0771621-B97B-4C13-9C8D-7F1D735791AC}"/>
    </a:ext>
  </a:extLst>
</a:theme>
</file>

<file path=ppt/theme/theme4.xml><?xml version="1.0" encoding="utf-8"?>
<a:theme xmlns:a="http://schemas.openxmlformats.org/drawingml/2006/main" name="ITU Theme light blu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D1ECFA71-5D53-4A3F-BEBD-1C69573B522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7f0f61-51dd-499b-8f04-7c837a526382">
      <Terms xmlns="http://schemas.microsoft.com/office/infopath/2007/PartnerControls"/>
    </lcf76f155ced4ddcb4097134ff3c332f>
    <TaxCatchAll xmlns="ab90e5c9-10d8-4476-84ba-6005a25f498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A3A08329EEE04EB33D96A577905A26" ma:contentTypeVersion="19" ma:contentTypeDescription="Create a new document." ma:contentTypeScope="" ma:versionID="a8087e2cbe64624dcde6ca4894bfb0b6">
  <xsd:schema xmlns:xsd="http://www.w3.org/2001/XMLSchema" xmlns:xs="http://www.w3.org/2001/XMLSchema" xmlns:p="http://schemas.microsoft.com/office/2006/metadata/properties" xmlns:ns2="ed7f0f61-51dd-499b-8f04-7c837a526382" xmlns:ns3="ab90e5c9-10d8-4476-84ba-6005a25f4984" targetNamespace="http://schemas.microsoft.com/office/2006/metadata/properties" ma:root="true" ma:fieldsID="2701f39123c6a01fbf026076f5c6add9" ns2:_="" ns3:_="">
    <xsd:import namespace="ed7f0f61-51dd-499b-8f04-7c837a526382"/>
    <xsd:import namespace="ab90e5c9-10d8-4476-84ba-6005a25f49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7f0f61-51dd-499b-8f04-7c837a5263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0e895586-ec57-4162-862b-4595312350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90e5c9-10d8-4476-84ba-6005a25f498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45fae84-f8a8-4d35-b240-8a5cf95bb259}" ma:internalName="TaxCatchAll" ma:showField="CatchAllData" ma:web="ab90e5c9-10d8-4476-84ba-6005a25f49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615F30-55BC-4400-8171-49B6C1A1BF7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ed7f0f61-51dd-499b-8f04-7c837a526382"/>
    <ds:schemaRef ds:uri="ab90e5c9-10d8-4476-84ba-6005a25f4984"/>
  </ds:schemaRefs>
</ds:datastoreItem>
</file>

<file path=customXml/itemProps2.xml><?xml version="1.0" encoding="utf-8"?>
<ds:datastoreItem xmlns:ds="http://schemas.openxmlformats.org/officeDocument/2006/customXml" ds:itemID="{A48191B6-3A4E-47E8-99A3-94A5982E1B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C4513F-118C-4668-805A-58D1CE3FDA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7f0f61-51dd-499b-8f04-7c837a526382"/>
    <ds:schemaRef ds:uri="ab90e5c9-10d8-4476-84ba-6005a25f49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ITU_Powerpoint_standard_template_16x9__July_2022</Template>
  <TotalTime>462</TotalTime>
  <Words>2240</Words>
  <Application>Microsoft Office PowerPoint</Application>
  <PresentationFormat>Widescreen</PresentationFormat>
  <Paragraphs>473</Paragraphs>
  <Slides>38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Arial</vt:lpstr>
      <vt:lpstr>Avenir Next LT Pro</vt:lpstr>
      <vt:lpstr>Calibri</vt:lpstr>
      <vt:lpstr>Georgia</vt:lpstr>
      <vt:lpstr>Lato Light</vt:lpstr>
      <vt:lpstr>Roboto</vt:lpstr>
      <vt:lpstr>ITU Theme - White bg</vt:lpstr>
      <vt:lpstr>Big text</vt:lpstr>
      <vt:lpstr>Quote Slide</vt:lpstr>
      <vt:lpstr>ITU Theme light blue bg</vt:lpstr>
      <vt:lpstr>PowerPoint Presentation</vt:lpstr>
      <vt:lpstr>PowerPoint Presentation</vt:lpstr>
      <vt:lpstr>Slide title text Arial Bold 28pt</vt:lpstr>
      <vt:lpstr>PowerPoint Presentation</vt:lpstr>
      <vt:lpstr>Long slide title  goes here second line here</vt:lpstr>
      <vt:lpstr>Slide title goes here second line of slide title goes here </vt:lpstr>
      <vt:lpstr>Long slide title goes here second line here</vt:lpstr>
      <vt:lpstr>Long slide title goes here second line of slide title here third line goes here</vt:lpstr>
      <vt:lpstr>Long slide title goes here second line of slide title here third line goes here</vt:lpstr>
      <vt:lpstr>Slide title goes here</vt:lpstr>
      <vt:lpstr>PowerPoint Presentation</vt:lpstr>
      <vt:lpstr>Click to add slide title here  </vt:lpstr>
      <vt:lpstr>Click to add slide title here </vt:lpstr>
      <vt:lpstr>PowerPoint Presentation</vt:lpstr>
      <vt:lpstr>PowerPoint Presentation</vt:lpstr>
      <vt:lpstr>PowerPoint Presentation</vt:lpstr>
      <vt:lpstr>PowerPoint Presentation</vt:lpstr>
      <vt:lpstr>Placeholder text for slide title</vt:lpstr>
      <vt:lpstr>Simple table</vt:lpstr>
      <vt:lpstr>PowerPoint Presentation</vt:lpstr>
      <vt:lpstr>Figure 1: Figure title</vt:lpstr>
      <vt:lpstr>Graphics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Figure Title</vt:lpstr>
      <vt:lpstr>Figure Title</vt:lpstr>
      <vt:lpstr>Figure Title</vt:lpstr>
      <vt:lpstr>Key figures</vt:lpstr>
      <vt:lpstr>PowerPoint Presentation</vt:lpstr>
      <vt:lpstr>Timeline title</vt:lpstr>
      <vt:lpstr>Timeline title</vt:lpstr>
      <vt:lpstr>Timeline title</vt:lpstr>
      <vt:lpstr>PowerPoint Presentation</vt:lpstr>
      <vt:lpstr>ITU Blue</vt:lpstr>
      <vt:lpstr>PowerPoint Presentation</vt:lpstr>
    </vt:vector>
  </TitlesOfParts>
  <Company>ITU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CHIMA HERNANDEZ, Maria Fernanda</dc:creator>
  <cp:lastModifiedBy>Anselmino, Carolina</cp:lastModifiedBy>
  <cp:revision>1</cp:revision>
  <dcterms:created xsi:type="dcterms:W3CDTF">2026-05-08T11:19:41Z</dcterms:created>
  <dcterms:modified xsi:type="dcterms:W3CDTF">2026-07-22T19:37:40Z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0x01010053A3A08329EEE04EB33D96A577905A26</vt:lpwstr>
  </property>
  <property fmtid="{D5CDD505-2E9C-101B-9397-08002B2CF9AE}" pid="3" name="MediaServiceImageTags">
    <vt:lpwstr/>
  </property>
</Properties>
</file>