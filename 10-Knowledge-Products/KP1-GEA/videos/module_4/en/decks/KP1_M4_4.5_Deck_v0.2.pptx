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8" r:id="rId13"/>
    <p:sldId id="2729" r:id="rId12"/>
    <p:sldId id="2730" r:id="rId11"/>
    <p:sldId id="2731" r:id="rId10"/>
    <p:sldId id="2732" r:id="rId54"/>
    <p:sldId id="2733" r:id="rId55"/>
    <p:sldId id="2734" r:id="rId56"/>
    <p:sldId id="2735"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Between where Progressa is today and how it gets somewhere sits the deliverable the whole architecture exists to produce: the target architecture, the picture of the future state you are building toward. Skip it, and you sequence a roadmap to a destination nobody drew.</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target architecture is the future-state picture, drawn in the same four layers you used for the current state — but designed, not observed. The target capability map: each capability owned by exactly one body, the duplicates resolved. The target data domains: one authoritative owner for the learner, the person, the result — the three lists collapsed to one. The target shared platforms: the identity platform and the data-exchange backbone every sector will consume. And the target technology standards. It is the current-state picture's mirror — what the sector should look like once the gaps are closed.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do not invent the target from imagination. You design it by applying the principles you adopted in Adapt to the gaps you found in Assess. Once-only says the three learner lists become one — so the target has a single authoritative Learner Registry. Reuse-before-build says education consumes the national identity rather than minting its own — so the target shows the Examination Authority consuming the Identity Authority. One-owner-per-domain resolves who owns what. The principles are not decoration; they are the design rules. Apply them to the current state, and the target architecture almost draws itself.</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target adds one artefact the current state never had: the integration map. It names which bodies need to exchange which data, over what mechanism, in what priority order. On Progressa: the Examination Authority reads the learner from the Learner Registry and the identity from the Identity Authority, both over the Digital Government Authority's data-exchange backbone, replacing the paper re-entry. The integration map is the target's connective tissue — the picture of a government whose systems finally talk to each other. Here you draw it as a first cut; designing those exchanges in full detail is the interoperability work that the next knowledge product covers.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discipline keeps the target useful. It must be reachable, not a fantasy. Every element of the target should trace back to a gap it closes and forward to a sourcing decision — build, buy or share — that obtains it. A target capability with no way to build or acquire it is a wish, not an architecture. So the target architecture and the sourcing decisions are designed together: the target says what the future state is; the sourcing says how each piece is obtained. Signed off together, they are the agreed destination the roadmap then sequences.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before you sequence anything, design the target: the future-state picture in four layers plus the integration map, reached by applying your principles to the gaps you found, every element traceable to a sourcing decision.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Phase 4, Plan — design the target architecture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Between the gaps and the roadmap sits the deliverable the whole EA is for — the target architecture: a future-state picture of the capabilities, the data owners, the shared platforms and the integration map your government should have. Design it by applying your principles to the gaps, and the roadmap finally has somewhere to go.</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target architecture: the picture of the future state you are building toward.</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sits between where Progressa is today and how it gets somewhere.</a:t>
            </a:r>
          </a:p>
          <a:p>
            <a:pPr>
              <a:spcAft>
                <a:spcPts val="800"/>
              </a:spcAft>
            </a:pPr>
            <a:r>
              <a:rPr sz="1700" b="0" i="0">
                <a:solidFill>
                  <a:srgbClr val="595959"/>
                </a:solidFill>
                <a:latin typeface="Arial"/>
              </a:rPr>
              <a:t>Skip it, and you sequence a roadmap to a destination nobody drew.</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target is the current-state picture, designed instead of observed</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Target capabilities</a:t>
            </a:r>
          </a:p>
          <a:p>
            <a:pPr>
              <a:spcAft>
                <a:spcPts val="300"/>
              </a:spcAft>
            </a:pPr>
            <a:r>
              <a:rPr sz="1550" b="0" i="0">
                <a:solidFill>
                  <a:srgbClr val="595959"/>
                </a:solidFill>
                <a:latin typeface="Arial"/>
              </a:rPr>
              <a:t>Each owned by exactly one body. The duplicates resolved.</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Target data domains</a:t>
            </a:r>
          </a:p>
          <a:p>
            <a:pPr>
              <a:spcAft>
                <a:spcPts val="300"/>
              </a:spcAft>
            </a:pPr>
            <a:r>
              <a:rPr sz="1550" b="0" i="0">
                <a:solidFill>
                  <a:srgbClr val="595959"/>
                </a:solidFill>
                <a:latin typeface="Arial"/>
              </a:rPr>
              <a:t>One authoritative owner for the learner, the person, the result.</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Target shared platforms</a:t>
            </a:r>
          </a:p>
          <a:p>
            <a:pPr>
              <a:spcAft>
                <a:spcPts val="300"/>
              </a:spcAft>
            </a:pPr>
            <a:r>
              <a:rPr sz="1550" b="0" i="0">
                <a:solidFill>
                  <a:srgbClr val="595959"/>
                </a:solidFill>
                <a:latin typeface="Arial"/>
              </a:rPr>
              <a:t>The identity platform and the data-exchange backbone, consumed by all.</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Target technology standards</a:t>
            </a:r>
          </a:p>
          <a:p>
            <a:pPr>
              <a:spcAft>
                <a:spcPts val="300"/>
              </a:spcAft>
            </a:pPr>
            <a:r>
              <a:rPr sz="1550" b="0" i="0">
                <a:solidFill>
                  <a:srgbClr val="595959"/>
                </a:solidFill>
                <a:latin typeface="Arial"/>
              </a:rPr>
              <a:t>What everything that follows is built to.</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same four layers as the AS-IS — drawn forward, not recorded.</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do not invent the target — you apply your principles to your gaps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Once-only says the three learner lists become one, so the target has a single authoritative Learner Registry. Reuse-before-build says education consumes the national identity rather than minting its own, so the target shows the Examination Authority consuming the Identity Authority.</a:t>
            </a:r>
          </a:p>
          <a:p>
            <a:pPr>
              <a:spcAft>
                <a:spcPts val="1200"/>
              </a:spcAft>
            </a:pPr>
            <a:r>
              <a:rPr sz="2000" b="0" i="0">
                <a:solidFill>
                  <a:srgbClr val="1A1A1A"/>
                </a:solidFill>
                <a:latin typeface="Arial"/>
              </a:rPr>
              <a:t>One-owner-per-domain resolves who owns what. Apply the principles to the current state and the target architecture almost draws itself.</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principles are not decoration. They are the design rules.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integration map is the one artefact the current state never had</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It names which bodies exchange which data, over what mechanism, in what priority order. On Progressa: the Examination Authority reads the learner from the Learner Registry and the identity from the Identity Authority, both over the Digital Government Authority's backbone, replacing the paper re-entry.</a:t>
            </a:r>
          </a:p>
          <a:p>
            <a:pPr>
              <a:spcAft>
                <a:spcPts val="1200"/>
              </a:spcAft>
            </a:pPr>
            <a:r>
              <a:rPr sz="2000" b="0" i="0">
                <a:solidFill>
                  <a:srgbClr val="1A1A1A"/>
                </a:solidFill>
                <a:latin typeface="Arial"/>
              </a:rPr>
              <a:t>It is the target's connective tissue — the picture of a government whose systems finally talk to each other.</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 first cut here. The full design is the interoperability knowledge product.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target element traces back to a gap and forward to a sourcing call</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target must be reachable, not a fantasy. Each element should trace back to a gap it closes, and forward to a sourcing decision — build, buy or share — that obtains it.</a:t>
            </a:r>
          </a:p>
          <a:p>
            <a:pPr>
              <a:spcAft>
                <a:spcPts val="1200"/>
              </a:spcAft>
            </a:pPr>
            <a:r>
              <a:rPr sz="2000" b="0" i="0">
                <a:solidFill>
                  <a:srgbClr val="1A1A1A"/>
                </a:solidFill>
                <a:latin typeface="Arial"/>
              </a:rPr>
              <a:t>So the target architecture and the sourcing decisions are designed together, and signed off together, as the agreed destination the roadmap then sequences.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 target capability with no way to obtain it is a wish, not an architecture.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target architecture is the designed future-state picture — target capabilities, one owner per data domain, shared platforms, and the integration map — reached by applying your principles to the gaps, and traceable to a sourcing decision for every element.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Design a first-cut target architecture from your gaps.</a:t>
            </a:r>
          </a:p>
          <a:p>
            <a:pPr algn="l">
              <a:spcAft>
                <a:spcPts val="400"/>
              </a:spcAft>
            </a:pPr>
            <a:r>
              <a:rPr sz="1800" b="0" i="0">
                <a:solidFill>
                  <a:srgbClr val="595959"/>
                </a:solidFill>
                <a:latin typeface="Arial"/>
              </a:rPr>
              <a:t>The prompt in the companion material gives you a first-cut target architecture in four layers, an integration map.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§3.4.3 (Interoperability)</a:t>
            </a:r>
          </a:p>
          <a:p>
            <a:pPr>
              <a:spcAft>
                <a:spcPts val="1200"/>
              </a:spcAft>
            </a:pPr>
            <a:r>
              <a:rPr sz="1700" b="0" i="0">
                <a:solidFill>
                  <a:srgbClr val="1A1A1A"/>
                </a:solidFill>
                <a:latin typeface="Arial"/>
              </a:rPr>
              <a:t>•  PAERA v1.0 — Annex 2 (Metamodel)</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