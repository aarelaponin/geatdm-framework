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10" r:id="rId32"/>
    <p:sldId id="2711" r:id="rId33"/>
    <p:sldId id="2712" r:id="rId34"/>
    <p:sldId id="2713" r:id="rId35"/>
    <p:sldId id="2714" r:id="rId36"/>
    <p:sldId id="2715" r:id="rId37"/>
    <p:sldId id="271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Phase 2 on Progressa. Score the capabilities. Name the four gaps. Rank by impact where movement is possible. Sign it off as honest ground truth. Six to eight weeks, and Progressa knows not just what is wrong, but what to fix first.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Assess ends with the second sign-off: the gap analysis reflects ground truth. This one has an honesty test. On Progressa, one of the three learner lists is owned by a powerful programme that does not want to give it up. An assessment that softens that gap to avoid the fight fails — quietly, a year later, when the single learner record still does not exist. Your job is to name the right problems in the right order, including the political ones, in language the decision-maker can act on. Get that sign-off honestly, and the roadmap has a solid base.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Phase two is Assess. Now you judge. The question: what is the gap between where Progressa is and where it needs to be? The deliverable is the current state in four layers, maturity scorecards, and a gap analysis that ranks the problems. About six to eight weeks. This is where the picture from Discovery becomes a decision.</a:t>
            </a:r>
          </a:p>
          <a:p/>
          <a:p>
            <a:r>
              <a:t>Retrieval prompt — ask before playing on: in your own sector, name the gaps you would expect a first assessment to find. Hold your list. The four Progressa surfaces are two slides from now, and almost every first assessment finds the same four.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by scoring Progressa's capabilities against PAERA-anchored standards. Register a learner: low maturity — three lists, none authoritative. Prove identity: medium — the Identity Authority exists but education does not consume it. Certify a result: high — the Examination Authority does this well. Share data across bodies: very low — almost everything is paper. A simple maturity score per capability turns a vague sense that things are bad into a picture of exactly where the sector is weak and where it is strong.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gaps surface, the ones almost every first assessment finds. Duplicate registries — three learner lists where there should be one. Identity not consumed — education re-enters identity on paper instead of using the Identity Authority. No shared data exchange — every link is a custom point-to-point connection or a paper form. And no clear owner — everyone uses 'the learner', nobody is accountable for the authoritative copy. Naming these precisely, on Progressa, is most of the Assess.</a:t>
            </a:r>
          </a:p>
          <a:p/>
          <a:p>
            <a:r>
              <a:t>Production cue: this slide answers the retrieval prompt set on the title slide. Give the viewer a beat to compare their list against these four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list of gaps is not an assessment. The ranking is. Score each gap by how much it hurts and how hard it is to close. On Progressa, the duplicate learner registry tops the list — it is the direct cause of the minister's stalled single-learner-record promise, it burdens every parent, and it is closable by making the Learner Registry authoritative and having the others consume it. The no-data-exchange gap is high impact but harder, so it sequences later. The ranking, not the list, is what the next phases act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4.3. Content slides are identical to the corresponding section of the combined deck KP1_M4_Deck_v0.1.pptx;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4.3 — Phase 2, Assess — find the gaps and rank them</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4 · Video 4.3</a:t>
            </a:r>
          </a:p>
          <a:p>
            <a:r>
              <a:rPr sz="1200" b="0" i="1">
                <a:solidFill>
                  <a:srgbClr val="595959"/>
                </a:solidFill>
                <a:latin typeface="Arial"/>
              </a:rPr>
              <a:t>Assess turns Progressa's picture into a ranked gap analysis — the right problems, in the right order — signed off as ground truth. It is the assessment method applied to a real sector.</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PHASES, RUN ON ONE SECTOR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 — an honest picture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 — a ranked gap analysis</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 — framework and sourcing</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 — the target, then the roadmap</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 — the living EA</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phases · 4 sign-offs · 6 deliverables · 1 worked sector</a:t>
            </a:r>
          </a:p>
        </p:txBody>
      </p:sp>
    </p:spTree>
    <p:extLst>
      <p:ext uri="{BB962C8B-B14F-4D97-AF65-F5344CB8AC3E}">
        <p14:creationId xmlns:p14="http://schemas.microsoft.com/office/powerpoint/2010/main" val="1196800265"/>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2, Assess — find the gaps and rank them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Assess turns Progressa's picture into a ranked gap analysis — the right problems, in the right order — signed off as ground truth. It is the assessment method applied to a real sector.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Score the capabilities and “things are bad” becomes a map</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Register a learner — LOW</a:t>
            </a:r>
          </a:p>
          <a:p>
            <a:pPr>
              <a:spcAft>
                <a:spcPts val="300"/>
              </a:spcAft>
            </a:pPr>
            <a:r>
              <a:rPr sz="1550" b="0" i="0">
                <a:solidFill>
                  <a:srgbClr val="595959"/>
                </a:solidFill>
                <a:latin typeface="Arial"/>
              </a:rPr>
              <a:t>Three lists, none of them authoritative.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Prove identity — MEDIUM</a:t>
            </a:r>
          </a:p>
          <a:p>
            <a:pPr>
              <a:spcAft>
                <a:spcPts val="300"/>
              </a:spcAft>
            </a:pPr>
            <a:r>
              <a:rPr sz="1550" b="0" i="0">
                <a:solidFill>
                  <a:srgbClr val="595959"/>
                </a:solidFill>
                <a:latin typeface="Arial"/>
              </a:rPr>
              <a:t>PNIA exists; education does not consume it.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Certify a result — HIGH</a:t>
            </a:r>
          </a:p>
          <a:p>
            <a:pPr>
              <a:spcAft>
                <a:spcPts val="300"/>
              </a:spcAft>
            </a:pPr>
            <a:r>
              <a:rPr sz="1550" b="0" i="0">
                <a:solidFill>
                  <a:srgbClr val="595959"/>
                </a:solidFill>
                <a:latin typeface="Arial"/>
              </a:rPr>
              <a:t>The Examination Authority does this well.</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Share data across bodies — VERY LOW</a:t>
            </a:r>
          </a:p>
          <a:p>
            <a:pPr>
              <a:spcAft>
                <a:spcPts val="300"/>
              </a:spcAft>
            </a:pPr>
            <a:r>
              <a:rPr sz="1550" b="0" i="0">
                <a:solidFill>
                  <a:srgbClr val="595959"/>
                </a:solidFill>
                <a:latin typeface="Arial"/>
              </a:rPr>
              <a:t>Almost everything still moves on paper.</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everything is broken. Knowing exactly which part is, is the point.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gaps — the ones almost every first assessment finds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Duplicate registries</a:t>
            </a:r>
          </a:p>
          <a:p>
            <a:pPr>
              <a:spcAft>
                <a:spcPts val="300"/>
              </a:spcAft>
            </a:pPr>
            <a:r>
              <a:rPr sz="1550" b="0" i="0">
                <a:solidFill>
                  <a:srgbClr val="595959"/>
                </a:solidFill>
                <a:latin typeface="Arial"/>
              </a:rPr>
              <a:t>Three learner lists where there should be one.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Identity not consumed</a:t>
            </a:r>
          </a:p>
          <a:p>
            <a:pPr>
              <a:spcAft>
                <a:spcPts val="300"/>
              </a:spcAft>
            </a:pPr>
            <a:r>
              <a:rPr sz="1550" b="0" i="0">
                <a:solidFill>
                  <a:srgbClr val="595959"/>
                </a:solidFill>
                <a:latin typeface="Arial"/>
              </a:rPr>
              <a:t>Education re-enters identity on paper instead of using PNIA.</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No shared data exchange</a:t>
            </a:r>
          </a:p>
          <a:p>
            <a:pPr>
              <a:spcAft>
                <a:spcPts val="300"/>
              </a:spcAft>
            </a:pPr>
            <a:r>
              <a:rPr sz="1550" b="0" i="0">
                <a:solidFill>
                  <a:srgbClr val="595959"/>
                </a:solidFill>
                <a:latin typeface="Arial"/>
              </a:rPr>
              <a:t>Every link is a custom point-to-point connection or a paper form.</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No clear owner of the authoritative learner</a:t>
            </a:r>
          </a:p>
          <a:p>
            <a:pPr>
              <a:spcAft>
                <a:spcPts val="300"/>
              </a:spcAft>
            </a:pPr>
            <a:r>
              <a:rPr sz="1550" b="0" i="0">
                <a:solidFill>
                  <a:srgbClr val="595959"/>
                </a:solidFill>
                <a:latin typeface="Arial"/>
              </a:rPr>
              <a:t>Everyone uses “the learner”; nobody is accountable for the copy of record.</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Naming these precisely, on a real sector, is most of the assessment.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ranking is the assessment — the list is only a list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Score each gap by how much it hurts and how hard it is to close. On Progressa the duplicate learner registry tops the list: it is the direct cause of the minister's stalled promise, it burdens every parent, and it is closable — make the Learner Registry authoritative and have the others consume it.</a:t>
            </a:r>
          </a:p>
          <a:p>
            <a:pPr>
              <a:spcAft>
                <a:spcPts val="1200"/>
              </a:spcAft>
            </a:pPr>
            <a:r>
              <a:rPr sz="2000" b="0" i="0">
                <a:solidFill>
                  <a:srgbClr val="1A1A1A"/>
                </a:solidFill>
                <a:latin typeface="Arial"/>
              </a:rPr>
              <a:t>The no-data-exchange gap is high impact but harder, so it sequences later.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What the next phases act on is the ranking, not the list.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two carries an honesty test you can fail quietly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 Progressa, one of the three learner lists is owned by a powerful programme that does not want to give it up.</a:t>
            </a:r>
          </a:p>
          <a:p>
            <a:pPr>
              <a:spcAft>
                <a:spcPts val="1200"/>
              </a:spcAft>
            </a:pPr>
            <a:r>
              <a:rPr sz="2000" b="0" i="0">
                <a:solidFill>
                  <a:srgbClr val="1A1A1A"/>
                </a:solidFill>
                <a:latin typeface="Arial"/>
              </a:rPr>
              <a:t>Your job is to name the right problems in the right order — including the political ones — in language the decision-maker can act 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An assessment that softens that gap fails — quietly, a year later.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Assess turns Progressa’s picture into a ranked gap analysis — the right problems in the right order, signed off as ground truth — including the uncomfortable ones.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§5.1 (Capabilities Assessment)</a:t>
            </a:r>
          </a:p>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§3.1.3 (Readiness Assessment)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