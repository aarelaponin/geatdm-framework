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17" r:id="rId39"/>
    <p:sldId id="2718" r:id="rId40"/>
    <p:sldId id="2719" r:id="rId41"/>
    <p:sldId id="2720" r:id="rId42"/>
    <p:sldId id="2721" r:id="rId43"/>
    <p:sldId id="2722" r:id="rId44"/>
    <p:sldId id="2723"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4.4. Content slides are identical to the corresponding section of the combined deck KP1_M4_Deck_v0.1.pptx;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Phase three is Adapt. PAERA is a starting point, not a constraint. Now the architects shape it to Progressa — the country's own principles, its sector priorities, and the sourcing decision for each building block. About four to six weeks. The deliverable is a localised framework with a clear build, buy, share or sandbox call for each capability.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localise the principles. Progressa adopts PAERA's principles as its baseline and points each at its own laws — once-only against the data-protection act, reuse-before-build against the procurement rules. It adds one principle its context needs, about offline access for rural schools, and gives every principle a written implication so the Board can use it to settle an argument. Progressa does not draft principles from scratch. It inherits the thinking and localises the wording.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Then the heart of Adapt: for each building block, a deliberate sourcing call. Progressa's Learner Registry — build it properly, because it is the authoritative core nobody else can own. Identity — do not build; share the national Identity Authority's platform. Exam management — buy a mature market product, it is a solved problem. Data exchange — share the Digital Government Authority's backbone. A new analytics capability nobody is sure about — sandbox it first, before committing. Four kinds of decision, made on purpose, written down with a reason each.</a:t>
            </a:r>
          </a:p>
          <a:p/>
          <a:p>
            <a:r>
              <a:t>On screen: no vendor or product names anywhere on this slide — the call is about the kind of sourcing, not the supplier.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Notice the pattern in those calls. The default is reuse and share; build is the exception that must justify itself. Every share — identity, data exchange — is a capability Progressa pays for once instead of in every programme. This is the phase where the whole-of-government saving is actually chosen. A procurement rule could not make these calls; only an architect looking across the whole sector, deciding deliberately, can. Reuse before buy, buy before build — applied building block by building block — is how Adapt turns the re-use principle into real sourcing decisions.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Adapt ends with the third sign-off: the localised framework and the sourcing approach are approved. On Progressa, the Board signs the principle set and the build-buy-share-sandbox matrix. This is a consequential gate — it commits the shape of everything that follows. Approve it, and the roadmap has a clear set of decisions to sequence. Skip the deliberation, and every project re-litigates build-versus-reuse on its own, which is exactly the fragmentation the EA exists to prevent.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That is Phase 3 on Progressa. Localise the principles. Make a deliberate sourcing call for each building block, with reuse as the default. Sign off the framework and the matrix. Four to six weeks, and Progressa has decided not just what it wants, but how it will get each piece — and where it will pay once instead of many times.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400" b="1" i="0">
                <a:solidFill>
                  <a:srgbClr val="1A1A1A"/>
                </a:solidFill>
                <a:latin typeface="Arial"/>
              </a:rPr>
              <a:t>4.4 — Phase 3, Adapt — fit PAERA and decide build, buy or share</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300" b="1" i="0">
                <a:solidFill>
                  <a:srgbClr val="006E96"/>
                </a:solidFill>
                <a:latin typeface="Arial"/>
              </a:rPr>
              <a:t>KP1 · Government Enterprise Architecture · Module 4 · Video 4.4</a:t>
            </a:r>
          </a:p>
          <a:p>
            <a:r>
              <a:rPr sz="1200" b="0" i="1">
                <a:solidFill>
                  <a:srgbClr val="595959"/>
                </a:solidFill>
                <a:latin typeface="Arial"/>
              </a:rPr>
              <a:t>Adapt fits PAERA to Progressa — localising principles, setting sector priorities, and deciding for each building block whether to build, buy, share or sandbox — signed off as the framework and sourcing approach.</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~5 mins</a:t>
            </a:r>
          </a:p>
          <a:p>
            <a:r>
              <a:rPr sz="1400" b="1" i="0">
                <a:solidFill>
                  <a:srgbClr val="1A1A1A"/>
                </a:solidFill>
                <a:latin typeface="Arial"/>
              </a:rPr>
              <a:t>Target audience: </a:t>
            </a:r>
            <a:r>
              <a:rPr sz="1400" b="0" i="0">
                <a:solidFill>
                  <a:srgbClr val="1A1A1A"/>
                </a:solidFill>
                <a:latin typeface="Arial"/>
              </a:rPr>
              <a:t>Chief architect · senior architect · sector ICT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FIVE PHASES, RUN ON ONE SECTOR</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Discover — an honest picture</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Assess — a ranked gap analysis</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Adapt — framework and sourcing</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Plan — the target, then the roadmap</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Execute &amp; Govern — the living EA</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5 phases · 4 sign-offs · 6 deliverables · 1 worked sector</a:t>
            </a:r>
          </a:p>
        </p:txBody>
      </p:sp>
    </p:spTree>
    <p:extLst>
      <p:ext uri="{BB962C8B-B14F-4D97-AF65-F5344CB8AC3E}">
        <p14:creationId xmlns:p14="http://schemas.microsoft.com/office/powerpoint/2010/main" val="1196800265"/>
      </p:ext>
    </p:extLst>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4 · VIDEO 4.4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Phase 3, Adapt — fit PAERA and decide build, buy or share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Adapt fits PAERA to Progressa — localising principles, setting sector priorities, and deciding for each building block whether to build, buy, share or sandbox — signed off as the framework and sourcing approach.</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does not draft principles from scratch — it inherits and localises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Progressa adopts PAERA's principles as its baseline and points each at its own laws — once-only against the data-protection act, reuse-before-build against the procurement rules.</a:t>
            </a:r>
          </a:p>
          <a:p>
            <a:pPr>
              <a:spcAft>
                <a:spcPts val="1200"/>
              </a:spcAft>
            </a:pPr>
            <a:r>
              <a:rPr sz="2000" b="0" i="0">
                <a:solidFill>
                  <a:srgbClr val="1A1A1A"/>
                </a:solidFill>
                <a:latin typeface="Arial"/>
              </a:rPr>
              <a:t>It adds one principle its own context needs, about offline access for rural schools.</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Every principle gets a written implication the Board can rule with.</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Phase 3, Adapt — fit PAERA and decide build, buy or share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kinds of decision, made on purpose, one building block at a time</a:t>
            </a:r>
          </a:p>
        </p:txBody>
      </p:sp>
      <p:sp>
        <p:nvSpPr>
          <p:cNvPr id="4" name="Rounded Rectangle 3"/>
          <p:cNvSpPr/>
          <p:nvPr/>
        </p:nvSpPr>
        <p:spPr>
          <a:xfrm>
            <a:off x="658368" y="1536192"/>
            <a:ext cx="10881360" cy="74980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82495"/>
            <a:ext cx="3200400" cy="457200"/>
          </a:xfrm>
          <a:prstGeom prst="rect">
            <a:avLst/>
          </a:prstGeom>
          <a:noFill/>
        </p:spPr>
        <p:txBody>
          <a:bodyPr wrap="square">
            <a:spAutoFit/>
          </a:bodyPr>
          <a:lstStyle/>
          <a:p>
            <a:r>
              <a:rPr sz="1700" b="1" i="0">
                <a:solidFill>
                  <a:srgbClr val="1A1A1A"/>
                </a:solidFill>
                <a:latin typeface="Arial"/>
              </a:rPr>
              <a:t>Learner Registry (PLR)</a:t>
            </a:r>
          </a:p>
        </p:txBody>
      </p:sp>
      <p:sp>
        <p:nvSpPr>
          <p:cNvPr id="6" name="Rounded Rectangle 5"/>
          <p:cNvSpPr/>
          <p:nvPr/>
        </p:nvSpPr>
        <p:spPr>
          <a:xfrm>
            <a:off x="4224528" y="1719072"/>
            <a:ext cx="1508760" cy="384048"/>
          </a:xfrm>
          <a:prstGeom prst="roundRect">
            <a:avLst>
              <a:gd name="adj" fmla="val 35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24528" y="1755648"/>
            <a:ext cx="1508760" cy="329184"/>
          </a:xfrm>
          <a:prstGeom prst="rect">
            <a:avLst/>
          </a:prstGeom>
          <a:noFill/>
        </p:spPr>
        <p:txBody>
          <a:bodyPr wrap="square">
            <a:spAutoFit/>
          </a:bodyPr>
          <a:lstStyle/>
          <a:p>
            <a:pPr algn="ctr"/>
            <a:r>
              <a:rPr sz="1200" b="1" i="0">
                <a:solidFill>
                  <a:srgbClr val="FFFFFF"/>
                </a:solidFill>
                <a:latin typeface="Arial"/>
              </a:rPr>
              <a:t>BUILD</a:t>
            </a:r>
          </a:p>
        </p:txBody>
      </p:sp>
      <p:sp>
        <p:nvSpPr>
          <p:cNvPr id="8" name="TextBox 7"/>
          <p:cNvSpPr txBox="1"/>
          <p:nvPr/>
        </p:nvSpPr>
        <p:spPr>
          <a:xfrm>
            <a:off x="5989320" y="1691639"/>
            <a:ext cx="5394960" cy="502920"/>
          </a:xfrm>
          <a:prstGeom prst="rect">
            <a:avLst/>
          </a:prstGeom>
          <a:noFill/>
        </p:spPr>
        <p:txBody>
          <a:bodyPr wrap="square">
            <a:spAutoFit/>
          </a:bodyPr>
          <a:lstStyle/>
          <a:p>
            <a:r>
              <a:rPr sz="1550" b="0" i="0">
                <a:solidFill>
                  <a:srgbClr val="1A1A1A"/>
                </a:solidFill>
                <a:latin typeface="Arial"/>
              </a:rPr>
              <a:t>The authoritative core. Nobody else can own it.</a:t>
            </a:r>
          </a:p>
        </p:txBody>
      </p:sp>
      <p:sp>
        <p:nvSpPr>
          <p:cNvPr id="9" name="Rounded Rectangle 8"/>
          <p:cNvSpPr/>
          <p:nvPr/>
        </p:nvSpPr>
        <p:spPr>
          <a:xfrm>
            <a:off x="658368" y="2377440"/>
            <a:ext cx="10881360" cy="74980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523744"/>
            <a:ext cx="3200400" cy="457200"/>
          </a:xfrm>
          <a:prstGeom prst="rect">
            <a:avLst/>
          </a:prstGeom>
          <a:noFill/>
        </p:spPr>
        <p:txBody>
          <a:bodyPr wrap="square">
            <a:spAutoFit/>
          </a:bodyPr>
          <a:lstStyle/>
          <a:p>
            <a:r>
              <a:rPr sz="1700" b="1" i="0">
                <a:solidFill>
                  <a:srgbClr val="1A1A1A"/>
                </a:solidFill>
                <a:latin typeface="Arial"/>
              </a:rPr>
              <a:t>Identity</a:t>
            </a:r>
          </a:p>
        </p:txBody>
      </p:sp>
      <p:sp>
        <p:nvSpPr>
          <p:cNvPr id="11" name="Rounded Rectangle 10"/>
          <p:cNvSpPr/>
          <p:nvPr/>
        </p:nvSpPr>
        <p:spPr>
          <a:xfrm>
            <a:off x="4224528" y="2560320"/>
            <a:ext cx="1508760" cy="384048"/>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24528" y="2596896"/>
            <a:ext cx="1508760" cy="329184"/>
          </a:xfrm>
          <a:prstGeom prst="rect">
            <a:avLst/>
          </a:prstGeom>
          <a:noFill/>
        </p:spPr>
        <p:txBody>
          <a:bodyPr wrap="square">
            <a:spAutoFit/>
          </a:bodyPr>
          <a:lstStyle/>
          <a:p>
            <a:pPr algn="ctr"/>
            <a:r>
              <a:rPr sz="1200" b="1" i="0">
                <a:solidFill>
                  <a:srgbClr val="FFFFFF"/>
                </a:solidFill>
                <a:latin typeface="Arial"/>
              </a:rPr>
              <a:t>SHARE</a:t>
            </a:r>
          </a:p>
        </p:txBody>
      </p:sp>
      <p:sp>
        <p:nvSpPr>
          <p:cNvPr id="13" name="TextBox 12"/>
          <p:cNvSpPr txBox="1"/>
          <p:nvPr/>
        </p:nvSpPr>
        <p:spPr>
          <a:xfrm>
            <a:off x="5989320" y="2532888"/>
            <a:ext cx="5394960" cy="502920"/>
          </a:xfrm>
          <a:prstGeom prst="rect">
            <a:avLst/>
          </a:prstGeom>
          <a:noFill/>
        </p:spPr>
        <p:txBody>
          <a:bodyPr wrap="square">
            <a:spAutoFit/>
          </a:bodyPr>
          <a:lstStyle/>
          <a:p>
            <a:r>
              <a:rPr sz="1550" b="0" i="0">
                <a:solidFill>
                  <a:srgbClr val="1A1A1A"/>
                </a:solidFill>
                <a:latin typeface="Arial"/>
              </a:rPr>
              <a:t>Consume PNIA’s platform. Do not mint a second identity.</a:t>
            </a:r>
          </a:p>
        </p:txBody>
      </p:sp>
      <p:sp>
        <p:nvSpPr>
          <p:cNvPr id="14" name="Rounded Rectangle 13"/>
          <p:cNvSpPr/>
          <p:nvPr/>
        </p:nvSpPr>
        <p:spPr>
          <a:xfrm>
            <a:off x="658368" y="3218688"/>
            <a:ext cx="10881360" cy="74980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364992"/>
            <a:ext cx="3200400" cy="457200"/>
          </a:xfrm>
          <a:prstGeom prst="rect">
            <a:avLst/>
          </a:prstGeom>
          <a:noFill/>
        </p:spPr>
        <p:txBody>
          <a:bodyPr wrap="square">
            <a:spAutoFit/>
          </a:bodyPr>
          <a:lstStyle/>
          <a:p>
            <a:r>
              <a:rPr sz="1700" b="1" i="0">
                <a:solidFill>
                  <a:srgbClr val="1A1A1A"/>
                </a:solidFill>
                <a:latin typeface="Arial"/>
              </a:rPr>
              <a:t>Exam management</a:t>
            </a:r>
          </a:p>
        </p:txBody>
      </p:sp>
      <p:sp>
        <p:nvSpPr>
          <p:cNvPr id="16" name="Rounded Rectangle 15"/>
          <p:cNvSpPr/>
          <p:nvPr/>
        </p:nvSpPr>
        <p:spPr>
          <a:xfrm>
            <a:off x="4224528" y="3401568"/>
            <a:ext cx="1508760" cy="384048"/>
          </a:xfrm>
          <a:prstGeom prst="roundRect">
            <a:avLst>
              <a:gd name="adj" fmla="val 35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24528" y="3438144"/>
            <a:ext cx="1508760" cy="329184"/>
          </a:xfrm>
          <a:prstGeom prst="rect">
            <a:avLst/>
          </a:prstGeom>
          <a:noFill/>
        </p:spPr>
        <p:txBody>
          <a:bodyPr wrap="square">
            <a:spAutoFit/>
          </a:bodyPr>
          <a:lstStyle/>
          <a:p>
            <a:pPr algn="ctr"/>
            <a:r>
              <a:rPr sz="1200" b="1" i="0">
                <a:solidFill>
                  <a:srgbClr val="FFFFFF"/>
                </a:solidFill>
                <a:latin typeface="Arial"/>
              </a:rPr>
              <a:t>BUY</a:t>
            </a:r>
          </a:p>
        </p:txBody>
      </p:sp>
      <p:sp>
        <p:nvSpPr>
          <p:cNvPr id="18" name="TextBox 17"/>
          <p:cNvSpPr txBox="1"/>
          <p:nvPr/>
        </p:nvSpPr>
        <p:spPr>
          <a:xfrm>
            <a:off x="5989320" y="3374136"/>
            <a:ext cx="5394960" cy="502920"/>
          </a:xfrm>
          <a:prstGeom prst="rect">
            <a:avLst/>
          </a:prstGeom>
          <a:noFill/>
        </p:spPr>
        <p:txBody>
          <a:bodyPr wrap="square">
            <a:spAutoFit/>
          </a:bodyPr>
          <a:lstStyle/>
          <a:p>
            <a:r>
              <a:rPr sz="1550" b="0" i="0">
                <a:solidFill>
                  <a:srgbClr val="1A1A1A"/>
                </a:solidFill>
                <a:latin typeface="Arial"/>
              </a:rPr>
              <a:t>A solved problem with a mature market product.</a:t>
            </a:r>
          </a:p>
        </p:txBody>
      </p:sp>
      <p:sp>
        <p:nvSpPr>
          <p:cNvPr id="19" name="Rounded Rectangle 18"/>
          <p:cNvSpPr/>
          <p:nvPr/>
        </p:nvSpPr>
        <p:spPr>
          <a:xfrm>
            <a:off x="658368" y="4059936"/>
            <a:ext cx="10881360" cy="74980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206240"/>
            <a:ext cx="3200400" cy="457200"/>
          </a:xfrm>
          <a:prstGeom prst="rect">
            <a:avLst/>
          </a:prstGeom>
          <a:noFill/>
        </p:spPr>
        <p:txBody>
          <a:bodyPr wrap="square">
            <a:spAutoFit/>
          </a:bodyPr>
          <a:lstStyle/>
          <a:p>
            <a:r>
              <a:rPr sz="1700" b="1" i="0">
                <a:solidFill>
                  <a:srgbClr val="1A1A1A"/>
                </a:solidFill>
                <a:latin typeface="Arial"/>
              </a:rPr>
              <a:t>Data exchange</a:t>
            </a:r>
          </a:p>
        </p:txBody>
      </p:sp>
      <p:sp>
        <p:nvSpPr>
          <p:cNvPr id="21" name="Rounded Rectangle 20"/>
          <p:cNvSpPr/>
          <p:nvPr/>
        </p:nvSpPr>
        <p:spPr>
          <a:xfrm>
            <a:off x="4224528" y="4242816"/>
            <a:ext cx="1508760" cy="384048"/>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24528" y="4279392"/>
            <a:ext cx="1508760" cy="329184"/>
          </a:xfrm>
          <a:prstGeom prst="rect">
            <a:avLst/>
          </a:prstGeom>
          <a:noFill/>
        </p:spPr>
        <p:txBody>
          <a:bodyPr wrap="square">
            <a:spAutoFit/>
          </a:bodyPr>
          <a:lstStyle/>
          <a:p>
            <a:pPr algn="ctr"/>
            <a:r>
              <a:rPr sz="1200" b="1" i="0">
                <a:solidFill>
                  <a:srgbClr val="FFFFFF"/>
                </a:solidFill>
                <a:latin typeface="Arial"/>
              </a:rPr>
              <a:t>SHARE</a:t>
            </a:r>
          </a:p>
        </p:txBody>
      </p:sp>
      <p:sp>
        <p:nvSpPr>
          <p:cNvPr id="23" name="TextBox 22"/>
          <p:cNvSpPr txBox="1"/>
          <p:nvPr/>
        </p:nvSpPr>
        <p:spPr>
          <a:xfrm>
            <a:off x="5989320" y="4215384"/>
            <a:ext cx="5394960" cy="502920"/>
          </a:xfrm>
          <a:prstGeom prst="rect">
            <a:avLst/>
          </a:prstGeom>
          <a:noFill/>
        </p:spPr>
        <p:txBody>
          <a:bodyPr wrap="square">
            <a:spAutoFit/>
          </a:bodyPr>
          <a:lstStyle/>
          <a:p>
            <a:r>
              <a:rPr sz="1550" b="0" i="0">
                <a:solidFill>
                  <a:srgbClr val="1A1A1A"/>
                </a:solidFill>
                <a:latin typeface="Arial"/>
              </a:rPr>
              <a:t>PDGA’s backbone — paid for once, for the whole government.</a:t>
            </a:r>
          </a:p>
        </p:txBody>
      </p:sp>
      <p:sp>
        <p:nvSpPr>
          <p:cNvPr id="24" name="Rounded Rectangle 23"/>
          <p:cNvSpPr/>
          <p:nvPr/>
        </p:nvSpPr>
        <p:spPr>
          <a:xfrm>
            <a:off x="658368" y="4901184"/>
            <a:ext cx="10881360" cy="74980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5047488"/>
            <a:ext cx="3200400" cy="457200"/>
          </a:xfrm>
          <a:prstGeom prst="rect">
            <a:avLst/>
          </a:prstGeom>
          <a:noFill/>
        </p:spPr>
        <p:txBody>
          <a:bodyPr wrap="square">
            <a:spAutoFit/>
          </a:bodyPr>
          <a:lstStyle/>
          <a:p>
            <a:r>
              <a:rPr sz="1700" b="1" i="0">
                <a:solidFill>
                  <a:srgbClr val="1A1A1A"/>
                </a:solidFill>
                <a:latin typeface="Arial"/>
              </a:rPr>
              <a:t>New analytics</a:t>
            </a:r>
          </a:p>
        </p:txBody>
      </p:sp>
      <p:sp>
        <p:nvSpPr>
          <p:cNvPr id="26" name="Rounded Rectangle 25"/>
          <p:cNvSpPr/>
          <p:nvPr/>
        </p:nvSpPr>
        <p:spPr>
          <a:xfrm>
            <a:off x="4224528" y="5084064"/>
            <a:ext cx="1508760" cy="384048"/>
          </a:xfrm>
          <a:prstGeom prst="roundRect">
            <a:avLst>
              <a:gd name="adj" fmla="val 35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24528" y="5120640"/>
            <a:ext cx="1508760" cy="329184"/>
          </a:xfrm>
          <a:prstGeom prst="rect">
            <a:avLst/>
          </a:prstGeom>
          <a:noFill/>
        </p:spPr>
        <p:txBody>
          <a:bodyPr wrap="square">
            <a:spAutoFit/>
          </a:bodyPr>
          <a:lstStyle/>
          <a:p>
            <a:pPr algn="ctr"/>
            <a:r>
              <a:rPr sz="1200" b="1" i="0">
                <a:solidFill>
                  <a:srgbClr val="FFFFFF"/>
                </a:solidFill>
                <a:latin typeface="Arial"/>
              </a:rPr>
              <a:t>SANDBOX</a:t>
            </a:r>
          </a:p>
        </p:txBody>
      </p:sp>
      <p:sp>
        <p:nvSpPr>
          <p:cNvPr id="28" name="TextBox 27"/>
          <p:cNvSpPr txBox="1"/>
          <p:nvPr/>
        </p:nvSpPr>
        <p:spPr>
          <a:xfrm>
            <a:off x="5989320" y="5056632"/>
            <a:ext cx="5394960" cy="502920"/>
          </a:xfrm>
          <a:prstGeom prst="rect">
            <a:avLst/>
          </a:prstGeom>
          <a:noFill/>
        </p:spPr>
        <p:txBody>
          <a:bodyPr wrap="square">
            <a:spAutoFit/>
          </a:bodyPr>
          <a:lstStyle/>
          <a:p>
            <a:r>
              <a:rPr sz="1550" b="0" i="0">
                <a:solidFill>
                  <a:srgbClr val="1A1A1A"/>
                </a:solidFill>
                <a:latin typeface="Arial"/>
              </a:rPr>
              <a:t>Nobody is sure yet. Try it before committing.</a:t>
            </a:r>
          </a:p>
        </p:txBody>
      </p:sp>
      <p:sp>
        <p:nvSpPr>
          <p:cNvPr id="29" name="TextBox 2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Four kinds of decision — each written down, each with its reason.</a:t>
            </a:r>
          </a:p>
        </p:txBody>
      </p:sp>
      <p:sp>
        <p:nvSpPr>
          <p:cNvPr id="30" name="TextBox 2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Phase 3, Adapt — fit PAERA and decide build, buy or share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Reuse before build is where the country-level saving is actually chosen</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Notice the pattern in those calls. The default is reuse and share; build is the exception that has to justify itself. Every share — identity, data exchange — is a capability Progressa pays for once instead of in every programme.</a:t>
            </a:r>
          </a:p>
          <a:p>
            <a:pPr>
              <a:spcAft>
                <a:spcPts val="1200"/>
              </a:spcAft>
            </a:pPr>
            <a:r>
              <a:rPr sz="2000" b="0" i="0">
                <a:solidFill>
                  <a:srgbClr val="1A1A1A"/>
                </a:solidFill>
                <a:latin typeface="Arial"/>
              </a:rPr>
              <a:t>Reuse before buy, buy before build, applied building block by building block, is how Adapt turns a principle into real sourcing decisions.</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A procurement rule cannot make these calls. An architect looking across the sector can.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Phase 3, Adapt — fit PAERA and decide build, buy or share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Sign-off three commits the shape of everything that follows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On Progressa the Board signs the localised principle set and the build-buy-share-sandbox matrix. This is a consequential gate.</a:t>
            </a:r>
          </a:p>
          <a:p>
            <a:pPr>
              <a:spcAft>
                <a:spcPts val="1200"/>
              </a:spcAft>
            </a:pPr>
            <a:r>
              <a:rPr sz="2000" b="0" i="0">
                <a:solidFill>
                  <a:srgbClr val="1A1A1A"/>
                </a:solidFill>
                <a:latin typeface="Arial"/>
              </a:rPr>
              <a:t>Approve it, and the roadmap has a clear set of decisions to sequence.</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Skip it and every project re-litigates build-versus-reuse on its own.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Phase 3, Adapt — fit PAERA and decide build, buy or share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Adapt fits PAERA to Progressa — localised principles and a deliberate build, buy, share or sandbox call for every building block — with reuse as the default that build must justify against.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Phase 3, Adapt — fit PAERA and decide build, buy or share</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§5.6 (Sourcing Strategy)</a:t>
            </a:r>
          </a:p>
          <a:p>
            <a:pPr>
              <a:spcAft>
                <a:spcPts val="1200"/>
              </a:spcAft>
            </a:pPr>
            <a:r>
              <a:rPr sz="1700" b="0" i="0">
                <a:solidFill>
                  <a:srgbClr val="1A1A1A"/>
                </a:solidFill>
                <a:latin typeface="Arial"/>
              </a:rPr>
              <a:t>•  PAERA v1.0 — §5.2 (Principles)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Phase 3, Adapt — fit PAERA and decide build, buy or share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