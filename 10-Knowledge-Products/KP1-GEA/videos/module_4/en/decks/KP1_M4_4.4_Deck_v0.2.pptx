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20" r:id="rId42"/>
    <p:sldId id="2721" r:id="rId43"/>
    <p:sldId id="2722" r:id="rId44"/>
    <p:sldId id="2723" r:id="rId45"/>
    <p:sldId id="2724" r:id="rId17"/>
    <p:sldId id="2725" r:id="rId16"/>
    <p:sldId id="2726" r:id="rId15"/>
    <p:sldId id="272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4" Type="http://schemas.openxmlformats.org/officeDocument/2006/relationships/slide" Target="slides/slide34.xml"/><Relationship Id="rId15" Type="http://schemas.openxmlformats.org/officeDocument/2006/relationships/slide" Target="slides/slide33.xml"/><Relationship Id="rId16" Type="http://schemas.openxmlformats.org/officeDocument/2006/relationships/slide" Target="slides/slide32.xml"/><Relationship Id="rId17" Type="http://schemas.openxmlformats.org/officeDocument/2006/relationships/slide" Target="slides/slide31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Phase three is Adapt. PAERA is a starting point, not a constraint, so now the architects shape it to Progressa — its own principles, its sector priorities, and a sourcing decision for each building block. About four to six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First, localise the principles. Progressa adopts PAERA's principles as its baseline and points each at its own laws — once-only against the data-protection act, reuse-before-build against the procurement rules. It adds one principle its context needs, about offline access for rural schools, and gives every principle a written implication so the Board can use it to settle an argument. Progressa does not draft principles from scratch. It inherits the thinking and localises the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Then the heart of Adapt: for each building block, a deliberate sourcing call. Progressa's Learner Registry — build it properly, because it is the authoritative core nobody else can own. Identity — do not build; share the national Identity Authority's platform. Exam management — buy a mature market product, it is a solved problem. Data exchange — share the Digital Government Authority's backbone. A new analytics capability nobody is sure about — sandbox it first, before committing. Four kinds of decision, made on purpose, written down with a reason each.</a:t>
            </a:r>
          </a:p>
          <a:p/>
          <a:p>
            <a:r>
              <a:t>On screen: no vendor or product names anywhere on this slide — the call is about the kind of sourcing, not the supplier.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Notice the pattern in those calls. The default is reuse and share; build is the exception that must justify itself. This is the phase where the whole-of-government saving is actually chosen — a procurement rule could not make these calls, only an architect looking across the whole sector.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Adapt ends with the third sign-off: the localised framework and the sourcing approach are approved. On Progressa, the Board signs the principle set and the build-buy-share-sandbox matrix. This is a consequential gate — it commits the shape of everything that follows. Approve it, and the roadmap has a clear set of decisions to sequence. Skip the deliberation, and every project re-litigates build-versus-reuse on its own, which is exactly the fragmentation the EA exists to prevent.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That is Phase 3 on Progressa. Localise the principles. Make a deliberate sourcing call for each building block, with reuse as the default. Sign off the framework and the matrix. Four to six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4 · VIDEO 4.4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Phase 3, Adapt — fit PAERA and decide build, buy or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Adapt fits PAERA to Progressa — localising principles, setting sector priorities, and deciding for each building block whether to build, buy, share or sandbox — signed off as the framework and sourcing approach.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Phase 3 — Adapt. PAERA is a starting point, not a constraint.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The architects shape it to Progressa — its own principles, its sector priorities,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and a sourcing decision for each building block.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About four to six weeks.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4.4 · Phase 3, Adapt — fit PAERA and decide build, buy or 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Progressa does not draft principles from scratch — it inherits and localises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Progressa adopts PAERA's principles as its baseline and points each at its own laws — once-only against the data-protection act, reuse-before-build against the procurement rules.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It adds one principle its own context needs, about offline access for rural schools.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434840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626864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Every principle gets a written implication the Board can rule with.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4.4 · Phase 3, Adapt — fit PAERA and decide build, buy or share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Four kinds of decision, made on purpose, one building block at a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36192"/>
            <a:ext cx="10881360" cy="749808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8249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Learner Registry (PLR)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24528" y="1719072"/>
            <a:ext cx="1508760" cy="384048"/>
          </a:xfrm>
          <a:prstGeom prst="roundRect">
            <a:avLst>
              <a:gd name="adj" fmla="val 35000"/>
            </a:avLst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24528" y="175564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69163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 i="0">
                <a:solidFill>
                  <a:srgbClr val="1A1A1A"/>
                </a:solidFill>
                <a:latin typeface="Arial"/>
              </a:rPr>
              <a:t>The authoritative core. Nobody else can own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77440"/>
            <a:ext cx="10881360" cy="749808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237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2560320"/>
            <a:ext cx="1508760" cy="384048"/>
          </a:xfrm>
          <a:prstGeom prst="roundRect">
            <a:avLst>
              <a:gd name="adj" fmla="val 35000"/>
            </a:avLst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2596896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5328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 i="0">
                <a:solidFill>
                  <a:srgbClr val="1A1A1A"/>
                </a:solidFill>
                <a:latin typeface="Arial"/>
              </a:rPr>
              <a:t>Consume PNIA’s platform. Do not mint a second identity.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18688"/>
            <a:ext cx="10881360" cy="749808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649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Exam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3401568"/>
            <a:ext cx="1508760" cy="384048"/>
          </a:xfrm>
          <a:prstGeom prst="roundRect">
            <a:avLst>
              <a:gd name="adj" fmla="val 35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343814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BUY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37413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 i="0">
                <a:solidFill>
                  <a:srgbClr val="1A1A1A"/>
                </a:solidFill>
                <a:latin typeface="Arial"/>
              </a:rPr>
              <a:t>A solved problem with a mature market product.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059936"/>
            <a:ext cx="10881360" cy="749808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Data exchange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4528" y="4242816"/>
            <a:ext cx="1508760" cy="384048"/>
          </a:xfrm>
          <a:prstGeom prst="roundRect">
            <a:avLst>
              <a:gd name="adj" fmla="val 35000"/>
            </a:avLst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4528" y="4279392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2153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 i="0">
                <a:solidFill>
                  <a:srgbClr val="1A1A1A"/>
                </a:solidFill>
                <a:latin typeface="Arial"/>
              </a:rPr>
              <a:t>PDGA’s backbone — paid for once, for the whole government.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901184"/>
            <a:ext cx="10881360" cy="749808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047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New analytics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5084064"/>
            <a:ext cx="1508760" cy="384048"/>
          </a:xfrm>
          <a:prstGeom prst="roundRect">
            <a:avLst>
              <a:gd name="adj" fmla="val 35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24528" y="5120640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SANDBOX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505663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 i="0">
                <a:solidFill>
                  <a:srgbClr val="1A1A1A"/>
                </a:solidFill>
                <a:latin typeface="Arial"/>
              </a:rPr>
              <a:t>Nobody is sure yet. Try it before committing.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870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Four kinds of decision — each written down, each with its reason.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4.4 · Phase 3, Adapt — fit PAERA and decide build, buy or share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Reuse before build is where the country-level saving is actually chosen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The default is reuse and share; build is the exception that must justify itself. Every share — identity, data exchange — is paid for once instead of in every programme.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291840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483864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A procurement rule cannot make these calls. An architect looking across the sector can.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4.4 · Phase 3, Adapt — fit PAERA and decide build, buy or share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Sign-off three commits the shape of everything that follows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On Progressa the Board signs the localised principle set and the build-buy-share-sandbox matrix. This is a consequential gate.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Approve it, and the roadmap has a clear set of decisions to sequence.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434840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626864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Skip it and every project re-litigates build-versus-reuse on its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4.4 · Phase 3, Adapt — fit PAERA and decide build, buy or share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Adapt fits PAERA to Progressa — localised principles and a deliberate build, buy, share or sandbox call for every building block — with reuse as the default that build must justify against.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Build your sourcing matrix.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 build/buy/share/sandbox matrix with flags.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4.4 · Phase 3, Adapt — fit PAERA and decide build, buy or 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§5.6 (Sourcing Strategy)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§5.2 (Principles)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4.4 · Phase 3, Adapt — fit PAERA and decide build, buy or share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