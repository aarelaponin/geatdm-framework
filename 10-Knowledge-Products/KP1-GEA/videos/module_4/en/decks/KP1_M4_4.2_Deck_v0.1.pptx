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3" r:id="rId25"/>
    <p:sldId id="2704" r:id="rId26"/>
    <p:sldId id="2705" r:id="rId27"/>
    <p:sldId id="2706" r:id="rId28"/>
    <p:sldId id="2707" r:id="rId29"/>
    <p:sldId id="2708" r:id="rId30"/>
    <p:sldId id="27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first phase is Discover. One question: what exists today? Not what is wrong with it — that comes later. Just an accurate picture of where the sector is now. On Progressa, Discovery takes about three to four weeks and produces a single deliverable: the Discovery brief.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collects five things on Progressa. The strategies in force — the national digital strategy, the education sector plan. The systems that exist — the school census system, the exam-management system, the social grant system. The registries and who owns them — the learner lists, the identity register. The stakeholders — the ministry, the authorities, the donors funding each piece. And the legal framework — the data-protection act, the mandates of each body. You gather, you do not judge.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hardest discipline in Discovery is to describe without recommending. When your architects find that the Examination Authority keeps its own learner list, the urge is to write 'this should be fixed'. Resist it. Discovery records that the list exists, who owns it, how many learners it holds. The judgement — is this a problem, how severe, what priority — belongs to the next phase. Mixing them biases the assessment before you have the full picture. Discover first. Judge second.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Discovery brief lays it out plainly. Five institutions, classified. The systems each runs. The registries — and here the brief simply records the fact that three separate learner lists exist, in the census, the Examination Authority, and the grant programme. The data flows — mostly paper and manual re-entry between systems. The legal constraints — what each body is mandated to hold. No recommendations. Just the picture, accurate enough to build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ends with the first of the lifecycle's four sign-offs. The senior decision-maker — on Progressa, the digitalisation officer chairing the EA Board — confirms one thing: the picture is accurate enough to build on. Not complete, not perfect — accurate. This gate is cheap and fast, and skipping it is expensive: an assessment built on a wrong picture produces wrong priorities. Get the picture signed off as true, and the next phase stands on solid ground.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1 on Progressa. One question — what exists today. One deliverable — the Discovery brief. One discipline — describe, do not recommend. One sign-off — the picture is accurate. Three to four weeks, and the architecture work has a true foundation.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4.2.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4.2 — Phase 1, Discover — map what the sector has today</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4.2</a:t>
            </a:r>
          </a:p>
          <a:p>
            <a:r>
              <a:rPr sz="1200" b="0" i="1">
                <a:solidFill>
                  <a:srgbClr val="595959"/>
                </a:solidFill>
                <a:latin typeface="Arial"/>
              </a:rPr>
              <a:t>Discovery produces one deliverable — an honest picture of what the sector has today, with no recommendations yet — signed off as accurate before any analysis begins. Watch it done on Progressa.</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1, Discover — map what the sector has today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Discovery produces one deliverable — an honest picture of what the sector has today, with no recommendations yet — signed off as accurate before any analysis begins. Watch it done on Progressa.</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Discovery collects five things — and judges none of them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Strategies in force</a:t>
            </a:r>
          </a:p>
          <a:p>
            <a:pPr>
              <a:spcAft>
                <a:spcPts val="300"/>
              </a:spcAft>
            </a:pPr>
            <a:r>
              <a:rPr sz="1550" b="0" i="0">
                <a:solidFill>
                  <a:srgbClr val="595959"/>
                </a:solidFill>
                <a:latin typeface="Arial"/>
              </a:rPr>
              <a:t>The national digital strategy; the education sector plan.</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Systems that exist</a:t>
            </a:r>
          </a:p>
          <a:p>
            <a:pPr>
              <a:spcAft>
                <a:spcPts val="300"/>
              </a:spcAft>
            </a:pPr>
            <a:r>
              <a:rPr sz="1550" b="0" i="0">
                <a:solidFill>
                  <a:srgbClr val="595959"/>
                </a:solidFill>
                <a:latin typeface="Arial"/>
              </a:rPr>
              <a:t>School census, exam management, the social grant system.</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Registries and who owns them</a:t>
            </a:r>
          </a:p>
          <a:p>
            <a:pPr>
              <a:spcAft>
                <a:spcPts val="300"/>
              </a:spcAft>
            </a:pPr>
            <a:r>
              <a:rPr sz="1550" b="0" i="0">
                <a:solidFill>
                  <a:srgbClr val="595959"/>
                </a:solidFill>
                <a:latin typeface="Arial"/>
              </a:rPr>
              <a:t>The learner lists; the identity register.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Stakeholders</a:t>
            </a:r>
          </a:p>
          <a:p>
            <a:pPr>
              <a:spcAft>
                <a:spcPts val="300"/>
              </a:spcAft>
            </a:pPr>
            <a:r>
              <a:rPr sz="1550" b="0" i="0">
                <a:solidFill>
                  <a:srgbClr val="595959"/>
                </a:solidFill>
                <a:latin typeface="Arial"/>
              </a:rPr>
              <a:t>The ministry, the authorities, the donors funding each piece.</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The legal framework</a:t>
            </a:r>
          </a:p>
          <a:p>
            <a:pPr>
              <a:spcAft>
                <a:spcPts val="300"/>
              </a:spcAft>
            </a:pPr>
            <a:r>
              <a:rPr sz="1550" b="0" i="0">
                <a:solidFill>
                  <a:srgbClr val="595959"/>
                </a:solidFill>
                <a:latin typeface="Arial"/>
              </a:rPr>
              <a:t>The data-protection act; the mandate of each body.</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gather. You do not judge.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Describe without recommending — the judgement belongs to the next phase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When your architects find that the Examination Authority keeps its own learner list, the urge is to write "this should be fixed". Resist it.</a:t>
            </a:r>
          </a:p>
          <a:p>
            <a:pPr>
              <a:spcAft>
                <a:spcPts val="1200"/>
              </a:spcAft>
            </a:pPr>
            <a:r>
              <a:rPr sz="2000" b="0" i="0">
                <a:solidFill>
                  <a:srgbClr val="1A1A1A"/>
                </a:solidFill>
                <a:latin typeface="Arial"/>
              </a:rPr>
              <a:t>Discovery records that the list exists, who owns it, how many learners it holds. Whether it is a problem, how severe, what priority — that belongs to Assess. Mixing them biases the assessment before you have the full picture.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Discover first. Judge second.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brief records three learner lists as a fact, not yet as a problem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Progressa's Discovery brief lays it out plainly. Five institutions, classified. The systems each runs. The registries — and here the brief simply records that three separate learner lists exist, in the census, the Examination Authority, and the grant programme.</a:t>
            </a:r>
          </a:p>
          <a:p>
            <a:pPr>
              <a:spcAft>
                <a:spcPts val="1200"/>
              </a:spcAft>
            </a:pPr>
            <a:r>
              <a:rPr sz="2000" b="0" i="0">
                <a:solidFill>
                  <a:srgbClr val="1A1A1A"/>
                </a:solidFill>
                <a:latin typeface="Arial"/>
              </a:rPr>
              <a:t>The data flows — mostly paper and manual re-entry between systems. The legal constraints — what each body is mandated to hold.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 recommendations. Just the picture, accurate enough to build 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one: accurate. Not complete, not perfect — accurate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Discovery ends with the first of the lifecycle's four sign-offs. On Progressa, the digitalisation officer chairing the EA Board confirms one thing: the picture is accurate enough to build on.</a:t>
            </a:r>
          </a:p>
          <a:p>
            <a:pPr>
              <a:spcAft>
                <a:spcPts val="1200"/>
              </a:spcAft>
            </a:pPr>
            <a:r>
              <a:rPr sz="2000" b="0" i="0">
                <a:solidFill>
                  <a:srgbClr val="1A1A1A"/>
                </a:solidFill>
                <a:latin typeface="Arial"/>
              </a:rPr>
              <a:t>This gate is cheap and fast, and skipping it is expensive.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built on a wrong picture produces wrong priorities.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Discover produces one honest picture of what the sector has today — described, not judged — signed off as accurate before any analysis begins.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