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To see the method work, you need a realistic place to run it. Progressa is a demonstration country with an education sector like many across the continent — real institutions, a real fragmentation problem, and a minister who wants results. Everything in this module runs the five-phase lifecycle on Progressa, so you can watch each phase produce its deliverable, then run the same steps on your own sector.</a:t>
            </a:r>
          </a:p>
          <a:p/>
          <a:p>
            <a:r>
              <a:t>On screen: Progressa is a fictional demonstration country. All institutions are fictional and appear as plain-text labels — no emblems, no logos.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education sector has five bodies that matter. The Ministry of Education, Youth and Sport sets policy and funds schools. The National Examination Authority runs examinations and certifies results. The Learner Registry is meant to be the one list of who is a learner. The National Identity Authority owns the person identity every sector reuses. And the Digital Government Authority runs the shared data-exchange backbone and payments. Five bodies — a policy unit, a service authority, two registries, and a shared-platform provider.</a:t>
            </a:r>
          </a:p>
          <a:p/>
          <a:p>
            <a:r>
              <a:t>Production cue: this is the cast for the whole module. Hold it a beat longer than a normal list slide — every later video refers back to these five.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problem the minister feels. A learner is registered three times — once in the school census, once by the Examination Authority for exams, once by a social grant programme. None of the three lists agree. A parent proves the child's identity on paper at every counter, because no system trusts another's. The minister has promised a single learner record that follows the child from primary school to university — and it cannot be delivered, because the systems do not fit together. This is not a Progressa problem. It is the problem most education sectors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is fictional, on purpose. It lets us show every step in detail without exposing any real country, and the shapes it has — duplicate registries, paper re-entry, a stalled flagship — are the shapes you will recognise in your own sector. As we run the lifecycle, do one thing: keep your own sector in mind, and at each step ask what the equivalent would be for you. The institutions change. The method does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Running the method on Progressa produces six things across the five phases. A picture of what exists today. An honest assessment of the gaps, ranked. A framework fitted to Progressa, with each building block marked build, buy or share. A target architecture — the designed future state the gaps are closed toward. A sequenced roadmap the minister can take to cabinet. And a living, governed architecture that keeps re-use happening after the consultants leave. Each one is built on a real sector, in detail, where you can see exactly how it is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this is Progressa. A realistic education sector, five institutions, and the fragmentation problem most countries live with. It is the canvas. Now the method runs on it, one phase at a time, and you watch the architecture take shape — so you can do the same where you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4.1.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4.1 — Meet Progressa — a real sector with a real fragmentation problem</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4.1</a:t>
            </a:r>
          </a:p>
          <a:p>
            <a:r>
              <a:rPr sz="1200" b="0" i="1">
                <a:solidFill>
                  <a:srgbClr val="595959"/>
                </a:solidFill>
                <a:latin typeface="Arial"/>
              </a:rPr>
              <a:t>Progressa is a demonstration education sector with the fragmentation problem most countries share — the same learner registered in several places, identity proven on paper. Meet its institutions and its problem, because the rest of this module runs the full method on exactly this canvas.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Meet Progressa — a real sector with a real fragmentation problem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Progressa is a demonstration education sector with the fragmentation problem most countries share — the same learner registered in several places, identity proven on paper. Meet its institutions and its problem, because the rest of this module runs the full method on exactly this canvas.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bodies: a policy unit, a service authority, two registries, a platform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Ministry of Education, Youth and Sport (MoEYS)</a:t>
            </a:r>
          </a:p>
          <a:p>
            <a:pPr>
              <a:spcAft>
                <a:spcPts val="300"/>
              </a:spcAft>
            </a:pPr>
            <a:r>
              <a:rPr sz="1550" b="0" i="0">
                <a:solidFill>
                  <a:srgbClr val="595959"/>
                </a:solidFill>
                <a:latin typeface="Arial"/>
              </a:rPr>
              <a:t>Sets policy and funds schools. The policy unit.</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Examination Authority (PNEA)</a:t>
            </a:r>
          </a:p>
          <a:p>
            <a:pPr>
              <a:spcAft>
                <a:spcPts val="300"/>
              </a:spcAft>
            </a:pPr>
            <a:r>
              <a:rPr sz="1550" b="0" i="0">
                <a:solidFill>
                  <a:srgbClr val="595959"/>
                </a:solidFill>
                <a:latin typeface="Arial"/>
              </a:rPr>
              <a:t>Runs examinations and certifies results. The service authority.</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Learner Registry (PLR)</a:t>
            </a:r>
          </a:p>
          <a:p>
            <a:pPr>
              <a:spcAft>
                <a:spcPts val="300"/>
              </a:spcAft>
            </a:pPr>
            <a:r>
              <a:rPr sz="1550" b="0" i="0">
                <a:solidFill>
                  <a:srgbClr val="595959"/>
                </a:solidFill>
                <a:latin typeface="Arial"/>
              </a:rPr>
              <a:t>Meant to be the one list of who is a learner.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National Identity Authority (PNIA)</a:t>
            </a:r>
          </a:p>
          <a:p>
            <a:pPr>
              <a:spcAft>
                <a:spcPts val="300"/>
              </a:spcAft>
            </a:pPr>
            <a:r>
              <a:rPr sz="1550" b="0" i="0">
                <a:solidFill>
                  <a:srgbClr val="595959"/>
                </a:solidFill>
                <a:latin typeface="Arial"/>
              </a:rPr>
              <a:t>Owns the person identity every sector reuses.</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Digital Government Authority (PDGA)</a:t>
            </a:r>
          </a:p>
          <a:p>
            <a:pPr>
              <a:spcAft>
                <a:spcPts val="300"/>
              </a:spcAft>
            </a:pPr>
            <a:r>
              <a:rPr sz="1550" b="0" i="0">
                <a:solidFill>
                  <a:srgbClr val="595959"/>
                </a:solidFill>
                <a:latin typeface="Arial"/>
              </a:rPr>
              <a:t>Runs the shared data-exchange backbone and payments.</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registries — and neither is the undisputed owner of the learner.</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learner, three registrations, and the three lists do not agree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learner is registered three times — once in the school census, once by the Examination Authority for exams, once by a social grant programme. None of the three lists agree.</a:t>
            </a:r>
          </a:p>
          <a:p>
            <a:pPr>
              <a:spcAft>
                <a:spcPts val="1200"/>
              </a:spcAft>
            </a:pPr>
            <a:r>
              <a:rPr sz="2000" b="0" i="0">
                <a:solidFill>
                  <a:srgbClr val="1A1A1A"/>
                </a:solidFill>
                <a:latin typeface="Arial"/>
              </a:rPr>
              <a:t>A parent proves the child's identity on paper at every counter, because no system trusts another's. The minister has promised a single learner record that follows the child from primary school to university — and it cannot be delivered, because the systems do not fit together.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Progressa problem. Most education sectors share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Fictional on purpose — so every step can be shown in full detail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fictional canvas lets us show every step in detail without exposing any real country, and the shapes Progressa has — duplicate registries, paper re-entry, a stalled flagship — are the shapes you will recognise in your own sector.</a:t>
            </a:r>
          </a:p>
          <a:p>
            <a:pPr>
              <a:spcAft>
                <a:spcPts val="1200"/>
              </a:spcAft>
            </a:pPr>
            <a:r>
              <a:rPr sz="2000" b="0" i="0">
                <a:solidFill>
                  <a:srgbClr val="1A1A1A"/>
                </a:solidFill>
                <a:latin typeface="Arial"/>
              </a:rPr>
              <a:t>So do one thing as the lifecycle runs: keep your own sector in mind, and at each step ask what the equivalent would be for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institutions change. The method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six deliverables — this is what you will watch being built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A picture of what exists today</a:t>
            </a:r>
          </a:p>
          <a:p>
            <a:pPr>
              <a:spcAft>
                <a:spcPts val="300"/>
              </a:spcAft>
            </a:pPr>
            <a:r>
              <a:rPr sz="1550" b="0" i="0">
                <a:solidFill>
                  <a:srgbClr val="595959"/>
                </a:solidFill>
                <a:latin typeface="Arial"/>
              </a:rPr>
              <a:t>Discover — the Discovery brief.</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 ranked gap analysis</a:t>
            </a:r>
          </a:p>
          <a:p>
            <a:pPr>
              <a:spcAft>
                <a:spcPts val="300"/>
              </a:spcAft>
            </a:pPr>
            <a:r>
              <a:rPr sz="1550" b="0" i="0">
                <a:solidFill>
                  <a:srgbClr val="595959"/>
                </a:solidFill>
                <a:latin typeface="Arial"/>
              </a:rPr>
              <a:t>Assess — the right problems in the right order.</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 localised framework and a sourcing matrix</a:t>
            </a:r>
          </a:p>
          <a:p>
            <a:pPr>
              <a:spcAft>
                <a:spcPts val="300"/>
              </a:spcAft>
            </a:pPr>
            <a:r>
              <a:rPr sz="1550" b="0" i="0">
                <a:solidFill>
                  <a:srgbClr val="595959"/>
                </a:solidFill>
                <a:latin typeface="Arial"/>
              </a:rPr>
              <a:t>Adapt — build, buy, share or sandbox, block by block.</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A target architecture</a:t>
            </a:r>
          </a:p>
          <a:p>
            <a:pPr>
              <a:spcAft>
                <a:spcPts val="300"/>
              </a:spcAft>
            </a:pPr>
            <a:r>
              <a:rPr sz="1550" b="0" i="0">
                <a:solidFill>
                  <a:srgbClr val="595959"/>
                </a:solidFill>
                <a:latin typeface="Arial"/>
              </a:rPr>
              <a:t>Plan — the designed future state.</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A sequenced, costed roadmap</a:t>
            </a:r>
          </a:p>
          <a:p>
            <a:pPr>
              <a:spcAft>
                <a:spcPts val="300"/>
              </a:spcAft>
            </a:pPr>
            <a:r>
              <a:rPr sz="1550" b="0" i="0">
                <a:solidFill>
                  <a:srgbClr val="595959"/>
                </a:solidFill>
                <a:latin typeface="Arial"/>
              </a:rPr>
              <a:t>Plan — the document the minister takes to cabinet.</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A living, governed architecture</a:t>
            </a:r>
          </a:p>
          <a:p>
            <a:pPr>
              <a:spcAft>
                <a:spcPts val="300"/>
              </a:spcAft>
            </a:pPr>
            <a:r>
              <a:rPr sz="1550" b="0" i="0">
                <a:solidFill>
                  <a:srgbClr val="595959"/>
                </a:solidFill>
                <a:latin typeface="Arial"/>
              </a:rPr>
              <a:t>Execute &amp; Govern — the practice that keeps re-use happening.</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Six deliverables across five phases — Plan produces two of them.</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Progressa is a realistic education sector with the fragmentation problem most countries share — the canvas for running the whole method, step by step, so you can reproduce it on your 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Meet Progressa — a real sector with a real fragmentation problem</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