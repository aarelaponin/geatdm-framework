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 id="270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To see the method work, you need a realistic place to run it. Progressa is a demonstration country with an education sector like many across the continent — real institutions, a real fragmentation problem, and a minister who wants results.</a:t>
            </a:r>
          </a:p>
          <a:p/>
          <a:p>
            <a:r>
              <a:t>On screen: Progressa is a fictional demonstration country. All institutions are fictional and appear as plain-text labels — no emblems, no logos.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Progressa's education sector has five bodies that matter. The Ministry of Education, Youth and Sport sets policy and funds schools. The National Examination Authority runs examinations and certifies results. The Learner Registry is meant to be the one list of who is a learner. The National Identity Authority owns the person identity every sector reuses. And the Digital Government Authority runs the shared data-exchange backbone and payments. Five bodies — a policy unit, a service authority, two registries, and a shared-platform provider.</a:t>
            </a:r>
          </a:p>
          <a:p/>
          <a:p>
            <a:r>
              <a:t>Production cue: this is the cast for the whole module. Hold it a beat longer than a normal list slide — every later video refers back to these five.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problem the minister feels. A learner is registered three times — once in the school census, once by the Examination Authority for exams, once by a social grant programme. None of the three lists agree. A parent proves the child's identity on paper at every counter, because no system trusts another's. The minister has promised a single learner record that follows the child from primary school to university — and it cannot be delivered, because the systems do not fit together. This is not a Progressa problem. It is the problem most education sectors share.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Progressa is fictional on purpose: it shows every step without exposing any real country, and its shapes — duplicate registries, paper re-entry, a stalled flagship — are the ones you will recognise. At each step, ask what the equivalent would be in your own sector.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Running the method on Progressa produces six things across the five phases: a picture of what exists today, a ranked gap analysis, a localised framework with build, buy or share calls, a target architecture, a sequenced costed roadmap, and a living, governed architecture — six deliverables, produced in that order.</a:t>
            </a:r>
          </a:p>
          <a:p/>
          <a:p>
            <a:r>
              <a:t>Production cue: the advance organiser for the module — one sentence of narration, so let the six rows sit on screen while it is read.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this is Progressa. A realistic education sector, five institutions, and the fragmentation problem most countries live with — the canvas the whole method runs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Meet Progressa — a real sector with a real fragmentation problem</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Progressa is a demonstration education sector with the fragmentation problem most countries share — the same learner registered in several places, identity proven on paper. Meet its institutions and its problem, because the rest of this module runs the full method on exactly this canvas.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To see the method work, you need a realistic place to run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Progressa — a demonstration country with an education sector like many across the continent.</a:t>
            </a:r>
          </a:p>
          <a:p>
            <a:pPr>
              <a:spcAft>
                <a:spcPts val="800"/>
              </a:spcAft>
            </a:pPr>
            <a:r>
              <a:rPr sz="1700" b="0" i="0">
                <a:solidFill>
                  <a:srgbClr val="595959"/>
                </a:solidFill>
                <a:latin typeface="Arial"/>
              </a:rPr>
              <a:t>Real institutions. A real fragmentation problem. A minister who wants results.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bodies: a policy unit, a service authority, two registries, a platform</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813815"/>
          </a:xfrm>
          <a:prstGeom prst="rect">
            <a:avLst/>
          </a:prstGeom>
          <a:noFill/>
        </p:spPr>
        <p:txBody>
          <a:bodyPr wrap="square">
            <a:spAutoFit/>
          </a:bodyPr>
          <a:lstStyle/>
          <a:p>
            <a:pPr>
              <a:spcAft>
                <a:spcPts val="300"/>
              </a:spcAft>
            </a:pPr>
            <a:r>
              <a:rPr sz="1900" b="1" i="0">
                <a:solidFill>
                  <a:srgbClr val="1A1A1A"/>
                </a:solidFill>
                <a:latin typeface="Arial"/>
              </a:rPr>
              <a:t>Ministry of Education, Youth and Sport (MoEYS)</a:t>
            </a:r>
          </a:p>
          <a:p>
            <a:pPr>
              <a:spcAft>
                <a:spcPts val="300"/>
              </a:spcAft>
            </a:pPr>
            <a:r>
              <a:rPr sz="1550" b="0" i="0">
                <a:solidFill>
                  <a:srgbClr val="595959"/>
                </a:solidFill>
                <a:latin typeface="Arial"/>
              </a:rPr>
              <a:t>Sets policy and funds schools. The policy unit.</a:t>
            </a:r>
          </a:p>
        </p:txBody>
      </p:sp>
      <p:sp>
        <p:nvSpPr>
          <p:cNvPr id="6" name="Rectangle 5"/>
          <p:cNvSpPr/>
          <p:nvPr/>
        </p:nvSpPr>
        <p:spPr>
          <a:xfrm>
            <a:off x="621792" y="2281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36829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322576"/>
            <a:ext cx="10527487" cy="813815"/>
          </a:xfrm>
          <a:prstGeom prst="rect">
            <a:avLst/>
          </a:prstGeom>
          <a:noFill/>
        </p:spPr>
        <p:txBody>
          <a:bodyPr wrap="square">
            <a:spAutoFit/>
          </a:bodyPr>
          <a:lstStyle/>
          <a:p>
            <a:pPr>
              <a:spcAft>
                <a:spcPts val="300"/>
              </a:spcAft>
            </a:pPr>
            <a:r>
              <a:rPr sz="1900" b="1" i="0">
                <a:solidFill>
                  <a:srgbClr val="1A1A1A"/>
                </a:solidFill>
                <a:latin typeface="Arial"/>
              </a:rPr>
              <a:t>National Examination Authority (PNEA)</a:t>
            </a:r>
          </a:p>
          <a:p>
            <a:pPr>
              <a:spcAft>
                <a:spcPts val="300"/>
              </a:spcAft>
            </a:pPr>
            <a:r>
              <a:rPr sz="1550" b="0" i="0">
                <a:solidFill>
                  <a:srgbClr val="595959"/>
                </a:solidFill>
                <a:latin typeface="Arial"/>
              </a:rPr>
              <a:t>Runs examinations and certifies results. The service authority.</a:t>
            </a:r>
          </a:p>
        </p:txBody>
      </p:sp>
      <p:sp>
        <p:nvSpPr>
          <p:cNvPr id="9" name="Rectangle 8"/>
          <p:cNvSpPr/>
          <p:nvPr/>
        </p:nvSpPr>
        <p:spPr>
          <a:xfrm>
            <a:off x="621792" y="314096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22783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182111"/>
            <a:ext cx="10527487" cy="813815"/>
          </a:xfrm>
          <a:prstGeom prst="rect">
            <a:avLst/>
          </a:prstGeom>
          <a:noFill/>
        </p:spPr>
        <p:txBody>
          <a:bodyPr wrap="square">
            <a:spAutoFit/>
          </a:bodyPr>
          <a:lstStyle/>
          <a:p>
            <a:pPr>
              <a:spcAft>
                <a:spcPts val="300"/>
              </a:spcAft>
            </a:pPr>
            <a:r>
              <a:rPr sz="1900" b="1" i="0">
                <a:solidFill>
                  <a:srgbClr val="1A1A1A"/>
                </a:solidFill>
                <a:latin typeface="Arial"/>
              </a:rPr>
              <a:t>Learner Registry (PLR)</a:t>
            </a:r>
          </a:p>
          <a:p>
            <a:pPr>
              <a:spcAft>
                <a:spcPts val="300"/>
              </a:spcAft>
            </a:pPr>
            <a:r>
              <a:rPr sz="1550" b="0" i="0">
                <a:solidFill>
                  <a:srgbClr val="595959"/>
                </a:solidFill>
                <a:latin typeface="Arial"/>
              </a:rPr>
              <a:t>Meant to be the one list of who is a learner.</a:t>
            </a:r>
          </a:p>
        </p:txBody>
      </p:sp>
      <p:sp>
        <p:nvSpPr>
          <p:cNvPr id="12" name="Rectangle 11"/>
          <p:cNvSpPr/>
          <p:nvPr/>
        </p:nvSpPr>
        <p:spPr>
          <a:xfrm>
            <a:off x="621792" y="40005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08736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041648"/>
            <a:ext cx="10527487" cy="813815"/>
          </a:xfrm>
          <a:prstGeom prst="rect">
            <a:avLst/>
          </a:prstGeom>
          <a:noFill/>
        </p:spPr>
        <p:txBody>
          <a:bodyPr wrap="square">
            <a:spAutoFit/>
          </a:bodyPr>
          <a:lstStyle/>
          <a:p>
            <a:pPr>
              <a:spcAft>
                <a:spcPts val="300"/>
              </a:spcAft>
            </a:pPr>
            <a:r>
              <a:rPr sz="1900" b="1" i="0">
                <a:solidFill>
                  <a:srgbClr val="1A1A1A"/>
                </a:solidFill>
                <a:latin typeface="Arial"/>
              </a:rPr>
              <a:t>National Identity Authority (PNIA)</a:t>
            </a:r>
          </a:p>
          <a:p>
            <a:pPr>
              <a:spcAft>
                <a:spcPts val="300"/>
              </a:spcAft>
            </a:pPr>
            <a:r>
              <a:rPr sz="1550" b="0" i="0">
                <a:solidFill>
                  <a:srgbClr val="595959"/>
                </a:solidFill>
                <a:latin typeface="Arial"/>
              </a:rPr>
              <a:t>Owns the person identity every sector reuses.</a:t>
            </a:r>
          </a:p>
        </p:txBody>
      </p:sp>
      <p:sp>
        <p:nvSpPr>
          <p:cNvPr id="15" name="Rectangle 14"/>
          <p:cNvSpPr/>
          <p:nvPr/>
        </p:nvSpPr>
        <p:spPr>
          <a:xfrm>
            <a:off x="621792" y="48600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946903"/>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901183"/>
            <a:ext cx="10527487" cy="813815"/>
          </a:xfrm>
          <a:prstGeom prst="rect">
            <a:avLst/>
          </a:prstGeom>
          <a:noFill/>
        </p:spPr>
        <p:txBody>
          <a:bodyPr wrap="square">
            <a:spAutoFit/>
          </a:bodyPr>
          <a:lstStyle/>
          <a:p>
            <a:pPr>
              <a:spcAft>
                <a:spcPts val="300"/>
              </a:spcAft>
            </a:pPr>
            <a:r>
              <a:rPr sz="1900" b="1" i="0">
                <a:solidFill>
                  <a:srgbClr val="1A1A1A"/>
                </a:solidFill>
                <a:latin typeface="Arial"/>
              </a:rPr>
              <a:t>Digital Government Authority (PDGA)</a:t>
            </a:r>
          </a:p>
          <a:p>
            <a:pPr>
              <a:spcAft>
                <a:spcPts val="300"/>
              </a:spcAft>
            </a:pPr>
            <a:r>
              <a:rPr sz="1550" b="0" i="0">
                <a:solidFill>
                  <a:srgbClr val="595959"/>
                </a:solidFill>
                <a:latin typeface="Arial"/>
              </a:rPr>
              <a:t>Runs the shared data-exchange backbone and payments.</a:t>
            </a:r>
          </a:p>
        </p:txBody>
      </p:sp>
      <p:sp>
        <p:nvSpPr>
          <p:cNvPr id="18" name="TextBox 17"/>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Two registries — and neither is the undisputed owner of the learner.</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learner, three registrations, and the three lists do not agree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 learner is registered three times — once in the school census, once by the Examination Authority for exams, once by a social grant programme. None of the three lists agree.</a:t>
            </a:r>
          </a:p>
          <a:p>
            <a:pPr>
              <a:spcAft>
                <a:spcPts val="1200"/>
              </a:spcAft>
            </a:pPr>
            <a:r>
              <a:rPr sz="2000" b="0" i="0">
                <a:solidFill>
                  <a:srgbClr val="1A1A1A"/>
                </a:solidFill>
                <a:latin typeface="Arial"/>
              </a:rPr>
              <a:t>A parent proves the child's identity on paper at every counter, because no system trusts another's. The minister has promised a single learner record that follows the child from primary school to university — and it cannot be delivered, because the systems do not fit together.</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Not a Progressa problem. Most education sectors share 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Fictional on purpose — so every step can be shown in full detail</a:t>
            </a:r>
          </a:p>
        </p:txBody>
      </p:sp>
      <p:sp>
        <p:nvSpPr>
          <p:cNvPr id="4" name="TextBox 3"/>
          <p:cNvSpPr txBox="1"/>
          <p:nvPr/>
        </p:nvSpPr>
        <p:spPr>
          <a:xfrm>
            <a:off x="658368" y="1600200"/>
            <a:ext cx="10881360" cy="1508760"/>
          </a:xfrm>
          <a:prstGeom prst="rect">
            <a:avLst/>
          </a:prstGeom>
          <a:noFill/>
        </p:spPr>
        <p:txBody>
          <a:bodyPr wrap="square">
            <a:spAutoFit/>
          </a:bodyPr>
          <a:lstStyle/>
          <a:p>
            <a:pPr>
              <a:spcAft>
                <a:spcPts val="1200"/>
              </a:spcAft>
            </a:pPr>
            <a:r>
              <a:rPr sz="2000" b="0" i="0">
                <a:solidFill>
                  <a:srgbClr val="1A1A1A"/>
                </a:solidFill>
                <a:latin typeface="Arial"/>
              </a:rPr>
              <a:t>Progressa shows every step in detail without exposing any real country, and its shapes — duplicate registries, paper re-entry, a stalled flagship — are the ones you will recognise.</a:t>
            </a:r>
          </a:p>
          <a:p>
            <a:pPr>
              <a:spcAft>
                <a:spcPts val="1200"/>
              </a:spcAft>
            </a:pPr>
            <a:r>
              <a:rPr sz="2000" b="0" i="0">
                <a:solidFill>
                  <a:srgbClr val="1A1A1A"/>
                </a:solidFill>
                <a:latin typeface="Arial"/>
              </a:rPr>
              <a:t>Keep your own sector in mind as we go.</a:t>
            </a:r>
          </a:p>
        </p:txBody>
      </p:sp>
      <p:sp>
        <p:nvSpPr>
          <p:cNvPr id="5" name="Rounded Rectangle 4"/>
          <p:cNvSpPr/>
          <p:nvPr/>
        </p:nvSpPr>
        <p:spPr>
          <a:xfrm>
            <a:off x="658368" y="3291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483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institutions change. The method does not.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phases, six deliverables — this is what you will watch being built</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685799"/>
          </a:xfrm>
          <a:prstGeom prst="rect">
            <a:avLst/>
          </a:prstGeom>
          <a:noFill/>
        </p:spPr>
        <p:txBody>
          <a:bodyPr wrap="square">
            <a:spAutoFit/>
          </a:bodyPr>
          <a:lstStyle/>
          <a:p>
            <a:pPr>
              <a:spcAft>
                <a:spcPts val="300"/>
              </a:spcAft>
            </a:pPr>
            <a:r>
              <a:rPr sz="1700" b="1" i="0">
                <a:solidFill>
                  <a:srgbClr val="1A1A1A"/>
                </a:solidFill>
                <a:latin typeface="Arial"/>
              </a:rPr>
              <a:t>A picture of what exists today</a:t>
            </a:r>
          </a:p>
          <a:p>
            <a:pPr>
              <a:spcAft>
                <a:spcPts val="300"/>
              </a:spcAft>
            </a:pPr>
            <a:r>
              <a:rPr sz="1550" b="0" i="0">
                <a:solidFill>
                  <a:srgbClr val="595959"/>
                </a:solidFill>
                <a:latin typeface="Arial"/>
              </a:rPr>
              <a:t>Discover</a:t>
            </a:r>
          </a:p>
        </p:txBody>
      </p:sp>
      <p:sp>
        <p:nvSpPr>
          <p:cNvPr id="6" name="Rectangle 5"/>
          <p:cNvSpPr/>
          <p:nvPr/>
        </p:nvSpPr>
        <p:spPr>
          <a:xfrm>
            <a:off x="621792" y="21076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1945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148840"/>
            <a:ext cx="10527487" cy="685799"/>
          </a:xfrm>
          <a:prstGeom prst="rect">
            <a:avLst/>
          </a:prstGeom>
          <a:noFill/>
        </p:spPr>
        <p:txBody>
          <a:bodyPr wrap="square">
            <a:spAutoFit/>
          </a:bodyPr>
          <a:lstStyle/>
          <a:p>
            <a:pPr>
              <a:spcAft>
                <a:spcPts val="300"/>
              </a:spcAft>
            </a:pPr>
            <a:r>
              <a:rPr sz="1700" b="1" i="0">
                <a:solidFill>
                  <a:srgbClr val="1A1A1A"/>
                </a:solidFill>
                <a:latin typeface="Arial"/>
              </a:rPr>
              <a:t>A ranked gap analysis</a:t>
            </a:r>
          </a:p>
          <a:p>
            <a:pPr>
              <a:spcAft>
                <a:spcPts val="300"/>
              </a:spcAft>
            </a:pPr>
            <a:r>
              <a:rPr sz="1550" b="0" i="0">
                <a:solidFill>
                  <a:srgbClr val="595959"/>
                </a:solidFill>
                <a:latin typeface="Arial"/>
              </a:rPr>
              <a:t>Assess</a:t>
            </a:r>
          </a:p>
        </p:txBody>
      </p:sp>
      <p:sp>
        <p:nvSpPr>
          <p:cNvPr id="9" name="Rectangle 8"/>
          <p:cNvSpPr/>
          <p:nvPr/>
        </p:nvSpPr>
        <p:spPr>
          <a:xfrm>
            <a:off x="621792" y="28392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9260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880360"/>
            <a:ext cx="10527487" cy="685799"/>
          </a:xfrm>
          <a:prstGeom prst="rect">
            <a:avLst/>
          </a:prstGeom>
          <a:noFill/>
        </p:spPr>
        <p:txBody>
          <a:bodyPr wrap="square">
            <a:spAutoFit/>
          </a:bodyPr>
          <a:lstStyle/>
          <a:p>
            <a:pPr>
              <a:spcAft>
                <a:spcPts val="300"/>
              </a:spcAft>
            </a:pPr>
            <a:r>
              <a:rPr sz="1700" b="1" i="0">
                <a:solidFill>
                  <a:srgbClr val="1A1A1A"/>
                </a:solidFill>
                <a:latin typeface="Arial"/>
              </a:rPr>
              <a:t>A localised framework with build, buy or share calls</a:t>
            </a:r>
          </a:p>
          <a:p>
            <a:pPr>
              <a:spcAft>
                <a:spcPts val="300"/>
              </a:spcAft>
            </a:pPr>
            <a:r>
              <a:rPr sz="1550" b="0" i="0">
                <a:solidFill>
                  <a:srgbClr val="595959"/>
                </a:solidFill>
                <a:latin typeface="Arial"/>
              </a:rPr>
              <a:t>Adapt</a:t>
            </a:r>
          </a:p>
        </p:txBody>
      </p:sp>
      <p:sp>
        <p:nvSpPr>
          <p:cNvPr id="12" name="Rectangle 11"/>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6576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611880"/>
            <a:ext cx="10527487" cy="685799"/>
          </a:xfrm>
          <a:prstGeom prst="rect">
            <a:avLst/>
          </a:prstGeom>
          <a:noFill/>
        </p:spPr>
        <p:txBody>
          <a:bodyPr wrap="square">
            <a:spAutoFit/>
          </a:bodyPr>
          <a:lstStyle/>
          <a:p>
            <a:pPr>
              <a:spcAft>
                <a:spcPts val="300"/>
              </a:spcAft>
            </a:pPr>
            <a:r>
              <a:rPr sz="1700" b="1" i="0">
                <a:solidFill>
                  <a:srgbClr val="1A1A1A"/>
                </a:solidFill>
                <a:latin typeface="Arial"/>
              </a:rPr>
              <a:t>A target architecture — the designed future state</a:t>
            </a:r>
          </a:p>
          <a:p>
            <a:pPr>
              <a:spcAft>
                <a:spcPts val="300"/>
              </a:spcAft>
            </a:pPr>
            <a:r>
              <a:rPr sz="1550" b="0" i="0">
                <a:solidFill>
                  <a:srgbClr val="595959"/>
                </a:solidFill>
                <a:latin typeface="Arial"/>
              </a:rPr>
              <a:t>Plan</a:t>
            </a:r>
          </a:p>
        </p:txBody>
      </p:sp>
      <p:sp>
        <p:nvSpPr>
          <p:cNvPr id="15" name="Rectangle 14"/>
          <p:cNvSpPr/>
          <p:nvPr/>
        </p:nvSpPr>
        <p:spPr>
          <a:xfrm>
            <a:off x="621792" y="43022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3891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343400"/>
            <a:ext cx="10527487" cy="685799"/>
          </a:xfrm>
          <a:prstGeom prst="rect">
            <a:avLst/>
          </a:prstGeom>
          <a:noFill/>
        </p:spPr>
        <p:txBody>
          <a:bodyPr wrap="square">
            <a:spAutoFit/>
          </a:bodyPr>
          <a:lstStyle/>
          <a:p>
            <a:pPr>
              <a:spcAft>
                <a:spcPts val="300"/>
              </a:spcAft>
            </a:pPr>
            <a:r>
              <a:rPr sz="1700" b="1" i="0">
                <a:solidFill>
                  <a:srgbClr val="1A1A1A"/>
                </a:solidFill>
                <a:latin typeface="Arial"/>
              </a:rPr>
              <a:t>A sequenced, costed roadmap</a:t>
            </a:r>
          </a:p>
          <a:p>
            <a:pPr>
              <a:spcAft>
                <a:spcPts val="300"/>
              </a:spcAft>
            </a:pPr>
            <a:r>
              <a:rPr sz="1550" b="0" i="0">
                <a:solidFill>
                  <a:srgbClr val="595959"/>
                </a:solidFill>
                <a:latin typeface="Arial"/>
              </a:rPr>
              <a:t>Plan</a:t>
            </a:r>
          </a:p>
        </p:txBody>
      </p:sp>
      <p:sp>
        <p:nvSpPr>
          <p:cNvPr id="18" name="Rectangle 17"/>
          <p:cNvSpPr/>
          <p:nvPr/>
        </p:nvSpPr>
        <p:spPr>
          <a:xfrm>
            <a:off x="621792" y="5033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51206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5074920"/>
            <a:ext cx="10527487" cy="685799"/>
          </a:xfrm>
          <a:prstGeom prst="rect">
            <a:avLst/>
          </a:prstGeom>
          <a:noFill/>
        </p:spPr>
        <p:txBody>
          <a:bodyPr wrap="square">
            <a:spAutoFit/>
          </a:bodyPr>
          <a:lstStyle/>
          <a:p>
            <a:pPr>
              <a:spcAft>
                <a:spcPts val="300"/>
              </a:spcAft>
            </a:pPr>
            <a:r>
              <a:rPr sz="1700" b="1" i="0">
                <a:solidFill>
                  <a:srgbClr val="1A1A1A"/>
                </a:solidFill>
                <a:latin typeface="Arial"/>
              </a:rPr>
              <a:t>A living, governed architecture</a:t>
            </a:r>
          </a:p>
          <a:p>
            <a:pPr>
              <a:spcAft>
                <a:spcPts val="300"/>
              </a:spcAft>
            </a:pPr>
            <a:r>
              <a:rPr sz="1550" b="0" i="0">
                <a:solidFill>
                  <a:srgbClr val="595959"/>
                </a:solidFill>
                <a:latin typeface="Arial"/>
              </a:rPr>
              <a:t>Execute &amp; Govern</a:t>
            </a:r>
          </a:p>
        </p:txBody>
      </p:sp>
      <p:sp>
        <p:nvSpPr>
          <p:cNvPr id="21" name="TextBox 20"/>
          <p:cNvSpPr txBox="1"/>
          <p:nvPr/>
        </p:nvSpPr>
        <p:spPr>
          <a:xfrm>
            <a:off x="658368" y="5916168"/>
            <a:ext cx="10881360" cy="548640"/>
          </a:xfrm>
          <a:prstGeom prst="rect">
            <a:avLst/>
          </a:prstGeom>
          <a:noFill/>
        </p:spPr>
        <p:txBody>
          <a:bodyPr wrap="square">
            <a:spAutoFit/>
          </a:bodyPr>
          <a:lstStyle/>
          <a:p>
            <a:r>
              <a:rPr sz="1550" b="1" i="0">
                <a:solidFill>
                  <a:srgbClr val="006E96"/>
                </a:solidFill>
                <a:latin typeface="Arial"/>
              </a:rPr>
              <a:t>Six deliverables across five phases, produced in that order — Plan produces two.</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Progressa is a realistic education sector with the fragmentation problem most countries share — the canvas for running the whole method, step by step, so you can reproduce it on your own.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your own demonstration canvas.</a:t>
            </a:r>
          </a:p>
          <a:p>
            <a:pPr algn="l">
              <a:spcAft>
                <a:spcPts val="400"/>
              </a:spcAft>
            </a:pPr>
            <a:r>
              <a:rPr sz="1800" b="0" i="0">
                <a:solidFill>
                  <a:srgbClr val="595959"/>
                </a:solidFill>
                <a:latin typeface="Arial"/>
              </a:rPr>
              <a:t>The prompt in the companion material gives you a one-page canvas (bodies, symptoms, stalled flagship).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§2.1 (Problem statement)</a:t>
            </a:r>
          </a:p>
          <a:p>
            <a:pPr>
              <a:spcAft>
                <a:spcPts val="1200"/>
              </a:spcAft>
            </a:pPr>
            <a:r>
              <a:rPr sz="1700" b="0" i="0">
                <a:solidFill>
                  <a:srgbClr val="1A1A1A"/>
                </a:solidFill>
                <a:latin typeface="Arial"/>
              </a:rPr>
              <a:t>•  PAERA v1.0 — §2.3 (Role of Enterprise Architecture)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