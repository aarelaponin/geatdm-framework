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704" r:id="rId26"/>
    <p:sldId id="2705" r:id="rId27"/>
    <p:sldId id="2706" r:id="rId28"/>
    <p:sldId id="2707" r:id="rId29"/>
    <p:sldId id="2708" r:id="rId30"/>
    <p:sldId id="2709" r:id="rId31"/>
    <p:sldId id="2710" r:id="rId32"/>
    <p:sldId id="2711" r:id="rId3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26" Type="http://schemas.openxmlformats.org/officeDocument/2006/relationships/slide" Target="slides/slide11.xml"/><Relationship Id="rId27" Type="http://schemas.openxmlformats.org/officeDocument/2006/relationships/slide" Target="slides/slide12.xml"/><Relationship Id="rId28" Type="http://schemas.openxmlformats.org/officeDocument/2006/relationships/slide" Target="slides/slide13.xml"/><Relationship Id="rId29" Type="http://schemas.openxmlformats.org/officeDocument/2006/relationships/slide" Target="slides/slide14.xml"/><Relationship Id="rId30" Type="http://schemas.openxmlformats.org/officeDocument/2006/relationships/slide" Target="slides/slide15.xml"/><Relationship Id="rId31" Type="http://schemas.openxmlformats.org/officeDocument/2006/relationships/slide" Target="slides/slide16.xml"/><Relationship Id="rId32" Type="http://schemas.openxmlformats.org/officeDocument/2006/relationships/slide" Target="slides/slide17.xml"/><Relationship Id="rId33" Type="http://schemas.openxmlformats.org/officeDocument/2006/relationships/slide" Target="slides/slide18.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 the cold open. The hosts name the module, the video number, the title and the single message on this slide; no scripted narration. Hold until the opener begins; the opener is narrated on the next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first phase is Discover. One question: what exists today? Not what is wrong — that comes later. An accurate picture of where the sector is now. On Progressa, Discovery takes about three to four weeks and produces a single deliverable: the Discovery brief.</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Discovery collects five things on Progressa. The strategies in force — the national digital strategy, the education sector plan. The systems that exist — the school census system, the exam-management system, the social grant system. The registries and who owns them — the learner lists, the identity register. The stakeholders — the ministry, the authorities, the donors funding each piece. And the legal framework — the data-protection act, the mandates of each body. You gather, you do not judge.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hardest discipline in Discovery is to describe without recommending. When your architects find that the Examination Authority keeps its own learner list, the urge is to write 'this should be fixed'. Resist it. Discovery records that the list exists, who owns it, how many learners it holds. The judgement — is this a problem, how severe, what priority — belongs to the next phase. Mixing them biases the assessment before you have the full picture. Discover first. Judge second.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Progressa's Discovery brief lays it out plainly. Five institutions, classified. The systems each runs. The registries — and here the brief simply records the fact that three separate learner lists exist, in the census, the Examination Authority, and the grant programme. The data flows — mostly paper and manual re-entry between systems. The legal constraints — what each body is mandated to hold. No recommendations. Just the picture, accurate enough to build 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Discovery ends with the first of the lifecycle's four sign-offs. The senior decision-maker — on Progressa, the digitalisation officer chairing the EA Board — confirms one thing: the picture is accurate enough to build on. Not complete, not perfect — accurate. This gate is cheap and fast, and skipping it is expensive: an assessment built on a wrong picture produces wrong priorities. Get the picture signed off as true, and the next phase stands on solid ground.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 BOX (on-screen only — never read it, never paraphrase it, never point at it). It replaces the narrated handoff: this video ends on the recap and the Sources slide.</a:t>
            </a:r>
          </a:p>
          <a:p/>
          <a:p>
            <a:r>
              <a:t>VO: That is Phase 1 on Progressa. One question — what exists today. One deliverable — the Discovery brief. One discipline — describe, do not recommend. One sign-off — the picture is accurate.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s>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MODULE 4 · VIDEO 4.2</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4.2</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Phase 1, Discover — map what the sector has today</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Discovery produces one deliverable — an honest picture of what the sector has today, with no recommendations yet — signed off as accurate before any analysis begins. Watch it done on Progressa.</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standalone video · voice-over on text slides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1325880"/>
            <a:ext cx="5486400" cy="365760"/>
          </a:xfrm>
          <a:prstGeom prst="rect">
            <a:avLst/>
          </a:prstGeom>
          <a:noFill/>
        </p:spPr>
        <p:txBody>
          <a:bodyPr wrap="square">
            <a:spAutoFit/>
          </a:bodyPr>
          <a:lstStyle/>
          <a:p>
            <a:r>
              <a:rPr sz="1200" b="1" i="0">
                <a:solidFill>
                  <a:srgbClr val="006E96"/>
                </a:solidFill>
                <a:latin typeface="Arial"/>
              </a:rPr>
              <a:t>WHERE WE START</a:t>
            </a:r>
          </a:p>
        </p:txBody>
      </p:sp>
      <p:sp>
        <p:nvSpPr>
          <p:cNvPr id="3" name="TextBox 2"/>
          <p:cNvSpPr txBox="1"/>
          <p:nvPr/>
        </p:nvSpPr>
        <p:spPr>
          <a:xfrm>
            <a:off x="1005840" y="1783080"/>
            <a:ext cx="10149840" cy="1737360"/>
          </a:xfrm>
          <a:prstGeom prst="rect">
            <a:avLst/>
          </a:prstGeom>
          <a:noFill/>
        </p:spPr>
        <p:txBody>
          <a:bodyPr wrap="square">
            <a:spAutoFit/>
          </a:bodyPr>
          <a:lstStyle/>
          <a:p>
            <a:r>
              <a:rPr sz="3000" b="1" i="0">
                <a:solidFill>
                  <a:srgbClr val="1A1A1A"/>
                </a:solidFill>
                <a:latin typeface="Arial"/>
              </a:rPr>
              <a:t>Phase 1 — Discover. One question: what exists today?</a:t>
            </a:r>
          </a:p>
        </p:txBody>
      </p:sp>
      <p:sp>
        <p:nvSpPr>
          <p:cNvPr id="4" name="TextBox 3"/>
          <p:cNvSpPr txBox="1"/>
          <p:nvPr/>
        </p:nvSpPr>
        <p:spPr>
          <a:xfrm>
            <a:off x="1005840" y="3611880"/>
            <a:ext cx="10149840" cy="2377440"/>
          </a:xfrm>
          <a:prstGeom prst="rect">
            <a:avLst/>
          </a:prstGeom>
          <a:noFill/>
        </p:spPr>
        <p:txBody>
          <a:bodyPr wrap="square">
            <a:spAutoFit/>
          </a:bodyPr>
          <a:lstStyle/>
          <a:p>
            <a:pPr>
              <a:spcAft>
                <a:spcPts val="800"/>
              </a:spcAft>
            </a:pPr>
            <a:r>
              <a:rPr sz="1700" b="0" i="0">
                <a:solidFill>
                  <a:srgbClr val="595959"/>
                </a:solidFill>
                <a:latin typeface="Arial"/>
              </a:rPr>
              <a:t>Not what is wrong — that comes later.</a:t>
            </a:r>
          </a:p>
          <a:p>
            <a:pPr>
              <a:spcAft>
                <a:spcPts val="800"/>
              </a:spcAft>
            </a:pPr>
            <a:r>
              <a:rPr sz="1700" b="0" i="0">
                <a:solidFill>
                  <a:srgbClr val="595959"/>
                </a:solidFill>
                <a:latin typeface="Arial"/>
              </a:rPr>
              <a:t>About three to four weeks on Progressa.</a:t>
            </a:r>
          </a:p>
          <a:p>
            <a:pPr>
              <a:spcAft>
                <a:spcPts val="800"/>
              </a:spcAft>
            </a:pPr>
            <a:r>
              <a:rPr sz="1700" b="0" i="0">
                <a:solidFill>
                  <a:srgbClr val="595959"/>
                </a:solidFill>
                <a:latin typeface="Arial"/>
              </a:rPr>
              <a:t>One deliverable: the Discovery brief.</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Phase 1, Discover — map what the sector has today</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Discovery collects five things — and judges none of them</a:t>
            </a:r>
          </a:p>
        </p:txBody>
      </p:sp>
      <p:sp>
        <p:nvSpPr>
          <p:cNvPr id="4" name="Oval 3"/>
          <p:cNvSpPr/>
          <p:nvPr/>
        </p:nvSpPr>
        <p:spPr>
          <a:xfrm>
            <a:off x="621792" y="1508760"/>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1</a:t>
            </a:r>
          </a:p>
        </p:txBody>
      </p:sp>
      <p:sp>
        <p:nvSpPr>
          <p:cNvPr id="5" name="TextBox 4"/>
          <p:cNvSpPr txBox="1"/>
          <p:nvPr/>
        </p:nvSpPr>
        <p:spPr>
          <a:xfrm>
            <a:off x="1115568" y="1463040"/>
            <a:ext cx="10527487" cy="813815"/>
          </a:xfrm>
          <a:prstGeom prst="rect">
            <a:avLst/>
          </a:prstGeom>
          <a:noFill/>
        </p:spPr>
        <p:txBody>
          <a:bodyPr wrap="square">
            <a:spAutoFit/>
          </a:bodyPr>
          <a:lstStyle/>
          <a:p>
            <a:pPr>
              <a:spcAft>
                <a:spcPts val="300"/>
              </a:spcAft>
            </a:pPr>
            <a:r>
              <a:rPr sz="1900" b="1" i="0">
                <a:solidFill>
                  <a:srgbClr val="1A1A1A"/>
                </a:solidFill>
                <a:latin typeface="Arial"/>
              </a:rPr>
              <a:t>Strategies in force</a:t>
            </a:r>
          </a:p>
          <a:p>
            <a:pPr>
              <a:spcAft>
                <a:spcPts val="300"/>
              </a:spcAft>
            </a:pPr>
            <a:r>
              <a:rPr sz="1550" b="0" i="0">
                <a:solidFill>
                  <a:srgbClr val="595959"/>
                </a:solidFill>
                <a:latin typeface="Arial"/>
              </a:rPr>
              <a:t>The national digital strategy; the education sector plan.</a:t>
            </a:r>
          </a:p>
        </p:txBody>
      </p:sp>
      <p:sp>
        <p:nvSpPr>
          <p:cNvPr id="6" name="Rectangle 5"/>
          <p:cNvSpPr/>
          <p:nvPr/>
        </p:nvSpPr>
        <p:spPr>
          <a:xfrm>
            <a:off x="621792" y="2281428"/>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621792" y="2368296"/>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2</a:t>
            </a:r>
          </a:p>
        </p:txBody>
      </p:sp>
      <p:sp>
        <p:nvSpPr>
          <p:cNvPr id="8" name="TextBox 7"/>
          <p:cNvSpPr txBox="1"/>
          <p:nvPr/>
        </p:nvSpPr>
        <p:spPr>
          <a:xfrm>
            <a:off x="1115568" y="2322576"/>
            <a:ext cx="10527487" cy="813815"/>
          </a:xfrm>
          <a:prstGeom prst="rect">
            <a:avLst/>
          </a:prstGeom>
          <a:noFill/>
        </p:spPr>
        <p:txBody>
          <a:bodyPr wrap="square">
            <a:spAutoFit/>
          </a:bodyPr>
          <a:lstStyle/>
          <a:p>
            <a:pPr>
              <a:spcAft>
                <a:spcPts val="300"/>
              </a:spcAft>
            </a:pPr>
            <a:r>
              <a:rPr sz="1900" b="1" i="0">
                <a:solidFill>
                  <a:srgbClr val="1A1A1A"/>
                </a:solidFill>
                <a:latin typeface="Arial"/>
              </a:rPr>
              <a:t>Systems that exist</a:t>
            </a:r>
          </a:p>
          <a:p>
            <a:pPr>
              <a:spcAft>
                <a:spcPts val="300"/>
              </a:spcAft>
            </a:pPr>
            <a:r>
              <a:rPr sz="1550" b="0" i="0">
                <a:solidFill>
                  <a:srgbClr val="595959"/>
                </a:solidFill>
                <a:latin typeface="Arial"/>
              </a:rPr>
              <a:t>School census, exam management, the social grant system.</a:t>
            </a:r>
          </a:p>
        </p:txBody>
      </p:sp>
      <p:sp>
        <p:nvSpPr>
          <p:cNvPr id="9" name="Rectangle 8"/>
          <p:cNvSpPr/>
          <p:nvPr/>
        </p:nvSpPr>
        <p:spPr>
          <a:xfrm>
            <a:off x="621792" y="3140963"/>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21792" y="3227831"/>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3</a:t>
            </a:r>
          </a:p>
        </p:txBody>
      </p:sp>
      <p:sp>
        <p:nvSpPr>
          <p:cNvPr id="11" name="TextBox 10"/>
          <p:cNvSpPr txBox="1"/>
          <p:nvPr/>
        </p:nvSpPr>
        <p:spPr>
          <a:xfrm>
            <a:off x="1115568" y="3182111"/>
            <a:ext cx="10527487" cy="813815"/>
          </a:xfrm>
          <a:prstGeom prst="rect">
            <a:avLst/>
          </a:prstGeom>
          <a:noFill/>
        </p:spPr>
        <p:txBody>
          <a:bodyPr wrap="square">
            <a:spAutoFit/>
          </a:bodyPr>
          <a:lstStyle/>
          <a:p>
            <a:pPr>
              <a:spcAft>
                <a:spcPts val="300"/>
              </a:spcAft>
            </a:pPr>
            <a:r>
              <a:rPr sz="1900" b="1" i="0">
                <a:solidFill>
                  <a:srgbClr val="1A1A1A"/>
                </a:solidFill>
                <a:latin typeface="Arial"/>
              </a:rPr>
              <a:t>Registries and who owns them</a:t>
            </a:r>
          </a:p>
          <a:p>
            <a:pPr>
              <a:spcAft>
                <a:spcPts val="300"/>
              </a:spcAft>
            </a:pPr>
            <a:r>
              <a:rPr sz="1550" b="0" i="0">
                <a:solidFill>
                  <a:srgbClr val="595959"/>
                </a:solidFill>
                <a:latin typeface="Arial"/>
              </a:rPr>
              <a:t>The learner lists; the identity register.</a:t>
            </a:r>
          </a:p>
        </p:txBody>
      </p:sp>
      <p:sp>
        <p:nvSpPr>
          <p:cNvPr id="12" name="Rectangle 11"/>
          <p:cNvSpPr/>
          <p:nvPr/>
        </p:nvSpPr>
        <p:spPr>
          <a:xfrm>
            <a:off x="621792" y="4000500"/>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621792" y="4087368"/>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4</a:t>
            </a:r>
          </a:p>
        </p:txBody>
      </p:sp>
      <p:sp>
        <p:nvSpPr>
          <p:cNvPr id="14" name="TextBox 13"/>
          <p:cNvSpPr txBox="1"/>
          <p:nvPr/>
        </p:nvSpPr>
        <p:spPr>
          <a:xfrm>
            <a:off x="1115568" y="4041648"/>
            <a:ext cx="10527487" cy="813815"/>
          </a:xfrm>
          <a:prstGeom prst="rect">
            <a:avLst/>
          </a:prstGeom>
          <a:noFill/>
        </p:spPr>
        <p:txBody>
          <a:bodyPr wrap="square">
            <a:spAutoFit/>
          </a:bodyPr>
          <a:lstStyle/>
          <a:p>
            <a:pPr>
              <a:spcAft>
                <a:spcPts val="300"/>
              </a:spcAft>
            </a:pPr>
            <a:r>
              <a:rPr sz="1900" b="1" i="0">
                <a:solidFill>
                  <a:srgbClr val="1A1A1A"/>
                </a:solidFill>
                <a:latin typeface="Arial"/>
              </a:rPr>
              <a:t>Stakeholders</a:t>
            </a:r>
          </a:p>
          <a:p>
            <a:pPr>
              <a:spcAft>
                <a:spcPts val="300"/>
              </a:spcAft>
            </a:pPr>
            <a:r>
              <a:rPr sz="1550" b="0" i="0">
                <a:solidFill>
                  <a:srgbClr val="595959"/>
                </a:solidFill>
                <a:latin typeface="Arial"/>
              </a:rPr>
              <a:t>The ministry, the authorities, the donors funding each piece.</a:t>
            </a:r>
          </a:p>
        </p:txBody>
      </p:sp>
      <p:sp>
        <p:nvSpPr>
          <p:cNvPr id="15" name="Rectangle 14"/>
          <p:cNvSpPr/>
          <p:nvPr/>
        </p:nvSpPr>
        <p:spPr>
          <a:xfrm>
            <a:off x="621792" y="4860036"/>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621792" y="4946903"/>
            <a:ext cx="310896" cy="310896"/>
          </a:xfrm>
          <a:prstGeom prst="ellipse">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300" b="1" i="0">
                <a:solidFill>
                  <a:srgbClr val="FFFFFF"/>
                </a:solidFill>
                <a:latin typeface="Arial"/>
              </a:rPr>
              <a:t>5</a:t>
            </a:r>
          </a:p>
        </p:txBody>
      </p:sp>
      <p:sp>
        <p:nvSpPr>
          <p:cNvPr id="17" name="TextBox 16"/>
          <p:cNvSpPr txBox="1"/>
          <p:nvPr/>
        </p:nvSpPr>
        <p:spPr>
          <a:xfrm>
            <a:off x="1115568" y="4901183"/>
            <a:ext cx="10527487" cy="813815"/>
          </a:xfrm>
          <a:prstGeom prst="rect">
            <a:avLst/>
          </a:prstGeom>
          <a:noFill/>
        </p:spPr>
        <p:txBody>
          <a:bodyPr wrap="square">
            <a:spAutoFit/>
          </a:bodyPr>
          <a:lstStyle/>
          <a:p>
            <a:pPr>
              <a:spcAft>
                <a:spcPts val="300"/>
              </a:spcAft>
            </a:pPr>
            <a:r>
              <a:rPr sz="1900" b="1" i="0">
                <a:solidFill>
                  <a:srgbClr val="1A1A1A"/>
                </a:solidFill>
                <a:latin typeface="Arial"/>
              </a:rPr>
              <a:t>The legal framework</a:t>
            </a:r>
          </a:p>
          <a:p>
            <a:pPr>
              <a:spcAft>
                <a:spcPts val="300"/>
              </a:spcAft>
            </a:pPr>
            <a:r>
              <a:rPr sz="1550" b="0" i="0">
                <a:solidFill>
                  <a:srgbClr val="595959"/>
                </a:solidFill>
                <a:latin typeface="Arial"/>
              </a:rPr>
              <a:t>The data-protection act; the mandate of each body.</a:t>
            </a:r>
          </a:p>
        </p:txBody>
      </p:sp>
      <p:sp>
        <p:nvSpPr>
          <p:cNvPr id="18" name="TextBox 17"/>
          <p:cNvSpPr txBox="1"/>
          <p:nvPr/>
        </p:nvSpPr>
        <p:spPr>
          <a:xfrm>
            <a:off x="658368" y="5870448"/>
            <a:ext cx="10881360" cy="548640"/>
          </a:xfrm>
          <a:prstGeom prst="rect">
            <a:avLst/>
          </a:prstGeom>
          <a:noFill/>
        </p:spPr>
        <p:txBody>
          <a:bodyPr wrap="square">
            <a:spAutoFit/>
          </a:bodyPr>
          <a:lstStyle/>
          <a:p>
            <a:r>
              <a:rPr sz="1550" b="1" i="0">
                <a:solidFill>
                  <a:srgbClr val="006E96"/>
                </a:solidFill>
                <a:latin typeface="Arial"/>
              </a:rPr>
              <a:t>You gather. You do not judge.</a:t>
            </a:r>
          </a:p>
        </p:txBody>
      </p:sp>
      <p:sp>
        <p:nvSpPr>
          <p:cNvPr id="19" name="TextBox 18"/>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Phase 1, Discover — map what the sector has today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Describe without recommending — the judgement belongs to the next phase</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When your architects find that the Examination Authority keeps its own learner list, the urge is to write "this should be fixed". Resist it.</a:t>
            </a:r>
          </a:p>
          <a:p>
            <a:pPr>
              <a:spcAft>
                <a:spcPts val="1200"/>
              </a:spcAft>
            </a:pPr>
            <a:r>
              <a:rPr sz="2000" b="0" i="0">
                <a:solidFill>
                  <a:srgbClr val="1A1A1A"/>
                </a:solidFill>
                <a:latin typeface="Arial"/>
              </a:rPr>
              <a:t>Discovery records that the list exists, who owns it, how many learners it holds. Whether it is a problem, how severe, what priority — that belongs to Assess. Mixing them biases the assessment before you have the full picture.</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Discover first. Judge second.</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Phase 1, Discover — map what the sector has today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The brief records three learner lists as a fact, not yet as a problem</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Progressa's Discovery brief lays it out plainly. Five institutions, classified. The systems each runs. The registries — and here the brief simply records that three separate learner lists exist, in the census, the Examination Authority, and the grant programme.</a:t>
            </a:r>
          </a:p>
          <a:p>
            <a:pPr>
              <a:spcAft>
                <a:spcPts val="1200"/>
              </a:spcAft>
            </a:pPr>
            <a:r>
              <a:rPr sz="2000" b="0" i="0">
                <a:solidFill>
                  <a:srgbClr val="1A1A1A"/>
                </a:solidFill>
                <a:latin typeface="Arial"/>
              </a:rPr>
              <a:t>The data flows — mostly paper and manual re-entry between systems. The legal constraints — what each body is mandated to hold.</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No recommendations. Just the picture, accurate enough to build on.</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Phase 1, Discover — map what the sector has today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Sign-off one: accurate. Not complete, not perfect — accurate</a:t>
            </a:r>
          </a:p>
        </p:txBody>
      </p:sp>
      <p:sp>
        <p:nvSpPr>
          <p:cNvPr id="4" name="TextBox 3"/>
          <p:cNvSpPr txBox="1"/>
          <p:nvPr/>
        </p:nvSpPr>
        <p:spPr>
          <a:xfrm>
            <a:off x="658368" y="1600200"/>
            <a:ext cx="10881360" cy="2651760"/>
          </a:xfrm>
          <a:prstGeom prst="rect">
            <a:avLst/>
          </a:prstGeom>
          <a:noFill/>
        </p:spPr>
        <p:txBody>
          <a:bodyPr wrap="square">
            <a:spAutoFit/>
          </a:bodyPr>
          <a:lstStyle/>
          <a:p>
            <a:pPr>
              <a:spcAft>
                <a:spcPts val="1200"/>
              </a:spcAft>
            </a:pPr>
            <a:r>
              <a:rPr sz="2000" b="0" i="0">
                <a:solidFill>
                  <a:srgbClr val="1A1A1A"/>
                </a:solidFill>
                <a:latin typeface="Arial"/>
              </a:rPr>
              <a:t>Discovery ends with the first of the lifecycle's four sign-offs. On Progressa, the digitalisation officer chairing the EA Board confirms one thing: the picture is accurate enough to build on.</a:t>
            </a:r>
          </a:p>
          <a:p>
            <a:pPr>
              <a:spcAft>
                <a:spcPts val="1200"/>
              </a:spcAft>
            </a:pPr>
            <a:r>
              <a:rPr sz="2000" b="0" i="0">
                <a:solidFill>
                  <a:srgbClr val="1A1A1A"/>
                </a:solidFill>
                <a:latin typeface="Arial"/>
              </a:rPr>
              <a:t>This gate is cheap and fast, and skipping it is expensive.</a:t>
            </a:r>
          </a:p>
        </p:txBody>
      </p:sp>
      <p:sp>
        <p:nvSpPr>
          <p:cNvPr id="5" name="Rounded Rectangle 4"/>
          <p:cNvSpPr/>
          <p:nvPr/>
        </p:nvSpPr>
        <p:spPr>
          <a:xfrm>
            <a:off x="658368" y="4434840"/>
            <a:ext cx="10881360" cy="1325880"/>
          </a:xfrm>
          <a:prstGeom prst="roundRect">
            <a:avLst>
              <a:gd name="adj" fmla="val 4500"/>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59536" y="4626864"/>
            <a:ext cx="10479024" cy="1051560"/>
          </a:xfrm>
          <a:prstGeom prst="rect">
            <a:avLst/>
          </a:prstGeom>
          <a:noFill/>
        </p:spPr>
        <p:txBody>
          <a:bodyPr wrap="square">
            <a:spAutoFit/>
          </a:bodyPr>
          <a:lstStyle/>
          <a:p>
            <a:pPr>
              <a:spcAft>
                <a:spcPts val="700"/>
              </a:spcAft>
            </a:pPr>
            <a:r>
              <a:rPr sz="2300" b="1" i="0">
                <a:solidFill>
                  <a:srgbClr val="006E96"/>
                </a:solidFill>
                <a:latin typeface="Arial"/>
              </a:rPr>
              <a:t>An assessment built on a wrong picture produces wrong priorities.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Phase 1, Discover — map what the sector has today</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Discover produces one honest picture of what the sector has today — described, not judged — signed off as accurate before any analysis begins.</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Rounded Rectangle 3"/>
          <p:cNvSpPr/>
          <p:nvPr/>
        </p:nvSpPr>
        <p:spPr>
          <a:xfrm>
            <a:off x="658368" y="4709160"/>
            <a:ext cx="10881360" cy="1554480"/>
          </a:xfrm>
          <a:prstGeom prst="roundRect">
            <a:avLst>
              <a:gd name="adj" fmla="val 4500"/>
            </a:avLst>
          </a:prstGeom>
          <a:solidFill>
            <a:srgbClr val="FFFFFF"/>
          </a:solidFill>
          <a:ln w="9525">
            <a:solidFill>
              <a:srgbClr val="009C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09728" bIns="109728">
            <a:noAutofit/>
          </a:bodyPr>
          <a:lstStyle/>
          <a:p>
            <a:pPr algn="l">
              <a:spcAft>
                <a:spcPts val="400"/>
              </a:spcAft>
            </a:pPr>
            <a:r>
              <a:rPr sz="1800" b="1" i="0">
                <a:solidFill>
                  <a:srgbClr val="006E96"/>
                </a:solidFill>
                <a:latin typeface="Arial"/>
              </a:rPr>
              <a:t>Do this on your own sector. </a:t>
            </a:r>
            <a:r>
              <a:rPr sz="1800" b="1" i="0">
                <a:solidFill>
                  <a:srgbClr val="1A1A1A"/>
                </a:solidFill>
                <a:latin typeface="Arial"/>
              </a:rPr>
              <a:t>Draft your Discovery brief outline.</a:t>
            </a:r>
          </a:p>
          <a:p>
            <a:pPr algn="l">
              <a:spcAft>
                <a:spcPts val="400"/>
              </a:spcAft>
            </a:pPr>
            <a:r>
              <a:rPr sz="1800" b="0" i="0">
                <a:solidFill>
                  <a:srgbClr val="595959"/>
                </a:solidFill>
                <a:latin typeface="Arial"/>
              </a:rPr>
              <a:t>The prompt in the companion material gives you a Discovery brief outline with capture questions, a source column and the sign-off question. Before the next video.</a:t>
            </a:r>
          </a:p>
        </p:txBody>
      </p:sp>
      <p:sp>
        <p:nvSpPr>
          <p:cNvPr id="5" name="TextBox 4"/>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Phase 1, Discover — map what the sector has today</a:t>
            </a:r>
          </a:p>
        </p:txBody>
      </p:sp>
      <p:sp>
        <p:nvSpPr>
          <p:cNvPr id="6" name="TextBox 5"/>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§3.1.3 (Readiness Assessment)</a:t>
            </a:r>
          </a:p>
          <a:p>
            <a:pPr>
              <a:spcAft>
                <a:spcPts val="1200"/>
              </a:spcAft>
            </a:pPr>
            <a:r>
              <a:rPr sz="1700" b="0" i="0">
                <a:solidFill>
                  <a:srgbClr val="1A1A1A"/>
                </a:solidFill>
                <a:latin typeface="Arial"/>
              </a:rPr>
              <a:t>•  PAERA v1.0 — §5.4 (Organisational Assessment &amp;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4.2 · Phase 1, Discover — map what the sector has today</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