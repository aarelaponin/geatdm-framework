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18" r:id="rId40"/>
    <p:sldId id="2719" r:id="rId41"/>
    <p:sldId id="2720" r:id="rId42"/>
    <p:sldId id="2721" r:id="rId43"/>
    <p:sldId id="2722" r:id="rId44"/>
    <p:sldId id="2723" r:id="rId45"/>
    <p:sldId id="272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7" Type="http://schemas.openxmlformats.org/officeDocument/2006/relationships/slide" Target="slides/slide31.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2.4. Content slides are identical to the corresponding section of the combined deck KP1_M2_Deck_v0.1.pptx;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Before you model a government body, you should know what kind of body it is. Because the kind tells you, in advance, roughly what to expect — what it does, what data it owns, how it is governed. PAERA publishes a taxonomy that sorts public bodies into a few types. Learn it, and you walk into the first interview already knowing what questions to ask.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main types cover most of government. A policy unit — usually a ministry's core — sets policy and owns the rules. It does not run services at scale; it decides what the services should be. A regulatory agency licenses, supervises and enforces. It holds registers of the things it regulates and records of its decisions. A service-delivery authority runs services to citizens at scale — it has the queues, the case files, the front-line systems. Tell me which of the three a body is, and I can already guess its main capabilities and its main data domains before I meet anyone.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Around those three sit the supporting elements. State registries — the authoritative single source of truth for a kind of thing: the population register, the business register, the land register, the learner registry. A registry's whole job is to be the one place the truth lives. And shared platforms — identity, payments, data exchange — used across many bodies. These are not policy units or regulators or service authorities. They are the foundations the others stand on. The taxonomy names them so you treat them as shared, not as the private property of whichever ministry happens to host them.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does classifying first save you time? Because each type comes with an expected profile. Name a body a regulatory agency, and you expect a licensing capability, a register of the regulated, an enforcement record, and an appeals process. You walk in looking for those, and you spend the interview confirming or correcting a profile — not building one from nothing. Misclassification is itself a finding. When a body that should be a neutral registry is acting like a policy unit and shaping rules to suit itself, the taxonomy is what lets you see it. Classification is not bureaucracy. It is the architect's fastest way to orient.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Like the metamodel and the principles, the taxonomy is already published — PAERA section 4.6, with the detail in Annex A1.2. You do not invent a classification scheme for your country. You adopt this one, and you extend it only where your country has a body type it genuinely does not cover. A shared taxonomy means that when you say 'service-delivery authority', every other architect in the country pictures the same thing. That shared picture is worth more than a bespoke scheme that is perfectly tuned to your country but understood by no one else.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before you model, classify. Policy unit, regulatory agency, service-delivery authority, plus registries and shared platforms. Each type carries an expected profile of capabilities, data and governance. Classify first, and the modelling work starts from a head start instead of a blank page — using a taxonomy every other architect in your country already shares.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2.4 — Classify any public body before you model it</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2 · Video 2.4</a:t>
            </a:r>
          </a:p>
          <a:p>
            <a:r>
              <a:rPr sz="1200" b="0" i="1">
                <a:solidFill>
                  <a:srgbClr val="595959"/>
                </a:solidFill>
                <a:latin typeface="Arial"/>
              </a:rPr>
              <a:t>PAERA publishes a taxonomy of public bodies — policy unit, regulatory agency, service-delivery authority, plus supporting elements like state registries. Classify a body first, and you already know what capabilities, data and governance to expect from it.</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~4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FOUR LAYERS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Business — what the body does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Data — what it holds, who owns it</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Application — what supports the work</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Technology — what it all runs on</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6 shared entities · 10 principles to adopt · 2 traps to catch at Assess</a:t>
            </a:r>
          </a:p>
        </p:txBody>
      </p:sp>
    </p:spTree>
    <p:extLst>
      <p:ext uri="{BB962C8B-B14F-4D97-AF65-F5344CB8AC3E}">
        <p14:creationId xmlns:p14="http://schemas.microsoft.com/office/powerpoint/2010/main" val="1196800265"/>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2 · VIDEO 2.4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Classify any public body before you model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PAERA publishes a taxonomy of public bodies — policy unit, regulatory agency, service-delivery authority, plus supporting elements like state registries. Classify a body first, and you already know what capabilities, data and governance to expect from it — before you interview anyone.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types cover most of government</a:t>
            </a:r>
          </a:p>
        </p:txBody>
      </p:sp>
      <p:sp>
        <p:nvSpPr>
          <p:cNvPr id="4" name="Rounded Rectangle 3"/>
          <p:cNvSpPr/>
          <p:nvPr/>
        </p:nvSpPr>
        <p:spPr>
          <a:xfrm>
            <a:off x="658368" y="1554480"/>
            <a:ext cx="3566160" cy="41148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3163824" cy="3840480"/>
          </a:xfrm>
          <a:prstGeom prst="rect">
            <a:avLst/>
          </a:prstGeom>
          <a:noFill/>
        </p:spPr>
        <p:txBody>
          <a:bodyPr wrap="square">
            <a:spAutoFit/>
          </a:bodyPr>
          <a:lstStyle/>
          <a:p>
            <a:pPr>
              <a:spcAft>
                <a:spcPts val="700"/>
              </a:spcAft>
            </a:pPr>
            <a:r>
              <a:rPr sz="1900" b="1" i="0">
                <a:solidFill>
                  <a:srgbClr val="006E96"/>
                </a:solidFill>
                <a:latin typeface="Arial"/>
              </a:rPr>
              <a:t>Policy unit</a:t>
            </a:r>
          </a:p>
          <a:p>
            <a:pPr>
              <a:spcAft>
                <a:spcPts val="700"/>
              </a:spcAft>
            </a:pPr>
            <a:r>
              <a:rPr sz="1500" b="0" i="0">
                <a:solidFill>
                  <a:srgbClr val="1A1A1A"/>
                </a:solidFill>
                <a:latin typeface="Arial"/>
              </a:rPr>
              <a:t>Sets policy, owns the rules.</a:t>
            </a:r>
          </a:p>
          <a:p>
            <a:pPr>
              <a:spcAft>
                <a:spcPts val="700"/>
              </a:spcAft>
            </a:pPr>
            <a:r>
              <a:rPr sz="1500" b="0" i="0">
                <a:solidFill>
                  <a:srgbClr val="1A1A1A"/>
                </a:solidFill>
                <a:latin typeface="Arial"/>
              </a:rPr>
              <a:t>Does not run services at scale — it decides what the services should be.</a:t>
            </a:r>
          </a:p>
          <a:p>
            <a:pPr>
              <a:spcAft>
                <a:spcPts val="700"/>
              </a:spcAft>
            </a:pPr>
            <a:r>
              <a:rPr sz="1500" b="0" i="0">
                <a:solidFill>
                  <a:srgbClr val="1A1A1A"/>
                </a:solidFill>
                <a:latin typeface="Arial"/>
              </a:rPr>
              <a:t>Usually a ministry’s core.</a:t>
            </a:r>
          </a:p>
        </p:txBody>
      </p:sp>
      <p:sp>
        <p:nvSpPr>
          <p:cNvPr id="6" name="Rounded Rectangle 5"/>
          <p:cNvSpPr/>
          <p:nvPr/>
        </p:nvSpPr>
        <p:spPr>
          <a:xfrm>
            <a:off x="4407407" y="1554480"/>
            <a:ext cx="3566160" cy="41148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5" y="1700784"/>
            <a:ext cx="3163824" cy="3840480"/>
          </a:xfrm>
          <a:prstGeom prst="rect">
            <a:avLst/>
          </a:prstGeom>
          <a:noFill/>
        </p:spPr>
        <p:txBody>
          <a:bodyPr wrap="square">
            <a:spAutoFit/>
          </a:bodyPr>
          <a:lstStyle/>
          <a:p>
            <a:pPr>
              <a:spcAft>
                <a:spcPts val="700"/>
              </a:spcAft>
            </a:pPr>
            <a:r>
              <a:rPr sz="1900" b="1" i="0">
                <a:solidFill>
                  <a:srgbClr val="006E96"/>
                </a:solidFill>
                <a:latin typeface="Arial"/>
              </a:rPr>
              <a:t>Regulatory agency</a:t>
            </a:r>
          </a:p>
          <a:p>
            <a:pPr>
              <a:spcAft>
                <a:spcPts val="700"/>
              </a:spcAft>
            </a:pPr>
            <a:r>
              <a:rPr sz="1500" b="0" i="0">
                <a:solidFill>
                  <a:srgbClr val="1A1A1A"/>
                </a:solidFill>
                <a:latin typeface="Arial"/>
              </a:rPr>
              <a:t>Licenses, supervises, enforces.</a:t>
            </a:r>
          </a:p>
          <a:p>
            <a:pPr>
              <a:spcAft>
                <a:spcPts val="700"/>
              </a:spcAft>
            </a:pPr>
            <a:r>
              <a:rPr sz="1500" b="0" i="0">
                <a:solidFill>
                  <a:srgbClr val="1A1A1A"/>
                </a:solidFill>
                <a:latin typeface="Arial"/>
              </a:rPr>
              <a:t>Holds registers of the things it regulates and records of its decisions.</a:t>
            </a:r>
          </a:p>
          <a:p>
            <a:pPr>
              <a:spcAft>
                <a:spcPts val="700"/>
              </a:spcAft>
            </a:pPr>
            <a:r>
              <a:rPr sz="1500" b="0" i="0">
                <a:solidFill>
                  <a:srgbClr val="1A1A1A"/>
                </a:solidFill>
                <a:latin typeface="Arial"/>
              </a:rPr>
              <a:t>Expect an appeals process.</a:t>
            </a:r>
          </a:p>
        </p:txBody>
      </p:sp>
      <p:sp>
        <p:nvSpPr>
          <p:cNvPr id="8" name="Rounded Rectangle 7"/>
          <p:cNvSpPr/>
          <p:nvPr/>
        </p:nvSpPr>
        <p:spPr>
          <a:xfrm>
            <a:off x="8156448" y="1554480"/>
            <a:ext cx="3566160" cy="41148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7616" y="1700784"/>
            <a:ext cx="3163824" cy="3840480"/>
          </a:xfrm>
          <a:prstGeom prst="rect">
            <a:avLst/>
          </a:prstGeom>
          <a:noFill/>
        </p:spPr>
        <p:txBody>
          <a:bodyPr wrap="square">
            <a:spAutoFit/>
          </a:bodyPr>
          <a:lstStyle/>
          <a:p>
            <a:pPr>
              <a:spcAft>
                <a:spcPts val="700"/>
              </a:spcAft>
            </a:pPr>
            <a:r>
              <a:rPr sz="1900" b="1" i="0">
                <a:solidFill>
                  <a:srgbClr val="006E96"/>
                </a:solidFill>
                <a:latin typeface="Arial"/>
              </a:rPr>
              <a:t>Service-delivery authority</a:t>
            </a:r>
          </a:p>
          <a:p>
            <a:pPr>
              <a:spcAft>
                <a:spcPts val="700"/>
              </a:spcAft>
            </a:pPr>
            <a:r>
              <a:rPr sz="1500" b="0" i="0">
                <a:solidFill>
                  <a:srgbClr val="1A1A1A"/>
                </a:solidFill>
                <a:latin typeface="Arial"/>
              </a:rPr>
              <a:t>Runs services to citizens at scale.</a:t>
            </a:r>
          </a:p>
          <a:p>
            <a:pPr>
              <a:spcAft>
                <a:spcPts val="700"/>
              </a:spcAft>
            </a:pPr>
            <a:r>
              <a:rPr sz="1500" b="0" i="0">
                <a:solidFill>
                  <a:srgbClr val="1A1A1A"/>
                </a:solidFill>
                <a:latin typeface="Arial"/>
              </a:rPr>
              <a:t>Has the queues, the case files, the front-line systems.</a:t>
            </a:r>
          </a:p>
          <a:p>
            <a:pPr>
              <a:spcAft>
                <a:spcPts val="700"/>
              </a:spcAft>
            </a:pPr>
            <a:r>
              <a:rPr sz="1500" b="0" i="0">
                <a:solidFill>
                  <a:srgbClr val="1A1A1A"/>
                </a:solidFill>
                <a:latin typeface="Arial"/>
              </a:rPr>
              <a:t>Expect high transaction volumes.</a:t>
            </a:r>
          </a:p>
        </p:txBody>
      </p:sp>
      <p:sp>
        <p:nvSpPr>
          <p:cNvPr id="10" name="TextBox 9"/>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Tell me which of the three a body is, and I can already guess its main capabilities and data domains before I meet anyone.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Around those three sit the foundations everyone else stands on</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State registries</a:t>
            </a:r>
          </a:p>
          <a:p>
            <a:pPr>
              <a:spcAft>
                <a:spcPts val="700"/>
              </a:spcAft>
            </a:pPr>
            <a:r>
              <a:rPr sz="1600" b="0" i="0">
                <a:solidFill>
                  <a:srgbClr val="1A1A1A"/>
                </a:solidFill>
                <a:latin typeface="Arial"/>
              </a:rPr>
              <a:t>The authoritative single source for a kind of thing:</a:t>
            </a:r>
          </a:p>
          <a:p>
            <a:pPr>
              <a:spcAft>
                <a:spcPts val="700"/>
              </a:spcAft>
            </a:pPr>
            <a:r>
              <a:rPr sz="1600" b="0" i="0">
                <a:solidFill>
                  <a:srgbClr val="1A1A1A"/>
                </a:solidFill>
                <a:latin typeface="Arial"/>
              </a:rPr>
              <a:t>person · business · land · learner.</a:t>
            </a:r>
          </a:p>
          <a:p>
            <a:pPr>
              <a:spcAft>
                <a:spcPts val="700"/>
              </a:spcAft>
            </a:pPr>
            <a:r>
              <a:rPr sz="1600" b="0" i="0">
                <a:solidFill>
                  <a:srgbClr val="1A1A1A"/>
                </a:solidFill>
                <a:latin typeface="Arial"/>
              </a:rPr>
              <a:t>A registry’s whole job is to be the one place the truth lives.</a:t>
            </a:r>
          </a:p>
        </p:txBody>
      </p:sp>
      <p:sp>
        <p:nvSpPr>
          <p:cNvPr id="6" name="Rounded Rectangle 5"/>
          <p:cNvSpPr/>
          <p:nvPr/>
        </p:nvSpPr>
        <p:spPr>
          <a:xfrm>
            <a:off x="6263640"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Shared platforms</a:t>
            </a:r>
          </a:p>
          <a:p>
            <a:pPr>
              <a:spcAft>
                <a:spcPts val="700"/>
              </a:spcAft>
            </a:pPr>
            <a:r>
              <a:rPr sz="1600" b="0" i="0">
                <a:solidFill>
                  <a:srgbClr val="1A1A1A"/>
                </a:solidFill>
                <a:latin typeface="Arial"/>
              </a:rPr>
              <a:t>Identity, payments, data exchange.</a:t>
            </a:r>
          </a:p>
          <a:p>
            <a:pPr>
              <a:spcAft>
                <a:spcPts val="700"/>
              </a:spcAft>
            </a:pPr>
            <a:r>
              <a:rPr sz="1600" b="0" i="0">
                <a:solidFill>
                  <a:srgbClr val="1A1A1A"/>
                </a:solidFill>
                <a:latin typeface="Arial"/>
              </a:rPr>
              <a:t>Used across many bodies.</a:t>
            </a:r>
          </a:p>
          <a:p>
            <a:pPr>
              <a:spcAft>
                <a:spcPts val="700"/>
              </a:spcAft>
            </a:pPr>
            <a:r>
              <a:rPr sz="1600" b="0" i="0">
                <a:solidFill>
                  <a:srgbClr val="1A1A1A"/>
                </a:solidFill>
                <a:latin typeface="Arial"/>
              </a:rPr>
              <a:t>Not policy units, not regulators, not service authorities.</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Treat them as shared — not as the private property of whichever ministry happens to host them.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type comes with an expected profile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Name a body a regulatory agency, and you expect a licensing capability, a register of the regulated, an enforcement record, and an appeals process. You walk in confirming or correcting a profile — not building one from nothing.</a:t>
            </a:r>
          </a:p>
          <a:p>
            <a:pPr>
              <a:spcAft>
                <a:spcPts val="1200"/>
              </a:spcAft>
            </a:pPr>
            <a:r>
              <a:rPr sz="2000" b="0" i="0">
                <a:solidFill>
                  <a:srgbClr val="1A1A1A"/>
                </a:solidFill>
                <a:latin typeface="Arial"/>
              </a:rPr>
              <a:t>When a body that should be a neutral registry is acting like a policy unit and shaping rules to suit itself, the taxonomy is what lets you see it.</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Misclassification is itself a finding.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It is already published — adopt it</a:t>
            </a:r>
          </a:p>
        </p:txBody>
      </p:sp>
      <p:sp>
        <p:nvSpPr>
          <p:cNvPr id="4" name="TextBox 3"/>
          <p:cNvSpPr txBox="1"/>
          <p:nvPr/>
        </p:nvSpPr>
        <p:spPr>
          <a:xfrm>
            <a:off x="658368" y="1554480"/>
            <a:ext cx="10984687" cy="1188720"/>
          </a:xfrm>
          <a:prstGeom prst="rect">
            <a:avLst/>
          </a:prstGeom>
          <a:noFill/>
        </p:spPr>
        <p:txBody>
          <a:bodyPr wrap="square">
            <a:spAutoFit/>
          </a:bodyPr>
          <a:lstStyle/>
          <a:p>
            <a:pPr>
              <a:spcAft>
                <a:spcPts val="300"/>
              </a:spcAft>
            </a:pPr>
            <a:r>
              <a:rPr sz="1900" b="1" i="0">
                <a:solidFill>
                  <a:srgbClr val="1A1A1A"/>
                </a:solidFill>
                <a:latin typeface="Arial"/>
              </a:rPr>
              <a:t>PAERA §4.6, with the detail in Annex A1.2</a:t>
            </a:r>
          </a:p>
          <a:p>
            <a:pPr>
              <a:spcAft>
                <a:spcPts val="300"/>
              </a:spcAft>
            </a:pPr>
            <a:r>
              <a:rPr sz="1550" b="0" i="0">
                <a:solidFill>
                  <a:srgbClr val="595959"/>
                </a:solidFill>
                <a:latin typeface="Arial"/>
              </a:rPr>
              <a:t>You do not invent a classification scheme for your country.</a:t>
            </a:r>
          </a:p>
        </p:txBody>
      </p:sp>
      <p:sp>
        <p:nvSpPr>
          <p:cNvPr id="5" name="Rectangle 4"/>
          <p:cNvSpPr/>
          <p:nvPr/>
        </p:nvSpPr>
        <p:spPr>
          <a:xfrm>
            <a:off x="621792" y="2747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88920"/>
            <a:ext cx="10984687" cy="1188720"/>
          </a:xfrm>
          <a:prstGeom prst="rect">
            <a:avLst/>
          </a:prstGeom>
          <a:noFill/>
        </p:spPr>
        <p:txBody>
          <a:bodyPr wrap="square">
            <a:spAutoFit/>
          </a:bodyPr>
          <a:lstStyle/>
          <a:p>
            <a:pPr>
              <a:spcAft>
                <a:spcPts val="300"/>
              </a:spcAft>
            </a:pPr>
            <a:r>
              <a:rPr sz="1900" b="1" i="0">
                <a:solidFill>
                  <a:srgbClr val="1A1A1A"/>
                </a:solidFill>
                <a:latin typeface="Arial"/>
              </a:rPr>
              <a:t>Extend it only where your country has a body type it genuinely does not cover</a:t>
            </a:r>
          </a:p>
          <a:p>
            <a:pPr>
              <a:spcAft>
                <a:spcPts val="300"/>
              </a:spcAft>
            </a:pPr>
            <a:r>
              <a:rPr sz="1550" b="0" i="0">
                <a:solidFill>
                  <a:srgbClr val="595959"/>
                </a:solidFill>
                <a:latin typeface="Arial"/>
              </a:rPr>
              <a:t>When you say “service-delivery authority”, every other architect in the country pictures the same thing.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Classify a body first, and you already know most of what to expect from it — so the interview confirms a profile instead of starting from a blank page.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§4.6 (Organisational taxonomy)</a:t>
            </a:r>
          </a:p>
          <a:p>
            <a:pPr>
              <a:spcAft>
                <a:spcPts val="1200"/>
              </a:spcAft>
            </a:pPr>
            <a:r>
              <a:rPr sz="1700" b="0" i="0">
                <a:solidFill>
                  <a:srgbClr val="1A1A1A"/>
                </a:solidFill>
                <a:latin typeface="Arial"/>
              </a:rPr>
              <a:t>•  PAERA v1.0 — Annex A1.2 (taxonomy detail)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