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makes principles useful instead of decorative. For each one, write three things: the statement, the reason, and the implication — what the principle forces you to do, or to refuse. Take 'reuse before build'. Statement: we consume an existing building block before we build a new one. Reason: the country pays once instead of many times. Implication: any project proposing to build its own identity or payment function must first show why the shared one cannot be used — and the EA Board can say no. A principle with a written implication can settle an argument. A principle without one cannot.</a:t>
            </a:r>
          </a:p>
          <a:p/>
          <a:p>
            <a:r>
              <a:t>The implication band is the operative beat of 2.3 — the only full-colour block in the video. Hold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Adopting them is three steps, not a three-month workshop. Step one: take the ten as your baseline. Step two: tailor the wording to your country — point each principle at your own laws, your data-protection act, your procurement rules, so it has teeth in your context. Step three: add at most a few principles your country genuinely needs that PAERA does not cover, and add them deliberately, with a reason written down. That is the whole job. You inherit the thinking; you localise the wording. You do not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describes a government in four layers: Business, Data, Application, Technology. For each layer you need three things —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payment — and for each you name the one body that owns the authoritative copy. Data is the longest-lived layer: applications and technology cycle, the data outlasts them. The mistake is to list the databases you can see, one per system — but five systems may each hold their own version of the same learner. The Data layer sits above the databases: agreed domains, one owner each.</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four layers are not four separate documents. They connect. Every service traces to a capability in the Business layer. Every capability is served by one or more applications. Every application uses one or more data domains, and both run on the technology layer. When you can trace a citizen-facing service down to the infrastructure it depends on, you are reading the government as a system — which is the whole job. A layer that floats free, with no connection up or down, is the first gap you have found.</a:t>
            </a:r>
          </a:p>
          <a:p/>
          <a:p>
            <a:r>
              <a:t>Centrepiece and recap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Two ministries each hand you an architecture. One calls a thing a 'service'; the other calls the same thing a 'function'. One ministry's 'application' is another's 'system'. You cannot compare them, connect them, or tell whether they are doing the same work twice.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design the metamodel: PAERA publishes it in Annex 2, already worked out across many countries, so you adopt it from day one and extend it only where your country genuinely needs an entity PAERA does not have — deliberately, and written down so every team shares it.</a:t>
            </a:r>
          </a:p>
          <a:p/>
          <a:p>
            <a:r>
              <a:t>One sentence of narration for three rows — reveal all three together and let the slide carry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metamodel is the small shared dictionary that lets two ministries' architectures fit together, and lets business and IT understand each other — what turns re-use from a wish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Every architecture team faces the same temptation early on. Someone says: let us write our country's architectural principles. Three months later there are forty drafts, half contradicting each other, and no agreement. There is a faster way — the principles already exist.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be clear what a principle is for. An architectural principle is a short rule that settles a design argument before it starts. 'Reuse before you buy; buy before you build.' 'Data has one owner.' 'The citizen is asked for information only once.' A good principle is a decision you make once, so your team does not re-argue it on every project. Principles are working tools, not wall decorations. If a principle never changes a decision, it is not a principle — it is a slogan.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publishes ten architectural principles in section 5.2. They cover the ground every public-sector architecture needs. Rule of law, so every system has a legal basis. Intrinsic security and privacy, built in, not added later. Openness and transparency. Interoperability by default. Once-only — the state asks a citizen for the same information only once. User-centred and inclusive design. Reuse and sharing before building new. Data as a managed asset, with one source of truth. Technology neutrality, to avoid lock-in. And sustainability, so what you build can be maintained. Ten principles, already debated across many countries, ready to adopt.</a:t>
            </a:r>
          </a:p>
          <a:p/>
          <a:p>
            <a:r>
              <a:t>Reveal cumulatively, one row at a time, in the order spoken. This is the reference payload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2 deck. Each section that follows is one standalone ~4–5 minute video. Module 1 addressed the Strategist who commissions a national EA; Module 2 addresses the architect who does the work, and deliberately introduces the vocabulary Module 1 set aside — metamodel, taxonomy, capability, data domain.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2.1–2.4 build the shared apparatus (layers, metamodel, principles, taxonomy), 2.5 applies all four to one sector, 2.6–2.7 turn the apparatus into an assessment and the traps it must catch.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Do not spend your first year writing principles. Adopt PAERA's ten, point each at your country's laws, and give each a written implication so it can settle a real argument.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model a government body, know what kind of body it is — because the kind tells you in advance what it does, what data it owns, and how it is governed. PAERA publishes a taxonomy that sorts public bodies into a few types.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 so you adopt it rather than invent one, and extend it only where your country has a body type it genuinely does not cover, because a shared taxonomy means every architect in the country pictures the same thing when you say 'service-delivery authority'.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Before you model, classify. Policy unit, regulatory agency, service-delivery authority, plus registries and shared platforms. Each type carries an expected profile of capabilities, data and governance — so the interview confirms it instead of starting blank.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Put the four layers on a real sector. Progressa is a demonstration country with an education system like many across the continent: a ministry, an examination authority, a learner registry, an identity authority, and a digital government authority running shared platforms.</a:t>
            </a:r>
          </a:p>
          <a:p/>
          <a:p>
            <a:r>
              <a:t>On screen: Progressa is a fictional demonstration country — say so once,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classifying, because classification gives us the head start. The Ministry of Education is a policy unit — it sets education policy and owns the rules. The National Examination Authority runs examinations at scale and certifies results — a service-delivery authority with a regulatory edge. The Learner Registry is a state registry — the authoritative single source for who is a learner. The National Identity Authority is a registry and a shared platform — it owns the person identity every sector reuses. The Digital Government Authority runs shared platforms: data exchange and payments. Five bodies, classified in a minute, and we already expect what each one does.</a:t>
            </a:r>
          </a:p>
          <a:p/>
          <a:p>
            <a:r>
              <a:t>All institutions are fictional — no emblems, no real agency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Business layer — capabilities and services. Register a learner: owned by the Learner Registry. Run an examination and certify a result: the Examination Authority. Prove who a learner is: the Identity Authority. Set policy and fund schools: the Ministry. Notice that we describe what each body does — its capabilities — not how it is organised inside. The citizen-facing services sit on top: enrol a child, sit an examination, receive a certificate, transfer between schools. Each service traces down to a capability owned by exactly one body. When two bodies both claim the same capability — say, each keeping its own list of learners — you have found your first gap, just by drawing the Business layer.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Data layer names the domains and their owners. The Person domain — owned by the Identity Authority; everyone else uses the person identity, no one else mints it. The Learner domain — owned by the Learner Registry. Examination results — owned by the Examination Authority. Schools — owned by the Ministry. One domain, one owner, one authoritative copy. The once-only principle now becomes concrete: when the Examination Authority needs to know who a learner is, it consumes the Learner Registry and the Identity Authority — it does not keep its own private copy of the learner that drifts out of date. If you find the Examination Authority maintaining its own learner list, that is a duplicate registry, and you write it down.</a:t>
            </a:r>
          </a:p>
          <a:p/>
          <a:p>
            <a:r>
              <a:t>The duplicate-registry example previews the Assess gaps in 2.6 — name the link.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Application layer maps software to those capabilities. An enrolment system supports the register-a-learner capability and uses the Learner and Person domains. An examination-management system supports run-an-examination. An identity-verification service supports prove-identity. Each application points up to a capability and across to the data domains it uses — so you can see, at a glance, which systems would break if the Identity Authority changed, and whether two systems are quietly doing the same job. Underneath, the Technology layer: the shared identity platform, the data-exchange backbone run by the Digital Government Authority, the hosting. A short list of shared standards — not a server audit.</a:t>
            </a:r>
          </a:p>
          <a:p/>
          <a:p>
            <a:r>
              <a:t>Application names stay generic and descriptive — no vendor or product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Trace one service down. Sit an examination and get a certificate: the Examination Authority's run-an-examination capability, the exam-management application, three data domains — learner, person, result — and the shared data-exchange and identity platforms underneath.</a:t>
            </a:r>
          </a:p>
          <a:p/>
          <a:p>
            <a:r>
              <a:t>Centrepiece and recap of 2.5. Reveal one band at a time, top to bottom,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Assess phase produces the current-state picture and the gap analysis the roadmap is built on. The hard part is writing a description good enough to decide from. So you need the quality tests, layer by layer, and the gaps you will almost always find.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layer has its own test. Business is good when it describes capabilities, not organisation boxes; Data when every domain has one owner and one authoritative copy; Application when every system maps to a capability and a data domain; Technology when it names the standards in use and the single points of failure.</a:t>
            </a:r>
          </a:p>
          <a:p/>
          <a:p>
            <a:r>
              <a:t>Two sentences over four rows — reveal the rows together and let the slide carry the per-layer detail.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 Phase 2 Assess is not about volume. It is a current-state picture that is owned, traceable and complete enough to decide from, plus a gap analysis that scores and orders the problems honestly.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Two traps catch governments again and again. As the architect at the Assess phase, you are the one positioned to spot them early — before they are built, while they are still a line in a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And is the sourcing choice deliberate — build, buy, share, or sandbox first?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two traps. The bespoke trap — rational for a project, ruinous for a country. And the vendor-driven trap — where a product becomes the architecture. Both are cheap to fix at Assess.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Reading, modelling and
assessing a government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2</a:t>
            </a:r>
          </a:p>
          <a:p>
            <a:r>
              <a:rPr sz="1400" b="0" i="0">
                <a:solidFill>
                  <a:srgbClr val="595959"/>
                </a:solidFill>
                <a:latin typeface="Arial"/>
              </a:rPr>
              <a:t>Seven standalone videos for the architect who does the work: the four layers, the shared metamodel, ten principles to adopt, the taxonomy of public bodies, a worked sector walkthrough, how to run a Phase 2 Assess, and the two traps to catch there.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~32 mins across 7 videos (2.1 – 2.7)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2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2.1  Read any government in four layers</a:t>
            </a:r>
            <a:r>
              <a:rPr sz="1200" b="0" i="0">
                <a:solidFill>
                  <a:srgbClr val="595959"/>
                </a:solidFill>
                <a:latin typeface="Arial"/>
              </a:rPr>
              <a:t>   ~5 min</a:t>
            </a:r>
          </a:p>
          <a:p>
            <a:pPr algn="l">
              <a:spcAft>
                <a:spcPts val="900"/>
              </a:spcAft>
            </a:pPr>
            <a:r>
              <a:rPr sz="1500" b="1" i="0">
                <a:solidFill>
                  <a:srgbClr val="1A1A1A"/>
                </a:solidFill>
                <a:latin typeface="Arial"/>
              </a:rPr>
              <a:t>2.2  The shared vocabulary that makes re-use possible</a:t>
            </a:r>
            <a:r>
              <a:rPr sz="1200" b="0" i="0">
                <a:solidFill>
                  <a:srgbClr val="595959"/>
                </a:solidFill>
                <a:latin typeface="Arial"/>
              </a:rPr>
              <a:t>   ~5 min</a:t>
            </a:r>
          </a:p>
          <a:p>
            <a:pPr algn="l">
              <a:spcAft>
                <a:spcPts val="900"/>
              </a:spcAft>
            </a:pPr>
            <a:r>
              <a:rPr sz="1500" b="1" i="0">
                <a:solidFill>
                  <a:srgbClr val="1A1A1A"/>
                </a:solidFill>
                <a:latin typeface="Arial"/>
              </a:rPr>
              <a:t>2.3  Adopt your principles, don't draft them</a:t>
            </a:r>
            <a:r>
              <a:rPr sz="1200" b="0" i="0">
                <a:solidFill>
                  <a:srgbClr val="595959"/>
                </a:solidFill>
                <a:latin typeface="Arial"/>
              </a:rPr>
              <a:t>   ~4 min</a:t>
            </a:r>
          </a:p>
          <a:p>
            <a:pPr algn="l">
              <a:spcAft>
                <a:spcPts val="900"/>
              </a:spcAft>
            </a:pPr>
            <a:r>
              <a:rPr sz="1500" b="1" i="0">
                <a:solidFill>
                  <a:srgbClr val="1A1A1A"/>
                </a:solidFill>
                <a:latin typeface="Arial"/>
              </a:rPr>
              <a:t>2.4  Classify any public body before you model it</a:t>
            </a:r>
            <a:r>
              <a:rPr sz="1200" b="0" i="0">
                <a:solidFill>
                  <a:srgbClr val="595959"/>
                </a:solidFill>
                <a:latin typeface="Arial"/>
              </a:rPr>
              <a:t>   ~4 min</a:t>
            </a:r>
          </a:p>
          <a:p>
            <a:pPr algn="l">
              <a:spcAft>
                <a:spcPts val="900"/>
              </a:spcAft>
            </a:pPr>
            <a:r>
              <a:rPr sz="1500" b="1" i="0">
                <a:solidFill>
                  <a:srgbClr val="1A1A1A"/>
                </a:solidFill>
                <a:latin typeface="Arial"/>
              </a:rPr>
              <a:t>2.5  BDAT on a real ministry — the Progressa walkthrough</a:t>
            </a:r>
            <a:r>
              <a:rPr sz="1200" b="0" i="0">
                <a:solidFill>
                  <a:srgbClr val="595959"/>
                </a:solidFill>
                <a:latin typeface="Arial"/>
              </a:rPr>
              <a:t>   ~5 min</a:t>
            </a:r>
          </a:p>
          <a:p>
            <a:pPr algn="l">
              <a:spcAft>
                <a:spcPts val="900"/>
              </a:spcAft>
            </a:pPr>
            <a:r>
              <a:rPr sz="1500" b="1" i="0">
                <a:solidFill>
                  <a:srgbClr val="1A1A1A"/>
                </a:solidFill>
                <a:latin typeface="Arial"/>
              </a:rPr>
              <a:t>2.6  Run a Phase 2 Assess</a:t>
            </a:r>
            <a:r>
              <a:rPr sz="1200" b="0" i="0">
                <a:solidFill>
                  <a:srgbClr val="595959"/>
                </a:solidFill>
                <a:latin typeface="Arial"/>
              </a:rPr>
              <a:t>   ~5 min</a:t>
            </a:r>
          </a:p>
          <a:p>
            <a:pPr algn="l">
              <a:spcAft>
                <a:spcPts val="900"/>
              </a:spcAft>
            </a:pPr>
            <a:r>
              <a:rPr sz="1500" b="1" i="0">
                <a:solidFill>
                  <a:srgbClr val="1A1A1A"/>
                </a:solidFill>
                <a:latin typeface="Arial"/>
              </a:rPr>
              <a:t>2.7  The two traps to catch at Assess</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only connects to other architectures if everyone reads a government the same way and draws it with the same entities.</a:t>
            </a:r>
          </a:p>
          <a:p>
            <a:pPr>
              <a:spcAft>
                <a:spcPts val="1000"/>
              </a:spcAft>
            </a:pPr>
            <a:r>
              <a:rPr sz="1900" b="0" i="1">
                <a:solidFill>
                  <a:srgbClr val="1A1A1A"/>
                </a:solidFill>
                <a:latin typeface="Arial"/>
              </a:rPr>
              <a:t>This module teaches that shared reading — then puts it to work on one sector and on the assessment your roadmap will be built from.</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a:t>
            </a:r>
          </a:p>
        </p:txBody>
      </p:sp>
      <p:sp>
        <p:nvSpPr>
          <p:cNvPr id="4" name="Rounded Rectangle 3"/>
          <p:cNvSpPr/>
          <p:nvPr/>
        </p:nvSpPr>
        <p:spPr>
          <a:xfrm>
            <a:off x="1371600" y="1371600"/>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408176"/>
            <a:ext cx="2103120" cy="365759"/>
          </a:xfrm>
          <a:prstGeom prst="rect">
            <a:avLst/>
          </a:prstGeom>
          <a:noFill/>
        </p:spPr>
        <p:txBody>
          <a:bodyPr wrap="square" anchor="ctr">
            <a:spAutoFit/>
          </a:bodyPr>
          <a:lstStyle/>
          <a:p>
            <a:r>
              <a:rPr sz="1200" b="1" i="0">
                <a:solidFill>
                  <a:srgbClr val="006E96"/>
                </a:solidFill>
                <a:latin typeface="Arial"/>
              </a:rPr>
              <a:t>SERVICE</a:t>
            </a:r>
          </a:p>
        </p:txBody>
      </p:sp>
      <p:sp>
        <p:nvSpPr>
          <p:cNvPr id="6" name="TextBox 5"/>
          <p:cNvSpPr txBox="1"/>
          <p:nvPr/>
        </p:nvSpPr>
        <p:spPr>
          <a:xfrm>
            <a:off x="3675887" y="1408176"/>
            <a:ext cx="7004304" cy="365759"/>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62472" y="1819656"/>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956816"/>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1993392"/>
            <a:ext cx="2103120" cy="365759"/>
          </a:xfrm>
          <a:prstGeom prst="rect">
            <a:avLst/>
          </a:prstGeom>
          <a:noFill/>
        </p:spPr>
        <p:txBody>
          <a:bodyPr wrap="square" anchor="ctr">
            <a:spAutoFit/>
          </a:bodyPr>
          <a:lstStyle/>
          <a:p>
            <a:r>
              <a:rPr sz="1200" b="1" i="0">
                <a:solidFill>
                  <a:srgbClr val="006E96"/>
                </a:solidFill>
                <a:latin typeface="Arial"/>
              </a:rPr>
              <a:t>CAPABILITY</a:t>
            </a:r>
          </a:p>
        </p:txBody>
      </p:sp>
      <p:sp>
        <p:nvSpPr>
          <p:cNvPr id="10" name="TextBox 9"/>
          <p:cNvSpPr txBox="1"/>
          <p:nvPr/>
        </p:nvSpPr>
        <p:spPr>
          <a:xfrm>
            <a:off x="3675887" y="1993392"/>
            <a:ext cx="7004304" cy="365759"/>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62472" y="2404872"/>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2542032"/>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2578608"/>
            <a:ext cx="2103120" cy="365759"/>
          </a:xfrm>
          <a:prstGeom prst="rect">
            <a:avLst/>
          </a:prstGeom>
          <a:noFill/>
        </p:spPr>
        <p:txBody>
          <a:bodyPr wrap="square" anchor="ctr">
            <a:spAutoFit/>
          </a:bodyPr>
          <a:lstStyle/>
          <a:p>
            <a:r>
              <a:rPr sz="1200" b="1" i="0">
                <a:solidFill>
                  <a:srgbClr val="006E96"/>
                </a:solidFill>
                <a:latin typeface="Arial"/>
              </a:rPr>
              <a:t>APPLICATION</a:t>
            </a:r>
          </a:p>
        </p:txBody>
      </p:sp>
      <p:sp>
        <p:nvSpPr>
          <p:cNvPr id="14" name="TextBox 13"/>
          <p:cNvSpPr txBox="1"/>
          <p:nvPr/>
        </p:nvSpPr>
        <p:spPr>
          <a:xfrm>
            <a:off x="3675887" y="2578608"/>
            <a:ext cx="7004304" cy="365759"/>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62472" y="2990088"/>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3127248"/>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3163824"/>
            <a:ext cx="2103120" cy="365759"/>
          </a:xfrm>
          <a:prstGeom prst="rect">
            <a:avLst/>
          </a:prstGeom>
          <a:noFill/>
        </p:spPr>
        <p:txBody>
          <a:bodyPr wrap="square" anchor="ctr">
            <a:spAutoFit/>
          </a:bodyPr>
          <a:lstStyle/>
          <a:p>
            <a:r>
              <a:rPr sz="1200" b="1" i="0">
                <a:solidFill>
                  <a:srgbClr val="006E96"/>
                </a:solidFill>
                <a:latin typeface="Arial"/>
              </a:rPr>
              <a:t>DATA DOMAIN</a:t>
            </a:r>
          </a:p>
        </p:txBody>
      </p:sp>
      <p:sp>
        <p:nvSpPr>
          <p:cNvPr id="18" name="TextBox 17"/>
          <p:cNvSpPr txBox="1"/>
          <p:nvPr/>
        </p:nvSpPr>
        <p:spPr>
          <a:xfrm>
            <a:off x="3675887" y="3163824"/>
            <a:ext cx="7004304" cy="365759"/>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62472" y="35753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3712464"/>
            <a:ext cx="9509760" cy="438912"/>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3749040"/>
            <a:ext cx="2103120" cy="365759"/>
          </a:xfrm>
          <a:prstGeom prst="rect">
            <a:avLst/>
          </a:prstGeom>
          <a:noFill/>
        </p:spPr>
        <p:txBody>
          <a:bodyPr wrap="square" anchor="ctr">
            <a:spAutoFit/>
          </a:bodyPr>
          <a:lstStyle/>
          <a:p>
            <a:r>
              <a:rPr sz="1200" b="1" i="0">
                <a:solidFill>
                  <a:srgbClr val="FFFFFF"/>
                </a:solidFill>
                <a:latin typeface="Arial"/>
              </a:rPr>
              <a:t>TECHNOLOGY</a:t>
            </a:r>
          </a:p>
        </p:txBody>
      </p:sp>
      <p:sp>
        <p:nvSpPr>
          <p:cNvPr id="22" name="TextBox 21"/>
          <p:cNvSpPr txBox="1"/>
          <p:nvPr/>
        </p:nvSpPr>
        <p:spPr>
          <a:xfrm>
            <a:off x="3675887" y="3749040"/>
            <a:ext cx="7004304" cy="365759"/>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4242816"/>
            <a:ext cx="10881360" cy="384048"/>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Rounded Rectangle 2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four-layer reading template for a ministry.</a:t>
            </a:r>
          </a:p>
          <a:p>
            <a:pPr algn="l">
              <a:spcAft>
                <a:spcPts val="400"/>
              </a:spcAft>
            </a:pPr>
            <a:r>
              <a:rPr sz="1800" b="0" i="0">
                <a:solidFill>
                  <a:srgbClr val="595959"/>
                </a:solidFill>
                <a:latin typeface="Arial"/>
              </a:rPr>
              <a:t>The prompt in the companion material gives you a four-section capture template ready to take into Discovery interviews. Before the next video.</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a draft architecture against the PAERA metamodel.</a:t>
            </a:r>
          </a:p>
          <a:p>
            <a:pPr algn="l">
              <a:spcAft>
                <a:spcPts val="400"/>
              </a:spcAft>
            </a:pPr>
            <a:r>
              <a:rPr sz="1800" b="0" i="0">
                <a:solidFill>
                  <a:srgbClr val="595959"/>
                </a:solidFill>
                <a:latin typeface="Arial"/>
              </a:rPr>
              <a:t>The prompt in the companion material gives you a mapping table plus lists of non-conforming elements, missing relationships, and suggested corrections.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Adopt your principles, don't draft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ten architectural principles, already debated across many countries. Your job is to adopt them, tailor the wording to your context, and use them to settle design arguments — not to spend your first year drafting principles from scratch.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principle is a short rule that settles a design argument before it starts</a:t>
            </a:r>
          </a:p>
        </p:txBody>
      </p:sp>
      <p:sp>
        <p:nvSpPr>
          <p:cNvPr id="4" name="Rounded Rectangle 3"/>
          <p:cNvSpPr/>
          <p:nvPr/>
        </p:nvSpPr>
        <p:spPr>
          <a:xfrm>
            <a:off x="658368"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Reuse before you buy; buy before you build.</a:t>
            </a:r>
          </a:p>
        </p:txBody>
      </p:sp>
      <p:sp>
        <p:nvSpPr>
          <p:cNvPr id="6" name="Rounded Rectangle 5"/>
          <p:cNvSpPr/>
          <p:nvPr/>
        </p:nvSpPr>
        <p:spPr>
          <a:xfrm>
            <a:off x="4352544"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3712"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Data has one owner.</a:t>
            </a:r>
          </a:p>
        </p:txBody>
      </p:sp>
      <p:sp>
        <p:nvSpPr>
          <p:cNvPr id="8" name="Rounded Rectangle 7"/>
          <p:cNvSpPr/>
          <p:nvPr/>
        </p:nvSpPr>
        <p:spPr>
          <a:xfrm>
            <a:off x="8046720"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Ask the citizen only once.</a:t>
            </a:r>
          </a:p>
        </p:txBody>
      </p:sp>
      <p:sp>
        <p:nvSpPr>
          <p:cNvPr id="10" name="TextBox 9"/>
          <p:cNvSpPr txBox="1"/>
          <p:nvPr/>
        </p:nvSpPr>
        <p:spPr>
          <a:xfrm>
            <a:off x="658368" y="3749039"/>
            <a:ext cx="10881360" cy="1463040"/>
          </a:xfrm>
          <a:prstGeom prst="rect">
            <a:avLst/>
          </a:prstGeom>
          <a:noFill/>
        </p:spPr>
        <p:txBody>
          <a:bodyPr wrap="square">
            <a:spAutoFit/>
          </a:bodyPr>
          <a:lstStyle/>
          <a:p>
            <a:pPr>
              <a:spcAft>
                <a:spcPts val="1000"/>
              </a:spcAft>
            </a:pPr>
            <a:r>
              <a:rPr sz="2100" b="0" i="0">
                <a:solidFill>
                  <a:srgbClr val="1A1A1A"/>
                </a:solidFill>
                <a:latin typeface="Arial"/>
              </a:rPr>
              <a:t>A decision you make once, so your team does not re-argue it on every project.</a:t>
            </a:r>
          </a:p>
        </p:txBody>
      </p:sp>
      <p:sp>
        <p:nvSpPr>
          <p:cNvPr id="11" name="Rounded Rectangle 10"/>
          <p:cNvSpPr/>
          <p:nvPr/>
        </p:nvSpPr>
        <p:spPr>
          <a:xfrm>
            <a:off x="658368" y="4892040"/>
            <a:ext cx="10881360" cy="10058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38344"/>
            <a:ext cx="10479024" cy="731520"/>
          </a:xfrm>
          <a:prstGeom prst="rect">
            <a:avLst/>
          </a:prstGeom>
          <a:noFill/>
        </p:spPr>
        <p:txBody>
          <a:bodyPr wrap="square">
            <a:spAutoFit/>
          </a:bodyPr>
          <a:lstStyle/>
          <a:p>
            <a:pPr>
              <a:spcAft>
                <a:spcPts val="700"/>
              </a:spcAft>
            </a:pPr>
            <a:r>
              <a:rPr sz="2000" b="1" i="0">
                <a:solidFill>
                  <a:srgbClr val="1A1A1A"/>
                </a:solidFill>
                <a:latin typeface="Arial"/>
              </a:rPr>
              <a:t>If a principle never changes a decision, it is not a principle — it is a slogan.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gives you ten — already debated across many countries</a:t>
            </a:r>
          </a:p>
        </p:txBody>
      </p:sp>
      <p:sp>
        <p:nvSpPr>
          <p:cNvPr id="4" name="Oval 3"/>
          <p:cNvSpPr/>
          <p:nvPr/>
        </p:nvSpPr>
        <p:spPr>
          <a:xfrm>
            <a:off x="65836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81328"/>
            <a:ext cx="4937760" cy="822960"/>
          </a:xfrm>
          <a:prstGeom prst="rect">
            <a:avLst/>
          </a:prstGeom>
          <a:noFill/>
        </p:spPr>
        <p:txBody>
          <a:bodyPr wrap="square">
            <a:spAutoFit/>
          </a:bodyPr>
          <a:lstStyle/>
          <a:p>
            <a:r>
              <a:rPr sz="1700" b="1" i="0">
                <a:solidFill>
                  <a:srgbClr val="1A1A1A"/>
                </a:solidFill>
                <a:latin typeface="Arial"/>
              </a:rPr>
              <a:t>Rule of law</a:t>
            </a:r>
          </a:p>
        </p:txBody>
      </p:sp>
      <p:sp>
        <p:nvSpPr>
          <p:cNvPr id="6" name="Rectangle 5"/>
          <p:cNvSpPr/>
          <p:nvPr/>
        </p:nvSpPr>
        <p:spPr>
          <a:xfrm>
            <a:off x="65836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14016"/>
            <a:ext cx="4937760" cy="822960"/>
          </a:xfrm>
          <a:prstGeom prst="rect">
            <a:avLst/>
          </a:prstGeom>
          <a:noFill/>
        </p:spPr>
        <p:txBody>
          <a:bodyPr wrap="square">
            <a:spAutoFit/>
          </a:bodyPr>
          <a:lstStyle/>
          <a:p>
            <a:r>
              <a:rPr sz="1700" b="1" i="0">
                <a:solidFill>
                  <a:srgbClr val="1A1A1A"/>
                </a:solidFill>
                <a:latin typeface="Arial"/>
              </a:rPr>
              <a:t>Intrinsic security and privacy</a:t>
            </a:r>
          </a:p>
        </p:txBody>
      </p:sp>
      <p:sp>
        <p:nvSpPr>
          <p:cNvPr id="9" name="Rectangle 8"/>
          <p:cNvSpPr/>
          <p:nvPr/>
        </p:nvSpPr>
        <p:spPr>
          <a:xfrm>
            <a:off x="65836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4937760" cy="822960"/>
          </a:xfrm>
          <a:prstGeom prst="rect">
            <a:avLst/>
          </a:prstGeom>
          <a:noFill/>
        </p:spPr>
        <p:txBody>
          <a:bodyPr wrap="square">
            <a:spAutoFit/>
          </a:bodyPr>
          <a:lstStyle/>
          <a:p>
            <a:r>
              <a:rPr sz="1700" b="1" i="0">
                <a:solidFill>
                  <a:srgbClr val="1A1A1A"/>
                </a:solidFill>
                <a:latin typeface="Arial"/>
              </a:rPr>
              <a:t>Openness and transparency</a:t>
            </a:r>
          </a:p>
        </p:txBody>
      </p:sp>
      <p:sp>
        <p:nvSpPr>
          <p:cNvPr id="12" name="Rectangle 11"/>
          <p:cNvSpPr/>
          <p:nvPr/>
        </p:nvSpPr>
        <p:spPr>
          <a:xfrm>
            <a:off x="65836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79392"/>
            <a:ext cx="4937760" cy="822960"/>
          </a:xfrm>
          <a:prstGeom prst="rect">
            <a:avLst/>
          </a:prstGeom>
          <a:noFill/>
        </p:spPr>
        <p:txBody>
          <a:bodyPr wrap="square">
            <a:spAutoFit/>
          </a:bodyPr>
          <a:lstStyle/>
          <a:p>
            <a:r>
              <a:rPr sz="1700" b="1" i="0">
                <a:solidFill>
                  <a:srgbClr val="1A1A1A"/>
                </a:solidFill>
                <a:latin typeface="Arial"/>
              </a:rPr>
              <a:t>Interoperability by default</a:t>
            </a:r>
          </a:p>
        </p:txBody>
      </p:sp>
      <p:sp>
        <p:nvSpPr>
          <p:cNvPr id="15" name="Rectangle 14"/>
          <p:cNvSpPr/>
          <p:nvPr/>
        </p:nvSpPr>
        <p:spPr>
          <a:xfrm>
            <a:off x="65836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212080"/>
            <a:ext cx="4937760" cy="822960"/>
          </a:xfrm>
          <a:prstGeom prst="rect">
            <a:avLst/>
          </a:prstGeom>
          <a:noFill/>
        </p:spPr>
        <p:txBody>
          <a:bodyPr wrap="square">
            <a:spAutoFit/>
          </a:bodyPr>
          <a:lstStyle/>
          <a:p>
            <a:r>
              <a:rPr sz="1700" b="1" i="0">
                <a:solidFill>
                  <a:srgbClr val="1A1A1A"/>
                </a:solidFill>
                <a:latin typeface="Arial"/>
              </a:rPr>
              <a:t>Once-only</a:t>
            </a:r>
          </a:p>
        </p:txBody>
      </p:sp>
      <p:sp>
        <p:nvSpPr>
          <p:cNvPr id="18" name="Oval 17"/>
          <p:cNvSpPr/>
          <p:nvPr/>
        </p:nvSpPr>
        <p:spPr>
          <a:xfrm>
            <a:off x="628192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19" name="TextBox 18"/>
          <p:cNvSpPr txBox="1"/>
          <p:nvPr/>
        </p:nvSpPr>
        <p:spPr>
          <a:xfrm>
            <a:off x="6739128" y="1481328"/>
            <a:ext cx="4937760" cy="822960"/>
          </a:xfrm>
          <a:prstGeom prst="rect">
            <a:avLst/>
          </a:prstGeom>
          <a:noFill/>
        </p:spPr>
        <p:txBody>
          <a:bodyPr wrap="square">
            <a:spAutoFit/>
          </a:bodyPr>
          <a:lstStyle/>
          <a:p>
            <a:r>
              <a:rPr sz="1700" b="1" i="0">
                <a:solidFill>
                  <a:srgbClr val="1A1A1A"/>
                </a:solidFill>
                <a:latin typeface="Arial"/>
              </a:rPr>
              <a:t>User-centred and inclusive</a:t>
            </a:r>
          </a:p>
        </p:txBody>
      </p:sp>
      <p:sp>
        <p:nvSpPr>
          <p:cNvPr id="20" name="Rectangle 19"/>
          <p:cNvSpPr/>
          <p:nvPr/>
        </p:nvSpPr>
        <p:spPr>
          <a:xfrm>
            <a:off x="628192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8192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2" name="TextBox 21"/>
          <p:cNvSpPr txBox="1"/>
          <p:nvPr/>
        </p:nvSpPr>
        <p:spPr>
          <a:xfrm>
            <a:off x="6739128" y="2414016"/>
            <a:ext cx="4937760" cy="822960"/>
          </a:xfrm>
          <a:prstGeom prst="rect">
            <a:avLst/>
          </a:prstGeom>
          <a:noFill/>
        </p:spPr>
        <p:txBody>
          <a:bodyPr wrap="square">
            <a:spAutoFit/>
          </a:bodyPr>
          <a:lstStyle/>
          <a:p>
            <a:r>
              <a:rPr sz="1700" b="1" i="0">
                <a:solidFill>
                  <a:srgbClr val="1A1A1A"/>
                </a:solidFill>
                <a:latin typeface="Arial"/>
              </a:rPr>
              <a:t>Reuse and sharing</a:t>
            </a:r>
          </a:p>
        </p:txBody>
      </p:sp>
      <p:sp>
        <p:nvSpPr>
          <p:cNvPr id="23" name="Rectangle 22"/>
          <p:cNvSpPr/>
          <p:nvPr/>
        </p:nvSpPr>
        <p:spPr>
          <a:xfrm>
            <a:off x="628192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8192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8</a:t>
            </a:r>
          </a:p>
        </p:txBody>
      </p:sp>
      <p:sp>
        <p:nvSpPr>
          <p:cNvPr id="25" name="TextBox 24"/>
          <p:cNvSpPr txBox="1"/>
          <p:nvPr/>
        </p:nvSpPr>
        <p:spPr>
          <a:xfrm>
            <a:off x="6739128" y="3346704"/>
            <a:ext cx="4937760" cy="822960"/>
          </a:xfrm>
          <a:prstGeom prst="rect">
            <a:avLst/>
          </a:prstGeom>
          <a:noFill/>
        </p:spPr>
        <p:txBody>
          <a:bodyPr wrap="square">
            <a:spAutoFit/>
          </a:bodyPr>
          <a:lstStyle/>
          <a:p>
            <a:r>
              <a:rPr sz="1700" b="1" i="0">
                <a:solidFill>
                  <a:srgbClr val="1A1A1A"/>
                </a:solidFill>
                <a:latin typeface="Arial"/>
              </a:rPr>
              <a:t>Data as a managed asset — one source of truth</a:t>
            </a:r>
          </a:p>
        </p:txBody>
      </p:sp>
      <p:sp>
        <p:nvSpPr>
          <p:cNvPr id="26" name="Rectangle 25"/>
          <p:cNvSpPr/>
          <p:nvPr/>
        </p:nvSpPr>
        <p:spPr>
          <a:xfrm>
            <a:off x="628192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8192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9</a:t>
            </a:r>
          </a:p>
        </p:txBody>
      </p:sp>
      <p:sp>
        <p:nvSpPr>
          <p:cNvPr id="28" name="TextBox 27"/>
          <p:cNvSpPr txBox="1"/>
          <p:nvPr/>
        </p:nvSpPr>
        <p:spPr>
          <a:xfrm>
            <a:off x="6739128" y="4279392"/>
            <a:ext cx="4937760" cy="822960"/>
          </a:xfrm>
          <a:prstGeom prst="rect">
            <a:avLst/>
          </a:prstGeom>
          <a:noFill/>
        </p:spPr>
        <p:txBody>
          <a:bodyPr wrap="square">
            <a:spAutoFit/>
          </a:bodyPr>
          <a:lstStyle/>
          <a:p>
            <a:r>
              <a:rPr sz="1700" b="1" i="0">
                <a:solidFill>
                  <a:srgbClr val="1A1A1A"/>
                </a:solidFill>
                <a:latin typeface="Arial"/>
              </a:rPr>
              <a:t>Technology neutrality — avoid lock-in</a:t>
            </a:r>
          </a:p>
        </p:txBody>
      </p:sp>
      <p:sp>
        <p:nvSpPr>
          <p:cNvPr id="29" name="Rectangle 28"/>
          <p:cNvSpPr/>
          <p:nvPr/>
        </p:nvSpPr>
        <p:spPr>
          <a:xfrm>
            <a:off x="628192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8192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10</a:t>
            </a:r>
          </a:p>
        </p:txBody>
      </p:sp>
      <p:sp>
        <p:nvSpPr>
          <p:cNvPr id="31" name="TextBox 30"/>
          <p:cNvSpPr txBox="1"/>
          <p:nvPr/>
        </p:nvSpPr>
        <p:spPr>
          <a:xfrm>
            <a:off x="6739128" y="5212080"/>
            <a:ext cx="4937760" cy="822960"/>
          </a:xfrm>
          <a:prstGeom prst="rect">
            <a:avLst/>
          </a:prstGeom>
          <a:noFill/>
        </p:spPr>
        <p:txBody>
          <a:bodyPr wrap="square">
            <a:spAutoFit/>
          </a:bodyPr>
          <a:lstStyle/>
          <a:p>
            <a:r>
              <a:rPr sz="1700" b="1" i="0">
                <a:solidFill>
                  <a:srgbClr val="1A1A1A"/>
                </a:solidFill>
                <a:latin typeface="Arial"/>
              </a:rPr>
              <a:t>Sustainability</a:t>
            </a:r>
          </a:p>
        </p:txBody>
      </p:sp>
      <p:sp>
        <p:nvSpPr>
          <p:cNvPr id="32" name="TextBox 3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Adopting them is three steps, not a three-month workshop</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Adopt the ten as your baseline</a:t>
            </a:r>
          </a:p>
          <a:p>
            <a:pPr>
              <a:spcAft>
                <a:spcPts val="300"/>
              </a:spcAft>
            </a:pPr>
            <a:r>
              <a:rPr sz="1550" b="0" i="0">
                <a:solidFill>
                  <a:srgbClr val="595959"/>
                </a:solidFill>
                <a:latin typeface="Arial"/>
              </a:rPr>
              <a:t>You inherit the thinking instead of starting from a blank page.</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Tailor the wording to your country</a:t>
            </a:r>
          </a:p>
          <a:p>
            <a:pPr>
              <a:spcAft>
                <a:spcPts val="300"/>
              </a:spcAft>
            </a:pPr>
            <a:r>
              <a:rPr sz="1550" b="0" i="0">
                <a:solidFill>
                  <a:srgbClr val="595959"/>
                </a:solidFill>
                <a:latin typeface="Arial"/>
              </a:rPr>
              <a:t>Point each principle at your own laws, your data-protection act, your procurement rules, so it has teeth in your context.</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Add at most a few country-specific principles</a:t>
            </a:r>
          </a:p>
          <a:p>
            <a:pPr>
              <a:spcAft>
                <a:spcPts val="300"/>
              </a:spcAft>
            </a:pPr>
            <a:r>
              <a:rPr sz="1550" b="0" i="0">
                <a:solidFill>
                  <a:srgbClr val="595959"/>
                </a:solidFill>
                <a:latin typeface="Arial"/>
              </a:rPr>
              <a:t>Only where PAERA genuinely does not cover something — deliberately, with a reason written down.</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Make a principle bite — statement, reason, implication</a:t>
            </a:r>
          </a:p>
        </p:txBody>
      </p:sp>
      <p:sp>
        <p:nvSpPr>
          <p:cNvPr id="4" name="Rounded Rectangle 3"/>
          <p:cNvSpPr/>
          <p:nvPr/>
        </p:nvSpPr>
        <p:spPr>
          <a:xfrm>
            <a:off x="658368" y="1600200"/>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2194560" cy="365760"/>
          </a:xfrm>
          <a:prstGeom prst="rect">
            <a:avLst/>
          </a:prstGeom>
          <a:noFill/>
        </p:spPr>
        <p:txBody>
          <a:bodyPr wrap="square">
            <a:spAutoFit/>
          </a:bodyPr>
          <a:lstStyle/>
          <a:p>
            <a:r>
              <a:rPr sz="1100" b="1" i="0">
                <a:solidFill>
                  <a:srgbClr val="006E96"/>
                </a:solidFill>
                <a:latin typeface="Arial"/>
              </a:rPr>
              <a:t>STATEMENT</a:t>
            </a:r>
          </a:p>
        </p:txBody>
      </p:sp>
      <p:sp>
        <p:nvSpPr>
          <p:cNvPr id="6" name="TextBox 5"/>
          <p:cNvSpPr txBox="1"/>
          <p:nvPr/>
        </p:nvSpPr>
        <p:spPr>
          <a:xfrm>
            <a:off x="3108960" y="1709928"/>
            <a:ext cx="8183879" cy="1005840"/>
          </a:xfrm>
          <a:prstGeom prst="rect">
            <a:avLst/>
          </a:prstGeom>
          <a:noFill/>
        </p:spPr>
        <p:txBody>
          <a:bodyPr wrap="square">
            <a:spAutoFit/>
          </a:bodyPr>
          <a:lstStyle/>
          <a:p>
            <a:r>
              <a:rPr sz="1800" b="0" i="0">
                <a:solidFill>
                  <a:srgbClr val="1A1A1A"/>
                </a:solidFill>
                <a:latin typeface="Arial"/>
              </a:rPr>
              <a:t>We consume an existing building block before we build a new one.</a:t>
            </a:r>
          </a:p>
        </p:txBody>
      </p:sp>
      <p:sp>
        <p:nvSpPr>
          <p:cNvPr id="7" name="Rounded Rectangle 6"/>
          <p:cNvSpPr/>
          <p:nvPr/>
        </p:nvSpPr>
        <p:spPr>
          <a:xfrm>
            <a:off x="658368" y="2990088"/>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27248"/>
            <a:ext cx="2194560" cy="365760"/>
          </a:xfrm>
          <a:prstGeom prst="rect">
            <a:avLst/>
          </a:prstGeom>
          <a:noFill/>
        </p:spPr>
        <p:txBody>
          <a:bodyPr wrap="square">
            <a:spAutoFit/>
          </a:bodyPr>
          <a:lstStyle/>
          <a:p>
            <a:r>
              <a:rPr sz="1100" b="1" i="0">
                <a:solidFill>
                  <a:srgbClr val="006E96"/>
                </a:solidFill>
                <a:latin typeface="Arial"/>
              </a:rPr>
              <a:t>REASON</a:t>
            </a:r>
          </a:p>
        </p:txBody>
      </p:sp>
      <p:sp>
        <p:nvSpPr>
          <p:cNvPr id="9" name="TextBox 8"/>
          <p:cNvSpPr txBox="1"/>
          <p:nvPr/>
        </p:nvSpPr>
        <p:spPr>
          <a:xfrm>
            <a:off x="3108960" y="3099816"/>
            <a:ext cx="8183879" cy="1005840"/>
          </a:xfrm>
          <a:prstGeom prst="rect">
            <a:avLst/>
          </a:prstGeom>
          <a:noFill/>
        </p:spPr>
        <p:txBody>
          <a:bodyPr wrap="square">
            <a:spAutoFit/>
          </a:bodyPr>
          <a:lstStyle/>
          <a:p>
            <a:r>
              <a:rPr sz="1800" b="0" i="0">
                <a:solidFill>
                  <a:srgbClr val="1A1A1A"/>
                </a:solidFill>
                <a:latin typeface="Arial"/>
              </a:rPr>
              <a:t>The country pays once, not many times.</a:t>
            </a:r>
          </a:p>
        </p:txBody>
      </p:sp>
      <p:sp>
        <p:nvSpPr>
          <p:cNvPr id="10" name="Rounded Rectangle 9"/>
          <p:cNvSpPr/>
          <p:nvPr/>
        </p:nvSpPr>
        <p:spPr>
          <a:xfrm>
            <a:off x="658368" y="4379976"/>
            <a:ext cx="10881360" cy="14630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517136"/>
            <a:ext cx="2194560" cy="365760"/>
          </a:xfrm>
          <a:prstGeom prst="rect">
            <a:avLst/>
          </a:prstGeom>
          <a:noFill/>
        </p:spPr>
        <p:txBody>
          <a:bodyPr wrap="square">
            <a:spAutoFit/>
          </a:bodyPr>
          <a:lstStyle/>
          <a:p>
            <a:r>
              <a:rPr sz="1100" b="1" i="0">
                <a:solidFill>
                  <a:srgbClr val="FFFFFF"/>
                </a:solidFill>
                <a:latin typeface="Arial"/>
              </a:rPr>
              <a:t>IMPLICATION</a:t>
            </a:r>
          </a:p>
        </p:txBody>
      </p:sp>
      <p:sp>
        <p:nvSpPr>
          <p:cNvPr id="12" name="TextBox 11"/>
          <p:cNvSpPr txBox="1"/>
          <p:nvPr/>
        </p:nvSpPr>
        <p:spPr>
          <a:xfrm>
            <a:off x="3108960" y="4489704"/>
            <a:ext cx="8183879" cy="1234440"/>
          </a:xfrm>
          <a:prstGeom prst="rect">
            <a:avLst/>
          </a:prstGeom>
          <a:noFill/>
        </p:spPr>
        <p:txBody>
          <a:bodyPr wrap="square">
            <a:spAutoFit/>
          </a:bodyPr>
          <a:lstStyle/>
          <a:p>
            <a:r>
              <a:rPr sz="1900" b="1" i="0">
                <a:solidFill>
                  <a:srgbClr val="FFFFFF"/>
                </a:solidFill>
                <a:latin typeface="Arial"/>
              </a:rPr>
              <a:t>Any project proposing to build its own identity must first show why the shared one cannot be used — and the EA Board can say no.</a:t>
            </a:r>
          </a:p>
        </p:txBody>
      </p:sp>
      <p:sp>
        <p:nvSpPr>
          <p:cNvPr id="13" name="TextBox 12"/>
          <p:cNvSpPr txBox="1"/>
          <p:nvPr/>
        </p:nvSpPr>
        <p:spPr>
          <a:xfrm>
            <a:off x="658368" y="5897880"/>
            <a:ext cx="10881360" cy="365760"/>
          </a:xfrm>
          <a:prstGeom prst="rect">
            <a:avLst/>
          </a:prstGeom>
          <a:noFill/>
        </p:spPr>
        <p:txBody>
          <a:bodyPr wrap="square">
            <a:spAutoFit/>
          </a:bodyPr>
          <a:lstStyle/>
          <a:p>
            <a:r>
              <a:rPr sz="1450" b="0" i="0">
                <a:solidFill>
                  <a:srgbClr val="595959"/>
                </a:solidFill>
                <a:latin typeface="Arial"/>
              </a:rPr>
              <a:t>A principle with a written implication can settle an argument. A principle without one cannot.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Principles are decisions you make once so your team does not re-argue them on every project — and PAERA already made the first ten for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 PAERA principle into a country-tailored principle card.</a:t>
            </a:r>
          </a:p>
          <a:p>
            <a:pPr algn="l">
              <a:spcAft>
                <a:spcPts val="400"/>
              </a:spcAft>
            </a:pPr>
            <a:r>
              <a:rPr sz="1800" b="0" i="0">
                <a:solidFill>
                  <a:srgbClr val="595959"/>
                </a:solidFill>
                <a:latin typeface="Arial"/>
              </a:rPr>
              <a:t>The prompt in the companion material gives you a four-part principle card ready for the EA Board's principle register.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§3.3 (Digital Infrastructure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577840"/>
            <a:ext cx="10881360" cy="64008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Classify a public body and generate its expected profile.</a:t>
            </a:r>
          </a:p>
          <a:p>
            <a:pPr algn="l">
              <a:spcAft>
                <a:spcPts val="400"/>
              </a:spcAft>
            </a:pPr>
            <a:r>
              <a:rPr sz="1800" b="0" i="0">
                <a:solidFill>
                  <a:srgbClr val="595959"/>
                </a:solidFill>
                <a:latin typeface="Arial"/>
              </a:rPr>
              <a:t>The prompt in the companion material gives you a classification, an expected-profile table, and confirmation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BDAT on a real ministry — the Progressa walkthrough</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Watch the four layers and the shared entities applied to one real education system — Progressa's ministry, learner registry, examination authority and identity authority — and the abstract method becomes a concrete picture you can reproduce on your own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Classify the bodies first — that is where the head start comes from</a:t>
            </a:r>
          </a:p>
        </p:txBody>
      </p:sp>
      <p:sp>
        <p:nvSpPr>
          <p:cNvPr id="4" name="TextBox 3"/>
          <p:cNvSpPr txBox="1"/>
          <p:nvPr/>
        </p:nvSpPr>
        <p:spPr>
          <a:xfrm>
            <a:off x="658368" y="1417320"/>
            <a:ext cx="10984687" cy="923544"/>
          </a:xfrm>
          <a:prstGeom prst="rect">
            <a:avLst/>
          </a:prstGeom>
          <a:noFill/>
        </p:spPr>
        <p:txBody>
          <a:bodyPr wrap="square">
            <a:spAutoFit/>
          </a:bodyPr>
          <a:lstStyle/>
          <a:p>
            <a:pPr>
              <a:spcAft>
                <a:spcPts val="300"/>
              </a:spcAft>
            </a:pPr>
            <a:r>
              <a:rPr sz="1700" b="1" i="0">
                <a:solidFill>
                  <a:srgbClr val="1A1A1A"/>
                </a:solidFill>
                <a:latin typeface="Arial"/>
              </a:rPr>
              <a:t>Ministry of Education, Youth and Sport (MoEYS)</a:t>
            </a:r>
          </a:p>
          <a:p>
            <a:pPr>
              <a:spcAft>
                <a:spcPts val="300"/>
              </a:spcAft>
            </a:pPr>
            <a:r>
              <a:rPr sz="1450" b="0" i="0">
                <a:solidFill>
                  <a:srgbClr val="595959"/>
                </a:solidFill>
                <a:latin typeface="Arial"/>
              </a:rPr>
              <a:t>Policy unit — sets education policy, owns the rules.</a:t>
            </a:r>
          </a:p>
        </p:txBody>
      </p:sp>
      <p:sp>
        <p:nvSpPr>
          <p:cNvPr id="5" name="Rectangle 4"/>
          <p:cNvSpPr/>
          <p:nvPr/>
        </p:nvSpPr>
        <p:spPr>
          <a:xfrm>
            <a:off x="621792" y="23454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86584"/>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Examination Authority (PNEA)</a:t>
            </a:r>
          </a:p>
          <a:p>
            <a:pPr>
              <a:spcAft>
                <a:spcPts val="300"/>
              </a:spcAft>
            </a:pPr>
            <a:r>
              <a:rPr sz="1450" b="0" i="0">
                <a:solidFill>
                  <a:srgbClr val="595959"/>
                </a:solidFill>
                <a:latin typeface="Arial"/>
              </a:rPr>
              <a:t>Service-delivery authority with a regulatory edge — runs examinations at scale, certifies results.</a:t>
            </a:r>
          </a:p>
        </p:txBody>
      </p:sp>
      <p:sp>
        <p:nvSpPr>
          <p:cNvPr id="7" name="Rectangle 6"/>
          <p:cNvSpPr/>
          <p:nvPr/>
        </p:nvSpPr>
        <p:spPr>
          <a:xfrm>
            <a:off x="621792" y="33147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55848"/>
            <a:ext cx="10984687" cy="923544"/>
          </a:xfrm>
          <a:prstGeom prst="rect">
            <a:avLst/>
          </a:prstGeom>
          <a:noFill/>
        </p:spPr>
        <p:txBody>
          <a:bodyPr wrap="square">
            <a:spAutoFit/>
          </a:bodyPr>
          <a:lstStyle/>
          <a:p>
            <a:pPr>
              <a:spcAft>
                <a:spcPts val="300"/>
              </a:spcAft>
            </a:pPr>
            <a:r>
              <a:rPr sz="1700" b="1" i="0">
                <a:solidFill>
                  <a:srgbClr val="1A1A1A"/>
                </a:solidFill>
                <a:latin typeface="Arial"/>
              </a:rPr>
              <a:t>Learner Registry (PLR)</a:t>
            </a:r>
          </a:p>
          <a:p>
            <a:pPr>
              <a:spcAft>
                <a:spcPts val="300"/>
              </a:spcAft>
            </a:pPr>
            <a:r>
              <a:rPr sz="1450" b="0" i="0">
                <a:solidFill>
                  <a:srgbClr val="595959"/>
                </a:solidFill>
                <a:latin typeface="Arial"/>
              </a:rPr>
              <a:t>State registry — the authoritative single source for who is a learner.</a:t>
            </a:r>
          </a:p>
        </p:txBody>
      </p:sp>
      <p:sp>
        <p:nvSpPr>
          <p:cNvPr id="9" name="Rectangle 8"/>
          <p:cNvSpPr/>
          <p:nvPr/>
        </p:nvSpPr>
        <p:spPr>
          <a:xfrm>
            <a:off x="621792" y="428396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325112"/>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Identity Authority (PNIA)</a:t>
            </a:r>
          </a:p>
          <a:p>
            <a:pPr>
              <a:spcAft>
                <a:spcPts val="300"/>
              </a:spcAft>
            </a:pPr>
            <a:r>
              <a:rPr sz="1450" b="0" i="0">
                <a:solidFill>
                  <a:srgbClr val="595959"/>
                </a:solidFill>
                <a:latin typeface="Arial"/>
              </a:rPr>
              <a:t>State registry and shared platform — owns the person identity every sector reuses.</a:t>
            </a:r>
          </a:p>
        </p:txBody>
      </p:sp>
      <p:sp>
        <p:nvSpPr>
          <p:cNvPr id="11" name="Rectangle 10"/>
          <p:cNvSpPr/>
          <p:nvPr/>
        </p:nvSpPr>
        <p:spPr>
          <a:xfrm>
            <a:off x="621792" y="52532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94376"/>
            <a:ext cx="10984687" cy="923544"/>
          </a:xfrm>
          <a:prstGeom prst="rect">
            <a:avLst/>
          </a:prstGeom>
          <a:noFill/>
        </p:spPr>
        <p:txBody>
          <a:bodyPr wrap="square">
            <a:spAutoFit/>
          </a:bodyPr>
          <a:lstStyle/>
          <a:p>
            <a:pPr>
              <a:spcAft>
                <a:spcPts val="300"/>
              </a:spcAft>
            </a:pPr>
            <a:r>
              <a:rPr sz="1700" b="1" i="0">
                <a:solidFill>
                  <a:srgbClr val="1A1A1A"/>
                </a:solidFill>
                <a:latin typeface="Arial"/>
              </a:rPr>
              <a:t>Digital Government Authority (PDGA)</a:t>
            </a:r>
          </a:p>
          <a:p>
            <a:pPr>
              <a:spcAft>
                <a:spcPts val="300"/>
              </a:spcAft>
            </a:pPr>
            <a:r>
              <a:rPr sz="1450" b="0" i="0">
                <a:solidFill>
                  <a:srgbClr val="595959"/>
                </a:solidFill>
                <a:latin typeface="Arial"/>
              </a:rPr>
              <a:t>Shared-platform provider — data exchange and payments.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Business layer — capabilities belong to bodies, services sit on top</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Capabilities</a:t>
            </a:r>
          </a:p>
          <a:p>
            <a:pPr>
              <a:spcAft>
                <a:spcPts val="700"/>
              </a:spcAft>
            </a:pPr>
            <a:r>
              <a:rPr sz="1600" b="0" i="0">
                <a:solidFill>
                  <a:srgbClr val="1A1A1A"/>
                </a:solidFill>
                <a:latin typeface="Arial"/>
              </a:rPr>
              <a:t>Register a learner — PLR</a:t>
            </a:r>
          </a:p>
          <a:p>
            <a:pPr>
              <a:spcAft>
                <a:spcPts val="700"/>
              </a:spcAft>
            </a:pPr>
            <a:r>
              <a:rPr sz="1600" b="0" i="0">
                <a:solidFill>
                  <a:srgbClr val="1A1A1A"/>
                </a:solidFill>
                <a:latin typeface="Arial"/>
              </a:rPr>
              <a:t>Run an examination, certify a result — PNEA</a:t>
            </a:r>
          </a:p>
          <a:p>
            <a:pPr>
              <a:spcAft>
                <a:spcPts val="700"/>
              </a:spcAft>
            </a:pPr>
            <a:r>
              <a:rPr sz="1600" b="0" i="0">
                <a:solidFill>
                  <a:srgbClr val="1A1A1A"/>
                </a:solidFill>
                <a:latin typeface="Arial"/>
              </a:rPr>
              <a:t>Prove identity — PNIA</a:t>
            </a:r>
          </a:p>
          <a:p>
            <a:pPr>
              <a:spcAft>
                <a:spcPts val="700"/>
              </a:spcAft>
            </a:pPr>
            <a:r>
              <a:rPr sz="1600" b="0" i="0">
                <a:solidFill>
                  <a:srgbClr val="1A1A1A"/>
                </a:solidFill>
                <a:latin typeface="Arial"/>
              </a:rPr>
              <a:t>Set policy, fund schools — MoEYS</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Services</a:t>
            </a:r>
          </a:p>
          <a:p>
            <a:pPr>
              <a:spcAft>
                <a:spcPts val="700"/>
              </a:spcAft>
            </a:pPr>
            <a:r>
              <a:rPr sz="1600" b="0" i="0">
                <a:solidFill>
                  <a:srgbClr val="1A1A1A"/>
                </a:solidFill>
                <a:latin typeface="Arial"/>
              </a:rPr>
              <a:t>Enrol a child</a:t>
            </a:r>
          </a:p>
          <a:p>
            <a:pPr>
              <a:spcAft>
                <a:spcPts val="700"/>
              </a:spcAft>
            </a:pPr>
            <a:r>
              <a:rPr sz="1600" b="0" i="0">
                <a:solidFill>
                  <a:srgbClr val="1A1A1A"/>
                </a:solidFill>
                <a:latin typeface="Arial"/>
              </a:rPr>
              <a:t>Sit an examination</a:t>
            </a:r>
          </a:p>
          <a:p>
            <a:pPr>
              <a:spcAft>
                <a:spcPts val="700"/>
              </a:spcAft>
            </a:pPr>
            <a:r>
              <a:rPr sz="1600" b="0" i="0">
                <a:solidFill>
                  <a:srgbClr val="1A1A1A"/>
                </a:solidFill>
                <a:latin typeface="Arial"/>
              </a:rPr>
              <a:t>Receive a certificate</a:t>
            </a:r>
          </a:p>
          <a:p>
            <a:pPr>
              <a:spcAft>
                <a:spcPts val="700"/>
              </a:spcAft>
            </a:pPr>
            <a:r>
              <a:rPr sz="1600" b="0" i="0">
                <a:solidFill>
                  <a:srgbClr val="1A1A1A"/>
                </a:solidFill>
                <a:latin typeface="Arial"/>
              </a:rPr>
              <a:t>Transfer schools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Each service traces down to a capability owned by exactly one body. Two bodies claiming one capability is your first gap.</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Data layer — one domain, one owner, one authoritative copy</a:t>
            </a:r>
          </a:p>
        </p:txBody>
      </p:sp>
      <p:sp>
        <p:nvSpPr>
          <p:cNvPr id="4" name="TextBox 3"/>
          <p:cNvSpPr txBox="1"/>
          <p:nvPr/>
        </p:nvSpPr>
        <p:spPr>
          <a:xfrm>
            <a:off x="658368" y="1463040"/>
            <a:ext cx="10984687" cy="777240"/>
          </a:xfrm>
          <a:prstGeom prst="rect">
            <a:avLst/>
          </a:prstGeom>
          <a:noFill/>
        </p:spPr>
        <p:txBody>
          <a:bodyPr wrap="square">
            <a:spAutoFit/>
          </a:bodyPr>
          <a:lstStyle/>
          <a:p>
            <a:pPr>
              <a:spcAft>
                <a:spcPts val="300"/>
              </a:spcAft>
            </a:pPr>
            <a:r>
              <a:rPr sz="1900" b="1" i="0">
                <a:solidFill>
                  <a:srgbClr val="1A1A1A"/>
                </a:solidFill>
                <a:latin typeface="Arial"/>
              </a:rPr>
              <a:t>Person</a:t>
            </a:r>
          </a:p>
          <a:p>
            <a:pPr>
              <a:spcAft>
                <a:spcPts val="300"/>
              </a:spcAft>
            </a:pPr>
            <a:r>
              <a:rPr sz="1550" b="0" i="0">
                <a:solidFill>
                  <a:srgbClr val="595959"/>
                </a:solidFill>
                <a:latin typeface="Arial"/>
              </a:rPr>
              <a:t>Owned by PNIA. Everyone else uses the person identity; no one else mints it.</a:t>
            </a:r>
          </a:p>
        </p:txBody>
      </p:sp>
      <p:sp>
        <p:nvSpPr>
          <p:cNvPr id="5" name="Rectangle 4"/>
          <p:cNvSpPr/>
          <p:nvPr/>
        </p:nvSpPr>
        <p:spPr>
          <a:xfrm>
            <a:off x="621792" y="224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86000"/>
            <a:ext cx="10984687" cy="777240"/>
          </a:xfrm>
          <a:prstGeom prst="rect">
            <a:avLst/>
          </a:prstGeom>
          <a:noFill/>
        </p:spPr>
        <p:txBody>
          <a:bodyPr wrap="square">
            <a:spAutoFit/>
          </a:bodyPr>
          <a:lstStyle/>
          <a:p>
            <a:pPr>
              <a:spcAft>
                <a:spcPts val="300"/>
              </a:spcAft>
            </a:pPr>
            <a:r>
              <a:rPr sz="1900" b="1" i="0">
                <a:solidFill>
                  <a:srgbClr val="1A1A1A"/>
                </a:solidFill>
                <a:latin typeface="Arial"/>
              </a:rPr>
              <a:t>Learner</a:t>
            </a:r>
          </a:p>
          <a:p>
            <a:pPr>
              <a:spcAft>
                <a:spcPts val="300"/>
              </a:spcAft>
            </a:pPr>
            <a:r>
              <a:rPr sz="1550" b="0" i="0">
                <a:solidFill>
                  <a:srgbClr val="595959"/>
                </a:solidFill>
                <a:latin typeface="Arial"/>
              </a:rPr>
              <a:t>Owned by PLR.</a:t>
            </a:r>
          </a:p>
        </p:txBody>
      </p:sp>
      <p:sp>
        <p:nvSpPr>
          <p:cNvPr id="7" name="Rectangle 6"/>
          <p:cNvSpPr/>
          <p:nvPr/>
        </p:nvSpPr>
        <p:spPr>
          <a:xfrm>
            <a:off x="621792" y="306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08960"/>
            <a:ext cx="10984687" cy="777240"/>
          </a:xfrm>
          <a:prstGeom prst="rect">
            <a:avLst/>
          </a:prstGeom>
          <a:noFill/>
        </p:spPr>
        <p:txBody>
          <a:bodyPr wrap="square">
            <a:spAutoFit/>
          </a:bodyPr>
          <a:lstStyle/>
          <a:p>
            <a:pPr>
              <a:spcAft>
                <a:spcPts val="300"/>
              </a:spcAft>
            </a:pPr>
            <a:r>
              <a:rPr sz="1900" b="1" i="0">
                <a:solidFill>
                  <a:srgbClr val="1A1A1A"/>
                </a:solidFill>
                <a:latin typeface="Arial"/>
              </a:rPr>
              <a:t>Examination result</a:t>
            </a:r>
          </a:p>
          <a:p>
            <a:pPr>
              <a:spcAft>
                <a:spcPts val="300"/>
              </a:spcAft>
            </a:pPr>
            <a:r>
              <a:rPr sz="1550" b="0" i="0">
                <a:solidFill>
                  <a:srgbClr val="595959"/>
                </a:solidFill>
                <a:latin typeface="Arial"/>
              </a:rPr>
              <a:t>Owned by PNEA.</a:t>
            </a:r>
          </a:p>
        </p:txBody>
      </p:sp>
      <p:sp>
        <p:nvSpPr>
          <p:cNvPr id="9" name="Rectangle 8"/>
          <p:cNvSpPr/>
          <p:nvPr/>
        </p:nvSpPr>
        <p:spPr>
          <a:xfrm>
            <a:off x="621792" y="3890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931920"/>
            <a:ext cx="10984687" cy="777240"/>
          </a:xfrm>
          <a:prstGeom prst="rect">
            <a:avLst/>
          </a:prstGeom>
          <a:noFill/>
        </p:spPr>
        <p:txBody>
          <a:bodyPr wrap="square">
            <a:spAutoFit/>
          </a:bodyPr>
          <a:lstStyle/>
          <a:p>
            <a:pPr>
              <a:spcAft>
                <a:spcPts val="300"/>
              </a:spcAft>
            </a:pPr>
            <a:r>
              <a:rPr sz="1900" b="1" i="0">
                <a:solidFill>
                  <a:srgbClr val="1A1A1A"/>
                </a:solidFill>
                <a:latin typeface="Arial"/>
              </a:rPr>
              <a:t>School</a:t>
            </a:r>
          </a:p>
          <a:p>
            <a:pPr>
              <a:spcAft>
                <a:spcPts val="300"/>
              </a:spcAft>
            </a:pPr>
            <a:r>
              <a:rPr sz="1550" b="0" i="0">
                <a:solidFill>
                  <a:srgbClr val="595959"/>
                </a:solidFill>
                <a:latin typeface="Arial"/>
              </a:rPr>
              <a:t>Owned by MoEYS.</a:t>
            </a:r>
          </a:p>
        </p:txBody>
      </p:sp>
      <p:sp>
        <p:nvSpPr>
          <p:cNvPr id="11" name="Rounded Rectangle 10"/>
          <p:cNvSpPr/>
          <p:nvPr/>
        </p:nvSpPr>
        <p:spPr>
          <a:xfrm>
            <a:off x="658368" y="4937760"/>
            <a:ext cx="10881360" cy="1234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84064"/>
            <a:ext cx="10479024" cy="960120"/>
          </a:xfrm>
          <a:prstGeom prst="rect">
            <a:avLst/>
          </a:prstGeom>
          <a:noFill/>
        </p:spPr>
        <p:txBody>
          <a:bodyPr wrap="square">
            <a:spAutoFit/>
          </a:bodyPr>
          <a:lstStyle/>
          <a:p>
            <a:pPr>
              <a:spcAft>
                <a:spcPts val="700"/>
              </a:spcAft>
            </a:pPr>
            <a:r>
              <a:rPr sz="2000" b="1" i="0">
                <a:solidFill>
                  <a:srgbClr val="FFFFFF"/>
                </a:solidFill>
                <a:latin typeface="Arial"/>
              </a:rPr>
              <a:t>Once-only made concrete: others consume, they do not copy.</a:t>
            </a:r>
          </a:p>
          <a:p>
            <a:pPr>
              <a:spcAft>
                <a:spcPts val="700"/>
              </a:spcAft>
            </a:pPr>
            <a:r>
              <a:rPr sz="1500" b="0" i="0">
                <a:solidFill>
                  <a:srgbClr val="FFFFFF"/>
                </a:solidFill>
                <a:latin typeface="Arial"/>
              </a:rPr>
              <a:t>An examination authority keeping its own learner list is a duplicate registry — write it down.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Application and Technology — every system points up and across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Applications</a:t>
            </a:r>
          </a:p>
          <a:p>
            <a:pPr>
              <a:spcAft>
                <a:spcPts val="700"/>
              </a:spcAft>
            </a:pPr>
            <a:r>
              <a:rPr sz="1600" b="0" i="0">
                <a:solidFill>
                  <a:srgbClr val="1A1A1A"/>
                </a:solidFill>
                <a:latin typeface="Arial"/>
              </a:rPr>
              <a:t>Enrolment system → register-a-learner (PLR)</a:t>
            </a:r>
          </a:p>
          <a:p>
            <a:pPr>
              <a:spcAft>
                <a:spcPts val="700"/>
              </a:spcAft>
            </a:pPr>
            <a:r>
              <a:rPr sz="1600" b="0" i="0">
                <a:solidFill>
                  <a:srgbClr val="1A1A1A"/>
                </a:solidFill>
                <a:latin typeface="Arial"/>
              </a:rPr>
              <a:t>Exam-management system → run-an-examination (PNEA)</a:t>
            </a:r>
          </a:p>
          <a:p>
            <a:pPr>
              <a:spcAft>
                <a:spcPts val="700"/>
              </a:spcAft>
            </a:pPr>
            <a:r>
              <a:rPr sz="1600" b="0" i="0">
                <a:solidFill>
                  <a:srgbClr val="1A1A1A"/>
                </a:solidFill>
                <a:latin typeface="Arial"/>
              </a:rPr>
              <a:t>Identity-verification service → prove-identity (PNIA)</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Technology</a:t>
            </a:r>
          </a:p>
          <a:p>
            <a:pPr>
              <a:spcAft>
                <a:spcPts val="700"/>
              </a:spcAft>
            </a:pPr>
            <a:r>
              <a:rPr sz="1600" b="0" i="0">
                <a:solidFill>
                  <a:srgbClr val="1A1A1A"/>
                </a:solidFill>
                <a:latin typeface="Arial"/>
              </a:rPr>
              <a:t>Shared identity platform</a:t>
            </a:r>
          </a:p>
          <a:p>
            <a:pPr>
              <a:spcAft>
                <a:spcPts val="700"/>
              </a:spcAft>
            </a:pPr>
            <a:r>
              <a:rPr sz="1600" b="0" i="0">
                <a:solidFill>
                  <a:srgbClr val="1A1A1A"/>
                </a:solidFill>
                <a:latin typeface="Arial"/>
              </a:rPr>
              <a:t>Data-exchange backbone (PDGA)</a:t>
            </a:r>
          </a:p>
          <a:p>
            <a:pPr>
              <a:spcAft>
                <a:spcPts val="700"/>
              </a:spcAft>
            </a:pPr>
            <a:r>
              <a:rPr sz="1600" b="0" i="0">
                <a:solidFill>
                  <a:srgbClr val="1A1A1A"/>
                </a:solidFill>
                <a:latin typeface="Arial"/>
              </a:rPr>
              <a:t>Hosting</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short list of shared standards — not a server audit.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3" name="Rounded Rectangle 2"/>
          <p:cNvSpPr/>
          <p:nvPr/>
        </p:nvSpPr>
        <p:spPr>
          <a:xfrm>
            <a:off x="1005840" y="196596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7008" y="2002536"/>
            <a:ext cx="2103120" cy="347472"/>
          </a:xfrm>
          <a:prstGeom prst="rect">
            <a:avLst/>
          </a:prstGeom>
          <a:noFill/>
        </p:spPr>
        <p:txBody>
          <a:bodyPr wrap="square" anchor="ctr">
            <a:spAutoFit/>
          </a:bodyPr>
          <a:lstStyle/>
          <a:p>
            <a:r>
              <a:rPr sz="1200" b="1" i="0">
                <a:solidFill>
                  <a:srgbClr val="006E96"/>
                </a:solidFill>
                <a:latin typeface="Arial"/>
              </a:rPr>
              <a:t>SERVICE</a:t>
            </a:r>
          </a:p>
        </p:txBody>
      </p:sp>
      <p:sp>
        <p:nvSpPr>
          <p:cNvPr id="5" name="TextBox 4"/>
          <p:cNvSpPr txBox="1"/>
          <p:nvPr/>
        </p:nvSpPr>
        <p:spPr>
          <a:xfrm>
            <a:off x="3310128" y="2002536"/>
            <a:ext cx="7644383" cy="347472"/>
          </a:xfrm>
          <a:prstGeom prst="rect">
            <a:avLst/>
          </a:prstGeom>
          <a:noFill/>
        </p:spPr>
        <p:txBody>
          <a:bodyPr wrap="square" anchor="ctr">
            <a:spAutoFit/>
          </a:bodyPr>
          <a:lstStyle/>
          <a:p>
            <a:r>
              <a:rPr sz="1500" b="0" i="0">
                <a:solidFill>
                  <a:srgbClr val="1A1A1A"/>
                </a:solidFill>
                <a:latin typeface="Arial"/>
              </a:rPr>
              <a:t>Sit an examination, get a certificate</a:t>
            </a:r>
          </a:p>
        </p:txBody>
      </p:sp>
      <p:sp>
        <p:nvSpPr>
          <p:cNvPr id="6" name="Diamond 5"/>
          <p:cNvSpPr/>
          <p:nvPr/>
        </p:nvSpPr>
        <p:spPr>
          <a:xfrm>
            <a:off x="6016752" y="238658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251460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 y="2551176"/>
            <a:ext cx="2103120" cy="347472"/>
          </a:xfrm>
          <a:prstGeom prst="rect">
            <a:avLst/>
          </a:prstGeom>
          <a:noFill/>
        </p:spPr>
        <p:txBody>
          <a:bodyPr wrap="square" anchor="ctr">
            <a:spAutoFit/>
          </a:bodyPr>
          <a:lstStyle/>
          <a:p>
            <a:r>
              <a:rPr sz="1200" b="1" i="0">
                <a:solidFill>
                  <a:srgbClr val="006E96"/>
                </a:solidFill>
                <a:latin typeface="Arial"/>
              </a:rPr>
              <a:t>CAPABILITY</a:t>
            </a:r>
          </a:p>
        </p:txBody>
      </p:sp>
      <p:sp>
        <p:nvSpPr>
          <p:cNvPr id="9" name="TextBox 8"/>
          <p:cNvSpPr txBox="1"/>
          <p:nvPr/>
        </p:nvSpPr>
        <p:spPr>
          <a:xfrm>
            <a:off x="3310128" y="2551176"/>
            <a:ext cx="7644383" cy="347472"/>
          </a:xfrm>
          <a:prstGeom prst="rect">
            <a:avLst/>
          </a:prstGeom>
          <a:noFill/>
        </p:spPr>
        <p:txBody>
          <a:bodyPr wrap="square" anchor="ctr">
            <a:spAutoFit/>
          </a:bodyPr>
          <a:lstStyle/>
          <a:p>
            <a:r>
              <a:rPr sz="1500" b="0" i="0">
                <a:solidFill>
                  <a:srgbClr val="1A1A1A"/>
                </a:solidFill>
                <a:latin typeface="Arial"/>
              </a:rPr>
              <a:t>Run-an-examination, certify-a-result — PNEA</a:t>
            </a:r>
          </a:p>
        </p:txBody>
      </p:sp>
      <p:sp>
        <p:nvSpPr>
          <p:cNvPr id="10" name="Diamond 9"/>
          <p:cNvSpPr/>
          <p:nvPr/>
        </p:nvSpPr>
        <p:spPr>
          <a:xfrm>
            <a:off x="6016752" y="293522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306324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099816"/>
            <a:ext cx="2103120" cy="347472"/>
          </a:xfrm>
          <a:prstGeom prst="rect">
            <a:avLst/>
          </a:prstGeom>
          <a:noFill/>
        </p:spPr>
        <p:txBody>
          <a:bodyPr wrap="square" anchor="ctr">
            <a:spAutoFit/>
          </a:bodyPr>
          <a:lstStyle/>
          <a:p>
            <a:r>
              <a:rPr sz="1200" b="1" i="0">
                <a:solidFill>
                  <a:srgbClr val="006E96"/>
                </a:solidFill>
                <a:latin typeface="Arial"/>
              </a:rPr>
              <a:t>APPLICATION</a:t>
            </a:r>
          </a:p>
        </p:txBody>
      </p:sp>
      <p:sp>
        <p:nvSpPr>
          <p:cNvPr id="13" name="TextBox 12"/>
          <p:cNvSpPr txBox="1"/>
          <p:nvPr/>
        </p:nvSpPr>
        <p:spPr>
          <a:xfrm>
            <a:off x="3310128" y="3099816"/>
            <a:ext cx="7644383" cy="347472"/>
          </a:xfrm>
          <a:prstGeom prst="rect">
            <a:avLst/>
          </a:prstGeom>
          <a:noFill/>
        </p:spPr>
        <p:txBody>
          <a:bodyPr wrap="square" anchor="ctr">
            <a:spAutoFit/>
          </a:bodyPr>
          <a:lstStyle/>
          <a:p>
            <a:r>
              <a:rPr sz="1500" b="0" i="0">
                <a:solidFill>
                  <a:srgbClr val="1A1A1A"/>
                </a:solidFill>
                <a:latin typeface="Arial"/>
              </a:rPr>
              <a:t>Exam-management system</a:t>
            </a:r>
          </a:p>
        </p:txBody>
      </p:sp>
      <p:sp>
        <p:nvSpPr>
          <p:cNvPr id="14" name="Diamond 13"/>
          <p:cNvSpPr/>
          <p:nvPr/>
        </p:nvSpPr>
        <p:spPr>
          <a:xfrm>
            <a:off x="6016752" y="348386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5840" y="361188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07008" y="3648456"/>
            <a:ext cx="2103120" cy="347472"/>
          </a:xfrm>
          <a:prstGeom prst="rect">
            <a:avLst/>
          </a:prstGeom>
          <a:noFill/>
        </p:spPr>
        <p:txBody>
          <a:bodyPr wrap="square" anchor="ctr">
            <a:spAutoFit/>
          </a:bodyPr>
          <a:lstStyle/>
          <a:p>
            <a:r>
              <a:rPr sz="1200" b="1" i="0">
                <a:solidFill>
                  <a:srgbClr val="006E96"/>
                </a:solidFill>
                <a:latin typeface="Arial"/>
              </a:rPr>
              <a:t>DATA</a:t>
            </a:r>
          </a:p>
        </p:txBody>
      </p:sp>
      <p:sp>
        <p:nvSpPr>
          <p:cNvPr id="17" name="TextBox 16"/>
          <p:cNvSpPr txBox="1"/>
          <p:nvPr/>
        </p:nvSpPr>
        <p:spPr>
          <a:xfrm>
            <a:off x="3310128" y="3648456"/>
            <a:ext cx="7644383" cy="347472"/>
          </a:xfrm>
          <a:prstGeom prst="rect">
            <a:avLst/>
          </a:prstGeom>
          <a:noFill/>
        </p:spPr>
        <p:txBody>
          <a:bodyPr wrap="square" anchor="ctr">
            <a:spAutoFit/>
          </a:bodyPr>
          <a:lstStyle/>
          <a:p>
            <a:r>
              <a:rPr sz="1500" b="0" i="0">
                <a:solidFill>
                  <a:srgbClr val="1A1A1A"/>
                </a:solidFill>
                <a:latin typeface="Arial"/>
              </a:rPr>
              <a:t>Learner · person · result</a:t>
            </a:r>
          </a:p>
        </p:txBody>
      </p:sp>
      <p:sp>
        <p:nvSpPr>
          <p:cNvPr id="18" name="Diamond 17"/>
          <p:cNvSpPr/>
          <p:nvPr/>
        </p:nvSpPr>
        <p:spPr>
          <a:xfrm>
            <a:off x="6016752" y="40325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05840" y="4160520"/>
            <a:ext cx="10149840" cy="420624"/>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4197096"/>
            <a:ext cx="2103120" cy="347472"/>
          </a:xfrm>
          <a:prstGeom prst="rect">
            <a:avLst/>
          </a:prstGeom>
          <a:noFill/>
        </p:spPr>
        <p:txBody>
          <a:bodyPr wrap="square" anchor="ctr">
            <a:spAutoFit/>
          </a:bodyPr>
          <a:lstStyle/>
          <a:p>
            <a:r>
              <a:rPr sz="1200" b="1" i="0">
                <a:solidFill>
                  <a:srgbClr val="FFFFFF"/>
                </a:solidFill>
                <a:latin typeface="Arial"/>
              </a:rPr>
              <a:t>TECHNOLOGY</a:t>
            </a:r>
          </a:p>
        </p:txBody>
      </p:sp>
      <p:sp>
        <p:nvSpPr>
          <p:cNvPr id="21" name="TextBox 20"/>
          <p:cNvSpPr txBox="1"/>
          <p:nvPr/>
        </p:nvSpPr>
        <p:spPr>
          <a:xfrm>
            <a:off x="3310128" y="4197096"/>
            <a:ext cx="7644383" cy="347472"/>
          </a:xfrm>
          <a:prstGeom prst="rect">
            <a:avLst/>
          </a:prstGeom>
          <a:noFill/>
        </p:spPr>
        <p:txBody>
          <a:bodyPr wrap="square" anchor="ctr">
            <a:spAutoFit/>
          </a:bodyPr>
          <a:lstStyle/>
          <a:p>
            <a:r>
              <a:rPr sz="1500" b="0" i="0">
                <a:solidFill>
                  <a:srgbClr val="FFFFFF"/>
                </a:solidFill>
                <a:latin typeface="Arial"/>
              </a:rPr>
              <a:t>Data exchange · identity platform</a:t>
            </a:r>
          </a:p>
        </p:txBody>
      </p:sp>
      <p:sp>
        <p:nvSpPr>
          <p:cNvPr id="22" name="Rounded Rectangle 21"/>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first-pass BDAT skeleton for a sector.</a:t>
            </a:r>
          </a:p>
          <a:p>
            <a:pPr algn="l">
              <a:spcAft>
                <a:spcPts val="400"/>
              </a:spcAft>
            </a:pPr>
            <a:r>
              <a:rPr sz="1800" b="0" i="0">
                <a:solidFill>
                  <a:srgbClr val="595959"/>
                </a:solidFill>
                <a:latin typeface="Arial"/>
              </a:rPr>
              <a:t>The prompt in the companion material gives you a five-section BDAT skeleton with conflicts flagged. Before the next video.</a:t>
            </a:r>
          </a:p>
        </p:txBody>
      </p:sp>
      <p:sp>
        <p:nvSpPr>
          <p:cNvPr id="23" name="TextBox 2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
        <p:nvSpPr>
          <p:cNvPr id="24" name="TextBox 23"/>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§5.2 (Principles —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a:t>
            </a:r>
          </a:p>
          <a:p>
            <a:pPr>
              <a:spcAft>
                <a:spcPts val="300"/>
              </a:spcAft>
            </a:pPr>
            <a:r>
              <a:rPr sz="1550" b="0" i="0">
                <a:solidFill>
                  <a:srgbClr val="595959"/>
                </a:solidFill>
                <a:latin typeface="Arial"/>
              </a:rPr>
              <a:t>Capabilities, not org boxes.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a:t>
            </a:r>
          </a:p>
          <a:p>
            <a:pPr>
              <a:spcAft>
                <a:spcPts val="300"/>
              </a:spcAft>
            </a:pPr>
            <a:r>
              <a:rPr sz="1550" b="0" i="0">
                <a:solidFill>
                  <a:srgbClr val="595959"/>
                </a:solidFill>
                <a:latin typeface="Arial"/>
              </a:rPr>
              <a:t>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a:t>
            </a:r>
          </a:p>
          <a:p>
            <a:pPr>
              <a:spcAft>
                <a:spcPts val="300"/>
              </a:spcAft>
            </a:pPr>
            <a:r>
              <a:rPr sz="1550" b="0" i="0">
                <a:solidFill>
                  <a:srgbClr val="595959"/>
                </a:solidFill>
                <a:latin typeface="Arial"/>
              </a:rPr>
              <a:t>Every system maps to a capability and a data domain.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a:t>
            </a:r>
          </a:p>
          <a:p>
            <a:pPr>
              <a:spcAft>
                <a:spcPts val="300"/>
              </a:spcAft>
            </a:pPr>
            <a:r>
              <a:rPr sz="1550" b="0" i="0">
                <a:solidFill>
                  <a:srgbClr val="595959"/>
                </a:solidFill>
                <a:latin typeface="Arial"/>
              </a:rPr>
              <a:t>Standards and single points of failure named.</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AS-IS notes into a scored gap analysis.</a:t>
            </a:r>
          </a:p>
          <a:p>
            <a:pPr algn="l">
              <a:spcAft>
                <a:spcPts val="400"/>
              </a:spcAft>
            </a:pPr>
            <a:r>
              <a:rPr sz="1800" b="0" i="0">
                <a:solidFill>
                  <a:srgbClr val="595959"/>
                </a:solidFill>
                <a:latin typeface="Arial"/>
              </a:rPr>
              <a:t>The prompt in the companion material gives you a scored gap table, per-layer maturity scores, and the top-three priority gaps with rationale.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 build, buy, share, sandbox — deliberate?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two-trap screen on a project proposal.</a:t>
            </a:r>
          </a:p>
          <a:p>
            <a:pPr algn="l">
              <a:spcAft>
                <a:spcPts val="400"/>
              </a:spcAft>
            </a:pPr>
            <a:r>
              <a:rPr sz="1800" b="0" i="0">
                <a:solidFill>
                  <a:srgbClr val="595959"/>
                </a:solidFill>
                <a:latin typeface="Arial"/>
              </a:rPr>
              <a:t>The prompt in the companion material gives you a two-trap screen, questions for the project team, and a recommended sourcing posture.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