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be clear what a principle is for. An architectural principle is a short rule that settles a design argument before it starts. 'Reuse before you buy; buy before you build.' 'Data has one owner.' 'The citizen is asked for information only once.' A good principle is a decision you make once, so your team does not re-argue it on every project. Principles are working tools, not wall decorations. If a principle never changes a decision, it is not a principle — it is a slogan.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architecture team faces the same temptation early on. Someone says: let us write our country's architectural principles. Three months later there are forty drafts, half contradicting each other, and no agreement. There is a faster way — the principles already exist.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Enterprise Architecture describes a government in four layers: Business, Data, Application, Technology. For each layer you need three things — the question it answers, the deliverable you produce, and the mistake that catches first-time architects.</a:t>
            </a:r>
          </a:p>
          <a:p/>
          <a:p>
            <a:r>
              <a:t>RETRIEVAL MOMENT: before the Business slide, ask the viewer to name the mistake they think catches first-time architects on each layer. The four answers are delivered on the next four slides, one per layer.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the Business layer. The question it answers: what does this body do, for whom, and how well? Not how it is organised inside — what it actually does. The deliverable is a capability map and a service catalogue. A capability is something the body can do — register a learner, run an examination, certify a teacher. A service is how a citizen or another body receives that capability. The mistake first-time architects make is to copy the organisation chart and call it the Business layer. The org chart tells you who reports to whom. It does not tell you what the body does. Two bodies with the same chart can do completely different work. Describe the capabilities, not the boxes.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Data layer. The question: what information does the body hold, who owns each kind, and where does the authoritative copy live? The deliverable is a data-domain catalogue. A data domain is a kind of information the government agrees on — a person, a learner, a payment — and for each you name the one body that owns the authoritative copy. Data is the longest-lived layer: applications and technology cycle, the data outlasts them. The mistake is to list the databases you can see, one per system — but five systems may each hold their own version of the same learner. The Data layer sits above the databases: agreed domains, one owner each.</a:t>
            </a:r>
          </a:p>
          <a:p/>
          <a:p>
            <a:r>
              <a:t>Hold the one-owner-per-domain line a beat longer — it is the payload of this slide and the thing 2.5 makes concrete.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the Application layer. The question: what software supports the work, and which capability does each application serve? The deliverable is an application portfolio — every system, mapped to the capability it supports and the data domain it touches. The mistake here is producing a software inventory that lists names and versions but never connects them to what the body does. An inventory tells you that a system exists. A portfolio tells you why it exists, what would break if it failed, and whether two systems are quietly doing the same job. The link up to the Business layer and across to the Data layer is the whole value. Without it, you have an IT asset list, not an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Technology layer. The question: what does all of this run on? Networks, hosting, the identity platform, the security controls, the data-exchange backbone. The deliverable is a short list of technology standards and a simple infrastructure picture — not a server-by-server audit. The mistake here is the opposite of the others. First-time architects go too deep, too early. They document every server and switch before they understand a single capability. At the architecture level, the Technology layer answers a few questions: what are we standardising on, where are the single points of failure, and what must be running for anything else to work. The detailed audit belongs to the operations team, not the architect.</a:t>
            </a:r>
          </a:p>
          <a:p/>
          <a:p>
            <a:r>
              <a:t>The contrast with the other three mistakes is the memorable beat — name it out loud.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four layers are not four separate documents. They connect. Every service traces to a capability in the Business layer. Every capability is served by one or more applications. Every application uses one or more data domains, and both run on the technology layer. When you can trace a citizen-facing service down to the infrastructure it depends on, you are reading the government as a system — which is the whole job. A layer that floats free, with no connection up or down, is the first gap you have found.</a:t>
            </a:r>
          </a:p>
          <a:p/>
          <a:p>
            <a:r>
              <a:t>Centrepiece and recap of 2.1 — reveal one band at a time, top to bottom, then hold the closing 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ministries each hand you an architecture. One calls a thing a 'service'; the other calls the same thing a 'function'. One ministry's 'application' is another's 'system'. You cannot compare them, connect them, or tell whether they are doing the same work twice.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fix is a metamodel. A metamodel is a small, shared dictionary. It names the kinds of boxes everyone is allowed to draw, and it defines each one in plain words. PAERA defines them for you. A Capability — something a public body can do. A Service — how that capability reaches a citizen or another body. An Application — the software that supports a capability. A Data Domain — a kind of information, with one owner. A Technology Component — the infrastructure underneath. And the Organisation that owns each of these. Five or six entity types. That is most of the metamodel.</a:t>
            </a:r>
          </a:p>
          <a:p/>
          <a:p>
            <a:r>
              <a:t>The core reference slide of the video — keep it on screen while the definitions are read.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entities are half of it. The relationships are the other half. A Capability is delivered by a Service. A Capability is supported by an Application. An Application uses a Data Domain. Everything runs on a Technology Component. An Organisation owns each of these. These relationships are fixed. You do not invent them per ministry. Once every team uses the same entities and the same relationships, every ministry's picture can be laid over every other ministry's picture — and they line up.</a:t>
            </a:r>
          </a:p>
          <a:p/>
          <a:p>
            <a:r>
              <a:t>On screen: the metamodel drawn as a graph — arrows are the relationships; Technology is the base everything stands on; Organisation brackets the lot as owner. Reveal the arrows in the order the VO names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part that matters most. Everyone says they want re-use — one identity system, used by many ministries, instead of five. But re-use is not a matter of good intentions. Before the agriculture ministry can consume the identity authority's building block, both must describe that building block the same way — same entity type, same relationships, same data domain. If each ministry models in its own private language, re-use is impossible even when everyone wants it. The metamodel is the precondition for re-use. It is the quiet, unglamorous thing that makes the whole-of-government saving — first ministry builds it, the rest consume it — actually achievable, instead of just hoped for.</a:t>
            </a:r>
          </a:p>
          <a:p/>
          <a:p>
            <a:r>
              <a:t>The pivotal slide of 2.2. Hold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metamodel does a second job. The work of redesigning how a ministry serves citizens needs the business side — the minister, the director-general, the head of policy — and the IT side — you and your engineers — to decide together. They do not share a language. The metamodel gives them one. When the head of policy says 'we want to register every learner once', and you answer 'that is one Capability, one Service, and one Data Domain owned by the learner registry', you have translated a policy goal into an architecture — in words both sides can hold. The metamodel is the bridge. The same few entities that let two ministries connect also let business and IT understand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design the metamodel: PAERA publishes it in Annex 2, already worked out across many countries, so you adopt it from day one and extend it only where your country genuinely needs an entity PAERA does not have — deliberately, and written down so every team shares it.</a:t>
            </a:r>
          </a:p>
          <a:p/>
          <a:p>
            <a:r>
              <a:t>One sentence of narration for three rows — reveal all three together and let the slide carry them.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metamodel is the small shared dictionary that lets two ministries' architectures fit together, and lets business and IT understand each other — what turns re-use from a wish into a plan.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2 deck. Each section that follows is one standalone ~4–5 minute video. Module 1 addressed the Strategist who commissions a national EA; Module 2 addresses the architect who does the work, and deliberately introduces the vocabulary Module 1 set aside — metamodel, taxonomy, capability, data domain.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2.1–2.4 build the shared apparatus (layers, metamodel, principles, taxonomy), 2.5 applies all four to one sector, 2.6–2.7 turn the apparatus into an assessment and the traps it must catch.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publishes ten architectural principles in section 5.2. They cover the ground every public-sector architecture needs. Rule of law, so every system has a legal basis. Intrinsic security and privacy, built in, not added later. Openness and transparency. Interoperability by default. Once-only — the state asks a citizen for the same information only once. User-centred and inclusive design. Reuse and sharing before building new. Data as a managed asset, with one source of truth. Technology neutrality, to avoid lock-in. And sustainability, so what you build can be maintained. Ten principles, already debated across many countries, ready to adopt.</a:t>
            </a:r>
          </a:p>
          <a:p/>
          <a:p>
            <a:r>
              <a:t>Reveal cumulatively, one row at a time, in the order spoken. This is the reference payload of the video.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Adopting them is three steps, not a three-month workshop. Step one: take the ten as your baseline. Step two: tailor the wording to your country — point each principle at your own laws, your data-protection act, your procurement rules, so it has teeth in your context. Step three: add at most a few principles your country genuinely needs that PAERA does not cover, and add them deliberately, with a reason written down. That is the whole job. You inherit the thinking; you localise the wording. You do not start from a blank page.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discipline makes principles useful instead of decorative. For each one, write three things: the statement, the reason, and the implication — what the principle forces you to do, or to refuse. Take 'reuse before build'. Statement: we consume an existing building block before we build a new one. Reason: the country pays once instead of many times. Implication: any project proposing to build its own identity or payment function must first show why the shared one cannot be used — and the EA Board can say no. A principle with a written implication can settle an argument. A principle without one cannot.</a:t>
            </a:r>
          </a:p>
          <a:p/>
          <a:p>
            <a:r>
              <a:t>The implication band is the operative beat of 2.3 — the only full-colour block in the video. Hold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Do not spend your first year writing principles. Adopt PAERA's ten, point each at your country's laws, and give each a written implication so it can settle a real argument.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model a government body, know what kind of body it is — because the kind tells you in advance what it does, what data it owns, and how it is governed. PAERA publishes a taxonomy that sorts public bodies into a few types.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main types cover most of government. A policy unit — usually a ministry's core — sets policy and owns the rules. It does not run services at scale; it decides what the services should be. A regulatory agency licenses, supervises and enforces. It holds registers of the things it regulates and records of its decisions. A service-delivery authority runs services to citizens at scale — it has the queues, the case files, the front-line systems. Tell me which of the three a body is, and I can already guess its main capabilities and its main data domains before I meet anyone.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Around those three sit the supporting elements. State registries — the authoritative single source of truth for a kind of thing: the population register, the business register, the land register, the learner registry. A registry's whole job is to be the one place the truth lives. And shared platforms — identity, payments, data exchange — used across many bodies. These are not policy units or regulators or service authorities. They are the foundations the others stand on. The taxonomy names them so you treat them as shared, not as the private property of whichever ministry happens to host them.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does classifying first save you time? Because each type comes with an expected profile. Name a body a regulatory agency, and you expect a licensing capability, a register of the regulated, an enforcement record, and an appeals process. You walk in looking for those, and you spend the interview confirming or correcting a profile — not building one from nothing. Misclassification is itself a finding. When a body that should be a neutral registry is acting like a policy unit and shaping rules to suit itself, the taxonomy is what lets you see it. Classification is not bureaucracy. It is the architect's fastest way to orient.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Like the metamodel and the principles, the taxonomy is already published — PAERA section 4.6, with the detail in Annex A1.2 — so you adopt it rather than invent one, and extend it only where your country has a body type it genuinely does not cover, because a shared taxonomy means every architect in the country pictures the same thing when you say 'service-delivery authority'.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Before you model, classify. Policy unit, regulatory agency, service-delivery authority, plus registries and shared platforms. Each type carries an expected profile of capabilities, data and governance — so the interview confirms it instead of starting blank.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Put the four layers on a real sector. Progressa is a demonstration country with an education system like many across the continent: a ministry, an examination authority, a learner registry, an identity authority, and a digital government authority running shared platforms.</a:t>
            </a:r>
          </a:p>
          <a:p/>
          <a:p>
            <a:r>
              <a:t>On screen: Progressa is a fictional demonstration country — say so once, here.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classifying, because classification gives us the head start. The Ministry of Education is a policy unit — it sets education policy and owns the rules. The National Examination Authority runs examinations at scale and certifies results — a service-delivery authority with a regulatory edge. The Learner Registry is a state registry — the authoritative single source for who is a learner. The National Identity Authority is a registry and a shared platform — it owns the person identity every sector reuses. The Digital Government Authority runs shared platforms: data exchange and payments. Five bodies, classified in a minute, and we already expect what each one does.</a:t>
            </a:r>
          </a:p>
          <a:p/>
          <a:p>
            <a:r>
              <a:t>All institutions are fictional — no emblems, no real agency names on screen.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Business layer — capabilities and services. Register a learner: owned by the Learner Registry. Run an examination and certify a result: the Examination Authority. Prove who a learner is: the Identity Authority. Set policy and fund schools: the Ministry. Notice that we describe what each body does — its capabilities — not how it is organised inside. The citizen-facing services sit on top: enrol a child, sit an examination, receive a certificate, transfer between schools. Each service traces down to a capability owned by exactly one body. When two bodies both claim the same capability — say, each keeping its own list of learners — you have found your first gap, just by drawing the Business layer.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Data layer names the domains and their owners. The Person domain — owned by the Identity Authority; everyone else uses the person identity, no one else mints it. The Learner domain — owned by the Learner Registry. Examination results — owned by the Examination Authority. Schools — owned by the Ministry. One domain, one owner, one authoritative copy. The once-only principle now becomes concrete: when the Examination Authority needs to know who a learner is, it consumes the Learner Registry and the Identity Authority — it does not keep its own private copy of the learner that drifts out of date. If you find the Examination Authority maintaining its own learner list, that is a duplicate registry, and you write it down.</a:t>
            </a:r>
          </a:p>
          <a:p/>
          <a:p>
            <a:r>
              <a:t>The duplicate-registry example previews the Assess gaps in 2.6 — name the link.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Application layer maps software to those capabilities. An enrolment system supports the register-a-learner capability and uses the Learner and Person domains. An examination-management system supports run-an-examination. An identity-verification service supports prove-identity. Each application points up to a capability and across to the data domains it uses — so you can see, at a glance, which systems would break if the Identity Authority changed, and whether two systems are quietly doing the same job. Underneath, the Technology layer: the shared identity platform, the data-exchange backbone run by the Digital Government Authority, the hosting. A short list of shared standards — not a server audit.</a:t>
            </a:r>
          </a:p>
          <a:p/>
          <a:p>
            <a:r>
              <a:t>Application names stay generic and descriptive — no vendor or product names on screen.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Trace one service down. Sit an examination and get a certificate: the Examination Authority's run-an-examination capability, the exam-management application, three data domains — learner, person, result — and the shared data-exchange and identity platforms underneath.</a:t>
            </a:r>
          </a:p>
          <a:p/>
          <a:p>
            <a:r>
              <a:t>Centrepiece and recap of 2.5. Reveal one band at a time, top to bottom, in the order the VO names them.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Assess phase produces the current-state picture and the gap analysis the roadmap is built on. The hard part is writing a description good enough to decide from. So you need the quality tests, layer by layer, and the gaps you will almost always find.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tests apply to every layer. First, complete enough to decide — not exhaustive. A description that covers the capabilities and systems that matter, with the rest noted, beats a five-hundred-page audit no one reads. Second, owned — every capability, every data domain, every application has a named owner. An element with no owner is a finding, not a detail. Third, traceable — every element connects up and down. A service that traces to no capability, an application that traces to no data, a capability no application supports: each broken link is a gap. If your current-state picture passes these three tests, it is good enough to assess against. If it fails them, more pages will not fix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layer has its own test. Business is good when it describes capabilities, not organisation boxes; Data when every domain has one owner and one authoritative copy; Application when every system maps to a capability and a data domain; Technology when it names the standards in use and the single points of failure.</a:t>
            </a:r>
          </a:p>
          <a:p/>
          <a:p>
            <a:r>
              <a:t>Two sentences over four rows — reveal the rows together and let the slide carry the per-layer detail.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 MOMENT: before revealing, ask the viewer to predict which gaps they would expect to find in their own sector. Hold two seconds. Then reveal the four, one at a time — the answer is delivered on this slide.</a:t>
            </a:r>
          </a:p>
          <a:p/>
          <a:p>
            <a:r>
              <a:t>VO: Now the gaps. Four of them show up in almost every first assessment, so look for them on purpose. One: duplicate registries — several bodies each keeping their own copy of the same domain, none agreeing. Two: orphan systems — applications that map to no current capability, often left over from a project that ended. Three: point-to-point spaghetti — every system connected to every other by its own custom link, with no shared data exchange. Four: no clear owner — a capability or a domain that everyone uses and no one owns, which is where accountability quietly disappears. You will find these. Naming them is most of the Assess.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list of gaps is not an assessment. The assessment is the priority order. For each gap, judge two things: how much it hurts — the cost to the country, the burden on the citizen, the risk to the minister's programme — and how hard it is to close. The gaps you put at the top are the ones that hurt the most where movement is actually possible. A maturity scorecard per layer helps — a simple rating of how far each layer is from where it needs to be. The output your EA Board signs off is not 'here is everything wrong'. It is 'here are the right problems, in the right order, with the reasons'.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Assess phase ends with a sign-off: the senior decision-maker confirms the gap analysis reflects ground truth. That sign-off has one quality test of its own — honesty. An assessment that flatters the current state, that softens the duplicate-registry problem because a powerful ministry owns one of the copies, fails — quietly, and expensively, a year later. Your job in Assess is to name the right problems in the right order, including the politically uncomfortable ones, in language the decision-maker can act on. Get that sign-off honestly, and the roadmap that follows stands on solid ground.</a:t>
            </a:r>
          </a:p>
          <a:p/>
          <a:p>
            <a:r>
              <a:t>The emotional peak of the module — the only full-colour block in 2.6.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 Phase 2 Assess is not about volume. It is a current-state picture that is owned, traceable and complete enough to decide from, plus a gap analysis that scores and orders the problems honestly.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traps catch governments again and again. As the architect at the Assess phase, you are the one positioned to spot them early — before they are built, while they are still a line in a project plan.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is the bespoke trap. A new project needs to identify citizens. Reusing the national identity platform means learning it, negotiating with the body that owns it, and accepting their timelines. Building its own small identity function is faster — for this project. So the project builds its own. This is not laziness. Inside the project, building is the rational choice, every time. But multiply it across ten projects and the country has ten identity functions, ten learner lists, ten payment integrations — and has paid ten times for what it should have built once. The math that makes reuse worth it only exists at the level of the whole government. No single project can see it. You can. At Assess, every time a project proposes to build a function that already exists as a shared building block, you flag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might think procurement rules already prevent this. They do not. A rule can require a project to use open standards. It cannot make reusing another body's platform cheaper or faster than building fresh — so the project, optimising for its deadline, still builds. The only thing that catches the bespoke trap is the whole-of-government view that an architecture gives you, plus a governance board with the authority to say: not this one, reuse the shared platform. The rule sets the intention. The architecture and the Board enforce it. That is why catching this trap is architecture work, not procurement 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is the vendor-driven trap. A ministry buys a product to solve one problem. The product works. Slowly, more processes are bent to fit it. Data is stored the way the product wants. Other systems integrate to the product, not to a standard. Five years on, the product is not a system the government owns — it is the architecture, and the only people who understand it work for the vendor. Changing anything means calling them and paying what they ask. The government has lost the ability to leave, and the price reflects it. The trap is not buying from a vendor — sometimes buying is right. The trap is letting the vendor's product, rather than your architecture, decide how your government is shaped.</a:t>
            </a:r>
          </a:p>
          <a:p/>
          <a:p>
            <a:r>
              <a:t>Reveal the four steps one at a time, then the closing block. The 'only the vendor understands it' line is the operative beat.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catch both with a few questions, asked at Assess. Does a shared building block already exist for what this project wants to build? Is the data stored to an open standard, or to one vendor's format? If this supplier doubled their price, could we replace them within two years? And is the sourcing choice deliberate — build, buy, share, or sandbox first? These questions turn both traps from things you discover too late into things you flag while they are still cheap to change.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Watch for the two traps. The bespoke trap — rational for a project, ruinous for a country. And the vendor-driven trap — where a product becomes the architecture. Both are cheap to fix at Assess.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Reading, modelling and
assessing a government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KP1 · Government Enterprise Architecture · Module 2</a:t>
            </a:r>
          </a:p>
          <a:p>
            <a:r>
              <a:rPr sz="1400" b="0" i="0">
                <a:solidFill>
                  <a:srgbClr val="595959"/>
                </a:solidFill>
                <a:latin typeface="Arial"/>
              </a:rPr>
              <a:t>Seven standalone videos for the architect who does the work: the four layers, the shared metamodel, ten principles to adopt, the taxonomy of public bodies, a worked sector walkthrough, how to run a Phase 2 Assess, and the two traps to catch there.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~32 mins across 7 videos (2.1 – 2.7)</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FOUR LAYERS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Business — what the body does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Data — what it holds, who owns it</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Application — what supports the work</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Technology — what it all runs on</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6 shared entities · 10 principles to adopt · 2 traps to catch at Assess</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2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2.1  Read any government in four layers</a:t>
            </a:r>
            <a:r>
              <a:rPr sz="1200" b="0" i="0">
                <a:solidFill>
                  <a:srgbClr val="595959"/>
                </a:solidFill>
                <a:latin typeface="Arial"/>
              </a:rPr>
              <a:t>   ~5 min</a:t>
            </a:r>
          </a:p>
          <a:p>
            <a:pPr algn="l">
              <a:spcAft>
                <a:spcPts val="900"/>
              </a:spcAft>
            </a:pPr>
            <a:r>
              <a:rPr sz="1500" b="1" i="0">
                <a:solidFill>
                  <a:srgbClr val="1A1A1A"/>
                </a:solidFill>
                <a:latin typeface="Arial"/>
              </a:rPr>
              <a:t>2.2  The shared vocabulary that makes re-use possible</a:t>
            </a:r>
            <a:r>
              <a:rPr sz="1200" b="0" i="0">
                <a:solidFill>
                  <a:srgbClr val="595959"/>
                </a:solidFill>
                <a:latin typeface="Arial"/>
              </a:rPr>
              <a:t>   ~5 min</a:t>
            </a:r>
          </a:p>
          <a:p>
            <a:pPr algn="l">
              <a:spcAft>
                <a:spcPts val="900"/>
              </a:spcAft>
            </a:pPr>
            <a:r>
              <a:rPr sz="1500" b="1" i="0">
                <a:solidFill>
                  <a:srgbClr val="1A1A1A"/>
                </a:solidFill>
                <a:latin typeface="Arial"/>
              </a:rPr>
              <a:t>2.3  Adopt your principles, don't draft them</a:t>
            </a:r>
            <a:r>
              <a:rPr sz="1200" b="0" i="0">
                <a:solidFill>
                  <a:srgbClr val="595959"/>
                </a:solidFill>
                <a:latin typeface="Arial"/>
              </a:rPr>
              <a:t>   ~4 min</a:t>
            </a:r>
          </a:p>
          <a:p>
            <a:pPr algn="l">
              <a:spcAft>
                <a:spcPts val="900"/>
              </a:spcAft>
            </a:pPr>
            <a:r>
              <a:rPr sz="1500" b="1" i="0">
                <a:solidFill>
                  <a:srgbClr val="1A1A1A"/>
                </a:solidFill>
                <a:latin typeface="Arial"/>
              </a:rPr>
              <a:t>2.4  Classify any public body before you model it</a:t>
            </a:r>
            <a:r>
              <a:rPr sz="1200" b="0" i="0">
                <a:solidFill>
                  <a:srgbClr val="595959"/>
                </a:solidFill>
                <a:latin typeface="Arial"/>
              </a:rPr>
              <a:t>   ~4 min</a:t>
            </a:r>
          </a:p>
          <a:p>
            <a:pPr algn="l">
              <a:spcAft>
                <a:spcPts val="900"/>
              </a:spcAft>
            </a:pPr>
            <a:r>
              <a:rPr sz="1500" b="1" i="0">
                <a:solidFill>
                  <a:srgbClr val="1A1A1A"/>
                </a:solidFill>
                <a:latin typeface="Arial"/>
              </a:rPr>
              <a:t>2.5  BDAT on a real ministry — the Progressa walkthrough</a:t>
            </a:r>
            <a:r>
              <a:rPr sz="1200" b="0" i="0">
                <a:solidFill>
                  <a:srgbClr val="595959"/>
                </a:solidFill>
                <a:latin typeface="Arial"/>
              </a:rPr>
              <a:t>   ~5 min</a:t>
            </a:r>
          </a:p>
          <a:p>
            <a:pPr algn="l">
              <a:spcAft>
                <a:spcPts val="900"/>
              </a:spcAft>
            </a:pPr>
            <a:r>
              <a:rPr sz="1500" b="1" i="0">
                <a:solidFill>
                  <a:srgbClr val="1A1A1A"/>
                </a:solidFill>
                <a:latin typeface="Arial"/>
              </a:rPr>
              <a:t>2.6  Run a Phase 2 Assess</a:t>
            </a:r>
            <a:r>
              <a:rPr sz="1200" b="0" i="0">
                <a:solidFill>
                  <a:srgbClr val="595959"/>
                </a:solidFill>
                <a:latin typeface="Arial"/>
              </a:rPr>
              <a:t>   ~5 min</a:t>
            </a:r>
          </a:p>
          <a:p>
            <a:pPr algn="l">
              <a:spcAft>
                <a:spcPts val="900"/>
              </a:spcAft>
            </a:pPr>
            <a:r>
              <a:rPr sz="1500" b="1" i="0">
                <a:solidFill>
                  <a:srgbClr val="1A1A1A"/>
                </a:solidFill>
                <a:latin typeface="Arial"/>
              </a:rPr>
              <a:t>2.7  The two traps to catch at Assess</a:t>
            </a:r>
            <a:r>
              <a:rPr sz="1200" b="0" i="0">
                <a:solidFill>
                  <a:srgbClr val="595959"/>
                </a:solidFill>
                <a:latin typeface="Arial"/>
              </a:rPr>
              <a:t>   ~4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An architecture only connects to other architectures if everyone reads a government the same way and draws it with the same entities.</a:t>
            </a:r>
          </a:p>
          <a:p>
            <a:pPr>
              <a:spcAft>
                <a:spcPts val="1000"/>
              </a:spcAft>
            </a:pPr>
            <a:r>
              <a:rPr sz="1900" b="0" i="1">
                <a:solidFill>
                  <a:srgbClr val="1A1A1A"/>
                </a:solidFill>
                <a:latin typeface="Arial"/>
              </a:rPr>
              <a:t>This module teaches that shared reading — then puts it to work on one sector and on the assessment your roadmap will be built from.</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Read any government in four layers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government, in any sector, can be read in four layers — Business, Data, Application, Technology. Learn the question each layer answers, the deliverable it produces, and the mistake first-time architects make, and you can decompose any ministry put in front of you.</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Four layers. For each: one question, one deliverable, one mistake.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Business · Data · Application · Technology</a:t>
            </a:r>
          </a:p>
          <a:p>
            <a:pPr>
              <a:spcAft>
                <a:spcPts val="800"/>
              </a:spcAft>
            </a:pPr>
            <a:r>
              <a:rPr sz="1700" b="0" i="0">
                <a:solidFill>
                  <a:srgbClr val="595959"/>
                </a:solidFill>
                <a:latin typeface="Arial"/>
              </a:rPr>
              <a:t>The question the layer answers. The deliverable you produce.</a:t>
            </a:r>
          </a:p>
          <a:p>
            <a:pPr>
              <a:spcAft>
                <a:spcPts val="800"/>
              </a:spcAft>
            </a:pPr>
            <a:r>
              <a:rPr sz="1700" b="0" i="0">
                <a:solidFill>
                  <a:srgbClr val="595959"/>
                </a:solidFill>
                <a:latin typeface="Arial"/>
              </a:rPr>
              <a:t>The mistake that catches first-time architects.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Business layer describes what a body does — not how it is arranged</a:t>
            </a:r>
          </a:p>
        </p:txBody>
      </p:sp>
      <p:sp>
        <p:nvSpPr>
          <p:cNvPr id="4" name="Rounded Rectangle 3"/>
          <p:cNvSpPr/>
          <p:nvPr/>
        </p:nvSpPr>
        <p:spPr>
          <a:xfrm>
            <a:off x="7360920"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does this body do, for whom, and how well?</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capability map and a service catalogue.</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Copying the org chart instead of describing capabilities.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Data layer outlasts every application above it</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information does the body hold, who owns it, where is the authoritative copy?</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data-domain catalogue with one owner per domain.</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Listing databases instead of data domains.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application portfolio tells you why a system exists; an inventory does not</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software supports the work, and which capability does each one serve?</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An application portfolio mapped to capabilities and data domains.</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A software inventory with no link to the business.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 the Technology layer, the mistake runs the other way — too deep, too early</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does everything run on?</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short list of technology standards and a simple infrastructure picture.</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Going too deep, too early.</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layers connect downward</a:t>
            </a:r>
          </a:p>
        </p:txBody>
      </p:sp>
      <p:sp>
        <p:nvSpPr>
          <p:cNvPr id="4" name="Rounded Rectangle 3"/>
          <p:cNvSpPr/>
          <p:nvPr/>
        </p:nvSpPr>
        <p:spPr>
          <a:xfrm>
            <a:off x="1371600" y="1371600"/>
            <a:ext cx="9509760" cy="438912"/>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72768" y="1408176"/>
            <a:ext cx="2103120" cy="365759"/>
          </a:xfrm>
          <a:prstGeom prst="rect">
            <a:avLst/>
          </a:prstGeom>
          <a:noFill/>
        </p:spPr>
        <p:txBody>
          <a:bodyPr wrap="square" anchor="ctr">
            <a:spAutoFit/>
          </a:bodyPr>
          <a:lstStyle/>
          <a:p>
            <a:r>
              <a:rPr sz="1200" b="1" i="0">
                <a:solidFill>
                  <a:srgbClr val="006E96"/>
                </a:solidFill>
                <a:latin typeface="Arial"/>
              </a:rPr>
              <a:t>SERVICE</a:t>
            </a:r>
          </a:p>
        </p:txBody>
      </p:sp>
      <p:sp>
        <p:nvSpPr>
          <p:cNvPr id="6" name="TextBox 5"/>
          <p:cNvSpPr txBox="1"/>
          <p:nvPr/>
        </p:nvSpPr>
        <p:spPr>
          <a:xfrm>
            <a:off x="3675887" y="1408176"/>
            <a:ext cx="7004304" cy="365759"/>
          </a:xfrm>
          <a:prstGeom prst="rect">
            <a:avLst/>
          </a:prstGeom>
          <a:noFill/>
        </p:spPr>
        <p:txBody>
          <a:bodyPr wrap="square" anchor="ctr">
            <a:spAutoFit/>
          </a:bodyPr>
          <a:lstStyle/>
          <a:p>
            <a:r>
              <a:rPr sz="1500" b="0" i="0">
                <a:solidFill>
                  <a:srgbClr val="1A1A1A"/>
                </a:solidFill>
                <a:latin typeface="Arial"/>
              </a:rPr>
              <a:t>What a citizen or another body receives</a:t>
            </a:r>
          </a:p>
        </p:txBody>
      </p:sp>
      <p:sp>
        <p:nvSpPr>
          <p:cNvPr id="7" name="Diamond 6"/>
          <p:cNvSpPr/>
          <p:nvPr/>
        </p:nvSpPr>
        <p:spPr>
          <a:xfrm>
            <a:off x="6062472" y="1819656"/>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1600" y="1956816"/>
            <a:ext cx="9509760" cy="438912"/>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2768" y="1993392"/>
            <a:ext cx="2103120" cy="365759"/>
          </a:xfrm>
          <a:prstGeom prst="rect">
            <a:avLst/>
          </a:prstGeom>
          <a:noFill/>
        </p:spPr>
        <p:txBody>
          <a:bodyPr wrap="square" anchor="ctr">
            <a:spAutoFit/>
          </a:bodyPr>
          <a:lstStyle/>
          <a:p>
            <a:r>
              <a:rPr sz="1200" b="1" i="0">
                <a:solidFill>
                  <a:srgbClr val="006E96"/>
                </a:solidFill>
                <a:latin typeface="Arial"/>
              </a:rPr>
              <a:t>CAPABILITY</a:t>
            </a:r>
          </a:p>
        </p:txBody>
      </p:sp>
      <p:sp>
        <p:nvSpPr>
          <p:cNvPr id="10" name="TextBox 9"/>
          <p:cNvSpPr txBox="1"/>
          <p:nvPr/>
        </p:nvSpPr>
        <p:spPr>
          <a:xfrm>
            <a:off x="3675887" y="1993392"/>
            <a:ext cx="7004304" cy="365759"/>
          </a:xfrm>
          <a:prstGeom prst="rect">
            <a:avLst/>
          </a:prstGeom>
          <a:noFill/>
        </p:spPr>
        <p:txBody>
          <a:bodyPr wrap="square" anchor="ctr">
            <a:spAutoFit/>
          </a:bodyPr>
          <a:lstStyle/>
          <a:p>
            <a:r>
              <a:rPr sz="1500" b="0" i="0">
                <a:solidFill>
                  <a:srgbClr val="1A1A1A"/>
                </a:solidFill>
                <a:latin typeface="Arial"/>
              </a:rPr>
              <a:t>Business — what the body can do</a:t>
            </a:r>
          </a:p>
        </p:txBody>
      </p:sp>
      <p:sp>
        <p:nvSpPr>
          <p:cNvPr id="11" name="Diamond 10"/>
          <p:cNvSpPr/>
          <p:nvPr/>
        </p:nvSpPr>
        <p:spPr>
          <a:xfrm>
            <a:off x="6062472" y="2404872"/>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71600" y="2542032"/>
            <a:ext cx="9509760" cy="438912"/>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72768" y="2578608"/>
            <a:ext cx="2103120" cy="365759"/>
          </a:xfrm>
          <a:prstGeom prst="rect">
            <a:avLst/>
          </a:prstGeom>
          <a:noFill/>
        </p:spPr>
        <p:txBody>
          <a:bodyPr wrap="square" anchor="ctr">
            <a:spAutoFit/>
          </a:bodyPr>
          <a:lstStyle/>
          <a:p>
            <a:r>
              <a:rPr sz="1200" b="1" i="0">
                <a:solidFill>
                  <a:srgbClr val="006E96"/>
                </a:solidFill>
                <a:latin typeface="Arial"/>
              </a:rPr>
              <a:t>APPLICATION</a:t>
            </a:r>
          </a:p>
        </p:txBody>
      </p:sp>
      <p:sp>
        <p:nvSpPr>
          <p:cNvPr id="14" name="TextBox 13"/>
          <p:cNvSpPr txBox="1"/>
          <p:nvPr/>
        </p:nvSpPr>
        <p:spPr>
          <a:xfrm>
            <a:off x="3675887" y="2578608"/>
            <a:ext cx="7004304" cy="365759"/>
          </a:xfrm>
          <a:prstGeom prst="rect">
            <a:avLst/>
          </a:prstGeom>
          <a:noFill/>
        </p:spPr>
        <p:txBody>
          <a:bodyPr wrap="square" anchor="ctr">
            <a:spAutoFit/>
          </a:bodyPr>
          <a:lstStyle/>
          <a:p>
            <a:r>
              <a:rPr sz="1500" b="0" i="0">
                <a:solidFill>
                  <a:srgbClr val="1A1A1A"/>
                </a:solidFill>
                <a:latin typeface="Arial"/>
              </a:rPr>
              <a:t>The software that supports the capability</a:t>
            </a:r>
          </a:p>
        </p:txBody>
      </p:sp>
      <p:sp>
        <p:nvSpPr>
          <p:cNvPr id="15" name="Diamond 14"/>
          <p:cNvSpPr/>
          <p:nvPr/>
        </p:nvSpPr>
        <p:spPr>
          <a:xfrm>
            <a:off x="6062472" y="2990088"/>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71600" y="3127248"/>
            <a:ext cx="9509760" cy="438912"/>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163824"/>
            <a:ext cx="2103120" cy="365759"/>
          </a:xfrm>
          <a:prstGeom prst="rect">
            <a:avLst/>
          </a:prstGeom>
          <a:noFill/>
        </p:spPr>
        <p:txBody>
          <a:bodyPr wrap="square" anchor="ctr">
            <a:spAutoFit/>
          </a:bodyPr>
          <a:lstStyle/>
          <a:p>
            <a:r>
              <a:rPr sz="1200" b="1" i="0">
                <a:solidFill>
                  <a:srgbClr val="006E96"/>
                </a:solidFill>
                <a:latin typeface="Arial"/>
              </a:rPr>
              <a:t>DATA DOMAIN</a:t>
            </a:r>
          </a:p>
        </p:txBody>
      </p:sp>
      <p:sp>
        <p:nvSpPr>
          <p:cNvPr id="18" name="TextBox 17"/>
          <p:cNvSpPr txBox="1"/>
          <p:nvPr/>
        </p:nvSpPr>
        <p:spPr>
          <a:xfrm>
            <a:off x="3675887" y="3163824"/>
            <a:ext cx="7004304" cy="365759"/>
          </a:xfrm>
          <a:prstGeom prst="rect">
            <a:avLst/>
          </a:prstGeom>
          <a:noFill/>
        </p:spPr>
        <p:txBody>
          <a:bodyPr wrap="square" anchor="ctr">
            <a:spAutoFit/>
          </a:bodyPr>
          <a:lstStyle/>
          <a:p>
            <a:r>
              <a:rPr sz="1500" b="0" i="0">
                <a:solidFill>
                  <a:srgbClr val="1A1A1A"/>
                </a:solidFill>
                <a:latin typeface="Arial"/>
              </a:rPr>
              <a:t>The information it uses, one owner each</a:t>
            </a:r>
          </a:p>
        </p:txBody>
      </p:sp>
      <p:sp>
        <p:nvSpPr>
          <p:cNvPr id="19" name="Diamond 18"/>
          <p:cNvSpPr/>
          <p:nvPr/>
        </p:nvSpPr>
        <p:spPr>
          <a:xfrm>
            <a:off x="6062472" y="3575304"/>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1600" y="3712464"/>
            <a:ext cx="9509760" cy="438912"/>
          </a:xfrm>
          <a:prstGeom prst="roundRect">
            <a:avLst>
              <a:gd name="adj" fmla="val 45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72768" y="3749040"/>
            <a:ext cx="2103120" cy="365759"/>
          </a:xfrm>
          <a:prstGeom prst="rect">
            <a:avLst/>
          </a:prstGeom>
          <a:noFill/>
        </p:spPr>
        <p:txBody>
          <a:bodyPr wrap="square" anchor="ctr">
            <a:spAutoFit/>
          </a:bodyPr>
          <a:lstStyle/>
          <a:p>
            <a:r>
              <a:rPr sz="1200" b="1" i="0">
                <a:solidFill>
                  <a:srgbClr val="FFFFFF"/>
                </a:solidFill>
                <a:latin typeface="Arial"/>
              </a:rPr>
              <a:t>TECHNOLOGY</a:t>
            </a:r>
          </a:p>
        </p:txBody>
      </p:sp>
      <p:sp>
        <p:nvSpPr>
          <p:cNvPr id="22" name="TextBox 21"/>
          <p:cNvSpPr txBox="1"/>
          <p:nvPr/>
        </p:nvSpPr>
        <p:spPr>
          <a:xfrm>
            <a:off x="3675887" y="3749040"/>
            <a:ext cx="7004304" cy="365759"/>
          </a:xfrm>
          <a:prstGeom prst="rect">
            <a:avLst/>
          </a:prstGeom>
          <a:noFill/>
        </p:spPr>
        <p:txBody>
          <a:bodyPr wrap="square" anchor="ctr">
            <a:spAutoFit/>
          </a:bodyPr>
          <a:lstStyle/>
          <a:p>
            <a:r>
              <a:rPr sz="1500" b="0" i="0">
                <a:solidFill>
                  <a:srgbClr val="FFFFFF"/>
                </a:solidFill>
                <a:latin typeface="Arial"/>
              </a:rPr>
              <a:t>What all of it runs on</a:t>
            </a:r>
          </a:p>
        </p:txBody>
      </p:sp>
      <p:sp>
        <p:nvSpPr>
          <p:cNvPr id="23" name="TextBox 22"/>
          <p:cNvSpPr txBox="1"/>
          <p:nvPr/>
        </p:nvSpPr>
        <p:spPr>
          <a:xfrm>
            <a:off x="658368" y="4242816"/>
            <a:ext cx="10881360" cy="384048"/>
          </a:xfrm>
          <a:prstGeom prst="rect">
            <a:avLst/>
          </a:prstGeom>
          <a:noFill/>
        </p:spPr>
        <p:txBody>
          <a:bodyPr wrap="square">
            <a:spAutoFit/>
          </a:bodyPr>
          <a:lstStyle/>
          <a:p>
            <a:r>
              <a:rPr sz="1500" b="1" i="0">
                <a:solidFill>
                  <a:srgbClr val="006E96"/>
                </a:solidFill>
                <a:latin typeface="Arial"/>
              </a:rPr>
              <a:t>Every element connects up and down. A layer that floats free is your first gap.</a:t>
            </a:r>
          </a:p>
        </p:txBody>
      </p:sp>
      <p:sp>
        <p:nvSpPr>
          <p:cNvPr id="24" name="Rounded Rectangle 2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a four-layer reading template for a ministry.</a:t>
            </a:r>
          </a:p>
          <a:p>
            <a:pPr algn="l">
              <a:spcAft>
                <a:spcPts val="400"/>
              </a:spcAft>
            </a:pPr>
            <a:r>
              <a:rPr sz="1800" b="0" i="0">
                <a:solidFill>
                  <a:srgbClr val="595959"/>
                </a:solidFill>
                <a:latin typeface="Arial"/>
              </a:rPr>
              <a:t>The prompt in the companion material gives you a four-section capture template ready to take into Discovery interviews. Before the next video.</a:t>
            </a:r>
          </a:p>
        </p:txBody>
      </p:sp>
      <p:sp>
        <p:nvSpPr>
          <p:cNvPr id="25" name="TextBox 2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Annex 2 (Metamodel)</a:t>
            </a:r>
          </a:p>
          <a:p>
            <a:pPr>
              <a:spcAft>
                <a:spcPts val="1200"/>
              </a:spcAft>
            </a:pPr>
            <a:r>
              <a:rPr sz="1700" b="0" i="0">
                <a:solidFill>
                  <a:srgbClr val="1A1A1A"/>
                </a:solidFill>
                <a:latin typeface="Arial"/>
              </a:rPr>
              <a:t>•  PAERA v1.0 —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shared vocabulary that makes re-use possible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metamodel is the small set of entities — Capability, Service, Application, Data Domain, Technology Component — and the relationships between them that PAERA already defines. Adopt it, and two ministries' architectures can be compared, connected and re-used. Skip it, and every team draws a different picture that no one else can read.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Two ministries. Two architectures. Four words for two things.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One calls a thing a “service”; the other calls the same thing a “function”.</a:t>
            </a:r>
          </a:p>
          <a:p>
            <a:pPr>
              <a:spcAft>
                <a:spcPts val="800"/>
              </a:spcAft>
            </a:pPr>
            <a:r>
              <a:rPr sz="1700" b="0" i="0">
                <a:solidFill>
                  <a:srgbClr val="595959"/>
                </a:solidFill>
                <a:latin typeface="Arial"/>
              </a:rPr>
              <a:t>One ministry’s “application” is another’s “system”.</a:t>
            </a:r>
          </a:p>
          <a:p>
            <a:pPr>
              <a:spcAft>
                <a:spcPts val="800"/>
              </a:spcAft>
            </a:pPr>
            <a:r>
              <a:rPr sz="1700" b="0" i="0">
                <a:solidFill>
                  <a:srgbClr val="595959"/>
                </a:solidFill>
                <a:latin typeface="Arial"/>
              </a:rPr>
              <a:t>You cannot compare them, connect them, or tell whether they are doing the same work twice.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metamodel is a small shared dictionary</a:t>
            </a:r>
          </a:p>
        </p:txBody>
      </p:sp>
      <p:sp>
        <p:nvSpPr>
          <p:cNvPr id="4" name="TextBox 3"/>
          <p:cNvSpPr txBox="1"/>
          <p:nvPr/>
        </p:nvSpPr>
        <p:spPr>
          <a:xfrm>
            <a:off x="658368" y="1417320"/>
            <a:ext cx="10984687" cy="761999"/>
          </a:xfrm>
          <a:prstGeom prst="rect">
            <a:avLst/>
          </a:prstGeom>
          <a:noFill/>
        </p:spPr>
        <p:txBody>
          <a:bodyPr wrap="square">
            <a:spAutoFit/>
          </a:bodyPr>
          <a:lstStyle/>
          <a:p>
            <a:pPr>
              <a:spcAft>
                <a:spcPts val="300"/>
              </a:spcAft>
            </a:pPr>
            <a:r>
              <a:rPr sz="1800" b="1" i="0">
                <a:solidFill>
                  <a:srgbClr val="1A1A1A"/>
                </a:solidFill>
                <a:latin typeface="Arial"/>
              </a:rPr>
              <a:t>Capability</a:t>
            </a:r>
          </a:p>
          <a:p>
            <a:pPr>
              <a:spcAft>
                <a:spcPts val="300"/>
              </a:spcAft>
            </a:pPr>
            <a:r>
              <a:rPr sz="1500" b="0" i="0">
                <a:solidFill>
                  <a:srgbClr val="595959"/>
                </a:solidFill>
                <a:latin typeface="Arial"/>
              </a:rPr>
              <a:t>Something a public body can do — register a learner, run an examination.</a:t>
            </a:r>
          </a:p>
        </p:txBody>
      </p:sp>
      <p:sp>
        <p:nvSpPr>
          <p:cNvPr id="5" name="Rectangle 4"/>
          <p:cNvSpPr/>
          <p:nvPr/>
        </p:nvSpPr>
        <p:spPr>
          <a:xfrm>
            <a:off x="621792" y="2183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25040"/>
            <a:ext cx="10984687" cy="761999"/>
          </a:xfrm>
          <a:prstGeom prst="rect">
            <a:avLst/>
          </a:prstGeom>
          <a:noFill/>
        </p:spPr>
        <p:txBody>
          <a:bodyPr wrap="square">
            <a:spAutoFit/>
          </a:bodyPr>
          <a:lstStyle/>
          <a:p>
            <a:pPr>
              <a:spcAft>
                <a:spcPts val="300"/>
              </a:spcAft>
            </a:pPr>
            <a:r>
              <a:rPr sz="1800" b="1" i="0">
                <a:solidFill>
                  <a:srgbClr val="1A1A1A"/>
                </a:solidFill>
                <a:latin typeface="Arial"/>
              </a:rPr>
              <a:t>Service</a:t>
            </a:r>
          </a:p>
          <a:p>
            <a:pPr>
              <a:spcAft>
                <a:spcPts val="300"/>
              </a:spcAft>
            </a:pPr>
            <a:r>
              <a:rPr sz="1500" b="0" i="0">
                <a:solidFill>
                  <a:srgbClr val="595959"/>
                </a:solidFill>
                <a:latin typeface="Arial"/>
              </a:rPr>
              <a:t>How a capability reaches a citizen or another body.</a:t>
            </a:r>
          </a:p>
        </p:txBody>
      </p:sp>
      <p:sp>
        <p:nvSpPr>
          <p:cNvPr id="7" name="Rectangle 6"/>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32760"/>
            <a:ext cx="10984687" cy="761999"/>
          </a:xfrm>
          <a:prstGeom prst="rect">
            <a:avLst/>
          </a:prstGeom>
          <a:noFill/>
        </p:spPr>
        <p:txBody>
          <a:bodyPr wrap="square">
            <a:spAutoFit/>
          </a:bodyPr>
          <a:lstStyle/>
          <a:p>
            <a:pPr>
              <a:spcAft>
                <a:spcPts val="300"/>
              </a:spcAft>
            </a:pPr>
            <a:r>
              <a:rPr sz="1800" b="1" i="0">
                <a:solidFill>
                  <a:srgbClr val="1A1A1A"/>
                </a:solidFill>
                <a:latin typeface="Arial"/>
              </a:rPr>
              <a:t>Application</a:t>
            </a:r>
          </a:p>
          <a:p>
            <a:pPr>
              <a:spcAft>
                <a:spcPts val="300"/>
              </a:spcAft>
            </a:pPr>
            <a:r>
              <a:rPr sz="1500" b="0" i="0">
                <a:solidFill>
                  <a:srgbClr val="595959"/>
                </a:solidFill>
                <a:latin typeface="Arial"/>
              </a:rPr>
              <a:t>The software that supports a capability.</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840480"/>
            <a:ext cx="10984687" cy="761999"/>
          </a:xfrm>
          <a:prstGeom prst="rect">
            <a:avLst/>
          </a:prstGeom>
          <a:noFill/>
        </p:spPr>
        <p:txBody>
          <a:bodyPr wrap="square">
            <a:spAutoFit/>
          </a:bodyPr>
          <a:lstStyle/>
          <a:p>
            <a:pPr>
              <a:spcAft>
                <a:spcPts val="300"/>
              </a:spcAft>
            </a:pPr>
            <a:r>
              <a:rPr sz="1800" b="1" i="0">
                <a:solidFill>
                  <a:srgbClr val="1A1A1A"/>
                </a:solidFill>
                <a:latin typeface="Arial"/>
              </a:rPr>
              <a:t>Data Domain</a:t>
            </a:r>
          </a:p>
          <a:p>
            <a:pPr>
              <a:spcAft>
                <a:spcPts val="300"/>
              </a:spcAft>
            </a:pPr>
            <a:r>
              <a:rPr sz="1500" b="0" i="0">
                <a:solidFill>
                  <a:srgbClr val="595959"/>
                </a:solidFill>
                <a:latin typeface="Arial"/>
              </a:rPr>
              <a:t>A kind of information, with one owner.</a:t>
            </a:r>
          </a:p>
        </p:txBody>
      </p:sp>
      <p:sp>
        <p:nvSpPr>
          <p:cNvPr id="11" name="Rectangle 10"/>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648200"/>
            <a:ext cx="10984687" cy="761999"/>
          </a:xfrm>
          <a:prstGeom prst="rect">
            <a:avLst/>
          </a:prstGeom>
          <a:noFill/>
        </p:spPr>
        <p:txBody>
          <a:bodyPr wrap="square">
            <a:spAutoFit/>
          </a:bodyPr>
          <a:lstStyle/>
          <a:p>
            <a:pPr>
              <a:spcAft>
                <a:spcPts val="300"/>
              </a:spcAft>
            </a:pPr>
            <a:r>
              <a:rPr sz="1800" b="1" i="0">
                <a:solidFill>
                  <a:srgbClr val="1A1A1A"/>
                </a:solidFill>
                <a:latin typeface="Arial"/>
              </a:rPr>
              <a:t>Technology Component</a:t>
            </a:r>
          </a:p>
          <a:p>
            <a:pPr>
              <a:spcAft>
                <a:spcPts val="300"/>
              </a:spcAft>
            </a:pPr>
            <a:r>
              <a:rPr sz="1500" b="0" i="0">
                <a:solidFill>
                  <a:srgbClr val="595959"/>
                </a:solidFill>
                <a:latin typeface="Arial"/>
              </a:rPr>
              <a:t>The infrastructure underneath.</a:t>
            </a:r>
          </a:p>
        </p:txBody>
      </p:sp>
      <p:sp>
        <p:nvSpPr>
          <p:cNvPr id="13" name="Rectangle 12"/>
          <p:cNvSpPr/>
          <p:nvPr/>
        </p:nvSpPr>
        <p:spPr>
          <a:xfrm>
            <a:off x="621792" y="541477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455919"/>
            <a:ext cx="10984687" cy="761999"/>
          </a:xfrm>
          <a:prstGeom prst="rect">
            <a:avLst/>
          </a:prstGeom>
          <a:noFill/>
        </p:spPr>
        <p:txBody>
          <a:bodyPr wrap="square">
            <a:spAutoFit/>
          </a:bodyPr>
          <a:lstStyle/>
          <a:p>
            <a:pPr>
              <a:spcAft>
                <a:spcPts val="300"/>
              </a:spcAft>
            </a:pPr>
            <a:r>
              <a:rPr sz="1800" b="1" i="0">
                <a:solidFill>
                  <a:srgbClr val="1A1A1A"/>
                </a:solidFill>
                <a:latin typeface="Arial"/>
              </a:rPr>
              <a:t>Organisation</a:t>
            </a:r>
          </a:p>
          <a:p>
            <a:pPr>
              <a:spcAft>
                <a:spcPts val="300"/>
              </a:spcAft>
            </a:pPr>
            <a:r>
              <a:rPr sz="1500" b="0" i="0">
                <a:solidFill>
                  <a:srgbClr val="595959"/>
                </a:solidFill>
                <a:latin typeface="Arial"/>
              </a:rPr>
              <a:t>Owns each of these.</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relationships matter as much as the entities</a:t>
            </a:r>
          </a:p>
        </p:txBody>
      </p:sp>
      <p:sp>
        <p:nvSpPr>
          <p:cNvPr id="4" name="Rounded Rectangle 3"/>
          <p:cNvSpPr/>
          <p:nvPr/>
        </p:nvSpPr>
        <p:spPr>
          <a:xfrm>
            <a:off x="658368" y="1600200"/>
            <a:ext cx="1828800" cy="3840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Organisation</a:t>
            </a:r>
          </a:p>
          <a:p>
            <a:pPr algn="l">
              <a:spcAft>
                <a:spcPts val="300"/>
              </a:spcAft>
            </a:pPr>
            <a:r>
              <a:rPr sz="1250" b="0" i="0">
                <a:solidFill>
                  <a:srgbClr val="1A1A1A"/>
                </a:solidFill>
                <a:latin typeface="Arial"/>
              </a:rPr>
              <a:t>owns each of them</a:t>
            </a:r>
          </a:p>
        </p:txBody>
      </p:sp>
      <p:sp>
        <p:nvSpPr>
          <p:cNvPr id="5" name="Rounded Rectangle 4"/>
          <p:cNvSpPr/>
          <p:nvPr/>
        </p:nvSpPr>
        <p:spPr>
          <a:xfrm>
            <a:off x="3246120" y="160020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Capability</a:t>
            </a:r>
          </a:p>
          <a:p>
            <a:pPr algn="l">
              <a:spcAft>
                <a:spcPts val="300"/>
              </a:spcAft>
            </a:pPr>
            <a:r>
              <a:rPr sz="1250" b="0" i="0">
                <a:solidFill>
                  <a:srgbClr val="1A1A1A"/>
                </a:solidFill>
                <a:latin typeface="Arial"/>
              </a:rPr>
              <a:t>what a body can do</a:t>
            </a:r>
          </a:p>
        </p:txBody>
      </p:sp>
      <p:sp>
        <p:nvSpPr>
          <p:cNvPr id="6" name="Rounded Rectangle 5"/>
          <p:cNvSpPr/>
          <p:nvPr/>
        </p:nvSpPr>
        <p:spPr>
          <a:xfrm>
            <a:off x="8183879" y="160020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Service</a:t>
            </a:r>
          </a:p>
          <a:p>
            <a:pPr algn="l">
              <a:spcAft>
                <a:spcPts val="300"/>
              </a:spcAft>
            </a:pPr>
            <a:r>
              <a:rPr sz="1250" b="0" i="0">
                <a:solidFill>
                  <a:srgbClr val="1A1A1A"/>
                </a:solidFill>
                <a:latin typeface="Arial"/>
              </a:rPr>
              <a:t>how it reaches a citizen or body</a:t>
            </a:r>
          </a:p>
        </p:txBody>
      </p:sp>
      <p:sp>
        <p:nvSpPr>
          <p:cNvPr id="7" name="Rounded Rectangle 6"/>
          <p:cNvSpPr/>
          <p:nvPr/>
        </p:nvSpPr>
        <p:spPr>
          <a:xfrm>
            <a:off x="3246120" y="324612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Application</a:t>
            </a:r>
          </a:p>
          <a:p>
            <a:pPr algn="l">
              <a:spcAft>
                <a:spcPts val="300"/>
              </a:spcAft>
            </a:pPr>
            <a:r>
              <a:rPr sz="1250" b="0" i="0">
                <a:solidFill>
                  <a:srgbClr val="1A1A1A"/>
                </a:solidFill>
                <a:latin typeface="Arial"/>
              </a:rPr>
              <a:t>the software that supports it</a:t>
            </a:r>
          </a:p>
        </p:txBody>
      </p:sp>
      <p:sp>
        <p:nvSpPr>
          <p:cNvPr id="8" name="Rounded Rectangle 7"/>
          <p:cNvSpPr/>
          <p:nvPr/>
        </p:nvSpPr>
        <p:spPr>
          <a:xfrm>
            <a:off x="8183879" y="324612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Data Domain</a:t>
            </a:r>
          </a:p>
          <a:p>
            <a:pPr algn="l">
              <a:spcAft>
                <a:spcPts val="300"/>
              </a:spcAft>
            </a:pPr>
            <a:r>
              <a:rPr sz="1250" b="0" i="0">
                <a:solidFill>
                  <a:srgbClr val="1A1A1A"/>
                </a:solidFill>
                <a:latin typeface="Arial"/>
              </a:rPr>
              <a:t>a kind of information, one owner</a:t>
            </a:r>
          </a:p>
        </p:txBody>
      </p:sp>
      <p:sp>
        <p:nvSpPr>
          <p:cNvPr id="9" name="Rounded Rectangle 8"/>
          <p:cNvSpPr/>
          <p:nvPr/>
        </p:nvSpPr>
        <p:spPr>
          <a:xfrm>
            <a:off x="3246120" y="4617720"/>
            <a:ext cx="7589520" cy="82296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Technology Component</a:t>
            </a:r>
          </a:p>
          <a:p>
            <a:pPr algn="l">
              <a:spcAft>
                <a:spcPts val="300"/>
              </a:spcAft>
            </a:pPr>
            <a:r>
              <a:rPr sz="1250" b="0" i="0">
                <a:solidFill>
                  <a:srgbClr val="FFFFFF"/>
                </a:solidFill>
                <a:latin typeface="Arial"/>
              </a:rPr>
              <a:t>the infrastructure underneath</a:t>
            </a:r>
          </a:p>
        </p:txBody>
      </p:sp>
      <p:cxnSp>
        <p:nvCxnSpPr>
          <p:cNvPr id="10" name="Connector 9"/>
          <p:cNvCxnSpPr/>
          <p:nvPr/>
        </p:nvCxnSpPr>
        <p:spPr>
          <a:xfrm>
            <a:off x="5897879" y="2080260"/>
            <a:ext cx="2286000"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400799" y="1897379"/>
            <a:ext cx="12801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delivered by</a:t>
            </a:r>
          </a:p>
        </p:txBody>
      </p:sp>
      <p:cxnSp>
        <p:nvCxnSpPr>
          <p:cNvPr id="12" name="Connector 11"/>
          <p:cNvCxnSpPr/>
          <p:nvPr/>
        </p:nvCxnSpPr>
        <p:spPr>
          <a:xfrm>
            <a:off x="4572000" y="2560320"/>
            <a:ext cx="0" cy="68580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681728" y="2715768"/>
            <a:ext cx="13716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l"/>
            <a:r>
              <a:rPr sz="1200" b="1" i="0">
                <a:solidFill>
                  <a:srgbClr val="006E96"/>
                </a:solidFill>
                <a:latin typeface="Arial"/>
              </a:rPr>
              <a:t>supported by</a:t>
            </a:r>
          </a:p>
        </p:txBody>
      </p:sp>
      <p:cxnSp>
        <p:nvCxnSpPr>
          <p:cNvPr id="14" name="Connector 13"/>
          <p:cNvCxnSpPr/>
          <p:nvPr/>
        </p:nvCxnSpPr>
        <p:spPr>
          <a:xfrm>
            <a:off x="5897879" y="3726180"/>
            <a:ext cx="2286000"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720840" y="3543300"/>
            <a:ext cx="8229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uses</a:t>
            </a:r>
          </a:p>
        </p:txBody>
      </p:sp>
      <p:cxnSp>
        <p:nvCxnSpPr>
          <p:cNvPr id="16" name="Connector 15"/>
          <p:cNvCxnSpPr/>
          <p:nvPr/>
        </p:nvCxnSpPr>
        <p:spPr>
          <a:xfrm>
            <a:off x="4572000" y="4206240"/>
            <a:ext cx="0" cy="41148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509759" y="4206240"/>
            <a:ext cx="0" cy="41148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172199" y="4251959"/>
            <a:ext cx="1920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everything runs on</a:t>
            </a:r>
          </a:p>
        </p:txBody>
      </p:sp>
      <p:cxnSp>
        <p:nvCxnSpPr>
          <p:cNvPr id="19" name="Connector 18"/>
          <p:cNvCxnSpPr/>
          <p:nvPr/>
        </p:nvCxnSpPr>
        <p:spPr>
          <a:xfrm>
            <a:off x="2487168" y="3520440"/>
            <a:ext cx="758952"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505456" y="3136392"/>
            <a:ext cx="7315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owns</a:t>
            </a:r>
          </a:p>
        </p:txBody>
      </p:sp>
      <p:sp>
        <p:nvSpPr>
          <p:cNvPr id="21" name="TextBox 20"/>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These relationships are fixed. You do not invent them per ministry.</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is not a matter of good intentions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Everyone says they want re-use — one identity system used by many ministries, instead of five. But before the agriculture ministry can consume the identity authority's building block, both must describe that building block the same way: same entity type, same relationships, same data domain.</a:t>
            </a:r>
          </a:p>
          <a:p>
            <a:pPr>
              <a:spcAft>
                <a:spcPts val="1200"/>
              </a:spcAft>
            </a:pPr>
            <a:r>
              <a:rPr sz="2000" b="0" i="0">
                <a:solidFill>
                  <a:srgbClr val="1A1A1A"/>
                </a:solidFill>
                <a:latin typeface="Arial"/>
              </a:rPr>
              <a:t>If each ministry models in its own private language, re-use is impossible even when everyone wants it.</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The metamodel is the precondition for re-use.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few entities let business and IT understand each other</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head of policy says</a:t>
            </a:r>
          </a:p>
          <a:p>
            <a:pPr>
              <a:spcAft>
                <a:spcPts val="700"/>
              </a:spcAft>
            </a:pPr>
            <a:r>
              <a:rPr sz="1600" b="0" i="0">
                <a:solidFill>
                  <a:srgbClr val="1A1A1A"/>
                </a:solidFill>
                <a:latin typeface="Arial"/>
              </a:rPr>
              <a:t>“We want to register every learner once.”</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architect answers</a:t>
            </a:r>
          </a:p>
          <a:p>
            <a:pPr>
              <a:spcAft>
                <a:spcPts val="700"/>
              </a:spcAft>
            </a:pPr>
            <a:r>
              <a:rPr sz="1600" b="0" i="0">
                <a:solidFill>
                  <a:srgbClr val="1A1A1A"/>
                </a:solidFill>
                <a:latin typeface="Arial"/>
              </a:rPr>
              <a:t>“That is one Capability,</a:t>
            </a:r>
          </a:p>
          <a:p>
            <a:pPr>
              <a:spcAft>
                <a:spcPts val="700"/>
              </a:spcAft>
            </a:pPr>
            <a:r>
              <a:rPr sz="1600" b="0" i="0">
                <a:solidFill>
                  <a:srgbClr val="1A1A1A"/>
                </a:solidFill>
                <a:latin typeface="Arial"/>
              </a:rPr>
              <a:t>one Service,</a:t>
            </a:r>
          </a:p>
          <a:p>
            <a:pPr>
              <a:spcAft>
                <a:spcPts val="700"/>
              </a:spcAft>
            </a:pPr>
            <a:r>
              <a:rPr sz="1600" b="0" i="0">
                <a:solidFill>
                  <a:srgbClr val="1A1A1A"/>
                </a:solidFill>
                <a:latin typeface="Arial"/>
              </a:rPr>
              <a:t>and one Data Domain owned by the learner registry.”</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Same few entities — both sides understand them. That is a policy goal translated into an architecture.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adopt the metamodel — you don't design it</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1900" b="1" i="0">
                <a:solidFill>
                  <a:srgbClr val="1A1A1A"/>
                </a:solidFill>
                <a:latin typeface="Arial"/>
              </a:rPr>
              <a:t>PAERA Annex 2 publishes it</a:t>
            </a:r>
          </a:p>
          <a:p>
            <a:pPr>
              <a:spcAft>
                <a:spcPts val="300"/>
              </a:spcAft>
            </a:pPr>
            <a:r>
              <a:rPr sz="1550" b="0" i="0">
                <a:solidFill>
                  <a:srgbClr val="595959"/>
                </a:solidFill>
                <a:latin typeface="Arial"/>
              </a:rPr>
              <a:t>The entities, the definitions, the relationships — already worked out across many countries.</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1900" b="1" i="0">
                <a:solidFill>
                  <a:srgbClr val="1A1A1A"/>
                </a:solidFill>
                <a:latin typeface="Arial"/>
              </a:rPr>
              <a:t>Use it from day one</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1900" b="1" i="0">
                <a:solidFill>
                  <a:srgbClr val="1A1A1A"/>
                </a:solidFill>
                <a:latin typeface="Arial"/>
              </a:rPr>
              <a:t>Extend it only where your country genuinely needs a new entity</a:t>
            </a:r>
          </a:p>
          <a:p>
            <a:pPr>
              <a:spcAft>
                <a:spcPts val="300"/>
              </a:spcAft>
            </a:pPr>
            <a:r>
              <a:rPr sz="1550" b="0" i="0">
                <a:solidFill>
                  <a:srgbClr val="595959"/>
                </a:solidFill>
                <a:latin typeface="Arial"/>
              </a:rPr>
              <a:t>Deliberately, written down, shared.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metamodel is the small shared dictionary that lets two ministries' architectures fit together — which is what turns re-use from a wish into a plan.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Check a draft architecture against the PAERA metamodel.</a:t>
            </a:r>
          </a:p>
          <a:p>
            <a:pPr algn="l">
              <a:spcAft>
                <a:spcPts val="400"/>
              </a:spcAft>
            </a:pPr>
            <a:r>
              <a:rPr sz="1800" b="0" i="0">
                <a:solidFill>
                  <a:srgbClr val="595959"/>
                </a:solidFill>
                <a:latin typeface="Arial"/>
              </a:rPr>
              <a:t>The prompt in the companion material gives you a mapping table plus lists of non-conforming elements, missing relationships, and suggested corrections.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Annex 2 (Metamodel — entities and relationships)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Adopt your principles, don't draft them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publishes ten architectural principles, already debated across many countries. Your job is to adopt them, tailor the wording to your context, and use them to settle design arguments — not to spend your first year drafting principles from scratch.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Three months. Forty drafts. No agreement.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Someone says: let us write our country’s architectural principles.</a:t>
            </a:r>
          </a:p>
          <a:p>
            <a:pPr>
              <a:spcAft>
                <a:spcPts val="800"/>
              </a:spcAft>
            </a:pPr>
            <a:r>
              <a:rPr sz="1700" b="0" i="0">
                <a:solidFill>
                  <a:srgbClr val="595959"/>
                </a:solidFill>
                <a:latin typeface="Arial"/>
              </a:rPr>
              <a:t>Half the drafts contradict each other.</a:t>
            </a:r>
          </a:p>
          <a:p>
            <a:pPr>
              <a:spcAft>
                <a:spcPts val="800"/>
              </a:spcAft>
            </a:pPr>
            <a:r>
              <a:rPr sz="1700" b="0" i="0">
                <a:solidFill>
                  <a:srgbClr val="595959"/>
                </a:solidFill>
                <a:latin typeface="Arial"/>
              </a:rPr>
              <a:t>There is a faster way — the principles already exist.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principle is a short rule that settles a design argument before it starts</a:t>
            </a:r>
          </a:p>
        </p:txBody>
      </p:sp>
      <p:sp>
        <p:nvSpPr>
          <p:cNvPr id="4" name="Rounded Rectangle 3"/>
          <p:cNvSpPr/>
          <p:nvPr/>
        </p:nvSpPr>
        <p:spPr>
          <a:xfrm>
            <a:off x="658368" y="1645920"/>
            <a:ext cx="3493008" cy="17373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92224"/>
            <a:ext cx="3090672" cy="1463039"/>
          </a:xfrm>
          <a:prstGeom prst="rect">
            <a:avLst/>
          </a:prstGeom>
          <a:noFill/>
        </p:spPr>
        <p:txBody>
          <a:bodyPr wrap="square">
            <a:spAutoFit/>
          </a:bodyPr>
          <a:lstStyle/>
          <a:p>
            <a:pPr>
              <a:spcAft>
                <a:spcPts val="700"/>
              </a:spcAft>
            </a:pPr>
            <a:r>
              <a:rPr sz="1800" b="1" i="0">
                <a:solidFill>
                  <a:srgbClr val="006E96"/>
                </a:solidFill>
                <a:latin typeface="Arial"/>
              </a:rPr>
              <a:t>Reuse before you buy; buy before you build.</a:t>
            </a:r>
          </a:p>
        </p:txBody>
      </p:sp>
      <p:sp>
        <p:nvSpPr>
          <p:cNvPr id="6" name="Rounded Rectangle 5"/>
          <p:cNvSpPr/>
          <p:nvPr/>
        </p:nvSpPr>
        <p:spPr>
          <a:xfrm>
            <a:off x="4352544" y="1645920"/>
            <a:ext cx="3493008" cy="17373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53712" y="1792224"/>
            <a:ext cx="3090672" cy="1463039"/>
          </a:xfrm>
          <a:prstGeom prst="rect">
            <a:avLst/>
          </a:prstGeom>
          <a:noFill/>
        </p:spPr>
        <p:txBody>
          <a:bodyPr wrap="square">
            <a:spAutoFit/>
          </a:bodyPr>
          <a:lstStyle/>
          <a:p>
            <a:pPr>
              <a:spcAft>
                <a:spcPts val="700"/>
              </a:spcAft>
            </a:pPr>
            <a:r>
              <a:rPr sz="1800" b="1" i="0">
                <a:solidFill>
                  <a:srgbClr val="006E96"/>
                </a:solidFill>
                <a:latin typeface="Arial"/>
              </a:rPr>
              <a:t>Data has one owner.</a:t>
            </a:r>
          </a:p>
        </p:txBody>
      </p:sp>
      <p:sp>
        <p:nvSpPr>
          <p:cNvPr id="8" name="Rounded Rectangle 7"/>
          <p:cNvSpPr/>
          <p:nvPr/>
        </p:nvSpPr>
        <p:spPr>
          <a:xfrm>
            <a:off x="8046720" y="1645920"/>
            <a:ext cx="3493008" cy="17373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47888" y="1792224"/>
            <a:ext cx="3090672" cy="1463039"/>
          </a:xfrm>
          <a:prstGeom prst="rect">
            <a:avLst/>
          </a:prstGeom>
          <a:noFill/>
        </p:spPr>
        <p:txBody>
          <a:bodyPr wrap="square">
            <a:spAutoFit/>
          </a:bodyPr>
          <a:lstStyle/>
          <a:p>
            <a:pPr>
              <a:spcAft>
                <a:spcPts val="700"/>
              </a:spcAft>
            </a:pPr>
            <a:r>
              <a:rPr sz="1800" b="1" i="0">
                <a:solidFill>
                  <a:srgbClr val="006E96"/>
                </a:solidFill>
                <a:latin typeface="Arial"/>
              </a:rPr>
              <a:t>Ask the citizen only once.</a:t>
            </a:r>
          </a:p>
        </p:txBody>
      </p:sp>
      <p:sp>
        <p:nvSpPr>
          <p:cNvPr id="10" name="TextBox 9"/>
          <p:cNvSpPr txBox="1"/>
          <p:nvPr/>
        </p:nvSpPr>
        <p:spPr>
          <a:xfrm>
            <a:off x="658368" y="3749039"/>
            <a:ext cx="10881360" cy="1463040"/>
          </a:xfrm>
          <a:prstGeom prst="rect">
            <a:avLst/>
          </a:prstGeom>
          <a:noFill/>
        </p:spPr>
        <p:txBody>
          <a:bodyPr wrap="square">
            <a:spAutoFit/>
          </a:bodyPr>
          <a:lstStyle/>
          <a:p>
            <a:pPr>
              <a:spcAft>
                <a:spcPts val="1000"/>
              </a:spcAft>
            </a:pPr>
            <a:r>
              <a:rPr sz="2100" b="0" i="0">
                <a:solidFill>
                  <a:srgbClr val="1A1A1A"/>
                </a:solidFill>
                <a:latin typeface="Arial"/>
              </a:rPr>
              <a:t>A decision you make once, so your team does not re-argue it on every project.</a:t>
            </a:r>
          </a:p>
        </p:txBody>
      </p:sp>
      <p:sp>
        <p:nvSpPr>
          <p:cNvPr id="11" name="Rounded Rectangle 10"/>
          <p:cNvSpPr/>
          <p:nvPr/>
        </p:nvSpPr>
        <p:spPr>
          <a:xfrm>
            <a:off x="658368" y="4892040"/>
            <a:ext cx="10881360" cy="10058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038344"/>
            <a:ext cx="10479024" cy="731520"/>
          </a:xfrm>
          <a:prstGeom prst="rect">
            <a:avLst/>
          </a:prstGeom>
          <a:noFill/>
        </p:spPr>
        <p:txBody>
          <a:bodyPr wrap="square">
            <a:spAutoFit/>
          </a:bodyPr>
          <a:lstStyle/>
          <a:p>
            <a:pPr>
              <a:spcAft>
                <a:spcPts val="700"/>
              </a:spcAft>
            </a:pPr>
            <a:r>
              <a:rPr sz="2000" b="1" i="0">
                <a:solidFill>
                  <a:srgbClr val="1A1A1A"/>
                </a:solidFill>
                <a:latin typeface="Arial"/>
              </a:rPr>
              <a:t>If a principle never changes a decision, it is not a principle — it is a slogan.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 gives you ten — already debated across many countries</a:t>
            </a:r>
          </a:p>
        </p:txBody>
      </p:sp>
      <p:sp>
        <p:nvSpPr>
          <p:cNvPr id="4" name="Oval 3"/>
          <p:cNvSpPr/>
          <p:nvPr/>
        </p:nvSpPr>
        <p:spPr>
          <a:xfrm>
            <a:off x="658368" y="153619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81328"/>
            <a:ext cx="4937760" cy="822960"/>
          </a:xfrm>
          <a:prstGeom prst="rect">
            <a:avLst/>
          </a:prstGeom>
          <a:noFill/>
        </p:spPr>
        <p:txBody>
          <a:bodyPr wrap="square">
            <a:spAutoFit/>
          </a:bodyPr>
          <a:lstStyle/>
          <a:p>
            <a:r>
              <a:rPr sz="1700" b="1" i="0">
                <a:solidFill>
                  <a:srgbClr val="1A1A1A"/>
                </a:solidFill>
                <a:latin typeface="Arial"/>
              </a:rPr>
              <a:t>Rule of law</a:t>
            </a:r>
          </a:p>
        </p:txBody>
      </p:sp>
      <p:sp>
        <p:nvSpPr>
          <p:cNvPr id="6" name="Rectangle 5"/>
          <p:cNvSpPr/>
          <p:nvPr/>
        </p:nvSpPr>
        <p:spPr>
          <a:xfrm>
            <a:off x="658368" y="2322576"/>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24688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14016"/>
            <a:ext cx="4937760" cy="822960"/>
          </a:xfrm>
          <a:prstGeom prst="rect">
            <a:avLst/>
          </a:prstGeom>
          <a:noFill/>
        </p:spPr>
        <p:txBody>
          <a:bodyPr wrap="square">
            <a:spAutoFit/>
          </a:bodyPr>
          <a:lstStyle/>
          <a:p>
            <a:r>
              <a:rPr sz="1700" b="1" i="0">
                <a:solidFill>
                  <a:srgbClr val="1A1A1A"/>
                </a:solidFill>
                <a:latin typeface="Arial"/>
              </a:rPr>
              <a:t>Intrinsic security and privacy</a:t>
            </a:r>
          </a:p>
        </p:txBody>
      </p:sp>
      <p:sp>
        <p:nvSpPr>
          <p:cNvPr id="9" name="Rectangle 8"/>
          <p:cNvSpPr/>
          <p:nvPr/>
        </p:nvSpPr>
        <p:spPr>
          <a:xfrm>
            <a:off x="658368" y="3255264"/>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34015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46704"/>
            <a:ext cx="4937760" cy="822960"/>
          </a:xfrm>
          <a:prstGeom prst="rect">
            <a:avLst/>
          </a:prstGeom>
          <a:noFill/>
        </p:spPr>
        <p:txBody>
          <a:bodyPr wrap="square">
            <a:spAutoFit/>
          </a:bodyPr>
          <a:lstStyle/>
          <a:p>
            <a:r>
              <a:rPr sz="1700" b="1" i="0">
                <a:solidFill>
                  <a:srgbClr val="1A1A1A"/>
                </a:solidFill>
                <a:latin typeface="Arial"/>
              </a:rPr>
              <a:t>Openness and transparency</a:t>
            </a:r>
          </a:p>
        </p:txBody>
      </p:sp>
      <p:sp>
        <p:nvSpPr>
          <p:cNvPr id="12" name="Rectangle 11"/>
          <p:cNvSpPr/>
          <p:nvPr/>
        </p:nvSpPr>
        <p:spPr>
          <a:xfrm>
            <a:off x="658368" y="4187952"/>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33425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279392"/>
            <a:ext cx="4937760" cy="822960"/>
          </a:xfrm>
          <a:prstGeom prst="rect">
            <a:avLst/>
          </a:prstGeom>
          <a:noFill/>
        </p:spPr>
        <p:txBody>
          <a:bodyPr wrap="square">
            <a:spAutoFit/>
          </a:bodyPr>
          <a:lstStyle/>
          <a:p>
            <a:r>
              <a:rPr sz="1700" b="1" i="0">
                <a:solidFill>
                  <a:srgbClr val="1A1A1A"/>
                </a:solidFill>
                <a:latin typeface="Arial"/>
              </a:rPr>
              <a:t>Interoperability by default</a:t>
            </a:r>
          </a:p>
        </p:txBody>
      </p:sp>
      <p:sp>
        <p:nvSpPr>
          <p:cNvPr id="15" name="Rectangle 14"/>
          <p:cNvSpPr/>
          <p:nvPr/>
        </p:nvSpPr>
        <p:spPr>
          <a:xfrm>
            <a:off x="658368" y="5120640"/>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52669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212080"/>
            <a:ext cx="4937760" cy="822960"/>
          </a:xfrm>
          <a:prstGeom prst="rect">
            <a:avLst/>
          </a:prstGeom>
          <a:noFill/>
        </p:spPr>
        <p:txBody>
          <a:bodyPr wrap="square">
            <a:spAutoFit/>
          </a:bodyPr>
          <a:lstStyle/>
          <a:p>
            <a:r>
              <a:rPr sz="1700" b="1" i="0">
                <a:solidFill>
                  <a:srgbClr val="1A1A1A"/>
                </a:solidFill>
                <a:latin typeface="Arial"/>
              </a:rPr>
              <a:t>Once-only</a:t>
            </a:r>
          </a:p>
        </p:txBody>
      </p:sp>
      <p:sp>
        <p:nvSpPr>
          <p:cNvPr id="18" name="Oval 17"/>
          <p:cNvSpPr/>
          <p:nvPr/>
        </p:nvSpPr>
        <p:spPr>
          <a:xfrm>
            <a:off x="6281928" y="153619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19" name="TextBox 18"/>
          <p:cNvSpPr txBox="1"/>
          <p:nvPr/>
        </p:nvSpPr>
        <p:spPr>
          <a:xfrm>
            <a:off x="6739128" y="1481328"/>
            <a:ext cx="4937760" cy="822960"/>
          </a:xfrm>
          <a:prstGeom prst="rect">
            <a:avLst/>
          </a:prstGeom>
          <a:noFill/>
        </p:spPr>
        <p:txBody>
          <a:bodyPr wrap="square">
            <a:spAutoFit/>
          </a:bodyPr>
          <a:lstStyle/>
          <a:p>
            <a:r>
              <a:rPr sz="1700" b="1" i="0">
                <a:solidFill>
                  <a:srgbClr val="1A1A1A"/>
                </a:solidFill>
                <a:latin typeface="Arial"/>
              </a:rPr>
              <a:t>User-centred and inclusive</a:t>
            </a:r>
          </a:p>
        </p:txBody>
      </p:sp>
      <p:sp>
        <p:nvSpPr>
          <p:cNvPr id="20" name="Rectangle 19"/>
          <p:cNvSpPr/>
          <p:nvPr/>
        </p:nvSpPr>
        <p:spPr>
          <a:xfrm>
            <a:off x="6281928" y="2322576"/>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81928" y="24688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2" name="TextBox 21"/>
          <p:cNvSpPr txBox="1"/>
          <p:nvPr/>
        </p:nvSpPr>
        <p:spPr>
          <a:xfrm>
            <a:off x="6739128" y="2414016"/>
            <a:ext cx="4937760" cy="822960"/>
          </a:xfrm>
          <a:prstGeom prst="rect">
            <a:avLst/>
          </a:prstGeom>
          <a:noFill/>
        </p:spPr>
        <p:txBody>
          <a:bodyPr wrap="square">
            <a:spAutoFit/>
          </a:bodyPr>
          <a:lstStyle/>
          <a:p>
            <a:r>
              <a:rPr sz="1700" b="1" i="0">
                <a:solidFill>
                  <a:srgbClr val="1A1A1A"/>
                </a:solidFill>
                <a:latin typeface="Arial"/>
              </a:rPr>
              <a:t>Reuse and sharing</a:t>
            </a:r>
          </a:p>
        </p:txBody>
      </p:sp>
      <p:sp>
        <p:nvSpPr>
          <p:cNvPr id="23" name="Rectangle 22"/>
          <p:cNvSpPr/>
          <p:nvPr/>
        </p:nvSpPr>
        <p:spPr>
          <a:xfrm>
            <a:off x="6281928" y="3255264"/>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81928" y="34015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8</a:t>
            </a:r>
          </a:p>
        </p:txBody>
      </p:sp>
      <p:sp>
        <p:nvSpPr>
          <p:cNvPr id="25" name="TextBox 24"/>
          <p:cNvSpPr txBox="1"/>
          <p:nvPr/>
        </p:nvSpPr>
        <p:spPr>
          <a:xfrm>
            <a:off x="6739128" y="3346704"/>
            <a:ext cx="4937760" cy="822960"/>
          </a:xfrm>
          <a:prstGeom prst="rect">
            <a:avLst/>
          </a:prstGeom>
          <a:noFill/>
        </p:spPr>
        <p:txBody>
          <a:bodyPr wrap="square">
            <a:spAutoFit/>
          </a:bodyPr>
          <a:lstStyle/>
          <a:p>
            <a:r>
              <a:rPr sz="1700" b="1" i="0">
                <a:solidFill>
                  <a:srgbClr val="1A1A1A"/>
                </a:solidFill>
                <a:latin typeface="Arial"/>
              </a:rPr>
              <a:t>Data as a managed asset — one source of truth</a:t>
            </a:r>
          </a:p>
        </p:txBody>
      </p:sp>
      <p:sp>
        <p:nvSpPr>
          <p:cNvPr id="26" name="Rectangle 25"/>
          <p:cNvSpPr/>
          <p:nvPr/>
        </p:nvSpPr>
        <p:spPr>
          <a:xfrm>
            <a:off x="6281928" y="4187952"/>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281928" y="433425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9</a:t>
            </a:r>
          </a:p>
        </p:txBody>
      </p:sp>
      <p:sp>
        <p:nvSpPr>
          <p:cNvPr id="28" name="TextBox 27"/>
          <p:cNvSpPr txBox="1"/>
          <p:nvPr/>
        </p:nvSpPr>
        <p:spPr>
          <a:xfrm>
            <a:off x="6739128" y="4279392"/>
            <a:ext cx="4937760" cy="822960"/>
          </a:xfrm>
          <a:prstGeom prst="rect">
            <a:avLst/>
          </a:prstGeom>
          <a:noFill/>
        </p:spPr>
        <p:txBody>
          <a:bodyPr wrap="square">
            <a:spAutoFit/>
          </a:bodyPr>
          <a:lstStyle/>
          <a:p>
            <a:r>
              <a:rPr sz="1700" b="1" i="0">
                <a:solidFill>
                  <a:srgbClr val="1A1A1A"/>
                </a:solidFill>
                <a:latin typeface="Arial"/>
              </a:rPr>
              <a:t>Technology neutrality — avoid lock-in</a:t>
            </a:r>
          </a:p>
        </p:txBody>
      </p:sp>
      <p:sp>
        <p:nvSpPr>
          <p:cNvPr id="29" name="Rectangle 28"/>
          <p:cNvSpPr/>
          <p:nvPr/>
        </p:nvSpPr>
        <p:spPr>
          <a:xfrm>
            <a:off x="6281928" y="5120640"/>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281928" y="52669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10</a:t>
            </a:r>
          </a:p>
        </p:txBody>
      </p:sp>
      <p:sp>
        <p:nvSpPr>
          <p:cNvPr id="31" name="TextBox 30"/>
          <p:cNvSpPr txBox="1"/>
          <p:nvPr/>
        </p:nvSpPr>
        <p:spPr>
          <a:xfrm>
            <a:off x="6739128" y="5212080"/>
            <a:ext cx="4937760" cy="822960"/>
          </a:xfrm>
          <a:prstGeom prst="rect">
            <a:avLst/>
          </a:prstGeom>
          <a:noFill/>
        </p:spPr>
        <p:txBody>
          <a:bodyPr wrap="square">
            <a:spAutoFit/>
          </a:bodyPr>
          <a:lstStyle/>
          <a:p>
            <a:r>
              <a:rPr sz="1700" b="1" i="0">
                <a:solidFill>
                  <a:srgbClr val="1A1A1A"/>
                </a:solidFill>
                <a:latin typeface="Arial"/>
              </a:rPr>
              <a:t>Sustainability</a:t>
            </a:r>
          </a:p>
        </p:txBody>
      </p:sp>
      <p:sp>
        <p:nvSpPr>
          <p:cNvPr id="32" name="TextBox 3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Adopting them is three steps, not a three-month workshop</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1900" b="1" i="0">
                <a:solidFill>
                  <a:srgbClr val="1A1A1A"/>
                </a:solidFill>
                <a:latin typeface="Arial"/>
              </a:rPr>
              <a:t>Adopt the ten as your baseline</a:t>
            </a:r>
          </a:p>
          <a:p>
            <a:pPr>
              <a:spcAft>
                <a:spcPts val="300"/>
              </a:spcAft>
            </a:pPr>
            <a:r>
              <a:rPr sz="1550" b="0" i="0">
                <a:solidFill>
                  <a:srgbClr val="595959"/>
                </a:solidFill>
                <a:latin typeface="Arial"/>
              </a:rPr>
              <a:t>You inherit the thinking instead of starting from a blank page.</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1900" b="1" i="0">
                <a:solidFill>
                  <a:srgbClr val="1A1A1A"/>
                </a:solidFill>
                <a:latin typeface="Arial"/>
              </a:rPr>
              <a:t>Tailor the wording to your country</a:t>
            </a:r>
          </a:p>
          <a:p>
            <a:pPr>
              <a:spcAft>
                <a:spcPts val="300"/>
              </a:spcAft>
            </a:pPr>
            <a:r>
              <a:rPr sz="1550" b="0" i="0">
                <a:solidFill>
                  <a:srgbClr val="595959"/>
                </a:solidFill>
                <a:latin typeface="Arial"/>
              </a:rPr>
              <a:t>Point each principle at your own laws, your data-protection act, your procurement rules, so it has teeth in your context.</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1900" b="1" i="0">
                <a:solidFill>
                  <a:srgbClr val="1A1A1A"/>
                </a:solidFill>
                <a:latin typeface="Arial"/>
              </a:rPr>
              <a:t>Add at most a few country-specific principles</a:t>
            </a:r>
          </a:p>
          <a:p>
            <a:pPr>
              <a:spcAft>
                <a:spcPts val="300"/>
              </a:spcAft>
            </a:pPr>
            <a:r>
              <a:rPr sz="1550" b="0" i="0">
                <a:solidFill>
                  <a:srgbClr val="595959"/>
                </a:solidFill>
                <a:latin typeface="Arial"/>
              </a:rPr>
              <a:t>Only where PAERA genuinely does not cover something — deliberately, with a reason written down.</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Make a principle bite — statement, reason, implication</a:t>
            </a:r>
          </a:p>
        </p:txBody>
      </p:sp>
      <p:sp>
        <p:nvSpPr>
          <p:cNvPr id="4" name="Rounded Rectangle 3"/>
          <p:cNvSpPr/>
          <p:nvPr/>
        </p:nvSpPr>
        <p:spPr>
          <a:xfrm>
            <a:off x="658368" y="1600200"/>
            <a:ext cx="10881360" cy="12344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37360"/>
            <a:ext cx="2194560" cy="365760"/>
          </a:xfrm>
          <a:prstGeom prst="rect">
            <a:avLst/>
          </a:prstGeom>
          <a:noFill/>
        </p:spPr>
        <p:txBody>
          <a:bodyPr wrap="square">
            <a:spAutoFit/>
          </a:bodyPr>
          <a:lstStyle/>
          <a:p>
            <a:r>
              <a:rPr sz="1100" b="1" i="0">
                <a:solidFill>
                  <a:srgbClr val="006E96"/>
                </a:solidFill>
                <a:latin typeface="Arial"/>
              </a:rPr>
              <a:t>STATEMENT</a:t>
            </a:r>
          </a:p>
        </p:txBody>
      </p:sp>
      <p:sp>
        <p:nvSpPr>
          <p:cNvPr id="6" name="TextBox 5"/>
          <p:cNvSpPr txBox="1"/>
          <p:nvPr/>
        </p:nvSpPr>
        <p:spPr>
          <a:xfrm>
            <a:off x="3108960" y="1709928"/>
            <a:ext cx="8183879" cy="1005840"/>
          </a:xfrm>
          <a:prstGeom prst="rect">
            <a:avLst/>
          </a:prstGeom>
          <a:noFill/>
        </p:spPr>
        <p:txBody>
          <a:bodyPr wrap="square">
            <a:spAutoFit/>
          </a:bodyPr>
          <a:lstStyle/>
          <a:p>
            <a:r>
              <a:rPr sz="1800" b="0" i="0">
                <a:solidFill>
                  <a:srgbClr val="1A1A1A"/>
                </a:solidFill>
                <a:latin typeface="Arial"/>
              </a:rPr>
              <a:t>We consume an existing building block before we build a new one.</a:t>
            </a:r>
          </a:p>
        </p:txBody>
      </p:sp>
      <p:sp>
        <p:nvSpPr>
          <p:cNvPr id="7" name="Rounded Rectangle 6"/>
          <p:cNvSpPr/>
          <p:nvPr/>
        </p:nvSpPr>
        <p:spPr>
          <a:xfrm>
            <a:off x="658368" y="2990088"/>
            <a:ext cx="10881360" cy="12344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127248"/>
            <a:ext cx="2194560" cy="365760"/>
          </a:xfrm>
          <a:prstGeom prst="rect">
            <a:avLst/>
          </a:prstGeom>
          <a:noFill/>
        </p:spPr>
        <p:txBody>
          <a:bodyPr wrap="square">
            <a:spAutoFit/>
          </a:bodyPr>
          <a:lstStyle/>
          <a:p>
            <a:r>
              <a:rPr sz="1100" b="1" i="0">
                <a:solidFill>
                  <a:srgbClr val="006E96"/>
                </a:solidFill>
                <a:latin typeface="Arial"/>
              </a:rPr>
              <a:t>REASON</a:t>
            </a:r>
          </a:p>
        </p:txBody>
      </p:sp>
      <p:sp>
        <p:nvSpPr>
          <p:cNvPr id="9" name="TextBox 8"/>
          <p:cNvSpPr txBox="1"/>
          <p:nvPr/>
        </p:nvSpPr>
        <p:spPr>
          <a:xfrm>
            <a:off x="3108960" y="3099816"/>
            <a:ext cx="8183879" cy="1005840"/>
          </a:xfrm>
          <a:prstGeom prst="rect">
            <a:avLst/>
          </a:prstGeom>
          <a:noFill/>
        </p:spPr>
        <p:txBody>
          <a:bodyPr wrap="square">
            <a:spAutoFit/>
          </a:bodyPr>
          <a:lstStyle/>
          <a:p>
            <a:r>
              <a:rPr sz="1800" b="0" i="0">
                <a:solidFill>
                  <a:srgbClr val="1A1A1A"/>
                </a:solidFill>
                <a:latin typeface="Arial"/>
              </a:rPr>
              <a:t>The country pays once, not many times.</a:t>
            </a:r>
          </a:p>
        </p:txBody>
      </p:sp>
      <p:sp>
        <p:nvSpPr>
          <p:cNvPr id="10" name="Rounded Rectangle 9"/>
          <p:cNvSpPr/>
          <p:nvPr/>
        </p:nvSpPr>
        <p:spPr>
          <a:xfrm>
            <a:off x="658368" y="4379976"/>
            <a:ext cx="10881360" cy="14630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517136"/>
            <a:ext cx="2194560" cy="365760"/>
          </a:xfrm>
          <a:prstGeom prst="rect">
            <a:avLst/>
          </a:prstGeom>
          <a:noFill/>
        </p:spPr>
        <p:txBody>
          <a:bodyPr wrap="square">
            <a:spAutoFit/>
          </a:bodyPr>
          <a:lstStyle/>
          <a:p>
            <a:r>
              <a:rPr sz="1100" b="1" i="0">
                <a:solidFill>
                  <a:srgbClr val="FFFFFF"/>
                </a:solidFill>
                <a:latin typeface="Arial"/>
              </a:rPr>
              <a:t>IMPLICATION</a:t>
            </a:r>
          </a:p>
        </p:txBody>
      </p:sp>
      <p:sp>
        <p:nvSpPr>
          <p:cNvPr id="12" name="TextBox 11"/>
          <p:cNvSpPr txBox="1"/>
          <p:nvPr/>
        </p:nvSpPr>
        <p:spPr>
          <a:xfrm>
            <a:off x="3108960" y="4489704"/>
            <a:ext cx="8183879" cy="1234440"/>
          </a:xfrm>
          <a:prstGeom prst="rect">
            <a:avLst/>
          </a:prstGeom>
          <a:noFill/>
        </p:spPr>
        <p:txBody>
          <a:bodyPr wrap="square">
            <a:spAutoFit/>
          </a:bodyPr>
          <a:lstStyle/>
          <a:p>
            <a:r>
              <a:rPr sz="1900" b="1" i="0">
                <a:solidFill>
                  <a:srgbClr val="FFFFFF"/>
                </a:solidFill>
                <a:latin typeface="Arial"/>
              </a:rPr>
              <a:t>Any project proposing to build its own identity must first show why the shared one cannot be used — and the EA Board can say no.</a:t>
            </a:r>
          </a:p>
        </p:txBody>
      </p:sp>
      <p:sp>
        <p:nvSpPr>
          <p:cNvPr id="13" name="TextBox 12"/>
          <p:cNvSpPr txBox="1"/>
          <p:nvPr/>
        </p:nvSpPr>
        <p:spPr>
          <a:xfrm>
            <a:off x="658368" y="5897880"/>
            <a:ext cx="10881360" cy="365760"/>
          </a:xfrm>
          <a:prstGeom prst="rect">
            <a:avLst/>
          </a:prstGeom>
          <a:noFill/>
        </p:spPr>
        <p:txBody>
          <a:bodyPr wrap="square">
            <a:spAutoFit/>
          </a:bodyPr>
          <a:lstStyle/>
          <a:p>
            <a:r>
              <a:rPr sz="1450" b="0" i="0">
                <a:solidFill>
                  <a:srgbClr val="595959"/>
                </a:solidFill>
                <a:latin typeface="Arial"/>
              </a:rPr>
              <a:t>A principle with a written implication can settle an argument. A principle without one cannot.</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Principles are decisions you make once so your team does not re-argue them on every project — and PAERA already made the first ten for you.</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a PAERA principle into a country-tailored principle card.</a:t>
            </a:r>
          </a:p>
          <a:p>
            <a:pPr algn="l">
              <a:spcAft>
                <a:spcPts val="400"/>
              </a:spcAft>
            </a:pPr>
            <a:r>
              <a:rPr sz="1800" b="0" i="0">
                <a:solidFill>
                  <a:srgbClr val="595959"/>
                </a:solidFill>
                <a:latin typeface="Arial"/>
              </a:rPr>
              <a:t>The prompt in the companion material gives you a four-part principle card ready for the EA Board's principle register.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(Principles)</a:t>
            </a:r>
          </a:p>
          <a:p>
            <a:pPr>
              <a:spcAft>
                <a:spcPts val="1200"/>
              </a:spcAft>
            </a:pPr>
            <a:r>
              <a:rPr sz="1700" b="0" i="0">
                <a:solidFill>
                  <a:srgbClr val="1A1A1A"/>
                </a:solidFill>
                <a:latin typeface="Arial"/>
              </a:rPr>
              <a:t>•  PAERA v1.0 — §3.3 (Digital Infrastructure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Classify any public body before you model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publishes a taxonomy of public bodies — policy unit, regulatory agency, service-delivery authority, plus supporting elements like state registries. Classify a body first, and you already know what capabilities, data and governance to expect from it — before you interview anyone.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Classify the body before you model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kind of body tells you in advance what it does, what data it owns, and how it is governed.</a:t>
            </a:r>
          </a:p>
          <a:p>
            <a:pPr>
              <a:spcAft>
                <a:spcPts val="800"/>
              </a:spcAft>
            </a:pPr>
            <a:r>
              <a:rPr sz="1700" b="0" i="0">
                <a:solidFill>
                  <a:srgbClr val="595959"/>
                </a:solidFill>
                <a:latin typeface="Arial"/>
              </a:rPr>
              <a:t>PAERA publishes a taxonomy that sorts public bodies into a few types.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types cover most of government</a:t>
            </a:r>
          </a:p>
        </p:txBody>
      </p:sp>
      <p:sp>
        <p:nvSpPr>
          <p:cNvPr id="4" name="Rounded Rectangle 3"/>
          <p:cNvSpPr/>
          <p:nvPr/>
        </p:nvSpPr>
        <p:spPr>
          <a:xfrm>
            <a:off x="658368" y="1554480"/>
            <a:ext cx="3566160" cy="38862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3163824" cy="3611880"/>
          </a:xfrm>
          <a:prstGeom prst="rect">
            <a:avLst/>
          </a:prstGeom>
          <a:noFill/>
        </p:spPr>
        <p:txBody>
          <a:bodyPr wrap="square">
            <a:spAutoFit/>
          </a:bodyPr>
          <a:lstStyle/>
          <a:p>
            <a:pPr>
              <a:spcAft>
                <a:spcPts val="700"/>
              </a:spcAft>
            </a:pPr>
            <a:r>
              <a:rPr sz="1900" b="1" i="0">
                <a:solidFill>
                  <a:srgbClr val="006E96"/>
                </a:solidFill>
                <a:latin typeface="Arial"/>
              </a:rPr>
              <a:t>Policy unit</a:t>
            </a:r>
          </a:p>
          <a:p>
            <a:pPr>
              <a:spcAft>
                <a:spcPts val="700"/>
              </a:spcAft>
            </a:pPr>
            <a:r>
              <a:rPr sz="1500" b="0" i="0">
                <a:solidFill>
                  <a:srgbClr val="1A1A1A"/>
                </a:solidFill>
                <a:latin typeface="Arial"/>
              </a:rPr>
              <a:t>Sets policy, owns the rules.</a:t>
            </a:r>
          </a:p>
          <a:p>
            <a:pPr>
              <a:spcAft>
                <a:spcPts val="700"/>
              </a:spcAft>
            </a:pPr>
            <a:r>
              <a:rPr sz="1500" b="0" i="0">
                <a:solidFill>
                  <a:srgbClr val="1A1A1A"/>
                </a:solidFill>
                <a:latin typeface="Arial"/>
              </a:rPr>
              <a:t>Does not run services at scale — it decides what the services should be.</a:t>
            </a:r>
          </a:p>
          <a:p>
            <a:pPr>
              <a:spcAft>
                <a:spcPts val="700"/>
              </a:spcAft>
            </a:pPr>
            <a:r>
              <a:rPr sz="1500" b="0" i="0">
                <a:solidFill>
                  <a:srgbClr val="1A1A1A"/>
                </a:solidFill>
                <a:latin typeface="Arial"/>
              </a:rPr>
              <a:t>Usually a ministry’s core.</a:t>
            </a:r>
          </a:p>
        </p:txBody>
      </p:sp>
      <p:sp>
        <p:nvSpPr>
          <p:cNvPr id="6" name="Rounded Rectangle 5"/>
          <p:cNvSpPr/>
          <p:nvPr/>
        </p:nvSpPr>
        <p:spPr>
          <a:xfrm>
            <a:off x="4407407" y="1554480"/>
            <a:ext cx="3566160" cy="38862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5" y="1700784"/>
            <a:ext cx="3163824" cy="3611880"/>
          </a:xfrm>
          <a:prstGeom prst="rect">
            <a:avLst/>
          </a:prstGeom>
          <a:noFill/>
        </p:spPr>
        <p:txBody>
          <a:bodyPr wrap="square">
            <a:spAutoFit/>
          </a:bodyPr>
          <a:lstStyle/>
          <a:p>
            <a:pPr>
              <a:spcAft>
                <a:spcPts val="700"/>
              </a:spcAft>
            </a:pPr>
            <a:r>
              <a:rPr sz="1900" b="1" i="0">
                <a:solidFill>
                  <a:srgbClr val="006E96"/>
                </a:solidFill>
                <a:latin typeface="Arial"/>
              </a:rPr>
              <a:t>Regulatory agency</a:t>
            </a:r>
          </a:p>
          <a:p>
            <a:pPr>
              <a:spcAft>
                <a:spcPts val="700"/>
              </a:spcAft>
            </a:pPr>
            <a:r>
              <a:rPr sz="1500" b="0" i="0">
                <a:solidFill>
                  <a:srgbClr val="1A1A1A"/>
                </a:solidFill>
                <a:latin typeface="Arial"/>
              </a:rPr>
              <a:t>Licenses, supervises, enforces.</a:t>
            </a:r>
          </a:p>
          <a:p>
            <a:pPr>
              <a:spcAft>
                <a:spcPts val="700"/>
              </a:spcAft>
            </a:pPr>
            <a:r>
              <a:rPr sz="1500" b="0" i="0">
                <a:solidFill>
                  <a:srgbClr val="1A1A1A"/>
                </a:solidFill>
                <a:latin typeface="Arial"/>
              </a:rPr>
              <a:t>Holds registers of the things it regulates and records of its decisions.</a:t>
            </a:r>
          </a:p>
          <a:p>
            <a:pPr>
              <a:spcAft>
                <a:spcPts val="700"/>
              </a:spcAft>
            </a:pPr>
            <a:r>
              <a:rPr sz="1500" b="0" i="0">
                <a:solidFill>
                  <a:srgbClr val="1A1A1A"/>
                </a:solidFill>
                <a:latin typeface="Arial"/>
              </a:rPr>
              <a:t>Expect an appeals process.</a:t>
            </a:r>
          </a:p>
        </p:txBody>
      </p:sp>
      <p:sp>
        <p:nvSpPr>
          <p:cNvPr id="8" name="Rounded Rectangle 7"/>
          <p:cNvSpPr/>
          <p:nvPr/>
        </p:nvSpPr>
        <p:spPr>
          <a:xfrm>
            <a:off x="8156448" y="1554480"/>
            <a:ext cx="3566160" cy="38862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7616" y="1700784"/>
            <a:ext cx="3163824" cy="3611880"/>
          </a:xfrm>
          <a:prstGeom prst="rect">
            <a:avLst/>
          </a:prstGeom>
          <a:noFill/>
        </p:spPr>
        <p:txBody>
          <a:bodyPr wrap="square">
            <a:spAutoFit/>
          </a:bodyPr>
          <a:lstStyle/>
          <a:p>
            <a:pPr>
              <a:spcAft>
                <a:spcPts val="700"/>
              </a:spcAft>
            </a:pPr>
            <a:r>
              <a:rPr sz="1900" b="1" i="0">
                <a:solidFill>
                  <a:srgbClr val="006E96"/>
                </a:solidFill>
                <a:latin typeface="Arial"/>
              </a:rPr>
              <a:t>Service-delivery authority</a:t>
            </a:r>
          </a:p>
          <a:p>
            <a:pPr>
              <a:spcAft>
                <a:spcPts val="700"/>
              </a:spcAft>
            </a:pPr>
            <a:r>
              <a:rPr sz="1500" b="0" i="0">
                <a:solidFill>
                  <a:srgbClr val="1A1A1A"/>
                </a:solidFill>
                <a:latin typeface="Arial"/>
              </a:rPr>
              <a:t>Runs services to citizens at scale.</a:t>
            </a:r>
          </a:p>
          <a:p>
            <a:pPr>
              <a:spcAft>
                <a:spcPts val="700"/>
              </a:spcAft>
            </a:pPr>
            <a:r>
              <a:rPr sz="1500" b="0" i="0">
                <a:solidFill>
                  <a:srgbClr val="1A1A1A"/>
                </a:solidFill>
                <a:latin typeface="Arial"/>
              </a:rPr>
              <a:t>Has the queues, the case files, the front-line systems.</a:t>
            </a:r>
          </a:p>
          <a:p>
            <a:pPr>
              <a:spcAft>
                <a:spcPts val="700"/>
              </a:spcAft>
            </a:pPr>
            <a:r>
              <a:rPr sz="1500" b="0" i="0">
                <a:solidFill>
                  <a:srgbClr val="1A1A1A"/>
                </a:solidFill>
                <a:latin typeface="Arial"/>
              </a:rPr>
              <a:t>Expect high transaction volumes.</a:t>
            </a:r>
          </a:p>
        </p:txBody>
      </p:sp>
      <p:sp>
        <p:nvSpPr>
          <p:cNvPr id="10" name="TextBox 9"/>
          <p:cNvSpPr txBox="1"/>
          <p:nvPr/>
        </p:nvSpPr>
        <p:spPr>
          <a:xfrm>
            <a:off x="658368" y="5577840"/>
            <a:ext cx="10881360" cy="640080"/>
          </a:xfrm>
          <a:prstGeom prst="rect">
            <a:avLst/>
          </a:prstGeom>
          <a:noFill/>
        </p:spPr>
        <p:txBody>
          <a:bodyPr wrap="square">
            <a:spAutoFit/>
          </a:bodyPr>
          <a:lstStyle/>
          <a:p>
            <a:r>
              <a:rPr sz="1500" b="1" i="0">
                <a:solidFill>
                  <a:srgbClr val="006E96"/>
                </a:solidFill>
                <a:latin typeface="Arial"/>
              </a:rPr>
              <a:t>Tell me which of the three a body is, and I can already guess its main capabilities and data domains before I meet anyone.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Around those three sit the foundations everyone else stands on</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State registries</a:t>
            </a:r>
          </a:p>
          <a:p>
            <a:pPr>
              <a:spcAft>
                <a:spcPts val="700"/>
              </a:spcAft>
            </a:pPr>
            <a:r>
              <a:rPr sz="1600" b="0" i="0">
                <a:solidFill>
                  <a:srgbClr val="1A1A1A"/>
                </a:solidFill>
                <a:latin typeface="Arial"/>
              </a:rPr>
              <a:t>The authoritative single source for a kind of thing:</a:t>
            </a:r>
          </a:p>
          <a:p>
            <a:pPr>
              <a:spcAft>
                <a:spcPts val="700"/>
              </a:spcAft>
            </a:pPr>
            <a:r>
              <a:rPr sz="1600" b="0" i="0">
                <a:solidFill>
                  <a:srgbClr val="1A1A1A"/>
                </a:solidFill>
                <a:latin typeface="Arial"/>
              </a:rPr>
              <a:t>person · business · land · learner.</a:t>
            </a:r>
          </a:p>
          <a:p>
            <a:pPr>
              <a:spcAft>
                <a:spcPts val="700"/>
              </a:spcAft>
            </a:pPr>
            <a:r>
              <a:rPr sz="1600" b="0" i="0">
                <a:solidFill>
                  <a:srgbClr val="1A1A1A"/>
                </a:solidFill>
                <a:latin typeface="Arial"/>
              </a:rPr>
              <a:t>A registry’s whole job is to be the one place the truth lives.</a:t>
            </a:r>
          </a:p>
        </p:txBody>
      </p:sp>
      <p:sp>
        <p:nvSpPr>
          <p:cNvPr id="6" name="Rounded Rectangle 5"/>
          <p:cNvSpPr/>
          <p:nvPr/>
        </p:nvSpPr>
        <p:spPr>
          <a:xfrm>
            <a:off x="6263640"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Shared platforms</a:t>
            </a:r>
          </a:p>
          <a:p>
            <a:pPr>
              <a:spcAft>
                <a:spcPts val="700"/>
              </a:spcAft>
            </a:pPr>
            <a:r>
              <a:rPr sz="1600" b="0" i="0">
                <a:solidFill>
                  <a:srgbClr val="1A1A1A"/>
                </a:solidFill>
                <a:latin typeface="Arial"/>
              </a:rPr>
              <a:t>Identity, payments, data exchange.</a:t>
            </a:r>
          </a:p>
          <a:p>
            <a:pPr>
              <a:spcAft>
                <a:spcPts val="700"/>
              </a:spcAft>
            </a:pPr>
            <a:r>
              <a:rPr sz="1600" b="0" i="0">
                <a:solidFill>
                  <a:srgbClr val="1A1A1A"/>
                </a:solidFill>
                <a:latin typeface="Arial"/>
              </a:rPr>
              <a:t>Used across many bodies.</a:t>
            </a:r>
          </a:p>
          <a:p>
            <a:pPr>
              <a:spcAft>
                <a:spcPts val="700"/>
              </a:spcAft>
            </a:pPr>
            <a:r>
              <a:rPr sz="1600" b="0" i="0">
                <a:solidFill>
                  <a:srgbClr val="1A1A1A"/>
                </a:solidFill>
                <a:latin typeface="Arial"/>
              </a:rPr>
              <a:t>Not policy units, not regulators, not service authorities.</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Treat them as shared — not as the private property of whichever ministry happens to host them.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type comes with an expected profile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Name a body a regulatory agency, and you expect a licensing capability, a register of the regulated, an enforcement record, and an appeals process. You walk in confirming or correcting a profile — not building one from nothing.</a:t>
            </a:r>
          </a:p>
          <a:p>
            <a:pPr>
              <a:spcAft>
                <a:spcPts val="1200"/>
              </a:spcAft>
            </a:pPr>
            <a:r>
              <a:rPr sz="2000" b="0" i="0">
                <a:solidFill>
                  <a:srgbClr val="1A1A1A"/>
                </a:solidFill>
                <a:latin typeface="Arial"/>
              </a:rPr>
              <a:t>When a body that should be a neutral registry is acting like a policy unit and shaping rules to suit itself, the taxonomy is what lets you see it.</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Misclassification is itself a finding.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It is already published — adopt it</a:t>
            </a:r>
          </a:p>
        </p:txBody>
      </p:sp>
      <p:sp>
        <p:nvSpPr>
          <p:cNvPr id="4" name="TextBox 3"/>
          <p:cNvSpPr txBox="1"/>
          <p:nvPr/>
        </p:nvSpPr>
        <p:spPr>
          <a:xfrm>
            <a:off x="658368" y="1554480"/>
            <a:ext cx="10984687" cy="1188720"/>
          </a:xfrm>
          <a:prstGeom prst="rect">
            <a:avLst/>
          </a:prstGeom>
          <a:noFill/>
        </p:spPr>
        <p:txBody>
          <a:bodyPr wrap="square">
            <a:spAutoFit/>
          </a:bodyPr>
          <a:lstStyle/>
          <a:p>
            <a:pPr>
              <a:spcAft>
                <a:spcPts val="300"/>
              </a:spcAft>
            </a:pPr>
            <a:r>
              <a:rPr sz="1900" b="1" i="0">
                <a:solidFill>
                  <a:srgbClr val="1A1A1A"/>
                </a:solidFill>
                <a:latin typeface="Arial"/>
              </a:rPr>
              <a:t>PAERA §4.6, with the detail in Annex A1.2</a:t>
            </a:r>
          </a:p>
          <a:p>
            <a:pPr>
              <a:spcAft>
                <a:spcPts val="300"/>
              </a:spcAft>
            </a:pPr>
            <a:r>
              <a:rPr sz="1550" b="0" i="0">
                <a:solidFill>
                  <a:srgbClr val="595959"/>
                </a:solidFill>
                <a:latin typeface="Arial"/>
              </a:rPr>
              <a:t>You do not invent a classification scheme for your country.</a:t>
            </a:r>
          </a:p>
        </p:txBody>
      </p:sp>
      <p:sp>
        <p:nvSpPr>
          <p:cNvPr id="5" name="Rectangle 4"/>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88920"/>
            <a:ext cx="10984687" cy="1188720"/>
          </a:xfrm>
          <a:prstGeom prst="rect">
            <a:avLst/>
          </a:prstGeom>
          <a:noFill/>
        </p:spPr>
        <p:txBody>
          <a:bodyPr wrap="square">
            <a:spAutoFit/>
          </a:bodyPr>
          <a:lstStyle/>
          <a:p>
            <a:pPr>
              <a:spcAft>
                <a:spcPts val="300"/>
              </a:spcAft>
            </a:pPr>
            <a:r>
              <a:rPr sz="1900" b="1" i="0">
                <a:solidFill>
                  <a:srgbClr val="1A1A1A"/>
                </a:solidFill>
                <a:latin typeface="Arial"/>
              </a:rPr>
              <a:t>Extend it only where your country has a body type it genuinely does not cover</a:t>
            </a:r>
          </a:p>
          <a:p>
            <a:pPr>
              <a:spcAft>
                <a:spcPts val="300"/>
              </a:spcAft>
            </a:pPr>
            <a:r>
              <a:rPr sz="1550" b="0" i="0">
                <a:solidFill>
                  <a:srgbClr val="595959"/>
                </a:solidFill>
                <a:latin typeface="Arial"/>
              </a:rPr>
              <a:t>When you say “service-delivery authority”, every other architect in the country pictures the same thing.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Classify a body first, and you already know most of what to expect from it — so the interview confirms a profile instead of starting from a blank page.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Classify a public body and generate its expected profile.</a:t>
            </a:r>
          </a:p>
          <a:p>
            <a:pPr algn="l">
              <a:spcAft>
                <a:spcPts val="400"/>
              </a:spcAft>
            </a:pPr>
            <a:r>
              <a:rPr sz="1800" b="0" i="0">
                <a:solidFill>
                  <a:srgbClr val="595959"/>
                </a:solidFill>
                <a:latin typeface="Arial"/>
              </a:rPr>
              <a:t>The prompt in the companion material gives you a classification, an expected-profile table, and confirmation questions.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§4.6 (Organisational taxonomy)</a:t>
            </a:r>
          </a:p>
          <a:p>
            <a:pPr>
              <a:spcAft>
                <a:spcPts val="1200"/>
              </a:spcAft>
            </a:pPr>
            <a:r>
              <a:rPr sz="1700" b="0" i="0">
                <a:solidFill>
                  <a:srgbClr val="1A1A1A"/>
                </a:solidFill>
                <a:latin typeface="Arial"/>
              </a:rPr>
              <a:t>•  PAERA v1.0 — Annex A1.2 (taxonomy detail)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BDAT on a real ministry — the Progressa walkthrough</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Watch the four layers and the shared entities applied to one real education system — Progressa's ministry, learner registry, examination authority and identity authority — and the abstract method becomes a concrete picture you can reproduce on your own sector.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Put the four layers on a real sector.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Progressa — a demonstration country with an education system like many across the continent.</a:t>
            </a:r>
          </a:p>
          <a:p>
            <a:pPr>
              <a:spcAft>
                <a:spcPts val="800"/>
              </a:spcAft>
            </a:pPr>
            <a:r>
              <a:rPr sz="1700" b="0" i="0">
                <a:solidFill>
                  <a:srgbClr val="595959"/>
                </a:solidFill>
                <a:latin typeface="Arial"/>
              </a:rPr>
              <a:t>A ministry, an examination authority, a learner registry, an identity authority,</a:t>
            </a:r>
          </a:p>
          <a:p>
            <a:pPr>
              <a:spcAft>
                <a:spcPts val="800"/>
              </a:spcAft>
            </a:pPr>
            <a:r>
              <a:rPr sz="1700" b="0" i="0">
                <a:solidFill>
                  <a:srgbClr val="595959"/>
                </a:solidFill>
                <a:latin typeface="Arial"/>
              </a:rPr>
              <a:t>and a digital government authority running shared platforms.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Classify the bodies first — that is where the head start comes from</a:t>
            </a:r>
          </a:p>
        </p:txBody>
      </p:sp>
      <p:sp>
        <p:nvSpPr>
          <p:cNvPr id="4" name="TextBox 3"/>
          <p:cNvSpPr txBox="1"/>
          <p:nvPr/>
        </p:nvSpPr>
        <p:spPr>
          <a:xfrm>
            <a:off x="658368" y="1417320"/>
            <a:ext cx="10984687" cy="923544"/>
          </a:xfrm>
          <a:prstGeom prst="rect">
            <a:avLst/>
          </a:prstGeom>
          <a:noFill/>
        </p:spPr>
        <p:txBody>
          <a:bodyPr wrap="square">
            <a:spAutoFit/>
          </a:bodyPr>
          <a:lstStyle/>
          <a:p>
            <a:pPr>
              <a:spcAft>
                <a:spcPts val="300"/>
              </a:spcAft>
            </a:pPr>
            <a:r>
              <a:rPr sz="1700" b="1" i="0">
                <a:solidFill>
                  <a:srgbClr val="1A1A1A"/>
                </a:solidFill>
                <a:latin typeface="Arial"/>
              </a:rPr>
              <a:t>Ministry of Education, Youth and Sport (MoEYS)</a:t>
            </a:r>
          </a:p>
          <a:p>
            <a:pPr>
              <a:spcAft>
                <a:spcPts val="300"/>
              </a:spcAft>
            </a:pPr>
            <a:r>
              <a:rPr sz="1450" b="0" i="0">
                <a:solidFill>
                  <a:srgbClr val="595959"/>
                </a:solidFill>
                <a:latin typeface="Arial"/>
              </a:rPr>
              <a:t>Policy unit — sets education policy, owns the rules.</a:t>
            </a:r>
          </a:p>
        </p:txBody>
      </p:sp>
      <p:sp>
        <p:nvSpPr>
          <p:cNvPr id="5" name="Rectangle 4"/>
          <p:cNvSpPr/>
          <p:nvPr/>
        </p:nvSpPr>
        <p:spPr>
          <a:xfrm>
            <a:off x="621792" y="23454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86584"/>
            <a:ext cx="10984687" cy="923544"/>
          </a:xfrm>
          <a:prstGeom prst="rect">
            <a:avLst/>
          </a:prstGeom>
          <a:noFill/>
        </p:spPr>
        <p:txBody>
          <a:bodyPr wrap="square">
            <a:spAutoFit/>
          </a:bodyPr>
          <a:lstStyle/>
          <a:p>
            <a:pPr>
              <a:spcAft>
                <a:spcPts val="300"/>
              </a:spcAft>
            </a:pPr>
            <a:r>
              <a:rPr sz="1700" b="1" i="0">
                <a:solidFill>
                  <a:srgbClr val="1A1A1A"/>
                </a:solidFill>
                <a:latin typeface="Arial"/>
              </a:rPr>
              <a:t>National Examination Authority (PNEA)</a:t>
            </a:r>
          </a:p>
          <a:p>
            <a:pPr>
              <a:spcAft>
                <a:spcPts val="300"/>
              </a:spcAft>
            </a:pPr>
            <a:r>
              <a:rPr sz="1450" b="0" i="0">
                <a:solidFill>
                  <a:srgbClr val="595959"/>
                </a:solidFill>
                <a:latin typeface="Arial"/>
              </a:rPr>
              <a:t>Service-delivery authority with a regulatory edge — runs examinations at scale, certifies results.</a:t>
            </a:r>
          </a:p>
        </p:txBody>
      </p:sp>
      <p:sp>
        <p:nvSpPr>
          <p:cNvPr id="7" name="Rectangle 6"/>
          <p:cNvSpPr/>
          <p:nvPr/>
        </p:nvSpPr>
        <p:spPr>
          <a:xfrm>
            <a:off x="621792" y="33147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55848"/>
            <a:ext cx="10984687" cy="923544"/>
          </a:xfrm>
          <a:prstGeom prst="rect">
            <a:avLst/>
          </a:prstGeom>
          <a:noFill/>
        </p:spPr>
        <p:txBody>
          <a:bodyPr wrap="square">
            <a:spAutoFit/>
          </a:bodyPr>
          <a:lstStyle/>
          <a:p>
            <a:pPr>
              <a:spcAft>
                <a:spcPts val="300"/>
              </a:spcAft>
            </a:pPr>
            <a:r>
              <a:rPr sz="1700" b="1" i="0">
                <a:solidFill>
                  <a:srgbClr val="1A1A1A"/>
                </a:solidFill>
                <a:latin typeface="Arial"/>
              </a:rPr>
              <a:t>Learner Registry (PLR)</a:t>
            </a:r>
          </a:p>
          <a:p>
            <a:pPr>
              <a:spcAft>
                <a:spcPts val="300"/>
              </a:spcAft>
            </a:pPr>
            <a:r>
              <a:rPr sz="1450" b="0" i="0">
                <a:solidFill>
                  <a:srgbClr val="595959"/>
                </a:solidFill>
                <a:latin typeface="Arial"/>
              </a:rPr>
              <a:t>State registry — the authoritative single source for who is a learner.</a:t>
            </a:r>
          </a:p>
        </p:txBody>
      </p:sp>
      <p:sp>
        <p:nvSpPr>
          <p:cNvPr id="9" name="Rectangle 8"/>
          <p:cNvSpPr/>
          <p:nvPr/>
        </p:nvSpPr>
        <p:spPr>
          <a:xfrm>
            <a:off x="621792" y="428396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325112"/>
            <a:ext cx="10984687" cy="923544"/>
          </a:xfrm>
          <a:prstGeom prst="rect">
            <a:avLst/>
          </a:prstGeom>
          <a:noFill/>
        </p:spPr>
        <p:txBody>
          <a:bodyPr wrap="square">
            <a:spAutoFit/>
          </a:bodyPr>
          <a:lstStyle/>
          <a:p>
            <a:pPr>
              <a:spcAft>
                <a:spcPts val="300"/>
              </a:spcAft>
            </a:pPr>
            <a:r>
              <a:rPr sz="1700" b="1" i="0">
                <a:solidFill>
                  <a:srgbClr val="1A1A1A"/>
                </a:solidFill>
                <a:latin typeface="Arial"/>
              </a:rPr>
              <a:t>National Identity Authority (PNIA)</a:t>
            </a:r>
          </a:p>
          <a:p>
            <a:pPr>
              <a:spcAft>
                <a:spcPts val="300"/>
              </a:spcAft>
            </a:pPr>
            <a:r>
              <a:rPr sz="1450" b="0" i="0">
                <a:solidFill>
                  <a:srgbClr val="595959"/>
                </a:solidFill>
                <a:latin typeface="Arial"/>
              </a:rPr>
              <a:t>State registry and shared platform — owns the person identity every sector reuses.</a:t>
            </a:r>
          </a:p>
        </p:txBody>
      </p:sp>
      <p:sp>
        <p:nvSpPr>
          <p:cNvPr id="11" name="Rectangle 10"/>
          <p:cNvSpPr/>
          <p:nvPr/>
        </p:nvSpPr>
        <p:spPr>
          <a:xfrm>
            <a:off x="621792" y="52532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94376"/>
            <a:ext cx="10984687" cy="923544"/>
          </a:xfrm>
          <a:prstGeom prst="rect">
            <a:avLst/>
          </a:prstGeom>
          <a:noFill/>
        </p:spPr>
        <p:txBody>
          <a:bodyPr wrap="square">
            <a:spAutoFit/>
          </a:bodyPr>
          <a:lstStyle/>
          <a:p>
            <a:pPr>
              <a:spcAft>
                <a:spcPts val="300"/>
              </a:spcAft>
            </a:pPr>
            <a:r>
              <a:rPr sz="1700" b="1" i="0">
                <a:solidFill>
                  <a:srgbClr val="1A1A1A"/>
                </a:solidFill>
                <a:latin typeface="Arial"/>
              </a:rPr>
              <a:t>Digital Government Authority (PDGA)</a:t>
            </a:r>
          </a:p>
          <a:p>
            <a:pPr>
              <a:spcAft>
                <a:spcPts val="300"/>
              </a:spcAft>
            </a:pPr>
            <a:r>
              <a:rPr sz="1450" b="0" i="0">
                <a:solidFill>
                  <a:srgbClr val="595959"/>
                </a:solidFill>
                <a:latin typeface="Arial"/>
              </a:rPr>
              <a:t>Shared-platform provider — data exchange and payments.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Business layer — capabilities belong to bodies, services sit on top</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Capabilities</a:t>
            </a:r>
          </a:p>
          <a:p>
            <a:pPr>
              <a:spcAft>
                <a:spcPts val="700"/>
              </a:spcAft>
            </a:pPr>
            <a:r>
              <a:rPr sz="1600" b="0" i="0">
                <a:solidFill>
                  <a:srgbClr val="1A1A1A"/>
                </a:solidFill>
                <a:latin typeface="Arial"/>
              </a:rPr>
              <a:t>Register a learner — PLR</a:t>
            </a:r>
          </a:p>
          <a:p>
            <a:pPr>
              <a:spcAft>
                <a:spcPts val="700"/>
              </a:spcAft>
            </a:pPr>
            <a:r>
              <a:rPr sz="1600" b="0" i="0">
                <a:solidFill>
                  <a:srgbClr val="1A1A1A"/>
                </a:solidFill>
                <a:latin typeface="Arial"/>
              </a:rPr>
              <a:t>Run an examination, certify a result — PNEA</a:t>
            </a:r>
          </a:p>
          <a:p>
            <a:pPr>
              <a:spcAft>
                <a:spcPts val="700"/>
              </a:spcAft>
            </a:pPr>
            <a:r>
              <a:rPr sz="1600" b="0" i="0">
                <a:solidFill>
                  <a:srgbClr val="1A1A1A"/>
                </a:solidFill>
                <a:latin typeface="Arial"/>
              </a:rPr>
              <a:t>Prove identity — PNIA</a:t>
            </a:r>
          </a:p>
          <a:p>
            <a:pPr>
              <a:spcAft>
                <a:spcPts val="700"/>
              </a:spcAft>
            </a:pPr>
            <a:r>
              <a:rPr sz="1600" b="0" i="0">
                <a:solidFill>
                  <a:srgbClr val="1A1A1A"/>
                </a:solidFill>
                <a:latin typeface="Arial"/>
              </a:rPr>
              <a:t>Set policy, fund schools — MoEYS</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Services</a:t>
            </a:r>
          </a:p>
          <a:p>
            <a:pPr>
              <a:spcAft>
                <a:spcPts val="700"/>
              </a:spcAft>
            </a:pPr>
            <a:r>
              <a:rPr sz="1600" b="0" i="0">
                <a:solidFill>
                  <a:srgbClr val="1A1A1A"/>
                </a:solidFill>
                <a:latin typeface="Arial"/>
              </a:rPr>
              <a:t>Enrol a child</a:t>
            </a:r>
          </a:p>
          <a:p>
            <a:pPr>
              <a:spcAft>
                <a:spcPts val="700"/>
              </a:spcAft>
            </a:pPr>
            <a:r>
              <a:rPr sz="1600" b="0" i="0">
                <a:solidFill>
                  <a:srgbClr val="1A1A1A"/>
                </a:solidFill>
                <a:latin typeface="Arial"/>
              </a:rPr>
              <a:t>Sit an examination</a:t>
            </a:r>
          </a:p>
          <a:p>
            <a:pPr>
              <a:spcAft>
                <a:spcPts val="700"/>
              </a:spcAft>
            </a:pPr>
            <a:r>
              <a:rPr sz="1600" b="0" i="0">
                <a:solidFill>
                  <a:srgbClr val="1A1A1A"/>
                </a:solidFill>
                <a:latin typeface="Arial"/>
              </a:rPr>
              <a:t>Receive a certificate</a:t>
            </a:r>
          </a:p>
          <a:p>
            <a:pPr>
              <a:spcAft>
                <a:spcPts val="700"/>
              </a:spcAft>
            </a:pPr>
            <a:r>
              <a:rPr sz="1600" b="0" i="0">
                <a:solidFill>
                  <a:srgbClr val="1A1A1A"/>
                </a:solidFill>
                <a:latin typeface="Arial"/>
              </a:rPr>
              <a:t>Transfer schools</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Each service traces down to a capability owned by exactly one body. Two bodies claiming one capability is your first gap.</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Data layer — one domain, one owner, one authoritative copy</a:t>
            </a:r>
          </a:p>
        </p:txBody>
      </p:sp>
      <p:sp>
        <p:nvSpPr>
          <p:cNvPr id="4" name="TextBox 3"/>
          <p:cNvSpPr txBox="1"/>
          <p:nvPr/>
        </p:nvSpPr>
        <p:spPr>
          <a:xfrm>
            <a:off x="658368" y="1463040"/>
            <a:ext cx="10984687" cy="777240"/>
          </a:xfrm>
          <a:prstGeom prst="rect">
            <a:avLst/>
          </a:prstGeom>
          <a:noFill/>
        </p:spPr>
        <p:txBody>
          <a:bodyPr wrap="square">
            <a:spAutoFit/>
          </a:bodyPr>
          <a:lstStyle/>
          <a:p>
            <a:pPr>
              <a:spcAft>
                <a:spcPts val="300"/>
              </a:spcAft>
            </a:pPr>
            <a:r>
              <a:rPr sz="1900" b="1" i="0">
                <a:solidFill>
                  <a:srgbClr val="1A1A1A"/>
                </a:solidFill>
                <a:latin typeface="Arial"/>
              </a:rPr>
              <a:t>Person</a:t>
            </a:r>
          </a:p>
          <a:p>
            <a:pPr>
              <a:spcAft>
                <a:spcPts val="300"/>
              </a:spcAft>
            </a:pPr>
            <a:r>
              <a:rPr sz="1550" b="0" i="0">
                <a:solidFill>
                  <a:srgbClr val="595959"/>
                </a:solidFill>
                <a:latin typeface="Arial"/>
              </a:rPr>
              <a:t>Owned by PNIA. Everyone else uses the person identity; no one else mints it.</a:t>
            </a:r>
          </a:p>
        </p:txBody>
      </p:sp>
      <p:sp>
        <p:nvSpPr>
          <p:cNvPr id="5" name="Rectangle 4"/>
          <p:cNvSpPr/>
          <p:nvPr/>
        </p:nvSpPr>
        <p:spPr>
          <a:xfrm>
            <a:off x="621792" y="2244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86000"/>
            <a:ext cx="10984687" cy="777240"/>
          </a:xfrm>
          <a:prstGeom prst="rect">
            <a:avLst/>
          </a:prstGeom>
          <a:noFill/>
        </p:spPr>
        <p:txBody>
          <a:bodyPr wrap="square">
            <a:spAutoFit/>
          </a:bodyPr>
          <a:lstStyle/>
          <a:p>
            <a:pPr>
              <a:spcAft>
                <a:spcPts val="300"/>
              </a:spcAft>
            </a:pPr>
            <a:r>
              <a:rPr sz="1900" b="1" i="0">
                <a:solidFill>
                  <a:srgbClr val="1A1A1A"/>
                </a:solidFill>
                <a:latin typeface="Arial"/>
              </a:rPr>
              <a:t>Learner</a:t>
            </a:r>
          </a:p>
          <a:p>
            <a:pPr>
              <a:spcAft>
                <a:spcPts val="300"/>
              </a:spcAft>
            </a:pPr>
            <a:r>
              <a:rPr sz="1550" b="0" i="0">
                <a:solidFill>
                  <a:srgbClr val="595959"/>
                </a:solidFill>
                <a:latin typeface="Arial"/>
              </a:rPr>
              <a:t>Owned by PLR.</a:t>
            </a:r>
          </a:p>
        </p:txBody>
      </p:sp>
      <p:sp>
        <p:nvSpPr>
          <p:cNvPr id="7" name="Rectangle 6"/>
          <p:cNvSpPr/>
          <p:nvPr/>
        </p:nvSpPr>
        <p:spPr>
          <a:xfrm>
            <a:off x="621792" y="30678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08960"/>
            <a:ext cx="10984687" cy="777240"/>
          </a:xfrm>
          <a:prstGeom prst="rect">
            <a:avLst/>
          </a:prstGeom>
          <a:noFill/>
        </p:spPr>
        <p:txBody>
          <a:bodyPr wrap="square">
            <a:spAutoFit/>
          </a:bodyPr>
          <a:lstStyle/>
          <a:p>
            <a:pPr>
              <a:spcAft>
                <a:spcPts val="300"/>
              </a:spcAft>
            </a:pPr>
            <a:r>
              <a:rPr sz="1900" b="1" i="0">
                <a:solidFill>
                  <a:srgbClr val="1A1A1A"/>
                </a:solidFill>
                <a:latin typeface="Arial"/>
              </a:rPr>
              <a:t>Examination result</a:t>
            </a:r>
          </a:p>
          <a:p>
            <a:pPr>
              <a:spcAft>
                <a:spcPts val="300"/>
              </a:spcAft>
            </a:pPr>
            <a:r>
              <a:rPr sz="1550" b="0" i="0">
                <a:solidFill>
                  <a:srgbClr val="595959"/>
                </a:solidFill>
                <a:latin typeface="Arial"/>
              </a:rPr>
              <a:t>Owned by PNEA.</a:t>
            </a:r>
          </a:p>
        </p:txBody>
      </p:sp>
      <p:sp>
        <p:nvSpPr>
          <p:cNvPr id="9" name="Rectangle 8"/>
          <p:cNvSpPr/>
          <p:nvPr/>
        </p:nvSpPr>
        <p:spPr>
          <a:xfrm>
            <a:off x="621792" y="3890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931920"/>
            <a:ext cx="10984687" cy="777240"/>
          </a:xfrm>
          <a:prstGeom prst="rect">
            <a:avLst/>
          </a:prstGeom>
          <a:noFill/>
        </p:spPr>
        <p:txBody>
          <a:bodyPr wrap="square">
            <a:spAutoFit/>
          </a:bodyPr>
          <a:lstStyle/>
          <a:p>
            <a:pPr>
              <a:spcAft>
                <a:spcPts val="300"/>
              </a:spcAft>
            </a:pPr>
            <a:r>
              <a:rPr sz="1900" b="1" i="0">
                <a:solidFill>
                  <a:srgbClr val="1A1A1A"/>
                </a:solidFill>
                <a:latin typeface="Arial"/>
              </a:rPr>
              <a:t>School</a:t>
            </a:r>
          </a:p>
          <a:p>
            <a:pPr>
              <a:spcAft>
                <a:spcPts val="300"/>
              </a:spcAft>
            </a:pPr>
            <a:r>
              <a:rPr sz="1550" b="0" i="0">
                <a:solidFill>
                  <a:srgbClr val="595959"/>
                </a:solidFill>
                <a:latin typeface="Arial"/>
              </a:rPr>
              <a:t>Owned by MoEYS.</a:t>
            </a:r>
          </a:p>
        </p:txBody>
      </p:sp>
      <p:sp>
        <p:nvSpPr>
          <p:cNvPr id="11" name="Rounded Rectangle 10"/>
          <p:cNvSpPr/>
          <p:nvPr/>
        </p:nvSpPr>
        <p:spPr>
          <a:xfrm>
            <a:off x="658368" y="4937760"/>
            <a:ext cx="10881360" cy="12344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084064"/>
            <a:ext cx="10479024" cy="960120"/>
          </a:xfrm>
          <a:prstGeom prst="rect">
            <a:avLst/>
          </a:prstGeom>
          <a:noFill/>
        </p:spPr>
        <p:txBody>
          <a:bodyPr wrap="square">
            <a:spAutoFit/>
          </a:bodyPr>
          <a:lstStyle/>
          <a:p>
            <a:pPr>
              <a:spcAft>
                <a:spcPts val="700"/>
              </a:spcAft>
            </a:pPr>
            <a:r>
              <a:rPr sz="2000" b="1" i="0">
                <a:solidFill>
                  <a:srgbClr val="FFFFFF"/>
                </a:solidFill>
                <a:latin typeface="Arial"/>
              </a:rPr>
              <a:t>Once-only made concrete: others consume, they do not copy.</a:t>
            </a:r>
          </a:p>
          <a:p>
            <a:pPr>
              <a:spcAft>
                <a:spcPts val="700"/>
              </a:spcAft>
            </a:pPr>
            <a:r>
              <a:rPr sz="1500" b="0" i="0">
                <a:solidFill>
                  <a:srgbClr val="FFFFFF"/>
                </a:solidFill>
                <a:latin typeface="Arial"/>
              </a:rPr>
              <a:t>An examination authority keeping its own learner list is a duplicate registry — write it down.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Application and Technology — every system points up and across</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Applications</a:t>
            </a:r>
          </a:p>
          <a:p>
            <a:pPr>
              <a:spcAft>
                <a:spcPts val="700"/>
              </a:spcAft>
            </a:pPr>
            <a:r>
              <a:rPr sz="1600" b="0" i="0">
                <a:solidFill>
                  <a:srgbClr val="1A1A1A"/>
                </a:solidFill>
                <a:latin typeface="Arial"/>
              </a:rPr>
              <a:t>Enrolment system → register-a-learner (PLR)</a:t>
            </a:r>
          </a:p>
          <a:p>
            <a:pPr>
              <a:spcAft>
                <a:spcPts val="700"/>
              </a:spcAft>
            </a:pPr>
            <a:r>
              <a:rPr sz="1600" b="0" i="0">
                <a:solidFill>
                  <a:srgbClr val="1A1A1A"/>
                </a:solidFill>
                <a:latin typeface="Arial"/>
              </a:rPr>
              <a:t>Exam-management system → run-an-examination (PNEA)</a:t>
            </a:r>
          </a:p>
          <a:p>
            <a:pPr>
              <a:spcAft>
                <a:spcPts val="700"/>
              </a:spcAft>
            </a:pPr>
            <a:r>
              <a:rPr sz="1600" b="0" i="0">
                <a:solidFill>
                  <a:srgbClr val="1A1A1A"/>
                </a:solidFill>
                <a:latin typeface="Arial"/>
              </a:rPr>
              <a:t>Identity-verification service → prove-identity (PNIA)</a:t>
            </a:r>
          </a:p>
        </p:txBody>
      </p:sp>
      <p:sp>
        <p:nvSpPr>
          <p:cNvPr id="6" name="Rounded Rectangle 5"/>
          <p:cNvSpPr/>
          <p:nvPr/>
        </p:nvSpPr>
        <p:spPr>
          <a:xfrm>
            <a:off x="6263640"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Technology</a:t>
            </a:r>
          </a:p>
          <a:p>
            <a:pPr>
              <a:spcAft>
                <a:spcPts val="700"/>
              </a:spcAft>
            </a:pPr>
            <a:r>
              <a:rPr sz="1600" b="0" i="0">
                <a:solidFill>
                  <a:srgbClr val="1A1A1A"/>
                </a:solidFill>
                <a:latin typeface="Arial"/>
              </a:rPr>
              <a:t>Shared identity platform</a:t>
            </a:r>
          </a:p>
          <a:p>
            <a:pPr>
              <a:spcAft>
                <a:spcPts val="700"/>
              </a:spcAft>
            </a:pPr>
            <a:r>
              <a:rPr sz="1600" b="0" i="0">
                <a:solidFill>
                  <a:srgbClr val="1A1A1A"/>
                </a:solidFill>
                <a:latin typeface="Arial"/>
              </a:rPr>
              <a:t>Data-exchange backbone (PDGA)</a:t>
            </a:r>
          </a:p>
          <a:p>
            <a:pPr>
              <a:spcAft>
                <a:spcPts val="700"/>
              </a:spcAft>
            </a:pPr>
            <a:r>
              <a:rPr sz="1600" b="0" i="0">
                <a:solidFill>
                  <a:srgbClr val="1A1A1A"/>
                </a:solidFill>
                <a:latin typeface="Arial"/>
              </a:rPr>
              <a:t>Hosting</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A short list of shared standards — not a server audit.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Rounded Rectangle 2"/>
          <p:cNvSpPr/>
          <p:nvPr/>
        </p:nvSpPr>
        <p:spPr>
          <a:xfrm>
            <a:off x="1005840" y="1965960"/>
            <a:ext cx="10149840" cy="420624"/>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2002536"/>
            <a:ext cx="2103120" cy="347472"/>
          </a:xfrm>
          <a:prstGeom prst="rect">
            <a:avLst/>
          </a:prstGeom>
          <a:noFill/>
        </p:spPr>
        <p:txBody>
          <a:bodyPr wrap="square" anchor="ctr">
            <a:spAutoFit/>
          </a:bodyPr>
          <a:lstStyle/>
          <a:p>
            <a:r>
              <a:rPr sz="1200" b="1" i="0">
                <a:solidFill>
                  <a:srgbClr val="006E96"/>
                </a:solidFill>
                <a:latin typeface="Arial"/>
              </a:rPr>
              <a:t>SERVICE</a:t>
            </a:r>
          </a:p>
        </p:txBody>
      </p:sp>
      <p:sp>
        <p:nvSpPr>
          <p:cNvPr id="5" name="TextBox 4"/>
          <p:cNvSpPr txBox="1"/>
          <p:nvPr/>
        </p:nvSpPr>
        <p:spPr>
          <a:xfrm>
            <a:off x="3310128" y="2002536"/>
            <a:ext cx="7644383" cy="347472"/>
          </a:xfrm>
          <a:prstGeom prst="rect">
            <a:avLst/>
          </a:prstGeom>
          <a:noFill/>
        </p:spPr>
        <p:txBody>
          <a:bodyPr wrap="square" anchor="ctr">
            <a:spAutoFit/>
          </a:bodyPr>
          <a:lstStyle/>
          <a:p>
            <a:r>
              <a:rPr sz="1500" b="0" i="0">
                <a:solidFill>
                  <a:srgbClr val="1A1A1A"/>
                </a:solidFill>
                <a:latin typeface="Arial"/>
              </a:rPr>
              <a:t>Sit an examination, get a certificate</a:t>
            </a:r>
          </a:p>
        </p:txBody>
      </p:sp>
      <p:sp>
        <p:nvSpPr>
          <p:cNvPr id="6" name="Diamond 5"/>
          <p:cNvSpPr/>
          <p:nvPr/>
        </p:nvSpPr>
        <p:spPr>
          <a:xfrm>
            <a:off x="6016752" y="2386584"/>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514600"/>
            <a:ext cx="10149840" cy="420624"/>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7008" y="2551176"/>
            <a:ext cx="2103120" cy="347472"/>
          </a:xfrm>
          <a:prstGeom prst="rect">
            <a:avLst/>
          </a:prstGeom>
          <a:noFill/>
        </p:spPr>
        <p:txBody>
          <a:bodyPr wrap="square" anchor="ctr">
            <a:spAutoFit/>
          </a:bodyPr>
          <a:lstStyle/>
          <a:p>
            <a:r>
              <a:rPr sz="1200" b="1" i="0">
                <a:solidFill>
                  <a:srgbClr val="006E96"/>
                </a:solidFill>
                <a:latin typeface="Arial"/>
              </a:rPr>
              <a:t>CAPABILITY</a:t>
            </a:r>
          </a:p>
        </p:txBody>
      </p:sp>
      <p:sp>
        <p:nvSpPr>
          <p:cNvPr id="9" name="TextBox 8"/>
          <p:cNvSpPr txBox="1"/>
          <p:nvPr/>
        </p:nvSpPr>
        <p:spPr>
          <a:xfrm>
            <a:off x="3310128" y="2551176"/>
            <a:ext cx="7644383" cy="347472"/>
          </a:xfrm>
          <a:prstGeom prst="rect">
            <a:avLst/>
          </a:prstGeom>
          <a:noFill/>
        </p:spPr>
        <p:txBody>
          <a:bodyPr wrap="square" anchor="ctr">
            <a:spAutoFit/>
          </a:bodyPr>
          <a:lstStyle/>
          <a:p>
            <a:r>
              <a:rPr sz="1500" b="0" i="0">
                <a:solidFill>
                  <a:srgbClr val="1A1A1A"/>
                </a:solidFill>
                <a:latin typeface="Arial"/>
              </a:rPr>
              <a:t>Run-an-examination, certify-a-result — PNEA</a:t>
            </a:r>
          </a:p>
        </p:txBody>
      </p:sp>
      <p:sp>
        <p:nvSpPr>
          <p:cNvPr id="10" name="Diamond 9"/>
          <p:cNvSpPr/>
          <p:nvPr/>
        </p:nvSpPr>
        <p:spPr>
          <a:xfrm>
            <a:off x="6016752" y="2935224"/>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3063240"/>
            <a:ext cx="10149840" cy="420624"/>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7008" y="3099816"/>
            <a:ext cx="2103120" cy="347472"/>
          </a:xfrm>
          <a:prstGeom prst="rect">
            <a:avLst/>
          </a:prstGeom>
          <a:noFill/>
        </p:spPr>
        <p:txBody>
          <a:bodyPr wrap="square" anchor="ctr">
            <a:spAutoFit/>
          </a:bodyPr>
          <a:lstStyle/>
          <a:p>
            <a:r>
              <a:rPr sz="1200" b="1" i="0">
                <a:solidFill>
                  <a:srgbClr val="006E96"/>
                </a:solidFill>
                <a:latin typeface="Arial"/>
              </a:rPr>
              <a:t>APPLICATION</a:t>
            </a:r>
          </a:p>
        </p:txBody>
      </p:sp>
      <p:sp>
        <p:nvSpPr>
          <p:cNvPr id="13" name="TextBox 12"/>
          <p:cNvSpPr txBox="1"/>
          <p:nvPr/>
        </p:nvSpPr>
        <p:spPr>
          <a:xfrm>
            <a:off x="3310128" y="3099816"/>
            <a:ext cx="7644383" cy="347472"/>
          </a:xfrm>
          <a:prstGeom prst="rect">
            <a:avLst/>
          </a:prstGeom>
          <a:noFill/>
        </p:spPr>
        <p:txBody>
          <a:bodyPr wrap="square" anchor="ctr">
            <a:spAutoFit/>
          </a:bodyPr>
          <a:lstStyle/>
          <a:p>
            <a:r>
              <a:rPr sz="1500" b="0" i="0">
                <a:solidFill>
                  <a:srgbClr val="1A1A1A"/>
                </a:solidFill>
                <a:latin typeface="Arial"/>
              </a:rPr>
              <a:t>Exam-management system</a:t>
            </a:r>
          </a:p>
        </p:txBody>
      </p:sp>
      <p:sp>
        <p:nvSpPr>
          <p:cNvPr id="14" name="Diamond 13"/>
          <p:cNvSpPr/>
          <p:nvPr/>
        </p:nvSpPr>
        <p:spPr>
          <a:xfrm>
            <a:off x="6016752" y="3483864"/>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05840" y="3611880"/>
            <a:ext cx="10149840" cy="420624"/>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07008" y="3648456"/>
            <a:ext cx="2103120" cy="347472"/>
          </a:xfrm>
          <a:prstGeom prst="rect">
            <a:avLst/>
          </a:prstGeom>
          <a:noFill/>
        </p:spPr>
        <p:txBody>
          <a:bodyPr wrap="square" anchor="ctr">
            <a:spAutoFit/>
          </a:bodyPr>
          <a:lstStyle/>
          <a:p>
            <a:r>
              <a:rPr sz="1200" b="1" i="0">
                <a:solidFill>
                  <a:srgbClr val="006E96"/>
                </a:solidFill>
                <a:latin typeface="Arial"/>
              </a:rPr>
              <a:t>DATA</a:t>
            </a:r>
          </a:p>
        </p:txBody>
      </p:sp>
      <p:sp>
        <p:nvSpPr>
          <p:cNvPr id="17" name="TextBox 16"/>
          <p:cNvSpPr txBox="1"/>
          <p:nvPr/>
        </p:nvSpPr>
        <p:spPr>
          <a:xfrm>
            <a:off x="3310128" y="3648456"/>
            <a:ext cx="7644383" cy="347472"/>
          </a:xfrm>
          <a:prstGeom prst="rect">
            <a:avLst/>
          </a:prstGeom>
          <a:noFill/>
        </p:spPr>
        <p:txBody>
          <a:bodyPr wrap="square" anchor="ctr">
            <a:spAutoFit/>
          </a:bodyPr>
          <a:lstStyle/>
          <a:p>
            <a:r>
              <a:rPr sz="1500" b="0" i="0">
                <a:solidFill>
                  <a:srgbClr val="1A1A1A"/>
                </a:solidFill>
                <a:latin typeface="Arial"/>
              </a:rPr>
              <a:t>Learner · person · result</a:t>
            </a:r>
          </a:p>
        </p:txBody>
      </p:sp>
      <p:sp>
        <p:nvSpPr>
          <p:cNvPr id="18" name="Diamond 17"/>
          <p:cNvSpPr/>
          <p:nvPr/>
        </p:nvSpPr>
        <p:spPr>
          <a:xfrm>
            <a:off x="6016752" y="4032504"/>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05840" y="4160520"/>
            <a:ext cx="10149840" cy="420624"/>
          </a:xfrm>
          <a:prstGeom prst="roundRect">
            <a:avLst>
              <a:gd name="adj" fmla="val 45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07008" y="4197096"/>
            <a:ext cx="2103120" cy="347472"/>
          </a:xfrm>
          <a:prstGeom prst="rect">
            <a:avLst/>
          </a:prstGeom>
          <a:noFill/>
        </p:spPr>
        <p:txBody>
          <a:bodyPr wrap="square" anchor="ctr">
            <a:spAutoFit/>
          </a:bodyPr>
          <a:lstStyle/>
          <a:p>
            <a:r>
              <a:rPr sz="1200" b="1" i="0">
                <a:solidFill>
                  <a:srgbClr val="FFFFFF"/>
                </a:solidFill>
                <a:latin typeface="Arial"/>
              </a:rPr>
              <a:t>TECHNOLOGY</a:t>
            </a:r>
          </a:p>
        </p:txBody>
      </p:sp>
      <p:sp>
        <p:nvSpPr>
          <p:cNvPr id="21" name="TextBox 20"/>
          <p:cNvSpPr txBox="1"/>
          <p:nvPr/>
        </p:nvSpPr>
        <p:spPr>
          <a:xfrm>
            <a:off x="3310128" y="4197096"/>
            <a:ext cx="7644383" cy="347472"/>
          </a:xfrm>
          <a:prstGeom prst="rect">
            <a:avLst/>
          </a:prstGeom>
          <a:noFill/>
        </p:spPr>
        <p:txBody>
          <a:bodyPr wrap="square" anchor="ctr">
            <a:spAutoFit/>
          </a:bodyPr>
          <a:lstStyle/>
          <a:p>
            <a:r>
              <a:rPr sz="1500" b="0" i="0">
                <a:solidFill>
                  <a:srgbClr val="FFFFFF"/>
                </a:solidFill>
                <a:latin typeface="Arial"/>
              </a:rPr>
              <a:t>Data exchange · identity platform</a:t>
            </a:r>
          </a:p>
        </p:txBody>
      </p:sp>
      <p:sp>
        <p:nvSpPr>
          <p:cNvPr id="22" name="Rounded Rectangle 21"/>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a first-pass BDAT skeleton for a sector.</a:t>
            </a:r>
          </a:p>
          <a:p>
            <a:pPr algn="l">
              <a:spcAft>
                <a:spcPts val="400"/>
              </a:spcAft>
            </a:pPr>
            <a:r>
              <a:rPr sz="1800" b="0" i="0">
                <a:solidFill>
                  <a:srgbClr val="595959"/>
                </a:solidFill>
                <a:latin typeface="Arial"/>
              </a:rPr>
              <a:t>The prompt in the companion material gives you a five-section BDAT skeleton with conflicts flagged. Before the next video.</a:t>
            </a:r>
          </a:p>
        </p:txBody>
      </p:sp>
      <p:sp>
        <p:nvSpPr>
          <p:cNvPr id="23" name="TextBox 2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
        <p:nvSpPr>
          <p:cNvPr id="24" name="TextBox 23"/>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Annex 2 (Metamodel)</a:t>
            </a:r>
          </a:p>
          <a:p>
            <a:pPr>
              <a:spcAft>
                <a:spcPts val="1200"/>
              </a:spcAft>
            </a:pPr>
            <a:r>
              <a:rPr sz="1700" b="0" i="0">
                <a:solidFill>
                  <a:srgbClr val="1A1A1A"/>
                </a:solidFill>
                <a:latin typeface="Arial"/>
              </a:rPr>
              <a:t>•  PAERA v1.0 — §5.2 (Principles — once-only)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a Phase 2 Assess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good current-state picture is judged by a few quality tests per layer, not by its length. Learn the tests, learn the gaps you will always find, and you can run a Phase 2 Assess that names the right problems in the right order.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Assess: a description good enough to decide from.</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current-state picture and the gap analysis the roadmap is built on.</a:t>
            </a:r>
          </a:p>
          <a:p>
            <a:pPr>
              <a:spcAft>
                <a:spcPts val="800"/>
              </a:spcAft>
            </a:pPr>
            <a:r>
              <a:rPr sz="1700" b="0" i="0">
                <a:solidFill>
                  <a:srgbClr val="595959"/>
                </a:solidFill>
                <a:latin typeface="Arial"/>
              </a:rPr>
              <a:t>The quality tests, layer by layer.</a:t>
            </a:r>
          </a:p>
          <a:p>
            <a:pPr>
              <a:spcAft>
                <a:spcPts val="800"/>
              </a:spcAft>
            </a:pPr>
            <a:r>
              <a:rPr sz="1700" b="0" i="0">
                <a:solidFill>
                  <a:srgbClr val="595959"/>
                </a:solidFill>
                <a:latin typeface="Arial"/>
              </a:rPr>
              <a:t>The gaps you will almost always find.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tests apply to every layer</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432560"/>
          </a:xfrm>
          <a:prstGeom prst="rect">
            <a:avLst/>
          </a:prstGeom>
          <a:noFill/>
        </p:spPr>
        <p:txBody>
          <a:bodyPr wrap="square">
            <a:spAutoFit/>
          </a:bodyPr>
          <a:lstStyle/>
          <a:p>
            <a:pPr>
              <a:spcAft>
                <a:spcPts val="300"/>
              </a:spcAft>
            </a:pPr>
            <a:r>
              <a:rPr sz="1900" b="1" i="0">
                <a:solidFill>
                  <a:srgbClr val="1A1A1A"/>
                </a:solidFill>
                <a:latin typeface="Arial"/>
              </a:rPr>
              <a:t>Complete enough to decide — not exhaustive</a:t>
            </a:r>
          </a:p>
          <a:p>
            <a:pPr>
              <a:spcAft>
                <a:spcPts val="300"/>
              </a:spcAft>
            </a:pPr>
            <a:r>
              <a:rPr sz="1550" b="0" i="0">
                <a:solidFill>
                  <a:srgbClr val="595959"/>
                </a:solidFill>
                <a:latin typeface="Arial"/>
              </a:rPr>
              <a:t>A description covering the capabilities and systems that matter, with the rest noted, beats a five-hundred-page audit no one reads.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432560"/>
          </a:xfrm>
          <a:prstGeom prst="rect">
            <a:avLst/>
          </a:prstGeom>
          <a:noFill/>
        </p:spPr>
        <p:txBody>
          <a:bodyPr wrap="square">
            <a:spAutoFit/>
          </a:bodyPr>
          <a:lstStyle/>
          <a:p>
            <a:pPr>
              <a:spcAft>
                <a:spcPts val="300"/>
              </a:spcAft>
            </a:pPr>
            <a:r>
              <a:rPr sz="1900" b="1" i="0">
                <a:solidFill>
                  <a:srgbClr val="1A1A1A"/>
                </a:solidFill>
                <a:latin typeface="Arial"/>
              </a:rPr>
              <a:t>Owned — every element has a named owner</a:t>
            </a:r>
          </a:p>
          <a:p>
            <a:pPr>
              <a:spcAft>
                <a:spcPts val="300"/>
              </a:spcAft>
            </a:pPr>
            <a:r>
              <a:rPr sz="1550" b="0" i="0">
                <a:solidFill>
                  <a:srgbClr val="595959"/>
                </a:solidFill>
                <a:latin typeface="Arial"/>
              </a:rPr>
              <a:t>An element with no owner is a finding, not a detail.</a:t>
            </a:r>
          </a:p>
        </p:txBody>
      </p:sp>
      <p:sp>
        <p:nvSpPr>
          <p:cNvPr id="9" name="Rectangle 8"/>
          <p:cNvSpPr/>
          <p:nvPr/>
        </p:nvSpPr>
        <p:spPr>
          <a:xfrm>
            <a:off x="621792" y="4332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419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73880"/>
            <a:ext cx="10527487" cy="1432560"/>
          </a:xfrm>
          <a:prstGeom prst="rect">
            <a:avLst/>
          </a:prstGeom>
          <a:noFill/>
        </p:spPr>
        <p:txBody>
          <a:bodyPr wrap="square">
            <a:spAutoFit/>
          </a:bodyPr>
          <a:lstStyle/>
          <a:p>
            <a:pPr>
              <a:spcAft>
                <a:spcPts val="300"/>
              </a:spcAft>
            </a:pPr>
            <a:r>
              <a:rPr sz="1900" b="1" i="0">
                <a:solidFill>
                  <a:srgbClr val="1A1A1A"/>
                </a:solidFill>
                <a:latin typeface="Arial"/>
              </a:rPr>
              <a:t>Traceable — every element connects up and down</a:t>
            </a:r>
          </a:p>
          <a:p>
            <a:pPr>
              <a:spcAft>
                <a:spcPts val="300"/>
              </a:spcAft>
            </a:pPr>
            <a:r>
              <a:rPr sz="1550" b="0" i="0">
                <a:solidFill>
                  <a:srgbClr val="595959"/>
                </a:solidFill>
                <a:latin typeface="Arial"/>
              </a:rPr>
              <a:t>A service that traces to no capability, an application that traces to no data, a capability no application supports: each broken link is a gap.</a:t>
            </a:r>
          </a:p>
        </p:txBody>
      </p:sp>
      <p:sp>
        <p:nvSpPr>
          <p:cNvPr id="12" name="TextBox 11"/>
          <p:cNvSpPr txBox="1"/>
          <p:nvPr/>
        </p:nvSpPr>
        <p:spPr>
          <a:xfrm>
            <a:off x="658368" y="5943600"/>
            <a:ext cx="10881360" cy="365760"/>
          </a:xfrm>
          <a:prstGeom prst="rect">
            <a:avLst/>
          </a:prstGeom>
          <a:noFill/>
        </p:spPr>
        <p:txBody>
          <a:bodyPr wrap="square">
            <a:spAutoFit/>
          </a:bodyPr>
          <a:lstStyle/>
          <a:p>
            <a:r>
              <a:rPr sz="1450" b="0" i="0">
                <a:solidFill>
                  <a:srgbClr val="595959"/>
                </a:solidFill>
                <a:latin typeface="Arial"/>
              </a:rPr>
              <a:t>If your picture fails these three tests, more pages will not fix it.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Then hold each layer to its own test</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900" b="1" i="0">
                <a:solidFill>
                  <a:srgbClr val="1A1A1A"/>
                </a:solidFill>
                <a:latin typeface="Arial"/>
              </a:rPr>
              <a:t>Business</a:t>
            </a:r>
          </a:p>
          <a:p>
            <a:pPr>
              <a:spcAft>
                <a:spcPts val="300"/>
              </a:spcAft>
            </a:pPr>
            <a:r>
              <a:rPr sz="1550" b="0" i="0">
                <a:solidFill>
                  <a:srgbClr val="595959"/>
                </a:solidFill>
                <a:latin typeface="Arial"/>
              </a:rPr>
              <a:t>Capabilities, not org boxes.</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900" b="1" i="0">
                <a:solidFill>
                  <a:srgbClr val="1A1A1A"/>
                </a:solidFill>
                <a:latin typeface="Arial"/>
              </a:rPr>
              <a:t>Data</a:t>
            </a:r>
          </a:p>
          <a:p>
            <a:pPr>
              <a:spcAft>
                <a:spcPts val="300"/>
              </a:spcAft>
            </a:pPr>
            <a:r>
              <a:rPr sz="1550" b="0" i="0">
                <a:solidFill>
                  <a:srgbClr val="595959"/>
                </a:solidFill>
                <a:latin typeface="Arial"/>
              </a:rPr>
              <a:t>One owner, one authoritative copy per domain.</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900" b="1" i="0">
                <a:solidFill>
                  <a:srgbClr val="1A1A1A"/>
                </a:solidFill>
                <a:latin typeface="Arial"/>
              </a:rPr>
              <a:t>Application</a:t>
            </a:r>
          </a:p>
          <a:p>
            <a:pPr>
              <a:spcAft>
                <a:spcPts val="300"/>
              </a:spcAft>
            </a:pPr>
            <a:r>
              <a:rPr sz="1550" b="0" i="0">
                <a:solidFill>
                  <a:srgbClr val="595959"/>
                </a:solidFill>
                <a:latin typeface="Arial"/>
              </a:rPr>
              <a:t>Every system maps to a capability and a data domain.</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900" b="1" i="0">
                <a:solidFill>
                  <a:srgbClr val="1A1A1A"/>
                </a:solidFill>
                <a:latin typeface="Arial"/>
              </a:rPr>
              <a:t>Technology</a:t>
            </a:r>
          </a:p>
          <a:p>
            <a:pPr>
              <a:spcAft>
                <a:spcPts val="300"/>
              </a:spcAft>
            </a:pPr>
            <a:r>
              <a:rPr sz="1550" b="0" i="0">
                <a:solidFill>
                  <a:srgbClr val="595959"/>
                </a:solidFill>
                <a:latin typeface="Arial"/>
              </a:rPr>
              <a:t>Standards and single points of failure named.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gaps show up in almost every first assessment — look for them on purpose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Duplicate registries</a:t>
            </a:r>
          </a:p>
          <a:p>
            <a:pPr>
              <a:spcAft>
                <a:spcPts val="300"/>
              </a:spcAft>
            </a:pPr>
            <a:r>
              <a:rPr sz="1550" b="0" i="0">
                <a:solidFill>
                  <a:srgbClr val="595959"/>
                </a:solidFill>
                <a:latin typeface="Arial"/>
              </a:rPr>
              <a:t>Several bodies each keeping their own copy of the same domain, none agreeing.</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Orphan systems</a:t>
            </a:r>
          </a:p>
          <a:p>
            <a:pPr>
              <a:spcAft>
                <a:spcPts val="300"/>
              </a:spcAft>
            </a:pPr>
            <a:r>
              <a:rPr sz="1550" b="0" i="0">
                <a:solidFill>
                  <a:srgbClr val="595959"/>
                </a:solidFill>
                <a:latin typeface="Arial"/>
              </a:rPr>
              <a:t>Applications that map to no current capability, often left over from a project that ended.</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Point-to-point spaghetti</a:t>
            </a:r>
          </a:p>
          <a:p>
            <a:pPr>
              <a:spcAft>
                <a:spcPts val="300"/>
              </a:spcAft>
            </a:pPr>
            <a:r>
              <a:rPr sz="1550" b="0" i="0">
                <a:solidFill>
                  <a:srgbClr val="595959"/>
                </a:solidFill>
                <a:latin typeface="Arial"/>
              </a:rPr>
              <a:t>Every system connected to every other by its own custom link, with no shared data exchange.</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No clear owner</a:t>
            </a:r>
          </a:p>
          <a:p>
            <a:pPr>
              <a:spcAft>
                <a:spcPts val="300"/>
              </a:spcAft>
            </a:pPr>
            <a:r>
              <a:rPr sz="1550" b="0" i="0">
                <a:solidFill>
                  <a:srgbClr val="595959"/>
                </a:solidFill>
                <a:latin typeface="Arial"/>
              </a:rPr>
              <a:t>A capability or a domain that everyone uses and no one owns — where accountability quietly disappears.</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list of gaps is not an assessment — the priority order is</a:t>
            </a:r>
          </a:p>
        </p:txBody>
      </p:sp>
      <p:sp>
        <p:nvSpPr>
          <p:cNvPr id="4" name="TextBox 3"/>
          <p:cNvSpPr txBox="1"/>
          <p:nvPr/>
        </p:nvSpPr>
        <p:spPr>
          <a:xfrm>
            <a:off x="658368" y="1463040"/>
            <a:ext cx="10984687" cy="1325879"/>
          </a:xfrm>
          <a:prstGeom prst="rect">
            <a:avLst/>
          </a:prstGeom>
          <a:noFill/>
        </p:spPr>
        <p:txBody>
          <a:bodyPr wrap="square">
            <a:spAutoFit/>
          </a:bodyPr>
          <a:lstStyle/>
          <a:p>
            <a:pPr>
              <a:spcAft>
                <a:spcPts val="300"/>
              </a:spcAft>
            </a:pPr>
            <a:r>
              <a:rPr sz="1900" b="1" i="0">
                <a:solidFill>
                  <a:srgbClr val="1A1A1A"/>
                </a:solidFill>
                <a:latin typeface="Arial"/>
              </a:rPr>
              <a:t>For each gap, judge how much it hurts</a:t>
            </a:r>
          </a:p>
          <a:p>
            <a:pPr>
              <a:spcAft>
                <a:spcPts val="300"/>
              </a:spcAft>
            </a:pPr>
            <a:r>
              <a:rPr sz="1550" b="0" i="0">
                <a:solidFill>
                  <a:srgbClr val="595959"/>
                </a:solidFill>
                <a:latin typeface="Arial"/>
              </a:rPr>
              <a:t>The cost to the country, the burden on the citizen, the risk to the minister’s programme.</a:t>
            </a:r>
          </a:p>
        </p:txBody>
      </p:sp>
      <p:sp>
        <p:nvSpPr>
          <p:cNvPr id="5" name="Rectangle 4"/>
          <p:cNvSpPr/>
          <p:nvPr/>
        </p:nvSpPr>
        <p:spPr>
          <a:xfrm>
            <a:off x="621792" y="2793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34639"/>
            <a:ext cx="10984687" cy="1325879"/>
          </a:xfrm>
          <a:prstGeom prst="rect">
            <a:avLst/>
          </a:prstGeom>
          <a:noFill/>
        </p:spPr>
        <p:txBody>
          <a:bodyPr wrap="square">
            <a:spAutoFit/>
          </a:bodyPr>
          <a:lstStyle/>
          <a:p>
            <a:pPr>
              <a:spcAft>
                <a:spcPts val="300"/>
              </a:spcAft>
            </a:pPr>
            <a:r>
              <a:rPr sz="1900" b="1" i="0">
                <a:solidFill>
                  <a:srgbClr val="1A1A1A"/>
                </a:solidFill>
                <a:latin typeface="Arial"/>
              </a:rPr>
              <a:t>And judge how hard it is to close</a:t>
            </a:r>
          </a:p>
          <a:p>
            <a:pPr>
              <a:spcAft>
                <a:spcPts val="300"/>
              </a:spcAft>
            </a:pPr>
            <a:r>
              <a:rPr sz="1550" b="0" i="0">
                <a:solidFill>
                  <a:srgbClr val="595959"/>
                </a:solidFill>
                <a:latin typeface="Arial"/>
              </a:rPr>
              <a:t>A per-layer maturity scorecard helps — how far each layer is from where it needs to be.</a:t>
            </a:r>
          </a:p>
        </p:txBody>
      </p:sp>
      <p:sp>
        <p:nvSpPr>
          <p:cNvPr id="7" name="Rounded Rectangle 6"/>
          <p:cNvSpPr/>
          <p:nvPr/>
        </p:nvSpPr>
        <p:spPr>
          <a:xfrm>
            <a:off x="658368" y="4434840"/>
            <a:ext cx="10881360" cy="13716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626864"/>
            <a:ext cx="10479024" cy="1097280"/>
          </a:xfrm>
          <a:prstGeom prst="rect">
            <a:avLst/>
          </a:prstGeom>
          <a:noFill/>
        </p:spPr>
        <p:txBody>
          <a:bodyPr wrap="square">
            <a:spAutoFit/>
          </a:bodyPr>
          <a:lstStyle/>
          <a:p>
            <a:pPr>
              <a:spcAft>
                <a:spcPts val="700"/>
              </a:spcAft>
            </a:pPr>
            <a:r>
              <a:rPr sz="2200" b="1" i="0">
                <a:solidFill>
                  <a:srgbClr val="006E96"/>
                </a:solidFill>
                <a:latin typeface="Arial"/>
              </a:rPr>
              <a:t>Priority = high impact, where movement is possible.</a:t>
            </a:r>
          </a:p>
          <a:p>
            <a:pPr>
              <a:spcAft>
                <a:spcPts val="700"/>
              </a:spcAft>
            </a:pPr>
            <a:r>
              <a:rPr sz="1500" b="0" i="0">
                <a:solidFill>
                  <a:srgbClr val="1A1A1A"/>
                </a:solidFill>
                <a:latin typeface="Arial"/>
              </a:rPr>
              <a:t>What the EA Board signs off is not “here is everything wrong”. It is “here are the right problems, in the right order, with the reasons”.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sign-off has one quality test of its own — honesty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100" b="0" i="0">
                <a:solidFill>
                  <a:srgbClr val="1A1A1A"/>
                </a:solidFill>
                <a:latin typeface="Arial"/>
              </a:rPr>
              <a:t>Assess ends when the senior decision-maker confirms the gap analysis reflects ground truth. Your job is to name the right problems in the right order — including the politically uncomfortable ones — in language the decision-maker can act on.</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An assessment that softens a problem because a powerful ministry owns one of the copies fails quietly, a year later.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good current-state picture is owned, traceable, and complete enough to decide from — and the Assess is finished when it names the right problems in the right order.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AS-IS notes into a scored gap analysis.</a:t>
            </a:r>
          </a:p>
          <a:p>
            <a:pPr algn="l">
              <a:spcAft>
                <a:spcPts val="400"/>
              </a:spcAft>
            </a:pPr>
            <a:r>
              <a:rPr sz="1800" b="0" i="0">
                <a:solidFill>
                  <a:srgbClr val="595959"/>
                </a:solidFill>
                <a:latin typeface="Arial"/>
              </a:rPr>
              <a:t>The prompt in the companion material gives you a scored gap table, per-layer maturity scores, and the top-three priority gaps with rationale.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two traps to catch at Assess — bespoke and vendor-driven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Two traps recur in every assessment: the bespoke trap, where each project builds its own version of a shared function, and the vendor-driven trap, where a supplier's product quietly becomes the architecture. Learn to spot both at Assess, and you protect the country from paying many times for one thing.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Two traps — cheap to stop while they are still a line in a project plan.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Governments fall into them again and again.</a:t>
            </a:r>
          </a:p>
          <a:p>
            <a:pPr>
              <a:spcAft>
                <a:spcPts val="800"/>
              </a:spcAft>
            </a:pPr>
            <a:r>
              <a:rPr sz="1700" b="0" i="0">
                <a:solidFill>
                  <a:srgbClr val="595959"/>
                </a:solidFill>
                <a:latin typeface="Arial"/>
              </a:rPr>
              <a:t>At the Assess phase, you are the one positioned to spot them — before they are built.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 — bespoke and vendor-driven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Trap one — building your own is rational for a project and ruinous for a country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new project needs to identify citizens. Reusing the national platform means learning it, negotiating with the body that owns it, and accepting their timelines. Building its own small identity function is faster — for this project. So it builds its own.</a:t>
            </a:r>
          </a:p>
          <a:p>
            <a:pPr>
              <a:spcAft>
                <a:spcPts val="1200"/>
              </a:spcAft>
            </a:pPr>
            <a:r>
              <a:rPr sz="2000" b="0" i="0">
                <a:solidFill>
                  <a:srgbClr val="1A1A1A"/>
                </a:solidFill>
                <a:latin typeface="Arial"/>
              </a:rPr>
              <a:t>This is not laziness. Inside the project, building is the rational choice, every time. Multiply it across ten projects and the country has ten identity functions, ten learner lists, ten payment integrations.</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The country has paid ten times for what it should have built once.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Procurement rules cannot catch it — that is why this is architecture work</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a rule can do</a:t>
            </a:r>
          </a:p>
          <a:p>
            <a:pPr>
              <a:spcAft>
                <a:spcPts val="700"/>
              </a:spcAft>
            </a:pPr>
            <a:r>
              <a:rPr sz="1600" b="0" i="0">
                <a:solidFill>
                  <a:srgbClr val="1A1A1A"/>
                </a:solidFill>
                <a:latin typeface="Arial"/>
              </a:rPr>
              <a:t>Require open standards.</a:t>
            </a:r>
          </a:p>
          <a:p>
            <a:pPr>
              <a:spcAft>
                <a:spcPts val="700"/>
              </a:spcAft>
            </a:pPr>
            <a:r>
              <a:rPr sz="1600" b="0" i="0">
                <a:solidFill>
                  <a:srgbClr val="1A1A1A"/>
                </a:solidFill>
                <a:latin typeface="Arial"/>
              </a:rPr>
              <a:t>Set the intention.</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only architecture can do</a:t>
            </a:r>
          </a:p>
          <a:p>
            <a:pPr>
              <a:spcAft>
                <a:spcPts val="700"/>
              </a:spcAft>
            </a:pPr>
            <a:r>
              <a:rPr sz="1600" b="0" i="0">
                <a:solidFill>
                  <a:srgbClr val="1A1A1A"/>
                </a:solidFill>
                <a:latin typeface="Arial"/>
              </a:rPr>
              <a:t>Show the whole-of-government view where the reuse math exists.</a:t>
            </a:r>
          </a:p>
          <a:p>
            <a:pPr>
              <a:spcAft>
                <a:spcPts val="700"/>
              </a:spcAft>
            </a:pPr>
            <a:r>
              <a:rPr sz="1600" b="0" i="0">
                <a:solidFill>
                  <a:srgbClr val="1A1A1A"/>
                </a:solidFill>
                <a:latin typeface="Arial"/>
              </a:rPr>
              <a:t>Give a Board the authority to say: not this one, reuse the shared platform.</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A rule cannot make reusing another body’s platform cheaper or faster than building fresh — so the project, optimising for its deadline, still builds.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Trap two — a product becomes the architecture one step at a time</a:t>
            </a:r>
          </a:p>
        </p:txBody>
      </p:sp>
      <p:sp>
        <p:nvSpPr>
          <p:cNvPr id="4" name="Oval 3"/>
          <p:cNvSpPr/>
          <p:nvPr/>
        </p:nvSpPr>
        <p:spPr>
          <a:xfrm>
            <a:off x="658368" y="15819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52144" y="1508760"/>
            <a:ext cx="10241280" cy="758952"/>
          </a:xfrm>
          <a:prstGeom prst="rect">
            <a:avLst/>
          </a:prstGeom>
          <a:noFill/>
        </p:spPr>
        <p:txBody>
          <a:bodyPr wrap="square">
            <a:spAutoFit/>
          </a:bodyPr>
          <a:lstStyle/>
          <a:p>
            <a:r>
              <a:rPr sz="1800" b="0" i="0">
                <a:solidFill>
                  <a:srgbClr val="1A1A1A"/>
                </a:solidFill>
                <a:latin typeface="Arial"/>
              </a:rPr>
              <a:t>A ministry buys a product to solve one problem. The product works.</a:t>
            </a:r>
          </a:p>
        </p:txBody>
      </p:sp>
      <p:sp>
        <p:nvSpPr>
          <p:cNvPr id="6" name="Rectangle 5"/>
          <p:cNvSpPr/>
          <p:nvPr/>
        </p:nvSpPr>
        <p:spPr>
          <a:xfrm>
            <a:off x="658368" y="23042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24780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52144" y="2404872"/>
            <a:ext cx="10241280" cy="758952"/>
          </a:xfrm>
          <a:prstGeom prst="rect">
            <a:avLst/>
          </a:prstGeom>
          <a:noFill/>
        </p:spPr>
        <p:txBody>
          <a:bodyPr wrap="square">
            <a:spAutoFit/>
          </a:bodyPr>
          <a:lstStyle/>
          <a:p>
            <a:r>
              <a:rPr sz="1800" b="0" i="0">
                <a:solidFill>
                  <a:srgbClr val="1A1A1A"/>
                </a:solidFill>
                <a:latin typeface="Arial"/>
              </a:rPr>
              <a:t>Slowly, more processes are bent to fit it.</a:t>
            </a:r>
          </a:p>
        </p:txBody>
      </p:sp>
      <p:sp>
        <p:nvSpPr>
          <p:cNvPr id="9" name="Rectangle 8"/>
          <p:cNvSpPr/>
          <p:nvPr/>
        </p:nvSpPr>
        <p:spPr>
          <a:xfrm>
            <a:off x="658368" y="32004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33741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52144" y="3300984"/>
            <a:ext cx="10241280" cy="758952"/>
          </a:xfrm>
          <a:prstGeom prst="rect">
            <a:avLst/>
          </a:prstGeom>
          <a:noFill/>
        </p:spPr>
        <p:txBody>
          <a:bodyPr wrap="square">
            <a:spAutoFit/>
          </a:bodyPr>
          <a:lstStyle/>
          <a:p>
            <a:r>
              <a:rPr sz="1800" b="0" i="0">
                <a:solidFill>
                  <a:srgbClr val="1A1A1A"/>
                </a:solidFill>
                <a:latin typeface="Arial"/>
              </a:rPr>
              <a:t>Data is stored the way the product wants.</a:t>
            </a:r>
          </a:p>
        </p:txBody>
      </p:sp>
      <p:sp>
        <p:nvSpPr>
          <p:cNvPr id="12" name="Rectangle 11"/>
          <p:cNvSpPr/>
          <p:nvPr/>
        </p:nvSpPr>
        <p:spPr>
          <a:xfrm>
            <a:off x="658368" y="40965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2702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52144" y="4197096"/>
            <a:ext cx="10241280" cy="758952"/>
          </a:xfrm>
          <a:prstGeom prst="rect">
            <a:avLst/>
          </a:prstGeom>
          <a:noFill/>
        </p:spPr>
        <p:txBody>
          <a:bodyPr wrap="square">
            <a:spAutoFit/>
          </a:bodyPr>
          <a:lstStyle/>
          <a:p>
            <a:r>
              <a:rPr sz="1800" b="0" i="0">
                <a:solidFill>
                  <a:srgbClr val="1A1A1A"/>
                </a:solidFill>
                <a:latin typeface="Arial"/>
              </a:rPr>
              <a:t>Other systems integrate to the product, not to a standard.</a:t>
            </a:r>
          </a:p>
        </p:txBody>
      </p:sp>
      <p:sp>
        <p:nvSpPr>
          <p:cNvPr id="15" name="Rounded Rectangle 14"/>
          <p:cNvSpPr/>
          <p:nvPr/>
        </p:nvSpPr>
        <p:spPr>
          <a:xfrm>
            <a:off x="658368" y="5166360"/>
            <a:ext cx="10881360" cy="11887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340096"/>
            <a:ext cx="10479024" cy="914400"/>
          </a:xfrm>
          <a:prstGeom prst="rect">
            <a:avLst/>
          </a:prstGeom>
          <a:noFill/>
        </p:spPr>
        <p:txBody>
          <a:bodyPr wrap="square">
            <a:spAutoFit/>
          </a:bodyPr>
          <a:lstStyle/>
          <a:p>
            <a:pPr>
              <a:spcAft>
                <a:spcPts val="700"/>
              </a:spcAft>
            </a:pPr>
            <a:r>
              <a:rPr sz="2100" b="1" i="0">
                <a:solidFill>
                  <a:srgbClr val="FFFFFF"/>
                </a:solidFill>
                <a:latin typeface="Arial"/>
              </a:rPr>
              <a:t>Five years on, the product is the architecture — and only the vendor understands it.</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catch both — asked at Assess, while both are still cheap to change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800" b="1" i="0">
                <a:solidFill>
                  <a:srgbClr val="1A1A1A"/>
                </a:solidFill>
                <a:latin typeface="Arial"/>
              </a:rPr>
              <a:t>Does a shared building block already exist for this?</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800" b="1" i="0">
                <a:solidFill>
                  <a:srgbClr val="1A1A1A"/>
                </a:solidFill>
                <a:latin typeface="Arial"/>
              </a:rPr>
              <a:t>Is the data stored to an open standard, or to one vendor's format?</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800" b="1" i="0">
                <a:solidFill>
                  <a:srgbClr val="1A1A1A"/>
                </a:solidFill>
                <a:latin typeface="Arial"/>
              </a:rPr>
              <a:t>If this supplier doubled their price, could we replace them within two years?</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800" b="1" i="0">
                <a:solidFill>
                  <a:srgbClr val="1A1A1A"/>
                </a:solidFill>
                <a:latin typeface="Arial"/>
              </a:rPr>
              <a:t>Is the sourcing choice — build, buy, share, sandbox — deliberate?</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Build-your-own is rational for a project and ruinous for a country; a vendor's product should fit your architecture, not become it — and Assess is where you catch both.</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Run a two-trap screen on a project proposal.</a:t>
            </a:r>
          </a:p>
          <a:p>
            <a:pPr algn="l">
              <a:spcAft>
                <a:spcPts val="400"/>
              </a:spcAft>
            </a:pPr>
            <a:r>
              <a:rPr sz="1800" b="0" i="0">
                <a:solidFill>
                  <a:srgbClr val="595959"/>
                </a:solidFill>
                <a:latin typeface="Arial"/>
              </a:rPr>
              <a:t>The prompt in the companion material gives you a two-trap screen, questions for the project team, and a recommended sourcing posture.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PAERA v1.0 — §3.3 (Digital Infrastructure principles)</a:t>
            </a:r>
          </a:p>
          <a:p>
            <a:pPr>
              <a:spcAft>
                <a:spcPts val="1200"/>
              </a:spcAft>
            </a:pPr>
            <a:r>
              <a:rPr sz="1700" b="0" i="0">
                <a:solidFill>
                  <a:srgbClr val="1A1A1A"/>
                </a:solidFill>
                <a:latin typeface="Arial"/>
              </a:rPr>
              <a:t>•  PAERA v1.0 — §5.2 (Principles)</a:t>
            </a:r>
          </a:p>
          <a:p>
            <a:pPr>
              <a:spcAft>
                <a:spcPts val="1200"/>
              </a:spcAft>
            </a:pPr>
            <a:r>
              <a:rPr sz="1700" b="0" i="0">
                <a:solidFill>
                  <a:srgbClr val="1A1A1A"/>
                </a:solidFill>
                <a:latin typeface="Arial"/>
              </a:rPr>
              <a:t>•  PAERA v1.0 — §5.6 (Sourcing Strategy — build / buy / share / sandbox)</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