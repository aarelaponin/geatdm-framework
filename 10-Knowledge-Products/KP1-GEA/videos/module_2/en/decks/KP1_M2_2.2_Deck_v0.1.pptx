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3" r:id="rId25"/>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Here is a problem you will hit in your first month as an architect. Two ministries each hand you an architecture. One calls a thing a 'service'. The other calls the same thing a 'function'. One ministry's 'application' is another's 'system' is a third's 'platform'. You cannot compare them. You cannot connect them. You cannot even tell whether they are doing the same work twice. The pictures exist, but they do not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thing. You do not design the metamodel. PAERA publishes it in Annex 2 — the entities, the definitions, the relationships, already worked out and debated across many countries. Your job is to adopt it and use it from day one. If your country genuinely needs an entity PAERA does not have, you extend the metamodel deliberately, and you write the extension down so every team shares it. What you never do is let each team invent its own. The value of a shared dictionary disappears the moment two teams keep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metamodel is not paperwork. It is the small shared dictionary that lets two ministries' architectures fit together, and lets business and IT understand each other. It is what turns re-use from a wish into a plan. Learn PAERA's entities and relationships, use them on every model you draw, and your architecture will connect to everyone else's instead of standing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2.2. Content slides are identical to the corresponding section of the combined deck KP1_M2_Deck_v0.1.pptx;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2.2 — The shared vocabulary that makes re-use possible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2.2</a:t>
            </a:r>
          </a:p>
          <a:p>
            <a:r>
              <a:rPr sz="12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TextBox 3"/>
          <p:cNvSpPr txBox="1"/>
          <p:nvPr/>
        </p:nvSpPr>
        <p:spPr>
          <a:xfrm>
            <a:off x="658368" y="1463040"/>
            <a:ext cx="10984687" cy="786384"/>
          </a:xfrm>
          <a:prstGeom prst="rect">
            <a:avLst/>
          </a:prstGeom>
          <a:noFill/>
        </p:spPr>
        <p:txBody>
          <a:bodyPr wrap="square">
            <a:spAutoFit/>
          </a:bodyPr>
          <a:lstStyle/>
          <a:p>
            <a:pPr>
              <a:spcAft>
                <a:spcPts val="300"/>
              </a:spcAft>
            </a:pPr>
            <a:r>
              <a:rPr sz="2000" b="1" i="0">
                <a:solidFill>
                  <a:srgbClr val="1A1A1A"/>
                </a:solidFill>
                <a:latin typeface="Arial"/>
              </a:rPr>
              <a:t>Capability  →  delivered by  →  Service</a:t>
            </a:r>
          </a:p>
        </p:txBody>
      </p:sp>
      <p:sp>
        <p:nvSpPr>
          <p:cNvPr id="5" name="Rectangle 4"/>
          <p:cNvSpPr/>
          <p:nvPr/>
        </p:nvSpPr>
        <p:spPr>
          <a:xfrm>
            <a:off x="621792" y="225399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95144"/>
            <a:ext cx="10984687" cy="786384"/>
          </a:xfrm>
          <a:prstGeom prst="rect">
            <a:avLst/>
          </a:prstGeom>
          <a:noFill/>
        </p:spPr>
        <p:txBody>
          <a:bodyPr wrap="square">
            <a:spAutoFit/>
          </a:bodyPr>
          <a:lstStyle/>
          <a:p>
            <a:pPr>
              <a:spcAft>
                <a:spcPts val="300"/>
              </a:spcAft>
            </a:pPr>
            <a:r>
              <a:rPr sz="2000" b="1" i="0">
                <a:solidFill>
                  <a:srgbClr val="1A1A1A"/>
                </a:solidFill>
                <a:latin typeface="Arial"/>
              </a:rPr>
              <a:t>Capability  →  supported by  →  Application</a:t>
            </a:r>
          </a:p>
        </p:txBody>
      </p:sp>
      <p:sp>
        <p:nvSpPr>
          <p:cNvPr id="7" name="Rectangle 6"/>
          <p:cNvSpPr/>
          <p:nvPr/>
        </p:nvSpPr>
        <p:spPr>
          <a:xfrm>
            <a:off x="621792" y="30861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27248"/>
            <a:ext cx="10984687" cy="786384"/>
          </a:xfrm>
          <a:prstGeom prst="rect">
            <a:avLst/>
          </a:prstGeom>
          <a:noFill/>
        </p:spPr>
        <p:txBody>
          <a:bodyPr wrap="square">
            <a:spAutoFit/>
          </a:bodyPr>
          <a:lstStyle/>
          <a:p>
            <a:pPr>
              <a:spcAft>
                <a:spcPts val="300"/>
              </a:spcAft>
            </a:pPr>
            <a:r>
              <a:rPr sz="2000" b="1" i="0">
                <a:solidFill>
                  <a:srgbClr val="1A1A1A"/>
                </a:solidFill>
                <a:latin typeface="Arial"/>
              </a:rPr>
              <a:t>Application  →  uses  →  Data Domain</a:t>
            </a:r>
          </a:p>
        </p:txBody>
      </p:sp>
      <p:sp>
        <p:nvSpPr>
          <p:cNvPr id="9" name="Rectangle 8"/>
          <p:cNvSpPr/>
          <p:nvPr/>
        </p:nvSpPr>
        <p:spPr>
          <a:xfrm>
            <a:off x="621792" y="391820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959352"/>
            <a:ext cx="10984687" cy="786384"/>
          </a:xfrm>
          <a:prstGeom prst="rect">
            <a:avLst/>
          </a:prstGeom>
          <a:noFill/>
        </p:spPr>
        <p:txBody>
          <a:bodyPr wrap="square">
            <a:spAutoFit/>
          </a:bodyPr>
          <a:lstStyle/>
          <a:p>
            <a:pPr>
              <a:spcAft>
                <a:spcPts val="300"/>
              </a:spcAft>
            </a:pPr>
            <a:r>
              <a:rPr sz="2000" b="1" i="0">
                <a:solidFill>
                  <a:srgbClr val="1A1A1A"/>
                </a:solidFill>
                <a:latin typeface="Arial"/>
              </a:rPr>
              <a:t>Everything  →  runs on  →  Technology Component</a:t>
            </a:r>
          </a:p>
        </p:txBody>
      </p:sp>
      <p:sp>
        <p:nvSpPr>
          <p:cNvPr id="11" name="Rectangle 10"/>
          <p:cNvSpPr/>
          <p:nvPr/>
        </p:nvSpPr>
        <p:spPr>
          <a:xfrm>
            <a:off x="621792" y="475030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791456"/>
            <a:ext cx="10984687" cy="786384"/>
          </a:xfrm>
          <a:prstGeom prst="rect">
            <a:avLst/>
          </a:prstGeom>
          <a:noFill/>
        </p:spPr>
        <p:txBody>
          <a:bodyPr wrap="square">
            <a:spAutoFit/>
          </a:bodyPr>
          <a:lstStyle/>
          <a:p>
            <a:pPr>
              <a:spcAft>
                <a:spcPts val="300"/>
              </a:spcAft>
            </a:pPr>
            <a:r>
              <a:rPr sz="2000" b="1" i="0">
                <a:solidFill>
                  <a:srgbClr val="1A1A1A"/>
                </a:solidFill>
                <a:latin typeface="Arial"/>
              </a:rPr>
              <a:t>Organisation  →  owns  →  each of them</a:t>
            </a:r>
          </a:p>
        </p:txBody>
      </p:sp>
      <p:sp>
        <p:nvSpPr>
          <p:cNvPr id="13" name="TextBox 12"/>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and debated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a:p>
            <a:pPr>
              <a:spcAft>
                <a:spcPts val="300"/>
              </a:spcAft>
            </a:pPr>
            <a:r>
              <a:rPr sz="1550" b="0" i="0">
                <a:solidFill>
                  <a:srgbClr val="595959"/>
                </a:solidFill>
                <a:latin typeface="Arial"/>
              </a:rPr>
              <a:t>Every model you draw connects to everyone else’s instead of standing alone.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 — never one private dictionary per team.</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