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03" r:id="rId25"/>
    <p:sldId id="2704" r:id="rId26"/>
    <p:sldId id="2705" r:id="rId27"/>
    <p:sldId id="2706" r:id="rId28"/>
    <p:sldId id="2707" r:id="rId29"/>
    <p:sldId id="2708" r:id="rId30"/>
    <p:sldId id="2709" r:id="rId31"/>
    <p:sldId id="2710"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Here is a problem you will hit in your first month as an architect. Two ministries each hand you an architecture. One calls a thing a 'service'. The other calls the same thing a 'function'. One ministry's 'application' is another's 'system' is a third's 'platform'. You cannot compare them. You cannot connect them. You cannot even tell whether they are doing the same work twice. The pictures exist, but they do not fit together.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fix is a metamodel. A metamodel is a small, shared dictionary. It names the kinds of boxes everyone is allowed to draw, and it defines each one in plain words. PAERA defines them for you. A Capability — something a public body can do. A Service — how that capability reaches a citizen or another body. An Application — the software that supports a capability. A Data Domain — a kind of information, with one owner. A Technology Component — the infrastructure underneath. And the Organisation that owns each of these. Five or six entity types. That is most of the metamodel.</a:t>
            </a:r>
          </a:p>
          <a:p/>
          <a:p>
            <a:r>
              <a:t>The core reference slide of the video — keep it on screen while the definitions are read.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entities are half of it. The relationships are the other half. A Capability is delivered by a Service. A Capability is supported by an Application. An Application uses a Data Domain. Everything runs on a Technology Component. An Organisation owns each of these. These relationships are fixed. You do not invent them per ministry. Once every team uses the same entities and the same relationships, every ministry's picture can be laid over every other ministry's picture — and they line up.</a:t>
            </a:r>
          </a:p>
          <a:p/>
          <a:p>
            <a:r>
              <a:t>On screen: the metamodel drawn as a graph — arrows are the relationships; Technology is the base everything stands on; Organisation brackets the lot as owner. Reveal the arrows in the order the VO names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part that matters most. Everyone says they want re-use — one identity system, used by many ministries, instead of five. But re-use is not a matter of good intentions. Before the agriculture ministry can consume the identity authority's building block, both must describe that building block the same way — same entity type, same relationships, same data domain. If each ministry models in its own private language, re-use is impossible even when everyone wants it. The metamodel is the precondition for re-use. It is the quiet, unglamorous thing that makes the whole-of-government saving — first ministry builds it, the rest consume it — actually achievable, instead of just hoped for.</a:t>
            </a:r>
          </a:p>
          <a:p/>
          <a:p>
            <a:r>
              <a:t>The pivotal slide of 2.2. Hold 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metamodel does a second job. The work of redesigning how a ministry serves citizens needs the business side — the minister, the director-general, the head of policy — and the IT side — you and your engineers — to decide together. They do not share a language. The metamodel gives them one. When the head of policy says 'we want to register every learner once', and you answer 'that is one Capability, one Service, and one Data Domain owned by the learner registry', you have translated a policy goal into an architecture — in words both sides can hold. The metamodel is the bridge. The same few entities that let two ministries connect also let business and IT understand each other.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more thing. You do not design the metamodel. PAERA publishes it in Annex 2 — the entities, the definitions, the relationships, already worked out and debated across many countries. Your job is to adopt it and use it from day one. If your country genuinely needs an entity PAERA does not have, you extend the metamodel deliberately, and you write the extension down so every team shares it. What you never do is let each team invent its own. The value of a shared dictionary disappears the moment two teams keep private ones.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 metamodel is not paperwork. It is the small shared dictionary that lets two ministries' architectures fit together, and lets business and IT understand each other. It is what turns re-use from a wish into a plan. Learn PAERA's entities and relationships, use them on every model you draw, and your architecture will connect to everyone else's instead of standing alone.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2.2. Content slides are identical to the corresponding section of the combined deck KP1_M2_Deck_v0.1.pptx;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2.2 — The shared vocabulary that makes re-use possible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2 · Video 2.2</a:t>
            </a:r>
          </a:p>
          <a:p>
            <a:r>
              <a:rPr sz="1200" b="0" i="1">
                <a:solidFill>
                  <a:srgbClr val="595959"/>
                </a:solidFill>
                <a:latin typeface="Arial"/>
              </a:rPr>
              <a:t>The metamodel is the small set of entities — Capability, Service, Application, Data Domain, Technology Component — and the relationships between them that PAERA already defines. Adopt it, and two ministries' architectures can be compared, connected and re-used.</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FOUR LAYERS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Business — what the body does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Data — what it holds, who owns it</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Application — what supports the work</a:t>
            </a:r>
          </a:p>
        </p:txBody>
      </p:sp>
      <p:sp>
        <p:nvSpPr>
          <p:cNvPr id="23" name="Rounded Rectangle 22"/>
          <p:cNvSpPr/>
          <p:nvPr/>
        </p:nvSpPr>
        <p:spPr>
          <a:xfrm>
            <a:off x="7452360" y="3758184"/>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Technology — what it all runs on</a:t>
            </a:r>
          </a:p>
        </p:txBody>
      </p:sp>
      <p:sp>
        <p:nvSpPr>
          <p:cNvPr id="24" name="TextBox 23"/>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6 shared entities · 10 principles to adopt · 2 traps to catch at Assess</a:t>
            </a:r>
          </a:p>
        </p:txBody>
      </p:sp>
    </p:spTree>
    <p:extLst>
      <p:ext uri="{BB962C8B-B14F-4D97-AF65-F5344CB8AC3E}">
        <p14:creationId xmlns:p14="http://schemas.microsoft.com/office/powerpoint/2010/main" val="1196800265"/>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2 · VIDEO 2.2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2.2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shared vocabulary that makes re-use possible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metamodel is the small set of entities — Capability, Service, Application, Data Domain, Technology Component — and the relationships between them that PAERA already defines. Adopt it, and two ministries' architectures can be compared, connected and re-used. Skip it, and every team draws a different picture that no one else can read.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metamodel is a small shared dictionary</a:t>
            </a:r>
          </a:p>
        </p:txBody>
      </p:sp>
      <p:sp>
        <p:nvSpPr>
          <p:cNvPr id="4" name="TextBox 3"/>
          <p:cNvSpPr txBox="1"/>
          <p:nvPr/>
        </p:nvSpPr>
        <p:spPr>
          <a:xfrm>
            <a:off x="658368" y="1417320"/>
            <a:ext cx="10984687" cy="761999"/>
          </a:xfrm>
          <a:prstGeom prst="rect">
            <a:avLst/>
          </a:prstGeom>
          <a:noFill/>
        </p:spPr>
        <p:txBody>
          <a:bodyPr wrap="square">
            <a:spAutoFit/>
          </a:bodyPr>
          <a:lstStyle/>
          <a:p>
            <a:pPr>
              <a:spcAft>
                <a:spcPts val="300"/>
              </a:spcAft>
            </a:pPr>
            <a:r>
              <a:rPr sz="1800" b="1" i="0">
                <a:solidFill>
                  <a:srgbClr val="1A1A1A"/>
                </a:solidFill>
                <a:latin typeface="Arial"/>
              </a:rPr>
              <a:t>Capability</a:t>
            </a:r>
          </a:p>
          <a:p>
            <a:pPr>
              <a:spcAft>
                <a:spcPts val="300"/>
              </a:spcAft>
            </a:pPr>
            <a:r>
              <a:rPr sz="1500" b="0" i="0">
                <a:solidFill>
                  <a:srgbClr val="595959"/>
                </a:solidFill>
                <a:latin typeface="Arial"/>
              </a:rPr>
              <a:t>Something a public body can do — register a learner, run an examination.</a:t>
            </a:r>
          </a:p>
        </p:txBody>
      </p:sp>
      <p:sp>
        <p:nvSpPr>
          <p:cNvPr id="5" name="Rectangle 4"/>
          <p:cNvSpPr/>
          <p:nvPr/>
        </p:nvSpPr>
        <p:spPr>
          <a:xfrm>
            <a:off x="621792" y="21838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25040"/>
            <a:ext cx="10984687" cy="761999"/>
          </a:xfrm>
          <a:prstGeom prst="rect">
            <a:avLst/>
          </a:prstGeom>
          <a:noFill/>
        </p:spPr>
        <p:txBody>
          <a:bodyPr wrap="square">
            <a:spAutoFit/>
          </a:bodyPr>
          <a:lstStyle/>
          <a:p>
            <a:pPr>
              <a:spcAft>
                <a:spcPts val="300"/>
              </a:spcAft>
            </a:pPr>
            <a:r>
              <a:rPr sz="1800" b="1" i="0">
                <a:solidFill>
                  <a:srgbClr val="1A1A1A"/>
                </a:solidFill>
                <a:latin typeface="Arial"/>
              </a:rPr>
              <a:t>Service</a:t>
            </a:r>
          </a:p>
          <a:p>
            <a:pPr>
              <a:spcAft>
                <a:spcPts val="300"/>
              </a:spcAft>
            </a:pPr>
            <a:r>
              <a:rPr sz="1500" b="0" i="0">
                <a:solidFill>
                  <a:srgbClr val="595959"/>
                </a:solidFill>
                <a:latin typeface="Arial"/>
              </a:rPr>
              <a:t>How a capability reaches a citizen or another body.</a:t>
            </a:r>
          </a:p>
        </p:txBody>
      </p:sp>
      <p:sp>
        <p:nvSpPr>
          <p:cNvPr id="7" name="Rectangle 6"/>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032760"/>
            <a:ext cx="10984687" cy="761999"/>
          </a:xfrm>
          <a:prstGeom prst="rect">
            <a:avLst/>
          </a:prstGeom>
          <a:noFill/>
        </p:spPr>
        <p:txBody>
          <a:bodyPr wrap="square">
            <a:spAutoFit/>
          </a:bodyPr>
          <a:lstStyle/>
          <a:p>
            <a:pPr>
              <a:spcAft>
                <a:spcPts val="300"/>
              </a:spcAft>
            </a:pPr>
            <a:r>
              <a:rPr sz="1800" b="1" i="0">
                <a:solidFill>
                  <a:srgbClr val="1A1A1A"/>
                </a:solidFill>
                <a:latin typeface="Arial"/>
              </a:rPr>
              <a:t>Application</a:t>
            </a:r>
          </a:p>
          <a:p>
            <a:pPr>
              <a:spcAft>
                <a:spcPts val="300"/>
              </a:spcAft>
            </a:pPr>
            <a:r>
              <a:rPr sz="1500" b="0" i="0">
                <a:solidFill>
                  <a:srgbClr val="595959"/>
                </a:solidFill>
                <a:latin typeface="Arial"/>
              </a:rPr>
              <a:t>The software that supports a capability.</a:t>
            </a:r>
          </a:p>
        </p:txBody>
      </p:sp>
      <p:sp>
        <p:nvSpPr>
          <p:cNvPr id="9" name="Rectangle 8"/>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3840480"/>
            <a:ext cx="10984687" cy="761999"/>
          </a:xfrm>
          <a:prstGeom prst="rect">
            <a:avLst/>
          </a:prstGeom>
          <a:noFill/>
        </p:spPr>
        <p:txBody>
          <a:bodyPr wrap="square">
            <a:spAutoFit/>
          </a:bodyPr>
          <a:lstStyle/>
          <a:p>
            <a:pPr>
              <a:spcAft>
                <a:spcPts val="300"/>
              </a:spcAft>
            </a:pPr>
            <a:r>
              <a:rPr sz="1800" b="1" i="0">
                <a:solidFill>
                  <a:srgbClr val="1A1A1A"/>
                </a:solidFill>
                <a:latin typeface="Arial"/>
              </a:rPr>
              <a:t>Data Domain</a:t>
            </a:r>
          </a:p>
          <a:p>
            <a:pPr>
              <a:spcAft>
                <a:spcPts val="300"/>
              </a:spcAft>
            </a:pPr>
            <a:r>
              <a:rPr sz="1500" b="0" i="0">
                <a:solidFill>
                  <a:srgbClr val="595959"/>
                </a:solidFill>
                <a:latin typeface="Arial"/>
              </a:rPr>
              <a:t>A kind of information, with one owner.</a:t>
            </a:r>
          </a:p>
        </p:txBody>
      </p:sp>
      <p:sp>
        <p:nvSpPr>
          <p:cNvPr id="11" name="Rectangle 10"/>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648200"/>
            <a:ext cx="10984687" cy="761999"/>
          </a:xfrm>
          <a:prstGeom prst="rect">
            <a:avLst/>
          </a:prstGeom>
          <a:noFill/>
        </p:spPr>
        <p:txBody>
          <a:bodyPr wrap="square">
            <a:spAutoFit/>
          </a:bodyPr>
          <a:lstStyle/>
          <a:p>
            <a:pPr>
              <a:spcAft>
                <a:spcPts val="300"/>
              </a:spcAft>
            </a:pPr>
            <a:r>
              <a:rPr sz="1800" b="1" i="0">
                <a:solidFill>
                  <a:srgbClr val="1A1A1A"/>
                </a:solidFill>
                <a:latin typeface="Arial"/>
              </a:rPr>
              <a:t>Technology Component</a:t>
            </a:r>
          </a:p>
          <a:p>
            <a:pPr>
              <a:spcAft>
                <a:spcPts val="300"/>
              </a:spcAft>
            </a:pPr>
            <a:r>
              <a:rPr sz="1500" b="0" i="0">
                <a:solidFill>
                  <a:srgbClr val="595959"/>
                </a:solidFill>
                <a:latin typeface="Arial"/>
              </a:rPr>
              <a:t>The infrastructure underneath.</a:t>
            </a:r>
          </a:p>
        </p:txBody>
      </p:sp>
      <p:sp>
        <p:nvSpPr>
          <p:cNvPr id="13" name="Rectangle 12"/>
          <p:cNvSpPr/>
          <p:nvPr/>
        </p:nvSpPr>
        <p:spPr>
          <a:xfrm>
            <a:off x="621792" y="541477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5455919"/>
            <a:ext cx="10984687" cy="761999"/>
          </a:xfrm>
          <a:prstGeom prst="rect">
            <a:avLst/>
          </a:prstGeom>
          <a:noFill/>
        </p:spPr>
        <p:txBody>
          <a:bodyPr wrap="square">
            <a:spAutoFit/>
          </a:bodyPr>
          <a:lstStyle/>
          <a:p>
            <a:pPr>
              <a:spcAft>
                <a:spcPts val="300"/>
              </a:spcAft>
            </a:pPr>
            <a:r>
              <a:rPr sz="1800" b="1" i="0">
                <a:solidFill>
                  <a:srgbClr val="1A1A1A"/>
                </a:solidFill>
                <a:latin typeface="Arial"/>
              </a:rPr>
              <a:t>Organisation</a:t>
            </a:r>
          </a:p>
          <a:p>
            <a:pPr>
              <a:spcAft>
                <a:spcPts val="300"/>
              </a:spcAft>
            </a:pPr>
            <a:r>
              <a:rPr sz="1500" b="0" i="0">
                <a:solidFill>
                  <a:srgbClr val="595959"/>
                </a:solidFill>
                <a:latin typeface="Arial"/>
              </a:rPr>
              <a:t>Owns each of these.</a:t>
            </a:r>
          </a:p>
        </p:txBody>
      </p:sp>
      <p:sp>
        <p:nvSpPr>
          <p:cNvPr id="15" name="TextBox 1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relationships matter as much as the entities</a:t>
            </a:r>
          </a:p>
        </p:txBody>
      </p:sp>
      <p:sp>
        <p:nvSpPr>
          <p:cNvPr id="4" name="Rounded Rectangle 3"/>
          <p:cNvSpPr/>
          <p:nvPr/>
        </p:nvSpPr>
        <p:spPr>
          <a:xfrm>
            <a:off x="658368" y="1600200"/>
            <a:ext cx="1828800" cy="38404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Organisation</a:t>
            </a:r>
          </a:p>
          <a:p>
            <a:pPr algn="l">
              <a:spcAft>
                <a:spcPts val="300"/>
              </a:spcAft>
            </a:pPr>
            <a:r>
              <a:rPr sz="1250" b="0" i="0">
                <a:solidFill>
                  <a:srgbClr val="1A1A1A"/>
                </a:solidFill>
                <a:latin typeface="Arial"/>
              </a:rPr>
              <a:t>owns each of them</a:t>
            </a:r>
          </a:p>
        </p:txBody>
      </p:sp>
      <p:sp>
        <p:nvSpPr>
          <p:cNvPr id="5" name="Rounded Rectangle 4"/>
          <p:cNvSpPr/>
          <p:nvPr/>
        </p:nvSpPr>
        <p:spPr>
          <a:xfrm>
            <a:off x="3246120" y="1600200"/>
            <a:ext cx="2651760" cy="9601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Capability</a:t>
            </a:r>
          </a:p>
          <a:p>
            <a:pPr algn="l">
              <a:spcAft>
                <a:spcPts val="300"/>
              </a:spcAft>
            </a:pPr>
            <a:r>
              <a:rPr sz="1250" b="0" i="0">
                <a:solidFill>
                  <a:srgbClr val="1A1A1A"/>
                </a:solidFill>
                <a:latin typeface="Arial"/>
              </a:rPr>
              <a:t>what a body can do</a:t>
            </a:r>
          </a:p>
        </p:txBody>
      </p:sp>
      <p:sp>
        <p:nvSpPr>
          <p:cNvPr id="6" name="Rounded Rectangle 5"/>
          <p:cNvSpPr/>
          <p:nvPr/>
        </p:nvSpPr>
        <p:spPr>
          <a:xfrm>
            <a:off x="8183879" y="1600200"/>
            <a:ext cx="2651760" cy="9601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Service</a:t>
            </a:r>
          </a:p>
          <a:p>
            <a:pPr algn="l">
              <a:spcAft>
                <a:spcPts val="300"/>
              </a:spcAft>
            </a:pPr>
            <a:r>
              <a:rPr sz="1250" b="0" i="0">
                <a:solidFill>
                  <a:srgbClr val="1A1A1A"/>
                </a:solidFill>
                <a:latin typeface="Arial"/>
              </a:rPr>
              <a:t>how it reaches a citizen or body</a:t>
            </a:r>
          </a:p>
        </p:txBody>
      </p:sp>
      <p:sp>
        <p:nvSpPr>
          <p:cNvPr id="7" name="Rounded Rectangle 6"/>
          <p:cNvSpPr/>
          <p:nvPr/>
        </p:nvSpPr>
        <p:spPr>
          <a:xfrm>
            <a:off x="3246120" y="3246120"/>
            <a:ext cx="2651760" cy="9601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Application</a:t>
            </a:r>
          </a:p>
          <a:p>
            <a:pPr algn="l">
              <a:spcAft>
                <a:spcPts val="300"/>
              </a:spcAft>
            </a:pPr>
            <a:r>
              <a:rPr sz="1250" b="0" i="0">
                <a:solidFill>
                  <a:srgbClr val="1A1A1A"/>
                </a:solidFill>
                <a:latin typeface="Arial"/>
              </a:rPr>
              <a:t>the software that supports it</a:t>
            </a:r>
          </a:p>
        </p:txBody>
      </p:sp>
      <p:sp>
        <p:nvSpPr>
          <p:cNvPr id="8" name="Rounded Rectangle 7"/>
          <p:cNvSpPr/>
          <p:nvPr/>
        </p:nvSpPr>
        <p:spPr>
          <a:xfrm>
            <a:off x="8183879" y="3246120"/>
            <a:ext cx="2651760" cy="96012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Data Domain</a:t>
            </a:r>
          </a:p>
          <a:p>
            <a:pPr algn="l">
              <a:spcAft>
                <a:spcPts val="300"/>
              </a:spcAft>
            </a:pPr>
            <a:r>
              <a:rPr sz="1250" b="0" i="0">
                <a:solidFill>
                  <a:srgbClr val="1A1A1A"/>
                </a:solidFill>
                <a:latin typeface="Arial"/>
              </a:rPr>
              <a:t>a kind of information, one owner</a:t>
            </a:r>
          </a:p>
        </p:txBody>
      </p:sp>
      <p:sp>
        <p:nvSpPr>
          <p:cNvPr id="9" name="Rounded Rectangle 8"/>
          <p:cNvSpPr/>
          <p:nvPr/>
        </p:nvSpPr>
        <p:spPr>
          <a:xfrm>
            <a:off x="3246120" y="4617720"/>
            <a:ext cx="7589520" cy="82296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Technology Component</a:t>
            </a:r>
          </a:p>
          <a:p>
            <a:pPr algn="l">
              <a:spcAft>
                <a:spcPts val="300"/>
              </a:spcAft>
            </a:pPr>
            <a:r>
              <a:rPr sz="1250" b="0" i="0">
                <a:solidFill>
                  <a:srgbClr val="FFFFFF"/>
                </a:solidFill>
                <a:latin typeface="Arial"/>
              </a:rPr>
              <a:t>the infrastructure underneath</a:t>
            </a:r>
          </a:p>
        </p:txBody>
      </p:sp>
      <p:cxnSp>
        <p:nvCxnSpPr>
          <p:cNvPr id="10" name="Connector 9"/>
          <p:cNvCxnSpPr/>
          <p:nvPr/>
        </p:nvCxnSpPr>
        <p:spPr>
          <a:xfrm>
            <a:off x="5897879" y="2080260"/>
            <a:ext cx="2286000"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6400799" y="1897379"/>
            <a:ext cx="12801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i="0">
                <a:solidFill>
                  <a:srgbClr val="006E96"/>
                </a:solidFill>
                <a:latin typeface="Arial"/>
              </a:rPr>
              <a:t>delivered by</a:t>
            </a:r>
          </a:p>
        </p:txBody>
      </p:sp>
      <p:cxnSp>
        <p:nvCxnSpPr>
          <p:cNvPr id="12" name="Connector 11"/>
          <p:cNvCxnSpPr/>
          <p:nvPr/>
        </p:nvCxnSpPr>
        <p:spPr>
          <a:xfrm>
            <a:off x="4572000" y="2560320"/>
            <a:ext cx="0" cy="68580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4681728" y="2715768"/>
            <a:ext cx="137160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l"/>
            <a:r>
              <a:rPr sz="1200" b="1" i="0">
                <a:solidFill>
                  <a:srgbClr val="006E96"/>
                </a:solidFill>
                <a:latin typeface="Arial"/>
              </a:rPr>
              <a:t>supported by</a:t>
            </a:r>
          </a:p>
        </p:txBody>
      </p:sp>
      <p:cxnSp>
        <p:nvCxnSpPr>
          <p:cNvPr id="14" name="Connector 13"/>
          <p:cNvCxnSpPr/>
          <p:nvPr/>
        </p:nvCxnSpPr>
        <p:spPr>
          <a:xfrm>
            <a:off x="5897879" y="3726180"/>
            <a:ext cx="2286000"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6720840" y="3543300"/>
            <a:ext cx="822960"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i="0">
                <a:solidFill>
                  <a:srgbClr val="006E96"/>
                </a:solidFill>
                <a:latin typeface="Arial"/>
              </a:rPr>
              <a:t>uses</a:t>
            </a:r>
          </a:p>
        </p:txBody>
      </p:sp>
      <p:cxnSp>
        <p:nvCxnSpPr>
          <p:cNvPr id="16" name="Connector 15"/>
          <p:cNvCxnSpPr/>
          <p:nvPr/>
        </p:nvCxnSpPr>
        <p:spPr>
          <a:xfrm>
            <a:off x="4572000" y="4206240"/>
            <a:ext cx="0" cy="41148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509759" y="4206240"/>
            <a:ext cx="0" cy="41148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172199" y="4251959"/>
            <a:ext cx="192024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i="0">
                <a:solidFill>
                  <a:srgbClr val="006E96"/>
                </a:solidFill>
                <a:latin typeface="Arial"/>
              </a:rPr>
              <a:t>everything runs on</a:t>
            </a:r>
          </a:p>
        </p:txBody>
      </p:sp>
      <p:cxnSp>
        <p:nvCxnSpPr>
          <p:cNvPr id="19" name="Connector 18"/>
          <p:cNvCxnSpPr/>
          <p:nvPr/>
        </p:nvCxnSpPr>
        <p:spPr>
          <a:xfrm>
            <a:off x="2487168" y="3520440"/>
            <a:ext cx="758952"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2505456" y="3136392"/>
            <a:ext cx="731520"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36576" rIns="36576" tIns="0" bIns="0" wrap="square"/>
          <a:lstStyle/>
          <a:p>
            <a:pPr algn="ctr"/>
            <a:r>
              <a:rPr sz="1200" b="1" i="0">
                <a:solidFill>
                  <a:srgbClr val="006E96"/>
                </a:solidFill>
                <a:latin typeface="Arial"/>
              </a:rPr>
              <a:t>owns</a:t>
            </a:r>
          </a:p>
        </p:txBody>
      </p:sp>
      <p:sp>
        <p:nvSpPr>
          <p:cNvPr id="21" name="TextBox 20"/>
          <p:cNvSpPr txBox="1"/>
          <p:nvPr/>
        </p:nvSpPr>
        <p:spPr>
          <a:xfrm>
            <a:off x="658368" y="5760720"/>
            <a:ext cx="10881360" cy="548640"/>
          </a:xfrm>
          <a:prstGeom prst="rect">
            <a:avLst/>
          </a:prstGeom>
          <a:noFill/>
        </p:spPr>
        <p:txBody>
          <a:bodyPr wrap="square">
            <a:spAutoFit/>
          </a:bodyPr>
          <a:lstStyle/>
          <a:p>
            <a:r>
              <a:rPr sz="1550" b="1" i="0">
                <a:solidFill>
                  <a:srgbClr val="006E96"/>
                </a:solidFill>
                <a:latin typeface="Arial"/>
              </a:rPr>
              <a:t>These relationships are fixed. You do not invent them per ministry.</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Re-use is not a matter of good intentions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Everyone says they want re-use — one identity system used by many ministries, instead of five. But before the agriculture ministry can consume the identity authority's building block, both must describe that building block the same way: same entity type, same relationships, same data domain.</a:t>
            </a:r>
          </a:p>
          <a:p>
            <a:pPr>
              <a:spcAft>
                <a:spcPts val="1200"/>
              </a:spcAft>
            </a:pPr>
            <a:r>
              <a:rPr sz="2000" b="0" i="0">
                <a:solidFill>
                  <a:srgbClr val="1A1A1A"/>
                </a:solidFill>
                <a:latin typeface="Arial"/>
              </a:rPr>
              <a:t>If each ministry models in its own private language, re-use is impossible even when everyone wants it.</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The metamodel is the precondition for re-use.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same few entities let business and IT understand each other</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head of policy says</a:t>
            </a:r>
          </a:p>
          <a:p>
            <a:pPr>
              <a:spcAft>
                <a:spcPts val="700"/>
              </a:spcAft>
            </a:pPr>
            <a:r>
              <a:rPr sz="1600" b="0" i="0">
                <a:solidFill>
                  <a:srgbClr val="1A1A1A"/>
                </a:solidFill>
                <a:latin typeface="Arial"/>
              </a:rPr>
              <a:t>“We want to register every learner once.”</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architect answers</a:t>
            </a:r>
          </a:p>
          <a:p>
            <a:pPr>
              <a:spcAft>
                <a:spcPts val="700"/>
              </a:spcAft>
            </a:pPr>
            <a:r>
              <a:rPr sz="1600" b="0" i="0">
                <a:solidFill>
                  <a:srgbClr val="1A1A1A"/>
                </a:solidFill>
                <a:latin typeface="Arial"/>
              </a:rPr>
              <a:t>“That is one Capability,</a:t>
            </a:r>
          </a:p>
          <a:p>
            <a:pPr>
              <a:spcAft>
                <a:spcPts val="700"/>
              </a:spcAft>
            </a:pPr>
            <a:r>
              <a:rPr sz="1600" b="0" i="0">
                <a:solidFill>
                  <a:srgbClr val="1A1A1A"/>
                </a:solidFill>
                <a:latin typeface="Arial"/>
              </a:rPr>
              <a:t>one Service,</a:t>
            </a:r>
          </a:p>
          <a:p>
            <a:pPr>
              <a:spcAft>
                <a:spcPts val="700"/>
              </a:spcAft>
            </a:pPr>
            <a:r>
              <a:rPr sz="1600" b="0" i="0">
                <a:solidFill>
                  <a:srgbClr val="1A1A1A"/>
                </a:solidFill>
                <a:latin typeface="Arial"/>
              </a:rPr>
              <a:t>and one Data Domain owned by the learner registry.”</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Same few entities — both sides understand them. That is a policy goal translated into an architecture.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adopt the metamodel — you don't design it</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1569720"/>
          </a:xfrm>
          <a:prstGeom prst="rect">
            <a:avLst/>
          </a:prstGeom>
          <a:noFill/>
        </p:spPr>
        <p:txBody>
          <a:bodyPr wrap="square">
            <a:spAutoFit/>
          </a:bodyPr>
          <a:lstStyle/>
          <a:p>
            <a:pPr>
              <a:spcAft>
                <a:spcPts val="300"/>
              </a:spcAft>
            </a:pPr>
            <a:r>
              <a:rPr sz="1900" b="1" i="0">
                <a:solidFill>
                  <a:srgbClr val="1A1A1A"/>
                </a:solidFill>
                <a:latin typeface="Arial"/>
              </a:rPr>
              <a:t>PAERA Annex 2 publishes it</a:t>
            </a:r>
          </a:p>
          <a:p>
            <a:pPr>
              <a:spcAft>
                <a:spcPts val="300"/>
              </a:spcAft>
            </a:pPr>
            <a:r>
              <a:rPr sz="1550" b="0" i="0">
                <a:solidFill>
                  <a:srgbClr val="595959"/>
                </a:solidFill>
                <a:latin typeface="Arial"/>
              </a:rPr>
              <a:t>The entities, the definitions, the relationships — already worked out and debated across many countries.</a:t>
            </a:r>
          </a:p>
        </p:txBody>
      </p:sp>
      <p:sp>
        <p:nvSpPr>
          <p:cNvPr id="6" name="Rectangle 5"/>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30784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3032760"/>
            <a:ext cx="10527487" cy="1569720"/>
          </a:xfrm>
          <a:prstGeom prst="rect">
            <a:avLst/>
          </a:prstGeom>
          <a:noFill/>
        </p:spPr>
        <p:txBody>
          <a:bodyPr wrap="square">
            <a:spAutoFit/>
          </a:bodyPr>
          <a:lstStyle/>
          <a:p>
            <a:pPr>
              <a:spcAft>
                <a:spcPts val="300"/>
              </a:spcAft>
            </a:pPr>
            <a:r>
              <a:rPr sz="1900" b="1" i="0">
                <a:solidFill>
                  <a:srgbClr val="1A1A1A"/>
                </a:solidFill>
                <a:latin typeface="Arial"/>
              </a:rPr>
              <a:t>Use it from day one</a:t>
            </a:r>
          </a:p>
          <a:p>
            <a:pPr>
              <a:spcAft>
                <a:spcPts val="300"/>
              </a:spcAft>
            </a:pPr>
            <a:r>
              <a:rPr sz="1550" b="0" i="0">
                <a:solidFill>
                  <a:srgbClr val="595959"/>
                </a:solidFill>
                <a:latin typeface="Arial"/>
              </a:rPr>
              <a:t>Every model you draw connects to everyone else’s instead of standing alone.</a:t>
            </a:r>
          </a:p>
        </p:txBody>
      </p:sp>
      <p:sp>
        <p:nvSpPr>
          <p:cNvPr id="9" name="Rectangle 8"/>
          <p:cNvSpPr/>
          <p:nvPr/>
        </p:nvSpPr>
        <p:spPr>
          <a:xfrm>
            <a:off x="621792" y="46070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6939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648200"/>
            <a:ext cx="10527487" cy="1569720"/>
          </a:xfrm>
          <a:prstGeom prst="rect">
            <a:avLst/>
          </a:prstGeom>
          <a:noFill/>
        </p:spPr>
        <p:txBody>
          <a:bodyPr wrap="square">
            <a:spAutoFit/>
          </a:bodyPr>
          <a:lstStyle/>
          <a:p>
            <a:pPr>
              <a:spcAft>
                <a:spcPts val="300"/>
              </a:spcAft>
            </a:pPr>
            <a:r>
              <a:rPr sz="1900" b="1" i="0">
                <a:solidFill>
                  <a:srgbClr val="1A1A1A"/>
                </a:solidFill>
                <a:latin typeface="Arial"/>
              </a:rPr>
              <a:t>Extend it only where your country genuinely needs a new entity</a:t>
            </a:r>
          </a:p>
          <a:p>
            <a:pPr>
              <a:spcAft>
                <a:spcPts val="300"/>
              </a:spcAft>
            </a:pPr>
            <a:r>
              <a:rPr sz="1550" b="0" i="0">
                <a:solidFill>
                  <a:srgbClr val="595959"/>
                </a:solidFill>
                <a:latin typeface="Arial"/>
              </a:rPr>
              <a:t>Deliberately, written down, shared — never one private dictionary per team.</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metamodel is the small shared dictionary that lets two ministries' architectures fit together — which is what turns re-use from a wish into a plan.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Annex 2 (Metamodel — entities and relationships)</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2.2 · The shared vocabulary that makes re-use possible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