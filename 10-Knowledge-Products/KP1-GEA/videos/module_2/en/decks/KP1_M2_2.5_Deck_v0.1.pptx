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681" r:id="rId8"/>
    <p:sldId id="2725" r:id="rId16"/>
    <p:sldId id="2726" r:id="rId15"/>
    <p:sldId id="2727" r:id="rId14"/>
    <p:sldId id="2728" r:id="rId13"/>
    <p:sldId id="2729" r:id="rId12"/>
    <p:sldId id="2730" r:id="rId11"/>
    <p:sldId id="2731" r:id="rId10"/>
    <p:sldId id="273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10" Type="http://schemas.openxmlformats.org/officeDocument/2006/relationships/slide" Target="slides/slide38.xml"/><Relationship Id="rId11" Type="http://schemas.openxmlformats.org/officeDocument/2006/relationships/slide" Target="slides/slide37.xml"/><Relationship Id="rId12" Type="http://schemas.openxmlformats.org/officeDocument/2006/relationships/slide" Target="slides/slide36.xml"/><Relationship Id="rId13" Type="http://schemas.openxmlformats.org/officeDocument/2006/relationships/slide" Target="slides/slide35.xml"/><Relationship Id="rId14" Type="http://schemas.openxmlformats.org/officeDocument/2006/relationships/slide" Target="slides/slide34.xml"/><Relationship Id="rId15" Type="http://schemas.openxmlformats.org/officeDocument/2006/relationships/slide" Target="slides/slide33.xml"/><Relationship Id="rId16" Type="http://schemas.openxmlformats.org/officeDocument/2006/relationships/slide" Target="slides/slide32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4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for standalone video 2.5. Content slides are identical to the corresponding section of the combined deck KP1_M2_Deck_v0.1.pptx; voice-over is in each slide’s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VO, slide 1: Let us put the four layers on a real sector. Progressa is a demonstration country with an education system like many across the continent. It has a Ministry of Education, Youth and Sport. A national examination authority. A learner registry. A national identity authority. And a digital government authority that runs shared platforms. We will read this system in four layers, using the shared entities, exactly as you would on your own sector.</a:t>
            </a:r>
          </a:p>
          <a:p/>
          <a:p>
            <a:r>
              <a:t>On screen: Progressa is a fictional demonstration country — say so once,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Start by classifying, because classification gives us the head start. The Ministry of Education is a policy unit — it sets education policy and owns the rules. The National Examination Authority runs examinations at scale and certifies results — a service-delivery authority with a regulatory edge. The Learner Registry is a state registry — the authoritative single source for who is a learner. The National Identity Authority is a registry and a shared platform — it owns the person identity every sector reuses. The Digital Government Authority runs shared platforms: data exchange and payments. Five bodies, classified in a minute, and we already expect what each one does.</a:t>
            </a:r>
          </a:p>
          <a:p/>
          <a:p>
            <a:r>
              <a:t>All institutions are fictional — no emblems, no real agency names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Now the Business layer — capabilities and services. Register a learner: owned by the Learner Registry. Run an examination and certify a result: the Examination Authority. Prove who a learner is: the Identity Authority. Set policy and fund schools: the Ministry. Notice that we describe what each body does — its capabilities — not how it is organised inside. The citizen-facing services sit on top: enrol a child, sit an examination, receive a certificate, transfer between schools. Each service traces down to a capability owned by exactly one body. When two bodies both claim the same capability — say, each keeping its own list of learners — you have found your first gap, just by drawing the Business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Data layer names the domains and their owners. The Person domain — owned by the Identity Authority; everyone else uses the person identity, no one else mints it. The Learner domain — owned by the Learner Registry. Examination results — owned by the Examination Authority. Schools — owned by the Ministry. One domain, one owner, one authoritative copy. The once-only principle now becomes concrete: when the Examination Authority needs to know who a learner is, it consumes the Learner Registry and the Identity Authority — it does not keep its own private copy of the learner that drifts out of date. If you find the Examination Authority maintaining its own learner list, that is a duplicate registry, and you write it down.</a:t>
            </a:r>
          </a:p>
          <a:p/>
          <a:p>
            <a:r>
              <a:t>The duplicate-registry example previews the Assess gaps in 2.6 — name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Application layer maps software to those capabilities. An enrolment system supports the register-a-learner capability and uses the Learner and Person domains. An examination-management system supports run-an-examination. An identity-verification service supports prove-identity. Each application points up to a capability and across to the data domains it uses — so you can see, at a glance, which systems would break if the Identity Authority changed, and whether two systems are quietly doing the same job. Underneath, the Technology layer: the shared identity platform, the data-exchange backbone run by the Digital Government Authority, the hosting. A short list of shared standards — not a server audit.</a:t>
            </a:r>
          </a:p>
          <a:p/>
          <a:p>
            <a:r>
              <a:t>Application names stay generic and descriptive — no vendor or product names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Now trace one service all the way down. Sit an examination and get a certificate. The service is delivered by the Examination Authority's run-an-examination and certify-a-result capabilities. Those are supported by the examination-management application. That application uses three data domains — the learner, the person identity, and the examination result — each owned by a different body and reached over the data-exchange backbone, which runs on the shared technology layer. That single thread, from a citizen service down to the infrastructure, is a complete reading of the system in four layers. Reproduce that on your own sector — classify the bodies, draw the capabilities, name the data owners, map the applications, list the shared technology — and you have an architecture, not an inventory.</a:t>
            </a:r>
          </a:p>
          <a:p/>
          <a:p>
            <a:r>
              <a:t>Centrepiece of 2.5. Reveal one band at a time and say the owner aloud at the DATA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That is BDAT on a real ministry. The method is the same on health, on agriculture, on social protection — only the bodies and the domains change. Classify, then read the four layers using the shared entities, and any sector in your country becomes a connected picture you can plan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AD66F2-F7C0-4D03-9150-D28F17AC561D}"/>
              </a:ext>
            </a:extLst>
          </p:cNvPr>
          <p:cNvCxnSpPr>
            <a:cxnSpLocks/>
          </p:cNvCxnSpPr>
          <p:nvPr/>
        </p:nvCxnSpPr>
        <p:spPr>
          <a:xfrm>
            <a:off x="373021" y="2198718"/>
            <a:ext cx="6843567" cy="0"/>
          </a:xfrm>
          <a:prstGeom prst="line">
            <a:avLst/>
          </a:prstGeom>
          <a:ln w="12700">
            <a:solidFill>
              <a:srgbClr val="009C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9">
            <a:extLst>
              <a:ext uri="{FF2B5EF4-FFF2-40B4-BE49-F238E27FC236}">
                <a16:creationId xmlns:a16="http://schemas.microsoft.com/office/drawing/2014/main" id="{EEB08032-CE0E-4986-AEDF-A41026C0E8B9}"/>
              </a:ext>
            </a:extLst>
          </p:cNvPr>
          <p:cNvSpPr txBox="1">
            <a:spLocks/>
          </p:cNvSpPr>
          <p:nvPr/>
        </p:nvSpPr>
        <p:spPr>
          <a:xfrm>
            <a:off x="237734" y="702833"/>
            <a:ext cx="6432007" cy="1218817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sz="2400" b="1" i="0">
                <a:solidFill>
                  <a:srgbClr val="1A1A1A"/>
                </a:solidFill>
                <a:latin typeface="Arial"/>
              </a:rPr>
              <a:t>2.5 — BDAT on a real ministry — the Progressa walkthrough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066351-C569-4C4C-A096-308777FCD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9" b="14729"/>
          <a:stretch>
            <a:fillRect/>
          </a:stretch>
        </p:blipFill>
        <p:spPr>
          <a:xfrm>
            <a:off x="0" y="5620871"/>
            <a:ext cx="1323975" cy="1218816"/>
          </a:xfrm>
          <a:prstGeom prst="rect">
            <a:avLst/>
          </a:prstGeom>
        </p:spPr>
      </p:pic>
      <p:sp>
        <p:nvSpPr>
          <p:cNvPr id="14" name="Title 9">
            <a:extLst>
              <a:ext uri="{FF2B5EF4-FFF2-40B4-BE49-F238E27FC236}">
                <a16:creationId xmlns:a16="http://schemas.microsoft.com/office/drawing/2014/main" id="{B5087B80-3EE4-1881-0130-ED58CA625092}"/>
              </a:ext>
            </a:extLst>
          </p:cNvPr>
          <p:cNvSpPr txBox="1">
            <a:spLocks/>
          </p:cNvSpPr>
          <p:nvPr/>
        </p:nvSpPr>
        <p:spPr>
          <a:xfrm>
            <a:off x="284452" y="2475786"/>
            <a:ext cx="6382893" cy="95321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06E96"/>
                </a:solidFill>
                <a:latin typeface="Arial"/>
              </a:rPr>
              <a:t>KP1 · Government Enterprise Architecture · Module 2 · Video 2.5</a:t>
            </a:r>
          </a:p>
          <a:p>
            <a:r>
              <a:rPr sz="1200" b="0" i="1">
                <a:solidFill>
                  <a:srgbClr val="595959"/>
                </a:solidFill>
                <a:latin typeface="Arial"/>
              </a:rPr>
              <a:t>Watch the four layers and the shared entities applied to one real education system — Progressa's ministry, learner registry, examination authority and identity authority — and the abstract method becomes a concrete picture you can reproduce on your own sector.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5E8796F7-DD26-D250-5E97-B38B22298E72}"/>
              </a:ext>
            </a:extLst>
          </p:cNvPr>
          <p:cNvSpPr txBox="1">
            <a:spLocks/>
          </p:cNvSpPr>
          <p:nvPr/>
        </p:nvSpPr>
        <p:spPr>
          <a:xfrm>
            <a:off x="284452" y="4363897"/>
            <a:ext cx="6382893" cy="95321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rtl="0">
              <a:spcBef>
                <a:spcPts val="60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Arial"/>
              </a:rPr>
              <a:t>Length: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~5 mins</a:t>
            </a:r>
          </a:p>
          <a:p>
            <a:r>
              <a:rPr sz="1400" b="1" i="0">
                <a:solidFill>
                  <a:srgbClr val="1A1A1A"/>
                </a:solidFill>
                <a:latin typeface="Arial"/>
              </a:rPr>
              <a:t>Target audience: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Chief architect · senior architect · sector ICT lead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2592" y="0"/>
            <a:ext cx="5169103" cy="685800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57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5F5FB"/>
                </a:solidFill>
                <a:latin typeface="Arial"/>
              </a:rPr>
              <a:t>THE FOUR LAYERS THIS MODULE TEACHES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960120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Business — what the body does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892808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Data — what it holds, who owns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825496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Application — what supports the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758184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Technology — what it all runs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580644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Arial"/>
              </a:rPr>
              <a:t>6 shared entities · 10 principles to adopt · 2 traps to catch at Assess</a:t>
            </a:r>
          </a:p>
        </p:txBody>
      </p:sp>
    </p:spTree>
    <p:extLst>
      <p:ext uri="{BB962C8B-B14F-4D97-AF65-F5344CB8AC3E}">
        <p14:creationId xmlns:p14="http://schemas.microsoft.com/office/powerpoint/2010/main" val="1196800265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KP1 · MODULE 2 · VIDEO 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BDAT on a real ministry — the Progressa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Watch the four layers and the shared entities applied to one real education system — Progressa's ministry, learner registry, examination authority and identity authority — and the abstract method becomes a concrete picture you can reproduce on your own sector.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~5 minutes · standalone video · voice-over on text slides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Classify the bodies first — that is where the head start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Ministry of Education, Youth and Sport (MoEYS)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Policy unit — sets education policy, owns the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34543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86584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National Examination Authority (PNEA)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Service-delivery authority with a regulatory edge — runs examinations at scale, certifies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31470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355848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Learner Registry (PLR)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State registry — the authoritative single source for who is a learner.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83964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25112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National Identity Authority (PNIA)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State registry and shared platform — owns the person identity every sector reuses.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525322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294376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Digital Government Authority (PDGA)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Shared-platform provider — data exchange and payments.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Business layer — capabilities belong to bodies, services sit on 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Capabilities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Register a learner — PLR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an examination, certify a result — PNEA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Prove identity — PNIA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Set policy, fund schools — MoEYS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Services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Enrol a child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Sit an examination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Receive a certificate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Transfer schools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Each service traces down to a capability owned by exactly one body. Two bodies claiming one capability is your first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Data layer — one domain, one owner, one authoritative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Person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PNIA. Everyone else uses the person identity; no one else mints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448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Learner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PLR.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0678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Examination result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PNEA.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89077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93192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School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MoEYS.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37760"/>
            <a:ext cx="10881360" cy="1234440"/>
          </a:xfrm>
          <a:prstGeom prst="roundRect">
            <a:avLst>
              <a:gd name="adj" fmla="val 45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084064"/>
            <a:ext cx="10479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Once-only made concrete: others consume, they do not copy.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An examination authority keeping its own learner list is a duplicate registry — write it down.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Application and Technology — every system points up and across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Applications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Enrolment system → register-a-learner (PLR)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Exam-management system → run-an-examination (PNEA)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Identity-verification service → prove-identity (PNIA)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Technology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Shared identity platform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Data-exchange backbone (PDGA)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short list of shared standards — not a server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Trace one service all the way 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81328"/>
            <a:ext cx="9509760" cy="65836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157276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006E96"/>
                </a:solidFill>
                <a:latin typeface="Arial"/>
              </a:rP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1572768"/>
            <a:ext cx="6858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Sit an examination, get a certificate</a:t>
            </a:r>
          </a:p>
        </p:txBody>
      </p:sp>
      <p:sp>
        <p:nvSpPr>
          <p:cNvPr id="7" name="Diamond 6"/>
          <p:cNvSpPr/>
          <p:nvPr/>
        </p:nvSpPr>
        <p:spPr>
          <a:xfrm>
            <a:off x="6035040" y="2189988"/>
            <a:ext cx="155448" cy="155448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359152"/>
            <a:ext cx="9509760" cy="65836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50592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006E96"/>
                </a:solidFill>
                <a:latin typeface="Arial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450592"/>
            <a:ext cx="6858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Run-an-examination, certify-a-result — PNEA</a:t>
            </a:r>
          </a:p>
        </p:txBody>
      </p:sp>
      <p:sp>
        <p:nvSpPr>
          <p:cNvPr id="11" name="Diamond 10"/>
          <p:cNvSpPr/>
          <p:nvPr/>
        </p:nvSpPr>
        <p:spPr>
          <a:xfrm>
            <a:off x="6035040" y="3067812"/>
            <a:ext cx="155448" cy="155448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3236976"/>
            <a:ext cx="9509760" cy="65836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3328416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006E96"/>
                </a:solidFill>
                <a:latin typeface="Arial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3328416"/>
            <a:ext cx="6858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Exam-management system</a:t>
            </a:r>
          </a:p>
        </p:txBody>
      </p:sp>
      <p:sp>
        <p:nvSpPr>
          <p:cNvPr id="15" name="Diamond 14"/>
          <p:cNvSpPr/>
          <p:nvPr/>
        </p:nvSpPr>
        <p:spPr>
          <a:xfrm>
            <a:off x="6035040" y="3945635"/>
            <a:ext cx="155448" cy="155448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4114800"/>
            <a:ext cx="9509760" cy="658368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4206240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006E96"/>
                </a:solidFill>
                <a:latin typeface="Arial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4206240"/>
            <a:ext cx="6858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Learner · person · examination result — three owners</a:t>
            </a:r>
          </a:p>
        </p:txBody>
      </p:sp>
      <p:sp>
        <p:nvSpPr>
          <p:cNvPr id="19" name="Diamond 18"/>
          <p:cNvSpPr/>
          <p:nvPr/>
        </p:nvSpPr>
        <p:spPr>
          <a:xfrm>
            <a:off x="6035040" y="4823459"/>
            <a:ext cx="155448" cy="155448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4992624"/>
            <a:ext cx="9509760" cy="658368"/>
          </a:xfrm>
          <a:prstGeom prst="roundRect">
            <a:avLst>
              <a:gd name="adj" fmla="val 45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5084064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5084064"/>
            <a:ext cx="6858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Arial"/>
              </a:rPr>
              <a:t>Data exchange · identity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7044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06E96"/>
                </a:solidFill>
                <a:latin typeface="Arial"/>
              </a:rPr>
              <a:t>That single thread, from a citizen service down to the infrastructure, is a complete reading of the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Classify the bodies, draw the capabilities, name one owner per data domain, map applications to capabilities, list shared technology — and any sector becomes a connected picture.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Annex 2 (Metamodel)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§5.2 (Principles — once-only)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