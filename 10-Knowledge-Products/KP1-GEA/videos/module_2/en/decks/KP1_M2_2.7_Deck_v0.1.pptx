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41" r:id="rId63"/>
    <p:sldId id="2742" r:id="rId64"/>
    <p:sldId id="2743" r:id="rId65"/>
    <p:sldId id="2744" r:id="rId66"/>
    <p:sldId id="2745" r:id="rId67"/>
    <p:sldId id="2746" r:id="rId68"/>
    <p:sldId id="2747"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2.7. Content slides are identical to the corresponding section of the combined deck KP1_M2_Deck_v0.1.pptx;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Two traps catch governments again and again. As the architect at the Assess phase, you are the one positioned to spot them early — before they are built, while they are still a line in a project plan. Learn to recognise both, and you save your country years and a great deal of money.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is the bespoke trap. A new project needs to identify citizens. Reusing the national identity platform means learning it, negotiating with the body that owns it, and accepting their timelines. Building its own small identity function is faster — for this project. So the project builds its own. This is not laziness. Inside the project, building is the rational choice, every time. But multiply it across ten projects and the country has ten identity functions, ten learner lists, ten payment integrations — and has paid ten times for what it should have built once. The math that makes reuse worth it only exists at the level of the whole government. No single project can see it. You can. At Assess, every time a project proposes to build a function that already exists as a shared building block, you flag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might think procurement rules already prevent this. They do not. A rule can require a project to use open standards. It cannot make reusing another body's platform cheaper or faster than building fresh — so the project, optimising for its deadline, still builds. The only thing that catches the bespoke trap is the whole-of-government view that an architecture gives you, plus a governance board with the authority to say: not this one, reuse the shared platform. The rule sets the intention. The architecture and the Board enforce it. That is why catching this trap is architecture work, not procurement work.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is the vendor-driven trap. A ministry buys a product to solve one problem. The product works. Slowly, more processes are bent to fit it. Data is stored the way the product wants. Other systems integrate to the product, not to a standard. Five years on, the product is not a system the government owns — it is the architecture, and the only people who understand it work for the vendor. Changing anything means calling them and paying what they ask. The government has lost the ability to leave, and the price reflects it. The trap is not buying from a vendor — sometimes buying is right. The trap is letting the vendor's product, rather than your architecture, decide how your government is shaped.</a:t>
            </a:r>
          </a:p>
          <a:p/>
          <a:p>
            <a:r>
              <a:t>Reveal the four steps one at a time, then the closing block. The 'only the vendor understands it' line is the operative beat.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catch both with a few questions, asked at Assess. Does a shared building block already exist for what this project wants to build? Is the data stored to an open standard, or to one vendor's format? If this supplier doubled their price, could we replace them within two years — and if not, why not? And for anything new: is the sourcing choice deliberate — build, buy, share another country's, or test in a sandbox first — or is it just the path of least resistance? These questions turn both traps from things you discover too late into things you flag while they are still cheap to change.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watch for the two traps. The bespoke trap — rational for a project, ruinous for a country, caught only by the whole-of-government view and a board that can say no. And the vendor-driven trap — where a product quietly becomes the architecture and the exit door closes. Both are cheap to fix at Assess and expensive to fix later. Spotting them early is one of the most valuable things you do as an architect.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2.7 — The two traps to catch at Assess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2 · Video 2.7</a:t>
            </a:r>
          </a:p>
          <a:p>
            <a:r>
              <a:rPr sz="1200" b="0" i="1">
                <a:solidFill>
                  <a:srgbClr val="595959"/>
                </a:solidFill>
                <a:latin typeface="Arial"/>
              </a:rPr>
              <a:t>Two traps recur in every assessment: the bespoke trap, where each project builds its own version of a shared function, and the vendor-driven trap, where a supplier's product quietly becomes the architecture. Spot both early, and you protect the country from paying many times for one thing.</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FOUR LAYERS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Business — what the body does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Data — what it holds, who owns it</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Application — what supports the work</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Technology — what it all runs on</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6 shared entities · 10 principles to adopt · 2 traps to catch at Assess</a:t>
            </a:r>
          </a:p>
        </p:txBody>
      </p:sp>
    </p:spTree>
    <p:extLst>
      <p:ext uri="{BB962C8B-B14F-4D97-AF65-F5344CB8AC3E}">
        <p14:creationId xmlns:p14="http://schemas.microsoft.com/office/powerpoint/2010/main" val="1196800265"/>
      </p:ext>
    </p:extLst>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two traps to catch at Assess — bespoke and vendor-driven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Two traps recur in every assessment: the bespoke trap, where each project builds its own version of a shared function, and the vendor-driven trap, where a supplier's product quietly becomes the architecture. Learn to spot both at Assess, and you protect the country from paying many times for one 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Trap one — building your own is rational for a project and ruinous for a country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new project needs to identify citizens. Reusing the national platform means learning it, negotiating with the body that owns it, and accepting their timelines. Building its own small identity function is faster — for this project. So it builds its own.</a:t>
            </a:r>
          </a:p>
          <a:p>
            <a:pPr>
              <a:spcAft>
                <a:spcPts val="1200"/>
              </a:spcAft>
            </a:pPr>
            <a:r>
              <a:rPr sz="2000" b="0" i="0">
                <a:solidFill>
                  <a:srgbClr val="1A1A1A"/>
                </a:solidFill>
                <a:latin typeface="Arial"/>
              </a:rPr>
              <a:t>This is not laziness. Inside the project, building is the rational choice, every time. Multiply it across ten projects and the country has ten identity functions, ten learner lists, ten payment integrations.</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country has paid ten times for what it should have built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Procurement rules cannot catch it — that is why this is architecture work</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a rule can do</a:t>
            </a:r>
          </a:p>
          <a:p>
            <a:pPr>
              <a:spcAft>
                <a:spcPts val="700"/>
              </a:spcAft>
            </a:pPr>
            <a:r>
              <a:rPr sz="1600" b="0" i="0">
                <a:solidFill>
                  <a:srgbClr val="1A1A1A"/>
                </a:solidFill>
                <a:latin typeface="Arial"/>
              </a:rPr>
              <a:t>Require open standards.</a:t>
            </a:r>
          </a:p>
          <a:p>
            <a:pPr>
              <a:spcAft>
                <a:spcPts val="700"/>
              </a:spcAft>
            </a:pPr>
            <a:r>
              <a:rPr sz="1600" b="0" i="0">
                <a:solidFill>
                  <a:srgbClr val="1A1A1A"/>
                </a:solidFill>
                <a:latin typeface="Arial"/>
              </a:rPr>
              <a:t>Set the intention.</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only architecture can do</a:t>
            </a:r>
          </a:p>
          <a:p>
            <a:pPr>
              <a:spcAft>
                <a:spcPts val="700"/>
              </a:spcAft>
            </a:pPr>
            <a:r>
              <a:rPr sz="1600" b="0" i="0">
                <a:solidFill>
                  <a:srgbClr val="1A1A1A"/>
                </a:solidFill>
                <a:latin typeface="Arial"/>
              </a:rPr>
              <a:t>Show the whole-of-government view where the reuse math exists.</a:t>
            </a:r>
          </a:p>
          <a:p>
            <a:pPr>
              <a:spcAft>
                <a:spcPts val="700"/>
              </a:spcAft>
            </a:pPr>
            <a:r>
              <a:rPr sz="1600" b="0" i="0">
                <a:solidFill>
                  <a:srgbClr val="1A1A1A"/>
                </a:solidFill>
                <a:latin typeface="Arial"/>
              </a:rPr>
              <a:t>Give a Board the authority to say: not this one, reuse the shared platform.</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rule cannot make reusing another body’s platform cheaper or faster than building fresh — so the project, optimising for its deadline, still builds.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Trap two — a product becomes the architecture one step at a time</a:t>
            </a:r>
          </a:p>
        </p:txBody>
      </p:sp>
      <p:sp>
        <p:nvSpPr>
          <p:cNvPr id="4" name="Oval 3"/>
          <p:cNvSpPr/>
          <p:nvPr/>
        </p:nvSpPr>
        <p:spPr>
          <a:xfrm>
            <a:off x="658368" y="15819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52144" y="1508760"/>
            <a:ext cx="10241280" cy="758952"/>
          </a:xfrm>
          <a:prstGeom prst="rect">
            <a:avLst/>
          </a:prstGeom>
          <a:noFill/>
        </p:spPr>
        <p:txBody>
          <a:bodyPr wrap="square">
            <a:spAutoFit/>
          </a:bodyPr>
          <a:lstStyle/>
          <a:p>
            <a:r>
              <a:rPr sz="1800" b="0" i="0">
                <a:solidFill>
                  <a:srgbClr val="1A1A1A"/>
                </a:solidFill>
                <a:latin typeface="Arial"/>
              </a:rPr>
              <a:t>A ministry buys a product to solve one problem. The product works.</a:t>
            </a:r>
          </a:p>
        </p:txBody>
      </p:sp>
      <p:sp>
        <p:nvSpPr>
          <p:cNvPr id="6" name="Rectangle 5"/>
          <p:cNvSpPr/>
          <p:nvPr/>
        </p:nvSpPr>
        <p:spPr>
          <a:xfrm>
            <a:off x="658368" y="23042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24780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52144" y="2404872"/>
            <a:ext cx="10241280" cy="758952"/>
          </a:xfrm>
          <a:prstGeom prst="rect">
            <a:avLst/>
          </a:prstGeom>
          <a:noFill/>
        </p:spPr>
        <p:txBody>
          <a:bodyPr wrap="square">
            <a:spAutoFit/>
          </a:bodyPr>
          <a:lstStyle/>
          <a:p>
            <a:r>
              <a:rPr sz="1800" b="0" i="0">
                <a:solidFill>
                  <a:srgbClr val="1A1A1A"/>
                </a:solidFill>
                <a:latin typeface="Arial"/>
              </a:rPr>
              <a:t>Slowly, more processes are bent to fit it.</a:t>
            </a:r>
          </a:p>
        </p:txBody>
      </p:sp>
      <p:sp>
        <p:nvSpPr>
          <p:cNvPr id="9" name="Rectangle 8"/>
          <p:cNvSpPr/>
          <p:nvPr/>
        </p:nvSpPr>
        <p:spPr>
          <a:xfrm>
            <a:off x="658368" y="32004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33741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52144" y="3300984"/>
            <a:ext cx="10241280" cy="758952"/>
          </a:xfrm>
          <a:prstGeom prst="rect">
            <a:avLst/>
          </a:prstGeom>
          <a:noFill/>
        </p:spPr>
        <p:txBody>
          <a:bodyPr wrap="square">
            <a:spAutoFit/>
          </a:bodyPr>
          <a:lstStyle/>
          <a:p>
            <a:r>
              <a:rPr sz="1800" b="0" i="0">
                <a:solidFill>
                  <a:srgbClr val="1A1A1A"/>
                </a:solidFill>
                <a:latin typeface="Arial"/>
              </a:rPr>
              <a:t>Data is stored the way the product wants.</a:t>
            </a:r>
          </a:p>
        </p:txBody>
      </p:sp>
      <p:sp>
        <p:nvSpPr>
          <p:cNvPr id="12" name="Rectangle 11"/>
          <p:cNvSpPr/>
          <p:nvPr/>
        </p:nvSpPr>
        <p:spPr>
          <a:xfrm>
            <a:off x="658368" y="40965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2702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52144" y="4197096"/>
            <a:ext cx="10241280" cy="758952"/>
          </a:xfrm>
          <a:prstGeom prst="rect">
            <a:avLst/>
          </a:prstGeom>
          <a:noFill/>
        </p:spPr>
        <p:txBody>
          <a:bodyPr wrap="square">
            <a:spAutoFit/>
          </a:bodyPr>
          <a:lstStyle/>
          <a:p>
            <a:r>
              <a:rPr sz="1800" b="0" i="0">
                <a:solidFill>
                  <a:srgbClr val="1A1A1A"/>
                </a:solidFill>
                <a:latin typeface="Arial"/>
              </a:rPr>
              <a:t>Other systems integrate to the product, not to a standard.</a:t>
            </a:r>
          </a:p>
        </p:txBody>
      </p:sp>
      <p:sp>
        <p:nvSpPr>
          <p:cNvPr id="15" name="Rounded Rectangle 14"/>
          <p:cNvSpPr/>
          <p:nvPr/>
        </p:nvSpPr>
        <p:spPr>
          <a:xfrm>
            <a:off x="658368" y="5166360"/>
            <a:ext cx="10881360" cy="11887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340096"/>
            <a:ext cx="10479024" cy="914400"/>
          </a:xfrm>
          <a:prstGeom prst="rect">
            <a:avLst/>
          </a:prstGeom>
          <a:noFill/>
        </p:spPr>
        <p:txBody>
          <a:bodyPr wrap="square">
            <a:spAutoFit/>
          </a:bodyPr>
          <a:lstStyle/>
          <a:p>
            <a:pPr>
              <a:spcAft>
                <a:spcPts val="700"/>
              </a:spcAft>
            </a:pPr>
            <a:r>
              <a:rPr sz="2100" b="1" i="0">
                <a:solidFill>
                  <a:srgbClr val="FFFFFF"/>
                </a:solidFill>
                <a:latin typeface="Arial"/>
              </a:rPr>
              <a:t>Five years on, the product is the architecture — and only the vendor understands it.</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catch both — asked at Assess, while both are still cheap to change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800" b="1" i="0">
                <a:solidFill>
                  <a:srgbClr val="1A1A1A"/>
                </a:solidFill>
                <a:latin typeface="Arial"/>
              </a:rPr>
              <a:t>Does a shared building block already exist for this?</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800" b="1" i="0">
                <a:solidFill>
                  <a:srgbClr val="1A1A1A"/>
                </a:solidFill>
                <a:latin typeface="Arial"/>
              </a:rPr>
              <a:t>Is the data stored to an open standard, or to one vendor's format?</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800" b="1" i="0">
                <a:solidFill>
                  <a:srgbClr val="1A1A1A"/>
                </a:solidFill>
                <a:latin typeface="Arial"/>
              </a:rPr>
              <a:t>If this supplier doubled their price, could we replace them within two years — and if not, why not?</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800" b="1" i="0">
                <a:solidFill>
                  <a:srgbClr val="1A1A1A"/>
                </a:solidFill>
                <a:latin typeface="Arial"/>
              </a:rPr>
              <a:t>Is the sourcing choice deliberate — build, buy, share, sandbox — or the path of least resistance?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Build-your-own is rational for a project and ruinous for a country; a vendor's product should fit your architecture, not become it — and Assess is where you catch both.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§5.6 (Sourcing Strategy — build / buy / share / sandbox)</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