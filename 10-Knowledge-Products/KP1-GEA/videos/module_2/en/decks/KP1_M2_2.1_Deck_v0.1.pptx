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describes a government in four layers. Business, Data, Application, Technology. As the architect, you do not just name them — you work inside them every day. So for each layer you need three things: the question it answers, the deliverable you produce, and the mistake that catches first-time architects.</a:t>
            </a:r>
          </a:p>
          <a:p/>
          <a:p>
            <a:r>
              <a:t>RETRIEVAL MOMENT: before the Business slide, ask the viewer to name the mistake they think catches first-time architects on each layer. The four answers are delivered on the next four slides, one per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Business layer. The question it answers: what does this body do, for whom, and how well? Not how it is organised inside — what it actually does. The deliverable is a capability map and a service catalogue. A capability is something the body can do — register a learner, run an examination, certify a teacher. A service is how a citizen or another body receives that capability. The mistake first-time architects make is to copy the organisation chart and call it the Business layer. The org chart tells you who reports to whom. It does not tell you what the body does. Two bodies with the same chart can do completely different work. Describe the capabilities, not the boxes.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Data layer. The question: what information does the body hold, who owns each kind, and where does the authoritative copy live? The deliverable is a data-domain catalogue. A data domain is a kind of information the government agrees on — a person, a learner, a school, a payment. For each domain you name the one body that owns it and holds the authoritative copy. Data is the longest-lived layer in any government. Applications come and go. Technology cycles every decade. The data outlasts them all. The mistake first-time architects make is to list the databases they can see, one per system. But five systems may each hold their own version of the same learner. The Data layer is not a list of databases. It is the agreed set of domains, each with one owner, sitting above all the databases.</a:t>
            </a:r>
          </a:p>
          <a:p/>
          <a:p>
            <a:r>
              <a:t>Hold the one-owner-per-domain line a beat longer — it is the payload of this slide and the thing 2.5 makes concrete.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Application layer. The question: what software supports the work, and which capability does each application serve? The deliverable is an application portfolio — every system, mapped to the capability it supports and the data domain it touches. The mistake here is producing a software inventory that lists names and versions but never connects them to what the body does. An inventory tells you that a system exists. A portfolio tells you why it exists, what would break if it failed, and whether two systems are quietly doing the same job. The link up to the Business layer and across to the Data layer is the whole value. Without it, you have an IT asset list, not an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Technology layer. The question: what does all of this run on? Networks, hosting, the identity platform, the security controls, the data-exchange backbone. The deliverable is a short list of technology standards and a simple infrastructure picture — not a server-by-server audit. The mistake here is the opposite of the others. First-time architects go too deep, too early. They document every server and switch before they understand a single capability. At the architecture level, the Technology layer answers a few questions: what are we standardising on, where are the single points of failure, and what must be running for anything else to work. The detailed audit belongs to the operations team, not the architect.</a:t>
            </a:r>
          </a:p>
          <a:p/>
          <a:p>
            <a:r>
              <a:t>The contrast with the other three mistakes is the memorable beat — name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 layers are not four separate documents. They connect. Every service traces to a capability in the Business layer. Every capability is served by one or more applications. Every application uses one or more data domains. Every data domain and application runs on the technology layer. When you can trace a citizen-facing service all the way down to the infrastructure it depends on, you are reading the government as a system — which is the whole job. When a layer floats free, with no connection up or down, that is the first gap you have found.</a:t>
            </a:r>
          </a:p>
          <a:p/>
          <a:p>
            <a:r>
              <a:t>Centrepiece of 2.1 — reveal one band at a time, top to bottom, then hold the closing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2.1. Content slides are identical to the corresponding section of the combined deck KP1_M2_Deck_v0.1.pptx;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2.1 — Read any government in four layers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2 · Video 2.1</a:t>
            </a:r>
          </a:p>
          <a:p>
            <a:r>
              <a:rPr sz="1200" b="0" i="1">
                <a:solidFill>
                  <a:srgbClr val="595959"/>
                </a:solidFill>
                <a:latin typeface="Arial"/>
              </a:rPr>
              <a:t>Every government, in any sector, can be read in four layers — Business, Data, Application, Technology. Learn the question each layer answers, the deliverable it produces, and the mistake first-time architects make, and you can decompose any ministry put in front of you.</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FOUR LAYERS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Business — what the body does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Data — what it holds, who owns it</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what supports the work</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Technology — what it all runs on</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6 shared entities · 10 principles to adopt · 2 traps to catch at Assess</a:t>
            </a:r>
          </a:p>
        </p:txBody>
      </p:sp>
    </p:spTree>
    <p:extLst>
      <p:ext uri="{BB962C8B-B14F-4D97-AF65-F5344CB8AC3E}">
        <p14:creationId xmlns:p14="http://schemas.microsoft.com/office/powerpoint/2010/main" val="11968002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 any government in four layers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government, in any sector, can be read in four layers — Business, Data, Application, Technology. Learn the question each layer answers, the deliverable it produces, and the mistake first-time architects make, and you can decompose any ministry put in front of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Business layer describes what a body does — not how it is arranged</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this body do, for whom, and how well?</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capability map and a service catalogue.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Copying the org chart instead of describing capabilities.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Data layer outlasts every application above it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information does the body hold, who owns it, where is the authoritative copy?</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data-domain catalogue with one owner per domain.</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Listing databases instead of data domains.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application portfolio tells you why a system exists; an inventory does not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software supports the work, and which capability does each one serve?</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An application portfolio mapped to capabilities and data domains.</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A software inventory with no link to the business.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 the Technology layer, the mistake runs the other way — too deep, too early</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everything run on?</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short list of technology standards and a simple infrastructure picture.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Going too deep, too early.</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connect downward — a layer that floats free is your first gap</a:t>
            </a:r>
          </a:p>
        </p:txBody>
      </p:sp>
      <p:sp>
        <p:nvSpPr>
          <p:cNvPr id="4" name="Rounded Rectangle 3"/>
          <p:cNvSpPr/>
          <p:nvPr/>
        </p:nvSpPr>
        <p:spPr>
          <a:xfrm>
            <a:off x="1371600" y="1481328"/>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72768" y="1572768"/>
            <a:ext cx="2286000" cy="475488"/>
          </a:xfrm>
          <a:prstGeom prst="rect">
            <a:avLst/>
          </a:prstGeom>
          <a:noFill/>
        </p:spPr>
        <p:txBody>
          <a:bodyPr wrap="square" anchor="ctr">
            <a:spAutoFit/>
          </a:bodyPr>
          <a:lstStyle/>
          <a:p>
            <a:r>
              <a:rPr sz="1300" b="1" i="0">
                <a:solidFill>
                  <a:srgbClr val="006E96"/>
                </a:solidFill>
                <a:latin typeface="Arial"/>
              </a:rPr>
              <a:t>SERVICE</a:t>
            </a:r>
          </a:p>
        </p:txBody>
      </p:sp>
      <p:sp>
        <p:nvSpPr>
          <p:cNvPr id="6" name="TextBox 5"/>
          <p:cNvSpPr txBox="1"/>
          <p:nvPr/>
        </p:nvSpPr>
        <p:spPr>
          <a:xfrm>
            <a:off x="3858768" y="1572768"/>
            <a:ext cx="6858000" cy="475488"/>
          </a:xfrm>
          <a:prstGeom prst="rect">
            <a:avLst/>
          </a:prstGeom>
          <a:noFill/>
        </p:spPr>
        <p:txBody>
          <a:bodyPr wrap="square" anchor="ctr">
            <a:spAutoFit/>
          </a:bodyPr>
          <a:lstStyle/>
          <a:p>
            <a:r>
              <a:rPr sz="1500" b="0" i="0">
                <a:solidFill>
                  <a:srgbClr val="1A1A1A"/>
                </a:solidFill>
                <a:latin typeface="Arial"/>
              </a:rPr>
              <a:t>What a citizen or another body receives</a:t>
            </a:r>
          </a:p>
        </p:txBody>
      </p:sp>
      <p:sp>
        <p:nvSpPr>
          <p:cNvPr id="7" name="Diamond 6"/>
          <p:cNvSpPr/>
          <p:nvPr/>
        </p:nvSpPr>
        <p:spPr>
          <a:xfrm>
            <a:off x="6035040" y="2189988"/>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2359152"/>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2450592"/>
            <a:ext cx="2286000" cy="475488"/>
          </a:xfrm>
          <a:prstGeom prst="rect">
            <a:avLst/>
          </a:prstGeom>
          <a:noFill/>
        </p:spPr>
        <p:txBody>
          <a:bodyPr wrap="square" anchor="ctr">
            <a:spAutoFit/>
          </a:bodyPr>
          <a:lstStyle/>
          <a:p>
            <a:r>
              <a:rPr sz="1300" b="1" i="0">
                <a:solidFill>
                  <a:srgbClr val="006E96"/>
                </a:solidFill>
                <a:latin typeface="Arial"/>
              </a:rPr>
              <a:t>CAPABILITY</a:t>
            </a:r>
          </a:p>
        </p:txBody>
      </p:sp>
      <p:sp>
        <p:nvSpPr>
          <p:cNvPr id="10" name="TextBox 9"/>
          <p:cNvSpPr txBox="1"/>
          <p:nvPr/>
        </p:nvSpPr>
        <p:spPr>
          <a:xfrm>
            <a:off x="3858768" y="2450592"/>
            <a:ext cx="6858000" cy="475488"/>
          </a:xfrm>
          <a:prstGeom prst="rect">
            <a:avLst/>
          </a:prstGeom>
          <a:noFill/>
        </p:spPr>
        <p:txBody>
          <a:bodyPr wrap="square" anchor="ctr">
            <a:spAutoFit/>
          </a:bodyPr>
          <a:lstStyle/>
          <a:p>
            <a:r>
              <a:rPr sz="1500" b="0" i="0">
                <a:solidFill>
                  <a:srgbClr val="1A1A1A"/>
                </a:solidFill>
                <a:latin typeface="Arial"/>
              </a:rPr>
              <a:t>Business — what the body can do</a:t>
            </a:r>
          </a:p>
        </p:txBody>
      </p:sp>
      <p:sp>
        <p:nvSpPr>
          <p:cNvPr id="11" name="Diamond 10"/>
          <p:cNvSpPr/>
          <p:nvPr/>
        </p:nvSpPr>
        <p:spPr>
          <a:xfrm>
            <a:off x="6035040" y="3067812"/>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3236976"/>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72768" y="3328416"/>
            <a:ext cx="2286000" cy="475488"/>
          </a:xfrm>
          <a:prstGeom prst="rect">
            <a:avLst/>
          </a:prstGeom>
          <a:noFill/>
        </p:spPr>
        <p:txBody>
          <a:bodyPr wrap="square" anchor="ctr">
            <a:spAutoFit/>
          </a:bodyPr>
          <a:lstStyle/>
          <a:p>
            <a:r>
              <a:rPr sz="1300" b="1" i="0">
                <a:solidFill>
                  <a:srgbClr val="006E96"/>
                </a:solidFill>
                <a:latin typeface="Arial"/>
              </a:rPr>
              <a:t>APPLICATION</a:t>
            </a:r>
          </a:p>
        </p:txBody>
      </p:sp>
      <p:sp>
        <p:nvSpPr>
          <p:cNvPr id="14" name="TextBox 13"/>
          <p:cNvSpPr txBox="1"/>
          <p:nvPr/>
        </p:nvSpPr>
        <p:spPr>
          <a:xfrm>
            <a:off x="3858768" y="3328416"/>
            <a:ext cx="6858000" cy="475488"/>
          </a:xfrm>
          <a:prstGeom prst="rect">
            <a:avLst/>
          </a:prstGeom>
          <a:noFill/>
        </p:spPr>
        <p:txBody>
          <a:bodyPr wrap="square" anchor="ctr">
            <a:spAutoFit/>
          </a:bodyPr>
          <a:lstStyle/>
          <a:p>
            <a:r>
              <a:rPr sz="1500" b="0" i="0">
                <a:solidFill>
                  <a:srgbClr val="1A1A1A"/>
                </a:solidFill>
                <a:latin typeface="Arial"/>
              </a:rPr>
              <a:t>The software that supports the capability</a:t>
            </a:r>
          </a:p>
        </p:txBody>
      </p:sp>
      <p:sp>
        <p:nvSpPr>
          <p:cNvPr id="15" name="Diamond 14"/>
          <p:cNvSpPr/>
          <p:nvPr/>
        </p:nvSpPr>
        <p:spPr>
          <a:xfrm>
            <a:off x="6035040" y="3945635"/>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71600" y="4114800"/>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206240"/>
            <a:ext cx="2286000" cy="475488"/>
          </a:xfrm>
          <a:prstGeom prst="rect">
            <a:avLst/>
          </a:prstGeom>
          <a:noFill/>
        </p:spPr>
        <p:txBody>
          <a:bodyPr wrap="square" anchor="ctr">
            <a:spAutoFit/>
          </a:bodyPr>
          <a:lstStyle/>
          <a:p>
            <a:r>
              <a:rPr sz="1300" b="1" i="0">
                <a:solidFill>
                  <a:srgbClr val="006E96"/>
                </a:solidFill>
                <a:latin typeface="Arial"/>
              </a:rPr>
              <a:t>DATA DOMAIN</a:t>
            </a:r>
          </a:p>
        </p:txBody>
      </p:sp>
      <p:sp>
        <p:nvSpPr>
          <p:cNvPr id="18" name="TextBox 17"/>
          <p:cNvSpPr txBox="1"/>
          <p:nvPr/>
        </p:nvSpPr>
        <p:spPr>
          <a:xfrm>
            <a:off x="3858768" y="4206240"/>
            <a:ext cx="6858000" cy="475488"/>
          </a:xfrm>
          <a:prstGeom prst="rect">
            <a:avLst/>
          </a:prstGeom>
          <a:noFill/>
        </p:spPr>
        <p:txBody>
          <a:bodyPr wrap="square" anchor="ctr">
            <a:spAutoFit/>
          </a:bodyPr>
          <a:lstStyle/>
          <a:p>
            <a:r>
              <a:rPr sz="1500" b="0" i="0">
                <a:solidFill>
                  <a:srgbClr val="1A1A1A"/>
                </a:solidFill>
                <a:latin typeface="Arial"/>
              </a:rPr>
              <a:t>The information it uses, one owner each</a:t>
            </a:r>
          </a:p>
        </p:txBody>
      </p:sp>
      <p:sp>
        <p:nvSpPr>
          <p:cNvPr id="19" name="Diamond 18"/>
          <p:cNvSpPr/>
          <p:nvPr/>
        </p:nvSpPr>
        <p:spPr>
          <a:xfrm>
            <a:off x="6035040" y="4823459"/>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1600" y="4992624"/>
            <a:ext cx="9509760" cy="658368"/>
          </a:xfrm>
          <a:prstGeom prst="roundRect">
            <a:avLst>
              <a:gd name="adj" fmla="val 45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2768" y="5084064"/>
            <a:ext cx="2286000" cy="475488"/>
          </a:xfrm>
          <a:prstGeom prst="rect">
            <a:avLst/>
          </a:prstGeom>
          <a:noFill/>
        </p:spPr>
        <p:txBody>
          <a:bodyPr wrap="square" anchor="ctr">
            <a:spAutoFit/>
          </a:bodyPr>
          <a:lstStyle/>
          <a:p>
            <a:r>
              <a:rPr sz="1300" b="1" i="0">
                <a:solidFill>
                  <a:srgbClr val="FFFFFF"/>
                </a:solidFill>
                <a:latin typeface="Arial"/>
              </a:rPr>
              <a:t>TECHNOLOGY</a:t>
            </a:r>
          </a:p>
        </p:txBody>
      </p:sp>
      <p:sp>
        <p:nvSpPr>
          <p:cNvPr id="22" name="TextBox 21"/>
          <p:cNvSpPr txBox="1"/>
          <p:nvPr/>
        </p:nvSpPr>
        <p:spPr>
          <a:xfrm>
            <a:off x="3858768" y="5084064"/>
            <a:ext cx="6858000" cy="475488"/>
          </a:xfrm>
          <a:prstGeom prst="rect">
            <a:avLst/>
          </a:prstGeom>
          <a:noFill/>
        </p:spPr>
        <p:txBody>
          <a:bodyPr wrap="square" anchor="ctr">
            <a:spAutoFit/>
          </a:bodyPr>
          <a:lstStyle/>
          <a:p>
            <a:r>
              <a:rPr sz="1500" b="0" i="0">
                <a:solidFill>
                  <a:srgbClr val="FFFFFF"/>
                </a:solidFill>
                <a:latin typeface="Arial"/>
              </a:rPr>
              <a:t>What all of it runs on</a:t>
            </a:r>
          </a:p>
        </p:txBody>
      </p:sp>
      <p:sp>
        <p:nvSpPr>
          <p:cNvPr id="23" name="TextBox 22"/>
          <p:cNvSpPr txBox="1"/>
          <p:nvPr/>
        </p:nvSpPr>
        <p:spPr>
          <a:xfrm>
            <a:off x="658368" y="5870448"/>
            <a:ext cx="10881360" cy="457200"/>
          </a:xfrm>
          <a:prstGeom prst="rect">
            <a:avLst/>
          </a:prstGeom>
          <a:noFill/>
        </p:spPr>
        <p:txBody>
          <a:bodyPr wrap="square">
            <a:spAutoFit/>
          </a:bodyPr>
          <a:lstStyle/>
          <a:p>
            <a:r>
              <a:rPr sz="1500" b="1" i="0">
                <a:solidFill>
                  <a:srgbClr val="006E96"/>
                </a:solidFill>
                <a:latin typeface="Arial"/>
              </a:rPr>
              <a:t>Every element connects up and down. A layer that floats free is your first gap.</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