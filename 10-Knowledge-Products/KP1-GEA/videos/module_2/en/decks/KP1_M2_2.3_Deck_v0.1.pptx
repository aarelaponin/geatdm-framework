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681" r:id="rId8"/>
    <p:sldId id="2711" r:id="rId33"/>
    <p:sldId id="2712" r:id="rId34"/>
    <p:sldId id="2713" r:id="rId35"/>
    <p:sldId id="2714" r:id="rId36"/>
    <p:sldId id="2715" r:id="rId37"/>
    <p:sldId id="2716" r:id="rId38"/>
    <p:sldId id="271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discipline makes principles useful instead of decorative. For each one, write three things: the statement, the reason, and the implication — what the principle forces you to do, or to refuse. Take 'reuse before build'. Statement: we consume an existing building block before we build a new one. Reason: the country pays once instead of many times. Implication: any project proposing to build its own identity or payment function must first show why the shared one cannot be used — and the EA Board can say no. A principle with a written implication can settle an argument. A principle without one cannot.</a:t>
            </a:r>
          </a:p>
          <a:p/>
          <a:p>
            <a:r>
              <a:t>The implication band is the operative beat of 2.3 — the only full-colour block in the video. Hold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Adopting them is three steps, not a three-month workshop. Step one: take the ten as your baseline. Step two: tailor the wording to your country — point each principle at your own laws, your data-protection act, your procurement rules, so it has teeth in your context. Step three: add at most a few principles your country genuinely needs that PAERA does not cover, and add them deliberately, with a reason written down. That is the whole job. You inherit the thinking; you localise the wording. You do not start from a blank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VO, slide 1: Every architecture team faces the same temptation early on. Someone says: let us write our country's architectural principles. A workshop is booked. Three months later there are forty draft principles, half of them contradicting each other, and no agreement. Meanwhile, no ministry has been modelled. There is a faster way. The principles already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First, be clear what a principle is for. An architectural principle is a short rule that settles a design argument before it starts. 'Reuse before you buy; buy before you build.' 'Data has one owner.' 'The citizen is asked for information only once.' A good principle is a decision you make once, so your team does not re-argue it on every project. Principles are working tools, not wall decorations. If a principle never changes a decision, it is not a principle — it is a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PAERA publishes ten architectural principles in section 5.2. They cover the ground every public-sector architecture needs. Rule of law, so every system has a legal basis. Intrinsic security and privacy, built in, not added later. Openness and transparency. Interoperability by default. Once-only — the state asks a citizen for the same information only once. User-centred and inclusive design. Reuse and sharing before building new. Data as a managed asset, with one source of truth. Technology neutrality, to avoid lock-in. And sustainability, so what you build can be maintained. Ten principles, already debated across many countries, ready to adopt.</a:t>
            </a:r>
          </a:p>
          <a:p/>
          <a:p>
            <a:r>
              <a:t>Reveal cumulatively, one row at a time, in the order spoken. This is the reference payload of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for standalone video 2.3. Content slides are identical to the corresponding section of the combined deck KP1_M2_Deck_v0.1.pptx; voice-over is in each slide’s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 do not spend your first year writing principles. Adopt PAERA's ten, point each one at your country's laws, give each a written implication so it can settle a real argument, and add your own only where there is a genuine gap. Principles are decisions you make once so your team does not re-argue them on every project. PAERA already made the first ten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AD66F2-F7C0-4D03-9150-D28F17AC561D}"/>
              </a:ext>
            </a:extLst>
          </p:cNvPr>
          <p:cNvCxnSpPr>
            <a:cxnSpLocks/>
          </p:cNvCxnSpPr>
          <p:nvPr/>
        </p:nvCxnSpPr>
        <p:spPr>
          <a:xfrm>
            <a:off x="373021" y="2198718"/>
            <a:ext cx="6843567" cy="0"/>
          </a:xfrm>
          <a:prstGeom prst="line">
            <a:avLst/>
          </a:prstGeom>
          <a:ln w="12700">
            <a:solidFill>
              <a:srgbClr val="009C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9">
            <a:extLst>
              <a:ext uri="{FF2B5EF4-FFF2-40B4-BE49-F238E27FC236}">
                <a16:creationId xmlns:a16="http://schemas.microsoft.com/office/drawing/2014/main" id="{EEB08032-CE0E-4986-AEDF-A41026C0E8B9}"/>
              </a:ext>
            </a:extLst>
          </p:cNvPr>
          <p:cNvSpPr txBox="1">
            <a:spLocks/>
          </p:cNvSpPr>
          <p:nvPr/>
        </p:nvSpPr>
        <p:spPr>
          <a:xfrm>
            <a:off x="237734" y="702833"/>
            <a:ext cx="6432007" cy="1218817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sz="2800" b="1" i="0">
                <a:solidFill>
                  <a:srgbClr val="1A1A1A"/>
                </a:solidFill>
                <a:latin typeface="Arial"/>
              </a:rPr>
              <a:t>2.3 — Adopt your principles, don't draft them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066351-C569-4C4C-A096-308777FCD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9" b="14729"/>
          <a:stretch>
            <a:fillRect/>
          </a:stretch>
        </p:blipFill>
        <p:spPr>
          <a:xfrm>
            <a:off x="0" y="5620871"/>
            <a:ext cx="1323975" cy="1218816"/>
          </a:xfrm>
          <a:prstGeom prst="rect">
            <a:avLst/>
          </a:prstGeom>
        </p:spPr>
      </p:pic>
      <p:sp>
        <p:nvSpPr>
          <p:cNvPr id="14" name="Title 9">
            <a:extLst>
              <a:ext uri="{FF2B5EF4-FFF2-40B4-BE49-F238E27FC236}">
                <a16:creationId xmlns:a16="http://schemas.microsoft.com/office/drawing/2014/main" id="{B5087B80-3EE4-1881-0130-ED58CA625092}"/>
              </a:ext>
            </a:extLst>
          </p:cNvPr>
          <p:cNvSpPr txBox="1">
            <a:spLocks/>
          </p:cNvSpPr>
          <p:nvPr/>
        </p:nvSpPr>
        <p:spPr>
          <a:xfrm>
            <a:off x="284452" y="2475786"/>
            <a:ext cx="6382893" cy="95321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06E96"/>
                </a:solidFill>
                <a:latin typeface="Arial"/>
              </a:rPr>
              <a:t>KP1 · Government Enterprise Architecture · Module 2 · Video 2.3</a:t>
            </a:r>
          </a:p>
          <a:p>
            <a:r>
              <a:rPr sz="1200" b="0" i="1">
                <a:solidFill>
                  <a:srgbClr val="595959"/>
                </a:solidFill>
                <a:latin typeface="Arial"/>
              </a:rPr>
              <a:t>PAERA publishes ten architectural principles, already debated across many countries. Your job is to adopt them, tailor the wording to your context, and use them to settle design arguments — not to spend your first year drafting principles from scratch.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5E8796F7-DD26-D250-5E97-B38B22298E72}"/>
              </a:ext>
            </a:extLst>
          </p:cNvPr>
          <p:cNvSpPr txBox="1">
            <a:spLocks/>
          </p:cNvSpPr>
          <p:nvPr/>
        </p:nvSpPr>
        <p:spPr>
          <a:xfrm>
            <a:off x="284452" y="4363897"/>
            <a:ext cx="6382893" cy="95321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rtl="0">
              <a:spcBef>
                <a:spcPts val="600"/>
              </a:spcBef>
              <a:spcAft>
                <a:spcPts val="12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Arial"/>
              </a:rPr>
              <a:t>Length: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~4 mins</a:t>
            </a:r>
          </a:p>
          <a:p>
            <a:r>
              <a:rPr sz="1400" b="1" i="0">
                <a:solidFill>
                  <a:srgbClr val="1A1A1A"/>
                </a:solidFill>
                <a:latin typeface="Arial"/>
              </a:rPr>
              <a:t>Target audience: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Chief architect · senior architect · sector ICT lead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2592" y="0"/>
            <a:ext cx="5169103" cy="6858000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57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5F5FB"/>
                </a:solidFill>
                <a:latin typeface="Arial"/>
              </a:rPr>
              <a:t>THE FOUR LAYERS THIS MODULE TEACHES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960120"/>
            <a:ext cx="38404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Business — what the body does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892808"/>
            <a:ext cx="38404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Data — what it holds, who owns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825496"/>
            <a:ext cx="38404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Application — what supports the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758184"/>
            <a:ext cx="3840480" cy="658368"/>
          </a:xfrm>
          <a:prstGeom prst="roundRect">
            <a:avLst>
              <a:gd name="adj" fmla="val 14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Technology — what it all runs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580644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Arial"/>
              </a:rPr>
              <a:t>6 shared entities · 10 principles to adopt · 2 traps to catch at Assess</a:t>
            </a:r>
          </a:p>
        </p:txBody>
      </p:sp>
    </p:spTree>
    <p:extLst>
      <p:ext uri="{BB962C8B-B14F-4D97-AF65-F5344CB8AC3E}">
        <p14:creationId xmlns:p14="http://schemas.microsoft.com/office/powerpoint/2010/main" val="119680026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KP1 · MODULE 2 · VIDEO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Adopt your principles, don't draft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PAERA publishes ten architectural principles, already debated across many countries. Your job is to adopt them, tailor the wording to your context, and use them to settle design arguments — not to spend your first year drafting principles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~4 minutes · standalone video · voice-over on text slides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 principle is a short rule that settles a design argument before it starts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3493008" cy="173736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92224"/>
            <a:ext cx="309067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Reuse before you buy; buy before you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645920"/>
            <a:ext cx="3493008" cy="173736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92224"/>
            <a:ext cx="309067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Data has one owner.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93008" cy="173736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92224"/>
            <a:ext cx="309067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Ask the citizen only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49039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A decision you make once, so your team does not re-argue it on every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892040"/>
            <a:ext cx="10881360" cy="100584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5038344"/>
            <a:ext cx="10479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If a principle never changes a decision, it is not a principle — it is a slogan.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PAERA gives you ten — already debated across many countries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536192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813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Rule of law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322576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246888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1401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Intrinsic security and privacy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55264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40156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34670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Openness and transparency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187952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334255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279392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Interoperability by 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120640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5266944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2120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Once-only</a:t>
            </a:r>
          </a:p>
        </p:txBody>
      </p:sp>
      <p:sp>
        <p:nvSpPr>
          <p:cNvPr id="18" name="Oval 17"/>
          <p:cNvSpPr/>
          <p:nvPr/>
        </p:nvSpPr>
        <p:spPr>
          <a:xfrm>
            <a:off x="6281928" y="1536192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14813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User-centred and inclusive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2322576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81928" y="246888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241401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Reuse and sharing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3255264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81928" y="340156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334670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Data as a managed asset — one source of truth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4187952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81928" y="4334255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279392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Technology neutrality — avoid lock-in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1928" y="5120640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81928" y="5266944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52120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Sustainability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Adopting them is three steps, not a three-month workshop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46304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17320"/>
            <a:ext cx="10527487" cy="1569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Adopt the ten as your baseline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You inherit the thinking instead of starting from a blank page.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9916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307847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032760"/>
            <a:ext cx="10527487" cy="1569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Tailor the wording to your country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Point each principle at your own laws, your data-protection act, your procurement rules, so it has teeth in your context.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6070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46939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648200"/>
            <a:ext cx="10527487" cy="1569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Add at most a few country-specific principles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Only where PAERA genuinely does not cover something — deliberately, with a reason written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Make a principle bite — statement, reason, implication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10881360" cy="123444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6E96"/>
                </a:solidFill>
                <a:latin typeface="Arial"/>
              </a:rPr>
              <a:t>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709928"/>
            <a:ext cx="8183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We consume an existing building block before we build a new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90088"/>
            <a:ext cx="10881360" cy="123444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6E96"/>
                </a:solidFill>
                <a:latin typeface="Arial"/>
              </a:rPr>
              <a:t>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099816"/>
            <a:ext cx="8183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The country pays once, not many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79976"/>
            <a:ext cx="10881360" cy="1463040"/>
          </a:xfrm>
          <a:prstGeom prst="roundRect">
            <a:avLst>
              <a:gd name="adj" fmla="val 45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171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IMPLICATION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489704"/>
            <a:ext cx="8183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Arial"/>
              </a:rPr>
              <a:t>Any project proposing to build its own identity must first show why the shared one cannot be used — and the EA Board can say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97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>
                <a:solidFill>
                  <a:srgbClr val="595959"/>
                </a:solidFill>
                <a:latin typeface="Arial"/>
              </a:rPr>
              <a:t>A principle with a written implication can settle an argument. A principle without one cannot.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Principles are decisions you make once so your team does not re-argue them on every project — and PAERA already made the first ten for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§5.2 (Principles)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§3.3 (Digital Infrastructure principles)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