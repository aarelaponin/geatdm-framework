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33" r:id="rId55"/>
    <p:sldId id="2734" r:id="rId56"/>
    <p:sldId id="2735" r:id="rId57"/>
    <p:sldId id="2736" r:id="rId58"/>
    <p:sldId id="2737" r:id="rId59"/>
    <p:sldId id="2738" r:id="rId60"/>
    <p:sldId id="2739" r:id="rId61"/>
    <p:sldId id="2740"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2.6. Content slides are identical to the corresponding section of the combined deck KP1_M2_Deck_v0.1.pptx;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The Assess phase produces the current-state picture and the gap analysis your country's roadmap is built on. The hard part is not writing a lot. It is writing a description good enough to make decisions from. So you need to know what a good current-state picture looks like — the quality tests, layer by layer — and the gaps you will almost always find. That is what lets you assess, instead of just document.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tests apply to every layer. First, complete enough to decide — not exhaustive. A description that covers the capabilities and systems that matter, with the rest noted, beats a five-hundred-page audit no one reads. Second, owned — every capability, every data domain, every application has a named owner. An element with no owner is a finding, not a detail. Third, traceable — every element connects up and down. A service that traces to no capability, an application that traces to no data, a capability no application supports: each broken link is a gap. If your current-state picture passes these three tests, it is good enough to assess against. If it fails them, more pages will not fix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Within that, each layer has its own test. The Business layer is good when it describes capabilities, not organisation boxes — when you could swap two ministers and the capability map would not change. The Data layer is good when every domain has exactly one owner and one authoritative copy named. The Application layer is good when every system maps to a capability and a data domain — no orphan systems. The Technology layer is good when it names the standards in use and the single points of failure — not when it lists every server. Hold each layer to its own test, and the quality of the whole picture takes care of itself.</a:t>
            </a:r>
          </a:p>
          <a:p/>
          <a:p>
            <a:r>
              <a:t>The 'swap two ministers' line is the memorable beat — land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 MOMENT: before revealing, ask the viewer to predict which gaps they would expect to find in their own sector. Hold two seconds. Then reveal the four, one at a time — the answer is delivered on this slide.</a:t>
            </a:r>
          </a:p>
          <a:p/>
          <a:p>
            <a:r>
              <a:t>VO: Now the gaps. Four of them show up in almost every first assessment, so look for them on purpose. One: duplicate registries — several bodies each keeping their own copy of the same domain, none agreeing. Two: orphan systems — applications that map to no current capability, often left over from a project that ended. Three: point-to-point spaghetti — every system connected to every other by its own custom link, with no shared data exchange. Four: no clear owner — a capability or a domain that everyone uses and no one owns, which is where accountability quietly disappears. You will find these. Naming them is most of the Assess.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list of gaps is not an assessment. The assessment is the priority order. For each gap, judge two things: how much it hurts — the cost to the country, the burden on the citizen, the risk to the minister's programme — and how hard it is to close. The gaps you put at the top are the ones that hurt the most where movement is actually possible. A maturity scorecard per layer helps — a simple rating of how far each layer is from where it needs to be. The output your EA Board signs off is not 'here is everything wrong'. It is 'here are the right problems, in the right order, with the reasons'.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Assess phase ends with a sign-off: the senior decision-maker confirms the gap analysis reflects ground truth. That sign-off has one quality test of its own — honesty. An assessment that flatters the current state, that softens the duplicate-registry problem because a powerful ministry owns one of the copies, fails — quietly, and expensively, a year later. Your job in Assess is to name the right problems in the right order, including the politically uncomfortable ones, in language the decision-maker can act on. Get that sign-off honestly, and the roadmap that follows stands on solid ground.</a:t>
            </a:r>
          </a:p>
          <a:p/>
          <a:p>
            <a:r>
              <a:t>The emotional peak of the module — the only full-colour block in 2.6.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a Phase 2 Assess is not about volume. It is a current-state picture that is owned, traceable and complete enough to decide from, plus a gap analysis that scores and orders the problems honestly. Hold each layer to its test, look for the four gaps on purpose, and rank by impact where movement is possible. Do that, and you can run the Assess — which is the work the whole roadmap depends 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2.6 — Run a Phase 2 Assess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2 · Video 2.6</a:t>
            </a:r>
          </a:p>
          <a:p>
            <a:r>
              <a:rPr sz="1200" b="0" i="1">
                <a:solidFill>
                  <a:srgbClr val="595959"/>
                </a:solidFill>
                <a:latin typeface="Arial"/>
              </a:rPr>
              <a:t>A good current-state picture is judged by a few quality tests per layer, not by its length. Learn the tests, learn the gaps you will always find, and you can run a Phase 2 Assess that names the right problems in the right order.</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FOUR LAYERS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Business — what the body does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Data — what it holds, who owns it</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Application — what supports the work</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Technology — what it all runs on</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6 shared entities · 10 principles to adopt · 2 traps to catch at Assess</a:t>
            </a:r>
          </a:p>
        </p:txBody>
      </p:sp>
    </p:spTree>
    <p:extLst>
      <p:ext uri="{BB962C8B-B14F-4D97-AF65-F5344CB8AC3E}">
        <p14:creationId xmlns:p14="http://schemas.microsoft.com/office/powerpoint/2010/main" val="1196800265"/>
      </p:ext>
    </p:extLst>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2 · VIDEO 2.6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Run a Phase 2 Assess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good current-state picture is judged by a few quality tests per layer, not by its length. Learn the tests, learn the gaps you will always find, and you can run a Phase 2 Assess that names the right problems in the right order.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tests apply to every layer</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432560"/>
          </a:xfrm>
          <a:prstGeom prst="rect">
            <a:avLst/>
          </a:prstGeom>
          <a:noFill/>
        </p:spPr>
        <p:txBody>
          <a:bodyPr wrap="square">
            <a:spAutoFit/>
          </a:bodyPr>
          <a:lstStyle/>
          <a:p>
            <a:pPr>
              <a:spcAft>
                <a:spcPts val="300"/>
              </a:spcAft>
            </a:pPr>
            <a:r>
              <a:rPr sz="1900" b="1" i="0">
                <a:solidFill>
                  <a:srgbClr val="1A1A1A"/>
                </a:solidFill>
                <a:latin typeface="Arial"/>
              </a:rPr>
              <a:t>Complete enough to decide — not exhaustive</a:t>
            </a:r>
          </a:p>
          <a:p>
            <a:pPr>
              <a:spcAft>
                <a:spcPts val="300"/>
              </a:spcAft>
            </a:pPr>
            <a:r>
              <a:rPr sz="1550" b="0" i="0">
                <a:solidFill>
                  <a:srgbClr val="595959"/>
                </a:solidFill>
                <a:latin typeface="Arial"/>
              </a:rPr>
              <a:t>A description covering the capabilities and systems that matter, with the rest noted, beats a five-hundred-page audit no one reads.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432560"/>
          </a:xfrm>
          <a:prstGeom prst="rect">
            <a:avLst/>
          </a:prstGeom>
          <a:noFill/>
        </p:spPr>
        <p:txBody>
          <a:bodyPr wrap="square">
            <a:spAutoFit/>
          </a:bodyPr>
          <a:lstStyle/>
          <a:p>
            <a:pPr>
              <a:spcAft>
                <a:spcPts val="300"/>
              </a:spcAft>
            </a:pPr>
            <a:r>
              <a:rPr sz="1900" b="1" i="0">
                <a:solidFill>
                  <a:srgbClr val="1A1A1A"/>
                </a:solidFill>
                <a:latin typeface="Arial"/>
              </a:rPr>
              <a:t>Owned — every element has a named owner</a:t>
            </a:r>
          </a:p>
          <a:p>
            <a:pPr>
              <a:spcAft>
                <a:spcPts val="300"/>
              </a:spcAft>
            </a:pPr>
            <a:r>
              <a:rPr sz="1550" b="0" i="0">
                <a:solidFill>
                  <a:srgbClr val="595959"/>
                </a:solidFill>
                <a:latin typeface="Arial"/>
              </a:rPr>
              <a:t>An element with no owner is a finding, not a detail.</a:t>
            </a:r>
          </a:p>
        </p:txBody>
      </p:sp>
      <p:sp>
        <p:nvSpPr>
          <p:cNvPr id="9" name="Rectangle 8"/>
          <p:cNvSpPr/>
          <p:nvPr/>
        </p:nvSpPr>
        <p:spPr>
          <a:xfrm>
            <a:off x="621792" y="4332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419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73880"/>
            <a:ext cx="10527487" cy="1432560"/>
          </a:xfrm>
          <a:prstGeom prst="rect">
            <a:avLst/>
          </a:prstGeom>
          <a:noFill/>
        </p:spPr>
        <p:txBody>
          <a:bodyPr wrap="square">
            <a:spAutoFit/>
          </a:bodyPr>
          <a:lstStyle/>
          <a:p>
            <a:pPr>
              <a:spcAft>
                <a:spcPts val="300"/>
              </a:spcAft>
            </a:pPr>
            <a:r>
              <a:rPr sz="1900" b="1" i="0">
                <a:solidFill>
                  <a:srgbClr val="1A1A1A"/>
                </a:solidFill>
                <a:latin typeface="Arial"/>
              </a:rPr>
              <a:t>Traceable — every element connects up and down</a:t>
            </a:r>
          </a:p>
          <a:p>
            <a:pPr>
              <a:spcAft>
                <a:spcPts val="300"/>
              </a:spcAft>
            </a:pPr>
            <a:r>
              <a:rPr sz="1550" b="0" i="0">
                <a:solidFill>
                  <a:srgbClr val="595959"/>
                </a:solidFill>
                <a:latin typeface="Arial"/>
              </a:rPr>
              <a:t>A service that traces to no capability, an application that traces to no data, a capability no application supports: each broken link is a gap.</a:t>
            </a:r>
          </a:p>
        </p:txBody>
      </p:sp>
      <p:sp>
        <p:nvSpPr>
          <p:cNvPr id="12" name="TextBox 11"/>
          <p:cNvSpPr txBox="1"/>
          <p:nvPr/>
        </p:nvSpPr>
        <p:spPr>
          <a:xfrm>
            <a:off x="658368" y="5943600"/>
            <a:ext cx="10881360" cy="365760"/>
          </a:xfrm>
          <a:prstGeom prst="rect">
            <a:avLst/>
          </a:prstGeom>
          <a:noFill/>
        </p:spPr>
        <p:txBody>
          <a:bodyPr wrap="square">
            <a:spAutoFit/>
          </a:bodyPr>
          <a:lstStyle/>
          <a:p>
            <a:r>
              <a:rPr sz="1450" b="0" i="0">
                <a:solidFill>
                  <a:srgbClr val="595959"/>
                </a:solidFill>
                <a:latin typeface="Arial"/>
              </a:rPr>
              <a:t>If your picture fails these three tests, more pages will not fix it.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Then hold each layer to its own test</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900" b="1" i="0">
                <a:solidFill>
                  <a:srgbClr val="1A1A1A"/>
                </a:solidFill>
                <a:latin typeface="Arial"/>
              </a:rPr>
              <a:t>Business — capabilities, not org boxes</a:t>
            </a:r>
          </a:p>
          <a:p>
            <a:pPr>
              <a:spcAft>
                <a:spcPts val="300"/>
              </a:spcAft>
            </a:pPr>
            <a:r>
              <a:rPr sz="1550" b="0" i="0">
                <a:solidFill>
                  <a:srgbClr val="595959"/>
                </a:solidFill>
                <a:latin typeface="Arial"/>
              </a:rPr>
              <a:t>Good when you could swap two ministers and the capability map would not change.</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900" b="1" i="0">
                <a:solidFill>
                  <a:srgbClr val="1A1A1A"/>
                </a:solidFill>
                <a:latin typeface="Arial"/>
              </a:rPr>
              <a:t>Data — one owner, one authoritative copy per domain</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900" b="1" i="0">
                <a:solidFill>
                  <a:srgbClr val="1A1A1A"/>
                </a:solidFill>
                <a:latin typeface="Arial"/>
              </a:rPr>
              <a:t>Application — every system maps to a capability and a data domain</a:t>
            </a:r>
          </a:p>
          <a:p>
            <a:pPr>
              <a:spcAft>
                <a:spcPts val="300"/>
              </a:spcAft>
            </a:pPr>
            <a:r>
              <a:rPr sz="1550" b="0" i="0">
                <a:solidFill>
                  <a:srgbClr val="595959"/>
                </a:solidFill>
                <a:latin typeface="Arial"/>
              </a:rPr>
              <a:t>No orphan systems.</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900" b="1" i="0">
                <a:solidFill>
                  <a:srgbClr val="1A1A1A"/>
                </a:solidFill>
                <a:latin typeface="Arial"/>
              </a:rPr>
              <a:t>Technology — standards in use and single points of failure named</a:t>
            </a:r>
          </a:p>
          <a:p>
            <a:pPr>
              <a:spcAft>
                <a:spcPts val="300"/>
              </a:spcAft>
            </a:pPr>
            <a:r>
              <a:rPr sz="1550" b="0" i="0">
                <a:solidFill>
                  <a:srgbClr val="595959"/>
                </a:solidFill>
                <a:latin typeface="Arial"/>
              </a:rPr>
              <a:t>Not a list of every server.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gaps show up in almost every first assessment — look for them on purpose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165860"/>
          </a:xfrm>
          <a:prstGeom prst="rect">
            <a:avLst/>
          </a:prstGeom>
          <a:noFill/>
        </p:spPr>
        <p:txBody>
          <a:bodyPr wrap="square">
            <a:spAutoFit/>
          </a:bodyPr>
          <a:lstStyle/>
          <a:p>
            <a:pPr>
              <a:spcAft>
                <a:spcPts val="300"/>
              </a:spcAft>
            </a:pPr>
            <a:r>
              <a:rPr sz="1900" b="1" i="0">
                <a:solidFill>
                  <a:srgbClr val="1A1A1A"/>
                </a:solidFill>
                <a:latin typeface="Arial"/>
              </a:rPr>
              <a:t>Duplicate registries</a:t>
            </a:r>
          </a:p>
          <a:p>
            <a:pPr>
              <a:spcAft>
                <a:spcPts val="300"/>
              </a:spcAft>
            </a:pPr>
            <a:r>
              <a:rPr sz="1550" b="0" i="0">
                <a:solidFill>
                  <a:srgbClr val="595959"/>
                </a:solidFill>
                <a:latin typeface="Arial"/>
              </a:rPr>
              <a:t>Several bodies each keeping their own copy of the same domain, none agreeing.</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65860"/>
          </a:xfrm>
          <a:prstGeom prst="rect">
            <a:avLst/>
          </a:prstGeom>
          <a:noFill/>
        </p:spPr>
        <p:txBody>
          <a:bodyPr wrap="square">
            <a:spAutoFit/>
          </a:bodyPr>
          <a:lstStyle/>
          <a:p>
            <a:pPr>
              <a:spcAft>
                <a:spcPts val="300"/>
              </a:spcAft>
            </a:pPr>
            <a:r>
              <a:rPr sz="1900" b="1" i="0">
                <a:solidFill>
                  <a:srgbClr val="1A1A1A"/>
                </a:solidFill>
                <a:latin typeface="Arial"/>
              </a:rPr>
              <a:t>Orphan systems</a:t>
            </a:r>
          </a:p>
          <a:p>
            <a:pPr>
              <a:spcAft>
                <a:spcPts val="300"/>
              </a:spcAft>
            </a:pPr>
            <a:r>
              <a:rPr sz="1550" b="0" i="0">
                <a:solidFill>
                  <a:srgbClr val="595959"/>
                </a:solidFill>
                <a:latin typeface="Arial"/>
              </a:rPr>
              <a:t>Applications that map to no current capability, often left over from a project that ended.</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86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40480"/>
            <a:ext cx="10527487" cy="1165860"/>
          </a:xfrm>
          <a:prstGeom prst="rect">
            <a:avLst/>
          </a:prstGeom>
          <a:noFill/>
        </p:spPr>
        <p:txBody>
          <a:bodyPr wrap="square">
            <a:spAutoFit/>
          </a:bodyPr>
          <a:lstStyle/>
          <a:p>
            <a:pPr>
              <a:spcAft>
                <a:spcPts val="300"/>
              </a:spcAft>
            </a:pPr>
            <a:r>
              <a:rPr sz="1900" b="1" i="0">
                <a:solidFill>
                  <a:srgbClr val="1A1A1A"/>
                </a:solidFill>
                <a:latin typeface="Arial"/>
              </a:rPr>
              <a:t>Point-to-point spaghetti</a:t>
            </a:r>
          </a:p>
          <a:p>
            <a:pPr>
              <a:spcAft>
                <a:spcPts val="300"/>
              </a:spcAft>
            </a:pPr>
            <a:r>
              <a:rPr sz="1550" b="0" i="0">
                <a:solidFill>
                  <a:srgbClr val="595959"/>
                </a:solidFill>
                <a:latin typeface="Arial"/>
              </a:rPr>
              <a:t>Every system connected to every other by its own custom link, with no shared data exchange.</a:t>
            </a:r>
          </a:p>
        </p:txBody>
      </p:sp>
      <p:sp>
        <p:nvSpPr>
          <p:cNvPr id="12" name="Rectangle 11"/>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977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52059"/>
            <a:ext cx="10527487" cy="1165860"/>
          </a:xfrm>
          <a:prstGeom prst="rect">
            <a:avLst/>
          </a:prstGeom>
          <a:noFill/>
        </p:spPr>
        <p:txBody>
          <a:bodyPr wrap="square">
            <a:spAutoFit/>
          </a:bodyPr>
          <a:lstStyle/>
          <a:p>
            <a:pPr>
              <a:spcAft>
                <a:spcPts val="300"/>
              </a:spcAft>
            </a:pPr>
            <a:r>
              <a:rPr sz="1900" b="1" i="0">
                <a:solidFill>
                  <a:srgbClr val="1A1A1A"/>
                </a:solidFill>
                <a:latin typeface="Arial"/>
              </a:rPr>
              <a:t>No clear owner</a:t>
            </a:r>
          </a:p>
          <a:p>
            <a:pPr>
              <a:spcAft>
                <a:spcPts val="300"/>
              </a:spcAft>
            </a:pPr>
            <a:r>
              <a:rPr sz="1550" b="0" i="0">
                <a:solidFill>
                  <a:srgbClr val="595959"/>
                </a:solidFill>
                <a:latin typeface="Arial"/>
              </a:rPr>
              <a:t>A capability or a domain that everyone uses and no one owns — where accountability quietly disappears.</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list of gaps is not an assessment — the priority order is</a:t>
            </a:r>
          </a:p>
        </p:txBody>
      </p:sp>
      <p:sp>
        <p:nvSpPr>
          <p:cNvPr id="4" name="TextBox 3"/>
          <p:cNvSpPr txBox="1"/>
          <p:nvPr/>
        </p:nvSpPr>
        <p:spPr>
          <a:xfrm>
            <a:off x="658368" y="1463040"/>
            <a:ext cx="10984687" cy="1325879"/>
          </a:xfrm>
          <a:prstGeom prst="rect">
            <a:avLst/>
          </a:prstGeom>
          <a:noFill/>
        </p:spPr>
        <p:txBody>
          <a:bodyPr wrap="square">
            <a:spAutoFit/>
          </a:bodyPr>
          <a:lstStyle/>
          <a:p>
            <a:pPr>
              <a:spcAft>
                <a:spcPts val="300"/>
              </a:spcAft>
            </a:pPr>
            <a:r>
              <a:rPr sz="1900" b="1" i="0">
                <a:solidFill>
                  <a:srgbClr val="1A1A1A"/>
                </a:solidFill>
                <a:latin typeface="Arial"/>
              </a:rPr>
              <a:t>For each gap, judge how much it hurts</a:t>
            </a:r>
          </a:p>
          <a:p>
            <a:pPr>
              <a:spcAft>
                <a:spcPts val="300"/>
              </a:spcAft>
            </a:pPr>
            <a:r>
              <a:rPr sz="1550" b="0" i="0">
                <a:solidFill>
                  <a:srgbClr val="595959"/>
                </a:solidFill>
                <a:latin typeface="Arial"/>
              </a:rPr>
              <a:t>The cost to the country, the burden on the citizen, the risk to the minister’s programme.</a:t>
            </a:r>
          </a:p>
        </p:txBody>
      </p:sp>
      <p:sp>
        <p:nvSpPr>
          <p:cNvPr id="5" name="Rectangle 4"/>
          <p:cNvSpPr/>
          <p:nvPr/>
        </p:nvSpPr>
        <p:spPr>
          <a:xfrm>
            <a:off x="621792" y="27934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34639"/>
            <a:ext cx="10984687" cy="1325879"/>
          </a:xfrm>
          <a:prstGeom prst="rect">
            <a:avLst/>
          </a:prstGeom>
          <a:noFill/>
        </p:spPr>
        <p:txBody>
          <a:bodyPr wrap="square">
            <a:spAutoFit/>
          </a:bodyPr>
          <a:lstStyle/>
          <a:p>
            <a:pPr>
              <a:spcAft>
                <a:spcPts val="300"/>
              </a:spcAft>
            </a:pPr>
            <a:r>
              <a:rPr sz="1900" b="1" i="0">
                <a:solidFill>
                  <a:srgbClr val="1A1A1A"/>
                </a:solidFill>
                <a:latin typeface="Arial"/>
              </a:rPr>
              <a:t>And judge how hard it is to close</a:t>
            </a:r>
          </a:p>
          <a:p>
            <a:pPr>
              <a:spcAft>
                <a:spcPts val="300"/>
              </a:spcAft>
            </a:pPr>
            <a:r>
              <a:rPr sz="1550" b="0" i="0">
                <a:solidFill>
                  <a:srgbClr val="595959"/>
                </a:solidFill>
                <a:latin typeface="Arial"/>
              </a:rPr>
              <a:t>A per-layer maturity scorecard helps — how far each layer is from where it needs to be.</a:t>
            </a:r>
          </a:p>
        </p:txBody>
      </p:sp>
      <p:sp>
        <p:nvSpPr>
          <p:cNvPr id="7" name="Rounded Rectangle 6"/>
          <p:cNvSpPr/>
          <p:nvPr/>
        </p:nvSpPr>
        <p:spPr>
          <a:xfrm>
            <a:off x="658368" y="4434840"/>
            <a:ext cx="10881360" cy="13716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4626864"/>
            <a:ext cx="10479024" cy="1097280"/>
          </a:xfrm>
          <a:prstGeom prst="rect">
            <a:avLst/>
          </a:prstGeom>
          <a:noFill/>
        </p:spPr>
        <p:txBody>
          <a:bodyPr wrap="square">
            <a:spAutoFit/>
          </a:bodyPr>
          <a:lstStyle/>
          <a:p>
            <a:pPr>
              <a:spcAft>
                <a:spcPts val="700"/>
              </a:spcAft>
            </a:pPr>
            <a:r>
              <a:rPr sz="2200" b="1" i="0">
                <a:solidFill>
                  <a:srgbClr val="006E96"/>
                </a:solidFill>
                <a:latin typeface="Arial"/>
              </a:rPr>
              <a:t>Priority = high impact, where movement is possible.</a:t>
            </a:r>
          </a:p>
          <a:p>
            <a:pPr>
              <a:spcAft>
                <a:spcPts val="700"/>
              </a:spcAft>
            </a:pPr>
            <a:r>
              <a:rPr sz="1500" b="0" i="0">
                <a:solidFill>
                  <a:srgbClr val="1A1A1A"/>
                </a:solidFill>
                <a:latin typeface="Arial"/>
              </a:rPr>
              <a:t>What the EA Board signs off is not “here is everything wrong”. It is “here are the right problems, in the right order, with the reasons”.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sign-off has one quality test of its own — honesty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100" b="0" i="0">
                <a:solidFill>
                  <a:srgbClr val="1A1A1A"/>
                </a:solidFill>
                <a:latin typeface="Arial"/>
              </a:rPr>
              <a:t>Assess ends when the senior decision-maker confirms the gap analysis reflects ground truth. Your job is to name the right problems in the right order — including the politically uncomfortable ones — in language the decision-maker can act on.</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An assessment that softens a problem because a powerful ministry owns one of the copies fails quietly, a year later.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good current-state picture is owned, traceable, and complete enough to decide from — and the Assess is finished when it names the right problems in the right order.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