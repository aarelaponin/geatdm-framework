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29" r:id="rId12"/>
    <p:sldId id="2730" r:id="rId11"/>
    <p:sldId id="2731" r:id="rId10"/>
    <p:sldId id="2732" r:id="rId54"/>
    <p:sldId id="2733" r:id="rId55"/>
    <p:sldId id="2734" r:id="rId56"/>
    <p:sldId id="2735" r:id="rId57"/>
    <p:sldId id="2736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0" Type="http://schemas.openxmlformats.org/officeDocument/2006/relationships/slide" Target="slides/slide38.xml"/><Relationship Id="rId11" Type="http://schemas.openxmlformats.org/officeDocument/2006/relationships/slide" Target="slides/slide37.xml"/><Relationship Id="rId12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Relationship Id="rId54" Type="http://schemas.openxmlformats.org/officeDocument/2006/relationships/slide" Target="slides/slide39.xml"/><Relationship Id="rId55" Type="http://schemas.openxmlformats.org/officeDocument/2006/relationships/slide" Target="slides/slide40.xml"/><Relationship Id="rId56" Type="http://schemas.openxmlformats.org/officeDocument/2006/relationships/slide" Target="slides/slide41.xml"/><Relationship Id="rId57" Type="http://schemas.openxmlformats.org/officeDocument/2006/relationships/slide" Target="slides/slide42.xml"/><Relationship Id="rId58" Type="http://schemas.openxmlformats.org/officeDocument/2006/relationships/slide" Target="slides/slide4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Put the four layers on a real sector. Progressa is a demonstration country with an education system like many across the continent: a ministry, an examination authority, a learner registry, an identity authority, and a digital government authority running shared platforms.</a:t>
            </a:r>
          </a:p>
          <a:p/>
          <a:p>
            <a:r>
              <a:t>On screen: Progressa is a fictional demonstration country — say so once,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Start by classifying, because classification gives us the head start. The Ministry of Education is a policy unit — it sets education policy and owns the rules. The National Examination Authority runs examinations at scale and certifies results — a service-delivery authority with a regulatory edge. The Learner Registry is a state registry — the authoritative single source for who is a learner. The National Identity Authority is a registry and a shared platform — it owns the person identity every sector reuses. The Digital Government Authority runs shared platforms: data exchange and payments. Five bodies, classified in a minute, and we already expect what each one does.</a:t>
            </a:r>
          </a:p>
          <a:p/>
          <a:p>
            <a:r>
              <a:t>All institutions are fictional — no emblems, no real agency names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Now the Business layer — capabilities and services. Register a learner: owned by the Learner Registry. Run an examination and certify a result: the Examination Authority. Prove who a learner is: the Identity Authority. Set policy and fund schools: the Ministry. Notice that we describe what each body does — its capabilities — not how it is organised inside. The citizen-facing services sit on top: enrol a child, sit an examination, receive a certificate, transfer between schools. Each service traces down to a capability owned by exactly one body. When two bodies both claim the same capability — say, each keeping its own list of learners — you have found your first gap, just by drawing the Business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Data layer names the domains and their owners. The Person domain — owned by the Identity Authority; everyone else uses the person identity, no one else mints it. The Learner domain — owned by the Learner Registry. Examination results — owned by the Examination Authority. Schools — owned by the Ministry. One domain, one owner, one authoritative copy. The once-only principle now becomes concrete: when the Examination Authority needs to know who a learner is, it consumes the Learner Registry and the Identity Authority — it does not keep its own private copy of the learner that drifts out of date. If you find the Examination Authority maintaining its own learner list, that is a duplicate registry, and you write it down.</a:t>
            </a:r>
          </a:p>
          <a:p/>
          <a:p>
            <a:r>
              <a:t>The duplicate-registry example previews the Assess gaps in 2.6 — name the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Application layer maps software to those capabilities. An enrolment system supports the register-a-learner capability and uses the Learner and Person domains. An examination-management system supports run-an-examination. An identity-verification service supports prove-identity. Each application points up to a capability and across to the data domains it uses — so you can see, at a glance, which systems would break if the Identity Authority changed, and whether two systems are quietly doing the same job. Underneath, the Technology layer: the shared identity platform, the data-exchange backbone run by the Digital Government Authority, the hosting. A short list of shared standards — not a server audit.</a:t>
            </a:r>
          </a:p>
          <a:p/>
          <a:p>
            <a:r>
              <a:t>Application names stay generic and descriptive — no vendor or product names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Trace one service down. Sit an examination and get a certificate: the Examination Authority's run-an-examination capability, the exam-management application, three data domains — learner, person, result — and the shared data-exchange and identity platforms underneath.</a:t>
            </a:r>
          </a:p>
          <a:p/>
          <a:p>
            <a:r>
              <a:t>Centrepiece and recap of 2.5. Reveal one band at a time, top to bottom, in the order the VO names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2 · VIDEO 2.5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BDAT on a real ministry — the Progressa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Watch the four layers and the shared entities applied to one real education system — Progressa's ministry, learner registry, examination authority and identity authority — and the abstract method becomes a concrete picture you can reproduce on your own sector.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Put the four layers on a real sector.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Progressa — a demonstration country with an education system like many across the continent.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A ministry, an examination authority, a learner registry, an identity authority,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and a digital government authority running shared platforms.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2.5 · BDAT on a real ministry — the Progressa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Classify the bodies first — that is where the head start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984687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Ministry of Education, Youth and Sport (MoEYS)</a:t>
            </a:r>
          </a:p>
          <a:p>
            <a:pPr>
              <a:spcAft>
                <a:spcPts val="300"/>
              </a:spcAft>
            </a:pPr>
            <a:r>
              <a:rPr sz="1450" b="0" i="0">
                <a:solidFill>
                  <a:srgbClr val="595959"/>
                </a:solidFill>
                <a:latin typeface="Arial"/>
              </a:rPr>
              <a:t>Policy unit — sets education policy, owns the rules.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345436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386584"/>
            <a:ext cx="10984687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National Examination Authority (PNEA)</a:t>
            </a:r>
          </a:p>
          <a:p>
            <a:pPr>
              <a:spcAft>
                <a:spcPts val="300"/>
              </a:spcAft>
            </a:pPr>
            <a:r>
              <a:rPr sz="1450" b="0" i="0">
                <a:solidFill>
                  <a:srgbClr val="595959"/>
                </a:solidFill>
                <a:latin typeface="Arial"/>
              </a:rPr>
              <a:t>Service-delivery authority with a regulatory edge — runs examinations at scale, certifies results.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314700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355848"/>
            <a:ext cx="10984687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Learner Registry (PLR)</a:t>
            </a:r>
          </a:p>
          <a:p>
            <a:pPr>
              <a:spcAft>
                <a:spcPts val="300"/>
              </a:spcAft>
            </a:pPr>
            <a:r>
              <a:rPr sz="1450" b="0" i="0">
                <a:solidFill>
                  <a:srgbClr val="595959"/>
                </a:solidFill>
                <a:latin typeface="Arial"/>
              </a:rPr>
              <a:t>State registry — the authoritative single source for who is a learner.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283964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325112"/>
            <a:ext cx="10984687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National Identity Authority (PNIA)</a:t>
            </a:r>
          </a:p>
          <a:p>
            <a:pPr>
              <a:spcAft>
                <a:spcPts val="300"/>
              </a:spcAft>
            </a:pPr>
            <a:r>
              <a:rPr sz="1450" b="0" i="0">
                <a:solidFill>
                  <a:srgbClr val="595959"/>
                </a:solidFill>
                <a:latin typeface="Arial"/>
              </a:rPr>
              <a:t>State registry and shared platform — owns the person identity every sector reuses.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5253228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294376"/>
            <a:ext cx="10984687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Digital Government Authority (PDGA)</a:t>
            </a:r>
          </a:p>
          <a:p>
            <a:pPr>
              <a:spcAft>
                <a:spcPts val="300"/>
              </a:spcAft>
            </a:pPr>
            <a:r>
              <a:rPr sz="1450" b="0" i="0">
                <a:solidFill>
                  <a:srgbClr val="595959"/>
                </a:solidFill>
                <a:latin typeface="Arial"/>
              </a:rPr>
              <a:t>Shared-platform provider — data exchange and payments.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2.5 · BDAT on a real ministry — the Progressa walkthrough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Business layer — capabilities belong to bodies, services sit on 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5394960" cy="3977639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499262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Capabilities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Register a learner — PLR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Run an examination, certify a result — PNEA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Prove identity — PNIA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Set policy, fund schools — MoEYS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3977639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700784"/>
            <a:ext cx="499262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Services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Enrol a child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Sit an examination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Receive a certificate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Transfer schools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715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Each service traces down to a capability owned by exactly one body. Two bodies claiming one capability is your first gap.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2.5 · BDAT on a real ministry — the Progressa walkthrough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Data layer — one domain, one owner, one authoritative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109846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Person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Owned by PNIA. Everyone else uses the person identity; no one else mints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24485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286000"/>
            <a:ext cx="109846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Learner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Owned by PLR.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06781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108960"/>
            <a:ext cx="109846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Examination result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Owned by PNEA.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890772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931920"/>
            <a:ext cx="109846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School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Owned by MoEYS.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937760"/>
            <a:ext cx="10881360" cy="1234440"/>
          </a:xfrm>
          <a:prstGeom prst="roundRect">
            <a:avLst>
              <a:gd name="adj" fmla="val 4500"/>
            </a:avLst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5084064"/>
            <a:ext cx="104790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Once-only made concrete: others consume, they do not copy.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An examination authority keeping its own learner list is a duplicate registry — write it down.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2.5 · BDAT on a real ministry — the Progressa walkthrough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Application and Technology — every system points up and across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5394960" cy="3977639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499262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Applications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Enrolment system → register-a-learner (PLR)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Exam-management system → run-an-examination (PNEA)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Identity-verification service → prove-identity (PNIA)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3977639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700784"/>
            <a:ext cx="499262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Technology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Shared identity platform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Data-exchange backbone (PDGA)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715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A short list of shared standards — not a server audit.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2.5 · BDAT on a real ministry — the Progressa walkthrough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965960"/>
            <a:ext cx="10149840" cy="4206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2002536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10128" y="2002536"/>
            <a:ext cx="764438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A1A1A"/>
                </a:solidFill>
                <a:latin typeface="Arial"/>
              </a:rPr>
              <a:t>Sit an examination, get a certificate</a:t>
            </a:r>
          </a:p>
        </p:txBody>
      </p:sp>
      <p:sp>
        <p:nvSpPr>
          <p:cNvPr id="6" name="Diamond 5"/>
          <p:cNvSpPr/>
          <p:nvPr/>
        </p:nvSpPr>
        <p:spPr>
          <a:xfrm>
            <a:off x="6016752" y="2386584"/>
            <a:ext cx="128016" cy="128016"/>
          </a:xfrm>
          <a:prstGeom prst="diamond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514600"/>
            <a:ext cx="10149840" cy="4206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2551176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2551176"/>
            <a:ext cx="764438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A1A1A"/>
                </a:solidFill>
                <a:latin typeface="Arial"/>
              </a:rPr>
              <a:t>Run-an-examination, certify-a-result — PNEA</a:t>
            </a:r>
          </a:p>
        </p:txBody>
      </p:sp>
      <p:sp>
        <p:nvSpPr>
          <p:cNvPr id="10" name="Diamond 9"/>
          <p:cNvSpPr/>
          <p:nvPr/>
        </p:nvSpPr>
        <p:spPr>
          <a:xfrm>
            <a:off x="6016752" y="2935224"/>
            <a:ext cx="128016" cy="128016"/>
          </a:xfrm>
          <a:prstGeom prst="diamond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3063240"/>
            <a:ext cx="10149840" cy="4206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099816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3099816"/>
            <a:ext cx="764438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A1A1A"/>
                </a:solidFill>
                <a:latin typeface="Arial"/>
              </a:rPr>
              <a:t>Exam-management system</a:t>
            </a:r>
          </a:p>
        </p:txBody>
      </p:sp>
      <p:sp>
        <p:nvSpPr>
          <p:cNvPr id="14" name="Diamond 13"/>
          <p:cNvSpPr/>
          <p:nvPr/>
        </p:nvSpPr>
        <p:spPr>
          <a:xfrm>
            <a:off x="6016752" y="3483864"/>
            <a:ext cx="128016" cy="128016"/>
          </a:xfrm>
          <a:prstGeom prst="diamond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3611880"/>
            <a:ext cx="10149840" cy="4206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648456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3648456"/>
            <a:ext cx="764438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1A1A1A"/>
                </a:solidFill>
                <a:latin typeface="Arial"/>
              </a:rPr>
              <a:t>Learner · person · result</a:t>
            </a:r>
          </a:p>
        </p:txBody>
      </p:sp>
      <p:sp>
        <p:nvSpPr>
          <p:cNvPr id="18" name="Diamond 17"/>
          <p:cNvSpPr/>
          <p:nvPr/>
        </p:nvSpPr>
        <p:spPr>
          <a:xfrm>
            <a:off x="6016752" y="4032504"/>
            <a:ext cx="128016" cy="128016"/>
          </a:xfrm>
          <a:prstGeom prst="diamond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4160520"/>
            <a:ext cx="10149840" cy="420624"/>
          </a:xfrm>
          <a:prstGeom prst="roundRect">
            <a:avLst>
              <a:gd name="adj" fmla="val 4500"/>
            </a:avLst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4197096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Arial"/>
              </a:rPr>
              <a:t>TECHNOLOGY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4197096"/>
            <a:ext cx="764438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Arial"/>
              </a:rPr>
              <a:t>Data exchange · identity platform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Draft a first-pass BDAT skeleton for a sector.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a five-section BDAT skeleton with conflicts flagged. Before the next video.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2.5 · BDAT on a real ministry — the Progressa walkthrough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Annex 2 (Metamodel)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PAERA v1.0 — §5.2 (Principles — once-only)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2.5 · BDAT on a real ministry — the Progressa walkthrough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