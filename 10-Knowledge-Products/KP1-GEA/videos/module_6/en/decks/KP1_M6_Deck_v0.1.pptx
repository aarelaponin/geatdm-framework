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you are asked whether this works beyond education, the answer is yes, and it gets cheaper as you go. The same method, a different record at the centre, the same shared platforms reused sector after sector. You are not making a one-sector decision. You are making the first move in building a national capability — which is exactly how to frame it when you make the case.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the case you make upward, this changes the framing. You are not asking the minister to fund a tool for one sector. You are asking to build a national capability, of which the first sector is the foundation and the proof. That is a stronger case and an honest one: the first sector carries more of the cost because it builds the shared muscle; every sector after it benefits from that muscle and costs less. A minister who funds it as a one-sector project undersells it. A minister who funds it as the first wave of a national capability has understood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Before you commit your agency to this approach, you are right to ask one question: is it proven, or is it a consultant's theory? The honest answer is that the core of it has already been done — in countries large and small, unitary and federal, well-resourced and not. Look at what four real governments built, and the question changes from whether it works to how you apply it.</a:t>
            </a:r>
          </a:p>
          <a:p/>
          <a:p>
            <a:r>
              <a:t>On screen: the four countries appear as plain typography only — no flags, no national emblems, no agency logos. They are public examples cited to public sources, never the team's own engagements.</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signposts, deliberately different. Rwanda — a small country with a strong centre, one citizen-services platform, a national identity linked across services. Kenya — physical one-stop centres and a unifying identity programme, with results that are mixed and openly debated. South Africa — a federal state where no architecture can be imposed from the top, coordinated instead through a central agency and shared standards. And Estonia — a mature reference, distributed registries, the once-only principle, almost every service online. Four governments that could hardly be more different in size, resources and shape.</a:t>
            </a:r>
          </a:p>
          <a:p/>
          <a:p>
            <a:r>
              <a:t>Production cue: the first half of the module's centrepiece. Hold it a beat longer — the next slide is what turns these four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makes them evidence is not that they are all the same — they are not — but that the same architectural elements show in every one. A small central team with real authority. A published framework that other agencies adopt rather than fight. A governance mechanism that is binding, not advisory. And a time horizon measured in years for full maturity, with intermediate results visible inside months. Four contexts, one recurring pattern. That recurrence is what tells you the pattern is real, not local luck.</a:t>
            </a:r>
          </a:p>
          <a:p/>
          <a:p>
            <a:r>
              <a:t>Production cue: the centrepiece slide of the module. Reveal the four rows one at a time; the closing line is the whole argument of this video.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be honest about the mixed results, because that honesty is what makes the evidence trustworthy. Kenya's identity programme met real obstacles — in the courts, in parliament, in implementation — and the debate is public and documented. That is not a reason to dismiss the approach; it is part of the evidence. The programmes that struggled struggled for reasons you can learn from, and the reasons are remarkably consistent. The evidence is not a brochure of successes. It is a record of what works and what does not, which is far more useful to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What this means for your agency is simple and freeing. You are not the first. The path is charted, the common elements are known, and so are the common ways programmes fail. You are not being asked to invent an approach and hope it works. You are being asked to adapt a pattern that four very different governments have already shown delivers — to your country, your constraints, your sector. That is a far easier case to make to a minister than 'trust me, this should work'.</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when someone asks whether this is proven, you have an answer. Four governments, four shapes, one recurring pattern, with the failures as well documented as the successes. It is not theory. It is a charted path. Your job is not to prove it again — it is to apply it well.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If the evidence shows the pattern works, it also shows, just as clearly, why programmes fail. And the striking thing is that the failures are almost never technical. The technology works. What kills these programmes is organisational — and because it is organisational, you can design around it from the start. Here is what the record says, on both sides.</a:t>
            </a:r>
          </a:p>
          <a:p/>
          <a:p>
            <a:r>
              <a:t>Retrieval prompt — ask before playing on: name the ways a programme like this dies. Are any of them technical? Answer on the next two slides.</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what works, because you will build these in deliberately. A small permanent team, protected from being pulled onto other work. A published framework that agencies adopt because it helps them, not because it is forced. Governance that can actually say no to a project that would fragment the architecture. And funding sustained across years, not granted annually and withdrawn when priorities shift. Where these four hold, the programmes deliver. Where any one is missing, they wobble.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failures, because forewarned is forearmed. The team gets pulled onto the flagship project that is in trouble, and the architecture work stops. The minister or director-general who championed it moves on, and the successor has their own priorities. The governance board, under delivery pressure, lets one powerful project through, then another, until its no means nothing. And the funding, never secured as a multi-year commitment, quietly becomes an annual favour that one budget cycle removes. None of these is dramatic. Each is a slow fade, usually in the second year.</a:t>
            </a:r>
          </a:p>
          <a:p/>
          <a:p>
            <a:r>
              <a:t>Production cue: this slide and the next answer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what every one of those killers has in common. Not one is about technology. They are about people, authority and money — protecting the team, securing the mandate, defending the governance, locking in the funding. And that is the good news, because those are exactly the things you, as the one making the case upward, can influence. The chief architect cannot protect their own team or secure their own five-year budget. Only the strategist who commissioned the work can. The failures are organisational, which means they are yours to prevent.</a:t>
            </a:r>
          </a:p>
          <a:p/>
          <a:p>
            <a:r>
              <a:t>Production cue: the pivotal reframe of this video, and it closes the retrieval prompt.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design for the second year now, while you have the minister's attention. Get the team's protection in writing. Make the governance mandate legal, not just a memo. Secure a multi-year funding envelope, not an annual line. And plan to re-commit all of it when the sponsor changes, because the next minister will not feel bound by the last one's promises. These are not afterthoughts to add if the programme survives. They are how it survives. Build them in at the start, and you have designed out the four most common ways these programmes die.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evidence gives you two lists. What to build in — a protected team, an adopted framework, binding governance, sustained funding. And what to design out — the four organisational failures that quietly kill these programmes in their second year. Brief your minister on both. A programme designed to survive its own second year is the one that delivers.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may be watching this with education in mind, or you may be a director-general responsible for several sectors. Either way, a fair question is whether this approach is tied to one sector or works across your government. The answer matters for how big a commitment you are really making — and the answer is that the method is sector-agnostic, and it compounds.</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what stays the same, because it is most of it. The five phases — discover, assess, adapt, plan, execute and govern. The four sign-offs. The deliverables. The reuse-before-build default. The binding governance board. None of that is specific to education. It is the method. What changes when you move to another sector is only the contents: the institutions you map, and the kind of record at the centre of the fragmentation.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that change is smaller than it looks. In education, the duplicated record at the heart of the fragmentation is the learner. In health it is the patient. In agriculture it is the farmer. In social protection it is the beneficiary. Different domain, identical shape — registered several times, re-entered on paper, blocking a flagship the minister has promised. The problem rhymes across sectors because the underlying cause is the same: no shared plan. So the same method resolves it.</a:t>
            </a:r>
          </a:p>
          <a:p/>
          <a:p>
            <a:r>
              <a:t>On screen: health, agriculture and social protection are named as sectors the method transfers to — this is the ToR §4.4 portability statement, not a set of worked examples. Each sector still needs its own discovery and assessment run on the ground.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part that changes the size of your decision. The hard, expensive part of this work is building the muscle the first time — the permanent team, the localised framework, the governance, and above all the shared platforms like identity and data exchange. Once those exist, the second sector does not rebuild them. It consumes them. The health sector reuses the identity platform the education work stood up. The agriculture sector reuses the data-exchange backbone. So the second sector is cheaper and faster than the first, and the third cheaper still. The investment you make for one sector is, in large part, an investment for all of them.</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6 deck. Each section that follows is one standalone ~4–5 minute video. This is the capstone, and the first topic since Module 1 to address the Strategist rather than the Architect — the director-general, the head of a sectoral ICT unit, the technical secretary who commissions the work and makes the case to the minister. It answers the three questions asked before committing: is it proven, does it travel, and how do I win the commitment and roll it 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6.1 and 6.2 are the evidence — what four governments built, and what makes these programmes live or die. 6.3 is the portability case. 6.4 to 6.6 are the commitment, the capability and the rollout. 6.7 puts the whole case in one piece.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have the evidence that it works and the case that it travels. Now the hardest step: getting your minister to commit the team, the mandate and the money. Ministers do not commit to architecture. They commit to outcomes, to numbers, and to cases they can defend in cabinet. So the case you bring cannot be about the architecture. It has to be about three things: the saving, the proof, and the honest cost.</a:t>
            </a:r>
          </a:p>
          <a:p/>
          <a:p>
            <a:r>
              <a:t>Retrieval prompt — ask before playing on: of everything in your case, what does a minister actually act on? Answer on the next slide.</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Lead with the saving, because that is what a minister can act on. The strongest number you have is the cost of fragmentation: every programme that builds its own identity, its own registry, its own integration, means the country pays many times for one thing. A whole-of-government business case shows that consuming shared building blocks instead would save a meaningful share of the sectoral digital budget over five years. That number — not the four-layer diagram — is what opens a cabinet conversation. The architecture is how you achieve the saving; the saving is what you sell.</a:t>
            </a:r>
          </a:p>
          <a:p/>
          <a:p>
            <a:r>
              <a:t>Production cue: the pivotal slide of this video, and it answers the retrieval prompt set on the title slide.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Back the number with the proof, because a minister's first worry is risk. A saving that depends on an untested approach is easy to refuse. A saving backed by four governments that have already built the same pattern is much harder to wave away. So pair the business case with the evidence: this is not an experiment, it is a charted path that countries like yours have walked, with the obstacles documented. You are not asking the minister to bet on a theory. You are asking them to capture a saving that others have already proven is real.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be honest about the cost and the time, because overselling loses the case the moment a sharp official tests it. Name the real cost: a small permanent team and governance, typically around two per cent of the digital-government budget, sustained for five years. And name the real horizon: about six months to a roadmap the minister can show, but years to full maturity — which means the minister who launches this will likely not be the one who completes it. Said as a weakness, that sinks the case. Said as the truth about serious institution-building, it is what separates a credible proposal from a salesman's. Ministers fund people who tell them the real timeline.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Put it on one page, in that order. The saving — the country-level number over five years. The proof — the governments that have done it. The ask — a small permanent team, a board with real authority, around two per cent of the digital budget, and a promise to protect the team. And the horizon — six months to a roadmap, then a sustained practice. Saving, proof, ask, horizon. That single page turns a technical request the minister would defer into a business case they can defend in cabinet.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winning the commitment is not an architecture conversation. It is a one-page business case: the saving, the proof, the ask, the honest horizon. Bring that, and you give your minister something they can say yes to and defend afterwards. Bring a diagram of four layers, and you give them something to admire and postpone.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One worry that stops strategists committing is capability: do we have the people who can do this, and can we afford to train them? The reassuring answer is that you do not have to build the knowledge from scratch. The method, the framework and the training materials already exist as open knowledge products — which changes what you actually need to fund.</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is not locked in a consultant's head. The reference architecture is published. The building-block specifications are open. And the knowledge products — videos, written guides, worked examples, the very materials this is part of — are made to teach a practising architect the method step by step. Your team does not start from a blank page. They start from a documented method that other countries are already using, which means your training cost is a fraction of what building the knowledge yourself would be.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Think of the capability as three layers you can draw on rather than build. The published framework tells your team what to do — the phases, the principles, the deliverables. The worked examples and the AI plays show them how to do it faster — turning a method into a draft in minutes. And the community — the countries, the partners, the certification and the shared knowledge base around the framework — tells them who to ask when they are stuck. You are not equipping your team alone. You are connecting them to a network that is already solving these problems.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what do you actually need to fund? Not the invention of a method — that exists. You need a small team given the time to learn it and apply it to your country, and access to the materials and the community. The expensive thing — the decades of accumulated knowledge about what works in public-sector architecture — you get for the cost of learning it, not the cost of discovering it. That is the difference between funding a team to apply a proven method and funding consultants to invent one. The first is affordable and builds lasting capability in your own people; the second is neither.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aim the capability at your own people, not at a consultancy you will depend on forever. The reason to use open knowledge products is not only that they are cheaper. It is that they let you build the capability inside your own institutions — architects who learn the method, apply it, and stay, instead of expertise that walks out the door when a contract ends. A strategist's quiet goal in all of this is a national capability that outlasts any single contract or consultant. Open knowledge products are how you build it in your own people.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capability is not the barrier it appears to be. The knowledge is documented, open and taught; a community is already using it; and your budget goes to a team that applies it, not to reinventing it. Use the open knowledge products to grow your own architects — and you build something that lasts longer than any contract.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Suppose you have the commitment. How do you actually roll this out across a government, without trying to do everything at once and failing? The answer is the same discipline the method uses inside one sector, applied to the whole country: a wave roadmap. Start small, prove it, build the shared muscle, then bring sectors on one at a time.</a:t>
            </a:r>
          </a:p>
          <a:p/>
          <a:p>
            <a:r>
              <a:t>On screen: the copy-paste prompt is not shown on a slide — it ships in the video description so the viewer can draft the artefact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Wave one is one sector, done well. Pick the sector with a clear flagship the minister cares about — the single learner record, the single patient record. Run the full method there, end to end. But notice what wave one really builds: not just that sector's architecture, but the national foundations — the permanent team, the governance board, and the first shared platforms like identity and data exchange. Wave one looks like one sector. It is actually the foundation the whole rollout stands 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wave two, each new sector reuses what wave one built. The health sector consumes the identity platform and the data-exchange backbone that already exist. Its run of the method is lighter, because the team, the framework and the governance are in place. It delivers faster and costs less. And every sector that joins makes the next one easier still, because the shared platforms get more complete and the team more practised. The rollout accelerates as it goes — the opposite of a programme that gets harder under its own weight.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govern the rollout rather than just launching it. The same board that reviews projects inside a sector governs the national pipeline: which sector comes next, what each must reuse, where an exception is genuinely warranted. This keeps the rollout coherent — every new sector building on the shared foundation instead of starting its own. A rollout that is launched and left drifts back into fragmentation, one sector at a time. A rollout that is governed compounds into a single national architecture.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Finally, report the national picture upward, on one page, every quarter. How many sectors are live. The re-use rate across them. Which shared platforms are in place. This does two things. It shows the minister the national capability actually growing — sector by sector, saving by saving — which is what sustains the funding across a change of government. And it lets you see, early, if a sector is drifting from the shared foundation, while it is still cheap to correct. The national scorecard is how a multi-year rollout stays funded and stays coherent.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rollout is a wave roadmap at national scale. One sector to prove it and build the foundations. Then sectors one at a time, each reusing the last, each cheaper, all governed into one coherent architecture and reported on a single page. That is how an approach that works in one sector becomes how your whole government works.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Bring it all together into the case you carry into the room. After everything, it reduces to three sentences a minister can hold: this is proven, it is portable, and it is necessary now. And underneath those three sit the two reasons an Enterprise Architecture exists at all — the two ideas to leave with.</a:t>
            </a:r>
          </a:p>
          <a:p/>
          <a:p>
            <a:r>
              <a:t>Production cue: the closing video of the module and of KP1. Its AI usage tip drafts the closing one-page case for the minister, and ships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two you can now say plainly. Proven — four very different governments have built the same pattern, with the successes and the failures both documented, so you adapt a charted path rather than invent one. Portable — the method is sector-agnostic, the same phases on a learner, a patient, a farmer, and each sector after the first costs less because the muscle is built once. Proven and portable. Those alone make a strong case. But the third is the one that makes it urgent.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Necessary now. For thirty years, digital government meant taking a paper process and putting it online — the form becomes a web form, the queue an appointment. That era is ending. The work that delivers real results today is different: redesigning how government serves citizens — once-only data sharing, a shared identity, a single record that follows a person across services. That work is not putting paper online. It is changing how the government operates. And it cannot be done by the IT department alone, or by the policy side alone.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here are the two reasons an EA exists, which are the two ideas to carry out of this whole knowledge product. First: re-use. Inside any project, building your own is cheaper than reusing — so projects fragment, and no procurement rule can change that. Only planning at the level of the whole government makes re-use rational, and only an EA gives you that view. Second: shared language. The new work needs the business side and the IT side to decide together, and they do not speak the same language. An EA gives them one — a shared picture, shared words, and a standing forum to decide in. Re-use and shared language. Everything else in this knowledge product serves those two.</a:t>
            </a:r>
          </a:p>
          <a:p/>
          <a:p>
            <a:r>
              <a:t>Production cue: the two ideas the whole knowledge product reduces to.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Which is why the third sentence is the urgent one. In the era of digitising paper, an Enterprise Architecture was useful — a nice-to-have that made things tidier. In the era of redesigning how government works, it is necessary — because without it, re-use does not happen and the business and IT sides cannot have the conversation the redesign requires. The countries delivering real results have understood this. The case you make is not that an EA would be a good idea. It is that the work your government is now being asked to do cannot be done well without one.</a:t>
            </a:r>
          </a:p>
          <a:p/>
          <a:p>
            <a:r>
              <a:t>Production cue: this is the pivotal slide of the whole module and its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that is the case, whole. Proven — four governments have done it. Portable — it works across your sectors and compounds. Necessary now — because the new work of government cannot be done without it. And underneath, the two reasons it exists: re-use, and a shared language between business and IT. Carry those into the room. That is the case for a national Enterprise Architecture — and the case for starting it where you are, now.</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The case for a national
Enterprise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6</a:t>
            </a:r>
          </a:p>
          <a:p>
            <a:r>
              <a:rPr sz="1400" b="0" i="0">
                <a:solidFill>
                  <a:srgbClr val="595959"/>
                </a:solidFill>
                <a:latin typeface="Arial"/>
              </a:rPr>
              <a:t>Seven standalone videos for the person who commissions the architecture and makes the case upward: the evidence from four real governments, what sustains these programmes and what quietly kills them, the cross-sector portability case, the business case that wins a minister's commitment, building capability from open knowledge products, the national rollout — and the whole case in one piece.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~33 mins across 7 videos (6.1 – 6.7)</a:t>
            </a:r>
          </a:p>
          <a:p>
            <a:r>
              <a:rPr sz="1400" b="1" i="0">
                <a:solidFill>
                  <a:srgbClr val="1A1A1A"/>
                </a:solidFill>
                <a:latin typeface="Arial"/>
              </a:rPr>
              <a:t>Target audience: </a:t>
            </a:r>
            <a:r>
              <a:rPr sz="1400" b="0" i="0">
                <a:solidFill>
                  <a:srgbClr val="1A1A1A"/>
                </a:solidFill>
                <a:latin typeface="Arial"/>
              </a:rPr>
              <a:t>Director-general · head of a sectoral ICT unit · technical secretary</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CASE YOU CARRY INTO THE ROOM</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Proven — four real governments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Portable — sector after sector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commitment — the one page</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The capability — your own people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Necessary now, not just useful</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governments · 4 killers to design out · 1 page for the minister</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6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6.1  Is this proven? Evidence from real programmes</a:t>
            </a:r>
            <a:r>
              <a:rPr sz="1200" b="0" i="0">
                <a:solidFill>
                  <a:srgbClr val="595959"/>
                </a:solidFill>
                <a:latin typeface="Arial"/>
              </a:rPr>
              <a:t>   ~5 min</a:t>
            </a:r>
          </a:p>
          <a:p>
            <a:pPr algn="l">
              <a:spcAft>
                <a:spcPts val="900"/>
              </a:spcAft>
            </a:pPr>
            <a:r>
              <a:rPr sz="1500" b="1" i="0">
                <a:solidFill>
                  <a:srgbClr val="1A1A1A"/>
                </a:solidFill>
                <a:latin typeface="Arial"/>
              </a:rPr>
              <a:t>6.2  What works, and what quietly kills them</a:t>
            </a:r>
            <a:r>
              <a:rPr sz="1200" b="0" i="0">
                <a:solidFill>
                  <a:srgbClr val="595959"/>
                </a:solidFill>
                <a:latin typeface="Arial"/>
              </a:rPr>
              <a:t>   ~5 min</a:t>
            </a:r>
          </a:p>
          <a:p>
            <a:pPr algn="l">
              <a:spcAft>
                <a:spcPts val="900"/>
              </a:spcAft>
            </a:pPr>
            <a:r>
              <a:rPr sz="1500" b="1" i="0">
                <a:solidFill>
                  <a:srgbClr val="1A1A1A"/>
                </a:solidFill>
                <a:latin typeface="Arial"/>
              </a:rPr>
              <a:t>6.3  Will it work for your other sectors?</a:t>
            </a:r>
            <a:r>
              <a:rPr sz="1200" b="0" i="0">
                <a:solidFill>
                  <a:srgbClr val="595959"/>
                </a:solidFill>
                <a:latin typeface="Arial"/>
              </a:rPr>
              <a:t>   ~5 min</a:t>
            </a:r>
          </a:p>
          <a:p>
            <a:pPr algn="l">
              <a:spcAft>
                <a:spcPts val="900"/>
              </a:spcAft>
            </a:pPr>
            <a:r>
              <a:rPr sz="1500" b="1" i="0">
                <a:solidFill>
                  <a:srgbClr val="1A1A1A"/>
                </a:solidFill>
                <a:latin typeface="Arial"/>
              </a:rPr>
              <a:t>6.4  Win the commitment — the business case</a:t>
            </a:r>
            <a:r>
              <a:rPr sz="1200" b="0" i="0">
                <a:solidFill>
                  <a:srgbClr val="595959"/>
                </a:solidFill>
                <a:latin typeface="Arial"/>
              </a:rPr>
              <a:t>   ~5 min</a:t>
            </a:r>
          </a:p>
          <a:p>
            <a:pPr algn="l">
              <a:spcAft>
                <a:spcPts val="900"/>
              </a:spcAft>
            </a:pPr>
            <a:r>
              <a:rPr sz="1500" b="1" i="0">
                <a:solidFill>
                  <a:srgbClr val="1A1A1A"/>
                </a:solidFill>
                <a:latin typeface="Arial"/>
              </a:rPr>
              <a:t>6.5  Build capability with open knowledge products</a:t>
            </a:r>
            <a:r>
              <a:rPr sz="1200" b="0" i="0">
                <a:solidFill>
                  <a:srgbClr val="595959"/>
                </a:solidFill>
                <a:latin typeface="Arial"/>
              </a:rPr>
              <a:t>   ~4 min</a:t>
            </a:r>
          </a:p>
          <a:p>
            <a:pPr algn="l">
              <a:spcAft>
                <a:spcPts val="900"/>
              </a:spcAft>
            </a:pPr>
            <a:r>
              <a:rPr sz="1500" b="1" i="0">
                <a:solidFill>
                  <a:srgbClr val="1A1A1A"/>
                </a:solidFill>
                <a:latin typeface="Arial"/>
              </a:rPr>
              <a:t>6.6  Roll it out to a national EA practice</a:t>
            </a:r>
            <a:r>
              <a:rPr sz="1200" b="0" i="0">
                <a:solidFill>
                  <a:srgbClr val="595959"/>
                </a:solidFill>
                <a:latin typeface="Arial"/>
              </a:rPr>
              <a:t>   ~4 min</a:t>
            </a:r>
          </a:p>
          <a:p>
            <a:pPr algn="l">
              <a:spcAft>
                <a:spcPts val="900"/>
              </a:spcAft>
            </a:pPr>
            <a:r>
              <a:rPr sz="1500" b="1" i="0">
                <a:solidFill>
                  <a:srgbClr val="1A1A1A"/>
                </a:solidFill>
                <a:latin typeface="Arial"/>
              </a:rPr>
              <a:t>6.7  The closing case — proven, portable, necessary</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Three questions decide whether this happens: is it proven, does it travel, and can I win the commitment and roll it out?</a:t>
            </a:r>
          </a:p>
          <a:p>
            <a:pPr>
              <a:spcAft>
                <a:spcPts val="1000"/>
              </a:spcAft>
            </a:pPr>
            <a:r>
              <a:rPr sz="1900" b="0" i="1">
                <a:solidFill>
                  <a:srgbClr val="1A1A1A"/>
                </a:solidFill>
                <a:latin typeface="Arial"/>
              </a:rPr>
              <a:t>This module answers all three — with the evidence, the numbers and the honest timeline — so you can make the case upward and defend it afterwards.</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Is this proven, or just theory? — evidence from real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This is not a theory waiting for its first trial. Across four very different governments the same architectural approach has already produced results — which means the question for you is not whether it works, but how to apply it where you are.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governments, four shapes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Rwanda — small, with a strong centre</a:t>
            </a:r>
          </a:p>
          <a:p>
            <a:pPr>
              <a:spcAft>
                <a:spcPts val="300"/>
              </a:spcAft>
            </a:pPr>
            <a:r>
              <a:rPr sz="1550" b="0" i="0">
                <a:solidFill>
                  <a:srgbClr val="595959"/>
                </a:solidFill>
                <a:latin typeface="Arial"/>
              </a:rPr>
              <a:t>One citizen-services platform; a national identity linked across services.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Kenya — one-stop centres and a unifying identity programme</a:t>
            </a:r>
          </a:p>
          <a:p>
            <a:pPr>
              <a:spcAft>
                <a:spcPts val="300"/>
              </a:spcAft>
            </a:pPr>
            <a:r>
              <a:rPr sz="1550" b="0" i="0">
                <a:solidFill>
                  <a:srgbClr val="595959"/>
                </a:solidFill>
                <a:latin typeface="Arial"/>
              </a:rPr>
              <a:t>Results mixed and openly debated.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South Africa — federal, so nothing can be imposed from the top</a:t>
            </a:r>
          </a:p>
          <a:p>
            <a:pPr>
              <a:spcAft>
                <a:spcPts val="300"/>
              </a:spcAft>
            </a:pPr>
            <a:r>
              <a:rPr sz="1550" b="0" i="0">
                <a:solidFill>
                  <a:srgbClr val="595959"/>
                </a:solidFill>
                <a:latin typeface="Arial"/>
              </a:rPr>
              <a:t>Coordinated instead through a central agency and shared standards.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Estonia — mature</a:t>
            </a:r>
          </a:p>
          <a:p>
            <a:pPr>
              <a:spcAft>
                <a:spcPts val="300"/>
              </a:spcAft>
            </a:pPr>
            <a:r>
              <a:rPr sz="1550" b="0" i="0">
                <a:solidFill>
                  <a:srgbClr val="595959"/>
                </a:solidFill>
                <a:latin typeface="Arial"/>
              </a:rPr>
              <a:t>Distributed registries; the once-only principle; almost every service online.</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governments that could hardly differ more in size, resources and shape.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four elements show in every one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small central team with real authority</a:t>
            </a:r>
          </a:p>
          <a:p>
            <a:pPr>
              <a:spcAft>
                <a:spcPts val="300"/>
              </a:spcAft>
            </a:pPr>
            <a:r>
              <a:rPr sz="1550" b="0" i="0">
                <a:solidFill>
                  <a:srgbClr val="595959"/>
                </a:solidFill>
                <a:latin typeface="Arial"/>
              </a:rPr>
              <a:t>Not a committee, and not a contractor.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published framework other agencies adopt</a:t>
            </a:r>
          </a:p>
          <a:p>
            <a:pPr>
              <a:spcAft>
                <a:spcPts val="300"/>
              </a:spcAft>
            </a:pPr>
            <a:r>
              <a:rPr sz="1550" b="0" i="0">
                <a:solidFill>
                  <a:srgbClr val="595959"/>
                </a:solidFill>
                <a:latin typeface="Arial"/>
              </a:rPr>
              <a:t>Adopted because it helps them, not because it is forced on them.</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that is binding, not advisory</a:t>
            </a:r>
          </a:p>
          <a:p>
            <a:pPr>
              <a:spcAft>
                <a:spcPts val="300"/>
              </a:spcAft>
            </a:pPr>
            <a:r>
              <a:rPr sz="1550" b="0" i="0">
                <a:solidFill>
                  <a:srgbClr val="595959"/>
                </a:solidFill>
                <a:latin typeface="Arial"/>
              </a:rPr>
              <a:t>It can say no to a project that would fragment the architecture.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Years to full maturity, with results visible in months</a:t>
            </a:r>
          </a:p>
          <a:p>
            <a:pPr>
              <a:spcAft>
                <a:spcPts val="300"/>
              </a:spcAft>
            </a:pPr>
            <a:r>
              <a:rPr sz="1550" b="0" i="0">
                <a:solidFill>
                  <a:srgbClr val="595959"/>
                </a:solidFill>
                <a:latin typeface="Arial"/>
              </a:rPr>
              <a:t>The horizon is long; the first intermediate wins are not.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contexts, one recurring pattern — recurrence is what makes it evidence, not luck.</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failures are documented too — which is what makes it evidence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Kenya's identity programme met real obstacles — in the courts, in parliament, in implementation — and the debate is public and documented.</a:t>
            </a:r>
          </a:p>
          <a:p>
            <a:pPr>
              <a:spcAft>
                <a:spcPts val="1200"/>
              </a:spcAft>
            </a:pPr>
            <a:r>
              <a:rPr sz="2000" b="0" i="0">
                <a:solidFill>
                  <a:srgbClr val="1A1A1A"/>
                </a:solidFill>
                <a:latin typeface="Arial"/>
              </a:rPr>
              <a:t>That is not a reason to dismiss the approach; it is part of the evidence. The programmes that struggled struggled for consistent, learnable reasons.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brochure of successes. A record of what works and what does not.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not the first — the path is already charted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common elements are known, and so are the common ways programmes fail. You are not being asked to invent an approach and hope it works.</a:t>
            </a:r>
          </a:p>
          <a:p>
            <a:pPr>
              <a:spcAft>
                <a:spcPts val="1200"/>
              </a:spcAft>
            </a:pPr>
            <a:r>
              <a:rPr sz="2000" b="0" i="0">
                <a:solidFill>
                  <a:srgbClr val="1A1A1A"/>
                </a:solidFill>
                <a:latin typeface="Arial"/>
              </a:rPr>
              <a:t>You are being asked to adapt a pattern four very different governments have already shown delivers — to your country, your constraints, your sector.</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far easier case to make than "trust me, this should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Across four very different governments the same architectural pattern has already produced results — so your question is not whether it works, but how to apply it where you are.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a:t>
            </a:r>
          </a:p>
          <a:p>
            <a:pPr>
              <a:spcAft>
                <a:spcPts val="1200"/>
              </a:spcAft>
            </a:pPr>
            <a:r>
              <a:rPr sz="1700" b="0" i="0">
                <a:solidFill>
                  <a:srgbClr val="1A1A1A"/>
                </a:solidFill>
                <a:latin typeface="Arial"/>
              </a:rPr>
              <a:t>•  Kenya — Huduma Kenya (huduma.go.ke)</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and RIA (ria.ee)</a:t>
            </a:r>
          </a:p>
          <a:p>
            <a:pPr>
              <a:spcAft>
                <a:spcPts val="1200"/>
              </a:spcAft>
            </a:pPr>
            <a:r>
              <a:rPr sz="1700" b="0" i="0">
                <a:solidFill>
                  <a:srgbClr val="1A1A1A"/>
                </a:solidFill>
                <a:latin typeface="Arial"/>
              </a:rPr>
              <a:t>•  PAERA v1.0 — §5.7 (Recommended Roadmap); §2.1 (Problem statement)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6.1 · Is this proven, or just theory? — evidence from real programmes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the evidence says works — and what quietly kills these programmes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public record is consistent about what makes these programmes succeed and what kills them — and the killers are organisational, not technical. Knowing both lets you design your programme to last, and brief your minister on the real risks.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things make them work — build all four in deliberately</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 small permanent team, protected</a:t>
            </a:r>
          </a:p>
          <a:p>
            <a:pPr>
              <a:spcAft>
                <a:spcPts val="300"/>
              </a:spcAft>
            </a:pPr>
            <a:r>
              <a:rPr sz="1550" b="0" i="0">
                <a:solidFill>
                  <a:srgbClr val="595959"/>
                </a:solidFill>
                <a:latin typeface="Arial"/>
              </a:rPr>
              <a:t>Not pulled onto other work when something urgent appears.</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 framework agencies adopt, rather than are forced into</a:t>
            </a:r>
          </a:p>
          <a:p>
            <a:pPr>
              <a:spcAft>
                <a:spcPts val="300"/>
              </a:spcAft>
            </a:pPr>
            <a:r>
              <a:rPr sz="1550" b="0" i="0">
                <a:solidFill>
                  <a:srgbClr val="595959"/>
                </a:solidFill>
                <a:latin typeface="Arial"/>
              </a:rPr>
              <a:t>They use it because it helps them.</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Governance that can actually say no</a:t>
            </a:r>
          </a:p>
          <a:p>
            <a:pPr>
              <a:spcAft>
                <a:spcPts val="300"/>
              </a:spcAft>
            </a:pPr>
            <a:r>
              <a:rPr sz="1550" b="0" i="0">
                <a:solidFill>
                  <a:srgbClr val="595959"/>
                </a:solidFill>
                <a:latin typeface="Arial"/>
              </a:rPr>
              <a:t>To a project that would fragment the architecture.</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Funding sustained across years</a:t>
            </a:r>
          </a:p>
          <a:p>
            <a:pPr>
              <a:spcAft>
                <a:spcPts val="300"/>
              </a:spcAft>
            </a:pPr>
            <a:r>
              <a:rPr sz="1550" b="0" i="0">
                <a:solidFill>
                  <a:srgbClr val="595959"/>
                </a:solidFill>
                <a:latin typeface="Arial"/>
              </a:rPr>
              <a:t>Not granted annually and withdrawn when priorities shift.</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Where all four hold, the programmes deliver. Where any one is missing, they wobble.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things quietly kill them — usually in the second year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team is pulled onto the urgent flagship</a:t>
            </a:r>
          </a:p>
          <a:p>
            <a:pPr>
              <a:spcAft>
                <a:spcPts val="300"/>
              </a:spcAft>
            </a:pPr>
            <a:r>
              <a:rPr sz="1550" b="0" i="0">
                <a:solidFill>
                  <a:srgbClr val="595959"/>
                </a:solidFill>
                <a:latin typeface="Arial"/>
              </a:rPr>
              <a:t>The architecture work simply stops.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sponsor changes</a:t>
            </a:r>
          </a:p>
          <a:p>
            <a:pPr>
              <a:spcAft>
                <a:spcPts val="300"/>
              </a:spcAft>
            </a:pPr>
            <a:r>
              <a:rPr sz="1550" b="0" i="0">
                <a:solidFill>
                  <a:srgbClr val="595959"/>
                </a:solidFill>
                <a:latin typeface="Arial"/>
              </a:rPr>
              <a:t>The successor has their own priorities.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Governance drifts to advisory under delivery pressure</a:t>
            </a:r>
          </a:p>
          <a:p>
            <a:pPr>
              <a:spcAft>
                <a:spcPts val="300"/>
              </a:spcAft>
            </a:pPr>
            <a:r>
              <a:rPr sz="1550" b="0" i="0">
                <a:solidFill>
                  <a:srgbClr val="595959"/>
                </a:solidFill>
                <a:latin typeface="Arial"/>
              </a:rPr>
              <a:t>One powerful project through, then another, until its no means nothing.</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Funding becomes an annual favour</a:t>
            </a:r>
          </a:p>
          <a:p>
            <a:pPr>
              <a:spcAft>
                <a:spcPts val="300"/>
              </a:spcAft>
            </a:pPr>
            <a:r>
              <a:rPr sz="1550" b="0" i="0">
                <a:solidFill>
                  <a:srgbClr val="595959"/>
                </a:solidFill>
                <a:latin typeface="Arial"/>
              </a:rPr>
              <a:t>One budget cycle removes it.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None of them is dramatic. Each one is a slow fade.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 one of the killers is about technology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They are about people, authority and money — protecting the team, securing the mandate, defending the governance, locking in the funding.</a:t>
            </a:r>
          </a:p>
          <a:p>
            <a:pPr>
              <a:spcAft>
                <a:spcPts val="1200"/>
              </a:spcAft>
            </a:pPr>
            <a:r>
              <a:rPr sz="2000" b="0" i="0">
                <a:solidFill>
                  <a:srgbClr val="1A1A1A"/>
                </a:solidFill>
                <a:latin typeface="Arial"/>
              </a:rPr>
              <a:t>Which is the good news, because those are what you can influence. The chief architect cannot protect their own team or secure their own five-year budget. Only the strategist who commissioned the work can.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failures are organisational, which means they are yours to prevent.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Design for the second year now, while you have the minister's attention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Get the team's protection in writing. Make the governance mandate legal, not just a memo. Secure a multi-year envelope, not an annual line.</a:t>
            </a:r>
          </a:p>
          <a:p>
            <a:pPr>
              <a:spcAft>
                <a:spcPts val="1200"/>
              </a:spcAft>
            </a:pPr>
            <a:r>
              <a:rPr sz="2000" b="0" i="0">
                <a:solidFill>
                  <a:srgbClr val="1A1A1A"/>
                </a:solidFill>
                <a:latin typeface="Arial"/>
              </a:rPr>
              <a:t>And plan to re-commit all of it when the sponsor changes, because the next minister will not feel bound by the last one's promises.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afterthoughts to add if the programme survives. They are how it survives.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What kills these programmes is organisational, not technical — the team pulled, the sponsor changed, governance gone advisory, funding withdrawn — so design the protections in from the start.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§4.2.1 (Management)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the evidence says works — and what quietly kills these programmes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Will it work for your other sectors? — the portability case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method is not tied to one sector — the same five phases run on any public-sector domain, and because the hard part is building the muscle once, each sector after the first is cheaper and faster.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Most of the method does not change at all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five phases, the four sign-offs, the deliverables, the reuse-before-build default, the binding governance board — none of it is specific to education. It is the method.</a:t>
            </a:r>
          </a:p>
          <a:p>
            <a:pPr>
              <a:spcAft>
                <a:spcPts val="1200"/>
              </a:spcAft>
            </a:pPr>
            <a:r>
              <a:rPr sz="2000" b="0" i="0">
                <a:solidFill>
                  <a:srgbClr val="1A1A1A"/>
                </a:solidFill>
                <a:latin typeface="Arial"/>
              </a:rPr>
              <a:t>What changes when you move to another sector is only the contents: the institutions you map, and the kind of record at the centre of the fragmentation.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method travels. Only the contents change.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changes is the record at the centre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Education — the learner</a:t>
            </a:r>
          </a:p>
          <a:p>
            <a:pPr>
              <a:spcAft>
                <a:spcPts val="300"/>
              </a:spcAft>
            </a:pPr>
            <a:r>
              <a:rPr sz="1550" b="0" i="0">
                <a:solidFill>
                  <a:srgbClr val="595959"/>
                </a:solidFill>
                <a:latin typeface="Arial"/>
              </a:rPr>
              <a:t>Registered in the school census, by the examination authority, by a grant programme.</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Health — the patient</a:t>
            </a:r>
          </a:p>
          <a:p>
            <a:pPr>
              <a:spcAft>
                <a:spcPts val="300"/>
              </a:spcAft>
            </a:pPr>
            <a:r>
              <a:rPr sz="1550" b="0" i="0">
                <a:solidFill>
                  <a:srgbClr val="595959"/>
                </a:solidFill>
                <a:latin typeface="Arial"/>
              </a:rPr>
              <a:t>The record that should follow a person between facilities.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Agriculture — the farmer</a:t>
            </a:r>
          </a:p>
          <a:p>
            <a:pPr>
              <a:spcAft>
                <a:spcPts val="300"/>
              </a:spcAft>
            </a:pPr>
            <a:r>
              <a:rPr sz="1550" b="0" i="0">
                <a:solidFill>
                  <a:srgbClr val="595959"/>
                </a:solidFill>
                <a:latin typeface="Arial"/>
              </a:rPr>
              <a:t>The registry every subsidy and extension programme rebuilds.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Social protection — the beneficiary</a:t>
            </a:r>
          </a:p>
          <a:p>
            <a:pPr>
              <a:spcAft>
                <a:spcPts val="300"/>
              </a:spcAft>
            </a:pPr>
            <a:r>
              <a:rPr sz="1550" b="0" i="0">
                <a:solidFill>
                  <a:srgbClr val="595959"/>
                </a:solidFill>
                <a:latin typeface="Arial"/>
              </a:rPr>
              <a:t>The list each programme keeps its own copy of.</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portability statement, not worked examples — each sector needs its own discovery.</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second sector is cheaper because the muscle is built once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expensive part is the first time — the permanent team, the localised framework, the governance, and above all the shared platforms like identity and data exchange.</a:t>
            </a:r>
          </a:p>
          <a:p>
            <a:pPr>
              <a:spcAft>
                <a:spcPts val="1200"/>
              </a:spcAft>
            </a:pPr>
            <a:r>
              <a:rPr sz="2000" b="0" i="0">
                <a:solidFill>
                  <a:srgbClr val="1A1A1A"/>
                </a:solidFill>
                <a:latin typeface="Arial"/>
              </a:rPr>
              <a:t>Once those exist, the second sector does not rebuild them; it consumes them. Health reuses the identity platform the education work stood up. Agriculture reuses the data-exchange backbone.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investment you make for one sector is, in large part, an investment for all.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not buying a one-sector tool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are building a national capability, of which the first sector is the foundation and the proof. The first sector carries more of the cost because it builds the shared muscle; every sector after it costs less.</a:t>
            </a:r>
          </a:p>
          <a:p>
            <a:pPr>
              <a:spcAft>
                <a:spcPts val="1200"/>
              </a:spcAft>
            </a:pPr>
            <a:r>
              <a:rPr sz="2000" b="0" i="0">
                <a:solidFill>
                  <a:srgbClr val="1A1A1A"/>
                </a:solidFill>
                <a:latin typeface="Arial"/>
              </a:rPr>
              <a:t>That is a stronger case to make, and an honest one.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minister who funds this as one sector undersells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is sector-agnostic — same phases, only the central record changes — and because the muscle is built once, every sector after the first is cheaper and faster.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6.3 · Will it work for your other sectors? — the portability case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Win the commitment — the business case that gets your minister to yes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Winning the minister's commitment is not about the architecture — it is about the number. Pair the whole-of-government re-use saving with the proven evidence and an honest time horizon, and you turn a technical case into one a minister can take to cabinet.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Lead with the saving, not the architecture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strongest number you have is the cost of fragmentation: every programme that builds its own identity, its own registry, its own integration means the country pays many times for one thing.</a:t>
            </a:r>
          </a:p>
          <a:p>
            <a:pPr>
              <a:spcAft>
                <a:spcPts val="1200"/>
              </a:spcAft>
            </a:pPr>
            <a:r>
              <a:rPr sz="2000" b="0" i="0">
                <a:solidFill>
                  <a:srgbClr val="1A1A1A"/>
                </a:solidFill>
                <a:latin typeface="Arial"/>
              </a:rPr>
              <a:t>A whole-of-government business case shows that consuming shared building blocks instead would save a meaningful share of the sectoral digital budget over five years. That number, not the four-layer diagram, opens a cabinet conversation.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architecture is how you achieve the saving. The saving is what you sell.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Back the number with the proof, because a minister's first worry is risk</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saving that depends on an untested approach is easy to refuse. A saving backed by four governments that have already built the same pattern is much harder to wave away.</a:t>
            </a:r>
          </a:p>
          <a:p>
            <a:pPr>
              <a:spcAft>
                <a:spcPts val="1200"/>
              </a:spcAft>
            </a:pPr>
            <a:r>
              <a:rPr sz="2000" b="0" i="0">
                <a:solidFill>
                  <a:srgbClr val="1A1A1A"/>
                </a:solidFill>
                <a:latin typeface="Arial"/>
              </a:rPr>
              <a:t>This is a charted path that countries like yours have walked, with the obstacles documented.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 bet on a theory — a saving others have already proven is real.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Ministers fund people who tell them the real timeline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Name the real cost: a small permanent team and governance, typically around two per cent of the digital-government budget, sustained for five years.</a:t>
            </a:r>
          </a:p>
          <a:p>
            <a:pPr>
              <a:spcAft>
                <a:spcPts val="1200"/>
              </a:spcAft>
            </a:pPr>
            <a:r>
              <a:rPr sz="2000" b="0" i="0">
                <a:solidFill>
                  <a:srgbClr val="1A1A1A"/>
                </a:solidFill>
                <a:latin typeface="Arial"/>
              </a:rPr>
              <a:t>And the real horizon: about six months to a roadmap the minister can show, but years to full maturity — so the minister who launches this will likely not be the one who completes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Said as a weakness, that sinks the case. Said as the truth, it wins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one page, in the order a minister reads it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saving</a:t>
            </a:r>
          </a:p>
          <a:p>
            <a:pPr>
              <a:spcAft>
                <a:spcPts val="300"/>
              </a:spcAft>
            </a:pPr>
            <a:r>
              <a:rPr sz="1550" b="0" i="0">
                <a:solidFill>
                  <a:srgbClr val="595959"/>
                </a:solidFill>
                <a:latin typeface="Arial"/>
              </a:rPr>
              <a:t>The country-level number over five years.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proof</a:t>
            </a:r>
          </a:p>
          <a:p>
            <a:pPr>
              <a:spcAft>
                <a:spcPts val="300"/>
              </a:spcAft>
            </a:pPr>
            <a:r>
              <a:rPr sz="1550" b="0" i="0">
                <a:solidFill>
                  <a:srgbClr val="595959"/>
                </a:solidFill>
                <a:latin typeface="Arial"/>
              </a:rPr>
              <a:t>The governments that have already done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ask</a:t>
            </a:r>
          </a:p>
          <a:p>
            <a:pPr>
              <a:spcAft>
                <a:spcPts val="300"/>
              </a:spcAft>
            </a:pPr>
            <a:r>
              <a:rPr sz="1550" b="0" i="0">
                <a:solidFill>
                  <a:srgbClr val="595959"/>
                </a:solidFill>
                <a:latin typeface="Arial"/>
              </a:rPr>
              <a:t>A small permanent team, a board with real authority, ~2% sustained, protect the team.</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horizon</a:t>
            </a:r>
          </a:p>
          <a:p>
            <a:pPr>
              <a:spcAft>
                <a:spcPts val="300"/>
              </a:spcAft>
            </a:pPr>
            <a:r>
              <a:rPr sz="1550" b="0" i="0">
                <a:solidFill>
                  <a:srgbClr val="595959"/>
                </a:solidFill>
                <a:latin typeface="Arial"/>
              </a:rPr>
              <a:t>Six months to a roadmap, then a sustained practice.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Saving, proof, ask, horizon — a request the minister can defend in cabinet.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Ministers commit to numbers and proof, not architecture — pair the whole-of-government saving with the evidence and an honest cost, and you turn a technical request into a cabinet-ready case.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Win the commitment — the business case that gets your minister to yes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Build your team's capability with open knowledge products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You do not have to train your team from scratch — open knowledge products, a shared framework, and a community of practising countries mean your people can learn the method from materials that already exist, freeing your budget for the work itself.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method is not locked in a consultant's head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reference architecture is published. The building-block specifications are open. The knowledge products — videos, written guides, worked examples — are made to teach a practising architect the method step by step.</a:t>
            </a:r>
          </a:p>
          <a:p>
            <a:pPr>
              <a:spcAft>
                <a:spcPts val="1200"/>
              </a:spcAft>
            </a:pPr>
            <a:r>
              <a:rPr sz="2000" b="0" i="0">
                <a:solidFill>
                  <a:srgbClr val="1A1A1A"/>
                </a:solidFill>
                <a:latin typeface="Arial"/>
              </a:rPr>
              <a:t>Your team does not start from a blank page. They start from a documented method that other countries are already using.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Your training cost is a fraction of building the knowledge yourself.</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 you draw on rather than build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published framework</a:t>
            </a:r>
          </a:p>
          <a:p>
            <a:pPr>
              <a:spcAft>
                <a:spcPts val="300"/>
              </a:spcAft>
            </a:pPr>
            <a:r>
              <a:rPr sz="1550" b="0" i="0">
                <a:solidFill>
                  <a:srgbClr val="595959"/>
                </a:solidFill>
                <a:latin typeface="Arial"/>
              </a:rPr>
              <a:t>What to do — the phases, the principles, the deliverables.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worked examples and the AI plays</a:t>
            </a:r>
          </a:p>
          <a:p>
            <a:pPr>
              <a:spcAft>
                <a:spcPts val="300"/>
              </a:spcAft>
            </a:pPr>
            <a:r>
              <a:rPr sz="1550" b="0" i="0">
                <a:solidFill>
                  <a:srgbClr val="595959"/>
                </a:solidFill>
                <a:latin typeface="Arial"/>
              </a:rPr>
              <a:t>How to do it faster — a method turned into a draft in minutes.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community of countries and partners</a:t>
            </a:r>
          </a:p>
          <a:p>
            <a:pPr>
              <a:spcAft>
                <a:spcPts val="300"/>
              </a:spcAft>
            </a:pPr>
            <a:r>
              <a:rPr sz="1550" b="0" i="0">
                <a:solidFill>
                  <a:srgbClr val="595959"/>
                </a:solidFill>
                <a:latin typeface="Arial"/>
              </a:rPr>
              <a:t>Who to ask when your team is stuck.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are not equipping your team alone. You are connecting them to a network.</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you actually need to fund is time, not invention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Not the invention of a method — that exists. You fund a small team given the time to learn it and apply it to your country, and access to the materials and the community.</a:t>
            </a:r>
          </a:p>
          <a:p>
            <a:pPr>
              <a:spcAft>
                <a:spcPts val="1200"/>
              </a:spcAft>
            </a:pPr>
            <a:r>
              <a:rPr sz="2000" b="0" i="0">
                <a:solidFill>
                  <a:srgbClr val="1A1A1A"/>
                </a:solidFill>
                <a:latin typeface="Arial"/>
              </a:rPr>
              <a:t>The expensive thing — decades of accumulated knowledge about what works in public-sector architecture — you get for the cost of learning it, not the cost of discovering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Fund a team to apply a proven method, not consultants to invent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Build the capability in your own people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Open knowledge products let you build the capability inside your own institutions — architects who learn the method, apply it, and stay — instead of expertise that walks out of the door when a contract ends.</a:t>
            </a:r>
          </a:p>
          <a:p>
            <a:pPr>
              <a:spcAft>
                <a:spcPts val="1200"/>
              </a:spcAft>
            </a:pPr>
            <a:r>
              <a:rPr sz="2000" b="0" i="0">
                <a:solidFill>
                  <a:srgbClr val="1A1A1A"/>
                </a:solidFill>
                <a:latin typeface="Arial"/>
              </a:rPr>
              <a:t>A strategist's quiet goal in all of this is a national capability that outlasts any single contract or consultant.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Open knowledge products are how you build it in your own people.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method, the framework and the training already exist as open knowledge products — so fund a small team to learn and apply them, not consultants to reinvent them, and build the capability in your own people.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§4.5 (Digital Co-creation)</a:t>
            </a:r>
          </a:p>
          <a:p>
            <a:pPr>
              <a:spcAft>
                <a:spcPts val="1200"/>
              </a:spcAft>
            </a:pPr>
            <a:r>
              <a:rPr sz="1700" b="0" i="0">
                <a:solidFill>
                  <a:srgbClr val="1A1A1A"/>
                </a:solidFill>
                <a:latin typeface="Arial"/>
              </a:rPr>
              <a:t>•  PAERA v1.0 — §1.3 (GovStack Vision)</a:t>
            </a:r>
          </a:p>
          <a:p>
            <a:pPr>
              <a:spcAft>
                <a:spcPts val="1200"/>
              </a:spcAft>
            </a:pPr>
            <a:r>
              <a:rPr sz="1700" b="0" i="0">
                <a:solidFill>
                  <a:srgbClr val="1A1A1A"/>
                </a:solidFill>
                <a:latin typeface="Arial"/>
              </a:rPr>
              <a:t>•  GovStack knowledge base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6.5 · Build your team's capability with open knowledge products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Roll it out — from one sector to a national EA practice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Rolling this out nationally is itself a wave roadmap — start with one sector that proves the pattern and builds the shared platforms, then bring sectors on one at a time, each cheaper than the last, until the architecture is how your whole government works.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Wave 1 looks like one sector. It is the foundation the rollout stands on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Pick the sector with a clear flagship the minister cares about — the single learner record, the single patient record — and run the full method there, end to end.</a:t>
            </a:r>
          </a:p>
          <a:p>
            <a:pPr>
              <a:spcAft>
                <a:spcPts val="1200"/>
              </a:spcAft>
            </a:pPr>
            <a:r>
              <a:rPr sz="2000" b="0" i="0">
                <a:solidFill>
                  <a:srgbClr val="1A1A1A"/>
                </a:solidFill>
                <a:latin typeface="Arial"/>
              </a:rPr>
              <a:t>But notice what Wave 1 really builds: not just that sector's architecture, but the national foundations — the permanent team, the governance board, and the first shared platforms like identity and data exchange.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sector, done well — and the national foundations, laid.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Wave 2 the rollout accelerates instead of getting harder</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Each new sector consumes the shared platforms Wave 1 built, runs a lighter method because the team, the framework and the governance are already in place, and delivers faster for less.</a:t>
            </a:r>
          </a:p>
          <a:p>
            <a:pPr>
              <a:spcAft>
                <a:spcPts val="1200"/>
              </a:spcAft>
            </a:pPr>
            <a:r>
              <a:rPr sz="2000" b="0" i="0">
                <a:solidFill>
                  <a:srgbClr val="1A1A1A"/>
                </a:solidFill>
                <a:latin typeface="Arial"/>
              </a:rPr>
              <a:t>Every sector that joins makes the next one easier still — the platforms get more complete and the team more practised.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opposite of a programme that gets harder under its own weight.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 the rollout — do not just launch it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same board that reviews projects inside a sector governs the national pipeline: which sector comes next, what each must reuse, and where an exception is genuinely warranted.</a:t>
            </a:r>
          </a:p>
          <a:p>
            <a:pPr>
              <a:spcAft>
                <a:spcPts val="1200"/>
              </a:spcAft>
            </a:pPr>
            <a:r>
              <a:rPr sz="2000" b="0" i="0">
                <a:solidFill>
                  <a:srgbClr val="1A1A1A"/>
                </a:solidFill>
                <a:latin typeface="Arial"/>
              </a:rPr>
              <a:t>A rollout that is launched and left drifts back into fragmentation, one sector at a time.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governed rollout compounds into a single national architecture.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every quarter — the national scorecard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Sectors live</a:t>
            </a:r>
          </a:p>
          <a:p>
            <a:pPr>
              <a:spcAft>
                <a:spcPts val="300"/>
              </a:spcAft>
            </a:pPr>
            <a:r>
              <a:rPr sz="1550" b="0" i="0">
                <a:solidFill>
                  <a:srgbClr val="595959"/>
                </a:solidFill>
                <a:latin typeface="Arial"/>
              </a:rPr>
              <a:t>How many have run the method end to end.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re-use rate across them</a:t>
            </a:r>
          </a:p>
          <a:p>
            <a:pPr>
              <a:spcAft>
                <a:spcPts val="300"/>
              </a:spcAft>
            </a:pPr>
            <a:r>
              <a:rPr sz="1550" b="0" i="0">
                <a:solidFill>
                  <a:srgbClr val="595959"/>
                </a:solidFill>
                <a:latin typeface="Arial"/>
              </a:rPr>
              <a:t>How much of the new work consumes a shared block instead of rebuilding it.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Shared platforms in place</a:t>
            </a:r>
          </a:p>
          <a:p>
            <a:pPr>
              <a:spcAft>
                <a:spcPts val="300"/>
              </a:spcAft>
            </a:pPr>
            <a:r>
              <a:rPr sz="1550" b="0" i="0">
                <a:solidFill>
                  <a:srgbClr val="595959"/>
                </a:solidFill>
                <a:latin typeface="Arial"/>
              </a:rPr>
              <a:t>Which of identity, payments and data exchange are authoritative and available.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It sustains funding across a change of government, and catches a drifting sector early.</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Roll it out as a wave roadmap — one sector first to prove the pattern and build the shared platforms, then sectors one at a time, each cheaper, governed into a single national architecture.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§5.7 (Recommended Roadmap)</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6.6 · Roll it out — from one sector to a national EA practice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6 · VIDEO 6.7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closing case — proven, portable, and necessary now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case for a national EA comes down to three things you can now say with confidence — it is proven, it is portable, and in the era of redesigning how government works it is no longer optional but necessary — held together by the two reasons an EA exists: it makes re-use possible, and it gives business and IT a shared language.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Proven and portable — the first two you can now say plainly</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PROVEN</a:t>
            </a:r>
          </a:p>
          <a:p>
            <a:pPr>
              <a:spcAft>
                <a:spcPts val="700"/>
              </a:spcAft>
            </a:pPr>
            <a:r>
              <a:rPr sz="1600" b="0" i="0">
                <a:solidFill>
                  <a:srgbClr val="1A1A1A"/>
                </a:solidFill>
                <a:latin typeface="Arial"/>
              </a:rPr>
              <a:t>Four very different governments built the same pattern.</a:t>
            </a:r>
          </a:p>
          <a:p>
            <a:pPr>
              <a:spcAft>
                <a:spcPts val="700"/>
              </a:spcAft>
            </a:pPr>
            <a:r>
              <a:rPr sz="1600" b="0" i="0">
                <a:solidFill>
                  <a:srgbClr val="1A1A1A"/>
                </a:solidFill>
                <a:latin typeface="Arial"/>
              </a:rPr>
              <a:t>Successes and failures both documented.</a:t>
            </a:r>
          </a:p>
          <a:p>
            <a:pPr>
              <a:spcAft>
                <a:spcPts val="700"/>
              </a:spcAft>
            </a:pPr>
            <a:r>
              <a:rPr sz="1600" b="0" i="0">
                <a:solidFill>
                  <a:srgbClr val="1A1A1A"/>
                </a:solidFill>
                <a:latin typeface="Arial"/>
              </a:rPr>
              <a:t>You adapt a charted path rather than invent one.</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PORTABLE</a:t>
            </a:r>
          </a:p>
          <a:p>
            <a:pPr>
              <a:spcAft>
                <a:spcPts val="700"/>
              </a:spcAft>
            </a:pPr>
            <a:r>
              <a:rPr sz="1600" b="0" i="0">
                <a:solidFill>
                  <a:srgbClr val="1A1A1A"/>
                </a:solidFill>
                <a:latin typeface="Arial"/>
              </a:rPr>
              <a:t>The method is sector-agnostic.</a:t>
            </a:r>
          </a:p>
          <a:p>
            <a:pPr>
              <a:spcAft>
                <a:spcPts val="700"/>
              </a:spcAft>
            </a:pPr>
            <a:r>
              <a:rPr sz="1600" b="0" i="0">
                <a:solidFill>
                  <a:srgbClr val="1A1A1A"/>
                </a:solidFill>
                <a:latin typeface="Arial"/>
              </a:rPr>
              <a:t>The same phases on a learner, a patient, a farmer.</a:t>
            </a:r>
          </a:p>
          <a:p>
            <a:pPr>
              <a:spcAft>
                <a:spcPts val="700"/>
              </a:spcAft>
            </a:pPr>
            <a:r>
              <a:rPr sz="1600" b="0" i="0">
                <a:solidFill>
                  <a:srgbClr val="1A1A1A"/>
                </a:solidFill>
                <a:latin typeface="Arial"/>
              </a:rPr>
              <a:t>Each sector after the first costs less.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Those two alone make a strong case. The third is what makes it urgent.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For thirty years, digital government meant putting paper online. That era is ending</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form became a web form, the queue an appointment. The work that delivers real results today is different: once-only data sharing, a shared identity, a single record that follows a person across services.</a:t>
            </a:r>
          </a:p>
          <a:p>
            <a:pPr>
              <a:spcAft>
                <a:spcPts val="1200"/>
              </a:spcAft>
            </a:pPr>
            <a:r>
              <a:rPr sz="2000" b="0" i="0">
                <a:solidFill>
                  <a:srgbClr val="1A1A1A"/>
                </a:solidFill>
                <a:latin typeface="Arial"/>
              </a:rPr>
              <a:t>That work is not putting paper online. It is changing how the government operates.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And it cannot be done by the IT department alone, or the policy side alone.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two reasons an Enterprise Architecture exists</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RE-USE</a:t>
            </a:r>
          </a:p>
          <a:p>
            <a:pPr>
              <a:spcAft>
                <a:spcPts val="700"/>
              </a:spcAft>
            </a:pPr>
            <a:r>
              <a:rPr sz="1600" b="0" i="0">
                <a:solidFill>
                  <a:srgbClr val="1A1A1A"/>
                </a:solidFill>
                <a:latin typeface="Arial"/>
              </a:rPr>
              <a:t>Inside any project, building your own is cheaper than reusing — so projects fragment.</a:t>
            </a:r>
          </a:p>
          <a:p>
            <a:pPr>
              <a:spcAft>
                <a:spcPts val="700"/>
              </a:spcAft>
            </a:pPr>
            <a:r>
              <a:rPr sz="1600" b="0" i="0">
                <a:solidFill>
                  <a:srgbClr val="1A1A1A"/>
                </a:solidFill>
                <a:latin typeface="Arial"/>
              </a:rPr>
              <a:t>No procurement rule can change that.</a:t>
            </a:r>
          </a:p>
          <a:p>
            <a:pPr>
              <a:spcAft>
                <a:spcPts val="700"/>
              </a:spcAft>
            </a:pPr>
            <a:r>
              <a:rPr sz="1600" b="0" i="0">
                <a:solidFill>
                  <a:srgbClr val="1A1A1A"/>
                </a:solidFill>
                <a:latin typeface="Arial"/>
              </a:rPr>
              <a:t>Only whole-of-government planning makes re-use rational, and only an EA gives that view.</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SHARED LANGUAGE</a:t>
            </a:r>
          </a:p>
          <a:p>
            <a:pPr>
              <a:spcAft>
                <a:spcPts val="700"/>
              </a:spcAft>
            </a:pPr>
            <a:r>
              <a:rPr sz="1600" b="0" i="0">
                <a:solidFill>
                  <a:srgbClr val="1A1A1A"/>
                </a:solidFill>
                <a:latin typeface="Arial"/>
              </a:rPr>
              <a:t>The new work needs the business side and the IT side to decide together.</a:t>
            </a:r>
          </a:p>
          <a:p>
            <a:pPr>
              <a:spcAft>
                <a:spcPts val="700"/>
              </a:spcAft>
            </a:pPr>
            <a:r>
              <a:rPr sz="1600" b="0" i="0">
                <a:solidFill>
                  <a:srgbClr val="1A1A1A"/>
                </a:solidFill>
                <a:latin typeface="Arial"/>
              </a:rPr>
              <a:t>They do not speak the same language.</a:t>
            </a:r>
          </a:p>
          <a:p>
            <a:pPr>
              <a:spcAft>
                <a:spcPts val="700"/>
              </a:spcAft>
            </a:pPr>
            <a:r>
              <a:rPr sz="1600" b="0" i="0">
                <a:solidFill>
                  <a:srgbClr val="1A1A1A"/>
                </a:solidFill>
                <a:latin typeface="Arial"/>
              </a:rPr>
              <a:t>An EA gives them a shared picture, shared words, and a forum to decide in.</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Everything else in this knowledge product serves those two.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Useful then. Necessary now</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In the era of digitising paper, an Enterprise Architecture was useful — a nice-to-have that made things tidier.</a:t>
            </a:r>
          </a:p>
          <a:p>
            <a:pPr>
              <a:spcAft>
                <a:spcPts val="1200"/>
              </a:spcAft>
            </a:pPr>
            <a:r>
              <a:rPr sz="2000" b="0" i="0">
                <a:solidFill>
                  <a:srgbClr val="1A1A1A"/>
                </a:solidFill>
                <a:latin typeface="Arial"/>
              </a:rPr>
              <a:t>In the era of redesigning how government works, it is necessary: without it, re-use does not happen, and the business and IT sides cannot have the conversation the redesign requires.</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case is not that an EA would be a good idea. It is that the new work cannot be done well without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Proven, portable, and necessary now — held together by the two reasons an EA exists: it makes re-use possible, and it gives business and IT a shared language.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§2.5 (What is Digital Government?)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6.7 · The closing case — proven, portable, and necessary now</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