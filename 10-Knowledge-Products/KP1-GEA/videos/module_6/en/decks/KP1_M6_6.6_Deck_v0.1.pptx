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1" r:id="rId10"/>
    <p:sldId id="2732" r:id="rId54"/>
    <p:sldId id="2733" r:id="rId55"/>
    <p:sldId id="2734" r:id="rId56"/>
    <p:sldId id="2735" r:id="rId57"/>
    <p:sldId id="2736" r:id="rId58"/>
    <p:sldId id="273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0"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6.6. Content slides are identical to the corresponding section of the combined deck KP1_M6_Deck_v0.1.pptx;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Suppose you have the commitment. How do you actually roll this out across a government, without trying to do everything at once and failing? The answer is the same discipline the method uses inside one sector, applied to the whole country: a wave roadmap. Start small, prove it, build the shared muscle, then bring sectors on one at a time.</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Wave one is one sector, done well. Pick the sector with a clear flagship the minister cares about — the single learner record, the single patient record. Run the full method there, end to end. But notice what wave one really builds: not just that sector's architecture, but the national foundations — the permanent team, the governance board, and the first shared platforms like identity and data exchange. Wave one looks like one sector. It is actually the foundation the whole rollout stands on.</a:t>
            </a:r>
          </a:p>
          <a:p/>
          <a:p>
            <a:r>
              <a:t>On screen: the sector block standing on a wider foundation block — reveal the base on 'but notice what wave one really builds'.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From wave two, each new sector reuses what wave one built. The health sector consumes the identity platform and the data-exchange backbone that already exist. Its run of the method is lighter, because the team, the framework and the governance are in place. It delivers faster and costs less. And every sector that joins makes the next one easier still, because the shared platforms get more complete and the team more practised. The rollout accelerates as it goes — the opposite of a programme that gets harder under its own weight.</a:t>
            </a:r>
          </a:p>
          <a:p/>
          <a:p>
            <a:r>
              <a:t>On screen: a wave roadmap — each wave a smaller block than the last, the platform bar beneath growing, the Board bar across the top (the next slide's subject). Reveal the waves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govern the rollout rather than just launching it. The same board that reviews projects inside a sector governs the national pipeline: which sector comes next, what each must reuse, where an exception is genuinely warranted. This keeps the rollout coherent — every new sector building on the shared foundation instead of starting its own. A rollout that is launched and left drifts back into fragmentation, one sector at a time. A rollout that is governed compounds into a single national architecture.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Finally, report the national picture upward, on one page, every quarter. How many sectors are live. The re-use rate across them. Which shared platforms are in place. This does two things. It shows the minister the national capability actually growing — sector by sector, saving by saving — which is what sustains the funding across a change of government. And it lets you see, early, if a sector is drifting from the shared foundation, while it is still cheap to correct. The national scorecard is how a multi-year rollout stays funded and stays coherent.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rollout is a wave roadmap at national scale. One sector to prove it and build the foundations. Then sectors one at a time, each reusing the last, each cheaper, all governed into one coherent architecture and reported on a single page. That is how an approach that works in one sector becomes how your whole government works.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6.6 — Roll it out — from one sector to a national EA practice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6 · Video 6.6</a:t>
            </a:r>
          </a:p>
          <a:p>
            <a:r>
              <a:rPr sz="1200" b="0" i="1">
                <a:solidFill>
                  <a:srgbClr val="595959"/>
                </a:solidFill>
                <a:latin typeface="Arial"/>
              </a:rPr>
              <a:t>Rolling this out nationally is itself a wave roadmap — start with one sector that proves the pattern and builds the shared platforms, then bring sectors on one at a time, each cheaper than the last, until the architecture is how your whole government works.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Director-general · head of a sectoral ICT unit · technical secretary</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CASE YOU CARRY INTO THE ROOM</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Proven — four real governments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Portable — sector after sector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commitment — the one page</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capability — your own people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Necessary now, not just useful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governments · 4 killers to design out · 1 page for the minister</a:t>
            </a:r>
          </a:p>
        </p:txBody>
      </p:sp>
    </p:spTree>
    <p:extLst>
      <p:ext uri="{BB962C8B-B14F-4D97-AF65-F5344CB8AC3E}">
        <p14:creationId xmlns:p14="http://schemas.microsoft.com/office/powerpoint/2010/main" val="1196800265"/>
      </p:ext>
    </p:extLst>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Roll it out — from one sector to a national EA practice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Rolling this out nationally is itself a wave roadmap — start with one sector that proves the pattern and builds the shared platforms, then bring sectors on one at a time, each cheaper than the last, until the architecture is how your whole government works.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Wave 1 looks like one sector. It is the foundation the rollout stands on</a:t>
            </a:r>
          </a:p>
        </p:txBody>
      </p:sp>
      <p:sp>
        <p:nvSpPr>
          <p:cNvPr id="4" name="Rounded Rectangle 3"/>
          <p:cNvSpPr/>
          <p:nvPr/>
        </p:nvSpPr>
        <p:spPr>
          <a:xfrm>
            <a:off x="2651760" y="1737360"/>
            <a:ext cx="4754880"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WAVE 1 — ONE SECTOR, THE FULL METHOD, END TO END</a:t>
            </a:r>
          </a:p>
          <a:p>
            <a:pPr algn="l">
              <a:spcAft>
                <a:spcPts val="300"/>
              </a:spcAft>
            </a:pPr>
            <a:r>
              <a:rPr sz="1300" b="0" i="0">
                <a:solidFill>
                  <a:srgbClr val="1A1A1A"/>
                </a:solidFill>
                <a:latin typeface="Arial"/>
              </a:rPr>
              <a:t>A sector with a clear flagship the minister cares about — the single learner record, the single patient record.</a:t>
            </a:r>
          </a:p>
        </p:txBody>
      </p:sp>
      <p:sp>
        <p:nvSpPr>
          <p:cNvPr id="5" name="Rounded Rectangle 4"/>
          <p:cNvSpPr/>
          <p:nvPr/>
        </p:nvSpPr>
        <p:spPr>
          <a:xfrm>
            <a:off x="658368" y="3383280"/>
            <a:ext cx="8732520" cy="16002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WHAT WAVE 1 REALLY BUILDS — THE NATIONAL FOUNDATIONS</a:t>
            </a:r>
          </a:p>
          <a:p>
            <a:pPr algn="l">
              <a:spcAft>
                <a:spcPts val="300"/>
              </a:spcAft>
            </a:pPr>
            <a:r>
              <a:rPr sz="1300" b="0" i="0">
                <a:solidFill>
                  <a:srgbClr val="FFFFFF"/>
                </a:solidFill>
                <a:latin typeface="Arial"/>
              </a:rPr>
              <a:t>The permanent team  ·  the governance board  ·  the first shared platforms: identity, data exchange</a:t>
            </a:r>
          </a:p>
          <a:p>
            <a:pPr algn="l">
              <a:spcAft>
                <a:spcPts val="300"/>
              </a:spcAft>
            </a:pPr>
            <a:r>
              <a:rPr sz="1300" b="0" i="0">
                <a:solidFill>
                  <a:srgbClr val="FFFFFF"/>
                </a:solidFill>
                <a:latin typeface="Arial"/>
              </a:rPr>
              <a:t>Every later sector stands on this — none of them builds it again.</a:t>
            </a:r>
          </a:p>
        </p:txBody>
      </p:sp>
      <p:sp>
        <p:nvSpPr>
          <p:cNvPr id="6" name="Rectangle 5"/>
          <p:cNvSpPr/>
          <p:nvPr/>
        </p:nvSpPr>
        <p:spPr>
          <a:xfrm>
            <a:off x="9646920" y="1737360"/>
            <a:ext cx="45720" cy="324612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1737360"/>
            <a:ext cx="1737360" cy="3246120"/>
          </a:xfrm>
          <a:prstGeom prst="rect">
            <a:avLst/>
          </a:prstGeom>
          <a:noFill/>
        </p:spPr>
        <p:txBody>
          <a:bodyPr wrap="square">
            <a:spAutoFit/>
          </a:bodyPr>
          <a:lstStyle/>
          <a:p>
            <a:pPr>
              <a:spcAft>
                <a:spcPts val="800"/>
              </a:spcAft>
            </a:pPr>
            <a:r>
              <a:rPr sz="1250" b="0" i="1">
                <a:solidFill>
                  <a:srgbClr val="595959"/>
                </a:solidFill>
                <a:latin typeface="Arial"/>
              </a:rPr>
              <a:t>The sector is what the minister sees.</a:t>
            </a:r>
          </a:p>
          <a:p>
            <a:pPr>
              <a:spcAft>
                <a:spcPts val="800"/>
              </a:spcAft>
            </a:pPr>
            <a:r>
              <a:rPr sz="1250" b="0" i="1">
                <a:solidFill>
                  <a:srgbClr val="595959"/>
                </a:solidFill>
                <a:latin typeface="Arial"/>
              </a:rPr>
              <a:t>The base is what the country keeps.</a:t>
            </a:r>
          </a:p>
        </p:txBody>
      </p:sp>
      <p:sp>
        <p:nvSpPr>
          <p:cNvPr id="8" name="TextBox 7"/>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One sector, done well — and the national foundations, laid.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Wave 2 the rollout accelerates instead of getting harder</a:t>
            </a:r>
          </a:p>
        </p:txBody>
      </p:sp>
      <p:sp>
        <p:nvSpPr>
          <p:cNvPr id="4" name="Rounded Rectangle 3"/>
          <p:cNvSpPr/>
          <p:nvPr/>
        </p:nvSpPr>
        <p:spPr>
          <a:xfrm>
            <a:off x="658368" y="1554480"/>
            <a:ext cx="10881360" cy="457200"/>
          </a:xfrm>
          <a:prstGeom prst="roundRect">
            <a:avLst>
              <a:gd name="adj" fmla="val 30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Arial"/>
              </a:rPr>
              <a:t>THE EA BOARD GOVERNS THE PIPELINE — which sector next, what each must reuse, where an exception is warranted</a:t>
            </a:r>
          </a:p>
        </p:txBody>
      </p:sp>
      <p:sp>
        <p:nvSpPr>
          <p:cNvPr id="5" name="Rounded Rectangle 4"/>
          <p:cNvSpPr/>
          <p:nvPr/>
        </p:nvSpPr>
        <p:spPr>
          <a:xfrm>
            <a:off x="658368" y="2285999"/>
            <a:ext cx="3574222" cy="2606040"/>
          </a:xfrm>
          <a:prstGeom prst="roundRect">
            <a:avLst>
              <a:gd name="adj" fmla="val 8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FFFFFF"/>
                </a:solidFill>
                <a:latin typeface="Arial"/>
              </a:rPr>
              <a:t>WAVE 1 — education</a:t>
            </a:r>
          </a:p>
          <a:p>
            <a:pPr algn="l">
              <a:spcAft>
                <a:spcPts val="300"/>
              </a:spcAft>
            </a:pPr>
            <a:r>
              <a:rPr sz="1150" b="0" i="0">
                <a:solidFill>
                  <a:srgbClr val="FFFFFF"/>
                </a:solidFill>
                <a:latin typeface="Arial"/>
              </a:rPr>
              <a:t>Full method, end to end</a:t>
            </a:r>
          </a:p>
          <a:p>
            <a:pPr algn="l">
              <a:spcAft>
                <a:spcPts val="300"/>
              </a:spcAft>
            </a:pPr>
            <a:r>
              <a:rPr sz="1150" b="0" i="0">
                <a:solidFill>
                  <a:srgbClr val="FFFFFF"/>
                </a:solidFill>
                <a:latin typeface="Arial"/>
              </a:rPr>
              <a:t>Builds the team, the board, identity, data exchange</a:t>
            </a:r>
          </a:p>
        </p:txBody>
      </p:sp>
      <p:sp>
        <p:nvSpPr>
          <p:cNvPr id="6" name="Rounded Rectangle 5"/>
          <p:cNvSpPr/>
          <p:nvPr/>
        </p:nvSpPr>
        <p:spPr>
          <a:xfrm>
            <a:off x="4397182" y="2859328"/>
            <a:ext cx="2792361" cy="2032711"/>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006E96"/>
                </a:solidFill>
                <a:latin typeface="Arial"/>
              </a:rPr>
              <a:t>WAVE 2 — health</a:t>
            </a:r>
          </a:p>
          <a:p>
            <a:pPr algn="l">
              <a:spcAft>
                <a:spcPts val="300"/>
              </a:spcAft>
            </a:pPr>
            <a:r>
              <a:rPr sz="1150" b="0" i="0">
                <a:solidFill>
                  <a:srgbClr val="1A1A1A"/>
                </a:solidFill>
                <a:latin typeface="Arial"/>
              </a:rPr>
              <a:t>Consumes the platforms</a:t>
            </a:r>
          </a:p>
          <a:p>
            <a:pPr algn="l">
              <a:spcAft>
                <a:spcPts val="300"/>
              </a:spcAft>
            </a:pPr>
            <a:r>
              <a:rPr sz="1150" b="0" i="0">
                <a:solidFill>
                  <a:srgbClr val="1A1A1A"/>
                </a:solidFill>
                <a:latin typeface="Arial"/>
              </a:rPr>
              <a:t>Lighter method — team and governance in place</a:t>
            </a:r>
          </a:p>
        </p:txBody>
      </p:sp>
      <p:cxnSp>
        <p:nvCxnSpPr>
          <p:cNvPr id="7" name="Connector 6"/>
          <p:cNvCxnSpPr/>
          <p:nvPr/>
        </p:nvCxnSpPr>
        <p:spPr>
          <a:xfrm>
            <a:off x="4250878" y="4480559"/>
            <a:ext cx="128016"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354135" y="3276295"/>
            <a:ext cx="2233889" cy="1615744"/>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006E96"/>
                </a:solidFill>
                <a:latin typeface="Arial"/>
              </a:rPr>
              <a:t>WAVE 3 — agriculture</a:t>
            </a:r>
          </a:p>
          <a:p>
            <a:pPr algn="l">
              <a:spcAft>
                <a:spcPts val="300"/>
              </a:spcAft>
            </a:pPr>
            <a:r>
              <a:rPr sz="1150" b="0" i="0">
                <a:solidFill>
                  <a:srgbClr val="1A1A1A"/>
                </a:solidFill>
                <a:latin typeface="Arial"/>
              </a:rPr>
              <a:t>Consumes more</a:t>
            </a:r>
          </a:p>
          <a:p>
            <a:pPr algn="l">
              <a:spcAft>
                <a:spcPts val="300"/>
              </a:spcAft>
            </a:pPr>
            <a:r>
              <a:rPr sz="1150" b="0" i="0">
                <a:solidFill>
                  <a:srgbClr val="1A1A1A"/>
                </a:solidFill>
                <a:latin typeface="Arial"/>
              </a:rPr>
              <a:t>Faster, for less</a:t>
            </a:r>
          </a:p>
        </p:txBody>
      </p:sp>
      <p:cxnSp>
        <p:nvCxnSpPr>
          <p:cNvPr id="9" name="Connector 8"/>
          <p:cNvCxnSpPr/>
          <p:nvPr/>
        </p:nvCxnSpPr>
        <p:spPr>
          <a:xfrm>
            <a:off x="7207831" y="4480559"/>
            <a:ext cx="128016"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752616" y="3589020"/>
            <a:ext cx="1787111" cy="13030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006E96"/>
                </a:solidFill>
                <a:latin typeface="Arial"/>
              </a:rPr>
              <a:t>WAVE 4 — social protection</a:t>
            </a:r>
          </a:p>
          <a:p>
            <a:pPr algn="l">
              <a:spcAft>
                <a:spcPts val="300"/>
              </a:spcAft>
            </a:pPr>
            <a:r>
              <a:rPr sz="1150" b="0" i="0">
                <a:solidFill>
                  <a:srgbClr val="1A1A1A"/>
                </a:solidFill>
                <a:latin typeface="Arial"/>
              </a:rPr>
              <a:t>Easier still</a:t>
            </a:r>
          </a:p>
        </p:txBody>
      </p:sp>
      <p:cxnSp>
        <p:nvCxnSpPr>
          <p:cNvPr id="11" name="Connector 10"/>
          <p:cNvCxnSpPr/>
          <p:nvPr/>
        </p:nvCxnSpPr>
        <p:spPr>
          <a:xfrm>
            <a:off x="9606312" y="4480559"/>
            <a:ext cx="128016"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58368" y="5248656"/>
            <a:ext cx="3738814" cy="182880"/>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7182" y="5175504"/>
            <a:ext cx="2956953"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54135" y="5102352"/>
            <a:ext cx="2398481" cy="329184"/>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752616" y="5029200"/>
            <a:ext cx="1787111" cy="402336"/>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86400"/>
            <a:ext cx="10881360" cy="320040"/>
          </a:xfrm>
          <a:prstGeom prst="rect">
            <a:avLst/>
          </a:prstGeom>
          <a:noFill/>
        </p:spPr>
        <p:txBody>
          <a:bodyPr wrap="square">
            <a:spAutoFit/>
          </a:bodyPr>
          <a:lstStyle/>
          <a:p>
            <a:r>
              <a:rPr sz="1150" b="1" i="0">
                <a:solidFill>
                  <a:srgbClr val="006E96"/>
                </a:solidFill>
                <a:latin typeface="Arial"/>
              </a:rPr>
              <a:t>Shared platforms — more complete with every wave</a:t>
            </a:r>
          </a:p>
        </p:txBody>
      </p:sp>
      <p:sp>
        <p:nvSpPr>
          <p:cNvPr id="17" name="TextBox 16"/>
          <p:cNvSpPr txBox="1"/>
          <p:nvPr/>
        </p:nvSpPr>
        <p:spPr>
          <a:xfrm>
            <a:off x="658368" y="5806440"/>
            <a:ext cx="10881360" cy="548640"/>
          </a:xfrm>
          <a:prstGeom prst="rect">
            <a:avLst/>
          </a:prstGeom>
          <a:noFill/>
        </p:spPr>
        <p:txBody>
          <a:bodyPr wrap="square">
            <a:spAutoFit/>
          </a:bodyPr>
          <a:lstStyle/>
          <a:p>
            <a:r>
              <a:rPr sz="1550" b="1" i="0">
                <a:solidFill>
                  <a:srgbClr val="006E96"/>
                </a:solidFill>
                <a:latin typeface="Arial"/>
              </a:rPr>
              <a:t>The opposite of a programme that gets harder under its own weight.</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Govern the rollout — do not just launch it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same board that reviews projects inside a sector governs the national pipeline: which sector comes next, what each must reuse, and where an exception is genuinely warranted.</a:t>
            </a:r>
          </a:p>
          <a:p>
            <a:pPr>
              <a:spcAft>
                <a:spcPts val="1200"/>
              </a:spcAft>
            </a:pPr>
            <a:r>
              <a:rPr sz="2000" b="0" i="0">
                <a:solidFill>
                  <a:srgbClr val="1A1A1A"/>
                </a:solidFill>
                <a:latin typeface="Arial"/>
              </a:rPr>
              <a:t>A rollout that is launched and left drifts back into fragmentation, one sector at a time.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governed rollout compounds into a single national architecture.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page, every quarter — the national scorecard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Sectors live</a:t>
            </a:r>
          </a:p>
          <a:p>
            <a:pPr>
              <a:spcAft>
                <a:spcPts val="300"/>
              </a:spcAft>
            </a:pPr>
            <a:r>
              <a:rPr sz="1550" b="0" i="0">
                <a:solidFill>
                  <a:srgbClr val="595959"/>
                </a:solidFill>
                <a:latin typeface="Arial"/>
              </a:rPr>
              <a:t>How many have run the method end to end.</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re-use rate across them</a:t>
            </a:r>
          </a:p>
          <a:p>
            <a:pPr>
              <a:spcAft>
                <a:spcPts val="300"/>
              </a:spcAft>
            </a:pPr>
            <a:r>
              <a:rPr sz="1550" b="0" i="0">
                <a:solidFill>
                  <a:srgbClr val="595959"/>
                </a:solidFill>
                <a:latin typeface="Arial"/>
              </a:rPr>
              <a:t>How much of the new work consumes a shared block instead of rebuilding it.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Shared platforms in place</a:t>
            </a:r>
          </a:p>
          <a:p>
            <a:pPr>
              <a:spcAft>
                <a:spcPts val="300"/>
              </a:spcAft>
            </a:pPr>
            <a:r>
              <a:rPr sz="1550" b="0" i="0">
                <a:solidFill>
                  <a:srgbClr val="595959"/>
                </a:solidFill>
                <a:latin typeface="Arial"/>
              </a:rPr>
              <a:t>Which of identity, payments and data exchange are authoritative and available.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sustains funding across a change of government, and catches a drifting sector early.</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Roll it out as a wave roadmap — one sector first to prove the pattern and build the shared platforms, then sectors one at a time, each cheaper, governed into a single national architecture.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§5.7 (Recommended Roadmap)</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