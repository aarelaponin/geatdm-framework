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21.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81" r:id="rId8"/>
    <p:sldId id="2717" r:id="rId39"/>
    <p:sldId id="2718" r:id="rId40"/>
    <p:sldId id="2719" r:id="rId41"/>
    <p:sldId id="2720" r:id="rId42"/>
    <p:sldId id="2721" r:id="rId43"/>
    <p:sldId id="2722" r:id="rId44"/>
    <p:sldId id="2723"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 Id="rId39" Type="http://schemas.openxmlformats.org/officeDocument/2006/relationships/slide" Target="slides/slide24.xml"/><Relationship Id="rId40" Type="http://schemas.openxmlformats.org/officeDocument/2006/relationships/slide" Target="slides/slide25.xml"/><Relationship Id="rId41" Type="http://schemas.openxmlformats.org/officeDocument/2006/relationships/slide" Target="slides/slide26.xml"/><Relationship Id="rId42" Type="http://schemas.openxmlformats.org/officeDocument/2006/relationships/slide" Target="slides/slide27.xml"/><Relationship Id="rId43" Type="http://schemas.openxmlformats.org/officeDocument/2006/relationships/slide" Target="slides/slide28.xml"/><Relationship Id="rId44" Type="http://schemas.openxmlformats.org/officeDocument/2006/relationships/slide" Target="slides/slide29.xml"/><Relationship Id="rId45" Type="http://schemas.openxmlformats.org/officeDocument/2006/relationships/slide" Target="slides/slide30.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for standalone video 6.4. Content slides are identical to the corresponding section of the combined deck KP1_M6_Deck_v0.1.pptx; voice-over is in each slide’s notes.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slide 1: You have the evidence that it works and the case that it travels. Now the hardest step: getting your minister to commit the team, the mandate and the money. Ministers do not commit to architecture. They commit to outcomes, to numbers, and to cases they can defend in cabinet. So the case you bring cannot be about the architecture. It has to be about three things: the saving, the proof, and the honest cost.</a:t>
            </a:r>
          </a:p>
          <a:p/>
          <a:p>
            <a:r>
              <a:t>Retrieval prompt — ask before playing on: of everything in your case, what does a minister actually act on? Answer on the next slide.</a:t>
            </a:r>
          </a:p>
          <a:p/>
          <a:p>
            <a:r>
              <a:t>On screen: the copy-paste prompt is not shown on a slide — it ships in the video description so the viewer can draft the artefact on the other half of the screen.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Lead with the saving, because that is what a minister can act on. The strongest number you have is the cost of fragmentation: every programme that builds its own identity, its own registry, its own integration, means the country pays many times for one thing. A whole-of-government business case shows that consuming shared building blocks instead would save a meaningful share of the sectoral digital budget over five years. That number — not the four-layer diagram — is what opens a cabinet conversation. The architecture is how you achieve the saving; the saving is what you sell.</a:t>
            </a:r>
          </a:p>
          <a:p/>
          <a:p>
            <a:r>
              <a:t>Production cue: the pivotal slide of this video, and it answers the retrieval prompt set on the title slide.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Back the number with the proof, because a minister's first worry is risk. A saving that depends on an untested approach is easy to refuse. A saving backed by four governments that have already built the same pattern is much harder to wave away. So pair the business case with the evidence: this is not an experiment, it is a charted path that countries like yours have walked, with the obstacles documented. You are not asking the minister to bet on a theory. You are asking them to capture a saving that others have already proven is real.</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Then be honest about the cost and the time, because overselling loses the case the moment a sharp official tests it. Name the real cost: a small permanent team and governance, typically around two per cent of the digital-government budget, sustained for five years. And name the real horizon: about six months to a roadmap the minister can show, but years to full maturity — which means the minister who launches this will likely not be the one who completes it. Said as a weakness, that sinks the case. Said as the truth about serious institution-building, it is what separates a credible proposal from a salesman's. Ministers fund people who tell them the real timeline.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Put it on one page, in that order. The saving — the country-level number over five years. The proof — the governments that have done it. The ask — a small permanent team, a board with real authority, around two per cent of the digital budget, and a promise to protect the team. And the horizon — six months to a roadmap, then a sustained practice. Saving, proof, ask, horizon. That single page turns a technical request the minister would defer into a business case they can defend in cabinet.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So winning the commitment is not an architecture conversation. It is a one-page business case: the saving, the proof, the ask, the honest horizon. Bring that, and you give your minister something they can say yes to and defend afterwards. Bring a diagram of four layers, and you give them something to admire and postpone.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image" Target="../media/image3.svg"/><Relationship Id="rId5"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D9AD66F2-F7C0-4D03-9150-D28F17AC561D}"/>
              </a:ext>
            </a:extLst>
          </p:cNvPr>
          <p:cNvCxnSpPr>
            <a:cxnSpLocks/>
          </p:cNvCxnSpPr>
          <p:nvPr/>
        </p:nvCxnSpPr>
        <p:spPr>
          <a:xfrm>
            <a:off x="373021" y="2198718"/>
            <a:ext cx="6843567" cy="0"/>
          </a:xfrm>
          <a:prstGeom prst="line">
            <a:avLst/>
          </a:prstGeom>
          <a:ln w="12700">
            <a:solidFill>
              <a:srgbClr val="009CD6"/>
            </a:solidFill>
          </a:ln>
        </p:spPr>
        <p:style>
          <a:lnRef idx="1">
            <a:schemeClr val="accent1"/>
          </a:lnRef>
          <a:fillRef idx="0">
            <a:schemeClr val="accent1"/>
          </a:fillRef>
          <a:effectRef idx="0">
            <a:schemeClr val="accent1"/>
          </a:effectRef>
          <a:fontRef idx="minor">
            <a:schemeClr val="tx1"/>
          </a:fontRef>
        </p:style>
      </p:cxnSp>
      <p:sp>
        <p:nvSpPr>
          <p:cNvPr id="12" name="Title 9">
            <a:extLst>
              <a:ext uri="{FF2B5EF4-FFF2-40B4-BE49-F238E27FC236}">
                <a16:creationId xmlns:a16="http://schemas.microsoft.com/office/drawing/2014/main" id="{EEB08032-CE0E-4986-AEDF-A41026C0E8B9}"/>
              </a:ext>
            </a:extLst>
          </p:cNvPr>
          <p:cNvSpPr txBox="1">
            <a:spLocks/>
          </p:cNvSpPr>
          <p:nvPr/>
        </p:nvSpPr>
        <p:spPr>
          <a:xfrm>
            <a:off x="237734" y="702833"/>
            <a:ext cx="6432007" cy="1218817"/>
          </a:xfrm>
          <a:prstGeom prst="rect">
            <a:avLst/>
          </a:prstGeom>
        </p:spPr>
        <p:txBody>
          <a:bodyPr anchor="b">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r>
              <a:rPr sz="2400" b="1" i="0">
                <a:solidFill>
                  <a:srgbClr val="1A1A1A"/>
                </a:solidFill>
                <a:latin typeface="Arial"/>
              </a:rPr>
              <a:t>6.4 — Win the commitment — the business case that gets your minister to yes</a:t>
            </a:r>
          </a:p>
        </p:txBody>
      </p:sp>
      <p:pic>
        <p:nvPicPr>
          <p:cNvPr id="7" name="Picture 6">
            <a:extLst>
              <a:ext uri="{FF2B5EF4-FFF2-40B4-BE49-F238E27FC236}">
                <a16:creationId xmlns:a16="http://schemas.microsoft.com/office/drawing/2014/main" id="{A2066351-C569-4C4C-A096-308777FCDC32}"/>
              </a:ext>
            </a:extLst>
          </p:cNvPr>
          <p:cNvPicPr>
            <a:picLocks noChangeAspect="1"/>
          </p:cNvPicPr>
          <p:nvPr/>
        </p:nvPicPr>
        <p:blipFill>
          <a:blip r:embed="rId2">
            <a:extLst>
              <a:ext uri="{28A0092B-C50C-407E-A947-70E740481C1C}">
                <a14:useLocalDpi xmlns:a14="http://schemas.microsoft.com/office/drawing/2010/main" val="0"/>
              </a:ext>
            </a:extLst>
          </a:blip>
          <a:srcRect t="20219" b="14729"/>
          <a:stretch>
            <a:fillRect/>
          </a:stretch>
        </p:blipFill>
        <p:spPr>
          <a:xfrm>
            <a:off x="0" y="5620871"/>
            <a:ext cx="1323975" cy="1218816"/>
          </a:xfrm>
          <a:prstGeom prst="rect">
            <a:avLst/>
          </a:prstGeom>
        </p:spPr>
      </p:pic>
      <p:sp>
        <p:nvSpPr>
          <p:cNvPr id="14" name="Title 9">
            <a:extLst>
              <a:ext uri="{FF2B5EF4-FFF2-40B4-BE49-F238E27FC236}">
                <a16:creationId xmlns:a16="http://schemas.microsoft.com/office/drawing/2014/main" id="{B5087B80-3EE4-1881-0130-ED58CA625092}"/>
              </a:ext>
            </a:extLst>
          </p:cNvPr>
          <p:cNvSpPr txBox="1">
            <a:spLocks/>
          </p:cNvSpPr>
          <p:nvPr/>
        </p:nvSpPr>
        <p:spPr>
          <a:xfrm>
            <a:off x="284452" y="2475786"/>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0"/>
              </a:spcAft>
              <a:buNone/>
            </a:pPr>
            <a:r>
              <a:rPr sz="1300" b="1" i="0">
                <a:solidFill>
                  <a:srgbClr val="006E96"/>
                </a:solidFill>
                <a:latin typeface="Arial"/>
              </a:rPr>
              <a:t>KP1 · Government Enterprise Architecture · Module 6 · Video 6.4</a:t>
            </a:r>
          </a:p>
          <a:p>
            <a:r>
              <a:rPr sz="1200" b="0" i="1">
                <a:solidFill>
                  <a:srgbClr val="595959"/>
                </a:solidFill>
                <a:latin typeface="Arial"/>
              </a:rPr>
              <a:t>Winning the minister's commitment is not about the architecture — it is about the number. Pair the whole-of-government re-use saving with the proven evidence and an honest time horizon, and you turn a technical case into one a minister can take to cabinet.</a:t>
            </a:r>
          </a:p>
        </p:txBody>
      </p:sp>
      <p:sp>
        <p:nvSpPr>
          <p:cNvPr id="17" name="Title 9">
            <a:extLst>
              <a:ext uri="{FF2B5EF4-FFF2-40B4-BE49-F238E27FC236}">
                <a16:creationId xmlns:a16="http://schemas.microsoft.com/office/drawing/2014/main" id="{5E8796F7-DD26-D250-5E97-B38B22298E72}"/>
              </a:ext>
            </a:extLst>
          </p:cNvPr>
          <p:cNvSpPr txBox="1">
            <a:spLocks/>
          </p:cNvSpPr>
          <p:nvPr/>
        </p:nvSpPr>
        <p:spPr>
          <a:xfrm>
            <a:off x="284452" y="4363897"/>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1200"/>
              </a:spcAft>
              <a:buNone/>
            </a:pPr>
            <a:r>
              <a:rPr sz="1400" b="1" i="0">
                <a:solidFill>
                  <a:srgbClr val="1A1A1A"/>
                </a:solidFill>
                <a:latin typeface="Arial"/>
              </a:rPr>
              <a:t>Length: </a:t>
            </a:r>
            <a:r>
              <a:rPr sz="1400" b="0" i="0">
                <a:solidFill>
                  <a:srgbClr val="1A1A1A"/>
                </a:solidFill>
                <a:latin typeface="Arial"/>
              </a:rPr>
              <a:t>~5 mins</a:t>
            </a:r>
          </a:p>
          <a:p>
            <a:r>
              <a:rPr sz="1400" b="1" i="0">
                <a:solidFill>
                  <a:srgbClr val="1A1A1A"/>
                </a:solidFill>
                <a:latin typeface="Arial"/>
              </a:rPr>
              <a:t>Target audience: </a:t>
            </a:r>
            <a:r>
              <a:rPr sz="1400" b="0" i="0">
                <a:solidFill>
                  <a:srgbClr val="1A1A1A"/>
                </a:solidFill>
                <a:latin typeface="Arial"/>
              </a:rPr>
              <a:t>Director-general · head of a sectoral ICT unit · technical secretary</a:t>
            </a:r>
          </a:p>
        </p:txBody>
      </p:sp>
      <p:sp>
        <p:nvSpPr>
          <p:cNvPr id="18" name="Rectangle 17"/>
          <p:cNvSpPr/>
          <p:nvPr/>
        </p:nvSpPr>
        <p:spPr>
          <a:xfrm>
            <a:off x="7022592" y="0"/>
            <a:ext cx="5169103" cy="6858000"/>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52360" y="457200"/>
            <a:ext cx="4297680" cy="457200"/>
          </a:xfrm>
          <a:prstGeom prst="rect">
            <a:avLst/>
          </a:prstGeom>
          <a:noFill/>
        </p:spPr>
        <p:txBody>
          <a:bodyPr wrap="square">
            <a:spAutoFit/>
          </a:bodyPr>
          <a:lstStyle/>
          <a:p>
            <a:r>
              <a:rPr sz="1100" b="1" i="0">
                <a:solidFill>
                  <a:srgbClr val="E5F5FB"/>
                </a:solidFill>
                <a:latin typeface="Arial"/>
              </a:rPr>
              <a:t>THE CASE YOU CARRY INTO THE ROOM</a:t>
            </a:r>
          </a:p>
        </p:txBody>
      </p:sp>
      <p:sp>
        <p:nvSpPr>
          <p:cNvPr id="20" name="Rounded Rectangle 19"/>
          <p:cNvSpPr/>
          <p:nvPr/>
        </p:nvSpPr>
        <p:spPr>
          <a:xfrm>
            <a:off x="7452360" y="96012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Proven — four real governments</a:t>
            </a:r>
          </a:p>
        </p:txBody>
      </p:sp>
      <p:sp>
        <p:nvSpPr>
          <p:cNvPr id="21" name="Rounded Rectangle 20"/>
          <p:cNvSpPr/>
          <p:nvPr/>
        </p:nvSpPr>
        <p:spPr>
          <a:xfrm>
            <a:off x="7452360" y="1892808"/>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Portable — sector after sector</a:t>
            </a:r>
          </a:p>
        </p:txBody>
      </p:sp>
      <p:sp>
        <p:nvSpPr>
          <p:cNvPr id="22" name="Rounded Rectangle 21"/>
          <p:cNvSpPr/>
          <p:nvPr/>
        </p:nvSpPr>
        <p:spPr>
          <a:xfrm>
            <a:off x="7452360" y="2825496"/>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The commitment — the one page</a:t>
            </a:r>
          </a:p>
        </p:txBody>
      </p:sp>
      <p:sp>
        <p:nvSpPr>
          <p:cNvPr id="23" name="Rounded Rectangle 22"/>
          <p:cNvSpPr/>
          <p:nvPr/>
        </p:nvSpPr>
        <p:spPr>
          <a:xfrm>
            <a:off x="7452360" y="3758184"/>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The capability — your own people</a:t>
            </a:r>
          </a:p>
        </p:txBody>
      </p:sp>
      <p:sp>
        <p:nvSpPr>
          <p:cNvPr id="24" name="Rounded Rectangle 23"/>
          <p:cNvSpPr/>
          <p:nvPr/>
        </p:nvSpPr>
        <p:spPr>
          <a:xfrm>
            <a:off x="7452360" y="4690872"/>
            <a:ext cx="3840480" cy="658368"/>
          </a:xfrm>
          <a:prstGeom prst="roundRect">
            <a:avLst>
              <a:gd name="adj" fmla="val 14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FFFFFF"/>
                </a:solidFill>
                <a:latin typeface="Arial"/>
              </a:rPr>
              <a:t>Necessary now, not just useful</a:t>
            </a:r>
          </a:p>
        </p:txBody>
      </p:sp>
      <p:sp>
        <p:nvSpPr>
          <p:cNvPr id="25" name="TextBox 24"/>
          <p:cNvSpPr txBox="1"/>
          <p:nvPr/>
        </p:nvSpPr>
        <p:spPr>
          <a:xfrm>
            <a:off x="7452360" y="5806440"/>
            <a:ext cx="4297680" cy="731520"/>
          </a:xfrm>
          <a:prstGeom prst="rect">
            <a:avLst/>
          </a:prstGeom>
          <a:noFill/>
        </p:spPr>
        <p:txBody>
          <a:bodyPr wrap="square">
            <a:spAutoFit/>
          </a:bodyPr>
          <a:lstStyle/>
          <a:p>
            <a:r>
              <a:rPr sz="1200" b="0" i="0">
                <a:solidFill>
                  <a:srgbClr val="FFFFFF"/>
                </a:solidFill>
                <a:latin typeface="Arial"/>
              </a:rPr>
              <a:t>4 governments · 4 killers to design out · 1 page for the minister</a:t>
            </a:r>
          </a:p>
        </p:txBody>
      </p:sp>
    </p:spTree>
    <p:extLst>
      <p:ext uri="{BB962C8B-B14F-4D97-AF65-F5344CB8AC3E}">
        <p14:creationId xmlns:p14="http://schemas.microsoft.com/office/powerpoint/2010/main" val="1196800265"/>
      </p:ext>
    </p:extLst>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KP1 · MODULE 6 · VIDEO 6.4</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6.4</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Win the commitment — the business case that gets your minister to yes</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Winning the minister's commitment is not about the architecture — it is about the number. Pair the whole-of-government re-use saving with the proven evidence and an honest time horizon, and you turn a technical case into one a minister can take to cabinet.</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~5 minutes · standalone video · voice-over on text slides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Lead with the saving, not the architecture</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The strongest number you have is the cost of fragmentation: every programme that builds its own identity, its own registry, its own integration means the country pays many times for one thing.</a:t>
            </a:r>
          </a:p>
          <a:p>
            <a:pPr>
              <a:spcAft>
                <a:spcPts val="1200"/>
              </a:spcAft>
            </a:pPr>
            <a:r>
              <a:rPr sz="2000" b="0" i="0">
                <a:solidFill>
                  <a:srgbClr val="1A1A1A"/>
                </a:solidFill>
                <a:latin typeface="Arial"/>
              </a:rPr>
              <a:t>A whole-of-government business case shows that consuming shared building blocks instead would save a meaningful share of the sectoral digital budget over five years. That number, not the four-layer diagram, opens a cabinet conversation.</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The architecture is how you achieve the saving. The saving is what you sell.</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6.4 · Win the commitment — the business case that gets your minister to yes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Back the number with the proof, because a minister's first worry is risk</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A saving that depends on an untested approach is easy to refuse. A saving backed by four governments that have already built the same pattern is much harder to wave away.</a:t>
            </a:r>
          </a:p>
          <a:p>
            <a:pPr>
              <a:spcAft>
                <a:spcPts val="1200"/>
              </a:spcAft>
            </a:pPr>
            <a:r>
              <a:rPr sz="2000" b="0" i="0">
                <a:solidFill>
                  <a:srgbClr val="1A1A1A"/>
                </a:solidFill>
                <a:latin typeface="Arial"/>
              </a:rPr>
              <a:t>This is a charted path that countries like yours have walked, with the obstacles documented.</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Not a bet on a theory — a saving others have already proven is real.</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6.4 · Win the commitment — the business case that gets your minister to yes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Ministers fund people who tell them the real timeline</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Name the real cost: a small permanent team and governance, typically around two per cent of the digital-government budget, sustained for five years.</a:t>
            </a:r>
          </a:p>
          <a:p>
            <a:pPr>
              <a:spcAft>
                <a:spcPts val="1200"/>
              </a:spcAft>
            </a:pPr>
            <a:r>
              <a:rPr sz="2000" b="0" i="0">
                <a:solidFill>
                  <a:srgbClr val="1A1A1A"/>
                </a:solidFill>
                <a:latin typeface="Arial"/>
              </a:rPr>
              <a:t>And the real horizon: about six months to a roadmap the minister can show, but years to full maturity — so the minister who launches this will likely not be the one who completes it.</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Said as a weakness, that sinks the case. Said as the truth, it wins it.</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6.4 · Win the commitment — the business case that gets your minister to yes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one page, in the order a minister reads it</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028699"/>
          </a:xfrm>
          <a:prstGeom prst="rect">
            <a:avLst/>
          </a:prstGeom>
          <a:noFill/>
        </p:spPr>
        <p:txBody>
          <a:bodyPr wrap="square">
            <a:spAutoFit/>
          </a:bodyPr>
          <a:lstStyle/>
          <a:p>
            <a:pPr>
              <a:spcAft>
                <a:spcPts val="300"/>
              </a:spcAft>
            </a:pPr>
            <a:r>
              <a:rPr sz="1900" b="1" i="0">
                <a:solidFill>
                  <a:srgbClr val="1A1A1A"/>
                </a:solidFill>
                <a:latin typeface="Arial"/>
              </a:rPr>
              <a:t>The saving</a:t>
            </a:r>
          </a:p>
          <a:p>
            <a:pPr>
              <a:spcAft>
                <a:spcPts val="300"/>
              </a:spcAft>
            </a:pPr>
            <a:r>
              <a:rPr sz="1550" b="0" i="0">
                <a:solidFill>
                  <a:srgbClr val="595959"/>
                </a:solidFill>
                <a:latin typeface="Arial"/>
              </a:rPr>
              <a:t>The country-level number over five years.</a:t>
            </a:r>
          </a:p>
        </p:txBody>
      </p:sp>
      <p:sp>
        <p:nvSpPr>
          <p:cNvPr id="6" name="Rectangle 5"/>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5831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537460"/>
            <a:ext cx="10527487" cy="1028699"/>
          </a:xfrm>
          <a:prstGeom prst="rect">
            <a:avLst/>
          </a:prstGeom>
          <a:noFill/>
        </p:spPr>
        <p:txBody>
          <a:bodyPr wrap="square">
            <a:spAutoFit/>
          </a:bodyPr>
          <a:lstStyle/>
          <a:p>
            <a:pPr>
              <a:spcAft>
                <a:spcPts val="300"/>
              </a:spcAft>
            </a:pPr>
            <a:r>
              <a:rPr sz="1900" b="1" i="0">
                <a:solidFill>
                  <a:srgbClr val="1A1A1A"/>
                </a:solidFill>
                <a:latin typeface="Arial"/>
              </a:rPr>
              <a:t>The proof</a:t>
            </a:r>
          </a:p>
          <a:p>
            <a:pPr>
              <a:spcAft>
                <a:spcPts val="300"/>
              </a:spcAft>
            </a:pPr>
            <a:r>
              <a:rPr sz="1550" b="0" i="0">
                <a:solidFill>
                  <a:srgbClr val="595959"/>
                </a:solidFill>
                <a:latin typeface="Arial"/>
              </a:rPr>
              <a:t>The governments that have already done it.</a:t>
            </a:r>
          </a:p>
        </p:txBody>
      </p:sp>
      <p:sp>
        <p:nvSpPr>
          <p:cNvPr id="9" name="Rectangle 8"/>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65759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611879"/>
            <a:ext cx="10527487" cy="1028699"/>
          </a:xfrm>
          <a:prstGeom prst="rect">
            <a:avLst/>
          </a:prstGeom>
          <a:noFill/>
        </p:spPr>
        <p:txBody>
          <a:bodyPr wrap="square">
            <a:spAutoFit/>
          </a:bodyPr>
          <a:lstStyle/>
          <a:p>
            <a:pPr>
              <a:spcAft>
                <a:spcPts val="300"/>
              </a:spcAft>
            </a:pPr>
            <a:r>
              <a:rPr sz="1900" b="1" i="0">
                <a:solidFill>
                  <a:srgbClr val="1A1A1A"/>
                </a:solidFill>
                <a:latin typeface="Arial"/>
              </a:rPr>
              <a:t>The ask</a:t>
            </a:r>
          </a:p>
          <a:p>
            <a:pPr>
              <a:spcAft>
                <a:spcPts val="300"/>
              </a:spcAft>
            </a:pPr>
            <a:r>
              <a:rPr sz="1550" b="0" i="0">
                <a:solidFill>
                  <a:srgbClr val="595959"/>
                </a:solidFill>
                <a:latin typeface="Arial"/>
              </a:rPr>
              <a:t>A small permanent team, a board with real authority, ~2% sustained, protect the team.</a:t>
            </a:r>
          </a:p>
        </p:txBody>
      </p:sp>
      <p:sp>
        <p:nvSpPr>
          <p:cNvPr id="12" name="Rectangle 11"/>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47320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686300"/>
            <a:ext cx="10527487" cy="1028699"/>
          </a:xfrm>
          <a:prstGeom prst="rect">
            <a:avLst/>
          </a:prstGeom>
          <a:noFill/>
        </p:spPr>
        <p:txBody>
          <a:bodyPr wrap="square">
            <a:spAutoFit/>
          </a:bodyPr>
          <a:lstStyle/>
          <a:p>
            <a:pPr>
              <a:spcAft>
                <a:spcPts val="300"/>
              </a:spcAft>
            </a:pPr>
            <a:r>
              <a:rPr sz="1900" b="1" i="0">
                <a:solidFill>
                  <a:srgbClr val="1A1A1A"/>
                </a:solidFill>
                <a:latin typeface="Arial"/>
              </a:rPr>
              <a:t>The horizon</a:t>
            </a:r>
          </a:p>
          <a:p>
            <a:pPr>
              <a:spcAft>
                <a:spcPts val="300"/>
              </a:spcAft>
            </a:pPr>
            <a:r>
              <a:rPr sz="1550" b="0" i="0">
                <a:solidFill>
                  <a:srgbClr val="595959"/>
                </a:solidFill>
                <a:latin typeface="Arial"/>
              </a:rPr>
              <a:t>Six months to a roadmap, then a sustained practice.</a:t>
            </a:r>
          </a:p>
        </p:txBody>
      </p:sp>
      <p:sp>
        <p:nvSpPr>
          <p:cNvPr id="15" name="TextBox 14"/>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Saving, proof, ask, horizon — a request the minister can defend in cabinet.</a:t>
            </a:r>
          </a:p>
        </p:txBody>
      </p:sp>
      <p:sp>
        <p:nvSpPr>
          <p:cNvPr id="16" name="TextBox 1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6.4 · Win the commitment — the business case that gets your minister to yes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Ministers commit to numbers and proof, not architecture — pair the whole-of-government saving with the evidence and an honest cost, and you turn a technical request into a cabinet-ready case.</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TextBox 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6.4 · Win the commitment — the business case that gets your minister to yes</a:t>
            </a:r>
          </a:p>
        </p:txBody>
      </p:sp>
      <p:sp>
        <p:nvSpPr>
          <p:cNvPr id="5" name="TextBox 4"/>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§5.6 (Sourcing Strategy)</a:t>
            </a:r>
          </a:p>
          <a:p>
            <a:pPr>
              <a:spcAft>
                <a:spcPts val="1200"/>
              </a:spcAft>
            </a:pPr>
            <a:r>
              <a:rPr sz="1700" b="0" i="0">
                <a:solidFill>
                  <a:srgbClr val="1A1A1A"/>
                </a:solidFill>
                <a:latin typeface="Arial"/>
              </a:rPr>
              <a:t>•  PAERA v1.0 — §5.4 (Organisational Assessment &amp; Roadmap)</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6.4 · Win the commitment — the business case that gets your minister to yes</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