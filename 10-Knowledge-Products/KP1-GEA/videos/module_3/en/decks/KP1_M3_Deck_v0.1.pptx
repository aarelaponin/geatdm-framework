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run an assessment. You have the four-layer picture of a sector. Now the question is: where does it live? If the answer is a slide deck on your laptop, the architecture will be out of date within a month and disagreed with within two. An Enterprise Architecture needs a home — one place where the current picture lives, that everyone works from. That home is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reason the repository matters. It is the object both sides point at. When your minister briefs cabinet and when your architect designs a system, they are looking at the same picture — because there is only one. The repository is what makes the architecture a shared language between the business side and the IT side, instead of two private ones. Without it, each side keeps its own version, and the conversation breaks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before tooling, before governance, set up the one place. The single store of the layers, the relationships and the decisions. Get that right, and everything else in this module is about protecting what goes into it. Get it wrong — let copies multiply —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At some point a spreadsheet stops coping. You have hundreds of entities, several sectors, relationships you cannot see in rows and columns. It is time for a dedicated EA tool. And here is the danger: in buying a tool to help your government avoid vendor lock-in, you can lock yourself into the tool. Here is how to choose without falling into that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choose your tooling the way you would choose any government system. Graduate when the spreadsheet truly hurts. Reuse before buy, buy before build. Keep your content in open formats you control, so you can always leave. And bend the tool to your metamodel. Do that, and the tool helps you. Skip it, and you have bought yourself the very lock-in an EA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repository has one enemy, and it is not technical. It is staleness. An architecture that is six months behind reality is worse than none — because people trust it, and it lies to them. The work of keeping the repository true is unglamorous and constant, and it is what separates a living EA from a binder on a shelf.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3 deck. Each section that follows is one standalone ~4–5 minute video. Module 2 taught the architect to read, model and assess a government; Module 3 is the practitioner rendering of Phase 5, Execute and Govern — the permanent practice that keeps the architecture alive after the assessment is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3.1–3.3 build the home of the architecture and the discipline that keeps it true; 3.4–3.5 give it authority through the Board and the review gate; 3.6–3.7 are about proving it works and keeping it alive.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keep the repository true. One named owner accountable for currency. Updates triggered by real events, not a yearly review. A light check that each change stays conformant. Do this, and the repository stays a trustworthy picture of your government. Neglect it, and within a year you have a confident, detailed,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repository holds the architecture. The Board is what gives it authority. Without a governance board, the architecture is a document people can ignore. With one — a real one, that can say no — the architecture becomes the place every significant digital decision passes through. The difference between those two outcomes is whether the Board has binding authority. Everything else about the Board is detail;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stand up a Board that can actually say no. Binding, not advisory. Chaired by someone senior enough that the no sticks. Made of the people whose systems are affected. Meeting on a rhythm that governs without blocking. Get that in place and the architecture has teeth. Leave it advisory, and you have a beautiful repository that everyone is free to ignore.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Board with authority needs something to do with it. That something is the architecture review gate: the point where every significant new project passes through a short, consistent set of questions before it gets funded. This is where the architecture does its real work — not on a wall, but at the moment a project would otherwise quietly build its own version of something the country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reveal one question at a time, then hold the full list on screen.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Left alone, a project builds its own identity function, its own learner list, its own payment integration — because, inside the project, building is faster than reusing. That choice is rational for the project and ruinous for the country. The gate is the one place where the whole-of-government view meets that decision, while it can still be changed. When a project proposes to build what already exists as a shared block, the Board, at the gate, says: consume the shared one. That single moment, repeated across every project, is how re-use actually happens. Not because a strategy required it — because the gate enforced it.</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build the gate. A few questions, asked of every project the same way. A clear ruling — consume the shared block, or a written, time-boxed exception. Every decision logged with its reason. This is where principles stop being words and become the path projects actually take. The gate is the engine of the whole EA. Everything else — the repository, the Board, the principles — exists so that this moment, repeated, goes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Sooner or later your minister asks the fair question: is this EA work actually doing anything? You need an answer that is honest, short, and true. Not a fifty-page report. A handful of metrics that show whether the architecture is working — and, just as usefully, where it is not. Pick them carefully, because the wrong metrics make a stalled EA look healthy.</a:t>
            </a:r>
          </a:p>
          <a:p/>
          <a:p>
            <a:r>
              <a:t>RETRIEVAL MOMENT: before the four-metrics slide, ask the viewer which single number they would put in front of the budget authority. The answer — the re-use rate — is delivered two slides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metrics carry most of the signal. Coverage — how much of your government is actually in the repository, and current, not how many pages exist. Re-use rate — of the projects that came through the gate, how many consumed a shared building block instead of building their own. This is the one that shows the EA is paying for itself. Open exceptions — how many waivers are outstanding, and how old; a growing pile of aged exceptions is fragmentation returning. And decisions — how many gate decisions the Board made, and how fast, because a slow gate is one projects route around.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the re-use rate is the one to put in front of the budget authority. Every project that consumed the shared identity platform instead of building its own is a system the country paid for once instead of many times. Tracked over a year, a rising re-use rate is the closest thing you have to proof that the EA is returning its cost. It turns the abstract argument — planning enables re-use — into a number that goes up. That is the metric that protects your funding.</a:t>
            </a:r>
          </a:p>
          <a:p/>
          <a:p>
            <a:r>
              <a:t>This answers the retrieval prompt set on the section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Avoid the vanity metrics. The number of diagrams drawn, pages written, meetings held — these measure activity, not effect. A programme can produce a thousand pages and change nothing. Worse, busy-looking metrics let a stalled EA hide. If a metric would still go up while the architecture quietly stopped mattering, it is the wrong metric. Measure what the EA changes — re-use, coverage, decisions — not how busy the team looks.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Report the four on a single page, every quarter, to the Board and the minister. Include what is not working — the coverage gap in a sector nobody will let you near, the aging exceptions a powerful ministry will not close. The temptation is to show only green. Resist it. A scorecard that is honestly amber where it should be is what builds the trust that keeps the EA funded across a change of minister. A scorecard that is always green is one nobody believes the second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measure a few things, honestly. Coverage. Re-use rate. Open exceptions. Decisions made and how fast. Put them on one page, every quarter, amber where they should be amber. This is how you show the minister the EA is working, how you catch it when it is not, and how you protect the funding that keeps the practice alive.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Most EA programmes do not fail in a dramatic way. They fade. The first six months go well — there is energy, a roadmap, a Board. Then, somewhere in the second year, the practice quietly stops mattering, and one day someone notices the repository is a year out of date and the Board has not met in two quarters. The fade is predictable. It comes in four forms. Name them, and you can counter each.</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watch for the four fades. The team pulled away — counter with a protected, recommitted promise. The repository stale — counter with the update discipline. The Board gone advisory — counter by protecting and reporting its authority. The sponsor changed — counter by institutionalising the mandate, the budget and the scorecard. Keep the practice alive past year two, and the architecture becomes how your government works. Let it fade, and it becomes another binder on a shelf that once cost a great deal.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Housing, governing and
sustaining the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3</a:t>
            </a:r>
          </a:p>
          <a:p>
            <a:r>
              <a:rPr sz="1400" b="0" i="0">
                <a:solidFill>
                  <a:srgbClr val="595959"/>
                </a:solidFill>
                <a:latin typeface="Arial"/>
              </a:rPr>
              <a:t>Seven standalone videos for the architect who runs the practice: the repository the architecture lives in, tooling chosen without lock-in, the update discipline, an EA Board that can say no, the project review gate, the few metrics that matter, and the four ways a practice fades.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~32 mins across 7 videos (3.1 – 3.7)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3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3.1  Set up the one place your architecture lives</a:t>
            </a:r>
            <a:r>
              <a:rPr sz="1200" b="0" i="0">
                <a:solidFill>
                  <a:srgbClr val="595959"/>
                </a:solidFill>
                <a:latin typeface="Arial"/>
              </a:rPr>
              <a:t>   ~5 min</a:t>
            </a:r>
          </a:p>
          <a:p>
            <a:pPr algn="l">
              <a:spcAft>
                <a:spcPts val="900"/>
              </a:spcAft>
            </a:pPr>
            <a:r>
              <a:rPr sz="1500" b="1" i="0">
                <a:solidFill>
                  <a:srgbClr val="1A1A1A"/>
                </a:solidFill>
                <a:latin typeface="Arial"/>
              </a:rPr>
              <a:t>3.2  Choose EA tooling without locking yourself in</a:t>
            </a:r>
            <a:r>
              <a:rPr sz="1200" b="0" i="0">
                <a:solidFill>
                  <a:srgbClr val="595959"/>
                </a:solidFill>
                <a:latin typeface="Arial"/>
              </a:rPr>
              <a:t>   ~4 min</a:t>
            </a:r>
          </a:p>
          <a:p>
            <a:pPr algn="l">
              <a:spcAft>
                <a:spcPts val="900"/>
              </a:spcAft>
            </a:pPr>
            <a:r>
              <a:rPr sz="1500" b="1" i="0">
                <a:solidFill>
                  <a:srgbClr val="1A1A1A"/>
                </a:solidFill>
                <a:latin typeface="Arial"/>
              </a:rPr>
              <a:t>3.3  Keep the repository true — the update discipline</a:t>
            </a:r>
            <a:r>
              <a:rPr sz="1200" b="0" i="0">
                <a:solidFill>
                  <a:srgbClr val="595959"/>
                </a:solidFill>
                <a:latin typeface="Arial"/>
              </a:rPr>
              <a:t>   ~4 min</a:t>
            </a:r>
          </a:p>
          <a:p>
            <a:pPr algn="l">
              <a:spcAft>
                <a:spcPts val="900"/>
              </a:spcAft>
            </a:pPr>
            <a:r>
              <a:rPr sz="1500" b="1" i="0">
                <a:solidFill>
                  <a:srgbClr val="1A1A1A"/>
                </a:solidFill>
                <a:latin typeface="Arial"/>
              </a:rPr>
              <a:t>3.4  Stand up an EA Board that can actually say no</a:t>
            </a:r>
            <a:r>
              <a:rPr sz="1200" b="0" i="0">
                <a:solidFill>
                  <a:srgbClr val="595959"/>
                </a:solidFill>
                <a:latin typeface="Arial"/>
              </a:rPr>
              <a:t>   ~5 min</a:t>
            </a:r>
          </a:p>
          <a:p>
            <a:pPr algn="l">
              <a:spcAft>
                <a:spcPts val="900"/>
              </a:spcAft>
            </a:pPr>
            <a:r>
              <a:rPr sz="1500" b="1" i="0">
                <a:solidFill>
                  <a:srgbClr val="1A1A1A"/>
                </a:solidFill>
                <a:latin typeface="Arial"/>
              </a:rPr>
              <a:t>3.5  Review projects against the architecture</a:t>
            </a:r>
            <a:r>
              <a:rPr sz="1200" b="0" i="0">
                <a:solidFill>
                  <a:srgbClr val="595959"/>
                </a:solidFill>
                <a:latin typeface="Arial"/>
              </a:rPr>
              <a:t>   ~5 min</a:t>
            </a:r>
          </a:p>
          <a:p>
            <a:pPr algn="l">
              <a:spcAft>
                <a:spcPts val="900"/>
              </a:spcAft>
            </a:pPr>
            <a:r>
              <a:rPr sz="1500" b="1" i="0">
                <a:solidFill>
                  <a:srgbClr val="1A1A1A"/>
                </a:solidFill>
                <a:latin typeface="Arial"/>
              </a:rPr>
              <a:t>3.6  Show the EA is working — the few metrics that matter</a:t>
            </a:r>
            <a:r>
              <a:rPr sz="1200" b="0" i="0">
                <a:solidFill>
                  <a:srgbClr val="595959"/>
                </a:solidFill>
                <a:latin typeface="Arial"/>
              </a:rPr>
              <a:t>   ~4 min</a:t>
            </a:r>
          </a:p>
          <a:p>
            <a:pPr algn="l">
              <a:spcAft>
                <a:spcPts val="900"/>
              </a:spcAft>
            </a:pPr>
            <a:r>
              <a:rPr sz="1500" b="1" i="0">
                <a:solidFill>
                  <a:srgbClr val="1A1A1A"/>
                </a:solidFill>
                <a:latin typeface="Arial"/>
              </a:rPr>
              <a:t>3.7  Keep the practice alive past year two</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that is not housed, kept current and given teeth stops being an architecture within a year. It becomes a document about one.</a:t>
            </a:r>
          </a:p>
          <a:p>
            <a:pPr>
              <a:spcAft>
                <a:spcPts val="1000"/>
              </a:spcAft>
            </a:pPr>
            <a:r>
              <a:rPr sz="1900" b="0" i="1">
                <a:solidFill>
                  <a:srgbClr val="1A1A1A"/>
                </a:solidFill>
                <a:latin typeface="Arial"/>
              </a:rPr>
              <a:t>This module stands up the permanent practice: one place the architecture lives, a Board with the authority to say no, a gate every project passes through, and the moves that keep all of it alive past year two.</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MINISTER, BRIEFING CABINET</a:t>
            </a:r>
          </a:p>
          <a:p>
            <a:pPr>
              <a:spcAft>
                <a:spcPts val="700"/>
              </a:spcAft>
            </a:pPr>
            <a:r>
              <a:rPr sz="1600" b="0" i="0">
                <a:solidFill>
                  <a:srgbClr val="1A1A1A"/>
                </a:solidFill>
                <a:latin typeface="Arial"/>
              </a:rPr>
              <a:t>Which services the sector delivers.</a:t>
            </a:r>
          </a:p>
          <a:p>
            <a:pPr>
              <a:spcAft>
                <a:spcPts val="700"/>
              </a:spcAft>
            </a:pPr>
            <a:r>
              <a:rPr sz="1600" b="0" i="0">
                <a:solidFill>
                  <a:srgbClr val="1A1A1A"/>
                </a:solidFill>
                <a:latin typeface="Arial"/>
              </a:rPr>
              <a:t>Where the money and the risk sit.</a:t>
            </a:r>
          </a:p>
          <a:p>
            <a:pPr>
              <a:spcAft>
                <a:spcPts val="700"/>
              </a:spcAft>
            </a:pPr>
            <a:r>
              <a:rPr sz="1600" b="0" i="0">
                <a:solidFill>
                  <a:srgbClr val="1A1A1A"/>
                </a:solidFill>
                <a:latin typeface="Arial"/>
              </a:rPr>
              <a:t>What the Board decided, and why.</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DESIGNING A SYSTEM</a:t>
            </a:r>
          </a:p>
          <a:p>
            <a:pPr>
              <a:spcAft>
                <a:spcPts val="700"/>
              </a:spcAft>
            </a:pPr>
            <a:r>
              <a:rPr sz="1600" b="0" i="0">
                <a:solidFill>
                  <a:srgbClr val="1A1A1A"/>
                </a:solidFill>
                <a:latin typeface="Arial"/>
              </a:rPr>
              <a:t>Which capability the system serves.</a:t>
            </a:r>
          </a:p>
          <a:p>
            <a:pPr>
              <a:spcAft>
                <a:spcPts val="700"/>
              </a:spcAft>
            </a:pPr>
            <a:r>
              <a:rPr sz="1600" b="0" i="0">
                <a:solidFill>
                  <a:srgbClr val="1A1A1A"/>
                </a:solidFill>
                <a:latin typeface="Arial"/>
              </a:rPr>
              <a:t>Which data domain it may use, and who owns it.</a:t>
            </a:r>
          </a:p>
          <a:p>
            <a:pPr>
              <a:spcAft>
                <a:spcPts val="700"/>
              </a:spcAft>
            </a:pPr>
            <a:r>
              <a:rPr sz="1600" b="0" i="0">
                <a:solidFill>
                  <a:srgbClr val="1A1A1A"/>
                </a:solidFill>
                <a:latin typeface="Arial"/>
              </a:rPr>
              <a:t>What the Board decided, and why.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picture — because there is only 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804672"/>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22656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1343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267712"/>
            <a:ext cx="10527487" cy="804672"/>
          </a:xfrm>
          <a:prstGeom prst="rect">
            <a:avLst/>
          </a:prstGeom>
          <a:noFill/>
        </p:spPr>
        <p:txBody>
          <a:bodyPr wrap="square">
            <a:spAutoFit/>
          </a:bodyPr>
          <a:lstStyle/>
          <a:p>
            <a:pPr>
              <a:spcAft>
                <a:spcPts val="300"/>
              </a:spcAft>
            </a:pPr>
            <a:r>
              <a:rPr sz="1800" b="1" i="0">
                <a:solidFill>
                  <a:srgbClr val="1A1A1A"/>
                </a:solidFill>
                <a:latin typeface="Arial"/>
              </a:rPr>
              <a:t>What data domains do you touch — and do you consume the owner’s copy?</a:t>
            </a:r>
          </a:p>
        </p:txBody>
      </p:sp>
      <p:sp>
        <p:nvSpPr>
          <p:cNvPr id="9" name="Rectangle 8"/>
          <p:cNvSpPr/>
          <p:nvPr/>
        </p:nvSpPr>
        <p:spPr>
          <a:xfrm>
            <a:off x="621792" y="30769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1638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18104"/>
            <a:ext cx="10527487" cy="804672"/>
          </a:xfrm>
          <a:prstGeom prst="rect">
            <a:avLst/>
          </a:prstGeom>
          <a:noFill/>
        </p:spPr>
        <p:txBody>
          <a:bodyPr wrap="square">
            <a:spAutoFit/>
          </a:bodyPr>
          <a:lstStyle/>
          <a:p>
            <a:pPr>
              <a:spcAft>
                <a:spcPts val="300"/>
              </a:spcAft>
            </a:pPr>
            <a:r>
              <a:rPr sz="1800" b="1" i="0">
                <a:solidFill>
                  <a:srgbClr val="1A1A1A"/>
                </a:solidFill>
                <a:latin typeface="Arial"/>
              </a:rPr>
              <a:t>Do you meet the architecture principles — security by design, once-only, the rest?</a:t>
            </a:r>
          </a:p>
        </p:txBody>
      </p:sp>
      <p:sp>
        <p:nvSpPr>
          <p:cNvPr id="12" name="Rectangle 11"/>
          <p:cNvSpPr/>
          <p:nvPr/>
        </p:nvSpPr>
        <p:spPr>
          <a:xfrm>
            <a:off x="621792" y="39273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142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968496"/>
            <a:ext cx="10527487" cy="804672"/>
          </a:xfrm>
          <a:prstGeom prst="rect">
            <a:avLst/>
          </a:prstGeom>
          <a:noFill/>
        </p:spPr>
        <p:txBody>
          <a:bodyPr wrap="square">
            <a:spAutoFit/>
          </a:bodyPr>
          <a:lstStyle/>
          <a:p>
            <a:pPr>
              <a:spcAft>
                <a:spcPts val="300"/>
              </a:spcAft>
            </a:pPr>
            <a:r>
              <a:rPr sz="1800" b="1" i="0">
                <a:solidFill>
                  <a:srgbClr val="1A1A1A"/>
                </a:solidFill>
                <a:latin typeface="Arial"/>
              </a:rPr>
              <a:t>Is your sourcing choice deliberate — build, buy, share, sandbox?</a:t>
            </a:r>
          </a:p>
        </p:txBody>
      </p:sp>
      <p:sp>
        <p:nvSpPr>
          <p:cNvPr id="15" name="Rectangle 14"/>
          <p:cNvSpPr/>
          <p:nvPr/>
        </p:nvSpPr>
        <p:spPr>
          <a:xfrm>
            <a:off x="621792" y="47777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8646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818888"/>
            <a:ext cx="10527487" cy="804672"/>
          </a:xfrm>
          <a:prstGeom prst="rect">
            <a:avLst/>
          </a:prstGeom>
          <a:noFill/>
        </p:spPr>
        <p:txBody>
          <a:bodyPr wrap="square">
            <a:spAutoFit/>
          </a:bodyPr>
          <a:lstStyle/>
          <a:p>
            <a:pPr>
              <a:spcAft>
                <a:spcPts val="300"/>
              </a:spcAft>
            </a:pPr>
            <a:r>
              <a:rPr sz="1800" b="1" i="0">
                <a:solidFill>
                  <a:srgbClr val="1A1A1A"/>
                </a:solidFill>
                <a:latin typeface="Arial"/>
              </a:rPr>
              <a:t>Can you export your data in an open format?</a:t>
            </a:r>
          </a:p>
        </p:txBody>
      </p:sp>
      <p:sp>
        <p:nvSpPr>
          <p:cNvPr id="18" name="TextBox 17"/>
          <p:cNvSpPr txBox="1"/>
          <p:nvPr/>
        </p:nvSpPr>
        <p:spPr>
          <a:xfrm>
            <a:off x="658368" y="5779008"/>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Building is rational for the project and ruinous for the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a project builds its own identity function, its own learner list, its own payment integration — because, inside the project, building is faster than reusing.</a:t>
            </a:r>
          </a:p>
          <a:p>
            <a:pPr>
              <a:spcAft>
                <a:spcPts val="1200"/>
              </a:spcAft>
            </a:pPr>
            <a:r>
              <a:rPr sz="2000" b="0" i="0">
                <a:solidFill>
                  <a:srgbClr val="1A1A1A"/>
                </a:solidFill>
                <a:latin typeface="Arial"/>
              </a:rPr>
              <a:t>The gate is the one place where the whole-of-government view meets that decision, while it can still be changed. The Board says: consume the shared one.</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That single moment, repeated across every project, is how re-use actually happens.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Show the EA is working — the few metrics that matter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handful of honest metrics — coverage, re-use rate, open exceptions, decisions made — show the minister and the team that the EA is working, and tell you where it isn’t, without drowning anyone in vanity numbers.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numbers carry most of the signal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Coverage</a:t>
            </a:r>
          </a:p>
          <a:p>
            <a:pPr>
              <a:spcAft>
                <a:spcPts val="300"/>
              </a:spcAft>
            </a:pPr>
            <a:r>
              <a:rPr sz="1550" b="0" i="0">
                <a:solidFill>
                  <a:srgbClr val="595959"/>
                </a:solidFill>
                <a:latin typeface="Arial"/>
              </a:rPr>
              <a:t>How much of your government is actually in the repository — and current.</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Re-use rate</a:t>
            </a:r>
          </a:p>
          <a:p>
            <a:pPr>
              <a:spcAft>
                <a:spcPts val="300"/>
              </a:spcAft>
            </a:pPr>
            <a:r>
              <a:rPr sz="1550" b="0" i="0">
                <a:solidFill>
                  <a:srgbClr val="595959"/>
                </a:solidFill>
                <a:latin typeface="Arial"/>
              </a:rPr>
              <a:t>Of the projects that came through the gate, how many consumed a shared block instead of building their own.</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Open exceptions</a:t>
            </a:r>
          </a:p>
          <a:p>
            <a:pPr>
              <a:spcAft>
                <a:spcPts val="300"/>
              </a:spcAft>
            </a:pPr>
            <a:r>
              <a:rPr sz="1550" b="0" i="0">
                <a:solidFill>
                  <a:srgbClr val="595959"/>
                </a:solidFill>
                <a:latin typeface="Arial"/>
              </a:rPr>
              <a:t>How many waivers are outstanding, and how old.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Decisions</a:t>
            </a:r>
          </a:p>
          <a:p>
            <a:pPr>
              <a:spcAft>
                <a:spcPts val="300"/>
              </a:spcAft>
            </a:pPr>
            <a:r>
              <a:rPr sz="1550" b="0" i="0">
                <a:solidFill>
                  <a:srgbClr val="595959"/>
                </a:solidFill>
                <a:latin typeface="Arial"/>
              </a:rPr>
              <a:t>How many gate decisions the Board made — and how fast.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growing pile of aged exceptions is fragmentation returning; a slow gate is one projects route around.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re-use rate is the one to put in front of the budget authority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project that consumed the shared identity platform instead of building its own is a system the country paid for once instead of many times.</a:t>
            </a:r>
          </a:p>
          <a:p>
            <a:pPr>
              <a:spcAft>
                <a:spcPts val="1200"/>
              </a:spcAft>
            </a:pPr>
            <a:r>
              <a:rPr sz="2000" b="0" i="0">
                <a:solidFill>
                  <a:srgbClr val="1A1A1A"/>
                </a:solidFill>
                <a:latin typeface="Arial"/>
              </a:rPr>
              <a:t>Tracked over a year, a rising re-use rate is the closest thing you have to proof that the EA is returning its cost — the abstract argument turned into a number that goes up.</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That is the metric that protects your funding.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a metric would still rise while the architecture stopped mattering, it is wrong</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EFFECT</a:t>
            </a:r>
          </a:p>
          <a:p>
            <a:pPr>
              <a:spcAft>
                <a:spcPts val="700"/>
              </a:spcAft>
            </a:pPr>
            <a:r>
              <a:rPr sz="1600" b="0" i="0">
                <a:solidFill>
                  <a:srgbClr val="1A1A1A"/>
                </a:solidFill>
                <a:latin typeface="Arial"/>
              </a:rPr>
              <a:t>Re-use rate.</a:t>
            </a:r>
          </a:p>
          <a:p>
            <a:pPr>
              <a:spcAft>
                <a:spcPts val="700"/>
              </a:spcAft>
            </a:pPr>
            <a:r>
              <a:rPr sz="1600" b="0" i="0">
                <a:solidFill>
                  <a:srgbClr val="1A1A1A"/>
                </a:solidFill>
                <a:latin typeface="Arial"/>
              </a:rPr>
              <a:t>Coverage that is current.</a:t>
            </a:r>
          </a:p>
          <a:p>
            <a:pPr>
              <a:spcAft>
                <a:spcPts val="700"/>
              </a:spcAft>
            </a:pPr>
            <a:r>
              <a:rPr sz="1600" b="0" i="0">
                <a:solidFill>
                  <a:srgbClr val="1A1A1A"/>
                </a:solidFill>
                <a:latin typeface="Arial"/>
              </a:rPr>
              <a:t>Gate decisions made, and how fast.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ACTIVITY</a:t>
            </a:r>
          </a:p>
          <a:p>
            <a:pPr>
              <a:spcAft>
                <a:spcPts val="700"/>
              </a:spcAft>
            </a:pPr>
            <a:r>
              <a:rPr sz="1600" b="0" i="0">
                <a:solidFill>
                  <a:srgbClr val="1A1A1A"/>
                </a:solidFill>
                <a:latin typeface="Arial"/>
              </a:rPr>
              <a:t>Diagrams drawn.</a:t>
            </a:r>
          </a:p>
          <a:p>
            <a:pPr>
              <a:spcAft>
                <a:spcPts val="700"/>
              </a:spcAft>
            </a:pPr>
            <a:r>
              <a:rPr sz="1600" b="0" i="0">
                <a:solidFill>
                  <a:srgbClr val="1A1A1A"/>
                </a:solidFill>
                <a:latin typeface="Arial"/>
              </a:rPr>
              <a:t>Pages written.</a:t>
            </a:r>
          </a:p>
          <a:p>
            <a:pPr>
              <a:spcAft>
                <a:spcPts val="700"/>
              </a:spcAft>
            </a:pPr>
            <a:r>
              <a:rPr sz="1600" b="0" i="0">
                <a:solidFill>
                  <a:srgbClr val="1A1A1A"/>
                </a:solidFill>
                <a:latin typeface="Arial"/>
              </a:rPr>
              <a:t>Meetings held.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programme can produce a thousand pages and change nothing.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scorecard that is always green is believed once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page, every quarter, to the Board and the minister — including what is not working: the coverage gap in a sector nobody will let you near, the aging exceptions a powerful ministry will not close.</a:t>
            </a:r>
          </a:p>
          <a:p>
            <a:pPr>
              <a:spcAft>
                <a:spcPts val="1200"/>
              </a:spcAft>
            </a:pPr>
            <a:r>
              <a:rPr sz="2000" b="0" i="0">
                <a:solidFill>
                  <a:srgbClr val="1A1A1A"/>
                </a:solidFill>
                <a:latin typeface="Arial"/>
              </a:rPr>
              <a:t>The temptation is to show only green. Resist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scorecard honestly amber where it should be is what keeps the EA funded across a change of minister.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one-page quarterly scorecard — coverage, re-use rate, open exceptions, decisions — shows honestly whether the EA is working, and the re-use rate is what proves it pays.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intermediate-results pattern)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