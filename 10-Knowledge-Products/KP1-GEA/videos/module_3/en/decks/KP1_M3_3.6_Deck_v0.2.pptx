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21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681" r:id="rId8"/>
    <p:sldId id="2734" r:id="rId56"/>
    <p:sldId id="2735" r:id="rId57"/>
    <p:sldId id="2736" r:id="rId58"/>
    <p:sldId id="2737" r:id="rId59"/>
    <p:sldId id="2738" r:id="rId60"/>
    <p:sldId id="2739" r:id="rId61"/>
    <p:sldId id="2740" r:id="rId6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" Target="slides/slide1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Relationship Id="rId56" Type="http://schemas.openxmlformats.org/officeDocument/2006/relationships/slide" Target="slides/slide41.xml"/><Relationship Id="rId57" Type="http://schemas.openxmlformats.org/officeDocument/2006/relationships/slide" Target="slides/slide42.xml"/><Relationship Id="rId58" Type="http://schemas.openxmlformats.org/officeDocument/2006/relationships/slide" Target="slides/slide43.xml"/><Relationship Id="rId59" Type="http://schemas.openxmlformats.org/officeDocument/2006/relationships/slide" Target="slides/slide44.xml"/><Relationship Id="rId60" Type="http://schemas.openxmlformats.org/officeDocument/2006/relationships/slide" Target="slides/slide45.xml"/><Relationship Id="rId61" Type="http://schemas.openxmlformats.org/officeDocument/2006/relationships/slide" Target="slides/slide46.xml"/><Relationship Id="rId62" Type="http://schemas.openxmlformats.org/officeDocument/2006/relationships/slide" Target="slides/slide4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for standalone video 3.6. Content slides are identical to the corresponding section of the combined deck KP1_M3_Deck_v0.2.pptx; voice-over is in each slide’s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VO, slide 1: Sooner or later your minister asks the fair question: is this EA work actually doing anything? You need an answer that is honest, short and true — a handful of metrics, not a fifty-page report. Pick them carefully.</a:t>
            </a:r>
          </a:p>
          <a:p/>
          <a:p>
            <a:r>
              <a:t>RETRIEVAL MOMENT: before the four-metrics slide, ask the viewer which single number they would put in front of the budget authority. The answer — the re-use rate — is delivered two slides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Four metrics carry most of the signal. Coverage — how much of your government is actually in the repository, and current, not how many pages exist. Re-use rate — of the projects that came through the gate, how many consumed a shared building block instead of building their own. This is the one that shows the EA is paying for itself. Open exceptions — how many waivers are outstanding, and how old; a growing pile of aged exceptions is fragmentation returning. And decisions — how many gate decisions the Board made, and how fast, because a slow gate is one projects route around.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Of the four, the re-use rate is the one to put in front of the budget authority. Every project that consumed the shared identity platform instead of building its own is a system the country paid for once instead of many times. Tracked over a year, a rising re-use rate is the closest thing you have to proof that the EA is returning its cost. It turns the abstract argument — planning enables re-use — into a number that goes up. That is the metric that protects your funding.</a:t>
            </a:r>
          </a:p>
          <a:p/>
          <a:p>
            <a:r>
              <a:t>This answers the retrieval prompt set on the section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Avoid the vanity metrics. The number of diagrams drawn, pages written, meetings held — these measure activity, not effect. A programme can produce a thousand pages and change nothing. Worse, busy-looking metrics let a stalled EA hide. If a metric would still go up while the architecture quietly stopped mattering, it is the wrong metric. Measure what the EA changes — re-use, coverage, decisions — not how busy the team looks.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Report the four on a single page, every quarter, to the Board and the minister. Include what is not working — the coverage gap in a sector nobody will let you near, the aging exceptions a powerful ministry will not close. The temptation is to show only green. Resist it. A scorecard that is honestly amber where it should be is what builds the trust that keeps the EA funded across a change of minister. A scorecard that is always green is one nobody believes the second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So measure a few things, honestly. Coverage. Re-use rate. Open exceptions. Decisions made and how fast. On one page, every quarter, amber where they should be amber.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svg"/><Relationship Id="rId5" Type="http://schemas.openxmlformats.org/officeDocument/2006/relationships/notesSlide" Target="../notesSlides/notesSlide2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9AD66F2-F7C0-4D03-9150-D28F17AC561D}"/>
              </a:ext>
            </a:extLst>
          </p:cNvPr>
          <p:cNvCxnSpPr>
            <a:cxnSpLocks/>
          </p:cNvCxnSpPr>
          <p:nvPr/>
        </p:nvCxnSpPr>
        <p:spPr>
          <a:xfrm>
            <a:off x="373021" y="2198718"/>
            <a:ext cx="6843567" cy="0"/>
          </a:xfrm>
          <a:prstGeom prst="line">
            <a:avLst/>
          </a:prstGeom>
          <a:ln w="12700">
            <a:solidFill>
              <a:srgbClr val="009C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9">
            <a:extLst>
              <a:ext uri="{FF2B5EF4-FFF2-40B4-BE49-F238E27FC236}">
                <a16:creationId xmlns:a16="http://schemas.microsoft.com/office/drawing/2014/main" id="{EEB08032-CE0E-4986-AEDF-A41026C0E8B9}"/>
              </a:ext>
            </a:extLst>
          </p:cNvPr>
          <p:cNvSpPr txBox="1">
            <a:spLocks/>
          </p:cNvSpPr>
          <p:nvPr/>
        </p:nvSpPr>
        <p:spPr>
          <a:xfrm>
            <a:off x="237734" y="702833"/>
            <a:ext cx="6432007" cy="1218817"/>
          </a:xfrm>
          <a:prstGeom prst="rect">
            <a:avLst/>
          </a:prstGeom>
        </p:spPr>
        <p:txBody>
          <a:bodyPr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sz="2400" b="1" i="0">
                <a:solidFill>
                  <a:srgbClr val="1A1A1A"/>
                </a:solidFill>
                <a:latin typeface="Arial"/>
              </a:rPr>
              <a:t>3.6 — Show the EA is working — the few metrics that matter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066351-C569-4C4C-A096-308777FCD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19" b="14729"/>
          <a:stretch>
            <a:fillRect/>
          </a:stretch>
        </p:blipFill>
        <p:spPr>
          <a:xfrm>
            <a:off x="0" y="5620871"/>
            <a:ext cx="1323975" cy="1218816"/>
          </a:xfrm>
          <a:prstGeom prst="rect">
            <a:avLst/>
          </a:prstGeom>
        </p:spPr>
      </p:pic>
      <p:sp>
        <p:nvSpPr>
          <p:cNvPr id="14" name="Title 9">
            <a:extLst>
              <a:ext uri="{FF2B5EF4-FFF2-40B4-BE49-F238E27FC236}">
                <a16:creationId xmlns:a16="http://schemas.microsoft.com/office/drawing/2014/main" id="{B5087B80-3EE4-1881-0130-ED58CA625092}"/>
              </a:ext>
            </a:extLst>
          </p:cNvPr>
          <p:cNvSpPr txBox="1">
            <a:spLocks/>
          </p:cNvSpPr>
          <p:nvPr/>
        </p:nvSpPr>
        <p:spPr>
          <a:xfrm>
            <a:off x="284452" y="2475786"/>
            <a:ext cx="6382893" cy="953213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006E96"/>
                </a:solidFill>
                <a:latin typeface="Arial"/>
              </a:rPr>
              <a:t>KP1 · Government Enterprise Architecture · Module 3 · Video 3.6</a:t>
            </a:r>
          </a:p>
          <a:p>
            <a:r>
              <a:rPr sz="1200" b="0" i="1">
                <a:solidFill>
                  <a:srgbClr val="595959"/>
                </a:solidFill>
                <a:latin typeface="Arial"/>
              </a:rPr>
              <a:t>A handful of honest metrics — coverage, re-use rate, open exceptions, decisions made — show the minister and the team that the EA is working, and tell you where it isn't, without drowning anyone in vanity numbers.</a:t>
            </a:r>
          </a:p>
        </p:txBody>
      </p:sp>
      <p:sp>
        <p:nvSpPr>
          <p:cNvPr id="17" name="Title 9">
            <a:extLst>
              <a:ext uri="{FF2B5EF4-FFF2-40B4-BE49-F238E27FC236}">
                <a16:creationId xmlns:a16="http://schemas.microsoft.com/office/drawing/2014/main" id="{5E8796F7-DD26-D250-5E97-B38B22298E72}"/>
              </a:ext>
            </a:extLst>
          </p:cNvPr>
          <p:cNvSpPr txBox="1">
            <a:spLocks/>
          </p:cNvSpPr>
          <p:nvPr/>
        </p:nvSpPr>
        <p:spPr>
          <a:xfrm>
            <a:off x="284452" y="4363897"/>
            <a:ext cx="6382893" cy="953213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rtl="0">
              <a:spcBef>
                <a:spcPts val="600"/>
              </a:spcBef>
              <a:spcAft>
                <a:spcPts val="12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Arial"/>
              </a:rPr>
              <a:t>Target audience: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Chief architect · senior architect · sector ICT lead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22592" y="0"/>
            <a:ext cx="5169103" cy="6858000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4572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5F5FB"/>
                </a:solidFill>
                <a:latin typeface="Arial"/>
              </a:rPr>
              <a:t>THE PRACTICE THIS MODULE STANDS UP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960120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Repository — where the architecture lives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1892808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Tooling — chosen without lock-in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52360" y="2825496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Governance — a Board and a gate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3758184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Sustainment — alive past year two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580644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FFFFFF"/>
                </a:solidFill>
                <a:latin typeface="Arial"/>
              </a:rPr>
              <a:t>5 gate questions · 4 health metrics · 4 ways a practice fades</a:t>
            </a:r>
          </a:p>
        </p:txBody>
      </p:sp>
    </p:spTree>
    <p:extLst>
      <p:ext uri="{BB962C8B-B14F-4D97-AF65-F5344CB8AC3E}">
        <p14:creationId xmlns:p14="http://schemas.microsoft.com/office/powerpoint/2010/main" val="1196800265"/>
      </p:ext>
    </p:extLst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KP1 · MODULE 3 · VIDEO 3.6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3.6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Show the EA is working — the few metrics that matter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A handful of honest metrics — coverage, re-use rate, open exceptions, decisions made — show the minister and the team that the EA is working, and tell you where it isn’t, without drowning anyone in vanity numbers.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~4 minutes · standalone video · voice-over on text slides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Four numbers carry most of the signal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50876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6304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Coverage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How much of your government is actually in the repository — and current.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49631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258317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53746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Re-use rate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Of the projects that came through the gate, how many consumed a shared block instead of building their 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357073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365759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611879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Open exceptions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How many waivers are outstanding, and how old.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46451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1792" y="473202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68630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Decisions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How many gate decisions the Board made — and how fast.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87044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A growing pile of aged exceptions is fragmentation returning; a slow gate is one projects route around.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3.6 · Show the EA is working — the few metrics that matter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re-use rate is the one to put in front of the budget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Every project that consumed the shared identity platform instead of building its own is a system the country paid for once instead of many times.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Tracked over a year, a rising re-use rate is the closest thing you have to proof that the EA is returning its cost — the abstract argument turned into a number that goes up.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434840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26864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That is the metric that protects your funding.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3.6 · Show the EA is working — the few metrics that matter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If a metric would still rise while the architecture stopped mattering, it is wrong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54480"/>
            <a:ext cx="5394960" cy="3977639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700784"/>
            <a:ext cx="499262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MEASURES EFFECT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Re-use rate.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Coverage that is current.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Gate decisions made, and how fast.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94960" cy="3977639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64808" y="1700784"/>
            <a:ext cx="499262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MEASURES ACTIVITY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Diagrams drawn.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Pages written.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Meetings held.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715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A programme can produce a thousand pages and change nothing.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3.6 · Show the EA is working — the few metrics that matter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A scorecard that is always green is believed once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One page, every quarter, to the Board and the minister — including what is not working: the coverage gap in a sector nobody will let you near, the aging exceptions a powerful ministry will not close.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temptation is to show only green. Resist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434840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26864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A scorecard honestly amber where it should be is what keeps the EA funded across a change of minister.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3.6 · Show the EA is working — the few metrics that matter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A one-page quarterly scorecard — coverage, re-use rate, open exceptions, decisions — shows honestly whether the EA is working, and the re-use rate is what proves it pays.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Build your EA health scorecard.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a one-page scorecard template with metrics, computations and thresholds. Before the next video.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3.6 · Show the EA is working — the few metrics that matter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§5.4 (Organisational Assessment &amp; Roadmap)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§5.7 (Recommended Roadmap — intermediate-results pattern)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3.6 · Show the EA is working — the few metrics that matter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