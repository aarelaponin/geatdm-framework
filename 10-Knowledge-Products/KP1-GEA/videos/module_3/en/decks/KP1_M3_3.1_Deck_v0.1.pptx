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run an assessment. You have the four-layer picture of a sector. Now the question is: where does it live? If the answer is a slide deck on your laptop, the architecture will be out of date within a month and disagreed with within two. An Enterprise Architecture needs a home — one place where the current picture lives, that everyone works from. That home is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is not a building, and it is not a particular software product. It is the single, agreed store of your architecture. It holds three things. The four layers — the capabilities, data domains, applications and technology you mapped. The relationships — how they connect, using the shared entities. And the decisions — what the EA Board ruled, and why. One place. One version everyone trusts.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insist on one place? Because the moment there are two copies, they drift, and then they disagree. One ministry works from last year's picture; another from a newer one. People stop arguing about the architecture and start arguing about whose copy is right. A second copy does not add a backup — it destroys the single source of truth. One place, or effectively none.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Concretely, take Progressa's education sector. The repository holds the data domains and their owners — Person owned by the Identity Authority, Learner by the Learner Registry, examination results by the Examination Authority. It holds the capability map, the application portfolio, the shared technology. And it holds the decisions: when the Board ruled that the Examination Authority must consume the Learner Registry rather than keep its own list, that ruling lives in the repository, with its reason. Anyone can look up not just what the architecture is, but why it is that way.</a:t>
            </a:r>
          </a:p>
          <a:p/>
          <a:p>
            <a:r>
              <a:t>On screen: Progressa is a fictional demonstration country; institution names are plain-text labels,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need to buy anything to start. A well-structured spreadsheet, or a shared wiki, is a real repository if it holds the four layers, the relationships and the decisions, and if everyone uses it as the one source. Structure matters more than software. Many countries run a perfectly good early EA on a spreadsheet and a document store. The discipline of one place is what counts — not the price of the tool. When a spreadsheet starts to hurt, you graduate to a dedicated tool; the choice of tool is its own deliberate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reason the repository matters. It is the object both sides point at. When your minister briefs cabinet and when your architect designs a system, they are looking at the same picture — because there is only one. The repository is what makes the architecture a shared language between the business side and the IT side, instead of two private ones. Without it, each side keeps its own version, and the conversation breaks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tooling, before governance, set up the one place. The single store of the layers, the relationships and the decisions. Get that right, and everything else in this module is about protecting what goes into it. Get it wrong — let copies multiply — and no amount of governance will save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3.1.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3.1 — Set up the one place your architecture lives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3.1</a:t>
            </a:r>
          </a:p>
          <a:p>
            <a:r>
              <a:rPr sz="1200" b="0" i="1">
                <a:solidFill>
                  <a:srgbClr val="595959"/>
                </a:solidFill>
                <a:latin typeface="Arial"/>
              </a:rPr>
              <a:t>An EA repository is the single agreed place the architecture lives — the four layers, the entities and the decisions — so that one picture of your government exists instead of many private copies. Set it up first; everything else governs what goes into it.</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Set up the one place your architecture lives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repository is the single agreed place the architecture lives — the four layers, the entities and the decisions — so that one picture of your government exists instead of many private copies. Set it up first; everything else governs what goes into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repository is a discipline, not a product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four layers</a:t>
            </a:r>
          </a:p>
          <a:p>
            <a:pPr>
              <a:spcAft>
                <a:spcPts val="300"/>
              </a:spcAft>
            </a:pPr>
            <a:r>
              <a:rPr sz="1550" b="0" i="0">
                <a:solidFill>
                  <a:srgbClr val="595959"/>
                </a:solidFill>
                <a:latin typeface="Arial"/>
              </a:rPr>
              <a:t>The capabilities, data domains, applications and technology you mapped.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relationships</a:t>
            </a:r>
          </a:p>
          <a:p>
            <a:pPr>
              <a:spcAft>
                <a:spcPts val="300"/>
              </a:spcAft>
            </a:pPr>
            <a:r>
              <a:rPr sz="1550" b="0" i="0">
                <a:solidFill>
                  <a:srgbClr val="595959"/>
                </a:solidFill>
                <a:latin typeface="Arial"/>
              </a:rPr>
              <a:t>How they connect, expressed with the shared entities.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decisions</a:t>
            </a:r>
          </a:p>
          <a:p>
            <a:pPr>
              <a:spcAft>
                <a:spcPts val="300"/>
              </a:spcAft>
            </a:pPr>
            <a:r>
              <a:rPr sz="1550" b="0" i="0">
                <a:solidFill>
                  <a:srgbClr val="595959"/>
                </a:solidFill>
                <a:latin typeface="Arial"/>
              </a:rPr>
              <a:t>What the EA Board ruled — and why it ruled that way.</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a building. Not a particular software product. One agreed store — one version everyone trusts.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second copy does not add a backup — it destroys the single source of truth</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moment there are two copies, they drift. Then they disagree.</a:t>
            </a:r>
          </a:p>
          <a:p>
            <a:pPr>
              <a:spcAft>
                <a:spcPts val="1200"/>
              </a:spcAft>
            </a:pPr>
            <a:r>
              <a:rPr sz="2000" b="0" i="0">
                <a:solidFill>
                  <a:srgbClr val="1A1A1A"/>
                </a:solidFill>
                <a:latin typeface="Arial"/>
              </a:rPr>
              <a:t>One ministry works from last year’s picture; another from a newer one. People stop arguing about the architecture and start arguing about whose copy is right.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place — or effectively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holds, concretely — a sector anyone can look up</a:t>
            </a:r>
          </a:p>
        </p:txBody>
      </p:sp>
      <p:sp>
        <p:nvSpPr>
          <p:cNvPr id="4" name="Rounded Rectangle 3"/>
          <p:cNvSpPr/>
          <p:nvPr/>
        </p:nvSpPr>
        <p:spPr>
          <a:xfrm>
            <a:off x="658368"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DATA DOMAINS, WITH OWNERS</a:t>
            </a:r>
          </a:p>
          <a:p>
            <a:pPr>
              <a:spcAft>
                <a:spcPts val="700"/>
              </a:spcAft>
            </a:pPr>
            <a:r>
              <a:rPr sz="1550" b="0" i="0">
                <a:solidFill>
                  <a:srgbClr val="1A1A1A"/>
                </a:solidFill>
                <a:latin typeface="Arial"/>
              </a:rPr>
              <a:t>Person → the Identity Authority.</a:t>
            </a:r>
          </a:p>
          <a:p>
            <a:pPr>
              <a:spcAft>
                <a:spcPts val="700"/>
              </a:spcAft>
            </a:pPr>
            <a:r>
              <a:rPr sz="1550" b="0" i="0">
                <a:solidFill>
                  <a:srgbClr val="1A1A1A"/>
                </a:solidFill>
                <a:latin typeface="Arial"/>
              </a:rPr>
              <a:t>Learner → the Learner Registry.</a:t>
            </a:r>
          </a:p>
          <a:p>
            <a:pPr>
              <a:spcAft>
                <a:spcPts val="700"/>
              </a:spcAft>
            </a:pPr>
            <a:r>
              <a:rPr sz="1550" b="0" i="0">
                <a:solidFill>
                  <a:srgbClr val="1A1A1A"/>
                </a:solidFill>
                <a:latin typeface="Arial"/>
              </a:rPr>
              <a:t>Examination result → the Examination Authority.</a:t>
            </a:r>
          </a:p>
        </p:txBody>
      </p:sp>
      <p:sp>
        <p:nvSpPr>
          <p:cNvPr id="6" name="Rounded Rectangle 5"/>
          <p:cNvSpPr/>
          <p:nvPr/>
        </p:nvSpPr>
        <p:spPr>
          <a:xfrm>
            <a:off x="6263640"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THE CAPABILITY MAP AND PORTFOLIO</a:t>
            </a:r>
          </a:p>
          <a:p>
            <a:pPr>
              <a:spcAft>
                <a:spcPts val="700"/>
              </a:spcAft>
            </a:pPr>
            <a:r>
              <a:rPr sz="1550" b="0" i="0">
                <a:solidFill>
                  <a:srgbClr val="1A1A1A"/>
                </a:solidFill>
                <a:latin typeface="Arial"/>
              </a:rPr>
              <a:t>What the sector can do, and the system that supports each capability.</a:t>
            </a:r>
          </a:p>
        </p:txBody>
      </p:sp>
      <p:sp>
        <p:nvSpPr>
          <p:cNvPr id="8" name="Rounded Rectangle 7"/>
          <p:cNvSpPr/>
          <p:nvPr/>
        </p:nvSpPr>
        <p:spPr>
          <a:xfrm>
            <a:off x="658368"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SHARED TECHNOLOGY</a:t>
            </a:r>
          </a:p>
          <a:p>
            <a:pPr>
              <a:spcAft>
                <a:spcPts val="700"/>
              </a:spcAft>
            </a:pPr>
            <a:r>
              <a:rPr sz="1550" b="0" i="0">
                <a:solidFill>
                  <a:srgbClr val="1A1A1A"/>
                </a:solidFill>
                <a:latin typeface="Arial"/>
              </a:rPr>
              <a:t>The platforms, standards and infrastructure all of it runs on.</a:t>
            </a:r>
          </a:p>
        </p:txBody>
      </p:sp>
      <p:sp>
        <p:nvSpPr>
          <p:cNvPr id="10" name="Rounded Rectangle 9"/>
          <p:cNvSpPr/>
          <p:nvPr/>
        </p:nvSpPr>
        <p:spPr>
          <a:xfrm>
            <a:off x="6263640"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DECISION LOG</a:t>
            </a:r>
          </a:p>
          <a:p>
            <a:pPr>
              <a:spcAft>
                <a:spcPts val="700"/>
              </a:spcAft>
            </a:pPr>
            <a:r>
              <a:rPr sz="1550" b="0" i="0">
                <a:solidFill>
                  <a:srgbClr val="1A1A1A"/>
                </a:solidFill>
                <a:latin typeface="Arial"/>
              </a:rPr>
              <a:t>The Board ruled that the Examination Authority must consume the Learner Registry rather than keep its own list — with the reason.</a:t>
            </a:r>
          </a:p>
        </p:txBody>
      </p:sp>
      <p:sp>
        <p:nvSpPr>
          <p:cNvPr id="12" name="TextBox 11"/>
          <p:cNvSpPr txBox="1"/>
          <p:nvPr/>
        </p:nvSpPr>
        <p:spPr>
          <a:xfrm>
            <a:off x="658368" y="5852160"/>
            <a:ext cx="10881360" cy="457200"/>
          </a:xfrm>
          <a:prstGeom prst="rect">
            <a:avLst/>
          </a:prstGeom>
          <a:noFill/>
        </p:spPr>
        <p:txBody>
          <a:bodyPr wrap="square">
            <a:spAutoFit/>
          </a:bodyPr>
          <a:lstStyle/>
          <a:p>
            <a:r>
              <a:rPr sz="1550" b="1" i="0">
                <a:solidFill>
                  <a:srgbClr val="006E96"/>
                </a:solidFill>
                <a:latin typeface="Arial"/>
              </a:rPr>
              <a:t>Anyone can look up not just what the architecture is, but why it is that way.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spreadsheet everyone uses beats a platform nobody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do not need to buy anything to start. A well-structured spreadsheet, or a shared wiki, is a real repository — if it holds the four layers, the relationships and the decisions, and if everyone uses it as the one source.</a:t>
            </a:r>
          </a:p>
          <a:p>
            <a:pPr>
              <a:spcAft>
                <a:spcPts val="1200"/>
              </a:spcAft>
            </a:pPr>
            <a:r>
              <a:rPr sz="2000" b="0" i="0">
                <a:solidFill>
                  <a:srgbClr val="1A1A1A"/>
                </a:solidFill>
                <a:latin typeface="Arial"/>
              </a:rPr>
              <a:t>Many countries run a perfectly good early EA on a spreadsheet and a document store. When the spreadsheet starts to hurt, you graduate — and the choice of tool is its own deliberate decision.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Structure matters more than software.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is the object both sides point at</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MINISTER, BRIEFING CABINET</a:t>
            </a:r>
          </a:p>
          <a:p>
            <a:pPr>
              <a:spcAft>
                <a:spcPts val="700"/>
              </a:spcAft>
            </a:pPr>
            <a:r>
              <a:rPr sz="1600" b="0" i="0">
                <a:solidFill>
                  <a:srgbClr val="1A1A1A"/>
                </a:solidFill>
                <a:latin typeface="Arial"/>
              </a:rPr>
              <a:t>Which services the sector delivers.</a:t>
            </a:r>
          </a:p>
          <a:p>
            <a:pPr>
              <a:spcAft>
                <a:spcPts val="700"/>
              </a:spcAft>
            </a:pPr>
            <a:r>
              <a:rPr sz="1600" b="0" i="0">
                <a:solidFill>
                  <a:srgbClr val="1A1A1A"/>
                </a:solidFill>
                <a:latin typeface="Arial"/>
              </a:rPr>
              <a:t>Where the money and the risk sit.</a:t>
            </a:r>
          </a:p>
          <a:p>
            <a:pPr>
              <a:spcAft>
                <a:spcPts val="700"/>
              </a:spcAft>
            </a:pPr>
            <a:r>
              <a:rPr sz="1600" b="0" i="0">
                <a:solidFill>
                  <a:srgbClr val="1A1A1A"/>
                </a:solidFill>
                <a:latin typeface="Arial"/>
              </a:rPr>
              <a:t>What the Board decided, and why.</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DESIGNING A SYSTEM</a:t>
            </a:r>
          </a:p>
          <a:p>
            <a:pPr>
              <a:spcAft>
                <a:spcPts val="700"/>
              </a:spcAft>
            </a:pPr>
            <a:r>
              <a:rPr sz="1600" b="0" i="0">
                <a:solidFill>
                  <a:srgbClr val="1A1A1A"/>
                </a:solidFill>
                <a:latin typeface="Arial"/>
              </a:rPr>
              <a:t>Which capability the system serves.</a:t>
            </a:r>
          </a:p>
          <a:p>
            <a:pPr>
              <a:spcAft>
                <a:spcPts val="700"/>
              </a:spcAft>
            </a:pPr>
            <a:r>
              <a:rPr sz="1600" b="0" i="0">
                <a:solidFill>
                  <a:srgbClr val="1A1A1A"/>
                </a:solidFill>
                <a:latin typeface="Arial"/>
              </a:rPr>
              <a:t>Which data domain it may use, and who owns it.</a:t>
            </a:r>
          </a:p>
          <a:p>
            <a:pPr>
              <a:spcAft>
                <a:spcPts val="700"/>
              </a:spcAft>
            </a:pPr>
            <a:r>
              <a:rPr sz="1600" b="0" i="0">
                <a:solidFill>
                  <a:srgbClr val="1A1A1A"/>
                </a:solidFill>
                <a:latin typeface="Arial"/>
              </a:rPr>
              <a:t>What the Board decided, and why.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picture — because there is only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repository is the single agreed place your architecture lives — the layers, the relationships and the decisions — so there is one picture of your government, not many.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 — the EA function)</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