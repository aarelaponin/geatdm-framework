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47" r:id="rId69"/>
    <p:sldId id="2748" r:id="rId70"/>
    <p:sldId id="2749" r:id="rId71"/>
    <p:sldId id="2750" r:id="rId72"/>
    <p:sldId id="2751" r:id="rId73"/>
    <p:sldId id="2752" r:id="rId74"/>
    <p:sldId id="2753" r:id="rId75"/>
    <p:sldId id="2754" r:id="rId76"/>
    <p:sldId id="2755" r:id="rId7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 Id="rId76" Type="http://schemas.openxmlformats.org/officeDocument/2006/relationships/slide" Target="slides/slide61.xml"/><Relationship Id="rId77" Type="http://schemas.openxmlformats.org/officeDocument/2006/relationships/slide" Target="slides/slide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Most EA programmes do not fail dramatically. They fade. The first six months go well; then, somewhere in the second year, the practice quietly stops mattering. The fade is predictable, and it comes in four forms.</a:t>
            </a:r>
          </a:p>
          <a:p/>
          <a:p>
            <a:r>
              <a:t>RETRIEVAL MOMENT: before the first fade slide, ask the viewer to name the ways they have seen a programme fade. The four answers are delivered on the next four slides, one each.</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fade: the team gets pulled away. A flagship programme runs into trouble and needs skilled people. Your architects are the obvious choice. They are seconded just for a few months, and the architecture work stops. This is the most common way EA programmes die. The counter is a protection promise — an explicit, written commitment that the EA team will not be pulled onto the urgent project of the week — and it must be recommitted whenever the minister or the sponsor changes, because the new one never feels bound by the old one's promise.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second fade: the repository goes stale. Updates slip during a busy quarter. The picture drifts from reality. Someone relies on it, gets burned, and word spreads that the repository cannot be trusted. Once trust goes, people stop using it, and an unused repository is a dead one. The counter is the update discipline — one named owner accountable for currency, updates tied to real events and to the review gate, so the repository stays true as a by-product of work that happens anyway.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third fade: the Board drifts back to advisory. Under delivery pressure, a powerful project is let through despite the Board's objection. Then another. The Board's no quietly becomes a suggestion, projects learn they can route around it, and within a year it is a discussion group again. The counter is to protect the binding authority deliberately — and to track and report every time the Board is overruled. Sunlight on overrides is what keeps the authority real; a Board overruled in silence is a Board being dismantled.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fourth fade: the sponsor changes. The minister or the digitalisation officer who championed the EA moves on. The successor has their own priorities and no attachment to this one. The counter is to make the EA outlive its sponsor — institutionalise it. A legal mandate for the Board, not just a memo. A budget line, not an annual favour. And the one-page scorecard, so a new sponsor can see in five minutes that the EA is returning its cost. An EA that depends on one champion dies with that champion's tenure. One that is institutionalised survives the handover.</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honest thing to carry. A mature EA practice takes about five years. The architect who stands it up is rarely the one who sees it mature. That is not a reason for discouragement — it is the job. You are building something designed to outlast you: a repository that stays true without you, a Board that holds without you, a mandate that survives the next election. Build it to survive you, and you have done the work. Build it to depend on you, and it fades the moment you leave.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Watch for the four fades — the team pulled, the repository stale, the Board gone advisory, the sponsor changed — and counter each. Keep the practice alive past year two, and the architecture becomes how government works.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s>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Keep the practice alive past year two</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EA programmes rarely fail technically; they fade — the team gets pulled away, the repository goes stale, the Board drifts to advisory, the sponsor changes. Naming these four fade-modes and the move that counters each is how you keep the practice alive.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Most EA programmes do not fail dramatically. They fade.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first six months go well.</a:t>
            </a:r>
          </a:p>
          <a:p>
            <a:pPr>
              <a:spcAft>
                <a:spcPts val="800"/>
              </a:spcAft>
            </a:pPr>
            <a:r>
              <a:rPr sz="1700" b="0" i="0">
                <a:solidFill>
                  <a:srgbClr val="595959"/>
                </a:solidFill>
                <a:latin typeface="Arial"/>
              </a:rPr>
              <a:t>Then, somewhere in the second year, the practice quietly stops mattering.</a:t>
            </a:r>
          </a:p>
          <a:p>
            <a:pPr>
              <a:spcAft>
                <a:spcPts val="800"/>
              </a:spcAft>
            </a:pPr>
            <a:r>
              <a:rPr sz="1700" b="0" i="0">
                <a:solidFill>
                  <a:srgbClr val="595959"/>
                </a:solidFill>
                <a:latin typeface="Arial"/>
              </a:rPr>
              <a:t>The fade is predictable, and it comes in four forms.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Keep the practice alive past year two</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Fade one — your architects are the obvious people to second to the crisis</a:t>
            </a:r>
          </a:p>
        </p:txBody>
      </p:sp>
      <p:sp>
        <p:nvSpPr>
          <p:cNvPr id="4" name="Rounded Rectangle 3"/>
          <p:cNvSpPr/>
          <p:nvPr/>
        </p:nvSpPr>
        <p:spPr>
          <a:xfrm>
            <a:off x="7360920"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91640"/>
            <a:ext cx="10881360" cy="1920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874520"/>
            <a:ext cx="2286000" cy="365760"/>
          </a:xfrm>
          <a:prstGeom prst="rect">
            <a:avLst/>
          </a:prstGeom>
          <a:noFill/>
        </p:spPr>
        <p:txBody>
          <a:bodyPr wrap="square">
            <a:spAutoFit/>
          </a:bodyPr>
          <a:lstStyle/>
          <a:p>
            <a:r>
              <a:rPr sz="1100" b="1" i="0">
                <a:solidFill>
                  <a:srgbClr val="006E96"/>
                </a:solidFill>
                <a:latin typeface="Arial"/>
              </a:rPr>
              <a:t>HOW IT FADES</a:t>
            </a:r>
          </a:p>
        </p:txBody>
      </p:sp>
      <p:sp>
        <p:nvSpPr>
          <p:cNvPr id="10" name="TextBox 9"/>
          <p:cNvSpPr txBox="1"/>
          <p:nvPr/>
        </p:nvSpPr>
        <p:spPr>
          <a:xfrm>
            <a:off x="3200400" y="1847088"/>
            <a:ext cx="8092440" cy="1600200"/>
          </a:xfrm>
          <a:prstGeom prst="rect">
            <a:avLst/>
          </a:prstGeom>
          <a:noFill/>
        </p:spPr>
        <p:txBody>
          <a:bodyPr wrap="square">
            <a:spAutoFit/>
          </a:bodyPr>
          <a:lstStyle/>
          <a:p>
            <a:r>
              <a:rPr sz="1800" b="0" i="0">
                <a:solidFill>
                  <a:srgbClr val="1A1A1A"/>
                </a:solidFill>
                <a:latin typeface="Arial"/>
              </a:rPr>
              <a:t>A flagship programme runs into trouble and needs skilled people. Your architects go “just for a few months”, and the architecture work stops. This is the most common way EA programmes die.</a:t>
            </a:r>
          </a:p>
        </p:txBody>
      </p:sp>
      <p:sp>
        <p:nvSpPr>
          <p:cNvPr id="11" name="Rounded Rectangle 10"/>
          <p:cNvSpPr/>
          <p:nvPr/>
        </p:nvSpPr>
        <p:spPr>
          <a:xfrm>
            <a:off x="658368" y="3931920"/>
            <a:ext cx="10881360" cy="19202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114800"/>
            <a:ext cx="2286000" cy="365760"/>
          </a:xfrm>
          <a:prstGeom prst="rect">
            <a:avLst/>
          </a:prstGeom>
          <a:noFill/>
        </p:spPr>
        <p:txBody>
          <a:bodyPr wrap="square">
            <a:spAutoFit/>
          </a:bodyPr>
          <a:lstStyle/>
          <a:p>
            <a:r>
              <a:rPr sz="1100" b="1" i="0">
                <a:solidFill>
                  <a:srgbClr val="FFFFFF"/>
                </a:solidFill>
                <a:latin typeface="Arial"/>
              </a:rPr>
              <a:t>THE COUNTER</a:t>
            </a:r>
          </a:p>
        </p:txBody>
      </p:sp>
      <p:sp>
        <p:nvSpPr>
          <p:cNvPr id="13" name="TextBox 12"/>
          <p:cNvSpPr txBox="1"/>
          <p:nvPr/>
        </p:nvSpPr>
        <p:spPr>
          <a:xfrm>
            <a:off x="3200400" y="4087368"/>
            <a:ext cx="8092440" cy="1600200"/>
          </a:xfrm>
          <a:prstGeom prst="rect">
            <a:avLst/>
          </a:prstGeom>
          <a:noFill/>
        </p:spPr>
        <p:txBody>
          <a:bodyPr wrap="square">
            <a:spAutoFit/>
          </a:bodyPr>
          <a:lstStyle/>
          <a:p>
            <a:r>
              <a:rPr sz="1800" b="0" i="0">
                <a:solidFill>
                  <a:srgbClr val="FFFFFF"/>
                </a:solidFill>
                <a:latin typeface="Arial"/>
              </a:rPr>
              <a:t>A written protection promise — an explicit commitment that the EA team will not be pulled onto the urgent project of the week — recommitted whenever the minister or the sponsor changes.</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Keep the practice alive past year two</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Fade two — an unused repository is a dead one</a:t>
            </a:r>
          </a:p>
        </p:txBody>
      </p:sp>
      <p:sp>
        <p:nvSpPr>
          <p:cNvPr id="4" name="Rounded Rectangle 3"/>
          <p:cNvSpPr/>
          <p:nvPr/>
        </p:nvSpPr>
        <p:spPr>
          <a:xfrm>
            <a:off x="7360920"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91640"/>
            <a:ext cx="10881360" cy="1920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874520"/>
            <a:ext cx="2286000" cy="365760"/>
          </a:xfrm>
          <a:prstGeom prst="rect">
            <a:avLst/>
          </a:prstGeom>
          <a:noFill/>
        </p:spPr>
        <p:txBody>
          <a:bodyPr wrap="square">
            <a:spAutoFit/>
          </a:bodyPr>
          <a:lstStyle/>
          <a:p>
            <a:r>
              <a:rPr sz="1100" b="1" i="0">
                <a:solidFill>
                  <a:srgbClr val="006E96"/>
                </a:solidFill>
                <a:latin typeface="Arial"/>
              </a:rPr>
              <a:t>HOW IT FADES</a:t>
            </a:r>
          </a:p>
        </p:txBody>
      </p:sp>
      <p:sp>
        <p:nvSpPr>
          <p:cNvPr id="10" name="TextBox 9"/>
          <p:cNvSpPr txBox="1"/>
          <p:nvPr/>
        </p:nvSpPr>
        <p:spPr>
          <a:xfrm>
            <a:off x="3200400" y="1847088"/>
            <a:ext cx="8092440" cy="1600200"/>
          </a:xfrm>
          <a:prstGeom prst="rect">
            <a:avLst/>
          </a:prstGeom>
          <a:noFill/>
        </p:spPr>
        <p:txBody>
          <a:bodyPr wrap="square">
            <a:spAutoFit/>
          </a:bodyPr>
          <a:lstStyle/>
          <a:p>
            <a:r>
              <a:rPr sz="1800" b="0" i="0">
                <a:solidFill>
                  <a:srgbClr val="1A1A1A"/>
                </a:solidFill>
                <a:latin typeface="Arial"/>
              </a:rPr>
              <a:t>Updates slip during a busy quarter. The picture drifts from reality. Someone relies on it, gets burned, and word spreads that the repository cannot be trusted. Once trust goes, people stop using it.</a:t>
            </a:r>
          </a:p>
        </p:txBody>
      </p:sp>
      <p:sp>
        <p:nvSpPr>
          <p:cNvPr id="11" name="Rounded Rectangle 10"/>
          <p:cNvSpPr/>
          <p:nvPr/>
        </p:nvSpPr>
        <p:spPr>
          <a:xfrm>
            <a:off x="658368" y="3931920"/>
            <a:ext cx="10881360" cy="19202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114800"/>
            <a:ext cx="2286000" cy="365760"/>
          </a:xfrm>
          <a:prstGeom prst="rect">
            <a:avLst/>
          </a:prstGeom>
          <a:noFill/>
        </p:spPr>
        <p:txBody>
          <a:bodyPr wrap="square">
            <a:spAutoFit/>
          </a:bodyPr>
          <a:lstStyle/>
          <a:p>
            <a:r>
              <a:rPr sz="1100" b="1" i="0">
                <a:solidFill>
                  <a:srgbClr val="FFFFFF"/>
                </a:solidFill>
                <a:latin typeface="Arial"/>
              </a:rPr>
              <a:t>THE COUNTER</a:t>
            </a:r>
          </a:p>
        </p:txBody>
      </p:sp>
      <p:sp>
        <p:nvSpPr>
          <p:cNvPr id="13" name="TextBox 12"/>
          <p:cNvSpPr txBox="1"/>
          <p:nvPr/>
        </p:nvSpPr>
        <p:spPr>
          <a:xfrm>
            <a:off x="3200400" y="4087368"/>
            <a:ext cx="8092440" cy="1600200"/>
          </a:xfrm>
          <a:prstGeom prst="rect">
            <a:avLst/>
          </a:prstGeom>
          <a:noFill/>
        </p:spPr>
        <p:txBody>
          <a:bodyPr wrap="square">
            <a:spAutoFit/>
          </a:bodyPr>
          <a:lstStyle/>
          <a:p>
            <a:r>
              <a:rPr sz="1800" b="0" i="0">
                <a:solidFill>
                  <a:srgbClr val="FFFFFF"/>
                </a:solidFill>
                <a:latin typeface="Arial"/>
              </a:rPr>
              <a:t>The update discipline: one named owner accountable for currency, updates tied to real events and to the review gate — so the repository stays true as a by-product of work that happens anyway.</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Keep the practice alive past year two</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Fade three — a Board overruled in silence is a Board being dismantled</a:t>
            </a:r>
          </a:p>
        </p:txBody>
      </p:sp>
      <p:sp>
        <p:nvSpPr>
          <p:cNvPr id="4" name="Rounded Rectangle 3"/>
          <p:cNvSpPr/>
          <p:nvPr/>
        </p:nvSpPr>
        <p:spPr>
          <a:xfrm>
            <a:off x="7360920"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91640"/>
            <a:ext cx="10881360" cy="1920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874520"/>
            <a:ext cx="2286000" cy="365760"/>
          </a:xfrm>
          <a:prstGeom prst="rect">
            <a:avLst/>
          </a:prstGeom>
          <a:noFill/>
        </p:spPr>
        <p:txBody>
          <a:bodyPr wrap="square">
            <a:spAutoFit/>
          </a:bodyPr>
          <a:lstStyle/>
          <a:p>
            <a:r>
              <a:rPr sz="1100" b="1" i="0">
                <a:solidFill>
                  <a:srgbClr val="006E96"/>
                </a:solidFill>
                <a:latin typeface="Arial"/>
              </a:rPr>
              <a:t>HOW IT FADES</a:t>
            </a:r>
          </a:p>
        </p:txBody>
      </p:sp>
      <p:sp>
        <p:nvSpPr>
          <p:cNvPr id="10" name="TextBox 9"/>
          <p:cNvSpPr txBox="1"/>
          <p:nvPr/>
        </p:nvSpPr>
        <p:spPr>
          <a:xfrm>
            <a:off x="3200400" y="1847088"/>
            <a:ext cx="8092440" cy="1600200"/>
          </a:xfrm>
          <a:prstGeom prst="rect">
            <a:avLst/>
          </a:prstGeom>
          <a:noFill/>
        </p:spPr>
        <p:txBody>
          <a:bodyPr wrap="square">
            <a:spAutoFit/>
          </a:bodyPr>
          <a:lstStyle/>
          <a:p>
            <a:r>
              <a:rPr sz="1800" b="0" i="0">
                <a:solidFill>
                  <a:srgbClr val="1A1A1A"/>
                </a:solidFill>
                <a:latin typeface="Arial"/>
              </a:rPr>
              <a:t>Under delivery pressure, a powerful project is let through despite the Board’s objection. Then another. The no becomes a suggestion, projects learn they can route around it, and within a year it is a discussion group again.</a:t>
            </a:r>
          </a:p>
        </p:txBody>
      </p:sp>
      <p:sp>
        <p:nvSpPr>
          <p:cNvPr id="11" name="Rounded Rectangle 10"/>
          <p:cNvSpPr/>
          <p:nvPr/>
        </p:nvSpPr>
        <p:spPr>
          <a:xfrm>
            <a:off x="658368" y="3931920"/>
            <a:ext cx="10881360" cy="19202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114800"/>
            <a:ext cx="2286000" cy="365760"/>
          </a:xfrm>
          <a:prstGeom prst="rect">
            <a:avLst/>
          </a:prstGeom>
          <a:noFill/>
        </p:spPr>
        <p:txBody>
          <a:bodyPr wrap="square">
            <a:spAutoFit/>
          </a:bodyPr>
          <a:lstStyle/>
          <a:p>
            <a:r>
              <a:rPr sz="1100" b="1" i="0">
                <a:solidFill>
                  <a:srgbClr val="FFFFFF"/>
                </a:solidFill>
                <a:latin typeface="Arial"/>
              </a:rPr>
              <a:t>THE COUNTER</a:t>
            </a:r>
          </a:p>
        </p:txBody>
      </p:sp>
      <p:sp>
        <p:nvSpPr>
          <p:cNvPr id="13" name="TextBox 12"/>
          <p:cNvSpPr txBox="1"/>
          <p:nvPr/>
        </p:nvSpPr>
        <p:spPr>
          <a:xfrm>
            <a:off x="3200400" y="4087368"/>
            <a:ext cx="8092440" cy="1600200"/>
          </a:xfrm>
          <a:prstGeom prst="rect">
            <a:avLst/>
          </a:prstGeom>
          <a:noFill/>
        </p:spPr>
        <p:txBody>
          <a:bodyPr wrap="square">
            <a:spAutoFit/>
          </a:bodyPr>
          <a:lstStyle/>
          <a:p>
            <a:r>
              <a:rPr sz="1800" b="0" i="0">
                <a:solidFill>
                  <a:srgbClr val="FFFFFF"/>
                </a:solidFill>
                <a:latin typeface="Arial"/>
              </a:rPr>
              <a:t>Protect the binding authority deliberately — and track and report every time the Board is overruled. Sunlight on overrides is what keeps the authority real.</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Keep the practice alive past year two</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Fade four — an EA that depends on one champion dies with that champion</a:t>
            </a:r>
          </a:p>
        </p:txBody>
      </p:sp>
      <p:sp>
        <p:nvSpPr>
          <p:cNvPr id="4" name="Rounded Rectangle 3"/>
          <p:cNvSpPr/>
          <p:nvPr/>
        </p:nvSpPr>
        <p:spPr>
          <a:xfrm>
            <a:off x="7360920"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91640"/>
            <a:ext cx="10881360" cy="1920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874520"/>
            <a:ext cx="2286000" cy="365760"/>
          </a:xfrm>
          <a:prstGeom prst="rect">
            <a:avLst/>
          </a:prstGeom>
          <a:noFill/>
        </p:spPr>
        <p:txBody>
          <a:bodyPr wrap="square">
            <a:spAutoFit/>
          </a:bodyPr>
          <a:lstStyle/>
          <a:p>
            <a:r>
              <a:rPr sz="1100" b="1" i="0">
                <a:solidFill>
                  <a:srgbClr val="006E96"/>
                </a:solidFill>
                <a:latin typeface="Arial"/>
              </a:rPr>
              <a:t>HOW IT FADES</a:t>
            </a:r>
          </a:p>
        </p:txBody>
      </p:sp>
      <p:sp>
        <p:nvSpPr>
          <p:cNvPr id="10" name="TextBox 9"/>
          <p:cNvSpPr txBox="1"/>
          <p:nvPr/>
        </p:nvSpPr>
        <p:spPr>
          <a:xfrm>
            <a:off x="3200400" y="1847088"/>
            <a:ext cx="8092440" cy="1600200"/>
          </a:xfrm>
          <a:prstGeom prst="rect">
            <a:avLst/>
          </a:prstGeom>
          <a:noFill/>
        </p:spPr>
        <p:txBody>
          <a:bodyPr wrap="square">
            <a:spAutoFit/>
          </a:bodyPr>
          <a:lstStyle/>
          <a:p>
            <a:r>
              <a:rPr sz="1800" b="0" i="0">
                <a:solidFill>
                  <a:srgbClr val="1A1A1A"/>
                </a:solidFill>
                <a:latin typeface="Arial"/>
              </a:rPr>
              <a:t>The minister or the digitalisation officer who championed the EA moves on. The successor has their own priorities and no attachment to this one.</a:t>
            </a:r>
          </a:p>
        </p:txBody>
      </p:sp>
      <p:sp>
        <p:nvSpPr>
          <p:cNvPr id="11" name="Rounded Rectangle 10"/>
          <p:cNvSpPr/>
          <p:nvPr/>
        </p:nvSpPr>
        <p:spPr>
          <a:xfrm>
            <a:off x="658368" y="3931920"/>
            <a:ext cx="10881360" cy="19202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114800"/>
            <a:ext cx="2286000" cy="365760"/>
          </a:xfrm>
          <a:prstGeom prst="rect">
            <a:avLst/>
          </a:prstGeom>
          <a:noFill/>
        </p:spPr>
        <p:txBody>
          <a:bodyPr wrap="square">
            <a:spAutoFit/>
          </a:bodyPr>
          <a:lstStyle/>
          <a:p>
            <a:r>
              <a:rPr sz="1100" b="1" i="0">
                <a:solidFill>
                  <a:srgbClr val="FFFFFF"/>
                </a:solidFill>
                <a:latin typeface="Arial"/>
              </a:rPr>
              <a:t>THE COUNTER</a:t>
            </a:r>
          </a:p>
        </p:txBody>
      </p:sp>
      <p:sp>
        <p:nvSpPr>
          <p:cNvPr id="13" name="TextBox 12"/>
          <p:cNvSpPr txBox="1"/>
          <p:nvPr/>
        </p:nvSpPr>
        <p:spPr>
          <a:xfrm>
            <a:off x="3200400" y="4087368"/>
            <a:ext cx="8092440" cy="1600200"/>
          </a:xfrm>
          <a:prstGeom prst="rect">
            <a:avLst/>
          </a:prstGeom>
          <a:noFill/>
        </p:spPr>
        <p:txBody>
          <a:bodyPr wrap="square">
            <a:spAutoFit/>
          </a:bodyPr>
          <a:lstStyle/>
          <a:p>
            <a:r>
              <a:rPr sz="1800" b="0" i="0">
                <a:solidFill>
                  <a:srgbClr val="FFFFFF"/>
                </a:solidFill>
                <a:latin typeface="Arial"/>
              </a:rPr>
              <a:t>Institutionalise it: a legal mandate for the Board, not just a memo. A budget line, not an annual favour. And the one-page scorecard, so a new sponsor can see in five minutes that the EA is returning its cost.</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Keep the practice alive past year two</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 are building something designed to outlast you</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A mature EA practice takes about five years. The architect who stands it up is rarely the one who sees it mature. That is not a reason for discouragement — it is the job.</a:t>
            </a:r>
          </a:p>
          <a:p>
            <a:pPr>
              <a:spcAft>
                <a:spcPts val="1200"/>
              </a:spcAft>
            </a:pPr>
            <a:r>
              <a:rPr sz="2000" b="0" i="0">
                <a:solidFill>
                  <a:srgbClr val="1A1A1A"/>
                </a:solidFill>
                <a:latin typeface="Arial"/>
              </a:rPr>
              <a:t>A repository that stays true without you. A Board that holds without you. A mandate that survives the next election.</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Build it to survive you, and you have done the work.</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Keep the practice alive past year two</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EA programmes fade in four ways — team pulled, repository stale, Board gone advisory, sponsor changed — and you counter each by institutionalising the practice so it survives you.</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Build your EA sustainment risk register.</a:t>
            </a:r>
          </a:p>
          <a:p>
            <a:pPr algn="l">
              <a:spcAft>
                <a:spcPts val="400"/>
              </a:spcAft>
            </a:pPr>
            <a:r>
              <a:rPr sz="1800" b="0" i="0">
                <a:solidFill>
                  <a:srgbClr val="595959"/>
                </a:solidFill>
                <a:latin typeface="Arial"/>
              </a:rPr>
              <a:t>The prompt in the companion material gives you a four-row sustainment risk register plus early-warning signals.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Keep the practice alive past year two</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§4.2.1 (Management)</a:t>
            </a:r>
          </a:p>
          <a:p>
            <a:pPr>
              <a:spcAft>
                <a:spcPts val="1200"/>
              </a:spcAft>
            </a:pPr>
            <a:r>
              <a:rPr sz="1700" b="0" i="0">
                <a:solidFill>
                  <a:srgbClr val="1A1A1A"/>
                </a:solidFill>
                <a:latin typeface="Arial"/>
              </a:rPr>
              <a:t>•  PAERA v1.0 — §4.2.2 (Architecture)</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Keep the practice alive past year two</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