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22" r:id="rId44"/>
    <p:sldId id="2723" r:id="rId45"/>
    <p:sldId id="2724" r:id="rId17"/>
    <p:sldId id="2725" r:id="rId16"/>
    <p:sldId id="2726" r:id="rId15"/>
    <p:sldId id="2727" r:id="rId14"/>
    <p:sldId id="2728" r:id="rId13"/>
    <p:sldId id="2729" r:id="rId12"/>
    <p:sldId id="273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repository holds the architecture; the Board is what gives it authority. Without a governance board the architecture is a document people can ignore. With a real one — that can say no — it becomes the place every significant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one thing that matters. The Board must be binding, not advisory. An advisory board looks at a project, offers an opinion, and the project does whatever it was going to do. That is governance theatre — it produces minutes, not decisions. A binding board's rulings are a condition of proceeding: a project told to consume the shared identity platform does so, or it does not get funded. If you cannot get binding authority, you do not yet have a governance board. You have a discussion group.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chairs it decides whether no sticks. The chair is your Chief Digitalisation Officer or its equivalent — or, in a smaller government, the minister directly. Senior enough that when the Board declines a powerful ministry's pet project, the decision holds. Note who does not chair it: you, the architect. You prepare the Board, you advise it, you bring the analysis. The authority to decide sits with someone who can carry it politically. The architect informs; the chair decides.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sits on it: the people whose systems the decisions affect. The sector ministry CIOs. The owners of the major state registries — the identity authority, the population register. Where data-sharing is in play, the data-protection regulator. And, where useful, one external advisor for perspective. Keep it small enough to decide and broad enough that the decisions are owned by the people who must live with them. A Board of the right twelve is better than a Board of the convenient forty.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Set a cadence that governs without becoming the bottleneck. Quarterly main meetings to review the architecture as a whole — what changed, what is drifting, what to prioritise. And a fast ad-hoc path for urgent project decisions, so a programme on a deadline is not stuck for three months waiting for the next quarterly. If the Board is slow, projects will route around it, and you are back to no governance. Binding authority plus responsiveness is what keeps projects coming through the front door.</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deeper reason the Board matters. Redesigning how government serves citizens needs the business side and the IT side to decide together — and they need a regular place to do it. The Board is that place. The repository gives them the shared picture; the metamodel gives them shared words; the Board gives them the shared rhythm — a standing forum where, four times a year and whenever it is urgent, business and IT sit down and decide together. That standing rhythm is part of what an EA provides that no single project ever can.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Stand up a Board that can say no: binding, not advisory, chaired by someone senior enough that the no sticks, made of the people whose systems are affected, on a rhythm that governs without blocking.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an EA Board that can actually say no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Board with binding authority — the right chair, the right members, a regular cadence, and a mandate that lets it say no — is what turns the architecture from a document into the place every digital decision passes through.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The repository holds the architecture. The Board gives it authority.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Without a governance board, the architecture is a document people can ignore.</a:t>
            </a:r>
          </a:p>
          <a:p>
            <a:pPr>
              <a:spcAft>
                <a:spcPts val="800"/>
              </a:spcAft>
            </a:pPr>
            <a:r>
              <a:rPr sz="1700" b="0" i="0">
                <a:solidFill>
                  <a:srgbClr val="595959"/>
                </a:solidFill>
                <a:latin typeface="Arial"/>
              </a:rPr>
              <a:t>With a real one — that can say no — it becomes the place every significant digital decision passes through.</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advisory board produces minutes; a binding board produces decisions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An advisory board looks at a project, offers an opinion, and the project does whatever it was going to do. That is governance theatre.</a:t>
            </a:r>
          </a:p>
          <a:p>
            <a:pPr>
              <a:spcAft>
                <a:spcPts val="1200"/>
              </a:spcAft>
            </a:pPr>
            <a:r>
              <a:rPr sz="2000" b="0" i="0">
                <a:solidFill>
                  <a:srgbClr val="1A1A1A"/>
                </a:solidFill>
                <a:latin typeface="Arial"/>
              </a:rPr>
              <a:t>A binding board’s rulings are a condition of proceeding: a project told to consume the shared identity platform does so, or it does not get funded.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Without binding authority you have a discussion group, not a governance board.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chair decides whether the no sticks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Your Chief Digitalisation Officer or its equivalent — or, in a smaller government, the minister directly. Senior enough that when the Board declines a powerful ministry’s pet project, the decision holds.</a:t>
            </a:r>
          </a:p>
          <a:p>
            <a:pPr>
              <a:spcAft>
                <a:spcPts val="1200"/>
              </a:spcAft>
            </a:pPr>
            <a:r>
              <a:rPr sz="2000" b="0" i="0">
                <a:solidFill>
                  <a:srgbClr val="1A1A1A"/>
                </a:solidFill>
                <a:latin typeface="Arial"/>
              </a:rPr>
              <a:t>Note who does not chair it: you. You prepare the Board, you advise it, you bring the analysis.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 informs; the chair decides.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Membership follows the affected systems, not convenience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sector ministry CIOs</a:t>
            </a:r>
          </a:p>
          <a:p>
            <a:pPr>
              <a:spcAft>
                <a:spcPts val="300"/>
              </a:spcAft>
            </a:pPr>
            <a:r>
              <a:rPr sz="1550" b="0" i="0">
                <a:solidFill>
                  <a:srgbClr val="595959"/>
                </a:solidFill>
                <a:latin typeface="Arial"/>
              </a:rPr>
              <a:t>Their systems carry the decisions.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owners of the major state registries</a:t>
            </a:r>
          </a:p>
          <a:p>
            <a:pPr>
              <a:spcAft>
                <a:spcPts val="300"/>
              </a:spcAft>
            </a:pPr>
            <a:r>
              <a:rPr sz="1550" b="0" i="0">
                <a:solidFill>
                  <a:srgbClr val="595959"/>
                </a:solidFill>
                <a:latin typeface="Arial"/>
              </a:rPr>
              <a:t>The identity authority, the population register.</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data-protection regulator</a:t>
            </a:r>
          </a:p>
          <a:p>
            <a:pPr>
              <a:spcAft>
                <a:spcPts val="300"/>
              </a:spcAft>
            </a:pPr>
            <a:r>
              <a:rPr sz="1550" b="0" i="0">
                <a:solidFill>
                  <a:srgbClr val="595959"/>
                </a:solidFill>
                <a:latin typeface="Arial"/>
              </a:rPr>
              <a:t>Wherever data-sharing is in play.</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external advisor</a:t>
            </a:r>
          </a:p>
          <a:p>
            <a:pPr>
              <a:spcAft>
                <a:spcPts val="300"/>
              </a:spcAft>
            </a:pPr>
            <a:r>
              <a:rPr sz="1550" b="0" i="0">
                <a:solidFill>
                  <a:srgbClr val="595959"/>
                </a:solidFill>
                <a:latin typeface="Arial"/>
              </a:rPr>
              <a:t>Where an outside perspective is useful.</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Board of the right twelve is better than a Board of the convenient forty.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 on a cadence that does not become the bottleneck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QUARTERLY — THE MAIN MEETING</a:t>
            </a:r>
          </a:p>
          <a:p>
            <a:pPr>
              <a:spcAft>
                <a:spcPts val="700"/>
              </a:spcAft>
            </a:pPr>
            <a:r>
              <a:rPr sz="1600" b="0" i="0">
                <a:solidFill>
                  <a:srgbClr val="1A1A1A"/>
                </a:solidFill>
                <a:latin typeface="Arial"/>
              </a:rPr>
              <a:t>Review the architecture as a whole.</a:t>
            </a:r>
          </a:p>
          <a:p>
            <a:pPr>
              <a:spcAft>
                <a:spcPts val="700"/>
              </a:spcAft>
            </a:pPr>
            <a:r>
              <a:rPr sz="1600" b="0" i="0">
                <a:solidFill>
                  <a:srgbClr val="1A1A1A"/>
                </a:solidFill>
                <a:latin typeface="Arial"/>
              </a:rPr>
              <a:t>What changed, what is drifting, what to prioritise next.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AD HOC — THE FAST PATH</a:t>
            </a:r>
          </a:p>
          <a:p>
            <a:pPr>
              <a:spcAft>
                <a:spcPts val="700"/>
              </a:spcAft>
            </a:pPr>
            <a:r>
              <a:rPr sz="1600" b="0" i="0">
                <a:solidFill>
                  <a:srgbClr val="1A1A1A"/>
                </a:solidFill>
                <a:latin typeface="Arial"/>
              </a:rPr>
              <a:t>Urgent project decisions.</a:t>
            </a:r>
          </a:p>
          <a:p>
            <a:pPr>
              <a:spcAft>
                <a:spcPts val="700"/>
              </a:spcAft>
            </a:pPr>
            <a:r>
              <a:rPr sz="1600" b="0" i="0">
                <a:solidFill>
                  <a:srgbClr val="1A1A1A"/>
                </a:solidFill>
                <a:latin typeface="Arial"/>
              </a:rPr>
              <a:t>So a programme on a deadline is not stuck for three months waiting for the next quarterly.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If the Board is slow, projects route around it — and you are back to no governance.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is the standing rhythm no single project can provide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repository gives the shared picture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metamodel gives the shared words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Board gives the shared rhythm</a:t>
            </a:r>
          </a:p>
          <a:p>
            <a:pPr>
              <a:spcAft>
                <a:spcPts val="300"/>
              </a:spcAft>
            </a:pPr>
            <a:r>
              <a:rPr sz="1550" b="0" i="0">
                <a:solidFill>
                  <a:srgbClr val="595959"/>
                </a:solidFill>
                <a:latin typeface="Arial"/>
              </a:rPr>
              <a:t>A standing forum where the business side and the IT side decide together.</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times a year, and whenever it is urgent, both sides sit down and decide together.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Board with binding authority, the right chair and members, and a cadence that doesn’t block delivery is what turns the architecture into the place every digital decision passes through.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EA Board's Terms of Reference.</a:t>
            </a:r>
          </a:p>
          <a:p>
            <a:pPr algn="l">
              <a:spcAft>
                <a:spcPts val="400"/>
              </a:spcAft>
            </a:pPr>
            <a:r>
              <a:rPr sz="1800" b="0" i="0">
                <a:solidFill>
                  <a:srgbClr val="595959"/>
                </a:solidFill>
                <a:latin typeface="Arial"/>
              </a:rPr>
              <a:t>The prompt in the companion material gives you a structured EA Board Terms of Reference.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