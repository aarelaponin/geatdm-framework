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27" r:id="rId14"/>
    <p:sldId id="2728" r:id="rId13"/>
    <p:sldId id="2729" r:id="rId12"/>
    <p:sldId id="2730" r:id="rId11"/>
    <p:sldId id="2731" r:id="rId10"/>
    <p:sldId id="2732" r:id="rId54"/>
    <p:sldId id="2733"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3.5. Content slides are identical to the corresponding section of the combined deck KP1_M3_Deck_v0.1.pptx;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A Board with authority needs something to do with it. That something is the architecture review gate: the point where every significant new project passes through a short, consistent set of questions before it gets funded. This is where the architecture does its real work — not on a wall, but at the moment a project would otherwise quietly build its own version of something the country already has.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gate is a few questions, asked of every project, the same way every time. Does a shared building block already exist for what you want to build? What data domains will you touch, and do you consume the owning body's copy rather than make your own? Do you meet the architecture principles — security by design, once-only, the rest? What is your sourcing choice, and is it deliberate? Can you export your data in an open format? Five questions. Asked consistently. That consistency is what makes the gate fair and predictable, so projects prepare for it rather than resent it.</a:t>
            </a:r>
          </a:p>
          <a:p/>
          <a:p>
            <a:r>
              <a:t>Centrepiece of 3.5 — reveal one question at a time, then hold the full list on screen.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why this gate matters more than any document. Left alone, a project builds its own identity function, its own learner list, its own payment integration — because, inside the project, building is faster than reusing. That choice is rational for the project and ruinous for the country. The gate is the one place where the whole-of-government view meets that decision, while it can still be changed. When a project proposes to build what already exists as a shared block, the Board, at the gate, says: consume the shared one. That single moment, repeated across every project, is how re-use actually happens. Not because a strategy required it — because the gate enforced it.</a:t>
            </a:r>
          </a:p>
          <a:p/>
          <a:p>
            <a:r>
              <a:t>The emotional peak of the module. This is the pivotal slide of 3.5 — let the closing line land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Sometimes the project is right. The shared identity platform genuinely cannot do what this project needs yet. So the gate is not a wall — it grants exceptions. But every exception is written down, with its reason, and given a sunset — a date when it is revisited. An exception without an expiry quietly becomes the permanent normal, and ten of them become the fragmentation you were trying to prevent. Grant exceptions honestly, record them, and make them temporary by default.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decision the gate makes goes into the repository's decision log — what was decided, and why. This is the architecture's memory. Two years on, when someone asks why the Examination Authority is not allowed its own learner list, the answer is in the log, with the reasoning, not lost with the architect who has moved on. The decision log is also what makes the gate consistent: this project is treated the way the last similar one was, because the precedent is written down.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build the gate. A few questions, asked of every project the same way. A clear ruling — consume the shared block, or a written, time-boxed exception. Every decision logged with its reason. This is where principles stop being words and become the path projects actually take. The gate is the engine of the whole EA. Everything else — the repository, the Board, the principles — exists so that this moment, repeated, goes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3.5 — Review projects against the architecture</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3 · Video 3.5</a:t>
            </a:r>
          </a:p>
          <a:p>
            <a:r>
              <a:rPr sz="1200" b="0" i="1">
                <a:solidFill>
                  <a:srgbClr val="595959"/>
                </a:solidFill>
                <a:latin typeface="Arial"/>
              </a:rPr>
              <a:t>The architecture review gate — a short, consistent set of questions every project passes through before funding — is what turns principles and re-use from good intentions into the actual path of least resistance.</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PRACTICE THIS MODULE STANDS UP</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Repository — where the architecture lives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Tooling — chosen without lock-in</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Governance — a Board and a gate</a:t>
            </a:r>
          </a:p>
        </p:txBody>
      </p:sp>
      <p:sp>
        <p:nvSpPr>
          <p:cNvPr id="23" name="Rounded Rectangle 22"/>
          <p:cNvSpPr/>
          <p:nvPr/>
        </p:nvSpPr>
        <p:spPr>
          <a:xfrm>
            <a:off x="7452360" y="3758184"/>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Sustainment — alive past year two</a:t>
            </a:r>
          </a:p>
        </p:txBody>
      </p:sp>
      <p:sp>
        <p:nvSpPr>
          <p:cNvPr id="24" name="TextBox 23"/>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5 gate questions · 4 health metrics · 4 ways a practice fades</a:t>
            </a:r>
          </a:p>
        </p:txBody>
      </p:sp>
    </p:spTree>
    <p:extLst>
      <p:ext uri="{BB962C8B-B14F-4D97-AF65-F5344CB8AC3E}">
        <p14:creationId xmlns:p14="http://schemas.microsoft.com/office/powerpoint/2010/main" val="1196800265"/>
      </p:ext>
    </p:extLst>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3 · VIDEO 3.5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Review projects against the architecture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architecture review gate — a short, consistent set of questions every project passes through before funding — is what turns principles and re-use from good intentions into the actual path of least resistance.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questions, asked of every project, the same way every time</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804672"/>
          </a:xfrm>
          <a:prstGeom prst="rect">
            <a:avLst/>
          </a:prstGeom>
          <a:noFill/>
        </p:spPr>
        <p:txBody>
          <a:bodyPr wrap="square">
            <a:spAutoFit/>
          </a:bodyPr>
          <a:lstStyle/>
          <a:p>
            <a:pPr>
              <a:spcAft>
                <a:spcPts val="300"/>
              </a:spcAft>
            </a:pPr>
            <a:r>
              <a:rPr sz="1800" b="1" i="0">
                <a:solidFill>
                  <a:srgbClr val="1A1A1A"/>
                </a:solidFill>
                <a:latin typeface="Arial"/>
              </a:rPr>
              <a:t>Does a shared building block already exist for this?</a:t>
            </a:r>
          </a:p>
        </p:txBody>
      </p:sp>
      <p:sp>
        <p:nvSpPr>
          <p:cNvPr id="6" name="Rectangle 5"/>
          <p:cNvSpPr/>
          <p:nvPr/>
        </p:nvSpPr>
        <p:spPr>
          <a:xfrm>
            <a:off x="621792" y="222656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31343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267712"/>
            <a:ext cx="10527487" cy="804672"/>
          </a:xfrm>
          <a:prstGeom prst="rect">
            <a:avLst/>
          </a:prstGeom>
          <a:noFill/>
        </p:spPr>
        <p:txBody>
          <a:bodyPr wrap="square">
            <a:spAutoFit/>
          </a:bodyPr>
          <a:lstStyle/>
          <a:p>
            <a:pPr>
              <a:spcAft>
                <a:spcPts val="300"/>
              </a:spcAft>
            </a:pPr>
            <a:r>
              <a:rPr sz="1800" b="1" i="0">
                <a:solidFill>
                  <a:srgbClr val="1A1A1A"/>
                </a:solidFill>
                <a:latin typeface="Arial"/>
              </a:rPr>
              <a:t>What data domains do you touch — and do you consume the owner’s copy?</a:t>
            </a:r>
          </a:p>
        </p:txBody>
      </p:sp>
      <p:sp>
        <p:nvSpPr>
          <p:cNvPr id="9" name="Rectangle 8"/>
          <p:cNvSpPr/>
          <p:nvPr/>
        </p:nvSpPr>
        <p:spPr>
          <a:xfrm>
            <a:off x="621792" y="30769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16382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118104"/>
            <a:ext cx="10527487" cy="804672"/>
          </a:xfrm>
          <a:prstGeom prst="rect">
            <a:avLst/>
          </a:prstGeom>
          <a:noFill/>
        </p:spPr>
        <p:txBody>
          <a:bodyPr wrap="square">
            <a:spAutoFit/>
          </a:bodyPr>
          <a:lstStyle/>
          <a:p>
            <a:pPr>
              <a:spcAft>
                <a:spcPts val="300"/>
              </a:spcAft>
            </a:pPr>
            <a:r>
              <a:rPr sz="1800" b="1" i="0">
                <a:solidFill>
                  <a:srgbClr val="1A1A1A"/>
                </a:solidFill>
                <a:latin typeface="Arial"/>
              </a:rPr>
              <a:t>Do you meet the architecture principles — security by design, once-only, the rest?</a:t>
            </a:r>
          </a:p>
        </p:txBody>
      </p:sp>
      <p:sp>
        <p:nvSpPr>
          <p:cNvPr id="12" name="Rectangle 11"/>
          <p:cNvSpPr/>
          <p:nvPr/>
        </p:nvSpPr>
        <p:spPr>
          <a:xfrm>
            <a:off x="621792" y="392734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014215"/>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968496"/>
            <a:ext cx="10527487" cy="804672"/>
          </a:xfrm>
          <a:prstGeom prst="rect">
            <a:avLst/>
          </a:prstGeom>
          <a:noFill/>
        </p:spPr>
        <p:txBody>
          <a:bodyPr wrap="square">
            <a:spAutoFit/>
          </a:bodyPr>
          <a:lstStyle/>
          <a:p>
            <a:pPr>
              <a:spcAft>
                <a:spcPts val="300"/>
              </a:spcAft>
            </a:pPr>
            <a:r>
              <a:rPr sz="1800" b="1" i="0">
                <a:solidFill>
                  <a:srgbClr val="1A1A1A"/>
                </a:solidFill>
                <a:latin typeface="Arial"/>
              </a:rPr>
              <a:t>Is your sourcing choice deliberate — build, buy, share, sandbox?</a:t>
            </a:r>
          </a:p>
        </p:txBody>
      </p:sp>
      <p:sp>
        <p:nvSpPr>
          <p:cNvPr id="15" name="Rectangle 14"/>
          <p:cNvSpPr/>
          <p:nvPr/>
        </p:nvSpPr>
        <p:spPr>
          <a:xfrm>
            <a:off x="621792" y="477774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86460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818888"/>
            <a:ext cx="10527487" cy="804672"/>
          </a:xfrm>
          <a:prstGeom prst="rect">
            <a:avLst/>
          </a:prstGeom>
          <a:noFill/>
        </p:spPr>
        <p:txBody>
          <a:bodyPr wrap="square">
            <a:spAutoFit/>
          </a:bodyPr>
          <a:lstStyle/>
          <a:p>
            <a:pPr>
              <a:spcAft>
                <a:spcPts val="300"/>
              </a:spcAft>
            </a:pPr>
            <a:r>
              <a:rPr sz="1800" b="1" i="0">
                <a:solidFill>
                  <a:srgbClr val="1A1A1A"/>
                </a:solidFill>
                <a:latin typeface="Arial"/>
              </a:rPr>
              <a:t>Can you export your data in an open format?</a:t>
            </a:r>
          </a:p>
        </p:txBody>
      </p:sp>
      <p:sp>
        <p:nvSpPr>
          <p:cNvPr id="18" name="TextBox 17"/>
          <p:cNvSpPr txBox="1"/>
          <p:nvPr/>
        </p:nvSpPr>
        <p:spPr>
          <a:xfrm>
            <a:off x="658368" y="5779008"/>
            <a:ext cx="10881360" cy="548640"/>
          </a:xfrm>
          <a:prstGeom prst="rect">
            <a:avLst/>
          </a:prstGeom>
          <a:noFill/>
        </p:spPr>
        <p:txBody>
          <a:bodyPr wrap="square">
            <a:spAutoFit/>
          </a:bodyPr>
          <a:lstStyle/>
          <a:p>
            <a:r>
              <a:rPr sz="1550" b="1" i="0">
                <a:solidFill>
                  <a:srgbClr val="006E96"/>
                </a:solidFill>
                <a:latin typeface="Arial"/>
              </a:rPr>
              <a:t>Consistency is what makes the gate fair and predictable — so projects prepare for it rather than resent it.</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Building is rational for the project and ruinous for the country</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Left alone, a project builds its own identity function, its own learner list, its own payment integration — because, inside the project, building is faster than reusing.</a:t>
            </a:r>
          </a:p>
          <a:p>
            <a:pPr>
              <a:spcAft>
                <a:spcPts val="1200"/>
              </a:spcAft>
            </a:pPr>
            <a:r>
              <a:rPr sz="2000" b="0" i="0">
                <a:solidFill>
                  <a:srgbClr val="1A1A1A"/>
                </a:solidFill>
                <a:latin typeface="Arial"/>
              </a:rPr>
              <a:t>The gate is the one place where the whole-of-government view meets that decision, while it can still be changed. The Board says: consume the shared one.</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That single moment, repeated across every project, is how re-use actually happens.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exception without an expiry quietly becomes the permanent normal</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Sometimes the project is right — the shared identity platform genuinely cannot do what it needs yet. So the gate is not a wall. It grants exceptions.</a:t>
            </a:r>
          </a:p>
          <a:p>
            <a:pPr>
              <a:spcAft>
                <a:spcPts val="1200"/>
              </a:spcAft>
            </a:pPr>
            <a:r>
              <a:rPr sz="2000" b="0" i="0">
                <a:solidFill>
                  <a:srgbClr val="1A1A1A"/>
                </a:solidFill>
                <a:latin typeface="Arial"/>
              </a:rPr>
              <a:t>But every exception is written down, with its reason, and given a sunset — a date when it is revisited. Ten open-ended exceptions are the fragmentation you were trying to prevent.</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Grant exceptions honestly, record them, make them temporary by default.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decision log is the architecture’s memory</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Every gate decision and every exception goes into the repository with its reason.</a:t>
            </a:r>
          </a:p>
          <a:p>
            <a:pPr>
              <a:spcAft>
                <a:spcPts val="1200"/>
              </a:spcAft>
            </a:pPr>
            <a:r>
              <a:rPr sz="2000" b="0" i="0">
                <a:solidFill>
                  <a:srgbClr val="1A1A1A"/>
                </a:solidFill>
                <a:latin typeface="Arial"/>
              </a:rPr>
              <a:t>Two years on, when someone asks why the Examination Authority is not allowed its own learner list, the answer is in the log — not lost with the architect who has moved on.</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It is also what keeps the gate consistent: the precedent is written down.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review gate — a few consistent questions every project answers before funding, with logged decisions and time-boxed exceptions — is what turns re-use from a wish into the default.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§5.2 (Principles)</a:t>
            </a:r>
          </a:p>
          <a:p>
            <a:pPr>
              <a:spcAft>
                <a:spcPts val="1200"/>
              </a:spcAft>
            </a:pPr>
            <a:r>
              <a:rPr sz="1700" b="0" i="0">
                <a:solidFill>
                  <a:srgbClr val="1A1A1A"/>
                </a:solidFill>
                <a:latin typeface="Arial"/>
              </a:rPr>
              <a:t>•  PAERA v1.0 — §5.6 (Sourcing Strategy)</a:t>
            </a:r>
          </a:p>
          <a:p>
            <a:pPr>
              <a:spcAft>
                <a:spcPts val="1200"/>
              </a:spcAft>
            </a:pPr>
            <a:r>
              <a:rPr sz="1700" b="0" i="0">
                <a:solidFill>
                  <a:srgbClr val="1A1A1A"/>
                </a:solidFill>
                <a:latin typeface="Arial"/>
              </a:rPr>
              <a:t>•  GovStack Building Block specifications — for the shared building blocks referenced</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