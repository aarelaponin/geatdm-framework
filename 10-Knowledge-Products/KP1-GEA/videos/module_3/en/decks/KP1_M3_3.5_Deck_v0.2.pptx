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31" r:id="rId10"/>
    <p:sldId id="2732" r:id="rId54"/>
    <p:sldId id="2733" r:id="rId55"/>
    <p:sldId id="2734" r:id="rId56"/>
    <p:sldId id="2735" r:id="rId57"/>
    <p:sldId id="2736" r:id="rId58"/>
    <p:sldId id="2737" r:id="rId59"/>
    <p:sldId id="2738" r:id="rId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0" Type="http://schemas.openxmlformats.org/officeDocument/2006/relationships/slide" Target="slides/slide38.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Board with authority needs something to do with it: the architecture review gate, where every significant new project passes through a short, consistent set of questions before it gets funded. This is where the architecture does its real work.</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gate is a few questions, asked of every project, the same way every time. Does a shared building block already exist for what you want to build? What data domains will you touch, and do you consume the owning body's copy rather than make your own? Do you meet the architecture principles — security by design, once-only, the rest? What is your sourcing choice, and is it deliberate? Can you export your data in an open format? Five questions. Asked consistently. That consistency is what makes the gate fair and predictable, so projects prepare for it rather than resent it.</a:t>
            </a:r>
          </a:p>
          <a:p/>
          <a:p>
            <a:r>
              <a:t>Centrepiece of 3.5 — the gate drawn as one mechanism: proposal → the five questions → the Board rules → pass, or a time-boxed exception → the decision log. Reveal one question at a time, then hold the full flow on screen; the exception and log branches are what the next slides walk through.</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why this gate matters more than any document. Inside a project, building your own is faster than reusing, so projects fragment — and no procurement rule can change that; only whole-of-government planning makes re-use rational. The gate is where that view meets the decision, while it can still be changed. When a project proposes to build what already exists as a shared block, the Board says: consume the shared one.</a:t>
            </a:r>
          </a:p>
          <a:p/>
          <a:p>
            <a:r>
              <a:t>The emotional peak of the module. This is the pivotal slide of 3.5 — let the closing line land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Sometimes the project is right. The shared identity platform genuinely cannot do what this project needs yet. So the gate is not a wall — it grants exceptions. But every exception is written down, with its reason, and given a sunset — a date when it is revisited. An exception without an expiry quietly becomes the permanent normal, and ten of them become the fragmentation you were trying to prevent. Grant exceptions honestly, record them, and make them temporary by default.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Every decision the gate makes goes into the repository's decision log — what was decided, and why. This is the architecture's memory. Two years on, when someone asks why the Examination Authority is not allowed its own learner list, the answer is in the log, with the reasoning, not lost with the architect who has moved on. The decision log is also what makes the gate consistent: this project is treated the way the last similar one was, because the precedent is written down.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build the gate. A few questions, asked of every project the same way. A clear ruling — consume the shared block, or a written, time-boxed exception. Every decision logged with its reason.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3 · VIDEO 3.5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3.5</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Review projects against the architecture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architecture review gate — a short, consistent set of questions every project passes through before funding — is what turns principles and re-use from good intentions into the actual path of least resistance.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Board with authority needs something to do with it.</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architecture review gate: every significant new project passes a short, consistent set of questions before it gets funded.</a:t>
            </a:r>
          </a:p>
          <a:p>
            <a:pPr>
              <a:spcAft>
                <a:spcPts val="800"/>
              </a:spcAft>
            </a:pPr>
            <a:r>
              <a:rPr sz="1700" b="0" i="0">
                <a:solidFill>
                  <a:srgbClr val="595959"/>
                </a:solidFill>
                <a:latin typeface="Arial"/>
              </a:rPr>
              <a:t>This is where the architecture does its real work.</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Review projects against the architecture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Five questions, asked of every project, the same way every time</a:t>
            </a:r>
          </a:p>
        </p:txBody>
      </p:sp>
      <p:sp>
        <p:nvSpPr>
          <p:cNvPr id="4" name="Rounded Rectangle 3"/>
          <p:cNvSpPr/>
          <p:nvPr/>
        </p:nvSpPr>
        <p:spPr>
          <a:xfrm>
            <a:off x="658368" y="2926080"/>
            <a:ext cx="1600200" cy="128016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28016" rIns="128016" tIns="91440" bIns="54864" wrap="square"/>
          <a:lstStyle/>
          <a:p>
            <a:pPr algn="l">
              <a:spcAft>
                <a:spcPts val="300"/>
              </a:spcAft>
            </a:pPr>
            <a:r>
              <a:rPr sz="1300" b="1" i="0">
                <a:solidFill>
                  <a:srgbClr val="006E96"/>
                </a:solidFill>
                <a:latin typeface="Arial"/>
              </a:rPr>
              <a:t>A project proposal</a:t>
            </a:r>
          </a:p>
          <a:p>
            <a:pPr algn="l">
              <a:spcAft>
                <a:spcPts val="300"/>
              </a:spcAft>
            </a:pPr>
            <a:r>
              <a:rPr sz="1250" b="0" i="0">
                <a:solidFill>
                  <a:srgbClr val="1A1A1A"/>
                </a:solidFill>
                <a:latin typeface="Arial"/>
              </a:rPr>
              <a:t>before funding</a:t>
            </a:r>
          </a:p>
        </p:txBody>
      </p:sp>
      <p:sp>
        <p:nvSpPr>
          <p:cNvPr id="5" name="Rounded Rectangle 4"/>
          <p:cNvSpPr/>
          <p:nvPr/>
        </p:nvSpPr>
        <p:spPr>
          <a:xfrm>
            <a:off x="2697480" y="1600200"/>
            <a:ext cx="4160520" cy="3931920"/>
          </a:xfrm>
          <a:prstGeom prst="roundRect">
            <a:avLst>
              <a:gd name="adj" fmla="val 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360" y="1691640"/>
            <a:ext cx="3794759" cy="320040"/>
          </a:xfrm>
          <a:prstGeom prst="rect">
            <a:avLst/>
          </a:prstGeom>
          <a:noFill/>
        </p:spPr>
        <p:txBody>
          <a:bodyPr wrap="square">
            <a:spAutoFit/>
          </a:bodyPr>
          <a:lstStyle/>
          <a:p>
            <a:r>
              <a:rPr sz="1050" b="1" i="0">
                <a:solidFill>
                  <a:srgbClr val="006E96"/>
                </a:solidFill>
                <a:latin typeface="Arial"/>
              </a:rPr>
              <a:t>THE GATE — THE SAME QUESTIONS, EVERY TIME</a:t>
            </a:r>
          </a:p>
        </p:txBody>
      </p:sp>
      <p:sp>
        <p:nvSpPr>
          <p:cNvPr id="7" name="Oval 6"/>
          <p:cNvSpPr/>
          <p:nvPr/>
        </p:nvSpPr>
        <p:spPr>
          <a:xfrm>
            <a:off x="2880360" y="2139696"/>
            <a:ext cx="274320" cy="274320"/>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8" name="TextBox 7"/>
          <p:cNvSpPr txBox="1"/>
          <p:nvPr/>
        </p:nvSpPr>
        <p:spPr>
          <a:xfrm>
            <a:off x="3246120" y="2084831"/>
            <a:ext cx="3474720" cy="667512"/>
          </a:xfrm>
          <a:prstGeom prst="rect">
            <a:avLst/>
          </a:prstGeom>
          <a:noFill/>
        </p:spPr>
        <p:txBody>
          <a:bodyPr wrap="square">
            <a:spAutoFit/>
          </a:bodyPr>
          <a:lstStyle/>
          <a:p>
            <a:r>
              <a:rPr sz="1250" b="0" i="0">
                <a:solidFill>
                  <a:srgbClr val="1A1A1A"/>
                </a:solidFill>
                <a:latin typeface="Arial"/>
              </a:rPr>
              <a:t>Does a shared building block already exist for this?</a:t>
            </a:r>
          </a:p>
        </p:txBody>
      </p:sp>
      <p:sp>
        <p:nvSpPr>
          <p:cNvPr id="9" name="Oval 8"/>
          <p:cNvSpPr/>
          <p:nvPr/>
        </p:nvSpPr>
        <p:spPr>
          <a:xfrm>
            <a:off x="2880360" y="2807208"/>
            <a:ext cx="274320" cy="274320"/>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10" name="TextBox 9"/>
          <p:cNvSpPr txBox="1"/>
          <p:nvPr/>
        </p:nvSpPr>
        <p:spPr>
          <a:xfrm>
            <a:off x="3246120" y="2752344"/>
            <a:ext cx="3474720" cy="667512"/>
          </a:xfrm>
          <a:prstGeom prst="rect">
            <a:avLst/>
          </a:prstGeom>
          <a:noFill/>
        </p:spPr>
        <p:txBody>
          <a:bodyPr wrap="square">
            <a:spAutoFit/>
          </a:bodyPr>
          <a:lstStyle/>
          <a:p>
            <a:r>
              <a:rPr sz="1250" b="0" i="0">
                <a:solidFill>
                  <a:srgbClr val="1A1A1A"/>
                </a:solidFill>
                <a:latin typeface="Arial"/>
              </a:rPr>
              <a:t>What data domains do you touch — and do you consume the owner’s copy?</a:t>
            </a:r>
          </a:p>
        </p:txBody>
      </p:sp>
      <p:sp>
        <p:nvSpPr>
          <p:cNvPr id="11" name="Oval 10"/>
          <p:cNvSpPr/>
          <p:nvPr/>
        </p:nvSpPr>
        <p:spPr>
          <a:xfrm>
            <a:off x="2880360" y="3474720"/>
            <a:ext cx="274320" cy="274320"/>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2" name="TextBox 11"/>
          <p:cNvSpPr txBox="1"/>
          <p:nvPr/>
        </p:nvSpPr>
        <p:spPr>
          <a:xfrm>
            <a:off x="3246120" y="3419856"/>
            <a:ext cx="3474720" cy="667512"/>
          </a:xfrm>
          <a:prstGeom prst="rect">
            <a:avLst/>
          </a:prstGeom>
          <a:noFill/>
        </p:spPr>
        <p:txBody>
          <a:bodyPr wrap="square">
            <a:spAutoFit/>
          </a:bodyPr>
          <a:lstStyle/>
          <a:p>
            <a:r>
              <a:rPr sz="1250" b="0" i="0">
                <a:solidFill>
                  <a:srgbClr val="1A1A1A"/>
                </a:solidFill>
                <a:latin typeface="Arial"/>
              </a:rPr>
              <a:t>Do you meet the architecture principles — security by design, once-only, the rest?</a:t>
            </a:r>
          </a:p>
        </p:txBody>
      </p:sp>
      <p:sp>
        <p:nvSpPr>
          <p:cNvPr id="13" name="Oval 12"/>
          <p:cNvSpPr/>
          <p:nvPr/>
        </p:nvSpPr>
        <p:spPr>
          <a:xfrm>
            <a:off x="2880360" y="4142232"/>
            <a:ext cx="274320" cy="274320"/>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3246120" y="4087368"/>
            <a:ext cx="3474720" cy="667512"/>
          </a:xfrm>
          <a:prstGeom prst="rect">
            <a:avLst/>
          </a:prstGeom>
          <a:noFill/>
        </p:spPr>
        <p:txBody>
          <a:bodyPr wrap="square">
            <a:spAutoFit/>
          </a:bodyPr>
          <a:lstStyle/>
          <a:p>
            <a:r>
              <a:rPr sz="1250" b="0" i="0">
                <a:solidFill>
                  <a:srgbClr val="1A1A1A"/>
                </a:solidFill>
                <a:latin typeface="Arial"/>
              </a:rPr>
              <a:t>Is your sourcing choice deliberate — build, buy, share, sandbox?</a:t>
            </a:r>
          </a:p>
        </p:txBody>
      </p:sp>
      <p:sp>
        <p:nvSpPr>
          <p:cNvPr id="15" name="Oval 14"/>
          <p:cNvSpPr/>
          <p:nvPr/>
        </p:nvSpPr>
        <p:spPr>
          <a:xfrm>
            <a:off x="2880360" y="4809744"/>
            <a:ext cx="274320" cy="274320"/>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6" name="TextBox 15"/>
          <p:cNvSpPr txBox="1"/>
          <p:nvPr/>
        </p:nvSpPr>
        <p:spPr>
          <a:xfrm>
            <a:off x="3246120" y="4754880"/>
            <a:ext cx="3474720" cy="667512"/>
          </a:xfrm>
          <a:prstGeom prst="rect">
            <a:avLst/>
          </a:prstGeom>
          <a:noFill/>
        </p:spPr>
        <p:txBody>
          <a:bodyPr wrap="square">
            <a:spAutoFit/>
          </a:bodyPr>
          <a:lstStyle/>
          <a:p>
            <a:r>
              <a:rPr sz="1250" b="0" i="0">
                <a:solidFill>
                  <a:srgbClr val="1A1A1A"/>
                </a:solidFill>
                <a:latin typeface="Arial"/>
              </a:rPr>
              <a:t>Can you export your data in an open format?</a:t>
            </a:r>
          </a:p>
        </p:txBody>
      </p:sp>
      <p:cxnSp>
        <p:nvCxnSpPr>
          <p:cNvPr id="17" name="Connector 16"/>
          <p:cNvCxnSpPr/>
          <p:nvPr/>
        </p:nvCxnSpPr>
        <p:spPr>
          <a:xfrm>
            <a:off x="2258568" y="3566160"/>
            <a:ext cx="438912"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Diamond 17"/>
          <p:cNvSpPr/>
          <p:nvPr/>
        </p:nvSpPr>
        <p:spPr>
          <a:xfrm>
            <a:off x="7223760" y="2880360"/>
            <a:ext cx="1234440" cy="1371600"/>
          </a:xfrm>
          <a:prstGeom prst="diamond">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100" b="1" i="0">
                <a:solidFill>
                  <a:srgbClr val="FFFFFF"/>
                </a:solidFill>
                <a:latin typeface="Arial"/>
              </a:rPr>
              <a:t>The Board</a:t>
            </a:r>
          </a:p>
          <a:p>
            <a:pPr algn="ctr"/>
            <a:r>
              <a:rPr sz="1100" b="1" i="0">
                <a:solidFill>
                  <a:srgbClr val="FFFFFF"/>
                </a:solidFill>
                <a:latin typeface="Arial"/>
              </a:rPr>
              <a:t>rules</a:t>
            </a:r>
          </a:p>
        </p:txBody>
      </p:sp>
      <p:cxnSp>
        <p:nvCxnSpPr>
          <p:cNvPr id="19" name="Connector 18"/>
          <p:cNvCxnSpPr/>
          <p:nvPr/>
        </p:nvCxnSpPr>
        <p:spPr>
          <a:xfrm>
            <a:off x="6858000" y="3566160"/>
            <a:ext cx="365760"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778240" y="1737360"/>
            <a:ext cx="1417320" cy="132588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200" b="1" i="0">
                <a:solidFill>
                  <a:srgbClr val="006E96"/>
                </a:solidFill>
                <a:latin typeface="Arial"/>
              </a:rPr>
              <a:t>PASS</a:t>
            </a:r>
          </a:p>
          <a:p>
            <a:pPr algn="l">
              <a:spcAft>
                <a:spcPts val="300"/>
              </a:spcAft>
            </a:pPr>
            <a:r>
              <a:rPr sz="1100" b="0" i="0">
                <a:solidFill>
                  <a:srgbClr val="1A1A1A"/>
                </a:solidFill>
                <a:latin typeface="Arial"/>
              </a:rPr>
              <a:t>Funded — consume the shared blocks</a:t>
            </a:r>
          </a:p>
        </p:txBody>
      </p:sp>
      <p:sp>
        <p:nvSpPr>
          <p:cNvPr id="21" name="Rounded Rectangle 20"/>
          <p:cNvSpPr/>
          <p:nvPr/>
        </p:nvSpPr>
        <p:spPr>
          <a:xfrm>
            <a:off x="8778240" y="4069079"/>
            <a:ext cx="1417320" cy="132588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200" b="1" i="0">
                <a:solidFill>
                  <a:srgbClr val="006E96"/>
                </a:solidFill>
                <a:latin typeface="Arial"/>
              </a:rPr>
              <a:t>EXCEPTION</a:t>
            </a:r>
          </a:p>
          <a:p>
            <a:pPr algn="l">
              <a:spcAft>
                <a:spcPts val="300"/>
              </a:spcAft>
            </a:pPr>
            <a:r>
              <a:rPr sz="1100" b="0" i="0">
                <a:solidFill>
                  <a:srgbClr val="1A1A1A"/>
                </a:solidFill>
                <a:latin typeface="Arial"/>
              </a:rPr>
              <a:t>Granted in writing, with an expiry date and a reason</a:t>
            </a:r>
          </a:p>
        </p:txBody>
      </p:sp>
      <p:cxnSp>
        <p:nvCxnSpPr>
          <p:cNvPr id="22" name="Connector 21"/>
          <p:cNvCxnSpPr/>
          <p:nvPr/>
        </p:nvCxnSpPr>
        <p:spPr>
          <a:xfrm flipV="1">
            <a:off x="8458200" y="2400300"/>
            <a:ext cx="320040" cy="116586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458200" y="3566160"/>
            <a:ext cx="320040" cy="116586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10469880" y="2560320"/>
            <a:ext cx="1069848" cy="201168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100" b="1" i="0">
                <a:solidFill>
                  <a:srgbClr val="FFFFFF"/>
                </a:solidFill>
                <a:latin typeface="Arial"/>
              </a:rPr>
              <a:t>DECISION LOG</a:t>
            </a:r>
          </a:p>
          <a:p>
            <a:pPr algn="l">
              <a:spcAft>
                <a:spcPts val="300"/>
              </a:spcAft>
            </a:pPr>
            <a:r>
              <a:rPr sz="1050" b="0" i="0">
                <a:solidFill>
                  <a:srgbClr val="FFFFFF"/>
                </a:solidFill>
                <a:latin typeface="Arial"/>
              </a:rPr>
              <a:t>Every ruling and every exception, with its reason — into the repository</a:t>
            </a:r>
          </a:p>
        </p:txBody>
      </p:sp>
      <p:cxnSp>
        <p:nvCxnSpPr>
          <p:cNvPr id="25" name="Connector 24"/>
          <p:cNvCxnSpPr/>
          <p:nvPr/>
        </p:nvCxnSpPr>
        <p:spPr>
          <a:xfrm>
            <a:off x="10195560" y="2400300"/>
            <a:ext cx="274320" cy="80010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10195560" y="3931920"/>
            <a:ext cx="274320" cy="80010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58368" y="5760720"/>
            <a:ext cx="10881360" cy="548640"/>
          </a:xfrm>
          <a:prstGeom prst="rect">
            <a:avLst/>
          </a:prstGeom>
          <a:noFill/>
        </p:spPr>
        <p:txBody>
          <a:bodyPr wrap="square">
            <a:spAutoFit/>
          </a:bodyPr>
          <a:lstStyle/>
          <a:p>
            <a:r>
              <a:rPr sz="1550" b="1" i="0">
                <a:solidFill>
                  <a:srgbClr val="006E96"/>
                </a:solidFill>
                <a:latin typeface="Arial"/>
              </a:rPr>
              <a:t>Consistency is what makes the gate fair and predictable — so projects prepare for it rather than resent it.</a:t>
            </a:r>
          </a:p>
        </p:txBody>
      </p:sp>
      <p:sp>
        <p:nvSpPr>
          <p:cNvPr id="28" name="TextBox 2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Review projects against the architecture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gate is where the whole-of-government view meets the decision</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Inside a project, building your own is faster than reusing, so projects fragment — and no procurement rule can change that. Only whole-of-government planning makes re-use rational.</a:t>
            </a:r>
          </a:p>
          <a:p>
            <a:pPr>
              <a:spcAft>
                <a:spcPts val="1200"/>
              </a:spcAft>
            </a:pPr>
            <a:r>
              <a:rPr sz="2000" b="0" i="0">
                <a:solidFill>
                  <a:srgbClr val="1A1A1A"/>
                </a:solidFill>
                <a:latin typeface="Arial"/>
              </a:rPr>
              <a:t>The gate is where that view meets the decision, while it can still be changed.</a:t>
            </a:r>
          </a:p>
        </p:txBody>
      </p:sp>
      <p:sp>
        <p:nvSpPr>
          <p:cNvPr id="5" name="Rounded Rectangle 4"/>
          <p:cNvSpPr/>
          <p:nvPr/>
        </p:nvSpPr>
        <p:spPr>
          <a:xfrm>
            <a:off x="658368" y="3977639"/>
            <a:ext cx="10881360" cy="132588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FFFFFF"/>
                </a:solidFill>
                <a:latin typeface="Arial"/>
              </a:rPr>
              <a:t>When a project proposes to build what already exists as a shared block, the Board says: consume the shared one.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Review projects against the architecture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An exception without an expiry quietly becomes the permanent normal</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Sometimes the project is right — the shared identity platform genuinely cannot do what it needs yet. So the gate is not a wall. It grants exceptions.</a:t>
            </a:r>
          </a:p>
          <a:p>
            <a:pPr>
              <a:spcAft>
                <a:spcPts val="1200"/>
              </a:spcAft>
            </a:pPr>
            <a:r>
              <a:rPr sz="2000" b="0" i="0">
                <a:solidFill>
                  <a:srgbClr val="1A1A1A"/>
                </a:solidFill>
                <a:latin typeface="Arial"/>
              </a:rPr>
              <a:t>But every exception is written down, with its reason, and given a sunset — a date when it is revisited. Ten open-ended exceptions are the fragmentation you were trying to prevent.</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Grant exceptions honestly, record them, make them temporary by default.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Review projects against the architecture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decision log is the architecture’s memory</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Every gate decision and every exception goes into the repository with its reason.</a:t>
            </a:r>
          </a:p>
          <a:p>
            <a:pPr>
              <a:spcAft>
                <a:spcPts val="1200"/>
              </a:spcAft>
            </a:pPr>
            <a:r>
              <a:rPr sz="2000" b="0" i="0">
                <a:solidFill>
                  <a:srgbClr val="1A1A1A"/>
                </a:solidFill>
                <a:latin typeface="Arial"/>
              </a:rPr>
              <a:t>Two years on, when someone asks why the Examination Authority is not allowed its own learner list, the answer is in the log — not lost with the architect who has moved on.</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It is also what keeps the gate consistent: the precedent is written down.</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Review projects against the architecture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review gate — a few consistent questions every project answers before funding, with logged decisions and time-boxed exceptions — is what turns re-use from a wish into the default.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Build your architecture review gate checklist.</a:t>
            </a:r>
          </a:p>
          <a:p>
            <a:pPr algn="l">
              <a:spcAft>
                <a:spcPts val="400"/>
              </a:spcAft>
            </a:pPr>
            <a:r>
              <a:rPr sz="1800" b="0" i="0">
                <a:solidFill>
                  <a:srgbClr val="595959"/>
                </a:solidFill>
                <a:latin typeface="Arial"/>
              </a:rPr>
              <a:t>The prompt in the companion material gives you an intake checklist, pass criteria, exception form and decision-log fields.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Review projects against the architecture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§5.4 (Organisational Assessment &amp; Roadmap)</a:t>
            </a:r>
          </a:p>
          <a:p>
            <a:pPr>
              <a:spcAft>
                <a:spcPts val="1200"/>
              </a:spcAft>
            </a:pPr>
            <a:r>
              <a:rPr sz="1700" b="0" i="0">
                <a:solidFill>
                  <a:srgbClr val="1A1A1A"/>
                </a:solidFill>
                <a:latin typeface="Arial"/>
              </a:rPr>
              <a:t>•  PAERA v1.0 — §5.2 (Principles)</a:t>
            </a:r>
          </a:p>
          <a:p>
            <a:pPr>
              <a:spcAft>
                <a:spcPts val="1200"/>
              </a:spcAft>
            </a:pPr>
            <a:r>
              <a:rPr sz="1700" b="0" i="0">
                <a:solidFill>
                  <a:srgbClr val="1A1A1A"/>
                </a:solidFill>
                <a:latin typeface="Arial"/>
              </a:rPr>
              <a:t>•  PAERA v1.0 — §5.6 (Sourcing Strategy)</a:t>
            </a:r>
          </a:p>
          <a:p>
            <a:pPr>
              <a:spcAft>
                <a:spcPts val="1200"/>
              </a:spcAft>
            </a:pPr>
            <a:r>
              <a:rPr sz="1700" b="0" i="0">
                <a:solidFill>
                  <a:srgbClr val="1A1A1A"/>
                </a:solidFill>
                <a:latin typeface="Arial"/>
              </a:rPr>
              <a:t>•  GovStack Building Block specifications — for the shared building blocks referenced</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Review projects against the architecture</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