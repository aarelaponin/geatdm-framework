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~4–5 minute video. Module 2 taught the architect to read, model and assess a government; Module 3 is the practitioner rendering of Phase 5, Execute and Govern — the permanent practice that keeps the architecture alive after the assessment is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3.1–3.3 build the home of the architecture and the discipline that keeps it true; 3.4–3.5 give it authority through the Board and the review gate; 3.6–3.7 are about proving it works and keeping it alive.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Sooner or later your minister asks the fair question: is this EA work actually doing anything? You need an answer that is honest, short and true — a handful of metrics, not a fifty-page report. Pick them carefully.</a:t>
            </a:r>
          </a:p>
          <a:p/>
          <a:p>
            <a:r>
              <a:t>RETRIEVAL MOMENT: before the four-metrics slide, ask the viewer which single number they would put in front of the budget authority. The answer — the re-use rate — is delivered two slides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metrics carry most of the signal. Coverage — how much of your government is actually in the repository, and current, not how many pages exist. Re-use rate — of the projects that came through the gate, how many consumed a shared building block instead of building their own. This is the one that shows the EA is paying for itself. Open exceptions — how many waivers are outstanding, and how old; a growing pile of aged exceptions is fragmentation returning. And decisions — how many gate decisions the Board made, and how fast, because a slow gate is one projects route around.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the re-use rate is the one to put in front of the budget authority. Every project that consumed the shared identity platform instead of building its own is a system the country paid for once instead of many times. Tracked over a year, a rising re-use rate is the closest thing you have to proof that the EA is returning its cost. It turns the abstract argument — planning enables re-use — into a number that goes up. That is the metric that protects your funding.</a:t>
            </a:r>
          </a:p>
          <a:p/>
          <a:p>
            <a:r>
              <a:t>This answers the retrieval prompt set on the section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Avoid the vanity metrics. The number of diagrams drawn, pages written, meetings held — these measure activity, not effect. A programme can produce a thousand pages and change nothing. Worse, busy-looking metrics let a stalled EA hide. If a metric would still go up while the architecture quietly stopped mattering, it is the wrong metric. Measure what the EA changes — re-use, coverage, decisions — not how busy the team looks.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Report the four on a single page, every quarter, to the Board and the minister. Include what is not working — the coverage gap in a sector nobody will let you near, the aging exceptions a powerful ministry will not close. The temptation is to show only green. Resist it. A scorecard that is honestly amber where it should be is what builds the trust that keeps the EA funded across a change of minister. A scorecard that is always green is one nobody believes the second time.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measure a few things, honestly. Coverage. Re-use rate. Open exceptions. Decisions made and how fast. On one page, every quarter, amber where they should be amber.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Housing, governing and
sustaining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3</a:t>
            </a:r>
          </a:p>
          <a:p>
            <a:r>
              <a:rPr sz="1400" b="0" i="0">
                <a:solidFill>
                  <a:srgbClr val="595959"/>
                </a:solidFill>
                <a:latin typeface="Arial"/>
              </a:rPr>
              <a:t>Seven standalone videos for the architect who runs the practice: the repository the architecture lives in, tooling chosen without lock-in, the update discipline, an EA Board that can say no, the project review gate, the few metrics that matter, and the four ways a practice fades.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~29 mins across 7 videos (3.1 – 3.7)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Set up the one place your architecture lives</a:t>
            </a:r>
            <a:r>
              <a:rPr sz="1200" b="0" i="0">
                <a:solidFill>
                  <a:srgbClr val="595959"/>
                </a:solidFill>
                <a:latin typeface="Arial"/>
              </a:rPr>
              <a:t>   ~4 min</a:t>
            </a:r>
          </a:p>
          <a:p>
            <a:pPr algn="l">
              <a:spcAft>
                <a:spcPts val="900"/>
              </a:spcAft>
            </a:pPr>
            <a:r>
              <a:rPr sz="1500" b="1" i="0">
                <a:solidFill>
                  <a:srgbClr val="1A1A1A"/>
                </a:solidFill>
                <a:latin typeface="Arial"/>
              </a:rPr>
              <a:t>3.2  Choose EA tooling without locking yourself in</a:t>
            </a:r>
            <a:r>
              <a:rPr sz="1200" b="0" i="0">
                <a:solidFill>
                  <a:srgbClr val="595959"/>
                </a:solidFill>
                <a:latin typeface="Arial"/>
              </a:rPr>
              <a:t>   ~4 min</a:t>
            </a:r>
          </a:p>
          <a:p>
            <a:pPr algn="l">
              <a:spcAft>
                <a:spcPts val="900"/>
              </a:spcAft>
            </a:pPr>
            <a:r>
              <a:rPr sz="1500" b="1" i="0">
                <a:solidFill>
                  <a:srgbClr val="1A1A1A"/>
                </a:solidFill>
                <a:latin typeface="Arial"/>
              </a:rPr>
              <a:t>3.3  Keep the repository true — the update discipline</a:t>
            </a:r>
            <a:r>
              <a:rPr sz="1200" b="0" i="0">
                <a:solidFill>
                  <a:srgbClr val="595959"/>
                </a:solidFill>
                <a:latin typeface="Arial"/>
              </a:rPr>
              <a:t>   ~4 min</a:t>
            </a:r>
          </a:p>
          <a:p>
            <a:pPr algn="l">
              <a:spcAft>
                <a:spcPts val="900"/>
              </a:spcAft>
            </a:pPr>
            <a:r>
              <a:rPr sz="1500" b="1" i="0">
                <a:solidFill>
                  <a:srgbClr val="1A1A1A"/>
                </a:solidFill>
                <a:latin typeface="Arial"/>
              </a:rPr>
              <a:t>3.4  Stand up an EA Board that can actually say no</a:t>
            </a:r>
            <a:r>
              <a:rPr sz="1200" b="0" i="0">
                <a:solidFill>
                  <a:srgbClr val="595959"/>
                </a:solidFill>
                <a:latin typeface="Arial"/>
              </a:rPr>
              <a:t>   ~4 min</a:t>
            </a:r>
          </a:p>
          <a:p>
            <a:pPr algn="l">
              <a:spcAft>
                <a:spcPts val="900"/>
              </a:spcAft>
            </a:pPr>
            <a:r>
              <a:rPr sz="1500" b="1" i="0">
                <a:solidFill>
                  <a:srgbClr val="1A1A1A"/>
                </a:solidFill>
                <a:latin typeface="Arial"/>
              </a:rPr>
              <a:t>3.5  Review projects against the architecture</a:t>
            </a:r>
            <a:r>
              <a:rPr sz="1200" b="0" i="0">
                <a:solidFill>
                  <a:srgbClr val="595959"/>
                </a:solidFill>
                <a:latin typeface="Arial"/>
              </a:rPr>
              <a:t>   ~4 min</a:t>
            </a:r>
          </a:p>
          <a:p>
            <a:pPr algn="l">
              <a:spcAft>
                <a:spcPts val="900"/>
              </a:spcAft>
            </a:pPr>
            <a:r>
              <a:rPr sz="1500" b="1" i="0">
                <a:solidFill>
                  <a:srgbClr val="1A1A1A"/>
                </a:solidFill>
                <a:latin typeface="Arial"/>
              </a:rPr>
              <a:t>3.6  Show the EA is working — the few metrics that matter</a:t>
            </a:r>
            <a:r>
              <a:rPr sz="1200" b="0" i="0">
                <a:solidFill>
                  <a:srgbClr val="595959"/>
                </a:solidFill>
                <a:latin typeface="Arial"/>
              </a:rPr>
              <a:t>   ~4 min</a:t>
            </a:r>
          </a:p>
          <a:p>
            <a:pPr algn="l">
              <a:spcAft>
                <a:spcPts val="900"/>
              </a:spcAft>
            </a:pPr>
            <a:r>
              <a:rPr sz="1500" b="1" i="0">
                <a:solidFill>
                  <a:srgbClr val="1A1A1A"/>
                </a:solidFill>
                <a:latin typeface="Arial"/>
              </a:rPr>
              <a:t>3.7  Keep the practice alive past year two</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that is not housed, kept current and given teeth stops being an architecture within a year. It becomes a document about one.</a:t>
            </a:r>
          </a:p>
          <a:p>
            <a:pPr>
              <a:spcAft>
                <a:spcPts val="1000"/>
              </a:spcAft>
            </a:pPr>
            <a:r>
              <a:rPr sz="1900" b="0" i="1">
                <a:solidFill>
                  <a:srgbClr val="1A1A1A"/>
                </a:solidFill>
                <a:latin typeface="Arial"/>
              </a:rPr>
              <a:t>This module stands up the permanent practice: one place the architecture lives, a Board with the authority to say no, a gate every project passes through, and the moves that keep all of it alive past year two.</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have the four-layer picture of a sector. Where does it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slide deck on your laptop: out of date within a month, disagreed with within two.</a:t>
            </a:r>
          </a:p>
          <a:p>
            <a:pPr>
              <a:spcAft>
                <a:spcPts val="800"/>
              </a:spcAft>
            </a:pPr>
            <a:r>
              <a:rPr sz="1700" b="0" i="0">
                <a:solidFill>
                  <a:srgbClr val="595959"/>
                </a:solidFill>
                <a:latin typeface="Arial"/>
              </a:rPr>
              <a:t>It needs a home.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spreadsheet stops coping. Do not swap one lock-in for another.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Hundreds of entities, several sectors, relationships you cannot see in rows and columns.</a:t>
            </a:r>
          </a:p>
          <a:p>
            <a:pPr>
              <a:spcAft>
                <a:spcPts val="800"/>
              </a:spcAft>
            </a:pPr>
            <a:r>
              <a:rPr sz="1700" b="0" i="0">
                <a:solidFill>
                  <a:srgbClr val="595959"/>
                </a:solidFill>
                <a:latin typeface="Arial"/>
              </a:rPr>
              <a:t>In buying a tool to help your government avoid vendor lock-in, you can lock yourself into the tool.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repository has one enemy, and it is not technical.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Staleness.</a:t>
            </a:r>
          </a:p>
          <a:p>
            <a:pPr>
              <a:spcAft>
                <a:spcPts val="800"/>
              </a:spcAft>
            </a:pPr>
            <a:r>
              <a:rPr sz="1700" b="0" i="0">
                <a:solidFill>
                  <a:srgbClr val="595959"/>
                </a:solidFill>
                <a:latin typeface="Arial"/>
              </a:rPr>
              <a:t>An architecture six months behind reality is worse than none — people trust it, and it lies to them.</a:t>
            </a:r>
          </a:p>
          <a:p>
            <a:pPr>
              <a:spcAft>
                <a:spcPts val="800"/>
              </a:spcAft>
            </a:pPr>
            <a:r>
              <a:rPr sz="1700" b="0" i="0">
                <a:solidFill>
                  <a:srgbClr val="595959"/>
                </a:solidFill>
                <a:latin typeface="Arial"/>
              </a:rPr>
              <a:t>Keeping it true is unglamorous and constant.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repository holds the architecture. The Board gives it authority.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Without a governance board, the architecture is a document people can ignore.</a:t>
            </a:r>
          </a:p>
          <a:p>
            <a:pPr>
              <a:spcAft>
                <a:spcPts val="800"/>
              </a:spcAft>
            </a:pPr>
            <a:r>
              <a:rPr sz="1700" b="0" i="0">
                <a:solidFill>
                  <a:srgbClr val="595959"/>
                </a:solidFill>
                <a:latin typeface="Arial"/>
              </a:rPr>
              <a:t>With a real one — that can say no — it becomes the place every significant digital decision passes through.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Board with authority needs something to do with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architecture review gate: every significant new project passes a short, consistent set of questions before it gets funded.</a:t>
            </a:r>
          </a:p>
          <a:p>
            <a:pPr>
              <a:spcAft>
                <a:spcPts val="800"/>
              </a:spcAft>
            </a:pPr>
            <a:r>
              <a:rPr sz="1700" b="0" i="0">
                <a:solidFill>
                  <a:srgbClr val="595959"/>
                </a:solidFill>
                <a:latin typeface="Arial"/>
              </a:rPr>
              <a:t>This is where the architecture does its real 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Show the EA is working — the few metrics that matter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Your minister’s fair question: is this EA work actually doing anything?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need an answer that is honest, short and true.</a:t>
            </a:r>
          </a:p>
          <a:p>
            <a:pPr>
              <a:spcAft>
                <a:spcPts val="800"/>
              </a:spcAft>
            </a:pPr>
            <a:r>
              <a:rPr sz="1700" b="0" i="0">
                <a:solidFill>
                  <a:srgbClr val="595959"/>
                </a:solidFill>
                <a:latin typeface="Arial"/>
              </a:rPr>
              <a:t>A handful of metrics, not a fifty-page report. Pick them carefully.</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numbers carry most of the signal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Coverage</a:t>
            </a:r>
          </a:p>
          <a:p>
            <a:pPr>
              <a:spcAft>
                <a:spcPts val="300"/>
              </a:spcAft>
            </a:pPr>
            <a:r>
              <a:rPr sz="1550" b="0" i="0">
                <a:solidFill>
                  <a:srgbClr val="595959"/>
                </a:solidFill>
                <a:latin typeface="Arial"/>
              </a:rPr>
              <a:t>How much of your government is actually in the repository — and current.</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Re-use rate</a:t>
            </a:r>
          </a:p>
          <a:p>
            <a:pPr>
              <a:spcAft>
                <a:spcPts val="300"/>
              </a:spcAft>
            </a:pPr>
            <a:r>
              <a:rPr sz="1550" b="0" i="0">
                <a:solidFill>
                  <a:srgbClr val="595959"/>
                </a:solidFill>
                <a:latin typeface="Arial"/>
              </a:rPr>
              <a:t>Of the projects that came through the gate, how many consumed a shared block instead of building their own.</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Open exceptions</a:t>
            </a:r>
          </a:p>
          <a:p>
            <a:pPr>
              <a:spcAft>
                <a:spcPts val="300"/>
              </a:spcAft>
            </a:pPr>
            <a:r>
              <a:rPr sz="1550" b="0" i="0">
                <a:solidFill>
                  <a:srgbClr val="595959"/>
                </a:solidFill>
                <a:latin typeface="Arial"/>
              </a:rPr>
              <a:t>How many waivers are outstanding, and how old.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Decisions</a:t>
            </a:r>
          </a:p>
          <a:p>
            <a:pPr>
              <a:spcAft>
                <a:spcPts val="300"/>
              </a:spcAft>
            </a:pPr>
            <a:r>
              <a:rPr sz="1550" b="0" i="0">
                <a:solidFill>
                  <a:srgbClr val="595959"/>
                </a:solidFill>
                <a:latin typeface="Arial"/>
              </a:rPr>
              <a:t>How many gate decisions the Board made — and how fast.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growing pile of aged exceptions is fragmentation returning; a slow gate is one projects route around.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re-use rate is the one to put in front of the budget authority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project that consumed the shared identity platform instead of building its own is a system the country paid for once instead of many times.</a:t>
            </a:r>
          </a:p>
          <a:p>
            <a:pPr>
              <a:spcAft>
                <a:spcPts val="1200"/>
              </a:spcAft>
            </a:pPr>
            <a:r>
              <a:rPr sz="2000" b="0" i="0">
                <a:solidFill>
                  <a:srgbClr val="1A1A1A"/>
                </a:solidFill>
                <a:latin typeface="Arial"/>
              </a:rPr>
              <a:t>Tracked over a year, a rising re-use rate is the closest thing you have to proof that the EA is returning its cost — the abstract argument turned into a number that goes up.</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That is the metric that protects your funding.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a metric would still rise while the architecture stopped mattering, it is wrong</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EFFECT</a:t>
            </a:r>
          </a:p>
          <a:p>
            <a:pPr>
              <a:spcAft>
                <a:spcPts val="700"/>
              </a:spcAft>
            </a:pPr>
            <a:r>
              <a:rPr sz="1600" b="0" i="0">
                <a:solidFill>
                  <a:srgbClr val="1A1A1A"/>
                </a:solidFill>
                <a:latin typeface="Arial"/>
              </a:rPr>
              <a:t>Re-use rate.</a:t>
            </a:r>
          </a:p>
          <a:p>
            <a:pPr>
              <a:spcAft>
                <a:spcPts val="700"/>
              </a:spcAft>
            </a:pPr>
            <a:r>
              <a:rPr sz="1600" b="0" i="0">
                <a:solidFill>
                  <a:srgbClr val="1A1A1A"/>
                </a:solidFill>
                <a:latin typeface="Arial"/>
              </a:rPr>
              <a:t>Coverage that is current.</a:t>
            </a:r>
          </a:p>
          <a:p>
            <a:pPr>
              <a:spcAft>
                <a:spcPts val="700"/>
              </a:spcAft>
            </a:pPr>
            <a:r>
              <a:rPr sz="1600" b="0" i="0">
                <a:solidFill>
                  <a:srgbClr val="1A1A1A"/>
                </a:solidFill>
                <a:latin typeface="Arial"/>
              </a:rPr>
              <a:t>Gate decisions made, and how fast.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ACTIVITY</a:t>
            </a:r>
          </a:p>
          <a:p>
            <a:pPr>
              <a:spcAft>
                <a:spcPts val="700"/>
              </a:spcAft>
            </a:pPr>
            <a:r>
              <a:rPr sz="1600" b="0" i="0">
                <a:solidFill>
                  <a:srgbClr val="1A1A1A"/>
                </a:solidFill>
                <a:latin typeface="Arial"/>
              </a:rPr>
              <a:t>Diagrams drawn.</a:t>
            </a:r>
          </a:p>
          <a:p>
            <a:pPr>
              <a:spcAft>
                <a:spcPts val="700"/>
              </a:spcAft>
            </a:pPr>
            <a:r>
              <a:rPr sz="1600" b="0" i="0">
                <a:solidFill>
                  <a:srgbClr val="1A1A1A"/>
                </a:solidFill>
                <a:latin typeface="Arial"/>
              </a:rPr>
              <a:t>Pages written.</a:t>
            </a:r>
          </a:p>
          <a:p>
            <a:pPr>
              <a:spcAft>
                <a:spcPts val="700"/>
              </a:spcAft>
            </a:pPr>
            <a:r>
              <a:rPr sz="1600" b="0" i="0">
                <a:solidFill>
                  <a:srgbClr val="1A1A1A"/>
                </a:solidFill>
                <a:latin typeface="Arial"/>
              </a:rPr>
              <a:t>Meetings held.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programme can produce a thousand pages and change nothing.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scorecard that is always green is believed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page, every quarter, to the Board and the minister — including what is not working: the coverage gap in a sector nobody will let you near, the aging exceptions a powerful ministry will not close.</a:t>
            </a:r>
          </a:p>
          <a:p>
            <a:pPr>
              <a:spcAft>
                <a:spcPts val="1200"/>
              </a:spcAft>
            </a:pPr>
            <a:r>
              <a:rPr sz="2000" b="0" i="0">
                <a:solidFill>
                  <a:srgbClr val="1A1A1A"/>
                </a:solidFill>
                <a:latin typeface="Arial"/>
              </a:rPr>
              <a:t>The temptation is to show only green. Resist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scorecard honestly amber where it should be is what keeps the EA funded across a change of minister.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one-page quarterly scorecard — coverage, re-use rate, open exceptions, decisions — shows honestly whether the EA is working, and the re-use rate is what proves it pays.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health scorecard.</a:t>
            </a:r>
          </a:p>
          <a:p>
            <a:pPr algn="l">
              <a:spcAft>
                <a:spcPts val="400"/>
              </a:spcAft>
            </a:pPr>
            <a:r>
              <a:rPr sz="1800" b="0" i="0">
                <a:solidFill>
                  <a:srgbClr val="595959"/>
                </a:solidFill>
                <a:latin typeface="Arial"/>
              </a:rPr>
              <a:t>The prompt in the companion material gives you a one-page scorecard template with metrics, computations and thresholds.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intermediate-results pattern)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EA programmes do not fail dramatically. They fade.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first six months go well.</a:t>
            </a:r>
          </a:p>
          <a:p>
            <a:pPr>
              <a:spcAft>
                <a:spcPts val="800"/>
              </a:spcAft>
            </a:pPr>
            <a:r>
              <a:rPr sz="1700" b="0" i="0">
                <a:solidFill>
                  <a:srgbClr val="595959"/>
                </a:solidFill>
                <a:latin typeface="Arial"/>
              </a:rPr>
              <a:t>Then, somewhere in the second year, the practice quietly stops mattering.</a:t>
            </a:r>
          </a:p>
          <a:p>
            <a:pPr>
              <a:spcAft>
                <a:spcPts val="800"/>
              </a:spcAft>
            </a:pPr>
            <a:r>
              <a:rPr sz="1700" b="0" i="0">
                <a:solidFill>
                  <a:srgbClr val="595959"/>
                </a:solidFill>
                <a:latin typeface="Arial"/>
              </a:rPr>
              <a:t>The fade is predictable, and it comes in four 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