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has one enemy, and it is not technical. It is staleness. An architecture six months behind reality is worse than none — because people trust it, and it lies to them. Keeping it true is unglamorous and constant.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the four-layer picture of a sector. Where does it live? If the answer is a slide deck on your laptop, the architecture will be out of date within a month and disagreed with within two. It needs a home: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is also the object both sides point at: when the minister briefs cabinet and the architect designs a system they are looking at the same picture, which is what makes the architecture a shared language between the business side and the IT side instead of two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tooling, before governance, set up the one place — the single store of the layers, the relationships and the decisions. Let copies multiply,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At some point a spreadsheet stops coping — hundreds of entities, several sectors, relationships you cannot see in rows and columns. Here is the danger: in buying a tool to help your government avoid vendor lock-in, you can lock yourself into the tool.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Choose your tooling like any government system: graduate when the spreadsheet truly hurts, reuse before buy, buy before build, keep your content in open formats you control, and bend the tool to your metamodel.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3 deck. Each section that follows is one standalone ~4–5 minute video. Module 2 taught the architect to read, model and assess a government; Module 3 is the practitioner rendering of Phase 5, Execute and Govern — the permanent practice that keeps the architecture alive after the assessment is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3.1–3.3 build the home of the architecture and the discipline that keeps it true; 3.4–3.5 give it authority through the Board and the review gate; 3.6–3.7 are about proving it works and keeping it alive.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Keep the repository true. One named owner. Updates triggered by events, not a yearly review. A light conformance check. Neglect it, and within a year you have a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holds the architecture; the Board is what gives it authority. Without a governance board the architecture is a document people can ignore. With a real one — that can say no — it becomes the place every significant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Stand up a Board that can say no: binding, not advisory, chaired by someone senior enough that the no sticks, made of the people whose systems are affected, on a rhythm that governs without blocking.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Board with authority needs something to do with it: the architecture review gate, where every significant new project passes through a short, consistent set of questions before it gets funded. This is where the architecture does its real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the gate drawn as one mechanism: proposal → the five questions → the Board rules → pass, or a time-boxed exception → the decision log. Reveal one question at a time, then hold the full flow on screen; the exception and log branches are what the next slides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Inside a project, building your own is faster than reusing, so projects fragment — and no procurement rule can change that; only whole-of-government planning makes re-use rational. The gate is where that view meets the decision, while it can still be changed. When a project proposes to build what already exists as a shared block, the Board says: consume the shared one.</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build the gate. A few questions, asked of every project the same way. A clear ruling — consume the shared block, or a written, time-boxed exception. Every decision logged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Sooner or later your minister asks the fair question: is this EA work actually doing anything? You need an answer that is honest, short and true — a handful of metrics, not a fifty-page report. Pick them carefully.</a:t>
            </a:r>
          </a:p>
          <a:p/>
          <a:p>
            <a:r>
              <a:t>RETRIEVAL MOMENT: before the four-metrics slide, ask the viewer which single number they would put in front of the budget authority. The answer — the re-use rate — is delivered two slides 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metrics carry most of the signal. Coverage — how much of your government is actually in the repository, and current, not how many pages exist. Re-use rate — of the projects that came through the gate, how many consumed a shared building block instead of building their own. This is the one that shows the EA is paying for itself. Open exceptions — how many waivers are outstanding, and how old; a growing pile of aged exceptions is fragmentation returning. And decisions — how many gate decisions the Board made, and how fast, because a slow gate is one projects route around.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 the four, the re-use rate is the one to put in front of the budget authority. Every project that consumed the shared identity platform instead of building its own is a system the country paid for once instead of many times. Tracked over a year, a rising re-use rate is the closest thing you have to proof that the EA is returning its cost. It turns the abstract argument — planning enables re-use — into a number that goes up. That is the metric that protects your funding.</a:t>
            </a:r>
          </a:p>
          <a:p/>
          <a:p>
            <a:r>
              <a:t>This answers the retrieval prompt set on the section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Avoid the vanity metrics. The number of diagrams drawn, pages written, meetings held — these measure activity, not effect. A programme can produce a thousand pages and change nothing. Worse, busy-looking metrics let a stalled EA hide. If a metric would still go up while the architecture quietly stopped mattering, it is the wrong metric. Measure what the EA changes — re-use, coverage, decisions — not how busy the team looks.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Report the four on a single page, every quarter, to the Board and the minister. Include what is not working — the coverage gap in a sector nobody will let you near, the aging exceptions a powerful ministry will not close. The temptation is to show only green. Resist it. A scorecard that is honestly amber where it should be is what builds the trust that keeps the EA funded across a change of minister. A scorecard that is always green is one nobody believes the second time.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measure a few things, honestly. Coverage. Re-use rate. Open exceptions. Decisions made and how fast. On one page, every quarter, amber where they should be amber.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EA programmes do not fail dramatically. They fade. The first six months go well; then, somewhere in the second year, the practice quietly stops mattering. The fade is predictable, and it comes in four forms.</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four fades — the team pulled, the repository stale, the Board gone advisory, the sponsor changed — and counter each. Keep the practice alive past year two, and the architecture becomes how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Housing, governing and
sustaining the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3</a:t>
            </a:r>
          </a:p>
          <a:p>
            <a:r>
              <a:rPr sz="1400" b="0" i="0">
                <a:solidFill>
                  <a:srgbClr val="595959"/>
                </a:solidFill>
                <a:latin typeface="Arial"/>
              </a:rPr>
              <a:t>Seven standalone videos for the architect who runs the practice: the repository the architecture lives in, tooling chosen without lock-in, the update discipline, an EA Board that can say no, the project review gate, the few metrics that matter, and the four ways a practice fades.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~29 mins across 7 videos (3.1 – 3.7)</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3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3.1  Set up the one place your architecture lives</a:t>
            </a:r>
            <a:r>
              <a:rPr sz="1200" b="0" i="0">
                <a:solidFill>
                  <a:srgbClr val="595959"/>
                </a:solidFill>
                <a:latin typeface="Arial"/>
              </a:rPr>
              <a:t>   ~4 min</a:t>
            </a:r>
          </a:p>
          <a:p>
            <a:pPr algn="l">
              <a:spcAft>
                <a:spcPts val="900"/>
              </a:spcAft>
            </a:pPr>
            <a:r>
              <a:rPr sz="1500" b="1" i="0">
                <a:solidFill>
                  <a:srgbClr val="1A1A1A"/>
                </a:solidFill>
                <a:latin typeface="Arial"/>
              </a:rPr>
              <a:t>3.2  Choose EA tooling without locking yourself in</a:t>
            </a:r>
            <a:r>
              <a:rPr sz="1200" b="0" i="0">
                <a:solidFill>
                  <a:srgbClr val="595959"/>
                </a:solidFill>
                <a:latin typeface="Arial"/>
              </a:rPr>
              <a:t>   ~4 min</a:t>
            </a:r>
          </a:p>
          <a:p>
            <a:pPr algn="l">
              <a:spcAft>
                <a:spcPts val="900"/>
              </a:spcAft>
            </a:pPr>
            <a:r>
              <a:rPr sz="1500" b="1" i="0">
                <a:solidFill>
                  <a:srgbClr val="1A1A1A"/>
                </a:solidFill>
                <a:latin typeface="Arial"/>
              </a:rPr>
              <a:t>3.3  Keep the repository true — the update discipline</a:t>
            </a:r>
            <a:r>
              <a:rPr sz="1200" b="0" i="0">
                <a:solidFill>
                  <a:srgbClr val="595959"/>
                </a:solidFill>
                <a:latin typeface="Arial"/>
              </a:rPr>
              <a:t>   ~4 min</a:t>
            </a:r>
          </a:p>
          <a:p>
            <a:pPr algn="l">
              <a:spcAft>
                <a:spcPts val="900"/>
              </a:spcAft>
            </a:pPr>
            <a:r>
              <a:rPr sz="1500" b="1" i="0">
                <a:solidFill>
                  <a:srgbClr val="1A1A1A"/>
                </a:solidFill>
                <a:latin typeface="Arial"/>
              </a:rPr>
              <a:t>3.4  Stand up an EA Board that can actually say no</a:t>
            </a:r>
            <a:r>
              <a:rPr sz="1200" b="0" i="0">
                <a:solidFill>
                  <a:srgbClr val="595959"/>
                </a:solidFill>
                <a:latin typeface="Arial"/>
              </a:rPr>
              <a:t>   ~4 min</a:t>
            </a:r>
          </a:p>
          <a:p>
            <a:pPr algn="l">
              <a:spcAft>
                <a:spcPts val="900"/>
              </a:spcAft>
            </a:pPr>
            <a:r>
              <a:rPr sz="1500" b="1" i="0">
                <a:solidFill>
                  <a:srgbClr val="1A1A1A"/>
                </a:solidFill>
                <a:latin typeface="Arial"/>
              </a:rPr>
              <a:t>3.5  Review projects against the architecture</a:t>
            </a:r>
            <a:r>
              <a:rPr sz="1200" b="0" i="0">
                <a:solidFill>
                  <a:srgbClr val="595959"/>
                </a:solidFill>
                <a:latin typeface="Arial"/>
              </a:rPr>
              <a:t>   ~4 min</a:t>
            </a:r>
          </a:p>
          <a:p>
            <a:pPr algn="l">
              <a:spcAft>
                <a:spcPts val="900"/>
              </a:spcAft>
            </a:pPr>
            <a:r>
              <a:rPr sz="1500" b="1" i="0">
                <a:solidFill>
                  <a:srgbClr val="1A1A1A"/>
                </a:solidFill>
                <a:latin typeface="Arial"/>
              </a:rPr>
              <a:t>3.6  Show the EA is working — the few metrics that matter</a:t>
            </a:r>
            <a:r>
              <a:rPr sz="1200" b="0" i="0">
                <a:solidFill>
                  <a:srgbClr val="595959"/>
                </a:solidFill>
                <a:latin typeface="Arial"/>
              </a:rPr>
              <a:t>   ~4 min</a:t>
            </a:r>
          </a:p>
          <a:p>
            <a:pPr algn="l">
              <a:spcAft>
                <a:spcPts val="900"/>
              </a:spcAft>
            </a:pPr>
            <a:r>
              <a:rPr sz="1500" b="1" i="0">
                <a:solidFill>
                  <a:srgbClr val="1A1A1A"/>
                </a:solidFill>
                <a:latin typeface="Arial"/>
              </a:rPr>
              <a:t>3.7  Keep the practice alive past year two</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architecture that is not housed, kept current and given teeth stops being an architecture within a year. It becomes a document about one.</a:t>
            </a:r>
          </a:p>
          <a:p>
            <a:pPr>
              <a:spcAft>
                <a:spcPts val="1000"/>
              </a:spcAft>
            </a:pPr>
            <a:r>
              <a:rPr sz="1900" b="0" i="1">
                <a:solidFill>
                  <a:srgbClr val="1A1A1A"/>
                </a:solidFill>
                <a:latin typeface="Arial"/>
              </a:rPr>
              <a:t>This module stands up the permanent practice: one place the architecture lives, a Board with the authority to say no, a gate every project passes through, and the moves that keep all of it alive past year two.</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have the four-layer picture of a sector. Where does it live?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slide deck on your laptop: out of date within a month, disagreed with within two.</a:t>
            </a:r>
          </a:p>
          <a:p>
            <a:pPr>
              <a:spcAft>
                <a:spcPts val="800"/>
              </a:spcAft>
            </a:pPr>
            <a:r>
              <a:rPr sz="1700" b="0" i="0">
                <a:solidFill>
                  <a:srgbClr val="595959"/>
                </a:solidFill>
                <a:latin typeface="Arial"/>
              </a:rPr>
              <a:t>It needs a home.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TextBox 3"/>
          <p:cNvSpPr txBox="1"/>
          <p:nvPr/>
        </p:nvSpPr>
        <p:spPr>
          <a:xfrm>
            <a:off x="658368" y="1600200"/>
            <a:ext cx="10881360" cy="1600200"/>
          </a:xfrm>
          <a:prstGeom prst="rect">
            <a:avLst/>
          </a:prstGeom>
          <a:noFill/>
        </p:spPr>
        <p:txBody>
          <a:bodyPr wrap="square">
            <a:spAutoFit/>
          </a:bodyPr>
          <a:lstStyle/>
          <a:p>
            <a:pPr>
              <a:spcAft>
                <a:spcPts val="1200"/>
              </a:spcAft>
            </a:pPr>
            <a:r>
              <a:rPr sz="2000" b="0" i="0">
                <a:solidFill>
                  <a:srgbClr val="1A1A1A"/>
                </a:solidFill>
                <a:latin typeface="Arial"/>
              </a:rPr>
              <a:t>When the minister briefs cabinet and the architect designs a system, they look at the same picture — because there is only one.</a:t>
            </a:r>
          </a:p>
        </p:txBody>
      </p:sp>
      <p:sp>
        <p:nvSpPr>
          <p:cNvPr id="5" name="Rounded Rectangle 4"/>
          <p:cNvSpPr/>
          <p:nvPr/>
        </p:nvSpPr>
        <p:spPr>
          <a:xfrm>
            <a:off x="658368" y="338328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75304"/>
            <a:ext cx="10479024" cy="1051560"/>
          </a:xfrm>
          <a:prstGeom prst="rect">
            <a:avLst/>
          </a:prstGeom>
          <a:noFill/>
        </p:spPr>
        <p:txBody>
          <a:bodyPr wrap="square">
            <a:spAutoFit/>
          </a:bodyPr>
          <a:lstStyle/>
          <a:p>
            <a:pPr>
              <a:spcAft>
                <a:spcPts val="700"/>
              </a:spcAft>
            </a:pPr>
            <a:r>
              <a:rPr sz="2300" b="1" i="0">
                <a:solidFill>
                  <a:srgbClr val="006E96"/>
                </a:solidFill>
                <a:latin typeface="Arial"/>
              </a:rPr>
              <a:t>The repository is what makes the architecture a shared language instead of two private ones.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your EA repository's structure.</a:t>
            </a:r>
          </a:p>
          <a:p>
            <a:pPr algn="l">
              <a:spcAft>
                <a:spcPts val="400"/>
              </a:spcAft>
            </a:pPr>
            <a:r>
              <a:rPr sz="1800" b="0" i="0">
                <a:solidFill>
                  <a:srgbClr val="595959"/>
                </a:solidFill>
                <a:latin typeface="Arial"/>
              </a:rPr>
              <a:t>The prompt in the companion material gives you a repository schema plus single-source rules.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spreadsheet stops coping. Do not swap one lock-in for another.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Hundreds of entities, several sectors, relationships you cannot see in rows and columns.</a:t>
            </a:r>
          </a:p>
          <a:p>
            <a:pPr>
              <a:spcAft>
                <a:spcPts val="800"/>
              </a:spcAft>
            </a:pPr>
            <a:r>
              <a:rPr sz="1700" b="0" i="0">
                <a:solidFill>
                  <a:srgbClr val="595959"/>
                </a:solidFill>
                <a:latin typeface="Arial"/>
              </a:rPr>
              <a:t>In buying a tool to help your government avoid vendor lock-in, you can lock yourself into the tool.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Score EA tool options against lock-in and fit.</a:t>
            </a:r>
          </a:p>
          <a:p>
            <a:pPr algn="l">
              <a:spcAft>
                <a:spcPts val="400"/>
              </a:spcAft>
            </a:pPr>
            <a:r>
              <a:rPr sz="1800" b="0" i="0">
                <a:solidFill>
                  <a:srgbClr val="595959"/>
                </a:solidFill>
                <a:latin typeface="Arial"/>
              </a:rPr>
              <a:t>The prompt in the companion material gives you a scored comparison table plus a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repository has one enemy, and it is not technical.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Staleness.</a:t>
            </a:r>
          </a:p>
          <a:p>
            <a:pPr>
              <a:spcAft>
                <a:spcPts val="800"/>
              </a:spcAft>
            </a:pPr>
            <a:r>
              <a:rPr sz="1700" b="0" i="0">
                <a:solidFill>
                  <a:srgbClr val="595959"/>
                </a:solidFill>
                <a:latin typeface="Arial"/>
              </a:rPr>
              <a:t>An architecture six months behind reality is worse than none — people trust it, and it lies to them.</a:t>
            </a:r>
          </a:p>
          <a:p>
            <a:pPr>
              <a:spcAft>
                <a:spcPts val="800"/>
              </a:spcAft>
            </a:pPr>
            <a:r>
              <a:rPr sz="1700" b="0" i="0">
                <a:solidFill>
                  <a:srgbClr val="595959"/>
                </a:solidFill>
                <a:latin typeface="Arial"/>
              </a:rPr>
              <a:t>Keeping it true is unglamorous and constant.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repository update policy.</a:t>
            </a:r>
          </a:p>
          <a:p>
            <a:pPr algn="l">
              <a:spcAft>
                <a:spcPts val="400"/>
              </a:spcAft>
            </a:pPr>
            <a:r>
              <a:rPr sz="1800" b="0" i="0">
                <a:solidFill>
                  <a:srgbClr val="595959"/>
                </a:solidFill>
                <a:latin typeface="Arial"/>
              </a:rPr>
              <a:t>The prompt in the companion material gives you a one-page update policy.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repository holds the architecture. The Board gives it authority.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Without a governance board, the architecture is a document people can ignore.</a:t>
            </a:r>
          </a:p>
          <a:p>
            <a:pPr>
              <a:spcAft>
                <a:spcPts val="800"/>
              </a:spcAft>
            </a:pPr>
            <a:r>
              <a:rPr sz="1700" b="0" i="0">
                <a:solidFill>
                  <a:srgbClr val="595959"/>
                </a:solidFill>
                <a:latin typeface="Arial"/>
              </a:rPr>
              <a:t>With a real one — that can say no — it becomes the place every significant digital decision passes through.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EA Board's Terms of Reference.</a:t>
            </a:r>
          </a:p>
          <a:p>
            <a:pPr algn="l">
              <a:spcAft>
                <a:spcPts val="400"/>
              </a:spcAft>
            </a:pPr>
            <a:r>
              <a:rPr sz="1800" b="0" i="0">
                <a:solidFill>
                  <a:srgbClr val="595959"/>
                </a:solidFill>
                <a:latin typeface="Arial"/>
              </a:rPr>
              <a:t>The prompt in the companion material gives you a structured EA Board Terms of Reference.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Board with authority needs something to do with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architecture review gate: every significant new project passes a short, consistent set of questions before it gets funded.</a:t>
            </a:r>
          </a:p>
          <a:p>
            <a:pPr>
              <a:spcAft>
                <a:spcPts val="800"/>
              </a:spcAft>
            </a:pPr>
            <a:r>
              <a:rPr sz="1700" b="0" i="0">
                <a:solidFill>
                  <a:srgbClr val="595959"/>
                </a:solidFill>
                <a:latin typeface="Arial"/>
              </a:rPr>
              <a:t>This is where the architecture does its real work.</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Rounded Rectangle 3"/>
          <p:cNvSpPr/>
          <p:nvPr/>
        </p:nvSpPr>
        <p:spPr>
          <a:xfrm>
            <a:off x="658368" y="2926080"/>
            <a:ext cx="1600200"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54864" wrap="square"/>
          <a:lstStyle/>
          <a:p>
            <a:pPr algn="l">
              <a:spcAft>
                <a:spcPts val="300"/>
              </a:spcAft>
            </a:pPr>
            <a:r>
              <a:rPr sz="1300" b="1" i="0">
                <a:solidFill>
                  <a:srgbClr val="006E96"/>
                </a:solidFill>
                <a:latin typeface="Arial"/>
              </a:rPr>
              <a:t>A project proposal</a:t>
            </a:r>
          </a:p>
          <a:p>
            <a:pPr algn="l">
              <a:spcAft>
                <a:spcPts val="300"/>
              </a:spcAft>
            </a:pPr>
            <a:r>
              <a:rPr sz="1250" b="0" i="0">
                <a:solidFill>
                  <a:srgbClr val="1A1A1A"/>
                </a:solidFill>
                <a:latin typeface="Arial"/>
              </a:rPr>
              <a:t>before funding</a:t>
            </a:r>
          </a:p>
        </p:txBody>
      </p:sp>
      <p:sp>
        <p:nvSpPr>
          <p:cNvPr id="5" name="Rounded Rectangle 4"/>
          <p:cNvSpPr/>
          <p:nvPr/>
        </p:nvSpPr>
        <p:spPr>
          <a:xfrm>
            <a:off x="2697480" y="1600200"/>
            <a:ext cx="4160520" cy="3931920"/>
          </a:xfrm>
          <a:prstGeom prst="roundRect">
            <a:avLst>
              <a:gd name="adj" fmla="val 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80360" y="1691640"/>
            <a:ext cx="3794759" cy="320040"/>
          </a:xfrm>
          <a:prstGeom prst="rect">
            <a:avLst/>
          </a:prstGeom>
          <a:noFill/>
        </p:spPr>
        <p:txBody>
          <a:bodyPr wrap="square">
            <a:spAutoFit/>
          </a:bodyPr>
          <a:lstStyle/>
          <a:p>
            <a:r>
              <a:rPr sz="1050" b="1" i="0">
                <a:solidFill>
                  <a:srgbClr val="006E96"/>
                </a:solidFill>
                <a:latin typeface="Arial"/>
              </a:rPr>
              <a:t>THE GATE — THE SAME QUESTIONS, EVERY TIME</a:t>
            </a:r>
          </a:p>
        </p:txBody>
      </p:sp>
      <p:sp>
        <p:nvSpPr>
          <p:cNvPr id="7" name="Oval 6"/>
          <p:cNvSpPr/>
          <p:nvPr/>
        </p:nvSpPr>
        <p:spPr>
          <a:xfrm>
            <a:off x="2880360" y="2139696"/>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8" name="TextBox 7"/>
          <p:cNvSpPr txBox="1"/>
          <p:nvPr/>
        </p:nvSpPr>
        <p:spPr>
          <a:xfrm>
            <a:off x="3246120" y="2084831"/>
            <a:ext cx="3474720" cy="667512"/>
          </a:xfrm>
          <a:prstGeom prst="rect">
            <a:avLst/>
          </a:prstGeom>
          <a:noFill/>
        </p:spPr>
        <p:txBody>
          <a:bodyPr wrap="square">
            <a:spAutoFit/>
          </a:bodyPr>
          <a:lstStyle/>
          <a:p>
            <a:r>
              <a:rPr sz="1250" b="0" i="0">
                <a:solidFill>
                  <a:srgbClr val="1A1A1A"/>
                </a:solidFill>
                <a:latin typeface="Arial"/>
              </a:rPr>
              <a:t>Does a shared building block already exist for this?</a:t>
            </a:r>
          </a:p>
        </p:txBody>
      </p:sp>
      <p:sp>
        <p:nvSpPr>
          <p:cNvPr id="9" name="Oval 8"/>
          <p:cNvSpPr/>
          <p:nvPr/>
        </p:nvSpPr>
        <p:spPr>
          <a:xfrm>
            <a:off x="2880360" y="2807208"/>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0" name="TextBox 9"/>
          <p:cNvSpPr txBox="1"/>
          <p:nvPr/>
        </p:nvSpPr>
        <p:spPr>
          <a:xfrm>
            <a:off x="3246120" y="2752344"/>
            <a:ext cx="3474720" cy="667512"/>
          </a:xfrm>
          <a:prstGeom prst="rect">
            <a:avLst/>
          </a:prstGeom>
          <a:noFill/>
        </p:spPr>
        <p:txBody>
          <a:bodyPr wrap="square">
            <a:spAutoFit/>
          </a:bodyPr>
          <a:lstStyle/>
          <a:p>
            <a:r>
              <a:rPr sz="1250" b="0" i="0">
                <a:solidFill>
                  <a:srgbClr val="1A1A1A"/>
                </a:solidFill>
                <a:latin typeface="Arial"/>
              </a:rPr>
              <a:t>What data domains do you touch — and do you consume the owner’s copy?</a:t>
            </a:r>
          </a:p>
        </p:txBody>
      </p:sp>
      <p:sp>
        <p:nvSpPr>
          <p:cNvPr id="11" name="Oval 10"/>
          <p:cNvSpPr/>
          <p:nvPr/>
        </p:nvSpPr>
        <p:spPr>
          <a:xfrm>
            <a:off x="2880360" y="3474720"/>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2" name="TextBox 11"/>
          <p:cNvSpPr txBox="1"/>
          <p:nvPr/>
        </p:nvSpPr>
        <p:spPr>
          <a:xfrm>
            <a:off x="3246120" y="3419856"/>
            <a:ext cx="3474720" cy="667512"/>
          </a:xfrm>
          <a:prstGeom prst="rect">
            <a:avLst/>
          </a:prstGeom>
          <a:noFill/>
        </p:spPr>
        <p:txBody>
          <a:bodyPr wrap="square">
            <a:spAutoFit/>
          </a:bodyPr>
          <a:lstStyle/>
          <a:p>
            <a:r>
              <a:rPr sz="1250" b="0" i="0">
                <a:solidFill>
                  <a:srgbClr val="1A1A1A"/>
                </a:solidFill>
                <a:latin typeface="Arial"/>
              </a:rPr>
              <a:t>Do you meet the architecture principles — security by design, once-only, the rest?</a:t>
            </a:r>
          </a:p>
        </p:txBody>
      </p:sp>
      <p:sp>
        <p:nvSpPr>
          <p:cNvPr id="13" name="Oval 12"/>
          <p:cNvSpPr/>
          <p:nvPr/>
        </p:nvSpPr>
        <p:spPr>
          <a:xfrm>
            <a:off x="2880360" y="4142232"/>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3246120" y="4087368"/>
            <a:ext cx="3474720" cy="667512"/>
          </a:xfrm>
          <a:prstGeom prst="rect">
            <a:avLst/>
          </a:prstGeom>
          <a:noFill/>
        </p:spPr>
        <p:txBody>
          <a:bodyPr wrap="square">
            <a:spAutoFit/>
          </a:bodyPr>
          <a:lstStyle/>
          <a:p>
            <a:r>
              <a:rPr sz="1250" b="0" i="0">
                <a:solidFill>
                  <a:srgbClr val="1A1A1A"/>
                </a:solidFill>
                <a:latin typeface="Arial"/>
              </a:rPr>
              <a:t>Is your sourcing choice deliberate — build, buy, share, sandbox?</a:t>
            </a:r>
          </a:p>
        </p:txBody>
      </p:sp>
      <p:sp>
        <p:nvSpPr>
          <p:cNvPr id="15" name="Oval 14"/>
          <p:cNvSpPr/>
          <p:nvPr/>
        </p:nvSpPr>
        <p:spPr>
          <a:xfrm>
            <a:off x="2880360" y="4809744"/>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6" name="TextBox 15"/>
          <p:cNvSpPr txBox="1"/>
          <p:nvPr/>
        </p:nvSpPr>
        <p:spPr>
          <a:xfrm>
            <a:off x="3246120" y="4754880"/>
            <a:ext cx="3474720" cy="667512"/>
          </a:xfrm>
          <a:prstGeom prst="rect">
            <a:avLst/>
          </a:prstGeom>
          <a:noFill/>
        </p:spPr>
        <p:txBody>
          <a:bodyPr wrap="square">
            <a:spAutoFit/>
          </a:bodyPr>
          <a:lstStyle/>
          <a:p>
            <a:r>
              <a:rPr sz="1250" b="0" i="0">
                <a:solidFill>
                  <a:srgbClr val="1A1A1A"/>
                </a:solidFill>
                <a:latin typeface="Arial"/>
              </a:rPr>
              <a:t>Can you export your data in an open format?</a:t>
            </a:r>
          </a:p>
        </p:txBody>
      </p:sp>
      <p:cxnSp>
        <p:nvCxnSpPr>
          <p:cNvPr id="17" name="Connector 16"/>
          <p:cNvCxnSpPr/>
          <p:nvPr/>
        </p:nvCxnSpPr>
        <p:spPr>
          <a:xfrm>
            <a:off x="2258568" y="3566160"/>
            <a:ext cx="43891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7223760" y="2880360"/>
            <a:ext cx="1234440" cy="137160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Arial"/>
              </a:rPr>
              <a:t>The Board</a:t>
            </a:r>
          </a:p>
          <a:p>
            <a:pPr algn="ctr"/>
            <a:r>
              <a:rPr sz="1100" b="1" i="0">
                <a:solidFill>
                  <a:srgbClr val="FFFFFF"/>
                </a:solidFill>
                <a:latin typeface="Arial"/>
              </a:rPr>
              <a:t>rules</a:t>
            </a:r>
          </a:p>
        </p:txBody>
      </p:sp>
      <p:cxnSp>
        <p:nvCxnSpPr>
          <p:cNvPr id="19" name="Connector 18"/>
          <p:cNvCxnSpPr/>
          <p:nvPr/>
        </p:nvCxnSpPr>
        <p:spPr>
          <a:xfrm>
            <a:off x="6858000" y="3566160"/>
            <a:ext cx="36576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78240" y="1737360"/>
            <a:ext cx="1417320" cy="13258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PASS</a:t>
            </a:r>
          </a:p>
          <a:p>
            <a:pPr algn="l">
              <a:spcAft>
                <a:spcPts val="300"/>
              </a:spcAft>
            </a:pPr>
            <a:r>
              <a:rPr sz="1100" b="0" i="0">
                <a:solidFill>
                  <a:srgbClr val="1A1A1A"/>
                </a:solidFill>
                <a:latin typeface="Arial"/>
              </a:rPr>
              <a:t>Funded — consume the shared blocks</a:t>
            </a:r>
          </a:p>
        </p:txBody>
      </p:sp>
      <p:sp>
        <p:nvSpPr>
          <p:cNvPr id="21" name="Rounded Rectangle 20"/>
          <p:cNvSpPr/>
          <p:nvPr/>
        </p:nvSpPr>
        <p:spPr>
          <a:xfrm>
            <a:off x="8778240" y="4069079"/>
            <a:ext cx="141732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EXCEPTION</a:t>
            </a:r>
          </a:p>
          <a:p>
            <a:pPr algn="l">
              <a:spcAft>
                <a:spcPts val="300"/>
              </a:spcAft>
            </a:pPr>
            <a:r>
              <a:rPr sz="1100" b="0" i="0">
                <a:solidFill>
                  <a:srgbClr val="1A1A1A"/>
                </a:solidFill>
                <a:latin typeface="Arial"/>
              </a:rPr>
              <a:t>Granted in writing, with an expiry date and a reason</a:t>
            </a:r>
          </a:p>
        </p:txBody>
      </p:sp>
      <p:cxnSp>
        <p:nvCxnSpPr>
          <p:cNvPr id="22" name="Connector 21"/>
          <p:cNvCxnSpPr/>
          <p:nvPr/>
        </p:nvCxnSpPr>
        <p:spPr>
          <a:xfrm flipV="1">
            <a:off x="8458200" y="240030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58200" y="356616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69880" y="2560320"/>
            <a:ext cx="1069848" cy="2011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100" b="1" i="0">
                <a:solidFill>
                  <a:srgbClr val="FFFFFF"/>
                </a:solidFill>
                <a:latin typeface="Arial"/>
              </a:rPr>
              <a:t>DECISION LOG</a:t>
            </a:r>
          </a:p>
          <a:p>
            <a:pPr algn="l">
              <a:spcAft>
                <a:spcPts val="300"/>
              </a:spcAft>
            </a:pPr>
            <a:r>
              <a:rPr sz="1050" b="0" i="0">
                <a:solidFill>
                  <a:srgbClr val="FFFFFF"/>
                </a:solidFill>
                <a:latin typeface="Arial"/>
              </a:rPr>
              <a:t>Every ruling and every exception, with its reason — into the repository</a:t>
            </a:r>
          </a:p>
        </p:txBody>
      </p:sp>
      <p:cxnSp>
        <p:nvCxnSpPr>
          <p:cNvPr id="25" name="Connector 24"/>
          <p:cNvCxnSpPr/>
          <p:nvPr/>
        </p:nvCxnSpPr>
        <p:spPr>
          <a:xfrm>
            <a:off x="10195560" y="240030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95560" y="393192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gate is where the whole-of-government view meets the decision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Inside a project, building your own is faster than reusing, so projects fragment — and no procurement rule can change that. Only whole-of-government planning makes re-use rational.</a:t>
            </a:r>
          </a:p>
          <a:p>
            <a:pPr>
              <a:spcAft>
                <a:spcPts val="1200"/>
              </a:spcAft>
            </a:pPr>
            <a:r>
              <a:rPr sz="2000" b="0" i="0">
                <a:solidFill>
                  <a:srgbClr val="1A1A1A"/>
                </a:solidFill>
                <a:latin typeface="Arial"/>
              </a:rPr>
              <a:t>The gate is where that view meets the decision, while it can still be changed.</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When a project proposes to build what already exists as a shared block, the Board says: consume the shared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architecture review gate checklist.</a:t>
            </a:r>
          </a:p>
          <a:p>
            <a:pPr algn="l">
              <a:spcAft>
                <a:spcPts val="400"/>
              </a:spcAft>
            </a:pPr>
            <a:r>
              <a:rPr sz="1800" b="0" i="0">
                <a:solidFill>
                  <a:srgbClr val="595959"/>
                </a:solidFill>
                <a:latin typeface="Arial"/>
              </a:rPr>
              <a:t>The prompt in the companion material gives you an intake checklist, pass criteria, exception form and decision-log fields.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Show the EA is working — the few metrics that matter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handful of honest metrics — coverage, re-use rate, open exceptions, decisions made — show the minister and the team that the EA is working, and tell you where it isn’t, without drowning anyone in vanity numbers.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Your minister’s fair question: is this EA work actually doing anything?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need an answer that is honest, short and true.</a:t>
            </a:r>
          </a:p>
          <a:p>
            <a:pPr>
              <a:spcAft>
                <a:spcPts val="800"/>
              </a:spcAft>
            </a:pPr>
            <a:r>
              <a:rPr sz="1700" b="0" i="0">
                <a:solidFill>
                  <a:srgbClr val="595959"/>
                </a:solidFill>
                <a:latin typeface="Arial"/>
              </a:rPr>
              <a:t>A handful of metrics, not a fifty-page report. Pick them carefully.</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numbers carry most of the signal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Coverage</a:t>
            </a:r>
          </a:p>
          <a:p>
            <a:pPr>
              <a:spcAft>
                <a:spcPts val="300"/>
              </a:spcAft>
            </a:pPr>
            <a:r>
              <a:rPr sz="1550" b="0" i="0">
                <a:solidFill>
                  <a:srgbClr val="595959"/>
                </a:solidFill>
                <a:latin typeface="Arial"/>
              </a:rPr>
              <a:t>How much of your government is actually in the repository — and current.</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Re-use rate</a:t>
            </a:r>
          </a:p>
          <a:p>
            <a:pPr>
              <a:spcAft>
                <a:spcPts val="300"/>
              </a:spcAft>
            </a:pPr>
            <a:r>
              <a:rPr sz="1550" b="0" i="0">
                <a:solidFill>
                  <a:srgbClr val="595959"/>
                </a:solidFill>
                <a:latin typeface="Arial"/>
              </a:rPr>
              <a:t>Of the projects that came through the gate, how many consumed a shared block instead of building their own.</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Open exceptions</a:t>
            </a:r>
          </a:p>
          <a:p>
            <a:pPr>
              <a:spcAft>
                <a:spcPts val="300"/>
              </a:spcAft>
            </a:pPr>
            <a:r>
              <a:rPr sz="1550" b="0" i="0">
                <a:solidFill>
                  <a:srgbClr val="595959"/>
                </a:solidFill>
                <a:latin typeface="Arial"/>
              </a:rPr>
              <a:t>How many waivers are outstanding, and how old.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Decisions</a:t>
            </a:r>
          </a:p>
          <a:p>
            <a:pPr>
              <a:spcAft>
                <a:spcPts val="300"/>
              </a:spcAft>
            </a:pPr>
            <a:r>
              <a:rPr sz="1550" b="0" i="0">
                <a:solidFill>
                  <a:srgbClr val="595959"/>
                </a:solidFill>
                <a:latin typeface="Arial"/>
              </a:rPr>
              <a:t>How many gate decisions the Board made — and how fast.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growing pile of aged exceptions is fragmentation returning; a slow gate is one projects route around.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re-use rate is the one to put in front of the budget authority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project that consumed the shared identity platform instead of building its own is a system the country paid for once instead of many times.</a:t>
            </a:r>
          </a:p>
          <a:p>
            <a:pPr>
              <a:spcAft>
                <a:spcPts val="1200"/>
              </a:spcAft>
            </a:pPr>
            <a:r>
              <a:rPr sz="2000" b="0" i="0">
                <a:solidFill>
                  <a:srgbClr val="1A1A1A"/>
                </a:solidFill>
                <a:latin typeface="Arial"/>
              </a:rPr>
              <a:t>Tracked over a year, a rising re-use rate is the closest thing you have to proof that the EA is returning its cost — the abstract argument turned into a number that goes up.</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That is the metric that protects your funding.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a metric would still rise while the architecture stopped mattering, it is wrong</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EFFECT</a:t>
            </a:r>
          </a:p>
          <a:p>
            <a:pPr>
              <a:spcAft>
                <a:spcPts val="700"/>
              </a:spcAft>
            </a:pPr>
            <a:r>
              <a:rPr sz="1600" b="0" i="0">
                <a:solidFill>
                  <a:srgbClr val="1A1A1A"/>
                </a:solidFill>
                <a:latin typeface="Arial"/>
              </a:rPr>
              <a:t>Re-use rate.</a:t>
            </a:r>
          </a:p>
          <a:p>
            <a:pPr>
              <a:spcAft>
                <a:spcPts val="700"/>
              </a:spcAft>
            </a:pPr>
            <a:r>
              <a:rPr sz="1600" b="0" i="0">
                <a:solidFill>
                  <a:srgbClr val="1A1A1A"/>
                </a:solidFill>
                <a:latin typeface="Arial"/>
              </a:rPr>
              <a:t>Coverage that is current.</a:t>
            </a:r>
          </a:p>
          <a:p>
            <a:pPr>
              <a:spcAft>
                <a:spcPts val="700"/>
              </a:spcAft>
            </a:pPr>
            <a:r>
              <a:rPr sz="1600" b="0" i="0">
                <a:solidFill>
                  <a:srgbClr val="1A1A1A"/>
                </a:solidFill>
                <a:latin typeface="Arial"/>
              </a:rPr>
              <a:t>Gate decisions made, and how fast.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MEASURES ACTIVITY</a:t>
            </a:r>
          </a:p>
          <a:p>
            <a:pPr>
              <a:spcAft>
                <a:spcPts val="700"/>
              </a:spcAft>
            </a:pPr>
            <a:r>
              <a:rPr sz="1600" b="0" i="0">
                <a:solidFill>
                  <a:srgbClr val="1A1A1A"/>
                </a:solidFill>
                <a:latin typeface="Arial"/>
              </a:rPr>
              <a:t>Diagrams drawn.</a:t>
            </a:r>
          </a:p>
          <a:p>
            <a:pPr>
              <a:spcAft>
                <a:spcPts val="700"/>
              </a:spcAft>
            </a:pPr>
            <a:r>
              <a:rPr sz="1600" b="0" i="0">
                <a:solidFill>
                  <a:srgbClr val="1A1A1A"/>
                </a:solidFill>
                <a:latin typeface="Arial"/>
              </a:rPr>
              <a:t>Pages written.</a:t>
            </a:r>
          </a:p>
          <a:p>
            <a:pPr>
              <a:spcAft>
                <a:spcPts val="700"/>
              </a:spcAft>
            </a:pPr>
            <a:r>
              <a:rPr sz="1600" b="0" i="0">
                <a:solidFill>
                  <a:srgbClr val="1A1A1A"/>
                </a:solidFill>
                <a:latin typeface="Arial"/>
              </a:rPr>
              <a:t>Meetings held.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A programme can produce a thousand pages and change nothing.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scorecard that is always green is believed once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page, every quarter, to the Board and the minister — including what is not working: the coverage gap in a sector nobody will let you near, the aging exceptions a powerful ministry will not close.</a:t>
            </a:r>
          </a:p>
          <a:p>
            <a:pPr>
              <a:spcAft>
                <a:spcPts val="1200"/>
              </a:spcAft>
            </a:pPr>
            <a:r>
              <a:rPr sz="2000" b="0" i="0">
                <a:solidFill>
                  <a:srgbClr val="1A1A1A"/>
                </a:solidFill>
                <a:latin typeface="Arial"/>
              </a:rPr>
              <a:t>The temptation is to show only green. Resist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scorecard honestly amber where it should be is what keeps the EA funded across a change of minister.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one-page quarterly scorecard — coverage, re-use rate, open exceptions, decisions — shows honestly whether the EA is working, and the re-use rate is what proves it pays.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health scorecard.</a:t>
            </a:r>
          </a:p>
          <a:p>
            <a:pPr algn="l">
              <a:spcAft>
                <a:spcPts val="400"/>
              </a:spcAft>
            </a:pPr>
            <a:r>
              <a:rPr sz="1800" b="0" i="0">
                <a:solidFill>
                  <a:srgbClr val="595959"/>
                </a:solidFill>
                <a:latin typeface="Arial"/>
              </a:rPr>
              <a:t>The prompt in the companion material gives you a one-page scorecard template with metrics, computations and thresholds.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intermediate-results pattern)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Show the EA is working — the few metrics that matter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Most EA programmes do not fail dramatically. They fade.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first six months go well.</a:t>
            </a:r>
          </a:p>
          <a:p>
            <a:pPr>
              <a:spcAft>
                <a:spcPts val="800"/>
              </a:spcAft>
            </a:pPr>
            <a:r>
              <a:rPr sz="1700" b="0" i="0">
                <a:solidFill>
                  <a:srgbClr val="595959"/>
                </a:solidFill>
                <a:latin typeface="Arial"/>
              </a:rPr>
              <a:t>Then, somewhere in the second year, the practice quietly stops mattering.</a:t>
            </a:r>
          </a:p>
          <a:p>
            <a:pPr>
              <a:spcAft>
                <a:spcPts val="800"/>
              </a:spcAft>
            </a:pPr>
            <a:r>
              <a:rPr sz="1700" b="0" i="0">
                <a:solidFill>
                  <a:srgbClr val="595959"/>
                </a:solidFill>
                <a:latin typeface="Arial"/>
              </a:rPr>
              <a:t>The fade is predictable, and it comes in four forms.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