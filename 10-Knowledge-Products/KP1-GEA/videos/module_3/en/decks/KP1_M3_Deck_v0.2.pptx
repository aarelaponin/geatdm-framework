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hangesInfos/changesInfo1.xml" ContentType="application/vnd.ms-powerpoint.changesinfo+xml"/>
  <Override PartName="/ppt/handoutMasters/handoutMaster1.xml" ContentType="application/vnd.openxmlformats-officedocument.presentationml.handoutMaster+xml"/>
  <Override PartName="/ppt/media/image3.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4"/>
    <p:sldMasterId id="2147483709" r:id="rId5"/>
    <p:sldMasterId id="2147483713" r:id="rId6"/>
    <p:sldMasterId id="2147483691" r:id="rId7"/>
  </p:sldMasterIdLst>
  <p:notesMasterIdLst>
    <p:notesMasterId r:id="rId46"/>
  </p:notesMasterIdLst>
  <p:handoutMasterIdLst>
    <p:handoutMasterId r:id="rId47"/>
  </p:handoutMasterIdLst>
  <p:sldIdLst>
    <p:sldId id="2681" r:id="rId8"/>
    <p:sldId id="2695" r:id="rId9"/>
    <p:sldId id="2696" r:id="rId18"/>
    <p:sldId id="2697" r:id="rId19"/>
    <p:sldId id="2698" r:id="rId20"/>
    <p:sldId id="2699" r:id="rId21"/>
    <p:sldId id="2700" r:id="rId22"/>
    <p:sldId id="2701" r:id="rId23"/>
    <p:sldId id="2702" r:id="rId24"/>
    <p:sldId id="2703" r:id="rId25"/>
    <p:sldId id="2704" r:id="rId26"/>
    <p:sldId id="2705" r:id="rId27"/>
    <p:sldId id="2706" r:id="rId28"/>
    <p:sldId id="2707" r:id="rId29"/>
    <p:sldId id="2708" r:id="rId30"/>
    <p:sldId id="2709" r:id="rId31"/>
    <p:sldId id="2710" r:id="rId32"/>
    <p:sldId id="2711" r:id="rId33"/>
    <p:sldId id="2712" r:id="rId34"/>
    <p:sldId id="2713" r:id="rId35"/>
    <p:sldId id="2714" r:id="rId36"/>
    <p:sldId id="2715" r:id="rId37"/>
    <p:sldId id="2716" r:id="rId38"/>
    <p:sldId id="2717" r:id="rId39"/>
    <p:sldId id="2718" r:id="rId40"/>
    <p:sldId id="2719" r:id="rId41"/>
    <p:sldId id="2720" r:id="rId42"/>
    <p:sldId id="2721" r:id="rId43"/>
    <p:sldId id="2722" r:id="rId44"/>
    <p:sldId id="2723" r:id="rId45"/>
    <p:sldId id="2724" r:id="rId17"/>
    <p:sldId id="2725" r:id="rId16"/>
    <p:sldId id="2726" r:id="rId15"/>
    <p:sldId id="2727" r:id="rId14"/>
    <p:sldId id="2728" r:id="rId13"/>
    <p:sldId id="2729" r:id="rId12"/>
    <p:sldId id="2730" r:id="rId11"/>
    <p:sldId id="2731" r:id="rId10"/>
    <p:sldId id="2732" r:id="rId54"/>
    <p:sldId id="2733" r:id="rId55"/>
    <p:sldId id="2734" r:id="rId56"/>
    <p:sldId id="2735" r:id="rId57"/>
    <p:sldId id="2736" r:id="rId58"/>
    <p:sldId id="2737" r:id="rId59"/>
    <p:sldId id="2738" r:id="rId60"/>
    <p:sldId id="2739" r:id="rId61"/>
    <p:sldId id="2740" r:id="rId62"/>
    <p:sldId id="2741" r:id="rId63"/>
    <p:sldId id="2742" r:id="rId64"/>
    <p:sldId id="2743" r:id="rId65"/>
    <p:sldId id="2744" r:id="rId66"/>
    <p:sldId id="2745" r:id="rId67"/>
    <p:sldId id="2746" r:id="rId68"/>
    <p:sldId id="2747" r:id="rId69"/>
    <p:sldId id="2748" r:id="rId70"/>
    <p:sldId id="2749" r:id="rId71"/>
    <p:sldId id="2750" r:id="rId72"/>
    <p:sldId id="2751" r:id="rId73"/>
    <p:sldId id="2752" r:id="rId74"/>
    <p:sldId id="2753" r:id="rId75"/>
    <p:sldId id="2754" r:id="rId76"/>
    <p:sldId id="2755" r:id="rId77"/>
    <p:sldId id="2756" r:id="rId7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A6A6A6"/>
    <a:srgbClr val="0083B3"/>
    <a:srgbClr val="9D26FF"/>
    <a:srgbClr val="0076A1"/>
    <a:srgbClr val="FFFFFF"/>
    <a:srgbClr val="009CD6"/>
    <a:srgbClr val="A5A5A5"/>
    <a:srgbClr val="757070"/>
    <a:srgbClr val="6F6F6E"/>
    <a:srgbClr val="F5FAF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CBC4942-2EA4-48B8-A075-B5F2ABFFFDF6}" v="10" dt="2026-07-22T19:37:31.024"/>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71" d="100"/>
          <a:sy n="71" d="100"/>
        </p:scale>
        <p:origin x="412" y="44"/>
      </p:cViewPr>
      <p:guideLst>
        <p:guide orient="horz" pos="2160"/>
        <p:guide pos="3840"/>
      </p:guideLst>
    </p:cSldViewPr>
  </p:slideViewPr>
  <p:notesTextViewPr>
    <p:cViewPr>
      <p:scale>
        <a:sx n="1" d="1"/>
        <a:sy n="1" d="1"/>
      </p:scale>
      <p:origin x="0" y="0"/>
    </p:cViewPr>
  </p:notesTextViewPr>
  <p:notesViewPr>
    <p:cSldViewPr snapToGrid="0">
      <p:cViewPr varScale="1">
        <p:scale>
          <a:sx n="124" d="100"/>
          <a:sy n="124" d="100"/>
        </p:scale>
        <p:origin x="4188" y="88"/>
      </p:cViewPr>
      <p:guideLst/>
    </p:cSldViewPr>
  </p:notes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slideMaster" Target="slideMasters/slideMaster2.xml"/><Relationship Id="rId6" Type="http://schemas.openxmlformats.org/officeDocument/2006/relationships/slideMaster" Target="slideMasters/slideMaster3.xml"/><Relationship Id="rId7" Type="http://schemas.openxmlformats.org/officeDocument/2006/relationships/slideMaster" Target="slideMasters/slideMaster4.xml"/><Relationship Id="rId8" Type="http://schemas.openxmlformats.org/officeDocument/2006/relationships/slide" Target="slides/slide1.xml"/><Relationship Id="rId9" Type="http://schemas.openxmlformats.org/officeDocument/2006/relationships/slide" Target="slides/slide2.xml"/><Relationship Id="rId10" Type="http://schemas.openxmlformats.org/officeDocument/2006/relationships/slide" Target="slides/slide38.xml"/><Relationship Id="rId11" Type="http://schemas.openxmlformats.org/officeDocument/2006/relationships/slide" Target="slides/slide37.xml"/><Relationship Id="rId12" Type="http://schemas.openxmlformats.org/officeDocument/2006/relationships/slide" Target="slides/slide36.xml"/><Relationship Id="rId13" Type="http://schemas.openxmlformats.org/officeDocument/2006/relationships/slide" Target="slides/slide35.xml"/><Relationship Id="rId14" Type="http://schemas.openxmlformats.org/officeDocument/2006/relationships/slide" Target="slides/slide34.xml"/><Relationship Id="rId15" Type="http://schemas.openxmlformats.org/officeDocument/2006/relationships/slide" Target="slides/slide33.xml"/><Relationship Id="rId16" Type="http://schemas.openxmlformats.org/officeDocument/2006/relationships/slide" Target="slides/slide32.xml"/><Relationship Id="rId17" Type="http://schemas.openxmlformats.org/officeDocument/2006/relationships/slide" Target="slides/slide31.xml"/><Relationship Id="rId18" Type="http://schemas.openxmlformats.org/officeDocument/2006/relationships/slide" Target="slides/slide3.xml"/><Relationship Id="rId19" Type="http://schemas.openxmlformats.org/officeDocument/2006/relationships/slide" Target="slides/slide4.xml"/><Relationship Id="rId20" Type="http://schemas.openxmlformats.org/officeDocument/2006/relationships/slide" Target="slides/slide5.xml"/><Relationship Id="rId21" Type="http://schemas.openxmlformats.org/officeDocument/2006/relationships/slide" Target="slides/slide6.xml"/><Relationship Id="rId22" Type="http://schemas.openxmlformats.org/officeDocument/2006/relationships/slide" Target="slides/slide7.xml"/><Relationship Id="rId23" Type="http://schemas.openxmlformats.org/officeDocument/2006/relationships/slide" Target="slides/slide8.xml"/><Relationship Id="rId24" Type="http://schemas.openxmlformats.org/officeDocument/2006/relationships/slide" Target="slides/slide9.xml"/><Relationship Id="rId25" Type="http://schemas.openxmlformats.org/officeDocument/2006/relationships/slide" Target="slides/slide10.xml"/><Relationship Id="rId26" Type="http://schemas.openxmlformats.org/officeDocument/2006/relationships/slide" Target="slides/slide11.xml"/><Relationship Id="rId27" Type="http://schemas.openxmlformats.org/officeDocument/2006/relationships/slide" Target="slides/slide12.xml"/><Relationship Id="rId28" Type="http://schemas.openxmlformats.org/officeDocument/2006/relationships/slide" Target="slides/slide13.xml"/><Relationship Id="rId29" Type="http://schemas.openxmlformats.org/officeDocument/2006/relationships/slide" Target="slides/slide14.xml"/><Relationship Id="rId30" Type="http://schemas.openxmlformats.org/officeDocument/2006/relationships/slide" Target="slides/slide15.xml"/><Relationship Id="rId31" Type="http://schemas.openxmlformats.org/officeDocument/2006/relationships/slide" Target="slides/slide16.xml"/><Relationship Id="rId32" Type="http://schemas.openxmlformats.org/officeDocument/2006/relationships/slide" Target="slides/slide17.xml"/><Relationship Id="rId33" Type="http://schemas.openxmlformats.org/officeDocument/2006/relationships/slide" Target="slides/slide18.xml"/><Relationship Id="rId34" Type="http://schemas.openxmlformats.org/officeDocument/2006/relationships/slide" Target="slides/slide19.xml"/><Relationship Id="rId35" Type="http://schemas.openxmlformats.org/officeDocument/2006/relationships/slide" Target="slides/slide20.xml"/><Relationship Id="rId36" Type="http://schemas.openxmlformats.org/officeDocument/2006/relationships/slide" Target="slides/slide21.xml"/><Relationship Id="rId37" Type="http://schemas.openxmlformats.org/officeDocument/2006/relationships/slide" Target="slides/slide22.xml"/><Relationship Id="rId38" Type="http://schemas.openxmlformats.org/officeDocument/2006/relationships/slide" Target="slides/slide23.xml"/><Relationship Id="rId39" Type="http://schemas.openxmlformats.org/officeDocument/2006/relationships/slide" Target="slides/slide24.xml"/><Relationship Id="rId40" Type="http://schemas.openxmlformats.org/officeDocument/2006/relationships/slide" Target="slides/slide25.xml"/><Relationship Id="rId41" Type="http://schemas.openxmlformats.org/officeDocument/2006/relationships/slide" Target="slides/slide26.xml"/><Relationship Id="rId42" Type="http://schemas.openxmlformats.org/officeDocument/2006/relationships/slide" Target="slides/slide27.xml"/><Relationship Id="rId43" Type="http://schemas.openxmlformats.org/officeDocument/2006/relationships/slide" Target="slides/slide28.xml"/><Relationship Id="rId44" Type="http://schemas.openxmlformats.org/officeDocument/2006/relationships/slide" Target="slides/slide29.xml"/><Relationship Id="rId45" Type="http://schemas.openxmlformats.org/officeDocument/2006/relationships/slide" Target="slides/slide30.xml"/><Relationship Id="rId46" Type="http://schemas.openxmlformats.org/officeDocument/2006/relationships/notesMaster" Target="notesMasters/notesMaster1.xml"/><Relationship Id="rId47" Type="http://schemas.openxmlformats.org/officeDocument/2006/relationships/handoutMaster" Target="handoutMasters/handoutMaster1.xml"/><Relationship Id="rId48" Type="http://schemas.openxmlformats.org/officeDocument/2006/relationships/presProps" Target="presProps.xml"/><Relationship Id="rId49" Type="http://schemas.openxmlformats.org/officeDocument/2006/relationships/viewProps" Target="viewProps.xml"/><Relationship Id="rId50" Type="http://schemas.openxmlformats.org/officeDocument/2006/relationships/theme" Target="theme/theme1.xml"/><Relationship Id="rId51" Type="http://schemas.openxmlformats.org/officeDocument/2006/relationships/tableStyles" Target="tableStyles.xml"/><Relationship Id="rId52" Type="http://schemas.microsoft.com/office/2016/11/relationships/changesInfo" Target="changesInfos/changesInfo1.xml"/><Relationship Id="rId53" Type="http://schemas.microsoft.com/office/2015/10/relationships/revisionInfo" Target="revisionInfo.xml"/><Relationship Id="rId54" Type="http://schemas.openxmlformats.org/officeDocument/2006/relationships/slide" Target="slides/slide39.xml"/><Relationship Id="rId55" Type="http://schemas.openxmlformats.org/officeDocument/2006/relationships/slide" Target="slides/slide40.xml"/><Relationship Id="rId56" Type="http://schemas.openxmlformats.org/officeDocument/2006/relationships/slide" Target="slides/slide41.xml"/><Relationship Id="rId57" Type="http://schemas.openxmlformats.org/officeDocument/2006/relationships/slide" Target="slides/slide42.xml"/><Relationship Id="rId58" Type="http://schemas.openxmlformats.org/officeDocument/2006/relationships/slide" Target="slides/slide43.xml"/><Relationship Id="rId59" Type="http://schemas.openxmlformats.org/officeDocument/2006/relationships/slide" Target="slides/slide44.xml"/><Relationship Id="rId60" Type="http://schemas.openxmlformats.org/officeDocument/2006/relationships/slide" Target="slides/slide45.xml"/><Relationship Id="rId61" Type="http://schemas.openxmlformats.org/officeDocument/2006/relationships/slide" Target="slides/slide46.xml"/><Relationship Id="rId62" Type="http://schemas.openxmlformats.org/officeDocument/2006/relationships/slide" Target="slides/slide47.xml"/><Relationship Id="rId63" Type="http://schemas.openxmlformats.org/officeDocument/2006/relationships/slide" Target="slides/slide48.xml"/><Relationship Id="rId64" Type="http://schemas.openxmlformats.org/officeDocument/2006/relationships/slide" Target="slides/slide49.xml"/><Relationship Id="rId65" Type="http://schemas.openxmlformats.org/officeDocument/2006/relationships/slide" Target="slides/slide50.xml"/><Relationship Id="rId66" Type="http://schemas.openxmlformats.org/officeDocument/2006/relationships/slide" Target="slides/slide51.xml"/><Relationship Id="rId67" Type="http://schemas.openxmlformats.org/officeDocument/2006/relationships/slide" Target="slides/slide52.xml"/><Relationship Id="rId68" Type="http://schemas.openxmlformats.org/officeDocument/2006/relationships/slide" Target="slides/slide53.xml"/><Relationship Id="rId69" Type="http://schemas.openxmlformats.org/officeDocument/2006/relationships/slide" Target="slides/slide54.xml"/><Relationship Id="rId70" Type="http://schemas.openxmlformats.org/officeDocument/2006/relationships/slide" Target="slides/slide55.xml"/><Relationship Id="rId71" Type="http://schemas.openxmlformats.org/officeDocument/2006/relationships/slide" Target="slides/slide56.xml"/><Relationship Id="rId72" Type="http://schemas.openxmlformats.org/officeDocument/2006/relationships/slide" Target="slides/slide57.xml"/><Relationship Id="rId73" Type="http://schemas.openxmlformats.org/officeDocument/2006/relationships/slide" Target="slides/slide58.xml"/><Relationship Id="rId74" Type="http://schemas.openxmlformats.org/officeDocument/2006/relationships/slide" Target="slides/slide59.xml"/><Relationship Id="rId75" Type="http://schemas.openxmlformats.org/officeDocument/2006/relationships/slide" Target="slides/slide60.xml"/><Relationship Id="rId76" Type="http://schemas.openxmlformats.org/officeDocument/2006/relationships/slide" Target="slides/slide61.xml"/><Relationship Id="rId77" Type="http://schemas.openxmlformats.org/officeDocument/2006/relationships/slide" Target="slides/slide62.xml"/><Relationship Id="rId78" Type="http://schemas.openxmlformats.org/officeDocument/2006/relationships/slide" Target="slides/slide63.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nselmino, Carolina" userId="5c3f6dd0-fb53-498d-9f5e-392bc2a3ffc7" providerId="ADAL" clId="{E38CDB5B-0F14-49C4-839B-AE81B7033013}"/>
    <pc:docChg chg="undo custSel addSld delSld modSld">
      <pc:chgData name="Anselmino, Carolina" userId="5c3f6dd0-fb53-498d-9f5e-392bc2a3ffc7" providerId="ADAL" clId="{E38CDB5B-0F14-49C4-839B-AE81B7033013}" dt="2026-07-22T19:37:31.024" v="702" actId="164"/>
      <pc:docMkLst>
        <pc:docMk/>
      </pc:docMkLst>
      <pc:sldChg chg="modSp mod">
        <pc:chgData name="Anselmino, Carolina" userId="5c3f6dd0-fb53-498d-9f5e-392bc2a3ffc7" providerId="ADAL" clId="{E38CDB5B-0F14-49C4-839B-AE81B7033013}" dt="2026-07-22T11:43:29.600" v="14" actId="1076"/>
        <pc:sldMkLst>
          <pc:docMk/>
          <pc:sldMk cId="1405143857" sldId="280"/>
        </pc:sldMkLst>
        <pc:spChg chg="mod">
          <ac:chgData name="Anselmino, Carolina" userId="5c3f6dd0-fb53-498d-9f5e-392bc2a3ffc7" providerId="ADAL" clId="{E38CDB5B-0F14-49C4-839B-AE81B7033013}" dt="2026-07-22T11:43:19.760" v="12" actId="1076"/>
          <ac:spMkLst>
            <pc:docMk/>
            <pc:sldMk cId="1405143857" sldId="280"/>
            <ac:spMk id="45" creationId="{1FF21F3A-03EB-4BF7-B952-9FA7182F69DE}"/>
          </ac:spMkLst>
        </pc:spChg>
        <pc:grpChg chg="mod">
          <ac:chgData name="Anselmino, Carolina" userId="5c3f6dd0-fb53-498d-9f5e-392bc2a3ffc7" providerId="ADAL" clId="{E38CDB5B-0F14-49C4-839B-AE81B7033013}" dt="2026-07-22T11:43:29.600" v="14" actId="1076"/>
          <ac:grpSpMkLst>
            <pc:docMk/>
            <pc:sldMk cId="1405143857" sldId="280"/>
            <ac:grpSpMk id="44" creationId="{B8FF808C-B389-4C00-87CD-F61A6779EE7C}"/>
          </ac:grpSpMkLst>
        </pc:grpChg>
      </pc:sldChg>
      <pc:sldChg chg="addSp delSp modSp mod">
        <pc:chgData name="Anselmino, Carolina" userId="5c3f6dd0-fb53-498d-9f5e-392bc2a3ffc7" providerId="ADAL" clId="{E38CDB5B-0F14-49C4-839B-AE81B7033013}" dt="2026-07-22T19:37:31.024" v="702" actId="164"/>
        <pc:sldMkLst>
          <pc:docMk/>
          <pc:sldMk cId="1196800265" sldId="2681"/>
        </pc:sldMkLst>
        <pc:spChg chg="mod">
          <ac:chgData name="Anselmino, Carolina" userId="5c3f6dd0-fb53-498d-9f5e-392bc2a3ffc7" providerId="ADAL" clId="{E38CDB5B-0F14-49C4-839B-AE81B7033013}" dt="2026-07-22T11:44:01.404" v="22" actId="12788"/>
          <ac:spMkLst>
            <pc:docMk/>
            <pc:sldMk cId="1196800265" sldId="2681"/>
            <ac:spMk id="9" creationId="{A74A033E-F2C4-63F1-935E-B0E00C34458D}"/>
          </ac:spMkLst>
        </pc:spChg>
        <pc:spChg chg="mod">
          <ac:chgData name="Anselmino, Carolina" userId="5c3f6dd0-fb53-498d-9f5e-392bc2a3ffc7" providerId="ADAL" clId="{E38CDB5B-0F14-49C4-839B-AE81B7033013}" dt="2026-07-22T11:46:41.299" v="210" actId="20577"/>
          <ac:spMkLst>
            <pc:docMk/>
            <pc:sldMk cId="1196800265" sldId="2681"/>
            <ac:spMk id="12" creationId="{EEB08032-CE0E-4986-AEDF-A41026C0E8B9}"/>
          </ac:spMkLst>
        </pc:spChg>
        <pc:spChg chg="add mod">
          <ac:chgData name="Anselmino, Carolina" userId="5c3f6dd0-fb53-498d-9f5e-392bc2a3ffc7" providerId="ADAL" clId="{E38CDB5B-0F14-49C4-839B-AE81B7033013}" dt="2026-07-22T11:46:31.178" v="195" actId="20577"/>
          <ac:spMkLst>
            <pc:docMk/>
            <pc:sldMk cId="1196800265" sldId="2681"/>
            <ac:spMk id="14" creationId="{B5087B80-3EE4-1881-0130-ED58CA625092}"/>
          </ac:spMkLst>
        </pc:spChg>
        <pc:spChg chg="add mod">
          <ac:chgData name="Anselmino, Carolina" userId="5c3f6dd0-fb53-498d-9f5e-392bc2a3ffc7" providerId="ADAL" clId="{E38CDB5B-0F14-49C4-839B-AE81B7033013}" dt="2026-07-22T11:51:15.375" v="432" actId="20577"/>
          <ac:spMkLst>
            <pc:docMk/>
            <pc:sldMk cId="1196800265" sldId="2681"/>
            <ac:spMk id="17" creationId="{5E8796F7-DD26-D250-5E97-B38B22298E72}"/>
          </ac:spMkLst>
        </pc:spChg>
        <pc:spChg chg="add mod">
          <ac:chgData name="Anselmino, Carolina" userId="5c3f6dd0-fb53-498d-9f5e-392bc2a3ffc7" providerId="ADAL" clId="{E38CDB5B-0F14-49C4-839B-AE81B7033013}" dt="2026-07-22T19:37:31.024" v="702" actId="164"/>
          <ac:spMkLst>
            <pc:docMk/>
            <pc:sldMk cId="1196800265" sldId="2681"/>
            <ac:spMk id="19" creationId="{352ECD8B-4B24-AB9F-BF07-5E33A295F52D}"/>
          </ac:spMkLst>
        </pc:spChg>
        <pc:grpChg chg="add mod">
          <ac:chgData name="Anselmino, Carolina" userId="5c3f6dd0-fb53-498d-9f5e-392bc2a3ffc7" providerId="ADAL" clId="{E38CDB5B-0F14-49C4-839B-AE81B7033013}" dt="2026-07-22T19:37:31.024" v="702" actId="164"/>
          <ac:grpSpMkLst>
            <pc:docMk/>
            <pc:sldMk cId="1196800265" sldId="2681"/>
            <ac:grpSpMk id="8" creationId="{759E7638-035C-C837-D321-A8C06D48B5DC}"/>
          </ac:grpSpMkLst>
        </pc:grpChg>
        <pc:grpChg chg="add mod">
          <ac:chgData name="Anselmino, Carolina" userId="5c3f6dd0-fb53-498d-9f5e-392bc2a3ffc7" providerId="ADAL" clId="{E38CDB5B-0F14-49C4-839B-AE81B7033013}" dt="2026-07-22T19:37:31.024" v="702" actId="164"/>
          <ac:grpSpMkLst>
            <pc:docMk/>
            <pc:sldMk cId="1196800265" sldId="2681"/>
            <ac:grpSpMk id="20" creationId="{0D0761BD-2F2F-6D79-B3EF-A531E092890D}"/>
          </ac:grpSpMkLst>
        </pc:grpChg>
        <pc:picChg chg="add del">
          <ac:chgData name="Anselmino, Carolina" userId="5c3f6dd0-fb53-498d-9f5e-392bc2a3ffc7" providerId="ADAL" clId="{E38CDB5B-0F14-49C4-839B-AE81B7033013}" dt="2026-07-22T11:42:32.545" v="4" actId="478"/>
          <ac:picMkLst>
            <pc:docMk/>
            <pc:sldMk cId="1196800265" sldId="2681"/>
            <ac:picMk id="3" creationId="{49CB780D-15A3-48FD-506A-45097B8C84EF}"/>
          </ac:picMkLst>
        </pc:picChg>
        <pc:picChg chg="add mod">
          <ac:chgData name="Anselmino, Carolina" userId="5c3f6dd0-fb53-498d-9f5e-392bc2a3ffc7" providerId="ADAL" clId="{E38CDB5B-0F14-49C4-839B-AE81B7033013}" dt="2026-07-22T11:42:43.855" v="6" actId="1076"/>
          <ac:picMkLst>
            <pc:docMk/>
            <pc:sldMk cId="1196800265" sldId="2681"/>
            <ac:picMk id="4" creationId="{69007BE6-4165-6B9F-CABD-19BC8B326D8F}"/>
          </ac:picMkLst>
        </pc:picChg>
        <pc:picChg chg="add del mod">
          <ac:chgData name="Anselmino, Carolina" userId="5c3f6dd0-fb53-498d-9f5e-392bc2a3ffc7" providerId="ADAL" clId="{E38CDB5B-0F14-49C4-839B-AE81B7033013}" dt="2026-07-22T11:43:03.472" v="10" actId="478"/>
          <ac:picMkLst>
            <pc:docMk/>
            <pc:sldMk cId="1196800265" sldId="2681"/>
            <ac:picMk id="6" creationId="{7BDA84B0-A315-5710-DC3F-3108F335D58B}"/>
          </ac:picMkLst>
        </pc:picChg>
        <pc:picChg chg="mod modCrop">
          <ac:chgData name="Anselmino, Carolina" userId="5c3f6dd0-fb53-498d-9f5e-392bc2a3ffc7" providerId="ADAL" clId="{E38CDB5B-0F14-49C4-839B-AE81B7033013}" dt="2026-07-22T11:36:58.998" v="2" actId="732"/>
          <ac:picMkLst>
            <pc:docMk/>
            <pc:sldMk cId="1196800265" sldId="2681"/>
            <ac:picMk id="7" creationId="{A2066351-C569-4C4C-A096-308777FCDC32}"/>
          </ac:picMkLst>
        </pc:picChg>
        <pc:picChg chg="mod">
          <ac:chgData name="Anselmino, Carolina" userId="5c3f6dd0-fb53-498d-9f5e-392bc2a3ffc7" providerId="ADAL" clId="{E38CDB5B-0F14-49C4-839B-AE81B7033013}" dt="2026-07-22T11:44:01.404" v="22" actId="12788"/>
          <ac:picMkLst>
            <pc:docMk/>
            <pc:sldMk cId="1196800265" sldId="2681"/>
            <ac:picMk id="10" creationId="{D4EAC1CC-FDEC-CB2B-4814-426FB9337D67}"/>
          </ac:picMkLst>
        </pc:picChg>
        <pc:cxnChg chg="mod">
          <ac:chgData name="Anselmino, Carolina" userId="5c3f6dd0-fb53-498d-9f5e-392bc2a3ffc7" providerId="ADAL" clId="{E38CDB5B-0F14-49C4-839B-AE81B7033013}" dt="2026-07-22T11:46:16.310" v="179" actId="14100"/>
          <ac:cxnSpMkLst>
            <pc:docMk/>
            <pc:sldMk cId="1196800265" sldId="2681"/>
            <ac:cxnSpMk id="11" creationId="{D9AD66F2-F7C0-4D03-9150-D28F17AC561D}"/>
          </ac:cxnSpMkLst>
        </pc:cxnChg>
      </pc:sldChg>
      <pc:sldChg chg="del">
        <pc:chgData name="Anselmino, Carolina" userId="5c3f6dd0-fb53-498d-9f5e-392bc2a3ffc7" providerId="ADAL" clId="{E38CDB5B-0F14-49C4-839B-AE81B7033013}" dt="2026-07-22T19:26:38.574" v="665" actId="47"/>
        <pc:sldMkLst>
          <pc:docMk/>
          <pc:sldMk cId="1763900471" sldId="2682"/>
        </pc:sldMkLst>
      </pc:sldChg>
      <pc:sldChg chg="del">
        <pc:chgData name="Anselmino, Carolina" userId="5c3f6dd0-fb53-498d-9f5e-392bc2a3ffc7" providerId="ADAL" clId="{E38CDB5B-0F14-49C4-839B-AE81B7033013}" dt="2026-07-22T19:26:35.304" v="664" actId="47"/>
        <pc:sldMkLst>
          <pc:docMk/>
          <pc:sldMk cId="1891845127" sldId="2685"/>
        </pc:sldMkLst>
      </pc:sldChg>
      <pc:sldChg chg="add del">
        <pc:chgData name="Anselmino, Carolina" userId="5c3f6dd0-fb53-498d-9f5e-392bc2a3ffc7" providerId="ADAL" clId="{E38CDB5B-0F14-49C4-839B-AE81B7033013}" dt="2026-07-22T15:50:00.267" v="434" actId="47"/>
        <pc:sldMkLst>
          <pc:docMk/>
          <pc:sldMk cId="2459501262" sldId="2695"/>
        </pc:sldMkLst>
      </pc:sldChg>
      <pc:sldChg chg="modSp add mod">
        <pc:chgData name="Anselmino, Carolina" userId="5c3f6dd0-fb53-498d-9f5e-392bc2a3ffc7" providerId="ADAL" clId="{E38CDB5B-0F14-49C4-839B-AE81B7033013}" dt="2026-07-22T19:17:50.009" v="663" actId="14100"/>
        <pc:sldMkLst>
          <pc:docMk/>
          <pc:sldMk cId="2895905977" sldId="2695"/>
        </pc:sldMkLst>
        <pc:spChg chg="mod">
          <ac:chgData name="Anselmino, Carolina" userId="5c3f6dd0-fb53-498d-9f5e-392bc2a3ffc7" providerId="ADAL" clId="{E38CDB5B-0F14-49C4-839B-AE81B7033013}" dt="2026-07-22T15:51:46.203" v="494" actId="20577"/>
          <ac:spMkLst>
            <pc:docMk/>
            <pc:sldMk cId="2895905977" sldId="2695"/>
            <ac:spMk id="5" creationId="{05ECEA81-427F-77E6-3A96-077D430CC49C}"/>
          </ac:spMkLst>
        </pc:spChg>
        <pc:spChg chg="mod">
          <ac:chgData name="Anselmino, Carolina" userId="5c3f6dd0-fb53-498d-9f5e-392bc2a3ffc7" providerId="ADAL" clId="{E38CDB5B-0F14-49C4-839B-AE81B7033013}" dt="2026-07-22T19:17:50.009" v="663" actId="14100"/>
          <ac:spMkLst>
            <pc:docMk/>
            <pc:sldMk cId="2895905977" sldId="2695"/>
            <ac:spMk id="6" creationId="{F5AB7147-07E3-D061-CD69-902D615A346F}"/>
          </ac:spMkLst>
        </pc:spChg>
        <pc:spChg chg="mod">
          <ac:chgData name="Anselmino, Carolina" userId="5c3f6dd0-fb53-498d-9f5e-392bc2a3ffc7" providerId="ADAL" clId="{E38CDB5B-0F14-49C4-839B-AE81B7033013}" dt="2026-07-22T15:52:40.119" v="519" actId="14100"/>
          <ac:spMkLst>
            <pc:docMk/>
            <pc:sldMk cId="2895905977" sldId="2695"/>
            <ac:spMk id="7" creationId="{645C8C6B-29A8-B1C0-3772-5822CAB07F15}"/>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6.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6BE192EA-4FB5-417A-96F6-B3058A54ABC4}"/>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875D5479-0008-4BFD-BE18-7442B169130D}"/>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A472114D-3A05-4B20-822E-8261653B33D2}" type="datetimeFigureOut">
              <a:rPr lang="en-US" smtClean="0"/>
              <a:t>7/22/2026</a:t>
            </a:fld>
            <a:endParaRPr lang="en-US"/>
          </a:p>
        </p:txBody>
      </p:sp>
      <p:sp>
        <p:nvSpPr>
          <p:cNvPr id="4" name="Footer Placeholder 3">
            <a:extLst>
              <a:ext uri="{FF2B5EF4-FFF2-40B4-BE49-F238E27FC236}">
                <a16:creationId xmlns:a16="http://schemas.microsoft.com/office/drawing/2014/main" id="{EABD4BE7-9FD8-4D10-87DD-2B2BC23B46EC}"/>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F10342B2-B657-4BF5-B0C4-8D3FD65073D3}"/>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91E5079B-D1F0-49DB-8DFB-E06CD09EC17E}" type="slidenum">
              <a:rPr lang="en-US" smtClean="0"/>
              <a:t>‹#›</a:t>
            </a:fld>
            <a:endParaRPr lang="en-US"/>
          </a:p>
        </p:txBody>
      </p:sp>
    </p:spTree>
    <p:extLst>
      <p:ext uri="{BB962C8B-B14F-4D97-AF65-F5344CB8AC3E}">
        <p14:creationId xmlns:p14="http://schemas.microsoft.com/office/powerpoint/2010/main" val="420054729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4F008D2-43B4-45EB-8E80-36DCF9CD046D}" type="datetimeFigureOut">
              <a:rPr lang="en-US" smtClean="0"/>
              <a:t>7/22/2026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6A8591F-50F3-4C40-9DA2-D793276CC051}" type="slidenum">
              <a:rPr lang="en-US" smtClean="0"/>
              <a:t>‹#›</a:t>
            </a:fld>
            <a:endParaRPr lang="en-US"/>
          </a:p>
        </p:txBody>
      </p:sp>
    </p:spTree>
    <p:extLst>
      <p:ext uri="{BB962C8B-B14F-4D97-AF65-F5344CB8AC3E}">
        <p14:creationId xmlns:p14="http://schemas.microsoft.com/office/powerpoint/2010/main" val="77999493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2.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3.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Start from why this matters. A missing architecture makes people ask questions. A wrong architecture answers them — wrongly. If the repository says the Examination Authority consumes the Learner Registry, and in reality it quietly built its own copy last quarter, then every decision made on the repository is built on a falsehood. Stale is worse than absent. Currency is not a nice-to-have. It is the whole value.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A repository has one enemy, and it is not technical. It is staleness. An architecture six months behind reality is worse than none — because people trust it, and it lies to them. Keeping it true is unglamorous and constant.</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Title card — the cold open. The hosts name the module, the video number, the title and the single message on this slide; no scripted narration. Hold until the opener begins; the opener is narrated on the next slide.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You have the four-layer picture of a sector. Where does it live? If the answer is a slide deck on your laptop, the architecture will be out of date within a month and disagreed with within two. It needs a home: the repository.</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A repository is not a building, and it is not a particular software product. It is the single, agreed store of your architecture. It holds three things. The four layers — the capabilities, data domains, applications and technology you mapped. The relationships — how they connect, using the shared entities. And the decisions — what the EA Board ruled, and why. One place. One version everyone trusts.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Why insist on one place? Because the moment there are two copies, they drift, and then they disagree. One ministry works from last year's picture; another from a newer one. People stop arguing about the architecture and start arguing about whose copy is right. A second copy does not add a backup — it destroys the single source of truth. One place, or effectively none.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Concretely, take Progressa's education sector. The repository holds the data domains and their owners — Person owned by the Identity Authority, Learner by the Learner Registry, examination results by the Examination Authority. It holds the capability map, the application portfolio, the shared technology. And it holds the decisions: when the Board ruled that the Examination Authority must consume the Learner Registry rather than keep its own list, that ruling lives in the repository, with its reason. Anyone can look up not just what the architecture is, but why it is that way.</a:t>
            </a:r>
          </a:p>
          <a:p/>
          <a:p>
            <a:r>
              <a:t>On screen: Progressa is a fictional demonstration country; institution names are plain-text labels, no emblems.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You do not need to buy anything to start. A well-structured spreadsheet, or a shared wiki, is a real repository if it holds the four layers, the relationships and the decisions, and if everyone uses it as the one source. Structure matters more than software. Many countries run a perfectly good early EA on a spreadsheet and a document store. The discipline of one place is what counts — not the price of the tool. When a spreadsheet starts to hurt, you graduate to a dedicated tool; the choice of tool is its own deliberate decision.</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The repository is also the object both sides point at: when the minister briefs cabinet and the architect designs a system they are looking at the same picture, which is what makes the architecture a shared language between the business side and the IT side instead of two private ones.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PRACTICE BOX (on-screen only — never read it, never paraphrase it, never point at it). It replaces the narrated handoff: this video ends on the recap and the Sources slide.</a:t>
            </a:r>
          </a:p>
          <a:p/>
          <a:p>
            <a:r>
              <a:t>VO: So before tooling, before governance, set up the one place — the single store of the layers, the relationships and the decisions. Let copies multiply, and no amount of governance will save the architecture.</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 slide, held ~5 seconds at the end of the video. Links are compiled into the YouTube description per ITU convention; no URLs read aloud.</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Title card — the cold open. The hosts name the module, the video number, the title and the single message on this slide; no scripted narration. Hold until the opener begins; the opener is narrated on the next slide.</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At some point a spreadsheet stops coping — hundreds of entities, several sectors, relationships you cannot see in rows and columns. Here is the danger: in buying a tool to help your government avoid vendor lock-in, you can lock yourself into the tool.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First, know when to graduate. The signs: you cannot see the relationships any more, because they are scattered across tabs. Several people edit and their changes collide. You cannot answer a simple cross-layer question — which systems touch the Person domain — without an afternoon of manual work. When the spreadsheet hurts in these specific ways, graduate. Not before. Buying a heavy tool too early just gives you an empty, expensive database.</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Then apply the same sourcing rule you apply to every system — reuse before buy, buy before build. Is there already a shared tooling platform your government runs that you can use? Is there an open-source EA tool that fits? Only then a bought product. Building your own EA tool is almost never right — it is the most bespoke choice for a problem many others have already solved. The rule you enforce on every ministry's project applies to your own tool too.</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The single most important rule: keep your architecture content in an open format you control. Before you adopt any tool, ask one question — can I export everything, in a format I can read without this tool, whenever I want? If the answer is no, the tool owns your architecture, not you. The content — the layers, the relationships, the decisions — is the asset. The tool is just a viewer. You must be able to change the viewer without losing the asset.</a:t>
            </a:r>
          </a:p>
          <a:p/>
          <a:p>
            <a:r>
              <a:t>The operative beat of the video. Hold the export question a beat longer than feels comfortable.</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One more trap. Every EA tool ships with its own built-in way of organising things — its own metamodel. The mistake is to let the tool's model quietly replace the one you adopted. You bend the tool to fit your entities and your principles — not the other way around. If a tool cannot represent your metamodel, that is a reason to question the tool, not to change your metamodel. The architecture is the content and the model. The tool serves them.</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PRACTICE BOX (on-screen only — never read it, never paraphrase it, never point at it). It replaces the narrated handoff: this video ends on the recap and the Sources slide.</a:t>
            </a:r>
          </a:p>
          <a:p/>
          <a:p>
            <a:r>
              <a:t>VO: Choose your tooling like any government system: graduate when the spreadsheet truly hurts, reuse before buy, buy before build, keep your content in open formats you control, and bend the tool to your metamodel.</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 slide, held ~5 seconds at the end of the video. Links are compiled into the YouTube description per ITU convention; no URLs read aloud.</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Title card — the cold open. The hosts name the module, the video number, the title and the single message on this slide; no scripted narration. Hold until the opener begins; the opener is narrated on the next slide.</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Cover for the combined Module 3 deck. Each section that follows is one standalone ~4–5 minute video. Module 2 taught the architect to read, model and assess a government; Module 3 is the practitioner rendering of Phase 5, Execute and Govern — the permanent practice that keeps the architecture alive after the assessment is done.</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Navigation slide for the combined deck; the videos ship standalone on YouTube. 3.1–3.3 build the home of the architecture and the discipline that keeps it true; 3.4–3.5 give it authority through the Board and the review gate; 3.6–3.7 are about proving it works and keeping it alive.</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First, name one owner. One person — usually the chief architect or a named custodian on the EA team — is accountable for the repository being current. Not a committee. Not everyone. When everyone owns currency, no one does. One name, one accountability. That person does not do all the updating, but they are answerable for whether the picture is true.</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Second, define what triggers an update. Not review it every year — that guarantees it is eleven months stale. Tie updates to events. A new system goes live: update the application layer. A system is retired: remove it. A new data domain appears: add it with its owner. The Board makes a decision: record it. A ministry reorganises: revise the capabilities. When a real-world change happens, the repository changes with it. Events drive updates, not the calendar.</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Third, check each change. Not a heavy process — a light gate. When something is added, confirm it uses the shared entities correctly, that every data domain still has exactly one owner, and that any decision is logged with its reason. This keeps the repository conformant as it grows. The check is small. Skipping it lets the repository fill with private-language entries and orphaned items until it is as messy as the reality it was meant to clarify.</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The cheapest moment to update the repository is when a project comes to the Board for review. The project tells you what it will build, what it will consume, what data it touches. That is exactly the information the repository needs. So tie the two together: a project that passes the gate leaves its architecture change in the repository as it goes. The governance process and the update discipline are the same motion, done once.</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PRACTICE BOX (on-screen only — never read it, never paraphrase it, never point at it). It replaces the narrated handoff: this video ends on the recap and the Sources slide.</a:t>
            </a:r>
          </a:p>
          <a:p/>
          <a:p>
            <a:r>
              <a:t>VO: Keep the repository true. One named owner. Updates triggered by events, not a yearly review. A light conformance check. Neglect it, and within a year you have a widely-trusted work of fiction.</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 slide, held ~5 seconds at the end of the video. Links are compiled into the YouTube description per ITU convention; no URLs read aloud.</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Title card — the cold open. The hosts name the module, the video number, the title and the single message on this slide; no scripted narration. Hold until the opener begins; the opener is narrated on the next slide.</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The repository holds the architecture; the Board is what gives it authority. Without a governance board the architecture is a document people can ignore. With a real one — that can say no — it becomes the place every significant digital decision passes through.</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Start with the one thing that matters. The Board must be binding, not advisory. An advisory board looks at a project, offers an opinion, and the project does whatever it was going to do. That is governance theatre — it produces minutes, not decisions. A binding board's rulings are a condition of proceeding: a project told to consume the shared identity platform does so, or it does not get funded. If you cannot get binding authority, you do not yet have a governance board. You have a discussion group.</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Who chairs it decides whether no sticks. The chair is your Chief Digitalisation Officer or its equivalent — or, in a smaller government, the minister directly. Senior enough that when the Board declines a powerful ministry's pet project, the decision holds. Note who does not chair it: you, the architect. You prepare the Board, you advise it, you bring the analysis. The authority to decide sits with someone who can carry it politically. The architect informs; the chair decides.</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Who sits on it: the people whose systems the decisions affect. The sector ministry CIOs. The owners of the major state registries — the identity authority, the population register. Where data-sharing is in play, the data-protection regulator. And, where useful, one external advisor for perspective. Keep it small enough to decide and broad enough that the decisions are owned by the people who must live with them. A Board of the right twelve is better than a Board of the convenient forty.</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Set a cadence that governs without becoming the bottleneck. Quarterly main meetings to review the architecture as a whole — what changed, what is drifting, what to prioritise. And a fast ad-hoc path for urgent project decisions, so a programme on a deadline is not stuck for three months waiting for the next quarterly. If the Board is slow, projects will route around it, and you are back to no governance. Binding authority plus responsiveness is what keeps projects coming through the front door.</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There is a deeper reason the Board matters. Redesigning how government serves citizens needs the business side and the IT side to decide together — and they need a regular place to do it. The Board is that place. The repository gives them the shared picture; the metamodel gives them shared words; the Board gives them the shared rhythm — a standing forum where, four times a year and whenever it is urgent, business and IT sit down and decide together. That standing rhythm is part of what an EA provides that no single project ever can.</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PRACTICE BOX (on-screen only — never read it, never paraphrase it, never point at it). It replaces the narrated handoff: this video ends on the recap and the Sources slide.</a:t>
            </a:r>
          </a:p>
          <a:p/>
          <a:p>
            <a:r>
              <a:t>VO: Stand up a Board that can say no: binding, not advisory, chaired by someone senior enough that the no sticks, made of the people whose systems are affected, on a rhythm that governs without blocking.</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 slide, held ~5 seconds at the end of the video. Links are compiled into the YouTube description per ITU convention; no URLs read aloud.</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Title card — the cold open. The hosts name the module, the video number, the title and the single message on this slide; no scripted narration. Hold until the opener begins; the opener is narrated on the next slide.</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A Board with authority needs something to do with it: the architecture review gate, where every significant new project passes through a short, consistent set of questions before it gets funded. This is where the architecture does its real work.</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The gate is a few questions, asked of every project, the same way every time. Does a shared building block already exist for what you want to build? What data domains will you touch, and do you consume the owning body's copy rather than make your own? Do you meet the architecture principles — security by design, once-only, the rest? What is your sourcing choice, and is it deliberate? Can you export your data in an open format? Five questions. Asked consistently. That consistency is what makes the gate fair and predictable, so projects prepare for it rather than resent it.</a:t>
            </a:r>
          </a:p>
          <a:p/>
          <a:p>
            <a:r>
              <a:t>Centrepiece of 3.5 — the gate drawn as one mechanism: proposal → the five questions → the Board rules → pass, or a time-boxed exception → the decision log. Reveal one question at a time, then hold the full flow on screen; the exception and log branches are what the next slides walk through.</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Here is why this gate matters more than any document. Inside a project, building your own is faster than reusing, so projects fragment — and no procurement rule can change that; only whole-of-government planning makes re-use rational. The gate is where that view meets the decision, while it can still be changed. When a project proposes to build what already exists as a shared block, the Board says: consume the shared one.</a:t>
            </a:r>
          </a:p>
          <a:p/>
          <a:p>
            <a:r>
              <a:t>The emotional peak of the module. This is the pivotal slide of 3.5 — let the closing line land before moving on.</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Sometimes the project is right. The shared identity platform genuinely cannot do what this project needs yet. So the gate is not a wall — it grants exceptions. But every exception is written down, with its reason, and given a sunset — a date when it is revisited. An exception without an expiry quietly becomes the permanent normal, and ten of them become the fragmentation you were trying to prevent. Grant exceptions honestly, record them, and make them temporary by default.</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Every decision the gate makes goes into the repository's decision log — what was decided, and why. This is the architecture's memory. Two years on, when someone asks why the Examination Authority is not allowed its own learner list, the answer is in the log, with the reasoning, not lost with the architect who has moved on. The decision log is also what makes the gate consistent: this project is treated the way the last similar one was, because the precedent is written down.</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PRACTICE BOX (on-screen only — never read it, never paraphrase it, never point at it). It replaces the narrated handoff: this video ends on the recap and the Sources slide.</a:t>
            </a:r>
          </a:p>
          <a:p/>
          <a:p>
            <a:r>
              <a:t>VO: So build the gate. A few questions, asked of every project the same way. A clear ruling — consume the shared block, or a written, time-boxed exception. Every decision logged with its reason.</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 slide, held ~5 seconds at the end of the video. Links are compiled into the YouTube description per ITU convention; no URLs read aloud.</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Title card — the cold open. The hosts name the module, the video number, the title and the single message on this slide; no scripted narration. Hold until the opener begins; the opener is narrated on the next slide.</a:t>
            </a:r>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Sooner or later your minister asks the fair question: is this EA work actually doing anything? You need an answer that is honest, short and true — a handful of metrics, not a fifty-page report. Pick them carefully.</a:t>
            </a:r>
          </a:p>
          <a:p/>
          <a:p>
            <a:r>
              <a:t>RETRIEVAL MOMENT: before the four-metrics slide, ask the viewer which single number they would put in front of the budget authority. The answer — the re-use rate — is delivered two slides on.</a:t>
            </a:r>
          </a:p>
        </p:txBody>
      </p:sp>
      <p:sp>
        <p:nvSpPr>
          <p:cNvPr id="4" name="Slide Number Placeholder 3"/>
          <p:cNvSpPr>
            <a:spLocks noGrp="1"/>
          </p:cNvSpPr>
          <p:nvPr>
            <p:ph type="sldNum" idx="5" sz="quarter"/>
          </p:nvPr>
        </p:nvSpPr>
        <p:spPr/>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Four metrics carry most of the signal. Coverage — how much of your government is actually in the repository, and current, not how many pages exist. Re-use rate — of the projects that came through the gate, how many consumed a shared building block instead of building their own. This is the one that shows the EA is paying for itself. Open exceptions — how many waivers are outstanding, and how old; a growing pile of aged exceptions is fragmentation returning. And decisions — how many gate decisions the Board made, and how fast, because a slow gate is one projects route around.</a:t>
            </a:r>
          </a:p>
        </p:txBody>
      </p:sp>
      <p:sp>
        <p:nvSpPr>
          <p:cNvPr id="4" name="Slide Number Placeholder 3"/>
          <p:cNvSpPr>
            <a:spLocks noGrp="1"/>
          </p:cNvSpPr>
          <p:nvPr>
            <p:ph type="sldNum" idx="5" sz="quarter"/>
          </p:nvPr>
        </p:nvSpPr>
        <p:spPr/>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Of the four, the re-use rate is the one to put in front of the budget authority. Every project that consumed the shared identity platform instead of building its own is a system the country paid for once instead of many times. Tracked over a year, a rising re-use rate is the closest thing you have to proof that the EA is returning its cost. It turns the abstract argument — planning enables re-use — into a number that goes up. That is the metric that protects your funding.</a:t>
            </a:r>
          </a:p>
          <a:p/>
          <a:p>
            <a:r>
              <a:t>This answers the retrieval prompt set on the section slide.</a:t>
            </a:r>
          </a:p>
        </p:txBody>
      </p:sp>
      <p:sp>
        <p:nvSpPr>
          <p:cNvPr id="4" name="Slide Number Placeholder 3"/>
          <p:cNvSpPr>
            <a:spLocks noGrp="1"/>
          </p:cNvSpPr>
          <p:nvPr>
            <p:ph type="sldNum" idx="5" sz="quarter"/>
          </p:nvPr>
        </p:nvSpPr>
        <p:spPr/>
      </p:sp>
    </p:spTree>
  </p:cSld>
  <p:clrMapOvr>
    <a:masterClrMapping/>
  </p:clrMapOvr>
</p:notes>
</file>

<file path=ppt/notesSlides/notesSlide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Avoid the vanity metrics. The number of diagrams drawn, pages written, meetings held — these measure activity, not effect. A programme can produce a thousand pages and change nothing. Worse, busy-looking metrics let a stalled EA hide. If a metric would still go up while the architecture quietly stopped mattering, it is the wrong metric. Measure what the EA changes — re-use, coverage, decisions — not how busy the team looks.</a:t>
            </a:r>
          </a:p>
        </p:txBody>
      </p:sp>
      <p:sp>
        <p:nvSpPr>
          <p:cNvPr id="4" name="Slide Number Placeholder 3"/>
          <p:cNvSpPr>
            <a:spLocks noGrp="1"/>
          </p:cNvSpPr>
          <p:nvPr>
            <p:ph type="sldNum" idx="5" sz="quarter"/>
          </p:nvPr>
        </p:nvSpPr>
        <p:spPr/>
      </p:sp>
    </p:spTree>
  </p:cSld>
  <p:clrMapOvr>
    <a:masterClrMapping/>
  </p:clrMapOvr>
</p:notes>
</file>

<file path=ppt/notesSlides/notesSlide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Report the four on a single page, every quarter, to the Board and the minister. Include what is not working — the coverage gap in a sector nobody will let you near, the aging exceptions a powerful ministry will not close. The temptation is to show only green. Resist it. A scorecard that is honestly amber where it should be is what builds the trust that keeps the EA funded across a change of minister. A scorecard that is always green is one nobody believes the second time.</a:t>
            </a:r>
          </a:p>
        </p:txBody>
      </p:sp>
      <p:sp>
        <p:nvSpPr>
          <p:cNvPr id="4" name="Slide Number Placeholder 3"/>
          <p:cNvSpPr>
            <a:spLocks noGrp="1"/>
          </p:cNvSpPr>
          <p:nvPr>
            <p:ph type="sldNum" idx="5" sz="quarter"/>
          </p:nvPr>
        </p:nvSpPr>
        <p:spPr/>
      </p:sp>
    </p:spTree>
  </p:cSld>
  <p:clrMapOvr>
    <a:masterClrMapping/>
  </p:clrMapOvr>
</p:notes>
</file>

<file path=ppt/notesSlides/notesSlide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PRACTICE BOX (on-screen only — never read it, never paraphrase it, never point at it). It replaces the narrated handoff: this video ends on the recap and the Sources slide.</a:t>
            </a:r>
          </a:p>
          <a:p/>
          <a:p>
            <a:r>
              <a:t>VO: So measure a few things, honestly. Coverage. Re-use rate. Open exceptions. Decisions made and how fast. On one page, every quarter, amber where they should be amber.</a:t>
            </a:r>
          </a:p>
        </p:txBody>
      </p:sp>
      <p:sp>
        <p:nvSpPr>
          <p:cNvPr id="4" name="Slide Number Placeholder 3"/>
          <p:cNvSpPr>
            <a:spLocks noGrp="1"/>
          </p:cNvSpPr>
          <p:nvPr>
            <p:ph type="sldNum" idx="5" sz="quarter"/>
          </p:nvPr>
        </p:nvSpPr>
        <p:spPr/>
      </p:sp>
    </p:spTree>
  </p:cSld>
  <p:clrMapOvr>
    <a:masterClrMapping/>
  </p:clrMapOvr>
</p:notes>
</file>

<file path=ppt/notesSlides/notesSlide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 slide, held ~5 seconds at the end of the video. Links are compiled into the YouTube description per ITU convention; no URLs read aloud.</a:t>
            </a:r>
          </a:p>
        </p:txBody>
      </p:sp>
      <p:sp>
        <p:nvSpPr>
          <p:cNvPr id="4" name="Slide Number Placeholder 3"/>
          <p:cNvSpPr>
            <a:spLocks noGrp="1"/>
          </p:cNvSpPr>
          <p:nvPr>
            <p:ph type="sldNum" idx="5" sz="quarter"/>
          </p:nvPr>
        </p:nvSpPr>
        <p:spPr/>
      </p:sp>
    </p:spTree>
  </p:cSld>
  <p:clrMapOvr>
    <a:masterClrMapping/>
  </p:clrMapOvr>
</p:notes>
</file>

<file path=ppt/notesSlides/notesSlide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Title card — the cold open. The hosts name the module, the video number, the title and the single message on this slide; no scripted narration. Hold until the opener begins; the opener is narrated on the next slide.</a:t>
            </a:r>
          </a:p>
        </p:txBody>
      </p:sp>
      <p:sp>
        <p:nvSpPr>
          <p:cNvPr id="4" name="Slide Number Placeholder 3"/>
          <p:cNvSpPr>
            <a:spLocks noGrp="1"/>
          </p:cNvSpPr>
          <p:nvPr>
            <p:ph type="sldNum" idx="5" sz="quarter"/>
          </p:nvPr>
        </p:nvSpPr>
        <p:spPr/>
      </p:sp>
    </p:spTree>
  </p:cSld>
  <p:clrMapOvr>
    <a:masterClrMapping/>
  </p:clrMapOvr>
</p:notes>
</file>

<file path=ppt/notesSlides/notesSlide5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Most EA programmes do not fail dramatically. They fade. The first six months go well; then, somewhere in the second year, the practice quietly stops mattering. The fade is predictable, and it comes in four forms.</a:t>
            </a:r>
          </a:p>
          <a:p/>
          <a:p>
            <a:r>
              <a:t>RETRIEVAL MOMENT: before the first fade slide, ask the viewer to name the ways they have seen a programme fade. The four answers are delivered on the next four slides, one each.</a:t>
            </a:r>
          </a:p>
        </p:txBody>
      </p:sp>
      <p:sp>
        <p:nvSpPr>
          <p:cNvPr id="4" name="Slide Number Placeholder 3"/>
          <p:cNvSpPr>
            <a:spLocks noGrp="1"/>
          </p:cNvSpPr>
          <p:nvPr>
            <p:ph type="sldNum" idx="5" sz="quarter"/>
          </p:nvPr>
        </p:nvSpPr>
        <p:spPr/>
      </p:sp>
    </p:spTree>
  </p:cSld>
  <p:clrMapOvr>
    <a:masterClrMapping/>
  </p:clrMapOvr>
</p:notes>
</file>

<file path=ppt/notesSlides/notesSlide5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The first fade: the team gets pulled away. A flagship programme runs into trouble and needs skilled people. Your architects are the obvious choice. They are seconded just for a few months, and the architecture work stops. This is the most common way EA programmes die. The counter is a protection promise — an explicit, written commitment that the EA team will not be pulled onto the urgent project of the week — and it must be recommitted whenever the minister or the sponsor changes, because the new one never feels bound by the old one's promise.</a:t>
            </a:r>
          </a:p>
        </p:txBody>
      </p:sp>
      <p:sp>
        <p:nvSpPr>
          <p:cNvPr id="4" name="Slide Number Placeholder 3"/>
          <p:cNvSpPr>
            <a:spLocks noGrp="1"/>
          </p:cNvSpPr>
          <p:nvPr>
            <p:ph type="sldNum" idx="5" sz="quarter"/>
          </p:nvPr>
        </p:nvSpPr>
        <p:spPr/>
      </p:sp>
    </p:spTree>
  </p:cSld>
  <p:clrMapOvr>
    <a:masterClrMapping/>
  </p:clrMapOvr>
</p:notes>
</file>

<file path=ppt/notesSlides/notesSlide5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The second fade: the repository goes stale. Updates slip during a busy quarter. The picture drifts from reality. Someone relies on it, gets burned, and word spreads that the repository cannot be trusted. Once trust goes, people stop using it, and an unused repository is a dead one. The counter is the update discipline — one named owner accountable for currency, updates tied to real events and to the review gate, so the repository stays true as a by-product of work that happens anyway.</a:t>
            </a:r>
          </a:p>
        </p:txBody>
      </p:sp>
      <p:sp>
        <p:nvSpPr>
          <p:cNvPr id="4" name="Slide Number Placeholder 3"/>
          <p:cNvSpPr>
            <a:spLocks noGrp="1"/>
          </p:cNvSpPr>
          <p:nvPr>
            <p:ph type="sldNum" idx="5" sz="quarter"/>
          </p:nvPr>
        </p:nvSpPr>
        <p:spPr/>
      </p:sp>
    </p:spTree>
  </p:cSld>
  <p:clrMapOvr>
    <a:masterClrMapping/>
  </p:clrMapOvr>
</p:notes>
</file>

<file path=ppt/notesSlides/notesSlide5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The third fade: the Board drifts back to advisory. Under delivery pressure, a powerful project is let through despite the Board's objection. Then another. The Board's no quietly becomes a suggestion, projects learn they can route around it, and within a year it is a discussion group again. The counter is to protect the binding authority deliberately — and to track and report every time the Board is overruled. Sunlight on overrides is what keeps the authority real; a Board overruled in silence is a Board being dismantled.</a:t>
            </a:r>
          </a:p>
        </p:txBody>
      </p:sp>
      <p:sp>
        <p:nvSpPr>
          <p:cNvPr id="4" name="Slide Number Placeholder 3"/>
          <p:cNvSpPr>
            <a:spLocks noGrp="1"/>
          </p:cNvSpPr>
          <p:nvPr>
            <p:ph type="sldNum" idx="5" sz="quarter"/>
          </p:nvPr>
        </p:nvSpPr>
        <p:spPr/>
      </p:sp>
    </p:spTree>
  </p:cSld>
  <p:clrMapOvr>
    <a:masterClrMapping/>
  </p:clrMapOvr>
</p:notes>
</file>

<file path=ppt/notesSlides/notesSlide5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The fourth fade: the sponsor changes. The minister or the digitalisation officer who championed the EA moves on. The successor has their own priorities and no attachment to this one. The counter is to make the EA outlive its sponsor — institutionalise it. A legal mandate for the Board, not just a memo. A budget line, not an annual favour. And the one-page scorecard, so a new sponsor can see in five minutes that the EA is returning its cost. An EA that depends on one champion dies with that champion's tenure. One that is institutionalised survives the handover.</a:t>
            </a:r>
          </a:p>
        </p:txBody>
      </p:sp>
      <p:sp>
        <p:nvSpPr>
          <p:cNvPr id="4" name="Slide Number Placeholder 3"/>
          <p:cNvSpPr>
            <a:spLocks noGrp="1"/>
          </p:cNvSpPr>
          <p:nvPr>
            <p:ph type="sldNum" idx="5" sz="quarter"/>
          </p:nvPr>
        </p:nvSpPr>
        <p:spPr/>
      </p:sp>
    </p:spTree>
  </p:cSld>
  <p:clrMapOvr>
    <a:masterClrMapping/>
  </p:clrMapOvr>
</p:notes>
</file>

<file path=ppt/notesSlides/notesSlide6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One honest thing to carry. A mature EA practice takes about five years. The architect who stands it up is rarely the one who sees it mature. That is not a reason for discouragement — it is the job. You are building something designed to outlast you: a repository that stays true without you, a Board that holds without you, a mandate that survives the next election. Build it to survive you, and you have done the work. Build it to depend on you, and it fades the moment you leave.</a:t>
            </a:r>
          </a:p>
        </p:txBody>
      </p:sp>
      <p:sp>
        <p:nvSpPr>
          <p:cNvPr id="4" name="Slide Number Placeholder 3"/>
          <p:cNvSpPr>
            <a:spLocks noGrp="1"/>
          </p:cNvSpPr>
          <p:nvPr>
            <p:ph type="sldNum" idx="5" sz="quarter"/>
          </p:nvPr>
        </p:nvSpPr>
        <p:spPr/>
      </p:sp>
    </p:spTree>
  </p:cSld>
  <p:clrMapOvr>
    <a:masterClrMapping/>
  </p:clrMapOvr>
</p:notes>
</file>

<file path=ppt/notesSlides/notesSlide6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PRACTICE BOX (on-screen only — never read it, never paraphrase it, never point at it). It replaces the narrated handoff: this video ends on the recap and the Sources slide.</a:t>
            </a:r>
          </a:p>
          <a:p/>
          <a:p>
            <a:r>
              <a:t>VO: Watch for the four fades — the team pulled, the repository stale, the Board gone advisory, the sponsor changed — and counter each. Keep the practice alive past year two, and the architecture becomes how government works.</a:t>
            </a:r>
          </a:p>
        </p:txBody>
      </p:sp>
      <p:sp>
        <p:nvSpPr>
          <p:cNvPr id="4" name="Slide Number Placeholder 3"/>
          <p:cNvSpPr>
            <a:spLocks noGrp="1"/>
          </p:cNvSpPr>
          <p:nvPr>
            <p:ph type="sldNum" idx="5" sz="quarter"/>
          </p:nvPr>
        </p:nvSpPr>
        <p:spPr/>
      </p:sp>
    </p:spTree>
  </p:cSld>
  <p:clrMapOvr>
    <a:masterClrMapping/>
  </p:clrMapOvr>
</p:notes>
</file>

<file path=ppt/notesSlides/notesSlide6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 slide, held ~5 seconds at the end of the video. Links are compiled into the YouTube description per ITU convention; no URLs read aloud.</a:t>
            </a:r>
          </a:p>
        </p:txBody>
      </p:sp>
      <p:sp>
        <p:nvSpPr>
          <p:cNvPr id="4" name="Slide Number Placeholder 3"/>
          <p:cNvSpPr>
            <a:spLocks noGrp="1"/>
          </p:cNvSpPr>
          <p:nvPr>
            <p:ph type="sldNum" idx="5" sz="quarter"/>
          </p:nvPr>
        </p:nvSpPr>
        <p:spPr/>
      </p:sp>
    </p:spTree>
  </p:cSld>
  <p:clrMapOvr>
    <a:masterClrMapping/>
  </p:clrMapOvr>
</p:notes>
</file>

<file path=ppt/notesSlides/notesSlide6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Closing slide for the combined deck. Individual videos end on their sources slide instead.</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Grey margin-Content with Caption (White bg)">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2CF752D4-D41F-48C8-BC93-770A10B9CEFC}"/>
              </a:ext>
            </a:extLst>
          </p:cNvPr>
          <p:cNvSpPr>
            <a:spLocks noGrp="1"/>
          </p:cNvSpPr>
          <p:nvPr>
            <p:ph type="body" sz="half" idx="2" hasCustomPrompt="1"/>
          </p:nvPr>
        </p:nvSpPr>
        <p:spPr>
          <a:xfrm>
            <a:off x="728691" y="1959151"/>
            <a:ext cx="4090872" cy="4200245"/>
          </a:xfrm>
        </p:spPr>
        <p:txBody>
          <a:bodyPr>
            <a:noAutofit/>
          </a:bodyPr>
          <a:lstStyle>
            <a:lvl1pPr marL="0" indent="0">
              <a:lnSpc>
                <a:spcPts val="2400"/>
              </a:lnSpc>
              <a:buNone/>
              <a:defRPr sz="1800" spc="20" baseline="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
        <p:nvSpPr>
          <p:cNvPr id="13" name="Text Placeholder 3">
            <a:extLst>
              <a:ext uri="{FF2B5EF4-FFF2-40B4-BE49-F238E27FC236}">
                <a16:creationId xmlns:a16="http://schemas.microsoft.com/office/drawing/2014/main" id="{3E0F6D26-4165-4298-B9DF-69A0CA57C654}"/>
              </a:ext>
            </a:extLst>
          </p:cNvPr>
          <p:cNvSpPr>
            <a:spLocks noGrp="1"/>
          </p:cNvSpPr>
          <p:nvPr>
            <p:ph type="body" sz="half" idx="14" hasCustomPrompt="1"/>
          </p:nvPr>
        </p:nvSpPr>
        <p:spPr>
          <a:xfrm>
            <a:off x="5018432" y="1959150"/>
            <a:ext cx="4090872" cy="4200245"/>
          </a:xfrm>
        </p:spPr>
        <p:txBody>
          <a:bodyPr>
            <a:noAutofit/>
          </a:bodyPr>
          <a:lstStyle>
            <a:lvl1pPr marL="0" indent="0">
              <a:lnSpc>
                <a:spcPts val="2400"/>
              </a:lnSpc>
              <a:buNone/>
              <a:defRPr sz="1800" spc="20" baseline="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
        <p:nvSpPr>
          <p:cNvPr id="17" name="Title 1">
            <a:extLst>
              <a:ext uri="{FF2B5EF4-FFF2-40B4-BE49-F238E27FC236}">
                <a16:creationId xmlns:a16="http://schemas.microsoft.com/office/drawing/2014/main" id="{CED336FC-6E45-4A2D-A5AB-BE24E693E093}"/>
              </a:ext>
            </a:extLst>
          </p:cNvPr>
          <p:cNvSpPr>
            <a:spLocks noGrp="1"/>
          </p:cNvSpPr>
          <p:nvPr>
            <p:ph type="title" hasCustomPrompt="1"/>
          </p:nvPr>
        </p:nvSpPr>
        <p:spPr>
          <a:xfrm>
            <a:off x="728691" y="1265849"/>
            <a:ext cx="9051731" cy="502882"/>
          </a:xfrm>
          <a:prstGeom prst="rect">
            <a:avLst/>
          </a:prstGeom>
        </p:spPr>
        <p:txBody>
          <a:bodyPr>
            <a:noAutofit/>
          </a:bodyPr>
          <a:lstStyle>
            <a:lvl1pPr>
              <a:defRPr sz="2800"/>
            </a:lvl1pPr>
          </a:lstStyle>
          <a:p>
            <a:pPr lvl="0"/>
            <a:r>
              <a:rPr lang="en-US" dirty="0"/>
              <a:t>Click to edit Master text styles</a:t>
            </a:r>
          </a:p>
        </p:txBody>
      </p:sp>
      <p:cxnSp>
        <p:nvCxnSpPr>
          <p:cNvPr id="8" name="Straight Connector 7">
            <a:extLst>
              <a:ext uri="{FF2B5EF4-FFF2-40B4-BE49-F238E27FC236}">
                <a16:creationId xmlns:a16="http://schemas.microsoft.com/office/drawing/2014/main" id="{20EB37B9-0614-41D6-8AFE-EB91B451A9F5}"/>
              </a:ext>
            </a:extLst>
          </p:cNvPr>
          <p:cNvCxnSpPr/>
          <p:nvPr userDrawn="1"/>
        </p:nvCxnSpPr>
        <p:spPr>
          <a:xfrm>
            <a:off x="614783"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9" name="Text Placeholder 3">
            <a:extLst>
              <a:ext uri="{FF2B5EF4-FFF2-40B4-BE49-F238E27FC236}">
                <a16:creationId xmlns:a16="http://schemas.microsoft.com/office/drawing/2014/main" id="{CFE8CDBB-5A4D-4444-85CC-7578EF050F69}"/>
              </a:ext>
            </a:extLst>
          </p:cNvPr>
          <p:cNvSpPr>
            <a:spLocks noGrp="1"/>
          </p:cNvSpPr>
          <p:nvPr>
            <p:ph type="body" sz="quarter" idx="12" hasCustomPrompt="1"/>
          </p:nvPr>
        </p:nvSpPr>
        <p:spPr>
          <a:xfrm>
            <a:off x="614783"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718176021"/>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wo column - Title column">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A8D6A0DE-A965-4E02-8A8B-981E2FDE590E}"/>
              </a:ext>
            </a:extLst>
          </p:cNvPr>
          <p:cNvSpPr>
            <a:spLocks noGrp="1"/>
          </p:cNvSpPr>
          <p:nvPr>
            <p:ph type="body" idx="1"/>
          </p:nvPr>
        </p:nvSpPr>
        <p:spPr>
          <a:xfrm>
            <a:off x="728687" y="1994663"/>
            <a:ext cx="4860830" cy="496095"/>
          </a:xfrm>
        </p:spPr>
        <p:txBody>
          <a:bodyPr anchor="t">
            <a:noAutofit/>
          </a:bodyPr>
          <a:lstStyle>
            <a:lvl1pPr marL="0" indent="0">
              <a:lnSpc>
                <a:spcPts val="2400"/>
              </a:lnSpc>
              <a:buNone/>
              <a:defRPr sz="1800" b="0" spc="3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2B820F59-7539-405E-B005-C5C92782E908}"/>
              </a:ext>
            </a:extLst>
          </p:cNvPr>
          <p:cNvSpPr>
            <a:spLocks noGrp="1"/>
          </p:cNvSpPr>
          <p:nvPr>
            <p:ph sz="half" idx="2" hasCustomPrompt="1"/>
          </p:nvPr>
        </p:nvSpPr>
        <p:spPr>
          <a:xfrm>
            <a:off x="728687" y="2490758"/>
            <a:ext cx="4860830" cy="3445987"/>
          </a:xfrm>
        </p:spPr>
        <p:txBody>
          <a:bodyPr>
            <a:noAutofit/>
          </a:bodyPr>
          <a:lstStyle>
            <a:lvl1pPr marL="228600" indent="-137160">
              <a:lnSpc>
                <a:spcPts val="2400"/>
              </a:lnSpc>
              <a:buClr>
                <a:srgbClr val="009CD6"/>
              </a:buClr>
              <a:buSzPct val="104000"/>
              <a:buFont typeface="Arial" panose="020B0604020202020204" pitchFamily="34" charset="0"/>
              <a:buChar char="•"/>
              <a:defRPr sz="1800" spc="30" baseline="0"/>
            </a:lvl1pPr>
            <a:lvl2pPr marL="685800" indent="-137160">
              <a:lnSpc>
                <a:spcPts val="2400"/>
              </a:lnSpc>
              <a:buClr>
                <a:srgbClr val="009CD6"/>
              </a:buClr>
              <a:buFont typeface="Arial" panose="020B0604020202020204" pitchFamily="34" charset="0"/>
              <a:buChar char="•"/>
              <a:defRPr sz="1800" spc="30" baseline="0"/>
            </a:lvl2pPr>
          </a:lstStyle>
          <a:p>
            <a:pPr lvl="0"/>
            <a:r>
              <a:rPr lang="en-US" dirty="0"/>
              <a:t>Second level</a:t>
            </a:r>
          </a:p>
          <a:p>
            <a:pPr lvl="1"/>
            <a:r>
              <a:rPr lang="en-US" dirty="0"/>
              <a:t>Third level</a:t>
            </a:r>
          </a:p>
        </p:txBody>
      </p:sp>
      <p:sp>
        <p:nvSpPr>
          <p:cNvPr id="17" name="Text Placeholder 2">
            <a:extLst>
              <a:ext uri="{FF2B5EF4-FFF2-40B4-BE49-F238E27FC236}">
                <a16:creationId xmlns:a16="http://schemas.microsoft.com/office/drawing/2014/main" id="{9AE6D208-1F00-412A-86E9-1A7081F56572}"/>
              </a:ext>
            </a:extLst>
          </p:cNvPr>
          <p:cNvSpPr>
            <a:spLocks noGrp="1"/>
          </p:cNvSpPr>
          <p:nvPr>
            <p:ph type="body" idx="10"/>
          </p:nvPr>
        </p:nvSpPr>
        <p:spPr>
          <a:xfrm>
            <a:off x="5892510" y="1994663"/>
            <a:ext cx="4751106" cy="496095"/>
          </a:xfrm>
        </p:spPr>
        <p:txBody>
          <a:bodyPr anchor="t">
            <a:noAutofit/>
          </a:bodyPr>
          <a:lstStyle>
            <a:lvl1pPr marL="0" indent="0">
              <a:lnSpc>
                <a:spcPts val="2400"/>
              </a:lnSpc>
              <a:buNone/>
              <a:defRPr sz="1800" b="0" spc="3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8" name="Content Placeholder 3">
            <a:extLst>
              <a:ext uri="{FF2B5EF4-FFF2-40B4-BE49-F238E27FC236}">
                <a16:creationId xmlns:a16="http://schemas.microsoft.com/office/drawing/2014/main" id="{B8B83478-806A-4C07-A7A7-0CDF7E621EB5}"/>
              </a:ext>
            </a:extLst>
          </p:cNvPr>
          <p:cNvSpPr>
            <a:spLocks noGrp="1"/>
          </p:cNvSpPr>
          <p:nvPr>
            <p:ph sz="half" idx="11" hasCustomPrompt="1"/>
          </p:nvPr>
        </p:nvSpPr>
        <p:spPr>
          <a:xfrm>
            <a:off x="5892510" y="2490758"/>
            <a:ext cx="4751106" cy="3445987"/>
          </a:xfrm>
        </p:spPr>
        <p:txBody>
          <a:bodyPr>
            <a:noAutofit/>
          </a:bodyPr>
          <a:lstStyle>
            <a:lvl1pPr marL="228600" indent="-137160">
              <a:lnSpc>
                <a:spcPts val="2400"/>
              </a:lnSpc>
              <a:buClr>
                <a:srgbClr val="009CD6"/>
              </a:buClr>
              <a:buSzPct val="104000"/>
              <a:buFont typeface="Arial" panose="020B0604020202020204" pitchFamily="34" charset="0"/>
              <a:buChar char="•"/>
              <a:defRPr sz="1800" spc="30" baseline="0"/>
            </a:lvl1pPr>
            <a:lvl2pPr marL="685800" indent="-137160">
              <a:lnSpc>
                <a:spcPts val="2400"/>
              </a:lnSpc>
              <a:buClr>
                <a:srgbClr val="009CD6"/>
              </a:buClr>
              <a:buFont typeface="Arial" panose="020B0604020202020204" pitchFamily="34" charset="0"/>
              <a:buChar char="•"/>
              <a:defRPr sz="1800" spc="30" baseline="0"/>
            </a:lvl2pPr>
          </a:lstStyle>
          <a:p>
            <a:pPr lvl="0"/>
            <a:r>
              <a:rPr lang="en-US" dirty="0"/>
              <a:t>Second level</a:t>
            </a:r>
          </a:p>
          <a:p>
            <a:pPr lvl="1"/>
            <a:r>
              <a:rPr lang="en-US" dirty="0"/>
              <a:t>Third level</a:t>
            </a:r>
          </a:p>
        </p:txBody>
      </p:sp>
      <p:sp>
        <p:nvSpPr>
          <p:cNvPr id="13" name="Title 1">
            <a:extLst>
              <a:ext uri="{FF2B5EF4-FFF2-40B4-BE49-F238E27FC236}">
                <a16:creationId xmlns:a16="http://schemas.microsoft.com/office/drawing/2014/main" id="{20A48B77-BCF1-4349-8EF0-B33A1789375A}"/>
              </a:ext>
            </a:extLst>
          </p:cNvPr>
          <p:cNvSpPr>
            <a:spLocks noGrp="1"/>
          </p:cNvSpPr>
          <p:nvPr>
            <p:ph type="title" hasCustomPrompt="1"/>
          </p:nvPr>
        </p:nvSpPr>
        <p:spPr>
          <a:xfrm>
            <a:off x="728687" y="1238515"/>
            <a:ext cx="9914929" cy="635902"/>
          </a:xfrm>
          <a:prstGeom prst="rect">
            <a:avLst/>
          </a:prstGeom>
        </p:spPr>
        <p:txBody>
          <a:bodyPr>
            <a:noAutofit/>
          </a:bodyPr>
          <a:lstStyle>
            <a:lvl1pPr>
              <a:defRPr sz="2800"/>
            </a:lvl1pPr>
          </a:lstStyle>
          <a:p>
            <a:pPr lvl="0"/>
            <a:r>
              <a:rPr lang="en-US" dirty="0"/>
              <a:t>Click to edit Master text styles</a:t>
            </a:r>
          </a:p>
        </p:txBody>
      </p:sp>
      <p:cxnSp>
        <p:nvCxnSpPr>
          <p:cNvPr id="11" name="Straight Connector 10">
            <a:extLst>
              <a:ext uri="{FF2B5EF4-FFF2-40B4-BE49-F238E27FC236}">
                <a16:creationId xmlns:a16="http://schemas.microsoft.com/office/drawing/2014/main" id="{CCE4054A-3251-41A6-8BA5-67C64EF3E610}"/>
              </a:ext>
            </a:extLst>
          </p:cNvPr>
          <p:cNvCxnSpPr/>
          <p:nvPr userDrawn="1"/>
        </p:nvCxnSpPr>
        <p:spPr>
          <a:xfrm>
            <a:off x="614780"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2" name="Text Placeholder 3">
            <a:extLst>
              <a:ext uri="{FF2B5EF4-FFF2-40B4-BE49-F238E27FC236}">
                <a16:creationId xmlns:a16="http://schemas.microsoft.com/office/drawing/2014/main" id="{F8E1AD81-2712-4CFB-B585-60CDC561D6F4}"/>
              </a:ext>
            </a:extLst>
          </p:cNvPr>
          <p:cNvSpPr>
            <a:spLocks noGrp="1"/>
          </p:cNvSpPr>
          <p:nvPr>
            <p:ph type="body" sz="quarter" idx="12" hasCustomPrompt="1"/>
          </p:nvPr>
        </p:nvSpPr>
        <p:spPr>
          <a:xfrm>
            <a:off x="614780"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88038879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wo column bullet lis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C078E5A-AB76-4634-8AD9-64C991C6FC02}"/>
              </a:ext>
            </a:extLst>
          </p:cNvPr>
          <p:cNvSpPr>
            <a:spLocks noGrp="1"/>
          </p:cNvSpPr>
          <p:nvPr>
            <p:ph sz="half" idx="1" hasCustomPrompt="1"/>
          </p:nvPr>
        </p:nvSpPr>
        <p:spPr>
          <a:xfrm>
            <a:off x="721372" y="2040524"/>
            <a:ext cx="4393315" cy="4125355"/>
          </a:xfrm>
        </p:spPr>
        <p:txBody>
          <a:bodyPr>
            <a:noAutofit/>
          </a:bodyPr>
          <a:lstStyle>
            <a:lvl1pPr marL="228600" indent="-137160">
              <a:buClr>
                <a:srgbClr val="009CD6"/>
              </a:buClr>
              <a:buFont typeface="Arial" panose="020B0604020202020204" pitchFamily="34" charset="0"/>
              <a:buChar char="•"/>
              <a:defRPr lang="en-US" spc="20" dirty="0"/>
            </a:lvl1pPr>
            <a:lvl2pPr marL="685800" indent="-137160">
              <a:buClr>
                <a:srgbClr val="009CD6"/>
              </a:buClr>
              <a:buFont typeface="Arial" panose="020B0604020202020204" pitchFamily="34" charset="0"/>
              <a:buChar char="•"/>
              <a:defRPr lang="en-US" spc="20" dirty="0"/>
            </a:lvl2pPr>
            <a:lvl3pPr marL="1143000" indent="-137160">
              <a:buClr>
                <a:srgbClr val="009CD6"/>
              </a:buClr>
              <a:buFont typeface="Arial" panose="020B0604020202020204" pitchFamily="34" charset="0"/>
              <a:buChar char="•"/>
              <a:defRPr lang="en-US" spc="20" dirty="0"/>
            </a:lvl3pPr>
            <a:lvl4pPr marL="1600200" indent="-137160">
              <a:buClr>
                <a:srgbClr val="009CD6"/>
              </a:buClr>
              <a:buFont typeface="Arial" panose="020B0604020202020204" pitchFamily="34" charset="0"/>
              <a:buChar char="•"/>
              <a:defRPr lang="en-US" spc="20" dirty="0"/>
            </a:lvl4pPr>
            <a:lvl5pPr>
              <a:buClr>
                <a:srgbClr val="5B9BD5"/>
              </a:buClr>
              <a:defRPr spc="0"/>
            </a:lvl5p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4" name="Content Placeholder 3">
            <a:extLst>
              <a:ext uri="{FF2B5EF4-FFF2-40B4-BE49-F238E27FC236}">
                <a16:creationId xmlns:a16="http://schemas.microsoft.com/office/drawing/2014/main" id="{4198F227-A22B-432C-84DE-6E0A3BE38D63}"/>
              </a:ext>
            </a:extLst>
          </p:cNvPr>
          <p:cNvSpPr>
            <a:spLocks noGrp="1"/>
          </p:cNvSpPr>
          <p:nvPr>
            <p:ph sz="half" idx="2" hasCustomPrompt="1"/>
          </p:nvPr>
        </p:nvSpPr>
        <p:spPr>
          <a:xfrm>
            <a:off x="5460255" y="2040523"/>
            <a:ext cx="4393316" cy="4126191"/>
          </a:xfrm>
        </p:spPr>
        <p:txBody>
          <a:bodyPr>
            <a:noAutofit/>
          </a:bodyPr>
          <a:lstStyle>
            <a:lvl1pPr marL="228600" indent="-137160">
              <a:buClr>
                <a:srgbClr val="009CD6"/>
              </a:buClr>
              <a:buFont typeface="Arial" panose="020B0604020202020204" pitchFamily="34" charset="0"/>
              <a:buChar char="•"/>
              <a:defRPr lang="en-US" spc="20" dirty="0"/>
            </a:lvl1pPr>
            <a:lvl2pPr marL="685800" indent="-137160">
              <a:buClr>
                <a:srgbClr val="009CD6"/>
              </a:buClr>
              <a:buFont typeface="Arial" panose="020B0604020202020204" pitchFamily="34" charset="0"/>
              <a:buChar char="•"/>
              <a:defRPr lang="en-US" spc="20" dirty="0"/>
            </a:lvl2pPr>
            <a:lvl3pPr marL="1143000" indent="-137160">
              <a:buClr>
                <a:srgbClr val="009CD6"/>
              </a:buClr>
              <a:buFont typeface="Arial" panose="020B0604020202020204" pitchFamily="34" charset="0"/>
              <a:buChar char="•"/>
              <a:defRPr lang="en-US" spc="20" dirty="0"/>
            </a:lvl3pPr>
            <a:lvl4pPr marL="1600200" indent="-137160">
              <a:buClr>
                <a:srgbClr val="009CD6"/>
              </a:buClr>
              <a:buFont typeface="Arial" panose="020B0604020202020204" pitchFamily="34" charset="0"/>
              <a:buChar char="•"/>
              <a:defRPr lang="en-US" spc="20" dirty="0"/>
            </a:lvl4pPr>
            <a:lvl5pPr>
              <a:buClr>
                <a:srgbClr val="5B9BD5"/>
              </a:buClr>
              <a:defRPr spc="0"/>
            </a:lvl5p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10" name="Title 1">
            <a:extLst>
              <a:ext uri="{FF2B5EF4-FFF2-40B4-BE49-F238E27FC236}">
                <a16:creationId xmlns:a16="http://schemas.microsoft.com/office/drawing/2014/main" id="{D346557F-F9B0-433A-9FC1-56C38B19DE9B}"/>
              </a:ext>
            </a:extLst>
          </p:cNvPr>
          <p:cNvSpPr>
            <a:spLocks noGrp="1"/>
          </p:cNvSpPr>
          <p:nvPr>
            <p:ph type="title" hasCustomPrompt="1"/>
          </p:nvPr>
        </p:nvSpPr>
        <p:spPr>
          <a:xfrm>
            <a:off x="721373" y="1251017"/>
            <a:ext cx="9132198" cy="565079"/>
          </a:xfrm>
          <a:prstGeom prst="rect">
            <a:avLst/>
          </a:prstGeom>
        </p:spPr>
        <p:txBody>
          <a:bodyPr>
            <a:noAutofit/>
          </a:bodyPr>
          <a:lstStyle>
            <a:lvl1pPr>
              <a:defRPr sz="2800"/>
            </a:lvl1pPr>
          </a:lstStyle>
          <a:p>
            <a:pPr lvl="0"/>
            <a:r>
              <a:rPr lang="en-US" dirty="0"/>
              <a:t>Click to edit Master text styles</a:t>
            </a:r>
          </a:p>
        </p:txBody>
      </p:sp>
      <p:cxnSp>
        <p:nvCxnSpPr>
          <p:cNvPr id="12" name="Straight Connector 11">
            <a:extLst>
              <a:ext uri="{FF2B5EF4-FFF2-40B4-BE49-F238E27FC236}">
                <a16:creationId xmlns:a16="http://schemas.microsoft.com/office/drawing/2014/main" id="{56157FF2-E1F2-41A6-A3CB-3DE59785DD4D}"/>
              </a:ext>
            </a:extLst>
          </p:cNvPr>
          <p:cNvCxnSpPr/>
          <p:nvPr userDrawn="1"/>
        </p:nvCxnSpPr>
        <p:spPr>
          <a:xfrm>
            <a:off x="614780"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3" name="Text Placeholder 3">
            <a:extLst>
              <a:ext uri="{FF2B5EF4-FFF2-40B4-BE49-F238E27FC236}">
                <a16:creationId xmlns:a16="http://schemas.microsoft.com/office/drawing/2014/main" id="{E8A78C8E-6713-4582-84CE-8C8A0FE572A4}"/>
              </a:ext>
            </a:extLst>
          </p:cNvPr>
          <p:cNvSpPr>
            <a:spLocks noGrp="1"/>
          </p:cNvSpPr>
          <p:nvPr>
            <p:ph type="body" sz="quarter" idx="12" hasCustomPrompt="1"/>
          </p:nvPr>
        </p:nvSpPr>
        <p:spPr>
          <a:xfrm>
            <a:off x="614780"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95137490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One column text">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2CF752D4-D41F-48C8-BC93-770A10B9CEFC}"/>
              </a:ext>
            </a:extLst>
          </p:cNvPr>
          <p:cNvSpPr>
            <a:spLocks noGrp="1"/>
          </p:cNvSpPr>
          <p:nvPr>
            <p:ph type="body" sz="half" idx="2" hasCustomPrompt="1"/>
          </p:nvPr>
        </p:nvSpPr>
        <p:spPr>
          <a:xfrm>
            <a:off x="737226" y="1975104"/>
            <a:ext cx="6256106" cy="4210543"/>
          </a:xfrm>
        </p:spPr>
        <p:txBody>
          <a:bodyPr>
            <a:noAutofit/>
          </a:bodyPr>
          <a:lstStyle>
            <a:lvl1pPr marL="0" indent="0">
              <a:lnSpc>
                <a:spcPts val="2400"/>
              </a:lnSpc>
              <a:buNone/>
              <a:defRPr sz="1800" spc="20" baseline="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
        <p:nvSpPr>
          <p:cNvPr id="10" name="Title 1">
            <a:extLst>
              <a:ext uri="{FF2B5EF4-FFF2-40B4-BE49-F238E27FC236}">
                <a16:creationId xmlns:a16="http://schemas.microsoft.com/office/drawing/2014/main" id="{3F01D386-9240-4F38-9F1C-4325351B05E1}"/>
              </a:ext>
            </a:extLst>
          </p:cNvPr>
          <p:cNvSpPr>
            <a:spLocks noGrp="1"/>
          </p:cNvSpPr>
          <p:nvPr>
            <p:ph type="title" hasCustomPrompt="1"/>
          </p:nvPr>
        </p:nvSpPr>
        <p:spPr>
          <a:xfrm>
            <a:off x="737225" y="1261501"/>
            <a:ext cx="7177821" cy="542146"/>
          </a:xfrm>
          <a:prstGeom prst="rect">
            <a:avLst/>
          </a:prstGeom>
        </p:spPr>
        <p:txBody>
          <a:bodyPr>
            <a:noAutofit/>
          </a:bodyPr>
          <a:lstStyle>
            <a:lvl1pPr>
              <a:defRPr sz="2800"/>
            </a:lvl1pPr>
          </a:lstStyle>
          <a:p>
            <a:pPr lvl="0"/>
            <a:r>
              <a:rPr lang="en-US" dirty="0"/>
              <a:t>Click to edit Master text styles</a:t>
            </a:r>
          </a:p>
        </p:txBody>
      </p:sp>
      <p:cxnSp>
        <p:nvCxnSpPr>
          <p:cNvPr id="8" name="Straight Connector 7">
            <a:extLst>
              <a:ext uri="{FF2B5EF4-FFF2-40B4-BE49-F238E27FC236}">
                <a16:creationId xmlns:a16="http://schemas.microsoft.com/office/drawing/2014/main" id="{015B0268-1877-4B50-85FE-85F64126C828}"/>
              </a:ext>
            </a:extLst>
          </p:cNvPr>
          <p:cNvCxnSpPr/>
          <p:nvPr userDrawn="1"/>
        </p:nvCxnSpPr>
        <p:spPr>
          <a:xfrm>
            <a:off x="607468"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9" name="Text Placeholder 3">
            <a:extLst>
              <a:ext uri="{FF2B5EF4-FFF2-40B4-BE49-F238E27FC236}">
                <a16:creationId xmlns:a16="http://schemas.microsoft.com/office/drawing/2014/main" id="{716C6763-4EEE-47FB-A7AD-A329AC03860D}"/>
              </a:ext>
            </a:extLst>
          </p:cNvPr>
          <p:cNvSpPr>
            <a:spLocks noGrp="1"/>
          </p:cNvSpPr>
          <p:nvPr>
            <p:ph type="body" sz="quarter" idx="10" hasCustomPrompt="1"/>
          </p:nvPr>
        </p:nvSpPr>
        <p:spPr>
          <a:xfrm>
            <a:off x="607468"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144347215"/>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 Large imag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AA9A3B-CF71-48AC-B4B0-550E5EC772C1}"/>
              </a:ext>
            </a:extLst>
          </p:cNvPr>
          <p:cNvSpPr>
            <a:spLocks noGrp="1"/>
          </p:cNvSpPr>
          <p:nvPr>
            <p:ph type="title"/>
          </p:nvPr>
        </p:nvSpPr>
        <p:spPr>
          <a:xfrm>
            <a:off x="716483" y="1234865"/>
            <a:ext cx="10313024" cy="635902"/>
          </a:xfrm>
          <a:prstGeom prst="rect">
            <a:avLst/>
          </a:prstGeom>
        </p:spPr>
        <p:txBody>
          <a:bodyPr anchor="t"/>
          <a:lstStyle>
            <a:lvl1pPr>
              <a:defRPr sz="2800"/>
            </a:lvl1pPr>
          </a:lstStyle>
          <a:p>
            <a:r>
              <a:rPr lang="en-US"/>
              <a:t>Click to edit Master title style</a:t>
            </a:r>
            <a:endParaRPr lang="en-US" dirty="0"/>
          </a:p>
        </p:txBody>
      </p:sp>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733313" y="1927476"/>
            <a:ext cx="10700345" cy="4218130"/>
          </a:xfrm>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cxnSp>
        <p:nvCxnSpPr>
          <p:cNvPr id="6" name="Straight Connector 5">
            <a:extLst>
              <a:ext uri="{FF2B5EF4-FFF2-40B4-BE49-F238E27FC236}">
                <a16:creationId xmlns:a16="http://schemas.microsoft.com/office/drawing/2014/main" id="{9B8B0405-4014-43E6-B303-902A4F998E13}"/>
              </a:ext>
            </a:extLst>
          </p:cNvPr>
          <p:cNvCxnSpPr/>
          <p:nvPr userDrawn="1"/>
        </p:nvCxnSpPr>
        <p:spPr>
          <a:xfrm>
            <a:off x="614783"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7" name="Text Placeholder 3">
            <a:extLst>
              <a:ext uri="{FF2B5EF4-FFF2-40B4-BE49-F238E27FC236}">
                <a16:creationId xmlns:a16="http://schemas.microsoft.com/office/drawing/2014/main" id="{B69F8470-F06D-4D52-9A69-30EBD8DA6096}"/>
              </a:ext>
            </a:extLst>
          </p:cNvPr>
          <p:cNvSpPr>
            <a:spLocks noGrp="1"/>
          </p:cNvSpPr>
          <p:nvPr>
            <p:ph type="body" sz="quarter" idx="10" hasCustomPrompt="1"/>
          </p:nvPr>
        </p:nvSpPr>
        <p:spPr>
          <a:xfrm>
            <a:off x="614783"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4139101432"/>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Left image - S">
    <p:spTree>
      <p:nvGrpSpPr>
        <p:cNvPr id="1" name=""/>
        <p:cNvGrpSpPr/>
        <p:nvPr/>
      </p:nvGrpSpPr>
      <p:grpSpPr>
        <a:xfrm>
          <a:off x="0" y="0"/>
          <a:ext cx="0" cy="0"/>
          <a:chOff x="0" y="0"/>
          <a:chExt cx="0" cy="0"/>
        </a:xfrm>
      </p:grpSpPr>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0" y="-1"/>
            <a:ext cx="5165650" cy="6858000"/>
          </a:xfrm>
          <a:solidFill>
            <a:srgbClr val="F7F7F7"/>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11" name="Title 1">
            <a:extLst>
              <a:ext uri="{FF2B5EF4-FFF2-40B4-BE49-F238E27FC236}">
                <a16:creationId xmlns:a16="http://schemas.microsoft.com/office/drawing/2014/main" id="{A421150D-F679-4DFA-93CF-0E5480CC490F}"/>
              </a:ext>
            </a:extLst>
          </p:cNvPr>
          <p:cNvSpPr>
            <a:spLocks noGrp="1"/>
          </p:cNvSpPr>
          <p:nvPr>
            <p:ph type="title" hasCustomPrompt="1"/>
          </p:nvPr>
        </p:nvSpPr>
        <p:spPr>
          <a:xfrm>
            <a:off x="5593557" y="1241625"/>
            <a:ext cx="6000749" cy="480131"/>
          </a:xfrm>
          <a:prstGeom prst="rect">
            <a:avLst/>
          </a:prstGeom>
        </p:spPr>
        <p:txBody>
          <a:bodyPr wrap="square">
            <a:spAutoFit/>
          </a:bodyPr>
          <a:lstStyle>
            <a:lvl1pPr>
              <a:defRPr sz="2800"/>
            </a:lvl1pPr>
          </a:lstStyle>
          <a:p>
            <a:pPr lvl="0"/>
            <a:r>
              <a:rPr lang="en-US" dirty="0"/>
              <a:t>Click to edit Master text styles</a:t>
            </a:r>
          </a:p>
        </p:txBody>
      </p:sp>
      <p:cxnSp>
        <p:nvCxnSpPr>
          <p:cNvPr id="17" name="Straight Connector 16">
            <a:extLst>
              <a:ext uri="{FF2B5EF4-FFF2-40B4-BE49-F238E27FC236}">
                <a16:creationId xmlns:a16="http://schemas.microsoft.com/office/drawing/2014/main" id="{7F1DE310-EEBE-4571-9348-190C69629E15}"/>
              </a:ext>
            </a:extLst>
          </p:cNvPr>
          <p:cNvCxnSpPr/>
          <p:nvPr userDrawn="1"/>
        </p:nvCxnSpPr>
        <p:spPr>
          <a:xfrm>
            <a:off x="5500046"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4C777EF-FC93-4970-9186-9F729BE94473}"/>
              </a:ext>
            </a:extLst>
          </p:cNvPr>
          <p:cNvSpPr>
            <a:spLocks noGrp="1"/>
          </p:cNvSpPr>
          <p:nvPr>
            <p:ph type="body" sz="quarter" idx="10" hasCustomPrompt="1"/>
          </p:nvPr>
        </p:nvSpPr>
        <p:spPr>
          <a:xfrm>
            <a:off x="5500046"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3" name="Text Placeholder 3">
            <a:extLst>
              <a:ext uri="{FF2B5EF4-FFF2-40B4-BE49-F238E27FC236}">
                <a16:creationId xmlns:a16="http://schemas.microsoft.com/office/drawing/2014/main" id="{BD03799A-7C35-4CAA-BE06-C4A99AE98261}"/>
              </a:ext>
            </a:extLst>
          </p:cNvPr>
          <p:cNvSpPr>
            <a:spLocks noGrp="1"/>
          </p:cNvSpPr>
          <p:nvPr>
            <p:ph type="body" sz="half" idx="2" hasCustomPrompt="1"/>
          </p:nvPr>
        </p:nvSpPr>
        <p:spPr>
          <a:xfrm>
            <a:off x="5593546" y="1796208"/>
            <a:ext cx="6000749" cy="3820167"/>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2652770387"/>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Left image - M">
    <p:spTree>
      <p:nvGrpSpPr>
        <p:cNvPr id="1" name=""/>
        <p:cNvGrpSpPr/>
        <p:nvPr/>
      </p:nvGrpSpPr>
      <p:grpSpPr>
        <a:xfrm>
          <a:off x="0" y="0"/>
          <a:ext cx="0" cy="0"/>
          <a:chOff x="0" y="0"/>
          <a:chExt cx="0" cy="0"/>
        </a:xfrm>
      </p:grpSpPr>
      <p:sp>
        <p:nvSpPr>
          <p:cNvPr id="9" name="Picture Placeholder 2">
            <a:extLst>
              <a:ext uri="{FF2B5EF4-FFF2-40B4-BE49-F238E27FC236}">
                <a16:creationId xmlns:a16="http://schemas.microsoft.com/office/drawing/2014/main" id="{E364E913-4A6A-4F3B-B209-831A75170B72}"/>
              </a:ext>
            </a:extLst>
          </p:cNvPr>
          <p:cNvSpPr>
            <a:spLocks noGrp="1"/>
          </p:cNvSpPr>
          <p:nvPr>
            <p:ph type="pic" idx="1" hasCustomPrompt="1"/>
          </p:nvPr>
        </p:nvSpPr>
        <p:spPr>
          <a:xfrm>
            <a:off x="0" y="-1"/>
            <a:ext cx="6092751" cy="6858000"/>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8" name="Title 1">
            <a:extLst>
              <a:ext uri="{FF2B5EF4-FFF2-40B4-BE49-F238E27FC236}">
                <a16:creationId xmlns:a16="http://schemas.microsoft.com/office/drawing/2014/main" id="{E30453B6-BE94-4D10-99CD-4F6557992EA0}"/>
              </a:ext>
            </a:extLst>
          </p:cNvPr>
          <p:cNvSpPr>
            <a:spLocks noGrp="1"/>
          </p:cNvSpPr>
          <p:nvPr>
            <p:ph type="title" hasCustomPrompt="1"/>
          </p:nvPr>
        </p:nvSpPr>
        <p:spPr>
          <a:xfrm>
            <a:off x="6561735" y="1241625"/>
            <a:ext cx="5018228" cy="867930"/>
          </a:xfrm>
          <a:prstGeom prst="rect">
            <a:avLst/>
          </a:prstGeom>
        </p:spPr>
        <p:txBody>
          <a:bodyPr wrap="square">
            <a:spAutoFit/>
          </a:bodyPr>
          <a:lstStyle>
            <a:lvl1pPr>
              <a:defRPr sz="2800"/>
            </a:lvl1pPr>
          </a:lstStyle>
          <a:p>
            <a:pPr lvl="0"/>
            <a:r>
              <a:rPr lang="en-US" dirty="0"/>
              <a:t>Click to edit Master text styles  </a:t>
            </a:r>
          </a:p>
        </p:txBody>
      </p:sp>
      <p:cxnSp>
        <p:nvCxnSpPr>
          <p:cNvPr id="11" name="Straight Connector 10">
            <a:extLst>
              <a:ext uri="{FF2B5EF4-FFF2-40B4-BE49-F238E27FC236}">
                <a16:creationId xmlns:a16="http://schemas.microsoft.com/office/drawing/2014/main" id="{076CAFA7-68AE-4EAD-BE3A-A5B16D9D3552}"/>
              </a:ext>
            </a:extLst>
          </p:cNvPr>
          <p:cNvCxnSpPr/>
          <p:nvPr userDrawn="1"/>
        </p:nvCxnSpPr>
        <p:spPr>
          <a:xfrm>
            <a:off x="646823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4" name="Text Placeholder 3">
            <a:extLst>
              <a:ext uri="{FF2B5EF4-FFF2-40B4-BE49-F238E27FC236}">
                <a16:creationId xmlns:a16="http://schemas.microsoft.com/office/drawing/2014/main" id="{A8F2FE0A-3A4C-445D-8290-44FCEA3F5955}"/>
              </a:ext>
            </a:extLst>
          </p:cNvPr>
          <p:cNvSpPr>
            <a:spLocks noGrp="1"/>
          </p:cNvSpPr>
          <p:nvPr>
            <p:ph type="body" sz="quarter" idx="10" hasCustomPrompt="1"/>
          </p:nvPr>
        </p:nvSpPr>
        <p:spPr>
          <a:xfrm>
            <a:off x="6468234"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5" name="Text Placeholder 3">
            <a:extLst>
              <a:ext uri="{FF2B5EF4-FFF2-40B4-BE49-F238E27FC236}">
                <a16:creationId xmlns:a16="http://schemas.microsoft.com/office/drawing/2014/main" id="{C9AD2564-EF06-46B2-95AF-0FC81EEDCC98}"/>
              </a:ext>
            </a:extLst>
          </p:cNvPr>
          <p:cNvSpPr>
            <a:spLocks noGrp="1"/>
          </p:cNvSpPr>
          <p:nvPr>
            <p:ph type="body" sz="half" idx="2" hasCustomPrompt="1"/>
          </p:nvPr>
        </p:nvSpPr>
        <p:spPr>
          <a:xfrm>
            <a:off x="6561734" y="2245766"/>
            <a:ext cx="5018229" cy="3920948"/>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3255004176"/>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Left image - L">
    <p:bg>
      <p:bgPr>
        <a:solidFill>
          <a:schemeClr val="bg1"/>
        </a:solidFill>
        <a:effectLst/>
      </p:bgPr>
    </p:bg>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2CB99501-2A5A-45F8-BACF-23701FE68337}"/>
              </a:ext>
            </a:extLst>
          </p:cNvPr>
          <p:cNvSpPr>
            <a:spLocks noGrp="1"/>
          </p:cNvSpPr>
          <p:nvPr>
            <p:ph type="pic" idx="1" hasCustomPrompt="1"/>
          </p:nvPr>
        </p:nvSpPr>
        <p:spPr>
          <a:xfrm>
            <a:off x="0" y="0"/>
            <a:ext cx="6997698" cy="6857999"/>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picture here</a:t>
            </a:r>
          </a:p>
        </p:txBody>
      </p:sp>
      <p:sp>
        <p:nvSpPr>
          <p:cNvPr id="4" name="Text Placeholder 3">
            <a:extLst>
              <a:ext uri="{FF2B5EF4-FFF2-40B4-BE49-F238E27FC236}">
                <a16:creationId xmlns:a16="http://schemas.microsoft.com/office/drawing/2014/main" id="{4CE260B5-3078-4CFA-A43A-D57EA4E988F4}"/>
              </a:ext>
            </a:extLst>
          </p:cNvPr>
          <p:cNvSpPr>
            <a:spLocks noGrp="1"/>
          </p:cNvSpPr>
          <p:nvPr>
            <p:ph type="body" sz="half" idx="2"/>
          </p:nvPr>
        </p:nvSpPr>
        <p:spPr>
          <a:xfrm>
            <a:off x="7404579" y="2228472"/>
            <a:ext cx="4204643" cy="3936800"/>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9" name="Title 1">
            <a:extLst>
              <a:ext uri="{FF2B5EF4-FFF2-40B4-BE49-F238E27FC236}">
                <a16:creationId xmlns:a16="http://schemas.microsoft.com/office/drawing/2014/main" id="{6147FA91-C242-46DD-BE23-48F41CC2970C}"/>
              </a:ext>
            </a:extLst>
          </p:cNvPr>
          <p:cNvSpPr>
            <a:spLocks noGrp="1"/>
          </p:cNvSpPr>
          <p:nvPr>
            <p:ph type="title" hasCustomPrompt="1"/>
          </p:nvPr>
        </p:nvSpPr>
        <p:spPr>
          <a:xfrm>
            <a:off x="7404579" y="1218965"/>
            <a:ext cx="4255850" cy="933507"/>
          </a:xfrm>
          <a:prstGeom prst="rect">
            <a:avLst/>
          </a:prstGeom>
        </p:spPr>
        <p:txBody>
          <a:bodyPr anchor="t">
            <a:noAutofit/>
          </a:bodyPr>
          <a:lstStyle>
            <a:lvl1pPr>
              <a:defRPr sz="2800"/>
            </a:lvl1pPr>
          </a:lstStyle>
          <a:p>
            <a:pPr lvl="0"/>
            <a:r>
              <a:rPr lang="en-US" dirty="0"/>
              <a:t>Click to edit Master text styles</a:t>
            </a:r>
          </a:p>
        </p:txBody>
      </p:sp>
      <p:cxnSp>
        <p:nvCxnSpPr>
          <p:cNvPr id="7" name="Straight Connector 6">
            <a:extLst>
              <a:ext uri="{FF2B5EF4-FFF2-40B4-BE49-F238E27FC236}">
                <a16:creationId xmlns:a16="http://schemas.microsoft.com/office/drawing/2014/main" id="{20EEAF69-B649-4DD9-BE4A-CC1FC2864BDE}"/>
              </a:ext>
            </a:extLst>
          </p:cNvPr>
          <p:cNvCxnSpPr/>
          <p:nvPr userDrawn="1"/>
        </p:nvCxnSpPr>
        <p:spPr>
          <a:xfrm>
            <a:off x="735337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8" name="Text Placeholder 3">
            <a:extLst>
              <a:ext uri="{FF2B5EF4-FFF2-40B4-BE49-F238E27FC236}">
                <a16:creationId xmlns:a16="http://schemas.microsoft.com/office/drawing/2014/main" id="{822686E3-ED91-4402-ABE9-E10A74CBDBB8}"/>
              </a:ext>
            </a:extLst>
          </p:cNvPr>
          <p:cNvSpPr>
            <a:spLocks noGrp="1"/>
          </p:cNvSpPr>
          <p:nvPr>
            <p:ph type="body" sz="quarter" idx="10" hasCustomPrompt="1"/>
          </p:nvPr>
        </p:nvSpPr>
        <p:spPr>
          <a:xfrm>
            <a:off x="7353375" y="313371"/>
            <a:ext cx="4307054"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425363925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Right image - S ">
    <p:spTree>
      <p:nvGrpSpPr>
        <p:cNvPr id="1" name=""/>
        <p:cNvGrpSpPr/>
        <p:nvPr/>
      </p:nvGrpSpPr>
      <p:grpSpPr>
        <a:xfrm>
          <a:off x="0" y="0"/>
          <a:ext cx="0" cy="0"/>
          <a:chOff x="0" y="0"/>
          <a:chExt cx="0" cy="0"/>
        </a:xfrm>
      </p:grpSpPr>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7026350" y="-1"/>
            <a:ext cx="5165650" cy="6858000"/>
          </a:xfrm>
          <a:solidFill>
            <a:srgbClr val="F7F7F7"/>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11" name="Title 1">
            <a:extLst>
              <a:ext uri="{FF2B5EF4-FFF2-40B4-BE49-F238E27FC236}">
                <a16:creationId xmlns:a16="http://schemas.microsoft.com/office/drawing/2014/main" id="{A421150D-F679-4DFA-93CF-0E5480CC490F}"/>
              </a:ext>
            </a:extLst>
          </p:cNvPr>
          <p:cNvSpPr>
            <a:spLocks noGrp="1"/>
          </p:cNvSpPr>
          <p:nvPr>
            <p:ph type="title" hasCustomPrompt="1"/>
          </p:nvPr>
        </p:nvSpPr>
        <p:spPr>
          <a:xfrm>
            <a:off x="692373" y="1241625"/>
            <a:ext cx="6000749" cy="480131"/>
          </a:xfrm>
          <a:prstGeom prst="rect">
            <a:avLst/>
          </a:prstGeom>
        </p:spPr>
        <p:txBody>
          <a:bodyPr wrap="square">
            <a:spAutoFit/>
          </a:bodyPr>
          <a:lstStyle>
            <a:lvl1pPr>
              <a:defRPr sz="2800"/>
            </a:lvl1pPr>
          </a:lstStyle>
          <a:p>
            <a:pPr lvl="0"/>
            <a:r>
              <a:rPr lang="en-US" dirty="0"/>
              <a:t>Click to edit Master text styles</a:t>
            </a:r>
          </a:p>
        </p:txBody>
      </p:sp>
      <p:cxnSp>
        <p:nvCxnSpPr>
          <p:cNvPr id="17" name="Straight Connector 16">
            <a:extLst>
              <a:ext uri="{FF2B5EF4-FFF2-40B4-BE49-F238E27FC236}">
                <a16:creationId xmlns:a16="http://schemas.microsoft.com/office/drawing/2014/main" id="{7F1DE310-EEBE-4571-9348-190C69629E15}"/>
              </a:ext>
            </a:extLst>
          </p:cNvPr>
          <p:cNvCxnSpPr/>
          <p:nvPr userDrawn="1"/>
        </p:nvCxnSpPr>
        <p:spPr>
          <a:xfrm>
            <a:off x="598862"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4C777EF-FC93-4970-9186-9F729BE94473}"/>
              </a:ext>
            </a:extLst>
          </p:cNvPr>
          <p:cNvSpPr>
            <a:spLocks noGrp="1"/>
          </p:cNvSpPr>
          <p:nvPr>
            <p:ph type="body" sz="quarter" idx="10" hasCustomPrompt="1"/>
          </p:nvPr>
        </p:nvSpPr>
        <p:spPr>
          <a:xfrm>
            <a:off x="598862"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3" name="Text Placeholder 3">
            <a:extLst>
              <a:ext uri="{FF2B5EF4-FFF2-40B4-BE49-F238E27FC236}">
                <a16:creationId xmlns:a16="http://schemas.microsoft.com/office/drawing/2014/main" id="{BD03799A-7C35-4CAA-BE06-C4A99AE98261}"/>
              </a:ext>
            </a:extLst>
          </p:cNvPr>
          <p:cNvSpPr>
            <a:spLocks noGrp="1"/>
          </p:cNvSpPr>
          <p:nvPr>
            <p:ph type="body" sz="half" idx="2" hasCustomPrompt="1"/>
          </p:nvPr>
        </p:nvSpPr>
        <p:spPr>
          <a:xfrm>
            <a:off x="692362" y="1796208"/>
            <a:ext cx="6000749" cy="3820167"/>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2682314598"/>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Right image - M">
    <p:spTree>
      <p:nvGrpSpPr>
        <p:cNvPr id="1" name=""/>
        <p:cNvGrpSpPr/>
        <p:nvPr/>
      </p:nvGrpSpPr>
      <p:grpSpPr>
        <a:xfrm>
          <a:off x="0" y="0"/>
          <a:ext cx="0" cy="0"/>
          <a:chOff x="0" y="0"/>
          <a:chExt cx="0" cy="0"/>
        </a:xfrm>
      </p:grpSpPr>
      <p:sp>
        <p:nvSpPr>
          <p:cNvPr id="9" name="Picture Placeholder 2">
            <a:extLst>
              <a:ext uri="{FF2B5EF4-FFF2-40B4-BE49-F238E27FC236}">
                <a16:creationId xmlns:a16="http://schemas.microsoft.com/office/drawing/2014/main" id="{E364E913-4A6A-4F3B-B209-831A75170B72}"/>
              </a:ext>
            </a:extLst>
          </p:cNvPr>
          <p:cNvSpPr>
            <a:spLocks noGrp="1"/>
          </p:cNvSpPr>
          <p:nvPr>
            <p:ph type="pic" idx="1" hasCustomPrompt="1"/>
          </p:nvPr>
        </p:nvSpPr>
        <p:spPr>
          <a:xfrm>
            <a:off x="6096000" y="-1"/>
            <a:ext cx="6092751" cy="6858000"/>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8" name="Title 1">
            <a:extLst>
              <a:ext uri="{FF2B5EF4-FFF2-40B4-BE49-F238E27FC236}">
                <a16:creationId xmlns:a16="http://schemas.microsoft.com/office/drawing/2014/main" id="{E30453B6-BE94-4D10-99CD-4F6557992EA0}"/>
              </a:ext>
            </a:extLst>
          </p:cNvPr>
          <p:cNvSpPr>
            <a:spLocks noGrp="1"/>
          </p:cNvSpPr>
          <p:nvPr>
            <p:ph type="title" hasCustomPrompt="1"/>
          </p:nvPr>
        </p:nvSpPr>
        <p:spPr>
          <a:xfrm>
            <a:off x="709575" y="1241625"/>
            <a:ext cx="5018228" cy="867930"/>
          </a:xfrm>
          <a:prstGeom prst="rect">
            <a:avLst/>
          </a:prstGeom>
        </p:spPr>
        <p:txBody>
          <a:bodyPr wrap="square">
            <a:spAutoFit/>
          </a:bodyPr>
          <a:lstStyle>
            <a:lvl1pPr>
              <a:defRPr sz="2800"/>
            </a:lvl1pPr>
          </a:lstStyle>
          <a:p>
            <a:pPr lvl="0"/>
            <a:r>
              <a:rPr lang="en-US" dirty="0"/>
              <a:t>Click to edit Master text styles  </a:t>
            </a:r>
          </a:p>
        </p:txBody>
      </p:sp>
      <p:cxnSp>
        <p:nvCxnSpPr>
          <p:cNvPr id="11" name="Straight Connector 10">
            <a:extLst>
              <a:ext uri="{FF2B5EF4-FFF2-40B4-BE49-F238E27FC236}">
                <a16:creationId xmlns:a16="http://schemas.microsoft.com/office/drawing/2014/main" id="{076CAFA7-68AE-4EAD-BE3A-A5B16D9D3552}"/>
              </a:ext>
            </a:extLst>
          </p:cNvPr>
          <p:cNvCxnSpPr/>
          <p:nvPr userDrawn="1"/>
        </p:nvCxnSpPr>
        <p:spPr>
          <a:xfrm>
            <a:off x="61607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4" name="Text Placeholder 3">
            <a:extLst>
              <a:ext uri="{FF2B5EF4-FFF2-40B4-BE49-F238E27FC236}">
                <a16:creationId xmlns:a16="http://schemas.microsoft.com/office/drawing/2014/main" id="{A8F2FE0A-3A4C-445D-8290-44FCEA3F5955}"/>
              </a:ext>
            </a:extLst>
          </p:cNvPr>
          <p:cNvSpPr>
            <a:spLocks noGrp="1"/>
          </p:cNvSpPr>
          <p:nvPr>
            <p:ph type="body" sz="quarter" idx="10" hasCustomPrompt="1"/>
          </p:nvPr>
        </p:nvSpPr>
        <p:spPr>
          <a:xfrm>
            <a:off x="616074"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5" name="Text Placeholder 3">
            <a:extLst>
              <a:ext uri="{FF2B5EF4-FFF2-40B4-BE49-F238E27FC236}">
                <a16:creationId xmlns:a16="http://schemas.microsoft.com/office/drawing/2014/main" id="{C9AD2564-EF06-46B2-95AF-0FC81EEDCC98}"/>
              </a:ext>
            </a:extLst>
          </p:cNvPr>
          <p:cNvSpPr>
            <a:spLocks noGrp="1"/>
          </p:cNvSpPr>
          <p:nvPr>
            <p:ph type="body" sz="half" idx="2" hasCustomPrompt="1"/>
          </p:nvPr>
        </p:nvSpPr>
        <p:spPr>
          <a:xfrm>
            <a:off x="709574" y="2245766"/>
            <a:ext cx="5018229" cy="3920948"/>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3864113316"/>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_Left image-L (White bg)">
    <p:bg>
      <p:bgPr>
        <a:solidFill>
          <a:schemeClr val="bg1"/>
        </a:solidFill>
        <a:effectLst/>
      </p:bgPr>
    </p:bg>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2CB99501-2A5A-45F8-BACF-23701FE68337}"/>
              </a:ext>
            </a:extLst>
          </p:cNvPr>
          <p:cNvSpPr>
            <a:spLocks noGrp="1"/>
          </p:cNvSpPr>
          <p:nvPr>
            <p:ph type="pic" idx="1" hasCustomPrompt="1"/>
          </p:nvPr>
        </p:nvSpPr>
        <p:spPr>
          <a:xfrm>
            <a:off x="5194302" y="0"/>
            <a:ext cx="6997698" cy="6857999"/>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picture here</a:t>
            </a:r>
          </a:p>
        </p:txBody>
      </p:sp>
      <p:sp>
        <p:nvSpPr>
          <p:cNvPr id="4" name="Text Placeholder 3">
            <a:extLst>
              <a:ext uri="{FF2B5EF4-FFF2-40B4-BE49-F238E27FC236}">
                <a16:creationId xmlns:a16="http://schemas.microsoft.com/office/drawing/2014/main" id="{4CE260B5-3078-4CFA-A43A-D57EA4E988F4}"/>
              </a:ext>
            </a:extLst>
          </p:cNvPr>
          <p:cNvSpPr>
            <a:spLocks noGrp="1"/>
          </p:cNvSpPr>
          <p:nvPr>
            <p:ph type="body" sz="half" idx="2"/>
          </p:nvPr>
        </p:nvSpPr>
        <p:spPr>
          <a:xfrm>
            <a:off x="652649" y="2228472"/>
            <a:ext cx="4204643" cy="3936800"/>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9" name="Title 1">
            <a:extLst>
              <a:ext uri="{FF2B5EF4-FFF2-40B4-BE49-F238E27FC236}">
                <a16:creationId xmlns:a16="http://schemas.microsoft.com/office/drawing/2014/main" id="{6147FA91-C242-46DD-BE23-48F41CC2970C}"/>
              </a:ext>
            </a:extLst>
          </p:cNvPr>
          <p:cNvSpPr>
            <a:spLocks noGrp="1"/>
          </p:cNvSpPr>
          <p:nvPr>
            <p:ph type="title" hasCustomPrompt="1"/>
          </p:nvPr>
        </p:nvSpPr>
        <p:spPr>
          <a:xfrm>
            <a:off x="652649" y="1218965"/>
            <a:ext cx="4255850" cy="933507"/>
          </a:xfrm>
          <a:prstGeom prst="rect">
            <a:avLst/>
          </a:prstGeom>
        </p:spPr>
        <p:txBody>
          <a:bodyPr anchor="t">
            <a:noAutofit/>
          </a:bodyPr>
          <a:lstStyle>
            <a:lvl1pPr>
              <a:defRPr sz="2800"/>
            </a:lvl1pPr>
          </a:lstStyle>
          <a:p>
            <a:pPr lvl="0"/>
            <a:r>
              <a:rPr lang="en-US" dirty="0"/>
              <a:t>Click to edit Master text styles</a:t>
            </a:r>
          </a:p>
        </p:txBody>
      </p:sp>
      <p:cxnSp>
        <p:nvCxnSpPr>
          <p:cNvPr id="7" name="Straight Connector 6">
            <a:extLst>
              <a:ext uri="{FF2B5EF4-FFF2-40B4-BE49-F238E27FC236}">
                <a16:creationId xmlns:a16="http://schemas.microsoft.com/office/drawing/2014/main" id="{20EEAF69-B649-4DD9-BE4A-CC1FC2864BDE}"/>
              </a:ext>
            </a:extLst>
          </p:cNvPr>
          <p:cNvCxnSpPr/>
          <p:nvPr userDrawn="1"/>
        </p:nvCxnSpPr>
        <p:spPr>
          <a:xfrm>
            <a:off x="60144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8" name="Text Placeholder 3">
            <a:extLst>
              <a:ext uri="{FF2B5EF4-FFF2-40B4-BE49-F238E27FC236}">
                <a16:creationId xmlns:a16="http://schemas.microsoft.com/office/drawing/2014/main" id="{822686E3-ED91-4402-ABE9-E10A74CBDBB8}"/>
              </a:ext>
            </a:extLst>
          </p:cNvPr>
          <p:cNvSpPr>
            <a:spLocks noGrp="1"/>
          </p:cNvSpPr>
          <p:nvPr>
            <p:ph type="body" sz="quarter" idx="10" hasCustomPrompt="1"/>
          </p:nvPr>
        </p:nvSpPr>
        <p:spPr>
          <a:xfrm>
            <a:off x="601445" y="313371"/>
            <a:ext cx="4307054"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27806611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Blank - Footer (white bg) ">
    <p:spTree>
      <p:nvGrpSpPr>
        <p:cNvPr id="1" name=""/>
        <p:cNvGrpSpPr/>
        <p:nvPr/>
      </p:nvGrpSpPr>
      <p:grpSpPr>
        <a:xfrm>
          <a:off x="0" y="0"/>
          <a:ext cx="0" cy="0"/>
          <a:chOff x="0" y="0"/>
          <a:chExt cx="0" cy="0"/>
        </a:xfrm>
      </p:grpSpPr>
    </p:spTree>
    <p:extLst>
      <p:ext uri="{BB962C8B-B14F-4D97-AF65-F5344CB8AC3E}">
        <p14:creationId xmlns:p14="http://schemas.microsoft.com/office/powerpoint/2010/main" val="94355432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Blank (white bg) ">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336622E0-A137-429D-BE75-779E322CE694}"/>
              </a:ext>
            </a:extLst>
          </p:cNvPr>
          <p:cNvSpPr/>
          <p:nvPr userDrawn="1"/>
        </p:nvSpPr>
        <p:spPr>
          <a:xfrm>
            <a:off x="-30161" y="0"/>
            <a:ext cx="12222161"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Tree>
    <p:extLst>
      <p:ext uri="{BB962C8B-B14F-4D97-AF65-F5344CB8AC3E}">
        <p14:creationId xmlns:p14="http://schemas.microsoft.com/office/powerpoint/2010/main" val="321608253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blank" preserve="1">
  <p:cSld name="Blank (blue bg) ">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0B0641AD-3AD5-4F67-A775-821CB3080BD2}"/>
              </a:ext>
            </a:extLst>
          </p:cNvPr>
          <p:cNvSpPr/>
          <p:nvPr userDrawn="1"/>
        </p:nvSpPr>
        <p:spPr>
          <a:xfrm>
            <a:off x="-30161" y="0"/>
            <a:ext cx="12222161" cy="6858000"/>
          </a:xfrm>
          <a:prstGeom prst="rect">
            <a:avLst/>
          </a:prstGeom>
          <a:solidFill>
            <a:srgbClr val="F5FAF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Tree>
    <p:extLst>
      <p:ext uri="{BB962C8B-B14F-4D97-AF65-F5344CB8AC3E}">
        <p14:creationId xmlns:p14="http://schemas.microsoft.com/office/powerpoint/2010/main" val="141802275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2_Thank you Slide">
    <p:bg>
      <p:bgPr>
        <a:solidFill>
          <a:srgbClr val="F5FAFC"/>
        </a:solidFill>
        <a:effectLst/>
      </p:bgPr>
    </p:bg>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E3F35E03-ED1F-4BA6-A9DB-BAA193266DF0}"/>
              </a:ext>
            </a:extLst>
          </p:cNvPr>
          <p:cNvSpPr txBox="1"/>
          <p:nvPr userDrawn="1"/>
        </p:nvSpPr>
        <p:spPr>
          <a:xfrm>
            <a:off x="3457462" y="2905780"/>
            <a:ext cx="5246914" cy="584775"/>
          </a:xfrm>
          <a:prstGeom prst="rect">
            <a:avLst/>
          </a:prstGeom>
          <a:noFill/>
        </p:spPr>
        <p:txBody>
          <a:bodyPr wrap="square" rtlCol="0">
            <a:spAutoFit/>
          </a:bodyPr>
          <a:lstStyle/>
          <a:p>
            <a:pPr algn="ctr"/>
            <a:r>
              <a:rPr lang="en-US" sz="3200" b="1" dirty="0">
                <a:solidFill>
                  <a:schemeClr val="tx1"/>
                </a:solidFill>
                <a:cs typeface="Arial" panose="020B0604020202020204" pitchFamily="34" charset="0"/>
              </a:rPr>
              <a:t>Thank you!</a:t>
            </a:r>
          </a:p>
        </p:txBody>
      </p:sp>
      <p:sp>
        <p:nvSpPr>
          <p:cNvPr id="7" name="Rectangle 6">
            <a:extLst>
              <a:ext uri="{FF2B5EF4-FFF2-40B4-BE49-F238E27FC236}">
                <a16:creationId xmlns:a16="http://schemas.microsoft.com/office/drawing/2014/main" id="{D95BEDD7-9550-46FC-AAD4-3BCDC60161D9}"/>
              </a:ext>
            </a:extLst>
          </p:cNvPr>
          <p:cNvSpPr/>
          <p:nvPr userDrawn="1"/>
        </p:nvSpPr>
        <p:spPr>
          <a:xfrm>
            <a:off x="0" y="6115986"/>
            <a:ext cx="12192000" cy="742013"/>
          </a:xfrm>
          <a:prstGeom prst="rect">
            <a:avLst/>
          </a:prstGeom>
          <a:solidFill>
            <a:srgbClr val="F5FAF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009CD6"/>
              </a:solidFill>
            </a:endParaRPr>
          </a:p>
        </p:txBody>
      </p:sp>
    </p:spTree>
    <p:extLst>
      <p:ext uri="{BB962C8B-B14F-4D97-AF65-F5344CB8AC3E}">
        <p14:creationId xmlns:p14="http://schemas.microsoft.com/office/powerpoint/2010/main" val="69760784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3_Title and Conten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7CD000AF-B921-43E9-B432-355A07B6E46E}"/>
              </a:ext>
            </a:extLst>
          </p:cNvPr>
          <p:cNvSpPr/>
          <p:nvPr userDrawn="1"/>
        </p:nvSpPr>
        <p:spPr>
          <a:xfrm>
            <a:off x="0" y="6115986"/>
            <a:ext cx="10028420" cy="74201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68953649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Big text aligned right + Italic">
    <p:spTree>
      <p:nvGrpSpPr>
        <p:cNvPr id="1" name=""/>
        <p:cNvGrpSpPr/>
        <p:nvPr/>
      </p:nvGrpSpPr>
      <p:grpSpPr>
        <a:xfrm>
          <a:off x="0" y="0"/>
          <a:ext cx="0" cy="0"/>
          <a:chOff x="0" y="0"/>
          <a:chExt cx="0" cy="0"/>
        </a:xfrm>
      </p:grpSpPr>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a:t>Click to edit section name</a:t>
            </a:r>
            <a:endParaRPr lang="en-US" dirty="0"/>
          </a:p>
        </p:txBody>
      </p:sp>
      <p:sp>
        <p:nvSpPr>
          <p:cNvPr id="6" name="Shape 610" hidden="1">
            <a:extLst>
              <a:ext uri="{FF2B5EF4-FFF2-40B4-BE49-F238E27FC236}">
                <a16:creationId xmlns:a16="http://schemas.microsoft.com/office/drawing/2014/main" id="{C5B068B2-AEB9-41E6-AB3C-EA87FFB0FE76}"/>
              </a:ext>
            </a:extLst>
          </p:cNvPr>
          <p:cNvSpPr/>
          <p:nvPr userDrawn="1"/>
        </p:nvSpPr>
        <p:spPr>
          <a:xfrm>
            <a:off x="510238" y="2132869"/>
            <a:ext cx="6303518" cy="3103212"/>
          </a:xfrm>
          <a:prstGeom prst="rect">
            <a:avLst/>
          </a:prstGeom>
          <a:noFill/>
          <a:ln>
            <a:noFill/>
          </a:ln>
        </p:spPr>
        <p:txBody>
          <a:bodyPr lIns="91412" tIns="45700" rIns="91412" bIns="45700" anchor="t" anchorCtr="0">
            <a:noAutofit/>
          </a:bodyPr>
          <a:lstStyle/>
          <a:p>
            <a:pPr algn="r">
              <a:buSzPct val="25000"/>
            </a:pPr>
            <a:r>
              <a:rPr lang="en-GB" sz="2800" dirty="0">
                <a:latin typeface="Arial" panose="020B0604020202020204" pitchFamily="34" charset="0"/>
                <a:ea typeface="Roboto"/>
                <a:cs typeface="Arial" panose="020B0604020202020204" pitchFamily="34" charset="0"/>
                <a:sym typeface="Roboto"/>
              </a:rPr>
              <a:t>We have focused on </a:t>
            </a:r>
            <a:r>
              <a:rPr lang="en-GB" sz="2800" b="1" dirty="0">
                <a:latin typeface="Arial" panose="020B0604020202020204" pitchFamily="34" charset="0"/>
                <a:ea typeface="Roboto"/>
                <a:cs typeface="Arial" panose="020B0604020202020204" pitchFamily="34" charset="0"/>
                <a:sym typeface="Roboto"/>
              </a:rPr>
              <a:t>preparing and empowering BDT staff</a:t>
            </a:r>
            <a:r>
              <a:rPr lang="en-GB" sz="2800" dirty="0">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p:txBody>
      </p:sp>
      <p:sp>
        <p:nvSpPr>
          <p:cNvPr id="7" name="Subtitle 8">
            <a:extLst>
              <a:ext uri="{FF2B5EF4-FFF2-40B4-BE49-F238E27FC236}">
                <a16:creationId xmlns:a16="http://schemas.microsoft.com/office/drawing/2014/main" id="{A4620858-2872-44F6-B072-7E678A260322}"/>
              </a:ext>
            </a:extLst>
          </p:cNvPr>
          <p:cNvSpPr txBox="1">
            <a:spLocks/>
          </p:cNvSpPr>
          <p:nvPr userDrawn="1"/>
        </p:nvSpPr>
        <p:spPr>
          <a:xfrm>
            <a:off x="7295839" y="2132869"/>
            <a:ext cx="4663323" cy="4303496"/>
          </a:xfrm>
          <a:prstGeom prst="rect">
            <a:avLst/>
          </a:prstGeom>
        </p:spPr>
        <p:txBody>
          <a:bodyPr>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Arial" panose="020B0604020202020204" pitchFamily="34" charset="0"/>
                <a:ea typeface="+mn-ea"/>
                <a:cs typeface="Arial" panose="020B0604020202020204" pitchFamily="34" charset="0"/>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lnSpc>
                <a:spcPct val="100000"/>
              </a:lnSpc>
              <a:spcBef>
                <a:spcPts val="1800"/>
              </a:spcBef>
            </a:pPr>
            <a:endParaRPr lang="en-US" i="1" dirty="0">
              <a:solidFill>
                <a:schemeClr val="bg2">
                  <a:lumMod val="25000"/>
                </a:schemeClr>
              </a:solidFill>
              <a:latin typeface="Georgia" panose="02040502050405020303" pitchFamily="18" charset="0"/>
            </a:endParaRPr>
          </a:p>
        </p:txBody>
      </p:sp>
      <p:cxnSp>
        <p:nvCxnSpPr>
          <p:cNvPr id="11" name="Straight Connector 10">
            <a:extLst>
              <a:ext uri="{FF2B5EF4-FFF2-40B4-BE49-F238E27FC236}">
                <a16:creationId xmlns:a16="http://schemas.microsoft.com/office/drawing/2014/main" id="{BE0E510D-A28B-40D0-90A9-897A15E93F85}"/>
              </a:ext>
            </a:extLst>
          </p:cNvPr>
          <p:cNvCxnSpPr>
            <a:cxnSpLocks/>
          </p:cNvCxnSpPr>
          <p:nvPr userDrawn="1"/>
        </p:nvCxnSpPr>
        <p:spPr>
          <a:xfrm>
            <a:off x="7069545" y="2248302"/>
            <a:ext cx="0" cy="3133725"/>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4" name="Text Placeholder 3">
            <a:extLst>
              <a:ext uri="{FF2B5EF4-FFF2-40B4-BE49-F238E27FC236}">
                <a16:creationId xmlns:a16="http://schemas.microsoft.com/office/drawing/2014/main" id="{5B885EC5-B7E9-4FBB-A4AE-A260C8DCB031}"/>
              </a:ext>
            </a:extLst>
          </p:cNvPr>
          <p:cNvSpPr>
            <a:spLocks noGrp="1"/>
          </p:cNvSpPr>
          <p:nvPr>
            <p:ph type="body" sz="quarter" idx="11" hasCustomPrompt="1"/>
          </p:nvPr>
        </p:nvSpPr>
        <p:spPr>
          <a:xfrm>
            <a:off x="503238" y="2133600"/>
            <a:ext cx="6297612" cy="3079750"/>
          </a:xfrm>
        </p:spPr>
        <p:txBody>
          <a:bodyPr/>
          <a:lstStyle>
            <a:lvl1pPr marL="0" marR="0" indent="0" algn="r" defTabSz="914400" rtl="0" eaLnBrk="1" fontAlgn="auto" latinLnBrk="0" hangingPunct="1">
              <a:lnSpc>
                <a:spcPct val="100000"/>
              </a:lnSpc>
              <a:spcBef>
                <a:spcPts val="0"/>
              </a:spcBef>
              <a:spcAft>
                <a:spcPts val="0"/>
              </a:spcAft>
              <a:buClrTx/>
              <a:buSzPct val="25000"/>
              <a:buFontTx/>
              <a:buNone/>
              <a:tabLst/>
              <a:defRPr/>
            </a:lvl1pPr>
          </a:lstStyle>
          <a:p>
            <a:pPr marL="0" marR="0" lvl="0" indent="0" algn="r" defTabSz="914400" rtl="0" eaLnBrk="1" fontAlgn="auto" latinLnBrk="0" hangingPunct="1">
              <a:lnSpc>
                <a:spcPct val="100000"/>
              </a:lnSpc>
              <a:spcBef>
                <a:spcPts val="0"/>
              </a:spcBef>
              <a:spcAft>
                <a:spcPts val="0"/>
              </a:spcAft>
              <a:buClrTx/>
              <a:buSzPct val="25000"/>
              <a:buFontTx/>
              <a:buNone/>
              <a:tabLst/>
              <a:defRPr/>
            </a:pP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We have focused on </a:t>
            </a:r>
            <a:r>
              <a:rPr kumimoji="0" lang="en-GB" sz="2800" b="1"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preparing and empowering BDT staff</a:t>
            </a: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a:p>
            <a:pPr lvl="0"/>
            <a:endParaRPr lang="en-US" dirty="0"/>
          </a:p>
        </p:txBody>
      </p:sp>
      <p:sp>
        <p:nvSpPr>
          <p:cNvPr id="12" name="Text Placeholder 11">
            <a:extLst>
              <a:ext uri="{FF2B5EF4-FFF2-40B4-BE49-F238E27FC236}">
                <a16:creationId xmlns:a16="http://schemas.microsoft.com/office/drawing/2014/main" id="{2EFC6EC8-B366-4C1C-9E18-04E70FF727B4}"/>
              </a:ext>
            </a:extLst>
          </p:cNvPr>
          <p:cNvSpPr>
            <a:spLocks noGrp="1"/>
          </p:cNvSpPr>
          <p:nvPr>
            <p:ph type="body" sz="quarter" idx="12" hasCustomPrompt="1"/>
          </p:nvPr>
        </p:nvSpPr>
        <p:spPr>
          <a:xfrm>
            <a:off x="7296150" y="2133600"/>
            <a:ext cx="4683125" cy="3856038"/>
          </a:xfrm>
        </p:spPr>
        <p:txBody>
          <a:bodyPr/>
          <a:lstStyle>
            <a:lvl1pPr marL="0" marR="0" indent="0" algn="l" defTabSz="914400" rtl="0" eaLnBrk="1" fontAlgn="auto" latinLnBrk="0" hangingPunct="1">
              <a:lnSpc>
                <a:spcPct val="100000"/>
              </a:lnSpc>
              <a:spcBef>
                <a:spcPts val="1800"/>
              </a:spcBef>
              <a:spcAft>
                <a:spcPts val="0"/>
              </a:spcAft>
              <a:buClrTx/>
              <a:buSzTx/>
              <a:buFontTx/>
              <a:buNone/>
              <a:tabLst/>
              <a:defRPr sz="2400">
                <a:solidFill>
                  <a:schemeClr val="bg2">
                    <a:lumMod val="25000"/>
                  </a:schemeClr>
                </a:solidFill>
              </a:defRPr>
            </a:lvl1pPr>
          </a:lstStyle>
          <a:p>
            <a:pPr algn="l">
              <a:lnSpc>
                <a:spcPct val="100000"/>
              </a:lnSpc>
              <a:spcBef>
                <a:spcPts val="1800"/>
              </a:spcBef>
            </a:pPr>
            <a:r>
              <a:rPr lang="en-GB" i="1" dirty="0">
                <a:solidFill>
                  <a:schemeClr val="bg2">
                    <a:lumMod val="25000"/>
                  </a:schemeClr>
                </a:solidFill>
                <a:latin typeface="Georgia" panose="02040502050405020303" pitchFamily="18" charset="0"/>
              </a:rPr>
              <a:t>Multiple RBM workshops for</a:t>
            </a:r>
            <a:br>
              <a:rPr lang="en-GB" i="1" dirty="0">
                <a:solidFill>
                  <a:schemeClr val="bg2">
                    <a:lumMod val="25000"/>
                  </a:schemeClr>
                </a:solidFill>
                <a:latin typeface="Georgia" panose="02040502050405020303" pitchFamily="18" charset="0"/>
              </a:rPr>
            </a:br>
            <a:r>
              <a:rPr lang="en-GB" i="1" dirty="0">
                <a:solidFill>
                  <a:schemeClr val="bg2">
                    <a:lumMod val="25000"/>
                  </a:schemeClr>
                </a:solidFill>
                <a:latin typeface="Georgia" panose="02040502050405020303" pitchFamily="18" charset="0"/>
              </a:rPr>
              <a:t>all HQ-based teams and Regional Offices </a:t>
            </a:r>
          </a:p>
          <a:p>
            <a:pPr algn="l">
              <a:lnSpc>
                <a:spcPct val="100000"/>
              </a:lnSpc>
              <a:spcBef>
                <a:spcPts val="1800"/>
              </a:spcBef>
            </a:pPr>
            <a:r>
              <a:rPr lang="en-GB" i="1" dirty="0">
                <a:solidFill>
                  <a:schemeClr val="bg2">
                    <a:lumMod val="25000"/>
                  </a:schemeClr>
                </a:solidFill>
                <a:latin typeface="Georgia" panose="02040502050405020303" pitchFamily="18" charset="0"/>
              </a:rPr>
              <a:t>Project Management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Communication for Development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Procurement training</a:t>
            </a:r>
            <a:endParaRPr lang="en-US" i="1" dirty="0">
              <a:solidFill>
                <a:schemeClr val="bg2">
                  <a:lumMod val="25000"/>
                </a:schemeClr>
              </a:solidFill>
              <a:latin typeface="Georgia" panose="02040502050405020303" pitchFamily="18" charset="0"/>
            </a:endParaRPr>
          </a:p>
          <a:p>
            <a:pPr lvl="0"/>
            <a:endParaRPr lang="en-US" dirty="0"/>
          </a:p>
        </p:txBody>
      </p:sp>
    </p:spTree>
    <p:extLst>
      <p:ext uri="{BB962C8B-B14F-4D97-AF65-F5344CB8AC3E}">
        <p14:creationId xmlns:p14="http://schemas.microsoft.com/office/powerpoint/2010/main" val="24450848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Big text two columns">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725414" y="2033625"/>
            <a:ext cx="8999926" cy="4067251"/>
          </a:xfrm>
        </p:spPr>
        <p:txBody>
          <a:bodyPr numCol="2" spcCol="274320">
            <a:noAutofit/>
          </a:bodyPr>
          <a:lstStyle>
            <a:lvl1pPr marL="91440" marR="0" indent="0" algn="l" defTabSz="914400" rtl="0" eaLnBrk="1" fontAlgn="auto" latinLnBrk="0" hangingPunct="1">
              <a:lnSpc>
                <a:spcPct val="100000"/>
              </a:lnSpc>
              <a:spcBef>
                <a:spcPts val="1000"/>
              </a:spcBef>
              <a:spcAft>
                <a:spcPts val="0"/>
              </a:spcAft>
              <a:buClr>
                <a:srgbClr val="009CD6"/>
              </a:buClr>
              <a:buSzPct val="110000"/>
              <a:buFontTx/>
              <a:buNone/>
              <a:tabLst/>
              <a:defRPr sz="2400" spc="20"/>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Donec </a:t>
            </a:r>
            <a:r>
              <a:rPr lang="en-US" dirty="0" err="1"/>
              <a:t>quam</a:t>
            </a:r>
            <a:r>
              <a:rPr lang="en-US" dirty="0"/>
              <a:t> </a:t>
            </a:r>
            <a:r>
              <a:rPr lang="en-US" dirty="0" err="1"/>
              <a:t>felis</a:t>
            </a:r>
            <a:r>
              <a:rPr lang="en-US" dirty="0"/>
              <a:t>, </a:t>
            </a:r>
            <a:r>
              <a:rPr lang="en-US" dirty="0" err="1"/>
              <a:t>ultricies</a:t>
            </a:r>
            <a:r>
              <a:rPr lang="en-US" dirty="0"/>
              <a:t> </a:t>
            </a:r>
            <a:r>
              <a:rPr lang="en-US" dirty="0" err="1"/>
              <a:t>nec</a:t>
            </a:r>
            <a:r>
              <a:rPr lang="en-US" dirty="0"/>
              <a:t>, </a:t>
            </a:r>
            <a:r>
              <a:rPr lang="en-US" dirty="0" err="1"/>
              <a:t>pellentesque</a:t>
            </a:r>
            <a:r>
              <a:rPr lang="en-US" dirty="0"/>
              <a:t> </a:t>
            </a:r>
            <a:r>
              <a:rPr lang="en-US" dirty="0" err="1"/>
              <a:t>eu</a:t>
            </a:r>
            <a:r>
              <a:rPr lang="en-US" dirty="0"/>
              <a:t>, </a:t>
            </a:r>
            <a:r>
              <a:rPr lang="en-US" dirty="0" err="1"/>
              <a:t>pretium</a:t>
            </a:r>
            <a:r>
              <a:rPr lang="en-US" dirty="0"/>
              <a:t> </a:t>
            </a:r>
            <a:r>
              <a:rPr lang="en-US" dirty="0" err="1"/>
              <a:t>quis</a:t>
            </a:r>
            <a:r>
              <a:rPr lang="en-US" dirty="0"/>
              <a:t>, sem. </a:t>
            </a:r>
          </a:p>
          <a:p>
            <a:pPr lvl="0"/>
            <a:r>
              <a:rPr lang="en-US" dirty="0" err="1"/>
              <a:t>Nulla</a:t>
            </a:r>
            <a:r>
              <a:rPr lang="en-US" dirty="0"/>
              <a:t> </a:t>
            </a:r>
            <a:r>
              <a:rPr lang="en-US" dirty="0" err="1"/>
              <a:t>consequat</a:t>
            </a:r>
            <a:r>
              <a:rPr lang="en-US" dirty="0"/>
              <a:t> </a:t>
            </a:r>
            <a:r>
              <a:rPr lang="en-US" dirty="0" err="1"/>
              <a:t>massa</a:t>
            </a:r>
            <a:r>
              <a:rPr lang="en-US" dirty="0"/>
              <a:t> </a:t>
            </a:r>
            <a:r>
              <a:rPr lang="en-US" dirty="0" err="1"/>
              <a:t>quis</a:t>
            </a:r>
            <a:r>
              <a:rPr lang="en-US" dirty="0"/>
              <a:t> </a:t>
            </a:r>
            <a:r>
              <a:rPr lang="en-US" dirty="0" err="1"/>
              <a:t>enim</a:t>
            </a:r>
            <a:r>
              <a:rPr lang="en-US" dirty="0"/>
              <a:t>. Donec </a:t>
            </a:r>
            <a:r>
              <a:rPr lang="en-US" dirty="0" err="1"/>
              <a:t>pede</a:t>
            </a:r>
            <a:r>
              <a:rPr lang="en-US" dirty="0"/>
              <a:t> </a:t>
            </a:r>
            <a:r>
              <a:rPr lang="en-US" dirty="0" err="1"/>
              <a:t>justo</a:t>
            </a:r>
            <a:r>
              <a:rPr lang="en-US" dirty="0"/>
              <a:t>, </a:t>
            </a:r>
            <a:r>
              <a:rPr lang="en-US" dirty="0" err="1"/>
              <a:t>fringilla</a:t>
            </a:r>
            <a:r>
              <a:rPr lang="en-US" dirty="0"/>
              <a:t> vel, </a:t>
            </a:r>
            <a:r>
              <a:rPr lang="en-US" dirty="0" err="1"/>
              <a:t>aliquet</a:t>
            </a:r>
            <a:r>
              <a:rPr lang="en-US" dirty="0"/>
              <a:t> </a:t>
            </a:r>
            <a:r>
              <a:rPr lang="en-US" dirty="0" err="1"/>
              <a:t>nec</a:t>
            </a:r>
            <a:r>
              <a:rPr lang="en-US" dirty="0"/>
              <a:t>.</a:t>
            </a:r>
          </a:p>
          <a:p>
            <a:pPr marL="91440" marR="0" lvl="0" indent="0" algn="l" defTabSz="914400" rtl="0" eaLnBrk="1" fontAlgn="auto" latinLnBrk="0" hangingPunct="1">
              <a:lnSpc>
                <a:spcPct val="100000"/>
              </a:lnSpc>
              <a:spcBef>
                <a:spcPts val="1000"/>
              </a:spcBef>
              <a:spcAft>
                <a:spcPts val="0"/>
              </a:spcAft>
              <a:buClr>
                <a:srgbClr val="009CD6"/>
              </a:buClr>
              <a:buSzPct val="110000"/>
              <a:buFontTx/>
              <a:buNone/>
              <a:tabLst/>
              <a:defRPr/>
            </a:pPr>
            <a:r>
              <a:rPr lang="en-US" dirty="0"/>
              <a:t>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Donec </a:t>
            </a:r>
            <a:r>
              <a:rPr lang="en-US" dirty="0" err="1"/>
              <a:t>quam</a:t>
            </a:r>
            <a:r>
              <a:rPr lang="en-US" dirty="0"/>
              <a:t> </a:t>
            </a:r>
            <a:r>
              <a:rPr lang="en-US" dirty="0" err="1"/>
              <a:t>felis</a:t>
            </a:r>
            <a:r>
              <a:rPr lang="en-US" dirty="0"/>
              <a:t>, </a:t>
            </a:r>
            <a:r>
              <a:rPr lang="en-US" dirty="0" err="1"/>
              <a:t>ultricies</a:t>
            </a:r>
            <a:r>
              <a:rPr lang="en-US" dirty="0"/>
              <a:t> </a:t>
            </a:r>
            <a:r>
              <a:rPr lang="en-US" dirty="0" err="1"/>
              <a:t>nec</a:t>
            </a:r>
            <a:r>
              <a:rPr lang="en-US" dirty="0"/>
              <a:t>, </a:t>
            </a:r>
            <a:r>
              <a:rPr lang="en-US" dirty="0" err="1"/>
              <a:t>pellentesque</a:t>
            </a:r>
            <a:r>
              <a:rPr lang="en-US" dirty="0"/>
              <a:t> </a:t>
            </a:r>
            <a:r>
              <a:rPr lang="en-US" dirty="0" err="1"/>
              <a:t>eu</a:t>
            </a:r>
            <a:r>
              <a:rPr lang="en-US" dirty="0"/>
              <a:t>, </a:t>
            </a:r>
            <a:r>
              <a:rPr lang="en-US" dirty="0" err="1"/>
              <a:t>pretium</a:t>
            </a:r>
            <a:r>
              <a:rPr lang="en-US" dirty="0"/>
              <a:t> </a:t>
            </a:r>
            <a:r>
              <a:rPr lang="en-US" dirty="0" err="1"/>
              <a:t>quis</a:t>
            </a:r>
            <a:r>
              <a:rPr lang="en-US" dirty="0"/>
              <a:t>, sem.</a:t>
            </a:r>
          </a:p>
        </p:txBody>
      </p:sp>
      <p:sp>
        <p:nvSpPr>
          <p:cNvPr id="8" name="Title 1">
            <a:extLst>
              <a:ext uri="{FF2B5EF4-FFF2-40B4-BE49-F238E27FC236}">
                <a16:creationId xmlns:a16="http://schemas.microsoft.com/office/drawing/2014/main" id="{2068AA50-AAA8-4842-ABF3-40CA7CFE97D8}"/>
              </a:ext>
            </a:extLst>
          </p:cNvPr>
          <p:cNvSpPr>
            <a:spLocks noGrp="1"/>
          </p:cNvSpPr>
          <p:nvPr>
            <p:ph type="title" hasCustomPrompt="1"/>
          </p:nvPr>
        </p:nvSpPr>
        <p:spPr>
          <a:xfrm>
            <a:off x="719358" y="685156"/>
            <a:ext cx="8999926" cy="597012"/>
          </a:xfrm>
          <a:prstGeom prst="rect">
            <a:avLst/>
          </a:prstGeom>
        </p:spPr>
        <p:txBody>
          <a:bodyPr>
            <a:noAutofit/>
          </a:bodyPr>
          <a:lstStyle>
            <a:lvl1pPr>
              <a:defRPr sz="2800"/>
            </a:lvl1pPr>
          </a:lstStyle>
          <a:p>
            <a:pPr lvl="0"/>
            <a:r>
              <a:rPr lang="en-US" dirty="0"/>
              <a:t>Click to edit Master text styles</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50670260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Big text 1 column">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725414" y="2033625"/>
            <a:ext cx="6297178" cy="4067251"/>
          </a:xfrm>
        </p:spPr>
        <p:txBody>
          <a:bodyPr numCol="1" spcCol="274320">
            <a:noAutofit/>
          </a:bodyPr>
          <a:lstStyle>
            <a:lvl1pPr marL="91440" marR="0" indent="0" algn="l" defTabSz="914400" rtl="0" eaLnBrk="1" fontAlgn="auto" latinLnBrk="0" hangingPunct="1">
              <a:lnSpc>
                <a:spcPct val="100000"/>
              </a:lnSpc>
              <a:spcBef>
                <a:spcPts val="1000"/>
              </a:spcBef>
              <a:spcAft>
                <a:spcPts val="0"/>
              </a:spcAft>
              <a:buClr>
                <a:srgbClr val="009CD6"/>
              </a:buClr>
              <a:buSzPct val="110000"/>
              <a:buFontTx/>
              <a:buNone/>
              <a:tabLst/>
              <a:defRPr sz="2400" spc="20"/>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Donec </a:t>
            </a:r>
            <a:r>
              <a:rPr lang="en-US" dirty="0" err="1"/>
              <a:t>quam</a:t>
            </a:r>
            <a:r>
              <a:rPr lang="en-US" dirty="0"/>
              <a:t> </a:t>
            </a:r>
            <a:r>
              <a:rPr lang="en-US" dirty="0" err="1"/>
              <a:t>felis</a:t>
            </a:r>
            <a:r>
              <a:rPr lang="en-US" dirty="0"/>
              <a:t>, </a:t>
            </a:r>
            <a:r>
              <a:rPr lang="en-US" dirty="0" err="1"/>
              <a:t>ultricies</a:t>
            </a:r>
            <a:r>
              <a:rPr lang="en-US" dirty="0"/>
              <a:t> </a:t>
            </a:r>
            <a:r>
              <a:rPr lang="en-US" dirty="0" err="1"/>
              <a:t>nec</a:t>
            </a:r>
            <a:r>
              <a:rPr lang="en-US" dirty="0"/>
              <a:t>, </a:t>
            </a:r>
            <a:r>
              <a:rPr lang="en-US" dirty="0" err="1"/>
              <a:t>pellentesque</a:t>
            </a:r>
            <a:r>
              <a:rPr lang="en-US" dirty="0"/>
              <a:t> </a:t>
            </a:r>
            <a:r>
              <a:rPr lang="en-US" dirty="0" err="1"/>
              <a:t>eu</a:t>
            </a:r>
            <a:r>
              <a:rPr lang="en-US" dirty="0"/>
              <a:t>, </a:t>
            </a:r>
            <a:r>
              <a:rPr lang="en-US" dirty="0" err="1"/>
              <a:t>pretium</a:t>
            </a:r>
            <a:r>
              <a:rPr lang="en-US" dirty="0"/>
              <a:t> </a:t>
            </a:r>
            <a:r>
              <a:rPr lang="en-US" dirty="0" err="1"/>
              <a:t>quis</a:t>
            </a:r>
            <a:r>
              <a:rPr lang="en-US" dirty="0"/>
              <a:t>, sem. </a:t>
            </a:r>
          </a:p>
        </p:txBody>
      </p:sp>
      <p:sp>
        <p:nvSpPr>
          <p:cNvPr id="8" name="Title 1">
            <a:extLst>
              <a:ext uri="{FF2B5EF4-FFF2-40B4-BE49-F238E27FC236}">
                <a16:creationId xmlns:a16="http://schemas.microsoft.com/office/drawing/2014/main" id="{2068AA50-AAA8-4842-ABF3-40CA7CFE97D8}"/>
              </a:ext>
            </a:extLst>
          </p:cNvPr>
          <p:cNvSpPr>
            <a:spLocks noGrp="1"/>
          </p:cNvSpPr>
          <p:nvPr>
            <p:ph type="title" hasCustomPrompt="1"/>
          </p:nvPr>
        </p:nvSpPr>
        <p:spPr>
          <a:xfrm>
            <a:off x="719358" y="685156"/>
            <a:ext cx="8999926" cy="597012"/>
          </a:xfrm>
          <a:prstGeom prst="rect">
            <a:avLst/>
          </a:prstGeom>
        </p:spPr>
        <p:txBody>
          <a:bodyPr>
            <a:noAutofit/>
          </a:bodyPr>
          <a:lstStyle>
            <a:lvl1pPr>
              <a:defRPr sz="2800"/>
            </a:lvl1pPr>
          </a:lstStyle>
          <a:p>
            <a:pPr lvl="0"/>
            <a:r>
              <a:rPr lang="en-US" dirty="0"/>
              <a:t>Click to edit Master text styles</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56407432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Big text aligned right + Italic">
    <p:spTree>
      <p:nvGrpSpPr>
        <p:cNvPr id="1" name=""/>
        <p:cNvGrpSpPr/>
        <p:nvPr/>
      </p:nvGrpSpPr>
      <p:grpSpPr>
        <a:xfrm>
          <a:off x="0" y="0"/>
          <a:ext cx="0" cy="0"/>
          <a:chOff x="0" y="0"/>
          <a:chExt cx="0" cy="0"/>
        </a:xfrm>
      </p:grpSpPr>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a:t>Click to edit section name</a:t>
            </a:r>
            <a:endParaRPr lang="en-US" dirty="0"/>
          </a:p>
        </p:txBody>
      </p:sp>
      <p:sp>
        <p:nvSpPr>
          <p:cNvPr id="6" name="Shape 610" hidden="1">
            <a:extLst>
              <a:ext uri="{FF2B5EF4-FFF2-40B4-BE49-F238E27FC236}">
                <a16:creationId xmlns:a16="http://schemas.microsoft.com/office/drawing/2014/main" id="{C5B068B2-AEB9-41E6-AB3C-EA87FFB0FE76}"/>
              </a:ext>
            </a:extLst>
          </p:cNvPr>
          <p:cNvSpPr/>
          <p:nvPr userDrawn="1"/>
        </p:nvSpPr>
        <p:spPr>
          <a:xfrm>
            <a:off x="510238" y="2132869"/>
            <a:ext cx="6303518" cy="3103212"/>
          </a:xfrm>
          <a:prstGeom prst="rect">
            <a:avLst/>
          </a:prstGeom>
          <a:noFill/>
          <a:ln>
            <a:noFill/>
          </a:ln>
        </p:spPr>
        <p:txBody>
          <a:bodyPr lIns="91412" tIns="45700" rIns="91412" bIns="45700" anchor="t" anchorCtr="0">
            <a:noAutofit/>
          </a:bodyPr>
          <a:lstStyle/>
          <a:p>
            <a:pPr algn="r">
              <a:buSzPct val="25000"/>
            </a:pPr>
            <a:r>
              <a:rPr lang="en-GB" sz="2800" dirty="0">
                <a:latin typeface="Arial" panose="020B0604020202020204" pitchFamily="34" charset="0"/>
                <a:ea typeface="Roboto"/>
                <a:cs typeface="Arial" panose="020B0604020202020204" pitchFamily="34" charset="0"/>
                <a:sym typeface="Roboto"/>
              </a:rPr>
              <a:t>We have focused on </a:t>
            </a:r>
            <a:r>
              <a:rPr lang="en-GB" sz="2800" b="1" dirty="0">
                <a:latin typeface="Arial" panose="020B0604020202020204" pitchFamily="34" charset="0"/>
                <a:ea typeface="Roboto"/>
                <a:cs typeface="Arial" panose="020B0604020202020204" pitchFamily="34" charset="0"/>
                <a:sym typeface="Roboto"/>
              </a:rPr>
              <a:t>preparing and empowering BDT staff</a:t>
            </a:r>
            <a:r>
              <a:rPr lang="en-GB" sz="2800" dirty="0">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p:txBody>
      </p:sp>
      <p:sp>
        <p:nvSpPr>
          <p:cNvPr id="7" name="Subtitle 8">
            <a:extLst>
              <a:ext uri="{FF2B5EF4-FFF2-40B4-BE49-F238E27FC236}">
                <a16:creationId xmlns:a16="http://schemas.microsoft.com/office/drawing/2014/main" id="{A4620858-2872-44F6-B072-7E678A260322}"/>
              </a:ext>
            </a:extLst>
          </p:cNvPr>
          <p:cNvSpPr txBox="1">
            <a:spLocks/>
          </p:cNvSpPr>
          <p:nvPr userDrawn="1"/>
        </p:nvSpPr>
        <p:spPr>
          <a:xfrm>
            <a:off x="7295839" y="2132869"/>
            <a:ext cx="4663323" cy="4303496"/>
          </a:xfrm>
          <a:prstGeom prst="rect">
            <a:avLst/>
          </a:prstGeom>
        </p:spPr>
        <p:txBody>
          <a:bodyPr>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Arial" panose="020B0604020202020204" pitchFamily="34" charset="0"/>
                <a:ea typeface="+mn-ea"/>
                <a:cs typeface="Arial" panose="020B0604020202020204" pitchFamily="34" charset="0"/>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lnSpc>
                <a:spcPct val="100000"/>
              </a:lnSpc>
              <a:spcBef>
                <a:spcPts val="1800"/>
              </a:spcBef>
            </a:pPr>
            <a:endParaRPr lang="en-US" i="1" dirty="0">
              <a:solidFill>
                <a:schemeClr val="bg2">
                  <a:lumMod val="25000"/>
                </a:schemeClr>
              </a:solidFill>
              <a:latin typeface="Georgia" panose="02040502050405020303" pitchFamily="18" charset="0"/>
            </a:endParaRPr>
          </a:p>
        </p:txBody>
      </p:sp>
      <p:cxnSp>
        <p:nvCxnSpPr>
          <p:cNvPr id="11" name="Straight Connector 10">
            <a:extLst>
              <a:ext uri="{FF2B5EF4-FFF2-40B4-BE49-F238E27FC236}">
                <a16:creationId xmlns:a16="http://schemas.microsoft.com/office/drawing/2014/main" id="{BE0E510D-A28B-40D0-90A9-897A15E93F85}"/>
              </a:ext>
            </a:extLst>
          </p:cNvPr>
          <p:cNvCxnSpPr>
            <a:cxnSpLocks/>
          </p:cNvCxnSpPr>
          <p:nvPr userDrawn="1"/>
        </p:nvCxnSpPr>
        <p:spPr>
          <a:xfrm>
            <a:off x="7069545" y="2248302"/>
            <a:ext cx="0" cy="3133725"/>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4" name="Text Placeholder 3">
            <a:extLst>
              <a:ext uri="{FF2B5EF4-FFF2-40B4-BE49-F238E27FC236}">
                <a16:creationId xmlns:a16="http://schemas.microsoft.com/office/drawing/2014/main" id="{5B885EC5-B7E9-4FBB-A4AE-A260C8DCB031}"/>
              </a:ext>
            </a:extLst>
          </p:cNvPr>
          <p:cNvSpPr>
            <a:spLocks noGrp="1"/>
          </p:cNvSpPr>
          <p:nvPr>
            <p:ph type="body" sz="quarter" idx="11" hasCustomPrompt="1"/>
          </p:nvPr>
        </p:nvSpPr>
        <p:spPr>
          <a:xfrm>
            <a:off x="503238" y="2133600"/>
            <a:ext cx="6297612" cy="3079750"/>
          </a:xfrm>
        </p:spPr>
        <p:txBody>
          <a:bodyPr/>
          <a:lstStyle>
            <a:lvl1pPr marL="0" marR="0" indent="0" algn="r" defTabSz="914400" rtl="0" eaLnBrk="1" fontAlgn="auto" latinLnBrk="0" hangingPunct="1">
              <a:lnSpc>
                <a:spcPct val="100000"/>
              </a:lnSpc>
              <a:spcBef>
                <a:spcPts val="0"/>
              </a:spcBef>
              <a:spcAft>
                <a:spcPts val="0"/>
              </a:spcAft>
              <a:buClrTx/>
              <a:buSzPct val="25000"/>
              <a:buFontTx/>
              <a:buNone/>
              <a:tabLst/>
              <a:defRPr/>
            </a:lvl1pPr>
          </a:lstStyle>
          <a:p>
            <a:pPr marL="0" marR="0" lvl="0" indent="0" algn="r" defTabSz="914400" rtl="0" eaLnBrk="1" fontAlgn="auto" latinLnBrk="0" hangingPunct="1">
              <a:lnSpc>
                <a:spcPct val="100000"/>
              </a:lnSpc>
              <a:spcBef>
                <a:spcPts val="0"/>
              </a:spcBef>
              <a:spcAft>
                <a:spcPts val="0"/>
              </a:spcAft>
              <a:buClrTx/>
              <a:buSzPct val="25000"/>
              <a:buFontTx/>
              <a:buNone/>
              <a:tabLst/>
              <a:defRPr/>
            </a:pP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We have focused on </a:t>
            </a:r>
            <a:r>
              <a:rPr kumimoji="0" lang="en-GB" sz="2800" b="1"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preparing and empowering BDT staff</a:t>
            </a: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a:p>
            <a:pPr lvl="0"/>
            <a:endParaRPr lang="en-US" dirty="0"/>
          </a:p>
        </p:txBody>
      </p:sp>
      <p:sp>
        <p:nvSpPr>
          <p:cNvPr id="12" name="Text Placeholder 11">
            <a:extLst>
              <a:ext uri="{FF2B5EF4-FFF2-40B4-BE49-F238E27FC236}">
                <a16:creationId xmlns:a16="http://schemas.microsoft.com/office/drawing/2014/main" id="{2EFC6EC8-B366-4C1C-9E18-04E70FF727B4}"/>
              </a:ext>
            </a:extLst>
          </p:cNvPr>
          <p:cNvSpPr>
            <a:spLocks noGrp="1"/>
          </p:cNvSpPr>
          <p:nvPr>
            <p:ph type="body" sz="quarter" idx="12" hasCustomPrompt="1"/>
          </p:nvPr>
        </p:nvSpPr>
        <p:spPr>
          <a:xfrm>
            <a:off x="7296150" y="2133600"/>
            <a:ext cx="4683125" cy="3856038"/>
          </a:xfrm>
        </p:spPr>
        <p:txBody>
          <a:bodyPr/>
          <a:lstStyle>
            <a:lvl1pPr marL="0" marR="0" indent="0" algn="l" defTabSz="914400" rtl="0" eaLnBrk="1" fontAlgn="auto" latinLnBrk="0" hangingPunct="1">
              <a:lnSpc>
                <a:spcPct val="100000"/>
              </a:lnSpc>
              <a:spcBef>
                <a:spcPts val="1800"/>
              </a:spcBef>
              <a:spcAft>
                <a:spcPts val="0"/>
              </a:spcAft>
              <a:buClrTx/>
              <a:buSzTx/>
              <a:buFontTx/>
              <a:buNone/>
              <a:tabLst/>
              <a:defRPr sz="2400">
                <a:solidFill>
                  <a:schemeClr val="bg2">
                    <a:lumMod val="25000"/>
                  </a:schemeClr>
                </a:solidFill>
              </a:defRPr>
            </a:lvl1pPr>
          </a:lstStyle>
          <a:p>
            <a:pPr algn="l">
              <a:lnSpc>
                <a:spcPct val="100000"/>
              </a:lnSpc>
              <a:spcBef>
                <a:spcPts val="1800"/>
              </a:spcBef>
            </a:pPr>
            <a:r>
              <a:rPr lang="en-GB" i="1" dirty="0">
                <a:solidFill>
                  <a:schemeClr val="bg2">
                    <a:lumMod val="25000"/>
                  </a:schemeClr>
                </a:solidFill>
                <a:latin typeface="Georgia" panose="02040502050405020303" pitchFamily="18" charset="0"/>
              </a:rPr>
              <a:t>Multiple RBM workshops for</a:t>
            </a:r>
            <a:br>
              <a:rPr lang="en-GB" i="1" dirty="0">
                <a:solidFill>
                  <a:schemeClr val="bg2">
                    <a:lumMod val="25000"/>
                  </a:schemeClr>
                </a:solidFill>
                <a:latin typeface="Georgia" panose="02040502050405020303" pitchFamily="18" charset="0"/>
              </a:rPr>
            </a:br>
            <a:r>
              <a:rPr lang="en-GB" i="1" dirty="0">
                <a:solidFill>
                  <a:schemeClr val="bg2">
                    <a:lumMod val="25000"/>
                  </a:schemeClr>
                </a:solidFill>
                <a:latin typeface="Georgia" panose="02040502050405020303" pitchFamily="18" charset="0"/>
              </a:rPr>
              <a:t>all HQ-based teams and Regional Offices </a:t>
            </a:r>
          </a:p>
          <a:p>
            <a:pPr algn="l">
              <a:lnSpc>
                <a:spcPct val="100000"/>
              </a:lnSpc>
              <a:spcBef>
                <a:spcPts val="1800"/>
              </a:spcBef>
            </a:pPr>
            <a:r>
              <a:rPr lang="en-GB" i="1" dirty="0">
                <a:solidFill>
                  <a:schemeClr val="bg2">
                    <a:lumMod val="25000"/>
                  </a:schemeClr>
                </a:solidFill>
                <a:latin typeface="Georgia" panose="02040502050405020303" pitchFamily="18" charset="0"/>
              </a:rPr>
              <a:t>Project Management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Communication for Development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Procurement training</a:t>
            </a:r>
            <a:endParaRPr lang="en-US" i="1" dirty="0">
              <a:solidFill>
                <a:schemeClr val="bg2">
                  <a:lumMod val="25000"/>
                </a:schemeClr>
              </a:solidFill>
              <a:latin typeface="Georgia" panose="02040502050405020303" pitchFamily="18" charset="0"/>
            </a:endParaRPr>
          </a:p>
          <a:p>
            <a:pPr lvl="0"/>
            <a:endParaRPr lang="en-US" dirty="0"/>
          </a:p>
        </p:txBody>
      </p:sp>
    </p:spTree>
    <p:extLst>
      <p:ext uri="{BB962C8B-B14F-4D97-AF65-F5344CB8AC3E}">
        <p14:creationId xmlns:p14="http://schemas.microsoft.com/office/powerpoint/2010/main" val="34633762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Quote with big quote marks">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1520946" y="2336800"/>
            <a:ext cx="9150108" cy="3764076"/>
          </a:xfrm>
        </p:spPr>
        <p:txBody>
          <a:bodyPr numCol="1" spcCol="274320">
            <a:noAutofit/>
          </a:bodyPr>
          <a:lstStyle>
            <a:lvl1pPr marL="91440" indent="0">
              <a:lnSpc>
                <a:spcPct val="100000"/>
              </a:lnSpc>
              <a:buClr>
                <a:srgbClr val="009CD6"/>
              </a:buClr>
              <a:buFontTx/>
              <a:buNone/>
              <a:defRPr sz="3200" i="1" spc="20">
                <a:latin typeface="Georgia" panose="02040502050405020303" pitchFamily="18" charset="0"/>
              </a:defRPr>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lgn="l">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987959152"/>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Quote with photo">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1520946" y="2658534"/>
            <a:ext cx="9150108" cy="3764076"/>
          </a:xfrm>
        </p:spPr>
        <p:txBody>
          <a:bodyPr numCol="1" spcCol="274320">
            <a:noAutofit/>
          </a:bodyPr>
          <a:lstStyle>
            <a:lvl1pPr marL="91440" indent="0">
              <a:lnSpc>
                <a:spcPct val="100000"/>
              </a:lnSpc>
              <a:buClr>
                <a:srgbClr val="009CD6"/>
              </a:buClr>
              <a:buFontTx/>
              <a:buNone/>
              <a:defRPr sz="3200" i="1" spc="20">
                <a:latin typeface="Georgia" panose="02040502050405020303" pitchFamily="18" charset="0"/>
              </a:defRPr>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lgn="l">
              <a:buNone/>
              <a:defRPr sz="1600">
                <a:solidFill>
                  <a:schemeClr val="accent2"/>
                </a:solidFill>
              </a:defRPr>
            </a:lvl1pPr>
          </a:lstStyle>
          <a:p>
            <a:pPr lvl="0"/>
            <a:r>
              <a:rPr lang="en-US" dirty="0"/>
              <a:t>Click to edit section name</a:t>
            </a:r>
          </a:p>
        </p:txBody>
      </p:sp>
      <p:sp>
        <p:nvSpPr>
          <p:cNvPr id="6" name="Picture Placeholder 5">
            <a:extLst>
              <a:ext uri="{FF2B5EF4-FFF2-40B4-BE49-F238E27FC236}">
                <a16:creationId xmlns:a16="http://schemas.microsoft.com/office/drawing/2014/main" id="{BE0DB947-B9BF-4F5D-BCB3-A4E551A7C958}"/>
              </a:ext>
            </a:extLst>
          </p:cNvPr>
          <p:cNvSpPr>
            <a:spLocks noGrp="1"/>
          </p:cNvSpPr>
          <p:nvPr>
            <p:ph type="pic" sz="quarter" idx="11" hasCustomPrompt="1"/>
          </p:nvPr>
        </p:nvSpPr>
        <p:spPr>
          <a:xfrm>
            <a:off x="5473700" y="1215232"/>
            <a:ext cx="1244600" cy="1244600"/>
          </a:xfrm>
          <a:prstGeom prst="flowChartConnector">
            <a:avLst/>
          </a:prstGeom>
          <a:solidFill>
            <a:schemeClr val="bg1">
              <a:lumMod val="85000"/>
            </a:schemeClr>
          </a:solidFill>
        </p:spPr>
        <p:txBody>
          <a:bodyPr anchor="ctr"/>
          <a:lstStyle>
            <a:lvl1pPr>
              <a:defRPr sz="1400" b="0"/>
            </a:lvl1pPr>
          </a:lstStyle>
          <a:p>
            <a:r>
              <a:rPr lang="en-US" dirty="0"/>
              <a:t>Insert</a:t>
            </a:r>
            <a:br>
              <a:rPr lang="en-US" dirty="0"/>
            </a:br>
            <a:r>
              <a:rPr lang="en-US" dirty="0"/>
              <a:t>Photo</a:t>
            </a:r>
          </a:p>
        </p:txBody>
      </p:sp>
    </p:spTree>
    <p:extLst>
      <p:ext uri="{BB962C8B-B14F-4D97-AF65-F5344CB8AC3E}">
        <p14:creationId xmlns:p14="http://schemas.microsoft.com/office/powerpoint/2010/main" val="10683193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Title + large image (light blue bg) 2">
    <p:spTree>
      <p:nvGrpSpPr>
        <p:cNvPr id="1" name=""/>
        <p:cNvGrpSpPr/>
        <p:nvPr/>
      </p:nvGrpSpPr>
      <p:grpSpPr>
        <a:xfrm>
          <a:off x="0" y="0"/>
          <a:ext cx="0" cy="0"/>
          <a:chOff x="0" y="0"/>
          <a:chExt cx="0" cy="0"/>
        </a:xfrm>
      </p:grpSpPr>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698526" y="1881427"/>
            <a:ext cx="10976290" cy="3985973"/>
          </a:xfrm>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cxnSp>
        <p:nvCxnSpPr>
          <p:cNvPr id="6" name="Straight Connector 5">
            <a:extLst>
              <a:ext uri="{FF2B5EF4-FFF2-40B4-BE49-F238E27FC236}">
                <a16:creationId xmlns:a16="http://schemas.microsoft.com/office/drawing/2014/main" id="{E7FA0E66-7846-4BCB-AE09-F966602C759F}"/>
              </a:ext>
            </a:extLst>
          </p:cNvPr>
          <p:cNvCxnSpPr/>
          <p:nvPr userDrawn="1"/>
        </p:nvCxnSpPr>
        <p:spPr>
          <a:xfrm>
            <a:off x="607468"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9" name="Text Placeholder 3">
            <a:extLst>
              <a:ext uri="{FF2B5EF4-FFF2-40B4-BE49-F238E27FC236}">
                <a16:creationId xmlns:a16="http://schemas.microsoft.com/office/drawing/2014/main" id="{CF0B2556-6FCF-4306-988D-12A70352A48D}"/>
              </a:ext>
            </a:extLst>
          </p:cNvPr>
          <p:cNvSpPr>
            <a:spLocks noGrp="1"/>
          </p:cNvSpPr>
          <p:nvPr>
            <p:ph type="body" sz="quarter" idx="10"/>
          </p:nvPr>
        </p:nvSpPr>
        <p:spPr>
          <a:xfrm>
            <a:off x="607468" y="313371"/>
            <a:ext cx="4554538" cy="308803"/>
          </a:xfrm>
        </p:spPr>
        <p:txBody>
          <a:bodyPr anchor="ctr"/>
          <a:lstStyle>
            <a:lvl1pPr marL="91440" indent="0">
              <a:buNone/>
              <a:defRPr sz="1600">
                <a:solidFill>
                  <a:schemeClr val="accent2"/>
                </a:solidFill>
              </a:defRPr>
            </a:lvl1pPr>
          </a:lstStyle>
          <a:p>
            <a:pPr lvl="0"/>
            <a:r>
              <a:rPr lang="en-US" dirty="0"/>
              <a:t>Click to edit Master text styles</a:t>
            </a:r>
          </a:p>
        </p:txBody>
      </p:sp>
      <p:sp>
        <p:nvSpPr>
          <p:cNvPr id="10" name="Title Placeholder 1">
            <a:extLst>
              <a:ext uri="{FF2B5EF4-FFF2-40B4-BE49-F238E27FC236}">
                <a16:creationId xmlns:a16="http://schemas.microsoft.com/office/drawing/2014/main" id="{B0DA0626-8521-4B9A-A854-E817A6A1230B}"/>
              </a:ext>
            </a:extLst>
          </p:cNvPr>
          <p:cNvSpPr>
            <a:spLocks noGrp="1"/>
          </p:cNvSpPr>
          <p:nvPr>
            <p:ph type="title"/>
          </p:nvPr>
        </p:nvSpPr>
        <p:spPr>
          <a:xfrm>
            <a:off x="688392" y="1231105"/>
            <a:ext cx="10515600" cy="568434"/>
          </a:xfrm>
          <a:prstGeom prst="rect">
            <a:avLst/>
          </a:prstGeom>
        </p:spPr>
        <p:txBody>
          <a:bodyPr vert="horz" lIns="91440" tIns="45720" rIns="91440" bIns="45720" rtlCol="0" anchor="t">
            <a:noAutofit/>
          </a:bodyPr>
          <a:lstStyle/>
          <a:p>
            <a:r>
              <a:rPr lang="en-US" dirty="0"/>
              <a:t>Click to edit Master title style</a:t>
            </a:r>
          </a:p>
        </p:txBody>
      </p:sp>
    </p:spTree>
    <p:extLst>
      <p:ext uri="{BB962C8B-B14F-4D97-AF65-F5344CB8AC3E}">
        <p14:creationId xmlns:p14="http://schemas.microsoft.com/office/powerpoint/2010/main" val="2362081594"/>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Blank (light blue)">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055F4467-8115-4C34-B39A-8E571F625EA9}"/>
              </a:ext>
            </a:extLst>
          </p:cNvPr>
          <p:cNvSpPr/>
          <p:nvPr userDrawn="1"/>
        </p:nvSpPr>
        <p:spPr>
          <a:xfrm>
            <a:off x="-30161" y="0"/>
            <a:ext cx="12222161" cy="6858000"/>
          </a:xfrm>
          <a:prstGeom prst="rect">
            <a:avLst/>
          </a:prstGeom>
          <a:solidFill>
            <a:srgbClr val="F5FAF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Tree>
    <p:extLst>
      <p:ext uri="{BB962C8B-B14F-4D97-AF65-F5344CB8AC3E}">
        <p14:creationId xmlns:p14="http://schemas.microsoft.com/office/powerpoint/2010/main" val="3067180665"/>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blank">
  <p:cSld name="Blank (white bg) ">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336622E0-A137-429D-BE75-779E322CE694}"/>
              </a:ext>
            </a:extLst>
          </p:cNvPr>
          <p:cNvSpPr/>
          <p:nvPr userDrawn="1"/>
        </p:nvSpPr>
        <p:spPr>
          <a:xfrm>
            <a:off x="-30161" y="0"/>
            <a:ext cx="12222161"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latin typeface="Avenir Next LT Pro" panose="020B0504020202020204" pitchFamily="34" charset="0"/>
              </a:rPr>
              <a:t> </a:t>
            </a:r>
          </a:p>
        </p:txBody>
      </p:sp>
    </p:spTree>
    <p:extLst>
      <p:ext uri="{BB962C8B-B14F-4D97-AF65-F5344CB8AC3E}">
        <p14:creationId xmlns:p14="http://schemas.microsoft.com/office/powerpoint/2010/main" val="105035650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slideLayout" Target="../slideLayouts/slideLayout19.xml"/><Relationship Id="rId3" Type="http://schemas.openxmlformats.org/officeDocument/2006/relationships/slideLayout" Target="../slideLayouts/slideLayout20.xml"/><Relationship Id="rId4"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slideLayout" Target="../slideLayouts/slideLayout22.xml"/><Relationship Id="rId3" Type="http://schemas.openxmlformats.org/officeDocument/2006/relationships/theme" Target="../theme/theme3.xml"/></Relationships>
</file>

<file path=ppt/slideMasters/_rels/slideMaster4.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slideLayout" Target="../slideLayouts/slideLayout24.xml"/><Relationship Id="rId3" Type="http://schemas.openxmlformats.org/officeDocument/2006/relationships/slideLayout" Target="../slideLayouts/slideLayout25.xml"/><Relationship Id="rId4" Type="http://schemas.openxmlformats.org/officeDocument/2006/relationships/theme" Target="../theme/theme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6C4518C-C369-4BCE-93F6-ACF7A0A4563A}"/>
              </a:ext>
            </a:extLst>
          </p:cNvPr>
          <p:cNvSpPr>
            <a:spLocks noGrp="1"/>
          </p:cNvSpPr>
          <p:nvPr>
            <p:ph type="title"/>
          </p:nvPr>
        </p:nvSpPr>
        <p:spPr>
          <a:xfrm>
            <a:off x="688392" y="879975"/>
            <a:ext cx="10515600" cy="746442"/>
          </a:xfrm>
          <a:prstGeom prst="rect">
            <a:avLst/>
          </a:prstGeom>
        </p:spPr>
        <p:txBody>
          <a:bodyPr vert="horz" lIns="91440" tIns="45720" rIns="91440" bIns="45720" rtlCol="0" anchor="t">
            <a:no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6328A0EE-5A32-42C1-8C1D-EA2BEF099C17}"/>
              </a:ext>
            </a:extLst>
          </p:cNvPr>
          <p:cNvSpPr>
            <a:spLocks noGrp="1"/>
          </p:cNvSpPr>
          <p:nvPr>
            <p:ph type="body" idx="1"/>
          </p:nvPr>
        </p:nvSpPr>
        <p:spPr>
          <a:xfrm>
            <a:off x="688392" y="1804342"/>
            <a:ext cx="10515600" cy="4351338"/>
          </a:xfrm>
          <a:prstGeom prst="rect">
            <a:avLst/>
          </a:prstGeom>
        </p:spPr>
        <p:txBody>
          <a:bodyPr vert="horz" lIns="91440" tIns="45720" rIns="91440" bIns="45720" rtlCol="0">
            <a:noAutofit/>
          </a:body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8" name="TextBox 7">
            <a:extLst>
              <a:ext uri="{FF2B5EF4-FFF2-40B4-BE49-F238E27FC236}">
                <a16:creationId xmlns:a16="http://schemas.microsoft.com/office/drawing/2014/main" id="{69A5A063-7EAA-4705-81BD-73270FF5BA28}"/>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9" name="TextBox 8">
            <a:extLst>
              <a:ext uri="{FF2B5EF4-FFF2-40B4-BE49-F238E27FC236}">
                <a16:creationId xmlns:a16="http://schemas.microsoft.com/office/drawing/2014/main" id="{F4ED357C-3FA0-42D4-850C-879BB0BE1875}"/>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3452108936"/>
      </p:ext>
    </p:extLst>
  </p:cSld>
  <p:clrMap bg1="lt1" tx1="dk1" bg2="lt2" tx2="dk2" accent1="accent1" accent2="accent2" accent3="accent3" accent4="accent4" accent5="accent5" accent6="accent6" hlink="hlink" folHlink="folHlink"/>
  <p:sldLayoutIdLst>
    <p:sldLayoutId id="2147483656" r:id="rId1"/>
    <p:sldLayoutId id="2147483653" r:id="rId2"/>
    <p:sldLayoutId id="2147483652" r:id="rId3"/>
    <p:sldLayoutId id="2147483675" r:id="rId4"/>
    <p:sldLayoutId id="2147483676" r:id="rId5"/>
    <p:sldLayoutId id="2147483674" r:id="rId6"/>
    <p:sldLayoutId id="2147483672" r:id="rId7"/>
    <p:sldLayoutId id="2147483657" r:id="rId8"/>
    <p:sldLayoutId id="2147483717" r:id="rId9"/>
    <p:sldLayoutId id="2147483718" r:id="rId10"/>
    <p:sldLayoutId id="2147483719" r:id="rId11"/>
    <p:sldLayoutId id="2147483670" r:id="rId12"/>
    <p:sldLayoutId id="2147483660" r:id="rId13"/>
    <p:sldLayoutId id="2147483687" r:id="rId14"/>
    <p:sldLayoutId id="2147483707" r:id="rId15"/>
    <p:sldLayoutId id="2147483712" r:id="rId16"/>
    <p:sldLayoutId id="2147483721" r:id="rId17"/>
  </p:sldLayoutIdLst>
  <p:hf hdr="0" ftr="0" dt="0"/>
  <p:txStyles>
    <p:titleStyle>
      <a:lvl1pPr algn="l" defTabSz="914400" rtl="0" eaLnBrk="1" latinLnBrk="0" hangingPunct="1">
        <a:lnSpc>
          <a:spcPct val="90000"/>
        </a:lnSpc>
        <a:spcBef>
          <a:spcPct val="0"/>
        </a:spcBef>
        <a:buNone/>
        <a:defRPr sz="2800" b="1" kern="1200">
          <a:solidFill>
            <a:schemeClr val="tx1"/>
          </a:solidFill>
          <a:latin typeface="Arial" panose="020B0604020202020204" pitchFamily="34" charset="0"/>
          <a:ea typeface="+mj-ea"/>
          <a:cs typeface="Arial" panose="020B0604020202020204" pitchFamily="34" charset="0"/>
        </a:defRPr>
      </a:lvl1pPr>
    </p:titleStyle>
    <p:bodyStyle>
      <a:lvl1pPr marL="228600" indent="-137160" algn="l" defTabSz="914400" rtl="0" eaLnBrk="1" latinLnBrk="0" hangingPunct="1">
        <a:lnSpc>
          <a:spcPts val="2200"/>
        </a:lnSpc>
        <a:spcBef>
          <a:spcPts val="1000"/>
        </a:spcBef>
        <a:buClr>
          <a:srgbClr val="009CD6"/>
        </a:buClr>
        <a:buSzPct val="110000"/>
        <a:buFont typeface="Arial" panose="020B0604020202020204" pitchFamily="34" charset="0"/>
        <a:buChar char="•"/>
        <a:defRPr sz="1800" kern="1200" spc="0">
          <a:solidFill>
            <a:schemeClr val="tx1"/>
          </a:solidFill>
          <a:latin typeface="Arial" panose="020B0604020202020204" pitchFamily="34" charset="0"/>
          <a:ea typeface="+mn-ea"/>
          <a:cs typeface="Arial" panose="020B0604020202020204" pitchFamily="34" charset="0"/>
        </a:defRPr>
      </a:lvl1pPr>
      <a:lvl2pPr marL="685800" indent="-137160" algn="l" defTabSz="914400" rtl="0" eaLnBrk="1" latinLnBrk="0" hangingPunct="1">
        <a:lnSpc>
          <a:spcPts val="2200"/>
        </a:lnSpc>
        <a:spcBef>
          <a:spcPts val="500"/>
        </a:spcBef>
        <a:buClr>
          <a:srgbClr val="009CD6"/>
        </a:buClr>
        <a:buSzPct val="110000"/>
        <a:buFont typeface="Arial" panose="020B0604020202020204" pitchFamily="34" charset="0"/>
        <a:buChar char="•"/>
        <a:defRPr sz="1800" kern="1200" spc="0">
          <a:solidFill>
            <a:schemeClr val="tx1"/>
          </a:solidFill>
          <a:latin typeface="Arial" panose="020B0604020202020204" pitchFamily="34" charset="0"/>
          <a:ea typeface="+mn-ea"/>
          <a:cs typeface="Arial" panose="020B0604020202020204" pitchFamily="34" charset="0"/>
        </a:defRPr>
      </a:lvl2pPr>
      <a:lvl3pPr marL="1143000" indent="-137160" algn="l" defTabSz="914400" rtl="0" eaLnBrk="1" latinLnBrk="0" hangingPunct="1">
        <a:lnSpc>
          <a:spcPts val="2200"/>
        </a:lnSpc>
        <a:spcBef>
          <a:spcPts val="500"/>
        </a:spcBef>
        <a:buClr>
          <a:srgbClr val="009CD6"/>
        </a:buClr>
        <a:buSzPct val="110000"/>
        <a:buFont typeface="Arial" panose="020B0604020202020204" pitchFamily="34" charset="0"/>
        <a:buChar char="•"/>
        <a:defRPr sz="1800" kern="1200" spc="0" baseline="0">
          <a:solidFill>
            <a:schemeClr val="tx1"/>
          </a:solidFill>
          <a:latin typeface="Arial" panose="020B0604020202020204" pitchFamily="34" charset="0"/>
          <a:ea typeface="+mn-ea"/>
          <a:cs typeface="Arial" panose="020B0604020202020204" pitchFamily="34" charset="0"/>
        </a:defRPr>
      </a:lvl3pPr>
      <a:lvl4pPr marL="1600200" indent="-137160" algn="l" defTabSz="914400" rtl="0" eaLnBrk="1" latinLnBrk="0" hangingPunct="1">
        <a:lnSpc>
          <a:spcPts val="2200"/>
        </a:lnSpc>
        <a:spcBef>
          <a:spcPts val="500"/>
        </a:spcBef>
        <a:buClr>
          <a:srgbClr val="009CD6"/>
        </a:buClr>
        <a:buSzPct val="110000"/>
        <a:buFont typeface="Arial" panose="020B0604020202020204" pitchFamily="34" charset="0"/>
        <a:buChar char="•"/>
        <a:defRPr sz="1800" kern="1200" spc="0" baseline="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ts val="2200"/>
        </a:lnSpc>
        <a:spcBef>
          <a:spcPts val="500"/>
        </a:spcBef>
        <a:buClr>
          <a:srgbClr val="00B0F0"/>
        </a:buClr>
        <a:buFont typeface="Arial" panose="020B0604020202020204" pitchFamily="34" charset="0"/>
        <a:buChar char="•"/>
        <a:defRPr sz="1800" kern="1200" spc="30" baseline="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6C4518C-C369-4BCE-93F6-ACF7A0A4563A}"/>
              </a:ext>
            </a:extLst>
          </p:cNvPr>
          <p:cNvSpPr>
            <a:spLocks noGrp="1"/>
          </p:cNvSpPr>
          <p:nvPr>
            <p:ph type="title"/>
          </p:nvPr>
        </p:nvSpPr>
        <p:spPr>
          <a:xfrm>
            <a:off x="688392" y="879975"/>
            <a:ext cx="10515600" cy="746442"/>
          </a:xfrm>
          <a:prstGeom prst="rect">
            <a:avLst/>
          </a:prstGeom>
        </p:spPr>
        <p:txBody>
          <a:bodyPr vert="horz" lIns="91440" tIns="45720" rIns="91440" bIns="45720" rtlCol="0" anchor="t">
            <a:noAutofit/>
          </a:bodyPr>
          <a:lstStyle/>
          <a:p>
            <a:r>
              <a:rPr lang="en-US" dirty="0"/>
              <a:t>Click to edit Master title style</a:t>
            </a:r>
          </a:p>
        </p:txBody>
      </p:sp>
      <p:sp>
        <p:nvSpPr>
          <p:cNvPr id="3" name="Text Placeholder 2">
            <a:extLst>
              <a:ext uri="{FF2B5EF4-FFF2-40B4-BE49-F238E27FC236}">
                <a16:creationId xmlns:a16="http://schemas.microsoft.com/office/drawing/2014/main" id="{6328A0EE-5A32-42C1-8C1D-EA2BEF099C17}"/>
              </a:ext>
            </a:extLst>
          </p:cNvPr>
          <p:cNvSpPr>
            <a:spLocks noGrp="1"/>
          </p:cNvSpPr>
          <p:nvPr>
            <p:ph type="body" idx="1"/>
          </p:nvPr>
        </p:nvSpPr>
        <p:spPr>
          <a:xfrm>
            <a:off x="688392" y="1804342"/>
            <a:ext cx="10515600" cy="4351338"/>
          </a:xfrm>
          <a:prstGeom prst="rect">
            <a:avLst/>
          </a:prstGeom>
        </p:spPr>
        <p:txBody>
          <a:bodyPr vert="horz" lIns="91440" tIns="45720" rIns="91440" bIns="45720" rtlCol="0">
            <a:noAutofit/>
          </a:body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6" name="TextBox 5">
            <a:extLst>
              <a:ext uri="{FF2B5EF4-FFF2-40B4-BE49-F238E27FC236}">
                <a16:creationId xmlns:a16="http://schemas.microsoft.com/office/drawing/2014/main" id="{693ABCAB-1B02-4C7B-89B1-A5BB0E479D06}"/>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7" name="TextBox 6">
            <a:extLst>
              <a:ext uri="{FF2B5EF4-FFF2-40B4-BE49-F238E27FC236}">
                <a16:creationId xmlns:a16="http://schemas.microsoft.com/office/drawing/2014/main" id="{77662A7B-D8AC-460A-9C3E-1872390023D8}"/>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1497039940"/>
      </p:ext>
    </p:extLst>
  </p:cSld>
  <p:clrMap bg1="lt1" tx1="dk1" bg2="lt2" tx2="dk2" accent1="accent1" accent2="accent2" accent3="accent3" accent4="accent4" accent5="accent5" accent6="accent6" hlink="hlink" folHlink="folHlink"/>
  <p:sldLayoutIdLst>
    <p:sldLayoutId id="2147483710" r:id="rId1"/>
    <p:sldLayoutId id="2147483716" r:id="rId2"/>
    <p:sldLayoutId id="2147483711" r:id="rId3"/>
  </p:sldLayoutIdLst>
  <p:txStyles>
    <p:titleStyle>
      <a:lvl1pPr algn="l" defTabSz="914400" rtl="0" eaLnBrk="1" latinLnBrk="0" hangingPunct="1">
        <a:lnSpc>
          <a:spcPct val="90000"/>
        </a:lnSpc>
        <a:spcBef>
          <a:spcPct val="0"/>
        </a:spcBef>
        <a:buNone/>
        <a:defRPr sz="2800" b="1" kern="1200">
          <a:solidFill>
            <a:schemeClr val="tx1"/>
          </a:solidFill>
          <a:latin typeface="Arial" panose="020B0604020202020204" pitchFamily="34" charset="0"/>
          <a:ea typeface="+mj-ea"/>
          <a:cs typeface="Arial" panose="020B0604020202020204" pitchFamily="34" charset="0"/>
        </a:defRPr>
      </a:lvl1pPr>
    </p:titleStyle>
    <p:bodyStyle>
      <a:lvl1pPr marL="228600" indent="-137160" algn="l" defTabSz="914400" rtl="0" eaLnBrk="1" latinLnBrk="0" hangingPunct="1">
        <a:lnSpc>
          <a:spcPct val="100000"/>
        </a:lnSpc>
        <a:spcBef>
          <a:spcPts val="1000"/>
        </a:spcBef>
        <a:buClr>
          <a:srgbClr val="009CD6"/>
        </a:buClr>
        <a:buSzPct val="110000"/>
        <a:buFont typeface="Arial" panose="020B0604020202020204" pitchFamily="34" charset="0"/>
        <a:buChar char="•"/>
        <a:defRPr sz="2800" kern="1200" spc="0">
          <a:solidFill>
            <a:schemeClr val="tx1"/>
          </a:solidFill>
          <a:latin typeface="Arial" panose="020B0604020202020204" pitchFamily="34" charset="0"/>
          <a:ea typeface="+mn-ea"/>
          <a:cs typeface="Arial" panose="020B0604020202020204" pitchFamily="34" charset="0"/>
        </a:defRPr>
      </a:lvl1pPr>
      <a:lvl2pPr marL="685800" indent="-137160" algn="l" defTabSz="914400" rtl="0" eaLnBrk="1" latinLnBrk="0" hangingPunct="1">
        <a:lnSpc>
          <a:spcPct val="100000"/>
        </a:lnSpc>
        <a:spcBef>
          <a:spcPts val="500"/>
        </a:spcBef>
        <a:buClr>
          <a:srgbClr val="009CD6"/>
        </a:buClr>
        <a:buSzPct val="110000"/>
        <a:buFont typeface="Arial" panose="020B0604020202020204" pitchFamily="34" charset="0"/>
        <a:buChar char="•"/>
        <a:defRPr sz="2800" kern="1200" spc="0">
          <a:solidFill>
            <a:schemeClr val="tx1"/>
          </a:solidFill>
          <a:latin typeface="Arial" panose="020B0604020202020204" pitchFamily="34" charset="0"/>
          <a:ea typeface="+mn-ea"/>
          <a:cs typeface="Arial" panose="020B0604020202020204" pitchFamily="34" charset="0"/>
        </a:defRPr>
      </a:lvl2pPr>
      <a:lvl3pPr marL="1143000" indent="-137160" algn="l" defTabSz="914400" rtl="0" eaLnBrk="1" latinLnBrk="0" hangingPunct="1">
        <a:lnSpc>
          <a:spcPct val="100000"/>
        </a:lnSpc>
        <a:spcBef>
          <a:spcPts val="500"/>
        </a:spcBef>
        <a:buClr>
          <a:srgbClr val="009CD6"/>
        </a:buClr>
        <a:buSzPct val="110000"/>
        <a:buFont typeface="Arial" panose="020B0604020202020204" pitchFamily="34" charset="0"/>
        <a:buChar char="•"/>
        <a:defRPr sz="2800" kern="1200" spc="0" baseline="0">
          <a:solidFill>
            <a:schemeClr val="tx1"/>
          </a:solidFill>
          <a:latin typeface="Arial" panose="020B0604020202020204" pitchFamily="34" charset="0"/>
          <a:ea typeface="+mn-ea"/>
          <a:cs typeface="Arial" panose="020B0604020202020204" pitchFamily="34" charset="0"/>
        </a:defRPr>
      </a:lvl3pPr>
      <a:lvl4pPr marL="1600200" indent="-137160" algn="l" defTabSz="914400" rtl="0" eaLnBrk="1" latinLnBrk="0" hangingPunct="1">
        <a:lnSpc>
          <a:spcPct val="100000"/>
        </a:lnSpc>
        <a:spcBef>
          <a:spcPts val="500"/>
        </a:spcBef>
        <a:buClr>
          <a:srgbClr val="009CD6"/>
        </a:buClr>
        <a:buSzPct val="110000"/>
        <a:buFont typeface="Arial" panose="020B0604020202020204" pitchFamily="34" charset="0"/>
        <a:buChar char="•"/>
        <a:defRPr sz="2800" kern="1200" spc="0" baseline="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ts val="2200"/>
        </a:lnSpc>
        <a:spcBef>
          <a:spcPts val="500"/>
        </a:spcBef>
        <a:buClr>
          <a:srgbClr val="00B0F0"/>
        </a:buClr>
        <a:buFont typeface="Arial" panose="020B0604020202020204" pitchFamily="34" charset="0"/>
        <a:buChar char="•"/>
        <a:defRPr sz="1800" kern="1200" spc="30" baseline="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6328A0EE-5A32-42C1-8C1D-EA2BEF099C17}"/>
              </a:ext>
            </a:extLst>
          </p:cNvPr>
          <p:cNvSpPr>
            <a:spLocks noGrp="1"/>
          </p:cNvSpPr>
          <p:nvPr>
            <p:ph type="body" idx="1"/>
          </p:nvPr>
        </p:nvSpPr>
        <p:spPr>
          <a:xfrm>
            <a:off x="1816313" y="2209801"/>
            <a:ext cx="8559373" cy="3793066"/>
          </a:xfrm>
          <a:prstGeom prst="rect">
            <a:avLst/>
          </a:prstGeom>
        </p:spPr>
        <p:txBody>
          <a:bodyPr vert="horz" lIns="91440" tIns="45720" rIns="91440" bIns="45720" rtlCol="0">
            <a:noAutofit/>
          </a:bodyPr>
          <a:lstStyle/>
          <a:p>
            <a:pPr algn="ctr"/>
            <a:r>
              <a:rPr lang="en-US" sz="2800" i="1" dirty="0">
                <a:latin typeface="Georgia" panose="02040502050405020303" pitchFamily="18" charset="0"/>
              </a:rPr>
              <a:t>We grew up with the internet. </a:t>
            </a:r>
            <a:br>
              <a:rPr lang="en-US" sz="2800" i="1" dirty="0">
                <a:latin typeface="Georgia" panose="02040502050405020303" pitchFamily="18" charset="0"/>
              </a:rPr>
            </a:br>
            <a:r>
              <a:rPr lang="en-US" sz="2800" i="1" dirty="0">
                <a:latin typeface="Georgia" panose="02040502050405020303" pitchFamily="18" charset="0"/>
              </a:rPr>
              <a:t>I mean, the internet has always been here with us. The grown-ups are like ‘Wow the internet appeared’, while it is perfectly normal for us.” </a:t>
            </a:r>
          </a:p>
        </p:txBody>
      </p:sp>
      <p:sp>
        <p:nvSpPr>
          <p:cNvPr id="8" name="TextBox 7">
            <a:extLst>
              <a:ext uri="{FF2B5EF4-FFF2-40B4-BE49-F238E27FC236}">
                <a16:creationId xmlns:a16="http://schemas.microsoft.com/office/drawing/2014/main" id="{43FB8933-3AE5-487A-8B03-0B68C8923CB0}"/>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9" name="TextBox 8">
            <a:extLst>
              <a:ext uri="{FF2B5EF4-FFF2-40B4-BE49-F238E27FC236}">
                <a16:creationId xmlns:a16="http://schemas.microsoft.com/office/drawing/2014/main" id="{CD9BF5BD-2163-4157-A2AF-C24DDF31C8DA}"/>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157613210"/>
      </p:ext>
    </p:extLst>
  </p:cSld>
  <p:clrMap bg1="lt1" tx1="dk1" bg2="lt2" tx2="dk2" accent1="accent1" accent2="accent2" accent3="accent3" accent4="accent4" accent5="accent5" accent6="accent6" hlink="hlink" folHlink="folHlink"/>
  <p:sldLayoutIdLst>
    <p:sldLayoutId id="2147483714" r:id="rId1"/>
    <p:sldLayoutId id="2147483715" r:id="rId2"/>
  </p:sldLayoutIdLst>
  <p:txStyles>
    <p:titleStyle>
      <a:lvl1pPr algn="l" defTabSz="914400" rtl="0" eaLnBrk="1" latinLnBrk="0" hangingPunct="1">
        <a:lnSpc>
          <a:spcPct val="90000"/>
        </a:lnSpc>
        <a:spcBef>
          <a:spcPct val="0"/>
        </a:spcBef>
        <a:buNone/>
        <a:defRPr sz="2800" b="1" kern="1200">
          <a:solidFill>
            <a:schemeClr val="tx1"/>
          </a:solidFill>
          <a:latin typeface="Arial" panose="020B0604020202020204" pitchFamily="34" charset="0"/>
          <a:ea typeface="+mj-ea"/>
          <a:cs typeface="Arial" panose="020B0604020202020204" pitchFamily="34" charset="0"/>
        </a:defRPr>
      </a:lvl1pPr>
    </p:titleStyle>
    <p:bodyStyle>
      <a:lvl1pPr marL="91440" indent="0" algn="ctr" defTabSz="914400" rtl="0" eaLnBrk="1" latinLnBrk="0" hangingPunct="1">
        <a:lnSpc>
          <a:spcPct val="100000"/>
        </a:lnSpc>
        <a:spcBef>
          <a:spcPts val="1000"/>
        </a:spcBef>
        <a:buClr>
          <a:srgbClr val="009CD6"/>
        </a:buClr>
        <a:buSzPct val="110000"/>
        <a:buFontTx/>
        <a:buNone/>
        <a:defRPr sz="3600" kern="1200" spc="0">
          <a:solidFill>
            <a:schemeClr val="tx1"/>
          </a:solidFill>
          <a:latin typeface="Arial" panose="020B0604020202020204" pitchFamily="34" charset="0"/>
          <a:ea typeface="+mn-ea"/>
          <a:cs typeface="Arial" panose="020B0604020202020204" pitchFamily="34" charset="0"/>
        </a:defRPr>
      </a:lvl1pPr>
      <a:lvl2pPr marL="548640" indent="0" algn="l" defTabSz="914400" rtl="0" eaLnBrk="1" latinLnBrk="0" hangingPunct="1">
        <a:lnSpc>
          <a:spcPct val="100000"/>
        </a:lnSpc>
        <a:spcBef>
          <a:spcPts val="500"/>
        </a:spcBef>
        <a:buClr>
          <a:srgbClr val="009CD6"/>
        </a:buClr>
        <a:buSzPct val="110000"/>
        <a:buFontTx/>
        <a:buNone/>
        <a:defRPr sz="2800" kern="1200" spc="0">
          <a:solidFill>
            <a:schemeClr val="tx1"/>
          </a:solidFill>
          <a:latin typeface="Arial" panose="020B0604020202020204" pitchFamily="34" charset="0"/>
          <a:ea typeface="+mn-ea"/>
          <a:cs typeface="Arial" panose="020B0604020202020204" pitchFamily="34" charset="0"/>
        </a:defRPr>
      </a:lvl2pPr>
      <a:lvl3pPr marL="1005840" indent="0" algn="l" defTabSz="914400" rtl="0" eaLnBrk="1" latinLnBrk="0" hangingPunct="1">
        <a:lnSpc>
          <a:spcPct val="100000"/>
        </a:lnSpc>
        <a:spcBef>
          <a:spcPts val="500"/>
        </a:spcBef>
        <a:buClr>
          <a:srgbClr val="009CD6"/>
        </a:buClr>
        <a:buSzPct val="110000"/>
        <a:buFontTx/>
        <a:buNone/>
        <a:defRPr sz="2800" kern="1200" spc="0" baseline="0">
          <a:solidFill>
            <a:schemeClr val="tx1"/>
          </a:solidFill>
          <a:latin typeface="Arial" panose="020B0604020202020204" pitchFamily="34" charset="0"/>
          <a:ea typeface="+mn-ea"/>
          <a:cs typeface="Arial" panose="020B0604020202020204" pitchFamily="34" charset="0"/>
        </a:defRPr>
      </a:lvl3pPr>
      <a:lvl4pPr marL="1463040" indent="0" algn="l" defTabSz="914400" rtl="0" eaLnBrk="1" latinLnBrk="0" hangingPunct="1">
        <a:lnSpc>
          <a:spcPct val="100000"/>
        </a:lnSpc>
        <a:spcBef>
          <a:spcPts val="500"/>
        </a:spcBef>
        <a:buClr>
          <a:srgbClr val="009CD6"/>
        </a:buClr>
        <a:buSzPct val="110000"/>
        <a:buFontTx/>
        <a:buNone/>
        <a:defRPr sz="2800" kern="1200" spc="0" baseline="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ts val="2200"/>
        </a:lnSpc>
        <a:spcBef>
          <a:spcPts val="500"/>
        </a:spcBef>
        <a:buClr>
          <a:srgbClr val="00B0F0"/>
        </a:buClr>
        <a:buFont typeface="Arial" panose="020B0604020202020204" pitchFamily="34" charset="0"/>
        <a:buChar char="•"/>
        <a:defRPr sz="1800" kern="1200" spc="30" baseline="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solidFill>
          <a:srgbClr val="F5FAFC"/>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3903303-232A-4935-AFB3-F7B88DD729A5}"/>
              </a:ext>
            </a:extLst>
          </p:cNvPr>
          <p:cNvSpPr>
            <a:spLocks noGrp="1"/>
          </p:cNvSpPr>
          <p:nvPr>
            <p:ph type="title"/>
          </p:nvPr>
        </p:nvSpPr>
        <p:spPr>
          <a:xfrm>
            <a:off x="685893" y="879975"/>
            <a:ext cx="10515600" cy="746442"/>
          </a:xfrm>
          <a:prstGeom prst="rect">
            <a:avLst/>
          </a:prstGeom>
        </p:spPr>
        <p:txBody>
          <a:bodyPr vert="horz" lIns="91440" tIns="45720" rIns="91440" bIns="45720" rtlCol="0" anchor="t">
            <a:noAutofit/>
          </a:bodyPr>
          <a:lstStyle/>
          <a:p>
            <a:r>
              <a:rPr lang="en-US" dirty="0"/>
              <a:t>Click to edit Master title style</a:t>
            </a:r>
          </a:p>
        </p:txBody>
      </p:sp>
      <p:sp>
        <p:nvSpPr>
          <p:cNvPr id="3" name="Text Placeholder 2">
            <a:extLst>
              <a:ext uri="{FF2B5EF4-FFF2-40B4-BE49-F238E27FC236}">
                <a16:creationId xmlns:a16="http://schemas.microsoft.com/office/drawing/2014/main" id="{C8383453-70D1-44FB-B9C3-2EEFC15545D7}"/>
              </a:ext>
            </a:extLst>
          </p:cNvPr>
          <p:cNvSpPr>
            <a:spLocks noGrp="1"/>
          </p:cNvSpPr>
          <p:nvPr>
            <p:ph type="body" idx="1"/>
          </p:nvPr>
        </p:nvSpPr>
        <p:spPr>
          <a:xfrm>
            <a:off x="688392" y="1804342"/>
            <a:ext cx="10515600" cy="4351338"/>
          </a:xfrm>
          <a:prstGeom prst="rect">
            <a:avLst/>
          </a:prstGeom>
        </p:spPr>
        <p:txBody>
          <a:bodyPr vert="horz" lIns="91440" tIns="45720" rIns="91440" bIns="45720" rtlCol="0">
            <a:noAutofit/>
          </a:bodyPr>
          <a:lstStyle/>
          <a:p>
            <a:pPr marL="228600" marR="0" lvl="0" indent="-137160" algn="l" defTabSz="914400" rtl="0" eaLnBrk="1" fontAlgn="auto" latinLnBrk="0" hangingPunct="1">
              <a:lnSpc>
                <a:spcPts val="2200"/>
              </a:lnSpc>
              <a:spcBef>
                <a:spcPts val="10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Second level</a:t>
            </a:r>
          </a:p>
          <a:p>
            <a:pPr marL="685800" marR="0" lvl="1" indent="-137160" algn="l" defTabSz="914400" rtl="0" eaLnBrk="1" fontAlgn="auto" latinLnBrk="0" hangingPunct="1">
              <a:lnSpc>
                <a:spcPts val="2200"/>
              </a:lnSpc>
              <a:spcBef>
                <a:spcPts val="5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Third level</a:t>
            </a:r>
          </a:p>
          <a:p>
            <a:pPr marL="1143000" marR="0" lvl="2" indent="-137160" algn="l" defTabSz="914400" rtl="0" eaLnBrk="1" fontAlgn="auto" latinLnBrk="0" hangingPunct="1">
              <a:lnSpc>
                <a:spcPts val="2200"/>
              </a:lnSpc>
              <a:spcBef>
                <a:spcPts val="5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Fourth level</a:t>
            </a:r>
          </a:p>
          <a:p>
            <a:pPr marL="1600200" marR="0" lvl="3" indent="-137160" algn="l" defTabSz="914400" rtl="0" eaLnBrk="1" fontAlgn="auto" latinLnBrk="0" hangingPunct="1">
              <a:lnSpc>
                <a:spcPts val="2200"/>
              </a:lnSpc>
              <a:spcBef>
                <a:spcPts val="5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Fifth level</a:t>
            </a:r>
          </a:p>
        </p:txBody>
      </p:sp>
      <p:sp>
        <p:nvSpPr>
          <p:cNvPr id="7" name="TextBox 6">
            <a:extLst>
              <a:ext uri="{FF2B5EF4-FFF2-40B4-BE49-F238E27FC236}">
                <a16:creationId xmlns:a16="http://schemas.microsoft.com/office/drawing/2014/main" id="{E9BFC052-984C-4106-B990-03A1EB3873C1}"/>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8" name="TextBox 7">
            <a:extLst>
              <a:ext uri="{FF2B5EF4-FFF2-40B4-BE49-F238E27FC236}">
                <a16:creationId xmlns:a16="http://schemas.microsoft.com/office/drawing/2014/main" id="{DB202A0A-9127-4C98-B796-7DD30E32B3B1}"/>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186103942"/>
      </p:ext>
    </p:extLst>
  </p:cSld>
  <p:clrMap bg1="lt1" tx1="dk1" bg2="lt2" tx2="dk2" accent1="accent1" accent2="accent2" accent3="accent3" accent4="accent4" accent5="accent5" accent6="accent6" hlink="hlink" folHlink="folHlink"/>
  <p:sldLayoutIdLst>
    <p:sldLayoutId id="2147483696" r:id="rId1"/>
    <p:sldLayoutId id="2147483678" r:id="rId2"/>
    <p:sldLayoutId id="2147483720" r:id="rId3"/>
  </p:sldLayoutIdLst>
  <p:txStyles>
    <p:titleStyle>
      <a:lvl1pPr algn="l" defTabSz="914400" rtl="0" eaLnBrk="1" latinLnBrk="0" hangingPunct="1">
        <a:lnSpc>
          <a:spcPct val="90000"/>
        </a:lnSpc>
        <a:spcBef>
          <a:spcPct val="0"/>
        </a:spcBef>
        <a:buNone/>
        <a:defRPr sz="2800" b="1"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image" Target="../media/image1.png"/><Relationship Id="rId3" Type="http://schemas.openxmlformats.org/officeDocument/2006/relationships/image" Target="../media/image2.jpeg"/><Relationship Id="rId4" Type="http://schemas.openxmlformats.org/officeDocument/2006/relationships/image" Target="../media/image3.svg"/><Relationship Id="rId5" Type="http://schemas.openxmlformats.org/officeDocument/2006/relationships/notesSlide" Target="../notesSlides/notesSlide2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2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6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1" name="Straight Connector 10">
            <a:extLst>
              <a:ext uri="{FF2B5EF4-FFF2-40B4-BE49-F238E27FC236}">
                <a16:creationId xmlns:a16="http://schemas.microsoft.com/office/drawing/2014/main" id="{D9AD66F2-F7C0-4D03-9150-D28F17AC561D}"/>
              </a:ext>
            </a:extLst>
          </p:cNvPr>
          <p:cNvCxnSpPr>
            <a:cxnSpLocks/>
          </p:cNvCxnSpPr>
          <p:nvPr/>
        </p:nvCxnSpPr>
        <p:spPr>
          <a:xfrm>
            <a:off x="373021" y="2198718"/>
            <a:ext cx="6843567" cy="0"/>
          </a:xfrm>
          <a:prstGeom prst="line">
            <a:avLst/>
          </a:prstGeom>
          <a:ln w="12700">
            <a:solidFill>
              <a:srgbClr val="009CD6"/>
            </a:solidFill>
          </a:ln>
        </p:spPr>
        <p:style>
          <a:lnRef idx="1">
            <a:schemeClr val="accent1"/>
          </a:lnRef>
          <a:fillRef idx="0">
            <a:schemeClr val="accent1"/>
          </a:fillRef>
          <a:effectRef idx="0">
            <a:schemeClr val="accent1"/>
          </a:effectRef>
          <a:fontRef idx="minor">
            <a:schemeClr val="tx1"/>
          </a:fontRef>
        </p:style>
      </p:cxnSp>
      <p:sp>
        <p:nvSpPr>
          <p:cNvPr id="12" name="Title 9">
            <a:extLst>
              <a:ext uri="{FF2B5EF4-FFF2-40B4-BE49-F238E27FC236}">
                <a16:creationId xmlns:a16="http://schemas.microsoft.com/office/drawing/2014/main" id="{EEB08032-CE0E-4986-AEDF-A41026C0E8B9}"/>
              </a:ext>
            </a:extLst>
          </p:cNvPr>
          <p:cNvSpPr txBox="1">
            <a:spLocks/>
          </p:cNvSpPr>
          <p:nvPr/>
        </p:nvSpPr>
        <p:spPr>
          <a:xfrm>
            <a:off x="237734" y="702833"/>
            <a:ext cx="6432007" cy="1218817"/>
          </a:xfrm>
          <a:prstGeom prst="rect">
            <a:avLst/>
          </a:prstGeom>
        </p:spPr>
        <p:txBody>
          <a:bodyPr anchor="b">
            <a:noAutofit/>
          </a:bodyPr>
          <a:lstStyle>
            <a:lvl1pPr algn="l" defTabSz="914400" rtl="0" eaLnBrk="1" latinLnBrk="0" hangingPunct="1">
              <a:lnSpc>
                <a:spcPct val="90000"/>
              </a:lnSpc>
              <a:spcBef>
                <a:spcPct val="0"/>
              </a:spcBef>
              <a:buNone/>
              <a:defRPr sz="4000" kern="1200">
                <a:solidFill>
                  <a:schemeClr val="bg1"/>
                </a:solidFill>
                <a:latin typeface="Arial" panose="020B0604020202020204" pitchFamily="34" charset="0"/>
                <a:ea typeface="+mj-ea"/>
                <a:cs typeface="Arial" panose="020B0604020202020204" pitchFamily="34" charset="0"/>
              </a:defRPr>
            </a:lvl1pPr>
          </a:lstStyle>
          <a:p>
            <a:r>
              <a:rPr sz="3000" b="1" i="0">
                <a:solidFill>
                  <a:srgbClr val="1A1A1A"/>
                </a:solidFill>
                <a:latin typeface="Arial"/>
              </a:rPr>
              <a:t>Housing, governing and
sustaining the architecture</a:t>
            </a:r>
          </a:p>
        </p:txBody>
      </p:sp>
      <p:pic>
        <p:nvPicPr>
          <p:cNvPr id="7" name="Picture 6">
            <a:extLst>
              <a:ext uri="{FF2B5EF4-FFF2-40B4-BE49-F238E27FC236}">
                <a16:creationId xmlns:a16="http://schemas.microsoft.com/office/drawing/2014/main" id="{A2066351-C569-4C4C-A096-308777FCDC32}"/>
              </a:ext>
            </a:extLst>
          </p:cNvPr>
          <p:cNvPicPr>
            <a:picLocks noChangeAspect="1"/>
          </p:cNvPicPr>
          <p:nvPr/>
        </p:nvPicPr>
        <p:blipFill>
          <a:blip r:embed="rId2">
            <a:extLst>
              <a:ext uri="{28A0092B-C50C-407E-A947-70E740481C1C}">
                <a14:useLocalDpi xmlns:a14="http://schemas.microsoft.com/office/drawing/2010/main" val="0"/>
              </a:ext>
            </a:extLst>
          </a:blip>
          <a:srcRect t="20219" b="14729"/>
          <a:stretch>
            <a:fillRect/>
          </a:stretch>
        </p:blipFill>
        <p:spPr>
          <a:xfrm>
            <a:off x="0" y="5620871"/>
            <a:ext cx="1323975" cy="1218816"/>
          </a:xfrm>
          <a:prstGeom prst="rect">
            <a:avLst/>
          </a:prstGeom>
        </p:spPr>
      </p:pic>
      <p:sp>
        <p:nvSpPr>
          <p:cNvPr id="14" name="Title 9">
            <a:extLst>
              <a:ext uri="{FF2B5EF4-FFF2-40B4-BE49-F238E27FC236}">
                <a16:creationId xmlns:a16="http://schemas.microsoft.com/office/drawing/2014/main" id="{B5087B80-3EE4-1881-0130-ED58CA625092}"/>
              </a:ext>
            </a:extLst>
          </p:cNvPr>
          <p:cNvSpPr txBox="1">
            <a:spLocks/>
          </p:cNvSpPr>
          <p:nvPr/>
        </p:nvSpPr>
        <p:spPr>
          <a:xfrm>
            <a:off x="284452" y="2475786"/>
            <a:ext cx="6382893" cy="953213"/>
          </a:xfrm>
          <a:prstGeom prst="rect">
            <a:avLst/>
          </a:prstGeom>
        </p:spPr>
        <p:txBody>
          <a:bodyPr anchor="t">
            <a:noAutofit/>
          </a:bodyPr>
          <a:lstStyle>
            <a:lvl1pPr algn="l" defTabSz="914400" rtl="0" eaLnBrk="1" latinLnBrk="0" hangingPunct="1">
              <a:lnSpc>
                <a:spcPct val="90000"/>
              </a:lnSpc>
              <a:spcBef>
                <a:spcPct val="0"/>
              </a:spcBef>
              <a:buNone/>
              <a:defRPr sz="4000" kern="1200">
                <a:solidFill>
                  <a:schemeClr val="bg1"/>
                </a:solidFill>
                <a:latin typeface="Arial" panose="020B0604020202020204" pitchFamily="34" charset="0"/>
                <a:ea typeface="+mj-ea"/>
                <a:cs typeface="Arial" panose="020B0604020202020204" pitchFamily="34" charset="0"/>
              </a:defRPr>
            </a:lvl1pPr>
          </a:lstStyle>
          <a:p>
            <a:pPr marL="0" marR="0" lvl="0" indent="0" rtl="0">
              <a:spcBef>
                <a:spcPts val="600"/>
              </a:spcBef>
              <a:spcAft>
                <a:spcPts val="0"/>
              </a:spcAft>
              <a:buNone/>
            </a:pPr>
            <a:r>
              <a:rPr sz="1600" b="1" i="0">
                <a:solidFill>
                  <a:srgbClr val="006E96"/>
                </a:solidFill>
                <a:latin typeface="Arial"/>
              </a:rPr>
              <a:t>KP1 · Government Enterprise Architecture · Module 3</a:t>
            </a:r>
          </a:p>
          <a:p>
            <a:r>
              <a:rPr sz="1400" b="0" i="0">
                <a:solidFill>
                  <a:srgbClr val="595959"/>
                </a:solidFill>
                <a:latin typeface="Arial"/>
              </a:rPr>
              <a:t>Seven standalone videos for the architect who runs the practice: the repository the architecture lives in, tooling chosen without lock-in, the update discipline, an EA Board that can say no, the project review gate, the few metrics that matter, and the four ways a practice fades.</a:t>
            </a:r>
          </a:p>
        </p:txBody>
      </p:sp>
      <p:sp>
        <p:nvSpPr>
          <p:cNvPr id="17" name="Title 9">
            <a:extLst>
              <a:ext uri="{FF2B5EF4-FFF2-40B4-BE49-F238E27FC236}">
                <a16:creationId xmlns:a16="http://schemas.microsoft.com/office/drawing/2014/main" id="{5E8796F7-DD26-D250-5E97-B38B22298E72}"/>
              </a:ext>
            </a:extLst>
          </p:cNvPr>
          <p:cNvSpPr txBox="1">
            <a:spLocks/>
          </p:cNvSpPr>
          <p:nvPr/>
        </p:nvSpPr>
        <p:spPr>
          <a:xfrm>
            <a:off x="284452" y="4363897"/>
            <a:ext cx="6382893" cy="953213"/>
          </a:xfrm>
          <a:prstGeom prst="rect">
            <a:avLst/>
          </a:prstGeom>
        </p:spPr>
        <p:txBody>
          <a:bodyPr anchor="t">
            <a:noAutofit/>
          </a:bodyPr>
          <a:lstStyle>
            <a:lvl1pPr algn="l" defTabSz="914400" rtl="0" eaLnBrk="1" latinLnBrk="0" hangingPunct="1">
              <a:lnSpc>
                <a:spcPct val="90000"/>
              </a:lnSpc>
              <a:spcBef>
                <a:spcPct val="0"/>
              </a:spcBef>
              <a:buNone/>
              <a:defRPr sz="4000" kern="1200">
                <a:solidFill>
                  <a:schemeClr val="bg1"/>
                </a:solidFill>
                <a:latin typeface="Arial" panose="020B0604020202020204" pitchFamily="34" charset="0"/>
                <a:ea typeface="+mj-ea"/>
                <a:cs typeface="Arial" panose="020B0604020202020204" pitchFamily="34" charset="0"/>
              </a:defRPr>
            </a:lvl1pPr>
          </a:lstStyle>
          <a:p>
            <a:pPr marL="0" marR="0" lvl="0" indent="0" rtl="0">
              <a:spcBef>
                <a:spcPts val="600"/>
              </a:spcBef>
              <a:spcAft>
                <a:spcPts val="1200"/>
              </a:spcAft>
              <a:buNone/>
            </a:pPr>
            <a:r>
              <a:rPr sz="1400" b="1" i="0">
                <a:solidFill>
                  <a:srgbClr val="1A1A1A"/>
                </a:solidFill>
                <a:latin typeface="Arial"/>
              </a:rPr>
              <a:t>Length: </a:t>
            </a:r>
            <a:r>
              <a:rPr sz="1400" b="0" i="0">
                <a:solidFill>
                  <a:srgbClr val="1A1A1A"/>
                </a:solidFill>
                <a:latin typeface="Arial"/>
              </a:rPr>
              <a:t>~29 mins across 7 videos (3.1 – 3.7)</a:t>
            </a:r>
          </a:p>
          <a:p>
            <a:r>
              <a:rPr sz="1400" b="1" i="0">
                <a:solidFill>
                  <a:srgbClr val="1A1A1A"/>
                </a:solidFill>
                <a:latin typeface="Arial"/>
              </a:rPr>
              <a:t>Target audience: </a:t>
            </a:r>
            <a:r>
              <a:rPr sz="1400" b="0" i="0">
                <a:solidFill>
                  <a:srgbClr val="1A1A1A"/>
                </a:solidFill>
                <a:latin typeface="Arial"/>
              </a:rPr>
              <a:t>Chief architect · senior architect · sector ICT lead</a:t>
            </a:r>
          </a:p>
        </p:txBody>
      </p:sp>
      <p:sp>
        <p:nvSpPr>
          <p:cNvPr id="18" name="Rectangle 17"/>
          <p:cNvSpPr/>
          <p:nvPr/>
        </p:nvSpPr>
        <p:spPr>
          <a:xfrm>
            <a:off x="7022592" y="0"/>
            <a:ext cx="5169103" cy="6858000"/>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452360" y="457200"/>
            <a:ext cx="4297680" cy="457200"/>
          </a:xfrm>
          <a:prstGeom prst="rect">
            <a:avLst/>
          </a:prstGeom>
          <a:noFill/>
        </p:spPr>
        <p:txBody>
          <a:bodyPr wrap="square">
            <a:spAutoFit/>
          </a:bodyPr>
          <a:lstStyle/>
          <a:p>
            <a:r>
              <a:rPr sz="1100" b="1" i="0">
                <a:solidFill>
                  <a:srgbClr val="E5F5FB"/>
                </a:solidFill>
                <a:latin typeface="Arial"/>
              </a:rPr>
              <a:t>THE PRACTICE THIS MODULE STANDS UP</a:t>
            </a:r>
          </a:p>
        </p:txBody>
      </p:sp>
      <p:sp>
        <p:nvSpPr>
          <p:cNvPr id="20" name="Rounded Rectangle 19"/>
          <p:cNvSpPr/>
          <p:nvPr/>
        </p:nvSpPr>
        <p:spPr>
          <a:xfrm>
            <a:off x="7452360" y="960120"/>
            <a:ext cx="3840480" cy="658368"/>
          </a:xfrm>
          <a:prstGeom prst="roundRect">
            <a:avLst>
              <a:gd name="adj" fmla="val 1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164592" wrap="square"/>
          <a:lstStyle/>
          <a:p>
            <a:pPr algn="ctr"/>
            <a:r>
              <a:rPr sz="1500" b="1" i="0">
                <a:solidFill>
                  <a:srgbClr val="1A1A1A"/>
                </a:solidFill>
                <a:latin typeface="Arial"/>
              </a:rPr>
              <a:t>Repository — where the architecture lives</a:t>
            </a:r>
          </a:p>
        </p:txBody>
      </p:sp>
      <p:sp>
        <p:nvSpPr>
          <p:cNvPr id="21" name="Rounded Rectangle 20"/>
          <p:cNvSpPr/>
          <p:nvPr/>
        </p:nvSpPr>
        <p:spPr>
          <a:xfrm>
            <a:off x="7452360" y="1892808"/>
            <a:ext cx="3840480" cy="658368"/>
          </a:xfrm>
          <a:prstGeom prst="roundRect">
            <a:avLst>
              <a:gd name="adj" fmla="val 1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164592" wrap="square"/>
          <a:lstStyle/>
          <a:p>
            <a:pPr algn="ctr"/>
            <a:r>
              <a:rPr sz="1500" b="1" i="0">
                <a:solidFill>
                  <a:srgbClr val="1A1A1A"/>
                </a:solidFill>
                <a:latin typeface="Arial"/>
              </a:rPr>
              <a:t>Tooling — chosen without lock-in</a:t>
            </a:r>
          </a:p>
        </p:txBody>
      </p:sp>
      <p:sp>
        <p:nvSpPr>
          <p:cNvPr id="22" name="Rounded Rectangle 21"/>
          <p:cNvSpPr/>
          <p:nvPr/>
        </p:nvSpPr>
        <p:spPr>
          <a:xfrm>
            <a:off x="7452360" y="2825496"/>
            <a:ext cx="3840480" cy="658368"/>
          </a:xfrm>
          <a:prstGeom prst="roundRect">
            <a:avLst>
              <a:gd name="adj" fmla="val 1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164592" wrap="square"/>
          <a:lstStyle/>
          <a:p>
            <a:pPr algn="ctr"/>
            <a:r>
              <a:rPr sz="1500" b="1" i="0">
                <a:solidFill>
                  <a:srgbClr val="1A1A1A"/>
                </a:solidFill>
                <a:latin typeface="Arial"/>
              </a:rPr>
              <a:t>Governance — a Board and a gate</a:t>
            </a:r>
          </a:p>
        </p:txBody>
      </p:sp>
      <p:sp>
        <p:nvSpPr>
          <p:cNvPr id="23" name="Rounded Rectangle 22"/>
          <p:cNvSpPr/>
          <p:nvPr/>
        </p:nvSpPr>
        <p:spPr>
          <a:xfrm>
            <a:off x="7452360" y="3758184"/>
            <a:ext cx="3840480" cy="658368"/>
          </a:xfrm>
          <a:prstGeom prst="roundRect">
            <a:avLst>
              <a:gd name="adj" fmla="val 14000"/>
            </a:avLst>
          </a:prstGeom>
          <a:solidFill>
            <a:srgbClr val="006E96"/>
          </a:solidFill>
          <a:ln>
            <a:noFill/>
          </a:ln>
          <a:effectLst/>
        </p:spPr>
        <p:style>
          <a:lnRef idx="1">
            <a:schemeClr val="accent1"/>
          </a:lnRef>
          <a:fillRef idx="3">
            <a:schemeClr val="accent1"/>
          </a:fillRef>
          <a:effectRef idx="2">
            <a:schemeClr val="accent1"/>
          </a:effectRef>
          <a:fontRef idx="minor">
            <a:schemeClr val="lt1"/>
          </a:fontRef>
        </p:style>
        <p:txBody>
          <a:bodyPr rtlCol="0" anchor="ctr" lIns="164592" wrap="square"/>
          <a:lstStyle/>
          <a:p>
            <a:pPr algn="ctr"/>
            <a:r>
              <a:rPr sz="1500" b="1" i="0">
                <a:solidFill>
                  <a:srgbClr val="FFFFFF"/>
                </a:solidFill>
                <a:latin typeface="Arial"/>
              </a:rPr>
              <a:t>Sustainment — alive past year two</a:t>
            </a:r>
          </a:p>
        </p:txBody>
      </p:sp>
      <p:sp>
        <p:nvSpPr>
          <p:cNvPr id="24" name="TextBox 23"/>
          <p:cNvSpPr txBox="1"/>
          <p:nvPr/>
        </p:nvSpPr>
        <p:spPr>
          <a:xfrm>
            <a:off x="7452360" y="5806440"/>
            <a:ext cx="4297680" cy="731520"/>
          </a:xfrm>
          <a:prstGeom prst="rect">
            <a:avLst/>
          </a:prstGeom>
          <a:noFill/>
        </p:spPr>
        <p:txBody>
          <a:bodyPr wrap="square">
            <a:spAutoFit/>
          </a:bodyPr>
          <a:lstStyle/>
          <a:p>
            <a:r>
              <a:rPr sz="1200" b="0" i="0">
                <a:solidFill>
                  <a:srgbClr val="FFFFFF"/>
                </a:solidFill>
                <a:latin typeface="Arial"/>
              </a:rPr>
              <a:t>5 gate questions · 4 health metrics · 4 ways a practice fades</a:t>
            </a:r>
          </a:p>
        </p:txBody>
      </p:sp>
    </p:spTree>
    <p:extLst>
      <p:ext uri="{BB962C8B-B14F-4D97-AF65-F5344CB8AC3E}">
        <p14:creationId xmlns:p14="http://schemas.microsoft.com/office/powerpoint/2010/main" val="119680026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0AC2A0-E28D-6524-102E-8359FE617CF6}"/>
            </a:ext>
          </a:extLst>
        </p:cNvPr>
        <p:cNvGrpSpPr/>
        <p:nvPr/>
      </p:nvGrpSpPr>
      <p:grpSpPr>
        <a:xfrm>
          <a:off x="0" y="0"/>
          <a:ext cx="0" cy="0"/>
          <a:chOff x="0" y="0"/>
          <a:chExt cx="0" cy="0"/>
        </a:xfrm>
      </p:grpSpPr>
      <p:sp>
        <p:nvSpPr>
          <p:cNvPr id="5" name="Text Placeholder 4">
            <a:extLst>
              <a:ext uri="{FF2B5EF4-FFF2-40B4-BE49-F238E27FC236}">
                <a16:creationId xmlns:a16="http://schemas.microsoft.com/office/drawing/2014/main" id="{05ECEA81-427F-77E6-3A96-077D430CC49C}"/>
              </a:ext>
            </a:extLst>
          </p:cNvPr>
          <p:cNvSpPr>
            <a:spLocks noGrp="1"/>
          </p:cNvSpPr>
          <p:nvPr>
            <p:ph type="body" sz="quarter" idx="10"/>
          </p:nvPr>
        </p:nvSpPr>
        <p:spPr/>
        <p:txBody>
          <a:bodyPr/>
          <a:lstStyle/>
          <a:p>
            <a:r>
              <a:rPr sz="1400" b="1" i="0">
                <a:solidFill>
                  <a:srgbClr val="595959"/>
                </a:solidFill>
                <a:latin typeface="Arial"/>
              </a:rPr>
              <a:t>Module 3 — seven videos</a:t>
            </a:r>
          </a:p>
        </p:txBody>
      </p:sp>
      <p:sp>
        <p:nvSpPr>
          <p:cNvPr id="6" name="Text Placeholder 5">
            <a:extLst>
              <a:ext uri="{FF2B5EF4-FFF2-40B4-BE49-F238E27FC236}">
                <a16:creationId xmlns:a16="http://schemas.microsoft.com/office/drawing/2014/main" id="{F5AB7147-07E3-D061-CD69-902D615A346F}"/>
              </a:ext>
            </a:extLst>
          </p:cNvPr>
          <p:cNvSpPr>
            <a:spLocks noGrp="1"/>
          </p:cNvSpPr>
          <p:nvPr>
            <p:ph type="body" sz="quarter" idx="11"/>
          </p:nvPr>
        </p:nvSpPr>
        <p:spPr>
          <a:xfrm>
            <a:off x="503238" y="2133600"/>
            <a:ext cx="6297612" cy="3585882"/>
          </a:xfrm>
        </p:spPr>
        <p:txBody>
          <a:bodyPr/>
          <a:lstStyle/>
          <a:p>
            <a:pPr algn="l">
              <a:spcAft>
                <a:spcPts val="900"/>
              </a:spcAft>
            </a:pPr>
            <a:r>
              <a:rPr sz="1500" b="1" i="0">
                <a:solidFill>
                  <a:srgbClr val="1A1A1A"/>
                </a:solidFill>
                <a:latin typeface="Arial"/>
              </a:rPr>
              <a:t>3.1  Set up the one place your architecture lives</a:t>
            </a:r>
            <a:r>
              <a:rPr sz="1200" b="0" i="0">
                <a:solidFill>
                  <a:srgbClr val="595959"/>
                </a:solidFill>
                <a:latin typeface="Arial"/>
              </a:rPr>
              <a:t>   ~4 min</a:t>
            </a:r>
          </a:p>
          <a:p>
            <a:pPr algn="l">
              <a:spcAft>
                <a:spcPts val="900"/>
              </a:spcAft>
            </a:pPr>
            <a:r>
              <a:rPr sz="1500" b="1" i="0">
                <a:solidFill>
                  <a:srgbClr val="1A1A1A"/>
                </a:solidFill>
                <a:latin typeface="Arial"/>
              </a:rPr>
              <a:t>3.2  Choose EA tooling without locking yourself in</a:t>
            </a:r>
            <a:r>
              <a:rPr sz="1200" b="0" i="0">
                <a:solidFill>
                  <a:srgbClr val="595959"/>
                </a:solidFill>
                <a:latin typeface="Arial"/>
              </a:rPr>
              <a:t>   ~4 min</a:t>
            </a:r>
          </a:p>
          <a:p>
            <a:pPr algn="l">
              <a:spcAft>
                <a:spcPts val="900"/>
              </a:spcAft>
            </a:pPr>
            <a:r>
              <a:rPr sz="1500" b="1" i="0">
                <a:solidFill>
                  <a:srgbClr val="1A1A1A"/>
                </a:solidFill>
                <a:latin typeface="Arial"/>
              </a:rPr>
              <a:t>3.3  Keep the repository true — the update discipline</a:t>
            </a:r>
            <a:r>
              <a:rPr sz="1200" b="0" i="0">
                <a:solidFill>
                  <a:srgbClr val="595959"/>
                </a:solidFill>
                <a:latin typeface="Arial"/>
              </a:rPr>
              <a:t>   ~4 min</a:t>
            </a:r>
          </a:p>
          <a:p>
            <a:pPr algn="l">
              <a:spcAft>
                <a:spcPts val="900"/>
              </a:spcAft>
            </a:pPr>
            <a:r>
              <a:rPr sz="1500" b="1" i="0">
                <a:solidFill>
                  <a:srgbClr val="1A1A1A"/>
                </a:solidFill>
                <a:latin typeface="Arial"/>
              </a:rPr>
              <a:t>3.4  Stand up an EA Board that can actually say no</a:t>
            </a:r>
            <a:r>
              <a:rPr sz="1200" b="0" i="0">
                <a:solidFill>
                  <a:srgbClr val="595959"/>
                </a:solidFill>
                <a:latin typeface="Arial"/>
              </a:rPr>
              <a:t>   ~4 min</a:t>
            </a:r>
          </a:p>
          <a:p>
            <a:pPr algn="l">
              <a:spcAft>
                <a:spcPts val="900"/>
              </a:spcAft>
            </a:pPr>
            <a:r>
              <a:rPr sz="1500" b="1" i="0">
                <a:solidFill>
                  <a:srgbClr val="1A1A1A"/>
                </a:solidFill>
                <a:latin typeface="Arial"/>
              </a:rPr>
              <a:t>3.5  Review projects against the architecture</a:t>
            </a:r>
            <a:r>
              <a:rPr sz="1200" b="0" i="0">
                <a:solidFill>
                  <a:srgbClr val="595959"/>
                </a:solidFill>
                <a:latin typeface="Arial"/>
              </a:rPr>
              <a:t>   ~4 min</a:t>
            </a:r>
          </a:p>
          <a:p>
            <a:pPr algn="l">
              <a:spcAft>
                <a:spcPts val="900"/>
              </a:spcAft>
            </a:pPr>
            <a:r>
              <a:rPr sz="1500" b="1" i="0">
                <a:solidFill>
                  <a:srgbClr val="1A1A1A"/>
                </a:solidFill>
                <a:latin typeface="Arial"/>
              </a:rPr>
              <a:t>3.6  Show the EA is working — the few metrics that matter</a:t>
            </a:r>
            <a:r>
              <a:rPr sz="1200" b="0" i="0">
                <a:solidFill>
                  <a:srgbClr val="595959"/>
                </a:solidFill>
                <a:latin typeface="Arial"/>
              </a:rPr>
              <a:t>   ~4 min</a:t>
            </a:r>
          </a:p>
          <a:p>
            <a:pPr algn="l">
              <a:spcAft>
                <a:spcPts val="900"/>
              </a:spcAft>
            </a:pPr>
            <a:r>
              <a:rPr sz="1500" b="1" i="0">
                <a:solidFill>
                  <a:srgbClr val="1A1A1A"/>
                </a:solidFill>
                <a:latin typeface="Arial"/>
              </a:rPr>
              <a:t>3.7  Keep the practice alive past year two</a:t>
            </a:r>
            <a:r>
              <a:rPr sz="1200" b="0" i="0">
                <a:solidFill>
                  <a:srgbClr val="595959"/>
                </a:solidFill>
                <a:latin typeface="Arial"/>
              </a:rPr>
              <a:t>   ~5 min</a:t>
            </a:r>
          </a:p>
        </p:txBody>
      </p:sp>
      <p:sp>
        <p:nvSpPr>
          <p:cNvPr id="7" name="Text Placeholder 6">
            <a:extLst>
              <a:ext uri="{FF2B5EF4-FFF2-40B4-BE49-F238E27FC236}">
                <a16:creationId xmlns:a16="http://schemas.microsoft.com/office/drawing/2014/main" id="{645C8C6B-29A8-B1C0-3772-5822CAB07F15}"/>
              </a:ext>
            </a:extLst>
          </p:cNvPr>
          <p:cNvSpPr>
            <a:spLocks noGrp="1"/>
          </p:cNvSpPr>
          <p:nvPr>
            <p:ph type="body" sz="quarter" idx="12"/>
          </p:nvPr>
        </p:nvSpPr>
        <p:spPr/>
        <p:txBody>
          <a:bodyPr/>
          <a:lstStyle/>
          <a:p>
            <a:pPr>
              <a:spcAft>
                <a:spcPts val="1000"/>
              </a:spcAft>
            </a:pPr>
            <a:r>
              <a:rPr sz="1900" b="0" i="1">
                <a:solidFill>
                  <a:srgbClr val="1A1A1A"/>
                </a:solidFill>
                <a:latin typeface="Arial"/>
              </a:rPr>
              <a:t>An architecture that is not housed, kept current and given teeth stops being an architecture within a year. It becomes a document about one.</a:t>
            </a:r>
          </a:p>
          <a:p>
            <a:pPr>
              <a:spcAft>
                <a:spcPts val="1000"/>
              </a:spcAft>
            </a:pPr>
            <a:r>
              <a:rPr sz="1900" b="0" i="1">
                <a:solidFill>
                  <a:srgbClr val="1A1A1A"/>
                </a:solidFill>
                <a:latin typeface="Arial"/>
              </a:rPr>
              <a:t>This module stands up the permanent practice: one place the architecture lives, a Board with the authority to say no, a gate every project passes through, and the moves that keep all of it alive past year two.</a:t>
            </a:r>
          </a:p>
        </p:txBody>
      </p:sp>
    </p:spTree>
    <p:extLst>
      <p:ext uri="{BB962C8B-B14F-4D97-AF65-F5344CB8AC3E}">
        <p14:creationId xmlns:p14="http://schemas.microsoft.com/office/powerpoint/2010/main" val="2895905977"/>
      </p:ext>
    </p:extLst>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22960" y="822960"/>
            <a:ext cx="7315200" cy="457200"/>
          </a:xfrm>
          <a:prstGeom prst="rect">
            <a:avLst/>
          </a:prstGeom>
          <a:noFill/>
        </p:spPr>
        <p:txBody>
          <a:bodyPr wrap="square">
            <a:spAutoFit/>
          </a:bodyPr>
          <a:lstStyle/>
          <a:p>
            <a:r>
              <a:rPr sz="1200" b="1" i="0">
                <a:solidFill>
                  <a:srgbClr val="595959"/>
                </a:solidFill>
                <a:latin typeface="Arial"/>
              </a:rPr>
              <a:t>MODULE 3 · VIDEO 3.1</a:t>
            </a:r>
          </a:p>
        </p:txBody>
      </p:sp>
      <p:sp>
        <p:nvSpPr>
          <p:cNvPr id="3" name="TextBox 2"/>
          <p:cNvSpPr txBox="1"/>
          <p:nvPr/>
        </p:nvSpPr>
        <p:spPr>
          <a:xfrm>
            <a:off x="822960" y="1828800"/>
            <a:ext cx="2011680" cy="1097280"/>
          </a:xfrm>
          <a:prstGeom prst="rect">
            <a:avLst/>
          </a:prstGeom>
          <a:noFill/>
        </p:spPr>
        <p:txBody>
          <a:bodyPr wrap="square">
            <a:spAutoFit/>
          </a:bodyPr>
          <a:lstStyle/>
          <a:p>
            <a:r>
              <a:rPr sz="6000" b="1" i="0">
                <a:solidFill>
                  <a:srgbClr val="009CD6"/>
                </a:solidFill>
                <a:latin typeface="Arial"/>
              </a:rPr>
              <a:t>3.1</a:t>
            </a:r>
          </a:p>
        </p:txBody>
      </p:sp>
      <p:sp>
        <p:nvSpPr>
          <p:cNvPr id="4" name="TextBox 3"/>
          <p:cNvSpPr txBox="1"/>
          <p:nvPr/>
        </p:nvSpPr>
        <p:spPr>
          <a:xfrm>
            <a:off x="822960" y="2880360"/>
            <a:ext cx="9601200" cy="1371600"/>
          </a:xfrm>
          <a:prstGeom prst="rect">
            <a:avLst/>
          </a:prstGeom>
          <a:noFill/>
        </p:spPr>
        <p:txBody>
          <a:bodyPr wrap="square">
            <a:spAutoFit/>
          </a:bodyPr>
          <a:lstStyle/>
          <a:p>
            <a:r>
              <a:rPr sz="3400" b="1" i="0">
                <a:solidFill>
                  <a:srgbClr val="1A1A1A"/>
                </a:solidFill>
                <a:latin typeface="Arial"/>
              </a:rPr>
              <a:t>Set up the one place your architecture lives</a:t>
            </a:r>
          </a:p>
        </p:txBody>
      </p:sp>
      <p:sp>
        <p:nvSpPr>
          <p:cNvPr id="5" name="TextBox 4"/>
          <p:cNvSpPr txBox="1"/>
          <p:nvPr/>
        </p:nvSpPr>
        <p:spPr>
          <a:xfrm>
            <a:off x="822960" y="4343400"/>
            <a:ext cx="9875520" cy="1554480"/>
          </a:xfrm>
          <a:prstGeom prst="rect">
            <a:avLst/>
          </a:prstGeom>
          <a:noFill/>
        </p:spPr>
        <p:txBody>
          <a:bodyPr wrap="square">
            <a:spAutoFit/>
          </a:bodyPr>
          <a:lstStyle/>
          <a:p>
            <a:r>
              <a:rPr sz="1700" b="0" i="1">
                <a:solidFill>
                  <a:srgbClr val="595959"/>
                </a:solidFill>
                <a:latin typeface="Arial"/>
              </a:rPr>
              <a:t>An EA repository is the single agreed place the architecture lives — the four layers, the entities and the decisions — so that one picture of your government exists instead of many private copies. Set it up first; everything else governs what goes into it.</a:t>
            </a:r>
          </a:p>
        </p:txBody>
      </p:sp>
      <p:sp>
        <p:nvSpPr>
          <p:cNvPr id="6" name="TextBox 5"/>
          <p:cNvSpPr txBox="1"/>
          <p:nvPr/>
        </p:nvSpPr>
        <p:spPr>
          <a:xfrm>
            <a:off x="822960" y="5989320"/>
            <a:ext cx="7315200" cy="365760"/>
          </a:xfrm>
          <a:prstGeom prst="rect">
            <a:avLst/>
          </a:prstGeom>
          <a:noFill/>
        </p:spPr>
        <p:txBody>
          <a:bodyPr wrap="square">
            <a:spAutoFit/>
          </a:bodyPr>
          <a:lstStyle/>
          <a:p>
            <a:r>
              <a:rPr sz="1200" b="0" i="0">
                <a:solidFill>
                  <a:srgbClr val="595959"/>
                </a:solidFill>
                <a:latin typeface="Arial"/>
              </a:rPr>
              <a:t>standalone video · voice-over on text slides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005840" y="1325880"/>
            <a:ext cx="5486400" cy="365760"/>
          </a:xfrm>
          <a:prstGeom prst="rect">
            <a:avLst/>
          </a:prstGeom>
          <a:noFill/>
        </p:spPr>
        <p:txBody>
          <a:bodyPr wrap="square">
            <a:spAutoFit/>
          </a:bodyPr>
          <a:lstStyle/>
          <a:p>
            <a:r>
              <a:rPr sz="1200" b="1" i="0">
                <a:solidFill>
                  <a:srgbClr val="006E96"/>
                </a:solidFill>
                <a:latin typeface="Arial"/>
              </a:rPr>
              <a:t>WHERE WE START</a:t>
            </a:r>
          </a:p>
        </p:txBody>
      </p:sp>
      <p:sp>
        <p:nvSpPr>
          <p:cNvPr id="3" name="TextBox 2"/>
          <p:cNvSpPr txBox="1"/>
          <p:nvPr/>
        </p:nvSpPr>
        <p:spPr>
          <a:xfrm>
            <a:off x="1005840" y="1783080"/>
            <a:ext cx="10149840" cy="1737360"/>
          </a:xfrm>
          <a:prstGeom prst="rect">
            <a:avLst/>
          </a:prstGeom>
          <a:noFill/>
        </p:spPr>
        <p:txBody>
          <a:bodyPr wrap="square">
            <a:spAutoFit/>
          </a:bodyPr>
          <a:lstStyle/>
          <a:p>
            <a:r>
              <a:rPr sz="3000" b="1" i="0">
                <a:solidFill>
                  <a:srgbClr val="1A1A1A"/>
                </a:solidFill>
                <a:latin typeface="Arial"/>
              </a:rPr>
              <a:t>You have the four-layer picture of a sector. Where does it live?</a:t>
            </a:r>
          </a:p>
        </p:txBody>
      </p:sp>
      <p:sp>
        <p:nvSpPr>
          <p:cNvPr id="4" name="TextBox 3"/>
          <p:cNvSpPr txBox="1"/>
          <p:nvPr/>
        </p:nvSpPr>
        <p:spPr>
          <a:xfrm>
            <a:off x="1005840" y="3611880"/>
            <a:ext cx="10149840" cy="2377440"/>
          </a:xfrm>
          <a:prstGeom prst="rect">
            <a:avLst/>
          </a:prstGeom>
          <a:noFill/>
        </p:spPr>
        <p:txBody>
          <a:bodyPr wrap="square">
            <a:spAutoFit/>
          </a:bodyPr>
          <a:lstStyle/>
          <a:p>
            <a:pPr>
              <a:spcAft>
                <a:spcPts val="800"/>
              </a:spcAft>
            </a:pPr>
            <a:r>
              <a:rPr sz="1700" b="0" i="0">
                <a:solidFill>
                  <a:srgbClr val="595959"/>
                </a:solidFill>
                <a:latin typeface="Arial"/>
              </a:rPr>
              <a:t>A slide deck on your laptop: out of date within a month, disagreed with within two.</a:t>
            </a:r>
          </a:p>
          <a:p>
            <a:pPr>
              <a:spcAft>
                <a:spcPts val="800"/>
              </a:spcAft>
            </a:pPr>
            <a:r>
              <a:rPr sz="1700" b="0" i="0">
                <a:solidFill>
                  <a:srgbClr val="595959"/>
                </a:solidFill>
                <a:latin typeface="Arial"/>
              </a:rPr>
              <a:t>It needs a home.</a:t>
            </a:r>
          </a:p>
        </p:txBody>
      </p:sp>
      <p:sp>
        <p:nvSpPr>
          <p:cNvPr id="5" name="TextBox 4"/>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3.1 · Set up the one place your architecture lives</a:t>
            </a:r>
          </a:p>
        </p:txBody>
      </p:sp>
      <p:sp>
        <p:nvSpPr>
          <p:cNvPr id="6" name="TextBox 5"/>
          <p:cNvSpPr txBox="1"/>
          <p:nvPr/>
        </p:nvSpPr>
        <p:spPr>
          <a:xfrm>
            <a:off x="10058400" y="6473952"/>
            <a:ext cx="1673352" cy="292608"/>
          </a:xfrm>
          <a:prstGeom prst="rect">
            <a:avLst/>
          </a:prstGeom>
          <a:noFill/>
        </p:spPr>
        <p:txBody>
          <a:bodyPr wrap="square">
            <a:spAutoFit/>
          </a:bodyPr>
          <a:lstStyle/>
          <a:p>
            <a:pPr algn="r"/>
            <a:r>
              <a:rPr sz="900" b="0" i="0">
                <a:solidFill>
                  <a:srgbClr val="595959"/>
                </a:solidFill>
                <a:latin typeface="Arial"/>
              </a:rPr>
              <a:t>www.itu.int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A repository is a discipline, not a product</a:t>
            </a:r>
          </a:p>
        </p:txBody>
      </p:sp>
      <p:sp>
        <p:nvSpPr>
          <p:cNvPr id="4" name="Oval 3"/>
          <p:cNvSpPr/>
          <p:nvPr/>
        </p:nvSpPr>
        <p:spPr>
          <a:xfrm>
            <a:off x="621792" y="1508760"/>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1</a:t>
            </a:r>
          </a:p>
        </p:txBody>
      </p:sp>
      <p:sp>
        <p:nvSpPr>
          <p:cNvPr id="5" name="TextBox 4"/>
          <p:cNvSpPr txBox="1"/>
          <p:nvPr/>
        </p:nvSpPr>
        <p:spPr>
          <a:xfrm>
            <a:off x="1115568" y="1463040"/>
            <a:ext cx="10527487" cy="1386839"/>
          </a:xfrm>
          <a:prstGeom prst="rect">
            <a:avLst/>
          </a:prstGeom>
          <a:noFill/>
        </p:spPr>
        <p:txBody>
          <a:bodyPr wrap="square">
            <a:spAutoFit/>
          </a:bodyPr>
          <a:lstStyle/>
          <a:p>
            <a:pPr>
              <a:spcAft>
                <a:spcPts val="300"/>
              </a:spcAft>
            </a:pPr>
            <a:r>
              <a:rPr sz="1900" b="1" i="0">
                <a:solidFill>
                  <a:srgbClr val="1A1A1A"/>
                </a:solidFill>
                <a:latin typeface="Arial"/>
              </a:rPr>
              <a:t>The four layers</a:t>
            </a:r>
          </a:p>
          <a:p>
            <a:pPr>
              <a:spcAft>
                <a:spcPts val="300"/>
              </a:spcAft>
            </a:pPr>
            <a:r>
              <a:rPr sz="1550" b="0" i="0">
                <a:solidFill>
                  <a:srgbClr val="595959"/>
                </a:solidFill>
                <a:latin typeface="Arial"/>
              </a:rPr>
              <a:t>The capabilities, data domains, applications and technology you mapped.</a:t>
            </a:r>
          </a:p>
        </p:txBody>
      </p:sp>
      <p:sp>
        <p:nvSpPr>
          <p:cNvPr id="6" name="Rectangle 5"/>
          <p:cNvSpPr/>
          <p:nvPr/>
        </p:nvSpPr>
        <p:spPr>
          <a:xfrm>
            <a:off x="621792" y="285445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621792" y="2941319"/>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2</a:t>
            </a:r>
          </a:p>
        </p:txBody>
      </p:sp>
      <p:sp>
        <p:nvSpPr>
          <p:cNvPr id="8" name="TextBox 7"/>
          <p:cNvSpPr txBox="1"/>
          <p:nvPr/>
        </p:nvSpPr>
        <p:spPr>
          <a:xfrm>
            <a:off x="1115568" y="2895600"/>
            <a:ext cx="10527487" cy="1386839"/>
          </a:xfrm>
          <a:prstGeom prst="rect">
            <a:avLst/>
          </a:prstGeom>
          <a:noFill/>
        </p:spPr>
        <p:txBody>
          <a:bodyPr wrap="square">
            <a:spAutoFit/>
          </a:bodyPr>
          <a:lstStyle/>
          <a:p>
            <a:pPr>
              <a:spcAft>
                <a:spcPts val="300"/>
              </a:spcAft>
            </a:pPr>
            <a:r>
              <a:rPr sz="1900" b="1" i="0">
                <a:solidFill>
                  <a:srgbClr val="1A1A1A"/>
                </a:solidFill>
                <a:latin typeface="Arial"/>
              </a:rPr>
              <a:t>The relationships</a:t>
            </a:r>
          </a:p>
          <a:p>
            <a:pPr>
              <a:spcAft>
                <a:spcPts val="300"/>
              </a:spcAft>
            </a:pPr>
            <a:r>
              <a:rPr sz="1550" b="0" i="0">
                <a:solidFill>
                  <a:srgbClr val="595959"/>
                </a:solidFill>
                <a:latin typeface="Arial"/>
              </a:rPr>
              <a:t>How they connect, expressed with the shared entities.</a:t>
            </a:r>
          </a:p>
        </p:txBody>
      </p:sp>
      <p:sp>
        <p:nvSpPr>
          <p:cNvPr id="9" name="Rectangle 8"/>
          <p:cNvSpPr/>
          <p:nvPr/>
        </p:nvSpPr>
        <p:spPr>
          <a:xfrm>
            <a:off x="621792" y="4287011"/>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621792" y="4373879"/>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3</a:t>
            </a:r>
          </a:p>
        </p:txBody>
      </p:sp>
      <p:sp>
        <p:nvSpPr>
          <p:cNvPr id="11" name="TextBox 10"/>
          <p:cNvSpPr txBox="1"/>
          <p:nvPr/>
        </p:nvSpPr>
        <p:spPr>
          <a:xfrm>
            <a:off x="1115568" y="4328159"/>
            <a:ext cx="10527487" cy="1386839"/>
          </a:xfrm>
          <a:prstGeom prst="rect">
            <a:avLst/>
          </a:prstGeom>
          <a:noFill/>
        </p:spPr>
        <p:txBody>
          <a:bodyPr wrap="square">
            <a:spAutoFit/>
          </a:bodyPr>
          <a:lstStyle/>
          <a:p>
            <a:pPr>
              <a:spcAft>
                <a:spcPts val="300"/>
              </a:spcAft>
            </a:pPr>
            <a:r>
              <a:rPr sz="1900" b="1" i="0">
                <a:solidFill>
                  <a:srgbClr val="1A1A1A"/>
                </a:solidFill>
                <a:latin typeface="Arial"/>
              </a:rPr>
              <a:t>The decisions</a:t>
            </a:r>
          </a:p>
          <a:p>
            <a:pPr>
              <a:spcAft>
                <a:spcPts val="300"/>
              </a:spcAft>
            </a:pPr>
            <a:r>
              <a:rPr sz="1550" b="0" i="0">
                <a:solidFill>
                  <a:srgbClr val="595959"/>
                </a:solidFill>
                <a:latin typeface="Arial"/>
              </a:rPr>
              <a:t>What the EA Board ruled — and why it ruled that way.</a:t>
            </a:r>
          </a:p>
        </p:txBody>
      </p:sp>
      <p:sp>
        <p:nvSpPr>
          <p:cNvPr id="12" name="TextBox 11"/>
          <p:cNvSpPr txBox="1"/>
          <p:nvPr/>
        </p:nvSpPr>
        <p:spPr>
          <a:xfrm>
            <a:off x="658368" y="5870448"/>
            <a:ext cx="10881360" cy="548640"/>
          </a:xfrm>
          <a:prstGeom prst="rect">
            <a:avLst/>
          </a:prstGeom>
          <a:noFill/>
        </p:spPr>
        <p:txBody>
          <a:bodyPr wrap="square">
            <a:spAutoFit/>
          </a:bodyPr>
          <a:lstStyle/>
          <a:p>
            <a:r>
              <a:rPr sz="1550" b="1" i="0">
                <a:solidFill>
                  <a:srgbClr val="006E96"/>
                </a:solidFill>
                <a:latin typeface="Arial"/>
              </a:rPr>
              <a:t>Not a building. Not a particular software product. One agreed store — one version everyone trusts.</a:t>
            </a:r>
          </a:p>
        </p:txBody>
      </p:sp>
      <p:sp>
        <p:nvSpPr>
          <p:cNvPr id="13" name="TextBox 12"/>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3.1 · Set up the one place your architecture lives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A second copy does not add a backup — it destroys the single source of truth</a:t>
            </a:r>
          </a:p>
        </p:txBody>
      </p:sp>
      <p:sp>
        <p:nvSpPr>
          <p:cNvPr id="4" name="TextBox 3"/>
          <p:cNvSpPr txBox="1"/>
          <p:nvPr/>
        </p:nvSpPr>
        <p:spPr>
          <a:xfrm>
            <a:off x="658368" y="1600200"/>
            <a:ext cx="10881360" cy="2651760"/>
          </a:xfrm>
          <a:prstGeom prst="rect">
            <a:avLst/>
          </a:prstGeom>
          <a:noFill/>
        </p:spPr>
        <p:txBody>
          <a:bodyPr wrap="square">
            <a:spAutoFit/>
          </a:bodyPr>
          <a:lstStyle/>
          <a:p>
            <a:pPr>
              <a:spcAft>
                <a:spcPts val="1200"/>
              </a:spcAft>
            </a:pPr>
            <a:r>
              <a:rPr sz="2000" b="0" i="0">
                <a:solidFill>
                  <a:srgbClr val="1A1A1A"/>
                </a:solidFill>
                <a:latin typeface="Arial"/>
              </a:rPr>
              <a:t>The moment there are two copies, they drift. Then they disagree.</a:t>
            </a:r>
          </a:p>
          <a:p>
            <a:pPr>
              <a:spcAft>
                <a:spcPts val="1200"/>
              </a:spcAft>
            </a:pPr>
            <a:r>
              <a:rPr sz="2000" b="0" i="0">
                <a:solidFill>
                  <a:srgbClr val="1A1A1A"/>
                </a:solidFill>
                <a:latin typeface="Arial"/>
              </a:rPr>
              <a:t>One ministry works from last year’s picture; another from a newer one. People stop arguing about the architecture and start arguing about whose copy is right.</a:t>
            </a:r>
          </a:p>
        </p:txBody>
      </p:sp>
      <p:sp>
        <p:nvSpPr>
          <p:cNvPr id="5" name="Rounded Rectangle 4"/>
          <p:cNvSpPr/>
          <p:nvPr/>
        </p:nvSpPr>
        <p:spPr>
          <a:xfrm>
            <a:off x="658368" y="4434840"/>
            <a:ext cx="10881360" cy="1325880"/>
          </a:xfrm>
          <a:prstGeom prst="roundRect">
            <a:avLst>
              <a:gd name="adj" fmla="val 45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59536" y="4626864"/>
            <a:ext cx="10479024" cy="1051560"/>
          </a:xfrm>
          <a:prstGeom prst="rect">
            <a:avLst/>
          </a:prstGeom>
          <a:noFill/>
        </p:spPr>
        <p:txBody>
          <a:bodyPr wrap="square">
            <a:spAutoFit/>
          </a:bodyPr>
          <a:lstStyle/>
          <a:p>
            <a:pPr>
              <a:spcAft>
                <a:spcPts val="700"/>
              </a:spcAft>
            </a:pPr>
            <a:r>
              <a:rPr sz="2300" b="1" i="0">
                <a:solidFill>
                  <a:srgbClr val="006E96"/>
                </a:solidFill>
                <a:latin typeface="Arial"/>
              </a:rPr>
              <a:t>One place — or effectively none.</a:t>
            </a:r>
          </a:p>
        </p:txBody>
      </p:sp>
      <p:sp>
        <p:nvSpPr>
          <p:cNvPr id="7" name="TextBox 6"/>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3.1 · Set up the one place your architecture lives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What it holds, concretely — a sector anyone can look up</a:t>
            </a:r>
          </a:p>
        </p:txBody>
      </p:sp>
      <p:sp>
        <p:nvSpPr>
          <p:cNvPr id="4" name="Rounded Rectangle 3"/>
          <p:cNvSpPr/>
          <p:nvPr/>
        </p:nvSpPr>
        <p:spPr>
          <a:xfrm>
            <a:off x="658368" y="1536192"/>
            <a:ext cx="5394960" cy="2011680"/>
          </a:xfrm>
          <a:prstGeom prst="roundRect">
            <a:avLst>
              <a:gd name="adj" fmla="val 45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59536" y="1682495"/>
            <a:ext cx="4992624" cy="1737360"/>
          </a:xfrm>
          <a:prstGeom prst="rect">
            <a:avLst/>
          </a:prstGeom>
          <a:noFill/>
        </p:spPr>
        <p:txBody>
          <a:bodyPr wrap="square">
            <a:spAutoFit/>
          </a:bodyPr>
          <a:lstStyle/>
          <a:p>
            <a:pPr>
              <a:spcAft>
                <a:spcPts val="700"/>
              </a:spcAft>
            </a:pPr>
            <a:r>
              <a:rPr sz="1400" b="1" i="0">
                <a:solidFill>
                  <a:srgbClr val="006E96"/>
                </a:solidFill>
                <a:latin typeface="Arial"/>
              </a:rPr>
              <a:t>DATA DOMAINS, WITH OWNERS</a:t>
            </a:r>
          </a:p>
          <a:p>
            <a:pPr>
              <a:spcAft>
                <a:spcPts val="700"/>
              </a:spcAft>
            </a:pPr>
            <a:r>
              <a:rPr sz="1550" b="0" i="0">
                <a:solidFill>
                  <a:srgbClr val="1A1A1A"/>
                </a:solidFill>
                <a:latin typeface="Arial"/>
              </a:rPr>
              <a:t>Person → the Identity Authority.</a:t>
            </a:r>
          </a:p>
          <a:p>
            <a:pPr>
              <a:spcAft>
                <a:spcPts val="700"/>
              </a:spcAft>
            </a:pPr>
            <a:r>
              <a:rPr sz="1550" b="0" i="0">
                <a:solidFill>
                  <a:srgbClr val="1A1A1A"/>
                </a:solidFill>
                <a:latin typeface="Arial"/>
              </a:rPr>
              <a:t>Learner → the Learner Registry.</a:t>
            </a:r>
          </a:p>
          <a:p>
            <a:pPr>
              <a:spcAft>
                <a:spcPts val="700"/>
              </a:spcAft>
            </a:pPr>
            <a:r>
              <a:rPr sz="1550" b="0" i="0">
                <a:solidFill>
                  <a:srgbClr val="1A1A1A"/>
                </a:solidFill>
                <a:latin typeface="Arial"/>
              </a:rPr>
              <a:t>Examination result → the Examination Authority.</a:t>
            </a:r>
          </a:p>
        </p:txBody>
      </p:sp>
      <p:sp>
        <p:nvSpPr>
          <p:cNvPr id="6" name="Rounded Rectangle 5"/>
          <p:cNvSpPr/>
          <p:nvPr/>
        </p:nvSpPr>
        <p:spPr>
          <a:xfrm>
            <a:off x="6263640" y="1536192"/>
            <a:ext cx="5394960" cy="2011680"/>
          </a:xfrm>
          <a:prstGeom prst="roundRect">
            <a:avLst>
              <a:gd name="adj" fmla="val 45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64808" y="1682495"/>
            <a:ext cx="4992624" cy="1737360"/>
          </a:xfrm>
          <a:prstGeom prst="rect">
            <a:avLst/>
          </a:prstGeom>
          <a:noFill/>
        </p:spPr>
        <p:txBody>
          <a:bodyPr wrap="square">
            <a:spAutoFit/>
          </a:bodyPr>
          <a:lstStyle/>
          <a:p>
            <a:pPr>
              <a:spcAft>
                <a:spcPts val="700"/>
              </a:spcAft>
            </a:pPr>
            <a:r>
              <a:rPr sz="1400" b="1" i="0">
                <a:solidFill>
                  <a:srgbClr val="006E96"/>
                </a:solidFill>
                <a:latin typeface="Arial"/>
              </a:rPr>
              <a:t>THE CAPABILITY MAP AND PORTFOLIO</a:t>
            </a:r>
          </a:p>
          <a:p>
            <a:pPr>
              <a:spcAft>
                <a:spcPts val="700"/>
              </a:spcAft>
            </a:pPr>
            <a:r>
              <a:rPr sz="1550" b="0" i="0">
                <a:solidFill>
                  <a:srgbClr val="1A1A1A"/>
                </a:solidFill>
                <a:latin typeface="Arial"/>
              </a:rPr>
              <a:t>What the sector can do, and the system that supports each capability.</a:t>
            </a:r>
          </a:p>
        </p:txBody>
      </p:sp>
      <p:sp>
        <p:nvSpPr>
          <p:cNvPr id="8" name="Rounded Rectangle 7"/>
          <p:cNvSpPr/>
          <p:nvPr/>
        </p:nvSpPr>
        <p:spPr>
          <a:xfrm>
            <a:off x="658368" y="3749040"/>
            <a:ext cx="5394960" cy="2011680"/>
          </a:xfrm>
          <a:prstGeom prst="roundRect">
            <a:avLst>
              <a:gd name="adj" fmla="val 45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59536" y="3895344"/>
            <a:ext cx="4992624" cy="1737360"/>
          </a:xfrm>
          <a:prstGeom prst="rect">
            <a:avLst/>
          </a:prstGeom>
          <a:noFill/>
        </p:spPr>
        <p:txBody>
          <a:bodyPr wrap="square">
            <a:spAutoFit/>
          </a:bodyPr>
          <a:lstStyle/>
          <a:p>
            <a:pPr>
              <a:spcAft>
                <a:spcPts val="700"/>
              </a:spcAft>
            </a:pPr>
            <a:r>
              <a:rPr sz="1400" b="1" i="0">
                <a:solidFill>
                  <a:srgbClr val="006E96"/>
                </a:solidFill>
                <a:latin typeface="Arial"/>
              </a:rPr>
              <a:t>THE SHARED TECHNOLOGY</a:t>
            </a:r>
          </a:p>
          <a:p>
            <a:pPr>
              <a:spcAft>
                <a:spcPts val="700"/>
              </a:spcAft>
            </a:pPr>
            <a:r>
              <a:rPr sz="1550" b="0" i="0">
                <a:solidFill>
                  <a:srgbClr val="1A1A1A"/>
                </a:solidFill>
                <a:latin typeface="Arial"/>
              </a:rPr>
              <a:t>The platforms, standards and infrastructure all of it runs on.</a:t>
            </a:r>
          </a:p>
        </p:txBody>
      </p:sp>
      <p:sp>
        <p:nvSpPr>
          <p:cNvPr id="10" name="Rounded Rectangle 9"/>
          <p:cNvSpPr/>
          <p:nvPr/>
        </p:nvSpPr>
        <p:spPr>
          <a:xfrm>
            <a:off x="6263640" y="3749040"/>
            <a:ext cx="5394960" cy="2011680"/>
          </a:xfrm>
          <a:prstGeom prst="roundRect">
            <a:avLst>
              <a:gd name="adj" fmla="val 45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64808" y="3895344"/>
            <a:ext cx="4992624" cy="1737360"/>
          </a:xfrm>
          <a:prstGeom prst="rect">
            <a:avLst/>
          </a:prstGeom>
          <a:noFill/>
        </p:spPr>
        <p:txBody>
          <a:bodyPr wrap="square">
            <a:spAutoFit/>
          </a:bodyPr>
          <a:lstStyle/>
          <a:p>
            <a:pPr>
              <a:spcAft>
                <a:spcPts val="700"/>
              </a:spcAft>
            </a:pPr>
            <a:r>
              <a:rPr sz="1400" b="1" i="0">
                <a:solidFill>
                  <a:srgbClr val="006E96"/>
                </a:solidFill>
                <a:latin typeface="Arial"/>
              </a:rPr>
              <a:t>THE DECISION LOG</a:t>
            </a:r>
          </a:p>
          <a:p>
            <a:pPr>
              <a:spcAft>
                <a:spcPts val="700"/>
              </a:spcAft>
            </a:pPr>
            <a:r>
              <a:rPr sz="1550" b="0" i="0">
                <a:solidFill>
                  <a:srgbClr val="1A1A1A"/>
                </a:solidFill>
                <a:latin typeface="Arial"/>
              </a:rPr>
              <a:t>The Board ruled that the Examination Authority must consume the Learner Registry rather than keep its own list — with the reason.</a:t>
            </a:r>
          </a:p>
        </p:txBody>
      </p:sp>
      <p:sp>
        <p:nvSpPr>
          <p:cNvPr id="12" name="TextBox 11"/>
          <p:cNvSpPr txBox="1"/>
          <p:nvPr/>
        </p:nvSpPr>
        <p:spPr>
          <a:xfrm>
            <a:off x="658368" y="5852160"/>
            <a:ext cx="10881360" cy="457200"/>
          </a:xfrm>
          <a:prstGeom prst="rect">
            <a:avLst/>
          </a:prstGeom>
          <a:noFill/>
        </p:spPr>
        <p:txBody>
          <a:bodyPr wrap="square">
            <a:spAutoFit/>
          </a:bodyPr>
          <a:lstStyle/>
          <a:p>
            <a:r>
              <a:rPr sz="1550" b="1" i="0">
                <a:solidFill>
                  <a:srgbClr val="006E96"/>
                </a:solidFill>
                <a:latin typeface="Arial"/>
              </a:rPr>
              <a:t>Anyone can look up not just what the architecture is, but why it is that way.</a:t>
            </a:r>
          </a:p>
        </p:txBody>
      </p:sp>
      <p:sp>
        <p:nvSpPr>
          <p:cNvPr id="13" name="TextBox 12"/>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3.1 · Set up the one place your architecture lives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A spreadsheet everyone uses beats a platform nobody does</a:t>
            </a:r>
          </a:p>
        </p:txBody>
      </p:sp>
      <p:sp>
        <p:nvSpPr>
          <p:cNvPr id="4" name="TextBox 3"/>
          <p:cNvSpPr txBox="1"/>
          <p:nvPr/>
        </p:nvSpPr>
        <p:spPr>
          <a:xfrm>
            <a:off x="658368" y="1600200"/>
            <a:ext cx="10881360" cy="2651760"/>
          </a:xfrm>
          <a:prstGeom prst="rect">
            <a:avLst/>
          </a:prstGeom>
          <a:noFill/>
        </p:spPr>
        <p:txBody>
          <a:bodyPr wrap="square">
            <a:spAutoFit/>
          </a:bodyPr>
          <a:lstStyle/>
          <a:p>
            <a:pPr>
              <a:spcAft>
                <a:spcPts val="1200"/>
              </a:spcAft>
            </a:pPr>
            <a:r>
              <a:rPr sz="2000" b="0" i="0">
                <a:solidFill>
                  <a:srgbClr val="1A1A1A"/>
                </a:solidFill>
                <a:latin typeface="Arial"/>
              </a:rPr>
              <a:t>You do not need to buy anything to start. A well-structured spreadsheet, or a shared wiki, is a real repository — if it holds the four layers, the relationships and the decisions, and if everyone uses it as the one source.</a:t>
            </a:r>
          </a:p>
          <a:p>
            <a:pPr>
              <a:spcAft>
                <a:spcPts val="1200"/>
              </a:spcAft>
            </a:pPr>
            <a:r>
              <a:rPr sz="2000" b="0" i="0">
                <a:solidFill>
                  <a:srgbClr val="1A1A1A"/>
                </a:solidFill>
                <a:latin typeface="Arial"/>
              </a:rPr>
              <a:t>Many countries run a perfectly good early EA on a spreadsheet and a document store. When the spreadsheet starts to hurt, you graduate — and the choice of tool is its own deliberate decision.</a:t>
            </a:r>
          </a:p>
        </p:txBody>
      </p:sp>
      <p:sp>
        <p:nvSpPr>
          <p:cNvPr id="5" name="Rounded Rectangle 4"/>
          <p:cNvSpPr/>
          <p:nvPr/>
        </p:nvSpPr>
        <p:spPr>
          <a:xfrm>
            <a:off x="658368" y="4434840"/>
            <a:ext cx="10881360" cy="1325880"/>
          </a:xfrm>
          <a:prstGeom prst="roundRect">
            <a:avLst>
              <a:gd name="adj" fmla="val 45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59536" y="4626864"/>
            <a:ext cx="10479024" cy="1051560"/>
          </a:xfrm>
          <a:prstGeom prst="rect">
            <a:avLst/>
          </a:prstGeom>
          <a:noFill/>
        </p:spPr>
        <p:txBody>
          <a:bodyPr wrap="square">
            <a:spAutoFit/>
          </a:bodyPr>
          <a:lstStyle/>
          <a:p>
            <a:pPr>
              <a:spcAft>
                <a:spcPts val="700"/>
              </a:spcAft>
            </a:pPr>
            <a:r>
              <a:rPr sz="2300" b="1" i="0">
                <a:solidFill>
                  <a:srgbClr val="006E96"/>
                </a:solidFill>
                <a:latin typeface="Arial"/>
              </a:rPr>
              <a:t>Structure matters more than software.</a:t>
            </a:r>
          </a:p>
        </p:txBody>
      </p:sp>
      <p:sp>
        <p:nvSpPr>
          <p:cNvPr id="7" name="TextBox 6"/>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3.1 · Set up the one place your architecture lives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The repository is the object both sides point at</a:t>
            </a:r>
          </a:p>
        </p:txBody>
      </p:sp>
      <p:sp>
        <p:nvSpPr>
          <p:cNvPr id="4" name="TextBox 3"/>
          <p:cNvSpPr txBox="1"/>
          <p:nvPr/>
        </p:nvSpPr>
        <p:spPr>
          <a:xfrm>
            <a:off x="658368" y="1600200"/>
            <a:ext cx="10881360" cy="1600200"/>
          </a:xfrm>
          <a:prstGeom prst="rect">
            <a:avLst/>
          </a:prstGeom>
          <a:noFill/>
        </p:spPr>
        <p:txBody>
          <a:bodyPr wrap="square">
            <a:spAutoFit/>
          </a:bodyPr>
          <a:lstStyle/>
          <a:p>
            <a:pPr>
              <a:spcAft>
                <a:spcPts val="1200"/>
              </a:spcAft>
            </a:pPr>
            <a:r>
              <a:rPr sz="2000" b="0" i="0">
                <a:solidFill>
                  <a:srgbClr val="1A1A1A"/>
                </a:solidFill>
                <a:latin typeface="Arial"/>
              </a:rPr>
              <a:t>When the minister briefs cabinet and the architect designs a system, they look at the same picture — because there is only one.</a:t>
            </a:r>
          </a:p>
        </p:txBody>
      </p:sp>
      <p:sp>
        <p:nvSpPr>
          <p:cNvPr id="5" name="Rounded Rectangle 4"/>
          <p:cNvSpPr/>
          <p:nvPr/>
        </p:nvSpPr>
        <p:spPr>
          <a:xfrm>
            <a:off x="658368" y="3383280"/>
            <a:ext cx="10881360" cy="1325880"/>
          </a:xfrm>
          <a:prstGeom prst="roundRect">
            <a:avLst>
              <a:gd name="adj" fmla="val 45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59536" y="3575304"/>
            <a:ext cx="10479024" cy="1051560"/>
          </a:xfrm>
          <a:prstGeom prst="rect">
            <a:avLst/>
          </a:prstGeom>
          <a:noFill/>
        </p:spPr>
        <p:txBody>
          <a:bodyPr wrap="square">
            <a:spAutoFit/>
          </a:bodyPr>
          <a:lstStyle/>
          <a:p>
            <a:pPr>
              <a:spcAft>
                <a:spcPts val="700"/>
              </a:spcAft>
            </a:pPr>
            <a:r>
              <a:rPr sz="2300" b="1" i="0">
                <a:solidFill>
                  <a:srgbClr val="006E96"/>
                </a:solidFill>
                <a:latin typeface="Arial"/>
              </a:rPr>
              <a:t>The repository is what makes the architecture a shared language instead of two private ones.</a:t>
            </a:r>
          </a:p>
        </p:txBody>
      </p:sp>
      <p:sp>
        <p:nvSpPr>
          <p:cNvPr id="7" name="TextBox 6"/>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3.1 · Set up the one place your architecture lives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005840" y="2103120"/>
            <a:ext cx="10149840" cy="2377440"/>
          </a:xfrm>
          <a:prstGeom prst="rect">
            <a:avLst/>
          </a:prstGeom>
          <a:noFill/>
        </p:spPr>
        <p:txBody>
          <a:bodyPr wrap="square">
            <a:spAutoFit/>
          </a:bodyPr>
          <a:lstStyle/>
          <a:p>
            <a:r>
              <a:rPr sz="3000" b="1" i="0">
                <a:solidFill>
                  <a:srgbClr val="1A1A1A"/>
                </a:solidFill>
                <a:latin typeface="Arial"/>
              </a:rPr>
              <a:t>An EA repository is the single agreed place your architecture lives — the layers, the relationships and the decisions — so there is one picture of your government, not many.</a:t>
            </a:r>
          </a:p>
        </p:txBody>
      </p:sp>
      <p:sp>
        <p:nvSpPr>
          <p:cNvPr id="3" name="TextBox 2"/>
          <p:cNvSpPr txBox="1"/>
          <p:nvPr/>
        </p:nvSpPr>
        <p:spPr>
          <a:xfrm>
            <a:off x="1005840" y="1554480"/>
            <a:ext cx="5486400" cy="365760"/>
          </a:xfrm>
          <a:prstGeom prst="rect">
            <a:avLst/>
          </a:prstGeom>
          <a:noFill/>
        </p:spPr>
        <p:txBody>
          <a:bodyPr wrap="square">
            <a:spAutoFit/>
          </a:bodyPr>
          <a:lstStyle/>
          <a:p>
            <a:r>
              <a:rPr sz="1200" b="1" i="0">
                <a:solidFill>
                  <a:srgbClr val="006E96"/>
                </a:solidFill>
                <a:latin typeface="Arial"/>
              </a:rPr>
              <a:t>IN ONE SENTENCE</a:t>
            </a:r>
          </a:p>
        </p:txBody>
      </p:sp>
      <p:sp>
        <p:nvSpPr>
          <p:cNvPr id="4" name="Rounded Rectangle 3"/>
          <p:cNvSpPr/>
          <p:nvPr/>
        </p:nvSpPr>
        <p:spPr>
          <a:xfrm>
            <a:off x="658368" y="4709160"/>
            <a:ext cx="10881360" cy="1554480"/>
          </a:xfrm>
          <a:prstGeom prst="roundRect">
            <a:avLst>
              <a:gd name="adj" fmla="val 4500"/>
            </a:avLst>
          </a:prstGeom>
          <a:solidFill>
            <a:srgbClr val="FFFFFF"/>
          </a:solidFill>
          <a:ln w="9525">
            <a:solidFill>
              <a:srgbClr val="009C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09728" bIns="109728">
            <a:noAutofit/>
          </a:bodyPr>
          <a:lstStyle/>
          <a:p>
            <a:pPr algn="l">
              <a:spcAft>
                <a:spcPts val="400"/>
              </a:spcAft>
            </a:pPr>
            <a:r>
              <a:rPr sz="1800" b="1" i="0">
                <a:solidFill>
                  <a:srgbClr val="006E96"/>
                </a:solidFill>
                <a:latin typeface="Arial"/>
              </a:rPr>
              <a:t>Do this on your own sector. </a:t>
            </a:r>
            <a:r>
              <a:rPr sz="1800" b="1" i="0">
                <a:solidFill>
                  <a:srgbClr val="1A1A1A"/>
                </a:solidFill>
                <a:latin typeface="Arial"/>
              </a:rPr>
              <a:t>Design your EA repository's structure.</a:t>
            </a:r>
          </a:p>
          <a:p>
            <a:pPr algn="l">
              <a:spcAft>
                <a:spcPts val="400"/>
              </a:spcAft>
            </a:pPr>
            <a:r>
              <a:rPr sz="1800" b="0" i="0">
                <a:solidFill>
                  <a:srgbClr val="595959"/>
                </a:solidFill>
                <a:latin typeface="Arial"/>
              </a:rPr>
              <a:t>The prompt in the companion material gives you a repository schema plus single-source rules. Before the next video.</a:t>
            </a:r>
          </a:p>
        </p:txBody>
      </p:sp>
      <p:sp>
        <p:nvSpPr>
          <p:cNvPr id="5" name="TextBox 4"/>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3.1 · Set up the one place your architecture lives</a:t>
            </a:r>
          </a:p>
        </p:txBody>
      </p:sp>
      <p:sp>
        <p:nvSpPr>
          <p:cNvPr id="6" name="TextBox 5"/>
          <p:cNvSpPr txBox="1"/>
          <p:nvPr/>
        </p:nvSpPr>
        <p:spPr>
          <a:xfrm>
            <a:off x="10058400" y="6473952"/>
            <a:ext cx="1673352" cy="292608"/>
          </a:xfrm>
          <a:prstGeom prst="rect">
            <a:avLst/>
          </a:prstGeom>
          <a:noFill/>
        </p:spPr>
        <p:txBody>
          <a:bodyPr wrap="square">
            <a:spAutoFit/>
          </a:bodyPr>
          <a:lstStyle/>
          <a:p>
            <a:pPr algn="r"/>
            <a:r>
              <a:rPr sz="900" b="0" i="0">
                <a:solidFill>
                  <a:srgbClr val="595959"/>
                </a:solidFill>
                <a:latin typeface="Arial"/>
              </a:rPr>
              <a:t>www.itu.int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Sources</a:t>
            </a:r>
          </a:p>
        </p:txBody>
      </p:sp>
      <p:sp>
        <p:nvSpPr>
          <p:cNvPr id="4" name="TextBox 3"/>
          <p:cNvSpPr txBox="1"/>
          <p:nvPr/>
        </p:nvSpPr>
        <p:spPr>
          <a:xfrm>
            <a:off x="658368" y="1554480"/>
            <a:ext cx="10789920" cy="3840480"/>
          </a:xfrm>
          <a:prstGeom prst="rect">
            <a:avLst/>
          </a:prstGeom>
          <a:noFill/>
        </p:spPr>
        <p:txBody>
          <a:bodyPr wrap="square">
            <a:spAutoFit/>
          </a:bodyPr>
          <a:lstStyle/>
          <a:p>
            <a:pPr>
              <a:spcAft>
                <a:spcPts val="1200"/>
              </a:spcAft>
            </a:pPr>
            <a:r>
              <a:rPr sz="1700" b="0" i="0">
                <a:solidFill>
                  <a:srgbClr val="1A1A1A"/>
                </a:solidFill>
                <a:latin typeface="Arial"/>
              </a:rPr>
              <a:t>•  PAERA v1.0 — §4.2.2 (Architecture — the EA function)</a:t>
            </a:r>
          </a:p>
          <a:p>
            <a:pPr>
              <a:spcAft>
                <a:spcPts val="1200"/>
              </a:spcAft>
            </a:pPr>
            <a:r>
              <a:rPr sz="1700" b="0" i="0">
                <a:solidFill>
                  <a:srgbClr val="1A1A1A"/>
                </a:solidFill>
                <a:latin typeface="Arial"/>
              </a:rPr>
              <a:t>•  PAERA v1.0 — §3.1 (Governance &amp; Policy)</a:t>
            </a:r>
          </a:p>
          <a:p>
            <a:pPr>
              <a:spcAft>
                <a:spcPts val="1200"/>
              </a:spcAft>
            </a:pPr>
            <a:r>
              <a:rPr sz="1700" b="0" i="0">
                <a:solidFill>
                  <a:srgbClr val="1A1A1A"/>
                </a:solidFill>
                <a:latin typeface="Arial"/>
              </a:rPr>
              <a:t>•  PAERA v1.0 — Annex 2 (Metamodel)</a:t>
            </a:r>
          </a:p>
        </p:txBody>
      </p:sp>
      <p:sp>
        <p:nvSpPr>
          <p:cNvPr id="5" name="TextBox 4"/>
          <p:cNvSpPr txBox="1"/>
          <p:nvPr/>
        </p:nvSpPr>
        <p:spPr>
          <a:xfrm>
            <a:off x="658368" y="5806440"/>
            <a:ext cx="10789920" cy="457200"/>
          </a:xfrm>
          <a:prstGeom prst="rect">
            <a:avLst/>
          </a:prstGeom>
          <a:noFill/>
        </p:spPr>
        <p:txBody>
          <a:bodyPr wrap="square">
            <a:spAutoFit/>
          </a:bodyPr>
          <a:lstStyle/>
          <a:p>
            <a:r>
              <a:rPr sz="1400" b="1" i="0">
                <a:solidFill>
                  <a:srgbClr val="006E96"/>
                </a:solidFill>
                <a:latin typeface="Arial"/>
              </a:rPr>
              <a:t>Find the link in the description.</a:t>
            </a:r>
          </a:p>
        </p:txBody>
      </p:sp>
      <p:sp>
        <p:nvSpPr>
          <p:cNvPr id="6" name="TextBox 5"/>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3.1 · Set up the one place your architecture lives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22960" y="822960"/>
            <a:ext cx="7315200" cy="457200"/>
          </a:xfrm>
          <a:prstGeom prst="rect">
            <a:avLst/>
          </a:prstGeom>
          <a:noFill/>
        </p:spPr>
        <p:txBody>
          <a:bodyPr wrap="square">
            <a:spAutoFit/>
          </a:bodyPr>
          <a:lstStyle/>
          <a:p>
            <a:r>
              <a:rPr sz="1200" b="1" i="0">
                <a:solidFill>
                  <a:srgbClr val="595959"/>
                </a:solidFill>
                <a:latin typeface="Arial"/>
              </a:rPr>
              <a:t>MODULE 3 · VIDEO 3.2</a:t>
            </a:r>
          </a:p>
        </p:txBody>
      </p:sp>
      <p:sp>
        <p:nvSpPr>
          <p:cNvPr id="3" name="TextBox 2"/>
          <p:cNvSpPr txBox="1"/>
          <p:nvPr/>
        </p:nvSpPr>
        <p:spPr>
          <a:xfrm>
            <a:off x="822960" y="1828800"/>
            <a:ext cx="2011680" cy="1097280"/>
          </a:xfrm>
          <a:prstGeom prst="rect">
            <a:avLst/>
          </a:prstGeom>
          <a:noFill/>
        </p:spPr>
        <p:txBody>
          <a:bodyPr wrap="square">
            <a:spAutoFit/>
          </a:bodyPr>
          <a:lstStyle/>
          <a:p>
            <a:r>
              <a:rPr sz="6000" b="1" i="0">
                <a:solidFill>
                  <a:srgbClr val="009CD6"/>
                </a:solidFill>
                <a:latin typeface="Arial"/>
              </a:rPr>
              <a:t>3.2</a:t>
            </a:r>
          </a:p>
        </p:txBody>
      </p:sp>
      <p:sp>
        <p:nvSpPr>
          <p:cNvPr id="4" name="TextBox 3"/>
          <p:cNvSpPr txBox="1"/>
          <p:nvPr/>
        </p:nvSpPr>
        <p:spPr>
          <a:xfrm>
            <a:off x="822960" y="2880360"/>
            <a:ext cx="9601200" cy="1371600"/>
          </a:xfrm>
          <a:prstGeom prst="rect">
            <a:avLst/>
          </a:prstGeom>
          <a:noFill/>
        </p:spPr>
        <p:txBody>
          <a:bodyPr wrap="square">
            <a:spAutoFit/>
          </a:bodyPr>
          <a:lstStyle/>
          <a:p>
            <a:r>
              <a:rPr sz="3400" b="1" i="0">
                <a:solidFill>
                  <a:srgbClr val="1A1A1A"/>
                </a:solidFill>
                <a:latin typeface="Arial"/>
              </a:rPr>
              <a:t>Choose EA tooling without locking yourself in</a:t>
            </a:r>
          </a:p>
        </p:txBody>
      </p:sp>
      <p:sp>
        <p:nvSpPr>
          <p:cNvPr id="5" name="TextBox 4"/>
          <p:cNvSpPr txBox="1"/>
          <p:nvPr/>
        </p:nvSpPr>
        <p:spPr>
          <a:xfrm>
            <a:off x="822960" y="4343400"/>
            <a:ext cx="9875520" cy="1554480"/>
          </a:xfrm>
          <a:prstGeom prst="rect">
            <a:avLst/>
          </a:prstGeom>
          <a:noFill/>
        </p:spPr>
        <p:txBody>
          <a:bodyPr wrap="square">
            <a:spAutoFit/>
          </a:bodyPr>
          <a:lstStyle/>
          <a:p>
            <a:r>
              <a:rPr sz="1700" b="0" i="1">
                <a:solidFill>
                  <a:srgbClr val="595959"/>
                </a:solidFill>
                <a:latin typeface="Arial"/>
              </a:rPr>
              <a:t>Choose your EA tooling the way you would choose any system — reuse before buy, buy before build, keep your data in open formats you control, and never let the EA tool itself become the vendor trap it is meant to help you avoid.</a:t>
            </a:r>
          </a:p>
        </p:txBody>
      </p:sp>
      <p:sp>
        <p:nvSpPr>
          <p:cNvPr id="6" name="TextBox 5"/>
          <p:cNvSpPr txBox="1"/>
          <p:nvPr/>
        </p:nvSpPr>
        <p:spPr>
          <a:xfrm>
            <a:off x="822960" y="5989320"/>
            <a:ext cx="7315200" cy="365760"/>
          </a:xfrm>
          <a:prstGeom prst="rect">
            <a:avLst/>
          </a:prstGeom>
          <a:noFill/>
        </p:spPr>
        <p:txBody>
          <a:bodyPr wrap="square">
            <a:spAutoFit/>
          </a:bodyPr>
          <a:lstStyle/>
          <a:p>
            <a:r>
              <a:rPr sz="1200" b="0" i="0">
                <a:solidFill>
                  <a:srgbClr val="595959"/>
                </a:solidFill>
                <a:latin typeface="Arial"/>
              </a:rPr>
              <a:t>standalone video · voice-over on text slides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005840" y="1325880"/>
            <a:ext cx="5486400" cy="365760"/>
          </a:xfrm>
          <a:prstGeom prst="rect">
            <a:avLst/>
          </a:prstGeom>
          <a:noFill/>
        </p:spPr>
        <p:txBody>
          <a:bodyPr wrap="square">
            <a:spAutoFit/>
          </a:bodyPr>
          <a:lstStyle/>
          <a:p>
            <a:r>
              <a:rPr sz="1200" b="1" i="0">
                <a:solidFill>
                  <a:srgbClr val="006E96"/>
                </a:solidFill>
                <a:latin typeface="Arial"/>
              </a:rPr>
              <a:t>WHERE WE START</a:t>
            </a:r>
          </a:p>
        </p:txBody>
      </p:sp>
      <p:sp>
        <p:nvSpPr>
          <p:cNvPr id="3" name="TextBox 2"/>
          <p:cNvSpPr txBox="1"/>
          <p:nvPr/>
        </p:nvSpPr>
        <p:spPr>
          <a:xfrm>
            <a:off x="1005840" y="1783080"/>
            <a:ext cx="10149840" cy="1737360"/>
          </a:xfrm>
          <a:prstGeom prst="rect">
            <a:avLst/>
          </a:prstGeom>
          <a:noFill/>
        </p:spPr>
        <p:txBody>
          <a:bodyPr wrap="square">
            <a:spAutoFit/>
          </a:bodyPr>
          <a:lstStyle/>
          <a:p>
            <a:r>
              <a:rPr sz="3000" b="1" i="0">
                <a:solidFill>
                  <a:srgbClr val="1A1A1A"/>
                </a:solidFill>
                <a:latin typeface="Arial"/>
              </a:rPr>
              <a:t>The spreadsheet stops coping. Do not swap one lock-in for another.</a:t>
            </a:r>
          </a:p>
        </p:txBody>
      </p:sp>
      <p:sp>
        <p:nvSpPr>
          <p:cNvPr id="4" name="TextBox 3"/>
          <p:cNvSpPr txBox="1"/>
          <p:nvPr/>
        </p:nvSpPr>
        <p:spPr>
          <a:xfrm>
            <a:off x="1005840" y="3611880"/>
            <a:ext cx="10149840" cy="2377440"/>
          </a:xfrm>
          <a:prstGeom prst="rect">
            <a:avLst/>
          </a:prstGeom>
          <a:noFill/>
        </p:spPr>
        <p:txBody>
          <a:bodyPr wrap="square">
            <a:spAutoFit/>
          </a:bodyPr>
          <a:lstStyle/>
          <a:p>
            <a:pPr>
              <a:spcAft>
                <a:spcPts val="800"/>
              </a:spcAft>
            </a:pPr>
            <a:r>
              <a:rPr sz="1700" b="0" i="0">
                <a:solidFill>
                  <a:srgbClr val="595959"/>
                </a:solidFill>
                <a:latin typeface="Arial"/>
              </a:rPr>
              <a:t>Hundreds of entities, several sectors, relationships you cannot see in rows and columns.</a:t>
            </a:r>
          </a:p>
          <a:p>
            <a:pPr>
              <a:spcAft>
                <a:spcPts val="800"/>
              </a:spcAft>
            </a:pPr>
            <a:r>
              <a:rPr sz="1700" b="0" i="0">
                <a:solidFill>
                  <a:srgbClr val="595959"/>
                </a:solidFill>
                <a:latin typeface="Arial"/>
              </a:rPr>
              <a:t>In buying a tool to help your government avoid vendor lock-in, you can lock yourself into the tool.</a:t>
            </a:r>
          </a:p>
        </p:txBody>
      </p:sp>
      <p:sp>
        <p:nvSpPr>
          <p:cNvPr id="5" name="TextBox 4"/>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3.2 · Choose EA tooling without locking yourself in</a:t>
            </a:r>
          </a:p>
        </p:txBody>
      </p:sp>
      <p:sp>
        <p:nvSpPr>
          <p:cNvPr id="6" name="TextBox 5"/>
          <p:cNvSpPr txBox="1"/>
          <p:nvPr/>
        </p:nvSpPr>
        <p:spPr>
          <a:xfrm>
            <a:off x="10058400" y="6473952"/>
            <a:ext cx="1673352" cy="292608"/>
          </a:xfrm>
          <a:prstGeom prst="rect">
            <a:avLst/>
          </a:prstGeom>
          <a:noFill/>
        </p:spPr>
        <p:txBody>
          <a:bodyPr wrap="square">
            <a:spAutoFit/>
          </a:bodyPr>
          <a:lstStyle/>
          <a:p>
            <a:pPr algn="r"/>
            <a:r>
              <a:rPr sz="900" b="0" i="0">
                <a:solidFill>
                  <a:srgbClr val="595959"/>
                </a:solidFill>
                <a:latin typeface="Arial"/>
              </a:rPr>
              <a:t>www.itu.int</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Graduate when the spreadsheet hurts in three specific ways</a:t>
            </a:r>
          </a:p>
        </p:txBody>
      </p:sp>
      <p:sp>
        <p:nvSpPr>
          <p:cNvPr id="4" name="Oval 3"/>
          <p:cNvSpPr/>
          <p:nvPr/>
        </p:nvSpPr>
        <p:spPr>
          <a:xfrm>
            <a:off x="621792" y="1508760"/>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1</a:t>
            </a:r>
          </a:p>
        </p:txBody>
      </p:sp>
      <p:sp>
        <p:nvSpPr>
          <p:cNvPr id="5" name="TextBox 4"/>
          <p:cNvSpPr txBox="1"/>
          <p:nvPr/>
        </p:nvSpPr>
        <p:spPr>
          <a:xfrm>
            <a:off x="1115568" y="1463040"/>
            <a:ext cx="10527487" cy="1386839"/>
          </a:xfrm>
          <a:prstGeom prst="rect">
            <a:avLst/>
          </a:prstGeom>
          <a:noFill/>
        </p:spPr>
        <p:txBody>
          <a:bodyPr wrap="square">
            <a:spAutoFit/>
          </a:bodyPr>
          <a:lstStyle/>
          <a:p>
            <a:pPr>
              <a:spcAft>
                <a:spcPts val="300"/>
              </a:spcAft>
            </a:pPr>
            <a:r>
              <a:rPr sz="1900" b="1" i="0">
                <a:solidFill>
                  <a:srgbClr val="1A1A1A"/>
                </a:solidFill>
                <a:latin typeface="Arial"/>
              </a:rPr>
              <a:t>You cannot see the relationships any more</a:t>
            </a:r>
          </a:p>
          <a:p>
            <a:pPr>
              <a:spcAft>
                <a:spcPts val="300"/>
              </a:spcAft>
            </a:pPr>
            <a:r>
              <a:rPr sz="1550" b="0" i="0">
                <a:solidFill>
                  <a:srgbClr val="595959"/>
                </a:solidFill>
                <a:latin typeface="Arial"/>
              </a:rPr>
              <a:t>They are scattered across tabs.</a:t>
            </a:r>
          </a:p>
        </p:txBody>
      </p:sp>
      <p:sp>
        <p:nvSpPr>
          <p:cNvPr id="6" name="Rectangle 5"/>
          <p:cNvSpPr/>
          <p:nvPr/>
        </p:nvSpPr>
        <p:spPr>
          <a:xfrm>
            <a:off x="621792" y="285445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621792" y="2941319"/>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2</a:t>
            </a:r>
          </a:p>
        </p:txBody>
      </p:sp>
      <p:sp>
        <p:nvSpPr>
          <p:cNvPr id="8" name="TextBox 7"/>
          <p:cNvSpPr txBox="1"/>
          <p:nvPr/>
        </p:nvSpPr>
        <p:spPr>
          <a:xfrm>
            <a:off x="1115568" y="2895600"/>
            <a:ext cx="10527487" cy="1386839"/>
          </a:xfrm>
          <a:prstGeom prst="rect">
            <a:avLst/>
          </a:prstGeom>
          <a:noFill/>
        </p:spPr>
        <p:txBody>
          <a:bodyPr wrap="square">
            <a:spAutoFit/>
          </a:bodyPr>
          <a:lstStyle/>
          <a:p>
            <a:pPr>
              <a:spcAft>
                <a:spcPts val="300"/>
              </a:spcAft>
            </a:pPr>
            <a:r>
              <a:rPr sz="1900" b="1" i="0">
                <a:solidFill>
                  <a:srgbClr val="1A1A1A"/>
                </a:solidFill>
                <a:latin typeface="Arial"/>
              </a:rPr>
              <a:t>Several people edit, and their changes collide</a:t>
            </a:r>
          </a:p>
        </p:txBody>
      </p:sp>
      <p:sp>
        <p:nvSpPr>
          <p:cNvPr id="9" name="Rectangle 8"/>
          <p:cNvSpPr/>
          <p:nvPr/>
        </p:nvSpPr>
        <p:spPr>
          <a:xfrm>
            <a:off x="621792" y="4287011"/>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621792" y="4373879"/>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3</a:t>
            </a:r>
          </a:p>
        </p:txBody>
      </p:sp>
      <p:sp>
        <p:nvSpPr>
          <p:cNvPr id="11" name="TextBox 10"/>
          <p:cNvSpPr txBox="1"/>
          <p:nvPr/>
        </p:nvSpPr>
        <p:spPr>
          <a:xfrm>
            <a:off x="1115568" y="4328159"/>
            <a:ext cx="10527487" cy="1386839"/>
          </a:xfrm>
          <a:prstGeom prst="rect">
            <a:avLst/>
          </a:prstGeom>
          <a:noFill/>
        </p:spPr>
        <p:txBody>
          <a:bodyPr wrap="square">
            <a:spAutoFit/>
          </a:bodyPr>
          <a:lstStyle/>
          <a:p>
            <a:pPr>
              <a:spcAft>
                <a:spcPts val="300"/>
              </a:spcAft>
            </a:pPr>
            <a:r>
              <a:rPr sz="1900" b="1" i="0">
                <a:solidFill>
                  <a:srgbClr val="1A1A1A"/>
                </a:solidFill>
                <a:latin typeface="Arial"/>
              </a:rPr>
              <a:t>A simple cross-layer question costs an afternoon</a:t>
            </a:r>
          </a:p>
          <a:p>
            <a:pPr>
              <a:spcAft>
                <a:spcPts val="300"/>
              </a:spcAft>
            </a:pPr>
            <a:r>
              <a:rPr sz="1550" b="0" i="0">
                <a:solidFill>
                  <a:srgbClr val="595959"/>
                </a:solidFill>
                <a:latin typeface="Arial"/>
              </a:rPr>
              <a:t>Which systems touch the Person domain?</a:t>
            </a:r>
          </a:p>
        </p:txBody>
      </p:sp>
      <p:sp>
        <p:nvSpPr>
          <p:cNvPr id="12" name="TextBox 11"/>
          <p:cNvSpPr txBox="1"/>
          <p:nvPr/>
        </p:nvSpPr>
        <p:spPr>
          <a:xfrm>
            <a:off x="658368" y="5870448"/>
            <a:ext cx="10881360" cy="548640"/>
          </a:xfrm>
          <a:prstGeom prst="rect">
            <a:avLst/>
          </a:prstGeom>
          <a:noFill/>
        </p:spPr>
        <p:txBody>
          <a:bodyPr wrap="square">
            <a:spAutoFit/>
          </a:bodyPr>
          <a:lstStyle/>
          <a:p>
            <a:r>
              <a:rPr sz="1550" b="1" i="0">
                <a:solidFill>
                  <a:srgbClr val="006E96"/>
                </a:solidFill>
                <a:latin typeface="Arial"/>
              </a:rPr>
              <a:t>Then graduate — not before. A heavy tool bought early is an empty, expensive database.</a:t>
            </a:r>
          </a:p>
        </p:txBody>
      </p:sp>
      <p:sp>
        <p:nvSpPr>
          <p:cNvPr id="13" name="TextBox 12"/>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3.2 · Choose EA tooling without locking yourself in</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The rule you enforce on every ministry applies to your own tool too</a:t>
            </a:r>
          </a:p>
        </p:txBody>
      </p:sp>
      <p:sp>
        <p:nvSpPr>
          <p:cNvPr id="4" name="TextBox 3"/>
          <p:cNvSpPr txBox="1"/>
          <p:nvPr/>
        </p:nvSpPr>
        <p:spPr>
          <a:xfrm>
            <a:off x="658368" y="1600200"/>
            <a:ext cx="10881360" cy="2651760"/>
          </a:xfrm>
          <a:prstGeom prst="rect">
            <a:avLst/>
          </a:prstGeom>
          <a:noFill/>
        </p:spPr>
        <p:txBody>
          <a:bodyPr wrap="square">
            <a:spAutoFit/>
          </a:bodyPr>
          <a:lstStyle/>
          <a:p>
            <a:pPr>
              <a:spcAft>
                <a:spcPts val="1200"/>
              </a:spcAft>
            </a:pPr>
            <a:r>
              <a:rPr sz="2000" b="0" i="0">
                <a:solidFill>
                  <a:srgbClr val="1A1A1A"/>
                </a:solidFill>
                <a:latin typeface="Arial"/>
              </a:rPr>
              <a:t>Reuse before buy, buy before build. Is there already a shared tooling platform your government runs that you can use? Is there an open-source EA tool that fits? Only then a bought product.</a:t>
            </a:r>
          </a:p>
        </p:txBody>
      </p:sp>
      <p:sp>
        <p:nvSpPr>
          <p:cNvPr id="5" name="Rounded Rectangle 4"/>
          <p:cNvSpPr/>
          <p:nvPr/>
        </p:nvSpPr>
        <p:spPr>
          <a:xfrm>
            <a:off x="658368" y="4434840"/>
            <a:ext cx="10881360" cy="1325880"/>
          </a:xfrm>
          <a:prstGeom prst="roundRect">
            <a:avLst>
              <a:gd name="adj" fmla="val 45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59536" y="4626864"/>
            <a:ext cx="10479024" cy="1051560"/>
          </a:xfrm>
          <a:prstGeom prst="rect">
            <a:avLst/>
          </a:prstGeom>
          <a:noFill/>
        </p:spPr>
        <p:txBody>
          <a:bodyPr wrap="square">
            <a:spAutoFit/>
          </a:bodyPr>
          <a:lstStyle/>
          <a:p>
            <a:pPr>
              <a:spcAft>
                <a:spcPts val="700"/>
              </a:spcAft>
            </a:pPr>
            <a:r>
              <a:rPr sz="2300" b="1" i="0">
                <a:solidFill>
                  <a:srgbClr val="006E96"/>
                </a:solidFill>
                <a:latin typeface="Arial"/>
              </a:rPr>
              <a:t>Building your own EA tool is almost never right.</a:t>
            </a:r>
          </a:p>
        </p:txBody>
      </p:sp>
      <p:sp>
        <p:nvSpPr>
          <p:cNvPr id="7" name="TextBox 6"/>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3.2 · Choose EA tooling without locking yourself in</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One question decides whether you own your architecture, or the tool does</a:t>
            </a:r>
          </a:p>
        </p:txBody>
      </p:sp>
      <p:sp>
        <p:nvSpPr>
          <p:cNvPr id="4" name="TextBox 3"/>
          <p:cNvSpPr txBox="1"/>
          <p:nvPr/>
        </p:nvSpPr>
        <p:spPr>
          <a:xfrm>
            <a:off x="658368" y="1600200"/>
            <a:ext cx="10881360" cy="2651760"/>
          </a:xfrm>
          <a:prstGeom prst="rect">
            <a:avLst/>
          </a:prstGeom>
          <a:noFill/>
        </p:spPr>
        <p:txBody>
          <a:bodyPr wrap="square">
            <a:spAutoFit/>
          </a:bodyPr>
          <a:lstStyle/>
          <a:p>
            <a:pPr>
              <a:spcAft>
                <a:spcPts val="1200"/>
              </a:spcAft>
            </a:pPr>
            <a:r>
              <a:rPr sz="2000" b="0" i="0">
                <a:solidFill>
                  <a:srgbClr val="1A1A1A"/>
                </a:solidFill>
                <a:latin typeface="Arial"/>
              </a:rPr>
              <a:t>Before you adopt any tool, ask it: can I export everything, in a format I can read without this tool, whenever I want?</a:t>
            </a:r>
          </a:p>
          <a:p>
            <a:pPr>
              <a:spcAft>
                <a:spcPts val="1200"/>
              </a:spcAft>
            </a:pPr>
            <a:r>
              <a:rPr sz="2000" b="0" i="0">
                <a:solidFill>
                  <a:srgbClr val="1A1A1A"/>
                </a:solidFill>
                <a:latin typeface="Arial"/>
              </a:rPr>
              <a:t>If the answer is no, the tool owns your architecture, not you.</a:t>
            </a:r>
          </a:p>
        </p:txBody>
      </p:sp>
      <p:sp>
        <p:nvSpPr>
          <p:cNvPr id="5" name="Rounded Rectangle 4"/>
          <p:cNvSpPr/>
          <p:nvPr/>
        </p:nvSpPr>
        <p:spPr>
          <a:xfrm>
            <a:off x="658368" y="4434840"/>
            <a:ext cx="10881360" cy="1325880"/>
          </a:xfrm>
          <a:prstGeom prst="roundRect">
            <a:avLst>
              <a:gd name="adj" fmla="val 45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59536" y="4626864"/>
            <a:ext cx="10479024" cy="1051560"/>
          </a:xfrm>
          <a:prstGeom prst="rect">
            <a:avLst/>
          </a:prstGeom>
          <a:noFill/>
        </p:spPr>
        <p:txBody>
          <a:bodyPr wrap="square">
            <a:spAutoFit/>
          </a:bodyPr>
          <a:lstStyle/>
          <a:p>
            <a:pPr>
              <a:spcAft>
                <a:spcPts val="700"/>
              </a:spcAft>
            </a:pPr>
            <a:r>
              <a:rPr sz="2300" b="1" i="0">
                <a:solidFill>
                  <a:srgbClr val="006E96"/>
                </a:solidFill>
                <a:latin typeface="Arial"/>
              </a:rPr>
              <a:t>The content is the asset; the tool is only a viewer.</a:t>
            </a:r>
          </a:p>
        </p:txBody>
      </p:sp>
      <p:sp>
        <p:nvSpPr>
          <p:cNvPr id="7" name="TextBox 6"/>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3.2 · Choose EA tooling without locking yourself in</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Bend the tool to your metamodel, never the metamodel to the tool</a:t>
            </a:r>
          </a:p>
        </p:txBody>
      </p:sp>
      <p:sp>
        <p:nvSpPr>
          <p:cNvPr id="4" name="TextBox 3"/>
          <p:cNvSpPr txBox="1"/>
          <p:nvPr/>
        </p:nvSpPr>
        <p:spPr>
          <a:xfrm>
            <a:off x="658368" y="1600200"/>
            <a:ext cx="10881360" cy="2651760"/>
          </a:xfrm>
          <a:prstGeom prst="rect">
            <a:avLst/>
          </a:prstGeom>
          <a:noFill/>
        </p:spPr>
        <p:txBody>
          <a:bodyPr wrap="square">
            <a:spAutoFit/>
          </a:bodyPr>
          <a:lstStyle/>
          <a:p>
            <a:pPr>
              <a:spcAft>
                <a:spcPts val="1200"/>
              </a:spcAft>
            </a:pPr>
            <a:r>
              <a:rPr sz="2000" b="0" i="0">
                <a:solidFill>
                  <a:srgbClr val="1A1A1A"/>
                </a:solidFill>
                <a:latin typeface="Arial"/>
              </a:rPr>
              <a:t>Every EA tool ships with its own built-in way of organising things — its own metamodel. The mistake is to let the tool’s model quietly replace the one you adopted.</a:t>
            </a:r>
          </a:p>
          <a:p>
            <a:pPr>
              <a:spcAft>
                <a:spcPts val="1200"/>
              </a:spcAft>
            </a:pPr>
            <a:r>
              <a:rPr sz="2000" b="0" i="0">
                <a:solidFill>
                  <a:srgbClr val="1A1A1A"/>
                </a:solidFill>
                <a:latin typeface="Arial"/>
              </a:rPr>
              <a:t>You bend the tool to fit your entities and your principles — not the other way around.</a:t>
            </a:r>
          </a:p>
        </p:txBody>
      </p:sp>
      <p:sp>
        <p:nvSpPr>
          <p:cNvPr id="5" name="Rounded Rectangle 4"/>
          <p:cNvSpPr/>
          <p:nvPr/>
        </p:nvSpPr>
        <p:spPr>
          <a:xfrm>
            <a:off x="658368" y="4434840"/>
            <a:ext cx="10881360" cy="1325880"/>
          </a:xfrm>
          <a:prstGeom prst="roundRect">
            <a:avLst>
              <a:gd name="adj" fmla="val 45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59536" y="4626864"/>
            <a:ext cx="10479024" cy="1051560"/>
          </a:xfrm>
          <a:prstGeom prst="rect">
            <a:avLst/>
          </a:prstGeom>
          <a:noFill/>
        </p:spPr>
        <p:txBody>
          <a:bodyPr wrap="square">
            <a:spAutoFit/>
          </a:bodyPr>
          <a:lstStyle/>
          <a:p>
            <a:pPr>
              <a:spcAft>
                <a:spcPts val="700"/>
              </a:spcAft>
            </a:pPr>
            <a:r>
              <a:rPr sz="2300" b="1" i="0">
                <a:solidFill>
                  <a:srgbClr val="006E96"/>
                </a:solidFill>
                <a:latin typeface="Arial"/>
              </a:rPr>
              <a:t>If a tool cannot represent your metamodel, question the tool.</a:t>
            </a:r>
          </a:p>
        </p:txBody>
      </p:sp>
      <p:sp>
        <p:nvSpPr>
          <p:cNvPr id="7" name="TextBox 6"/>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3.2 · Choose EA tooling without locking yourself in</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005840" y="2103120"/>
            <a:ext cx="10149840" cy="2377440"/>
          </a:xfrm>
          <a:prstGeom prst="rect">
            <a:avLst/>
          </a:prstGeom>
          <a:noFill/>
        </p:spPr>
        <p:txBody>
          <a:bodyPr wrap="square">
            <a:spAutoFit/>
          </a:bodyPr>
          <a:lstStyle/>
          <a:p>
            <a:r>
              <a:rPr sz="3000" b="1" i="0">
                <a:solidFill>
                  <a:srgbClr val="1A1A1A"/>
                </a:solidFill>
                <a:latin typeface="Arial"/>
              </a:rPr>
              <a:t>Choose EA tooling like any system — reuse before buy, keep your data in open formats you control, and bend the tool to your metamodel, never the reverse.</a:t>
            </a:r>
          </a:p>
        </p:txBody>
      </p:sp>
      <p:sp>
        <p:nvSpPr>
          <p:cNvPr id="3" name="TextBox 2"/>
          <p:cNvSpPr txBox="1"/>
          <p:nvPr/>
        </p:nvSpPr>
        <p:spPr>
          <a:xfrm>
            <a:off x="1005840" y="1554480"/>
            <a:ext cx="5486400" cy="365760"/>
          </a:xfrm>
          <a:prstGeom prst="rect">
            <a:avLst/>
          </a:prstGeom>
          <a:noFill/>
        </p:spPr>
        <p:txBody>
          <a:bodyPr wrap="square">
            <a:spAutoFit/>
          </a:bodyPr>
          <a:lstStyle/>
          <a:p>
            <a:r>
              <a:rPr sz="1200" b="1" i="0">
                <a:solidFill>
                  <a:srgbClr val="006E96"/>
                </a:solidFill>
                <a:latin typeface="Arial"/>
              </a:rPr>
              <a:t>IN ONE SENTENCE</a:t>
            </a:r>
          </a:p>
        </p:txBody>
      </p:sp>
      <p:sp>
        <p:nvSpPr>
          <p:cNvPr id="4" name="Rounded Rectangle 3"/>
          <p:cNvSpPr/>
          <p:nvPr/>
        </p:nvSpPr>
        <p:spPr>
          <a:xfrm>
            <a:off x="658368" y="4709160"/>
            <a:ext cx="10881360" cy="1554480"/>
          </a:xfrm>
          <a:prstGeom prst="roundRect">
            <a:avLst>
              <a:gd name="adj" fmla="val 4500"/>
            </a:avLst>
          </a:prstGeom>
          <a:solidFill>
            <a:srgbClr val="FFFFFF"/>
          </a:solidFill>
          <a:ln w="9525">
            <a:solidFill>
              <a:srgbClr val="009C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09728" bIns="109728">
            <a:noAutofit/>
          </a:bodyPr>
          <a:lstStyle/>
          <a:p>
            <a:pPr algn="l">
              <a:spcAft>
                <a:spcPts val="400"/>
              </a:spcAft>
            </a:pPr>
            <a:r>
              <a:rPr sz="1800" b="1" i="0">
                <a:solidFill>
                  <a:srgbClr val="006E96"/>
                </a:solidFill>
                <a:latin typeface="Arial"/>
              </a:rPr>
              <a:t>Do this on your own sector. </a:t>
            </a:r>
            <a:r>
              <a:rPr sz="1800" b="1" i="0">
                <a:solidFill>
                  <a:srgbClr val="1A1A1A"/>
                </a:solidFill>
                <a:latin typeface="Arial"/>
              </a:rPr>
              <a:t>Score EA tool options against lock-in and fit.</a:t>
            </a:r>
          </a:p>
          <a:p>
            <a:pPr algn="l">
              <a:spcAft>
                <a:spcPts val="400"/>
              </a:spcAft>
            </a:pPr>
            <a:r>
              <a:rPr sz="1800" b="0" i="0">
                <a:solidFill>
                  <a:srgbClr val="595959"/>
                </a:solidFill>
                <a:latin typeface="Arial"/>
              </a:rPr>
              <a:t>The prompt in the companion material gives you a scored comparison table plus a recommendation. Before the next video.</a:t>
            </a:r>
          </a:p>
        </p:txBody>
      </p:sp>
      <p:sp>
        <p:nvSpPr>
          <p:cNvPr id="5" name="TextBox 4"/>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3.2 · Choose EA tooling without locking yourself in</a:t>
            </a:r>
          </a:p>
        </p:txBody>
      </p:sp>
      <p:sp>
        <p:nvSpPr>
          <p:cNvPr id="6" name="TextBox 5"/>
          <p:cNvSpPr txBox="1"/>
          <p:nvPr/>
        </p:nvSpPr>
        <p:spPr>
          <a:xfrm>
            <a:off x="10058400" y="6473952"/>
            <a:ext cx="1673352" cy="292608"/>
          </a:xfrm>
          <a:prstGeom prst="rect">
            <a:avLst/>
          </a:prstGeom>
          <a:noFill/>
        </p:spPr>
        <p:txBody>
          <a:bodyPr wrap="square">
            <a:spAutoFit/>
          </a:bodyPr>
          <a:lstStyle/>
          <a:p>
            <a:pPr algn="r"/>
            <a:r>
              <a:rPr sz="900" b="0" i="0">
                <a:solidFill>
                  <a:srgbClr val="595959"/>
                </a:solidFill>
                <a:latin typeface="Arial"/>
              </a:rPr>
              <a:t>www.itu.int</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Sources</a:t>
            </a:r>
          </a:p>
        </p:txBody>
      </p:sp>
      <p:sp>
        <p:nvSpPr>
          <p:cNvPr id="4" name="TextBox 3"/>
          <p:cNvSpPr txBox="1"/>
          <p:nvPr/>
        </p:nvSpPr>
        <p:spPr>
          <a:xfrm>
            <a:off x="658368" y="1554480"/>
            <a:ext cx="10789920" cy="3840480"/>
          </a:xfrm>
          <a:prstGeom prst="rect">
            <a:avLst/>
          </a:prstGeom>
          <a:noFill/>
        </p:spPr>
        <p:txBody>
          <a:bodyPr wrap="square">
            <a:spAutoFit/>
          </a:bodyPr>
          <a:lstStyle/>
          <a:p>
            <a:pPr>
              <a:spcAft>
                <a:spcPts val="1200"/>
              </a:spcAft>
            </a:pPr>
            <a:r>
              <a:rPr sz="1700" b="0" i="0">
                <a:solidFill>
                  <a:srgbClr val="1A1A1A"/>
                </a:solidFill>
                <a:latin typeface="Arial"/>
              </a:rPr>
              <a:t>•  PAERA v1.0 — §5.6 (Sourcing Strategy — build / buy / share / sandbox)</a:t>
            </a:r>
          </a:p>
          <a:p>
            <a:pPr>
              <a:spcAft>
                <a:spcPts val="1200"/>
              </a:spcAft>
            </a:pPr>
            <a:r>
              <a:rPr sz="1700" b="0" i="0">
                <a:solidFill>
                  <a:srgbClr val="1A1A1A"/>
                </a:solidFill>
                <a:latin typeface="Arial"/>
              </a:rPr>
              <a:t>•  PAERA v1.0 — §3.3 (Digital Infrastructure principles — technology neutrality)</a:t>
            </a:r>
          </a:p>
        </p:txBody>
      </p:sp>
      <p:sp>
        <p:nvSpPr>
          <p:cNvPr id="5" name="TextBox 4"/>
          <p:cNvSpPr txBox="1"/>
          <p:nvPr/>
        </p:nvSpPr>
        <p:spPr>
          <a:xfrm>
            <a:off x="658368" y="5806440"/>
            <a:ext cx="10789920" cy="457200"/>
          </a:xfrm>
          <a:prstGeom prst="rect">
            <a:avLst/>
          </a:prstGeom>
          <a:noFill/>
        </p:spPr>
        <p:txBody>
          <a:bodyPr wrap="square">
            <a:spAutoFit/>
          </a:bodyPr>
          <a:lstStyle/>
          <a:p>
            <a:r>
              <a:rPr sz="1400" b="1" i="0">
                <a:solidFill>
                  <a:srgbClr val="006E96"/>
                </a:solidFill>
                <a:latin typeface="Arial"/>
              </a:rPr>
              <a:t>Find the link in the description.</a:t>
            </a:r>
          </a:p>
        </p:txBody>
      </p:sp>
      <p:sp>
        <p:nvSpPr>
          <p:cNvPr id="6" name="TextBox 5"/>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3.2 · Choose EA tooling without locking yourself in</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22960" y="822960"/>
            <a:ext cx="7315200" cy="457200"/>
          </a:xfrm>
          <a:prstGeom prst="rect">
            <a:avLst/>
          </a:prstGeom>
          <a:noFill/>
        </p:spPr>
        <p:txBody>
          <a:bodyPr wrap="square">
            <a:spAutoFit/>
          </a:bodyPr>
          <a:lstStyle/>
          <a:p>
            <a:r>
              <a:rPr sz="1200" b="1" i="0">
                <a:solidFill>
                  <a:srgbClr val="595959"/>
                </a:solidFill>
                <a:latin typeface="Arial"/>
              </a:rPr>
              <a:t>MODULE 3 · VIDEO 3.3</a:t>
            </a:r>
          </a:p>
        </p:txBody>
      </p:sp>
      <p:sp>
        <p:nvSpPr>
          <p:cNvPr id="3" name="TextBox 2"/>
          <p:cNvSpPr txBox="1"/>
          <p:nvPr/>
        </p:nvSpPr>
        <p:spPr>
          <a:xfrm>
            <a:off x="822960" y="1828800"/>
            <a:ext cx="2011680" cy="1097280"/>
          </a:xfrm>
          <a:prstGeom prst="rect">
            <a:avLst/>
          </a:prstGeom>
          <a:noFill/>
        </p:spPr>
        <p:txBody>
          <a:bodyPr wrap="square">
            <a:spAutoFit/>
          </a:bodyPr>
          <a:lstStyle/>
          <a:p>
            <a:r>
              <a:rPr sz="6000" b="1" i="0">
                <a:solidFill>
                  <a:srgbClr val="009CD6"/>
                </a:solidFill>
                <a:latin typeface="Arial"/>
              </a:rPr>
              <a:t>3.3</a:t>
            </a:r>
          </a:p>
        </p:txBody>
      </p:sp>
      <p:sp>
        <p:nvSpPr>
          <p:cNvPr id="4" name="TextBox 3"/>
          <p:cNvSpPr txBox="1"/>
          <p:nvPr/>
        </p:nvSpPr>
        <p:spPr>
          <a:xfrm>
            <a:off x="822960" y="2880360"/>
            <a:ext cx="9601200" cy="1371600"/>
          </a:xfrm>
          <a:prstGeom prst="rect">
            <a:avLst/>
          </a:prstGeom>
          <a:noFill/>
        </p:spPr>
        <p:txBody>
          <a:bodyPr wrap="square">
            <a:spAutoFit/>
          </a:bodyPr>
          <a:lstStyle/>
          <a:p>
            <a:r>
              <a:rPr sz="3400" b="1" i="0">
                <a:solidFill>
                  <a:srgbClr val="1A1A1A"/>
                </a:solidFill>
                <a:latin typeface="Arial"/>
              </a:rPr>
              <a:t>Keep the repository true — the update discipline</a:t>
            </a:r>
          </a:p>
        </p:txBody>
      </p:sp>
      <p:sp>
        <p:nvSpPr>
          <p:cNvPr id="5" name="TextBox 4"/>
          <p:cNvSpPr txBox="1"/>
          <p:nvPr/>
        </p:nvSpPr>
        <p:spPr>
          <a:xfrm>
            <a:off x="822960" y="4343400"/>
            <a:ext cx="9875520" cy="1554480"/>
          </a:xfrm>
          <a:prstGeom prst="rect">
            <a:avLst/>
          </a:prstGeom>
          <a:noFill/>
        </p:spPr>
        <p:txBody>
          <a:bodyPr wrap="square">
            <a:spAutoFit/>
          </a:bodyPr>
          <a:lstStyle/>
          <a:p>
            <a:r>
              <a:rPr sz="1700" b="0" i="1">
                <a:solidFill>
                  <a:srgbClr val="595959"/>
                </a:solidFill>
                <a:latin typeface="Arial"/>
              </a:rPr>
              <a:t>A repository is only worth what it is current. Decide who owns it, what event triggers an update, and how a change is checked — so the architecture tracks reality instead of slowly becoming a confident work of fiction.</a:t>
            </a:r>
          </a:p>
        </p:txBody>
      </p:sp>
      <p:sp>
        <p:nvSpPr>
          <p:cNvPr id="6" name="TextBox 5"/>
          <p:cNvSpPr txBox="1"/>
          <p:nvPr/>
        </p:nvSpPr>
        <p:spPr>
          <a:xfrm>
            <a:off x="822960" y="5989320"/>
            <a:ext cx="7315200" cy="365760"/>
          </a:xfrm>
          <a:prstGeom prst="rect">
            <a:avLst/>
          </a:prstGeom>
          <a:noFill/>
        </p:spPr>
        <p:txBody>
          <a:bodyPr wrap="square">
            <a:spAutoFit/>
          </a:bodyPr>
          <a:lstStyle/>
          <a:p>
            <a:r>
              <a:rPr sz="1200" b="0" i="0">
                <a:solidFill>
                  <a:srgbClr val="595959"/>
                </a:solidFill>
                <a:latin typeface="Arial"/>
              </a:rPr>
              <a:t>standalone video · voice-over on text slides</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005840" y="1325880"/>
            <a:ext cx="5486400" cy="365760"/>
          </a:xfrm>
          <a:prstGeom prst="rect">
            <a:avLst/>
          </a:prstGeom>
          <a:noFill/>
        </p:spPr>
        <p:txBody>
          <a:bodyPr wrap="square">
            <a:spAutoFit/>
          </a:bodyPr>
          <a:lstStyle/>
          <a:p>
            <a:r>
              <a:rPr sz="1200" b="1" i="0">
                <a:solidFill>
                  <a:srgbClr val="006E96"/>
                </a:solidFill>
                <a:latin typeface="Arial"/>
              </a:rPr>
              <a:t>WHERE WE START</a:t>
            </a:r>
          </a:p>
        </p:txBody>
      </p:sp>
      <p:sp>
        <p:nvSpPr>
          <p:cNvPr id="3" name="TextBox 2"/>
          <p:cNvSpPr txBox="1"/>
          <p:nvPr/>
        </p:nvSpPr>
        <p:spPr>
          <a:xfrm>
            <a:off x="1005840" y="1783080"/>
            <a:ext cx="10149840" cy="1737360"/>
          </a:xfrm>
          <a:prstGeom prst="rect">
            <a:avLst/>
          </a:prstGeom>
          <a:noFill/>
        </p:spPr>
        <p:txBody>
          <a:bodyPr wrap="square">
            <a:spAutoFit/>
          </a:bodyPr>
          <a:lstStyle/>
          <a:p>
            <a:r>
              <a:rPr sz="3000" b="1" i="0">
                <a:solidFill>
                  <a:srgbClr val="1A1A1A"/>
                </a:solidFill>
                <a:latin typeface="Arial"/>
              </a:rPr>
              <a:t>A repository has one enemy, and it is not technical.</a:t>
            </a:r>
          </a:p>
        </p:txBody>
      </p:sp>
      <p:sp>
        <p:nvSpPr>
          <p:cNvPr id="4" name="TextBox 3"/>
          <p:cNvSpPr txBox="1"/>
          <p:nvPr/>
        </p:nvSpPr>
        <p:spPr>
          <a:xfrm>
            <a:off x="1005840" y="3611880"/>
            <a:ext cx="10149840" cy="2377440"/>
          </a:xfrm>
          <a:prstGeom prst="rect">
            <a:avLst/>
          </a:prstGeom>
          <a:noFill/>
        </p:spPr>
        <p:txBody>
          <a:bodyPr wrap="square">
            <a:spAutoFit/>
          </a:bodyPr>
          <a:lstStyle/>
          <a:p>
            <a:pPr>
              <a:spcAft>
                <a:spcPts val="800"/>
              </a:spcAft>
            </a:pPr>
            <a:r>
              <a:rPr sz="1700" b="0" i="0">
                <a:solidFill>
                  <a:srgbClr val="595959"/>
                </a:solidFill>
                <a:latin typeface="Arial"/>
              </a:rPr>
              <a:t>Staleness.</a:t>
            </a:r>
          </a:p>
          <a:p>
            <a:pPr>
              <a:spcAft>
                <a:spcPts val="800"/>
              </a:spcAft>
            </a:pPr>
            <a:r>
              <a:rPr sz="1700" b="0" i="0">
                <a:solidFill>
                  <a:srgbClr val="595959"/>
                </a:solidFill>
                <a:latin typeface="Arial"/>
              </a:rPr>
              <a:t>An architecture six months behind reality is worse than none — people trust it, and it lies to them.</a:t>
            </a:r>
          </a:p>
          <a:p>
            <a:pPr>
              <a:spcAft>
                <a:spcPts val="800"/>
              </a:spcAft>
            </a:pPr>
            <a:r>
              <a:rPr sz="1700" b="0" i="0">
                <a:solidFill>
                  <a:srgbClr val="595959"/>
                </a:solidFill>
                <a:latin typeface="Arial"/>
              </a:rPr>
              <a:t>Keeping it true is unglamorous and constant.</a:t>
            </a:r>
          </a:p>
        </p:txBody>
      </p:sp>
      <p:sp>
        <p:nvSpPr>
          <p:cNvPr id="5" name="TextBox 4"/>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3.3 · Keep the repository true — the update discipline</a:t>
            </a:r>
          </a:p>
        </p:txBody>
      </p:sp>
      <p:sp>
        <p:nvSpPr>
          <p:cNvPr id="6" name="TextBox 5"/>
          <p:cNvSpPr txBox="1"/>
          <p:nvPr/>
        </p:nvSpPr>
        <p:spPr>
          <a:xfrm>
            <a:off x="10058400" y="6473952"/>
            <a:ext cx="1673352" cy="292608"/>
          </a:xfrm>
          <a:prstGeom prst="rect">
            <a:avLst/>
          </a:prstGeom>
          <a:noFill/>
        </p:spPr>
        <p:txBody>
          <a:bodyPr wrap="square">
            <a:spAutoFit/>
          </a:bodyPr>
          <a:lstStyle/>
          <a:p>
            <a:pPr algn="r"/>
            <a:r>
              <a:rPr sz="900" b="0" i="0">
                <a:solidFill>
                  <a:srgbClr val="595959"/>
                </a:solidFill>
                <a:latin typeface="Arial"/>
              </a:rPr>
              <a:t>www.itu.int</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A missing architecture makes people ask questions; a wrong one answers them</a:t>
            </a:r>
          </a:p>
        </p:txBody>
      </p:sp>
      <p:sp>
        <p:nvSpPr>
          <p:cNvPr id="4" name="TextBox 3"/>
          <p:cNvSpPr txBox="1"/>
          <p:nvPr/>
        </p:nvSpPr>
        <p:spPr>
          <a:xfrm>
            <a:off x="658368" y="1600200"/>
            <a:ext cx="10881360" cy="2651760"/>
          </a:xfrm>
          <a:prstGeom prst="rect">
            <a:avLst/>
          </a:prstGeom>
          <a:noFill/>
        </p:spPr>
        <p:txBody>
          <a:bodyPr wrap="square">
            <a:spAutoFit/>
          </a:bodyPr>
          <a:lstStyle/>
          <a:p>
            <a:pPr>
              <a:spcAft>
                <a:spcPts val="1200"/>
              </a:spcAft>
            </a:pPr>
            <a:r>
              <a:rPr sz="2000" b="0" i="0">
                <a:solidFill>
                  <a:srgbClr val="1A1A1A"/>
                </a:solidFill>
                <a:latin typeface="Arial"/>
              </a:rPr>
              <a:t>If the repository says the Examination Authority consumes the Learner Registry, and in reality it quietly built its own copy last quarter, then every decision made on the repository is built on a falsehood.</a:t>
            </a:r>
          </a:p>
        </p:txBody>
      </p:sp>
      <p:sp>
        <p:nvSpPr>
          <p:cNvPr id="5" name="Rounded Rectangle 4"/>
          <p:cNvSpPr/>
          <p:nvPr/>
        </p:nvSpPr>
        <p:spPr>
          <a:xfrm>
            <a:off x="658368" y="4434840"/>
            <a:ext cx="10881360" cy="1325880"/>
          </a:xfrm>
          <a:prstGeom prst="roundRect">
            <a:avLst>
              <a:gd name="adj" fmla="val 45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59536" y="4626864"/>
            <a:ext cx="10479024" cy="1051560"/>
          </a:xfrm>
          <a:prstGeom prst="rect">
            <a:avLst/>
          </a:prstGeom>
          <a:noFill/>
        </p:spPr>
        <p:txBody>
          <a:bodyPr wrap="square">
            <a:spAutoFit/>
          </a:bodyPr>
          <a:lstStyle/>
          <a:p>
            <a:pPr>
              <a:spcAft>
                <a:spcPts val="700"/>
              </a:spcAft>
            </a:pPr>
            <a:r>
              <a:rPr sz="2300" b="1" i="0">
                <a:solidFill>
                  <a:srgbClr val="006E96"/>
                </a:solidFill>
                <a:latin typeface="Arial"/>
              </a:rPr>
              <a:t>Currency is not a nice-to-have. It is the whole value.</a:t>
            </a:r>
          </a:p>
        </p:txBody>
      </p:sp>
      <p:sp>
        <p:nvSpPr>
          <p:cNvPr id="7" name="TextBox 6"/>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3.3 · Keep the repository true — the update discipline</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When everyone owns currency, no one does</a:t>
            </a:r>
          </a:p>
        </p:txBody>
      </p:sp>
      <p:sp>
        <p:nvSpPr>
          <p:cNvPr id="4" name="TextBox 3"/>
          <p:cNvSpPr txBox="1"/>
          <p:nvPr/>
        </p:nvSpPr>
        <p:spPr>
          <a:xfrm>
            <a:off x="658368" y="1600200"/>
            <a:ext cx="10881360" cy="2651760"/>
          </a:xfrm>
          <a:prstGeom prst="rect">
            <a:avLst/>
          </a:prstGeom>
          <a:noFill/>
        </p:spPr>
        <p:txBody>
          <a:bodyPr wrap="square">
            <a:spAutoFit/>
          </a:bodyPr>
          <a:lstStyle/>
          <a:p>
            <a:pPr>
              <a:spcAft>
                <a:spcPts val="1200"/>
              </a:spcAft>
            </a:pPr>
            <a:r>
              <a:rPr sz="2000" b="0" i="0">
                <a:solidFill>
                  <a:srgbClr val="1A1A1A"/>
                </a:solidFill>
                <a:latin typeface="Arial"/>
              </a:rPr>
              <a:t>One person — usually the chief architect, or a named custodian on the EA team — is accountable for the repository being current. Not a committee. Not everyone.</a:t>
            </a:r>
          </a:p>
          <a:p>
            <a:pPr>
              <a:spcAft>
                <a:spcPts val="1200"/>
              </a:spcAft>
            </a:pPr>
            <a:r>
              <a:rPr sz="2000" b="0" i="0">
                <a:solidFill>
                  <a:srgbClr val="1A1A1A"/>
                </a:solidFill>
                <a:latin typeface="Arial"/>
              </a:rPr>
              <a:t>That person does not do all the updating. They are answerable for whether the picture is true.</a:t>
            </a:r>
          </a:p>
        </p:txBody>
      </p:sp>
      <p:sp>
        <p:nvSpPr>
          <p:cNvPr id="5" name="Rounded Rectangle 4"/>
          <p:cNvSpPr/>
          <p:nvPr/>
        </p:nvSpPr>
        <p:spPr>
          <a:xfrm>
            <a:off x="658368" y="4434840"/>
            <a:ext cx="10881360" cy="1325880"/>
          </a:xfrm>
          <a:prstGeom prst="roundRect">
            <a:avLst>
              <a:gd name="adj" fmla="val 45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59536" y="4626864"/>
            <a:ext cx="10479024" cy="1051560"/>
          </a:xfrm>
          <a:prstGeom prst="rect">
            <a:avLst/>
          </a:prstGeom>
          <a:noFill/>
        </p:spPr>
        <p:txBody>
          <a:bodyPr wrap="square">
            <a:spAutoFit/>
          </a:bodyPr>
          <a:lstStyle/>
          <a:p>
            <a:pPr>
              <a:spcAft>
                <a:spcPts val="700"/>
              </a:spcAft>
            </a:pPr>
            <a:r>
              <a:rPr sz="2300" b="1" i="0">
                <a:solidFill>
                  <a:srgbClr val="006E96"/>
                </a:solidFill>
                <a:latin typeface="Arial"/>
              </a:rPr>
              <a:t>One name, one accountability.</a:t>
            </a:r>
          </a:p>
        </p:txBody>
      </p:sp>
      <p:sp>
        <p:nvSpPr>
          <p:cNvPr id="7" name="TextBox 6"/>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3.3 · Keep the repository true — the update discipline</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Tie updates to events, because a yearly review is eleven months stale</a:t>
            </a:r>
          </a:p>
        </p:txBody>
      </p:sp>
      <p:sp>
        <p:nvSpPr>
          <p:cNvPr id="4" name="Oval 3"/>
          <p:cNvSpPr/>
          <p:nvPr/>
        </p:nvSpPr>
        <p:spPr>
          <a:xfrm>
            <a:off x="621792" y="1508760"/>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1</a:t>
            </a:r>
          </a:p>
        </p:txBody>
      </p:sp>
      <p:sp>
        <p:nvSpPr>
          <p:cNvPr id="5" name="TextBox 4"/>
          <p:cNvSpPr txBox="1"/>
          <p:nvPr/>
        </p:nvSpPr>
        <p:spPr>
          <a:xfrm>
            <a:off x="1115568" y="1463040"/>
            <a:ext cx="10527487" cy="1028699"/>
          </a:xfrm>
          <a:prstGeom prst="rect">
            <a:avLst/>
          </a:prstGeom>
          <a:noFill/>
        </p:spPr>
        <p:txBody>
          <a:bodyPr wrap="square">
            <a:spAutoFit/>
          </a:bodyPr>
          <a:lstStyle/>
          <a:p>
            <a:pPr>
              <a:spcAft>
                <a:spcPts val="300"/>
              </a:spcAft>
            </a:pPr>
            <a:r>
              <a:rPr sz="1900" b="1" i="0">
                <a:solidFill>
                  <a:srgbClr val="1A1A1A"/>
                </a:solidFill>
                <a:latin typeface="Arial"/>
              </a:rPr>
              <a:t>A system goes live</a:t>
            </a:r>
          </a:p>
          <a:p>
            <a:pPr>
              <a:spcAft>
                <a:spcPts val="300"/>
              </a:spcAft>
            </a:pPr>
            <a:r>
              <a:rPr sz="1550" b="0" i="0">
                <a:solidFill>
                  <a:srgbClr val="595959"/>
                </a:solidFill>
                <a:latin typeface="Arial"/>
              </a:rPr>
              <a:t>Update the application layer.</a:t>
            </a:r>
          </a:p>
        </p:txBody>
      </p:sp>
      <p:sp>
        <p:nvSpPr>
          <p:cNvPr id="6" name="Rectangle 5"/>
          <p:cNvSpPr/>
          <p:nvPr/>
        </p:nvSpPr>
        <p:spPr>
          <a:xfrm>
            <a:off x="621792" y="249631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621792" y="2583179"/>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2</a:t>
            </a:r>
          </a:p>
        </p:txBody>
      </p:sp>
      <p:sp>
        <p:nvSpPr>
          <p:cNvPr id="8" name="TextBox 7"/>
          <p:cNvSpPr txBox="1"/>
          <p:nvPr/>
        </p:nvSpPr>
        <p:spPr>
          <a:xfrm>
            <a:off x="1115568" y="2537460"/>
            <a:ext cx="10527487" cy="1028699"/>
          </a:xfrm>
          <a:prstGeom prst="rect">
            <a:avLst/>
          </a:prstGeom>
          <a:noFill/>
        </p:spPr>
        <p:txBody>
          <a:bodyPr wrap="square">
            <a:spAutoFit/>
          </a:bodyPr>
          <a:lstStyle/>
          <a:p>
            <a:pPr>
              <a:spcAft>
                <a:spcPts val="300"/>
              </a:spcAft>
            </a:pPr>
            <a:r>
              <a:rPr sz="1900" b="1" i="0">
                <a:solidFill>
                  <a:srgbClr val="1A1A1A"/>
                </a:solidFill>
                <a:latin typeface="Arial"/>
              </a:rPr>
              <a:t>A system is retired</a:t>
            </a:r>
          </a:p>
          <a:p>
            <a:pPr>
              <a:spcAft>
                <a:spcPts val="300"/>
              </a:spcAft>
            </a:pPr>
            <a:r>
              <a:rPr sz="1550" b="0" i="0">
                <a:solidFill>
                  <a:srgbClr val="595959"/>
                </a:solidFill>
                <a:latin typeface="Arial"/>
              </a:rPr>
              <a:t>Remove it.</a:t>
            </a:r>
          </a:p>
        </p:txBody>
      </p:sp>
      <p:sp>
        <p:nvSpPr>
          <p:cNvPr id="9" name="Rectangle 8"/>
          <p:cNvSpPr/>
          <p:nvPr/>
        </p:nvSpPr>
        <p:spPr>
          <a:xfrm>
            <a:off x="621792" y="357073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621792" y="3657599"/>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3</a:t>
            </a:r>
          </a:p>
        </p:txBody>
      </p:sp>
      <p:sp>
        <p:nvSpPr>
          <p:cNvPr id="11" name="TextBox 10"/>
          <p:cNvSpPr txBox="1"/>
          <p:nvPr/>
        </p:nvSpPr>
        <p:spPr>
          <a:xfrm>
            <a:off x="1115568" y="3611879"/>
            <a:ext cx="10527487" cy="1028699"/>
          </a:xfrm>
          <a:prstGeom prst="rect">
            <a:avLst/>
          </a:prstGeom>
          <a:noFill/>
        </p:spPr>
        <p:txBody>
          <a:bodyPr wrap="square">
            <a:spAutoFit/>
          </a:bodyPr>
          <a:lstStyle/>
          <a:p>
            <a:pPr>
              <a:spcAft>
                <a:spcPts val="300"/>
              </a:spcAft>
            </a:pPr>
            <a:r>
              <a:rPr sz="1900" b="1" i="0">
                <a:solidFill>
                  <a:srgbClr val="1A1A1A"/>
                </a:solidFill>
                <a:latin typeface="Arial"/>
              </a:rPr>
              <a:t>A new data domain appears</a:t>
            </a:r>
          </a:p>
          <a:p>
            <a:pPr>
              <a:spcAft>
                <a:spcPts val="300"/>
              </a:spcAft>
            </a:pPr>
            <a:r>
              <a:rPr sz="1550" b="0" i="0">
                <a:solidFill>
                  <a:srgbClr val="595959"/>
                </a:solidFill>
                <a:latin typeface="Arial"/>
              </a:rPr>
              <a:t>Add it, with its owner.</a:t>
            </a:r>
          </a:p>
        </p:txBody>
      </p:sp>
      <p:sp>
        <p:nvSpPr>
          <p:cNvPr id="12" name="Rectangle 11"/>
          <p:cNvSpPr/>
          <p:nvPr/>
        </p:nvSpPr>
        <p:spPr>
          <a:xfrm>
            <a:off x="621792" y="464515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21792" y="4732020"/>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4</a:t>
            </a:r>
          </a:p>
        </p:txBody>
      </p:sp>
      <p:sp>
        <p:nvSpPr>
          <p:cNvPr id="14" name="TextBox 13"/>
          <p:cNvSpPr txBox="1"/>
          <p:nvPr/>
        </p:nvSpPr>
        <p:spPr>
          <a:xfrm>
            <a:off x="1115568" y="4686300"/>
            <a:ext cx="10527487" cy="1028699"/>
          </a:xfrm>
          <a:prstGeom prst="rect">
            <a:avLst/>
          </a:prstGeom>
          <a:noFill/>
        </p:spPr>
        <p:txBody>
          <a:bodyPr wrap="square">
            <a:spAutoFit/>
          </a:bodyPr>
          <a:lstStyle/>
          <a:p>
            <a:pPr>
              <a:spcAft>
                <a:spcPts val="300"/>
              </a:spcAft>
            </a:pPr>
            <a:r>
              <a:rPr sz="1900" b="1" i="0">
                <a:solidFill>
                  <a:srgbClr val="1A1A1A"/>
                </a:solidFill>
                <a:latin typeface="Arial"/>
              </a:rPr>
              <a:t>The Board makes a decision</a:t>
            </a:r>
          </a:p>
          <a:p>
            <a:pPr>
              <a:spcAft>
                <a:spcPts val="300"/>
              </a:spcAft>
            </a:pPr>
            <a:r>
              <a:rPr sz="1550" b="0" i="0">
                <a:solidFill>
                  <a:srgbClr val="595959"/>
                </a:solidFill>
                <a:latin typeface="Arial"/>
              </a:rPr>
              <a:t>Record it, with its reason.</a:t>
            </a:r>
          </a:p>
        </p:txBody>
      </p:sp>
      <p:sp>
        <p:nvSpPr>
          <p:cNvPr id="15" name="TextBox 14"/>
          <p:cNvSpPr txBox="1"/>
          <p:nvPr/>
        </p:nvSpPr>
        <p:spPr>
          <a:xfrm>
            <a:off x="658368" y="5870448"/>
            <a:ext cx="10881360" cy="548640"/>
          </a:xfrm>
          <a:prstGeom prst="rect">
            <a:avLst/>
          </a:prstGeom>
          <a:noFill/>
        </p:spPr>
        <p:txBody>
          <a:bodyPr wrap="square">
            <a:spAutoFit/>
          </a:bodyPr>
          <a:lstStyle/>
          <a:p>
            <a:r>
              <a:rPr sz="1550" b="1" i="0">
                <a:solidFill>
                  <a:srgbClr val="006E96"/>
                </a:solidFill>
                <a:latin typeface="Arial"/>
              </a:rPr>
              <a:t>Events drive updates, not the calendar.</a:t>
            </a:r>
          </a:p>
        </p:txBody>
      </p:sp>
      <p:sp>
        <p:nvSpPr>
          <p:cNvPr id="16" name="TextBox 15"/>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3.3 · Keep the repository true — the update discipline</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A light gate keeps the repository conformant as it grows</a:t>
            </a:r>
          </a:p>
        </p:txBody>
      </p:sp>
      <p:sp>
        <p:nvSpPr>
          <p:cNvPr id="4" name="Oval 3"/>
          <p:cNvSpPr/>
          <p:nvPr/>
        </p:nvSpPr>
        <p:spPr>
          <a:xfrm>
            <a:off x="621792" y="1508760"/>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1</a:t>
            </a:r>
          </a:p>
        </p:txBody>
      </p:sp>
      <p:sp>
        <p:nvSpPr>
          <p:cNvPr id="5" name="TextBox 4"/>
          <p:cNvSpPr txBox="1"/>
          <p:nvPr/>
        </p:nvSpPr>
        <p:spPr>
          <a:xfrm>
            <a:off x="1115568" y="1463040"/>
            <a:ext cx="10527487" cy="1386839"/>
          </a:xfrm>
          <a:prstGeom prst="rect">
            <a:avLst/>
          </a:prstGeom>
          <a:noFill/>
        </p:spPr>
        <p:txBody>
          <a:bodyPr wrap="square">
            <a:spAutoFit/>
          </a:bodyPr>
          <a:lstStyle/>
          <a:p>
            <a:pPr>
              <a:spcAft>
                <a:spcPts val="300"/>
              </a:spcAft>
            </a:pPr>
            <a:r>
              <a:rPr sz="1900" b="1" i="0">
                <a:solidFill>
                  <a:srgbClr val="1A1A1A"/>
                </a:solidFill>
                <a:latin typeface="Arial"/>
              </a:rPr>
              <a:t>Does the update use the shared entities correctly?</a:t>
            </a:r>
          </a:p>
        </p:txBody>
      </p:sp>
      <p:sp>
        <p:nvSpPr>
          <p:cNvPr id="6" name="Rectangle 5"/>
          <p:cNvSpPr/>
          <p:nvPr/>
        </p:nvSpPr>
        <p:spPr>
          <a:xfrm>
            <a:off x="621792" y="285445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621792" y="2941319"/>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2</a:t>
            </a:r>
          </a:p>
        </p:txBody>
      </p:sp>
      <p:sp>
        <p:nvSpPr>
          <p:cNvPr id="8" name="TextBox 7"/>
          <p:cNvSpPr txBox="1"/>
          <p:nvPr/>
        </p:nvSpPr>
        <p:spPr>
          <a:xfrm>
            <a:off x="1115568" y="2895600"/>
            <a:ext cx="10527487" cy="1386839"/>
          </a:xfrm>
          <a:prstGeom prst="rect">
            <a:avLst/>
          </a:prstGeom>
          <a:noFill/>
        </p:spPr>
        <p:txBody>
          <a:bodyPr wrap="square">
            <a:spAutoFit/>
          </a:bodyPr>
          <a:lstStyle/>
          <a:p>
            <a:pPr>
              <a:spcAft>
                <a:spcPts val="300"/>
              </a:spcAft>
            </a:pPr>
            <a:r>
              <a:rPr sz="1900" b="1" i="0">
                <a:solidFill>
                  <a:srgbClr val="1A1A1A"/>
                </a:solidFill>
                <a:latin typeface="Arial"/>
              </a:rPr>
              <a:t>Does every data domain still have exactly one owner?</a:t>
            </a:r>
          </a:p>
        </p:txBody>
      </p:sp>
      <p:sp>
        <p:nvSpPr>
          <p:cNvPr id="9" name="Rectangle 8"/>
          <p:cNvSpPr/>
          <p:nvPr/>
        </p:nvSpPr>
        <p:spPr>
          <a:xfrm>
            <a:off x="621792" y="4287011"/>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621792" y="4373879"/>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3</a:t>
            </a:r>
          </a:p>
        </p:txBody>
      </p:sp>
      <p:sp>
        <p:nvSpPr>
          <p:cNvPr id="11" name="TextBox 10"/>
          <p:cNvSpPr txBox="1"/>
          <p:nvPr/>
        </p:nvSpPr>
        <p:spPr>
          <a:xfrm>
            <a:off x="1115568" y="4328159"/>
            <a:ext cx="10527487" cy="1386839"/>
          </a:xfrm>
          <a:prstGeom prst="rect">
            <a:avLst/>
          </a:prstGeom>
          <a:noFill/>
        </p:spPr>
        <p:txBody>
          <a:bodyPr wrap="square">
            <a:spAutoFit/>
          </a:bodyPr>
          <a:lstStyle/>
          <a:p>
            <a:pPr>
              <a:spcAft>
                <a:spcPts val="300"/>
              </a:spcAft>
            </a:pPr>
            <a:r>
              <a:rPr sz="1900" b="1" i="0">
                <a:solidFill>
                  <a:srgbClr val="1A1A1A"/>
                </a:solidFill>
                <a:latin typeface="Arial"/>
              </a:rPr>
              <a:t>Is every decision logged with its reason?</a:t>
            </a:r>
          </a:p>
        </p:txBody>
      </p:sp>
      <p:sp>
        <p:nvSpPr>
          <p:cNvPr id="12" name="TextBox 11"/>
          <p:cNvSpPr txBox="1"/>
          <p:nvPr/>
        </p:nvSpPr>
        <p:spPr>
          <a:xfrm>
            <a:off x="658368" y="5870448"/>
            <a:ext cx="10881360" cy="548640"/>
          </a:xfrm>
          <a:prstGeom prst="rect">
            <a:avLst/>
          </a:prstGeom>
          <a:noFill/>
        </p:spPr>
        <p:txBody>
          <a:bodyPr wrap="square">
            <a:spAutoFit/>
          </a:bodyPr>
          <a:lstStyle/>
          <a:p>
            <a:r>
              <a:rPr sz="1550" b="1" i="0">
                <a:solidFill>
                  <a:srgbClr val="006E96"/>
                </a:solidFill>
                <a:latin typeface="Arial"/>
              </a:rPr>
              <a:t>The check is small. Skipping it fills the repository with orphans and private language.</a:t>
            </a:r>
          </a:p>
        </p:txBody>
      </p:sp>
      <p:sp>
        <p:nvSpPr>
          <p:cNvPr id="13" name="TextBox 12"/>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3.3 · Keep the repository true — the update discipline</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The cheapest moment to update the repository is when a project comes to the Board</a:t>
            </a:r>
          </a:p>
        </p:txBody>
      </p:sp>
      <p:sp>
        <p:nvSpPr>
          <p:cNvPr id="4" name="TextBox 3"/>
          <p:cNvSpPr txBox="1"/>
          <p:nvPr/>
        </p:nvSpPr>
        <p:spPr>
          <a:xfrm>
            <a:off x="658368" y="1600200"/>
            <a:ext cx="10881360" cy="2651760"/>
          </a:xfrm>
          <a:prstGeom prst="rect">
            <a:avLst/>
          </a:prstGeom>
          <a:noFill/>
        </p:spPr>
        <p:txBody>
          <a:bodyPr wrap="square">
            <a:spAutoFit/>
          </a:bodyPr>
          <a:lstStyle/>
          <a:p>
            <a:pPr>
              <a:spcAft>
                <a:spcPts val="1200"/>
              </a:spcAft>
            </a:pPr>
            <a:r>
              <a:rPr sz="2000" b="0" i="0">
                <a:solidFill>
                  <a:srgbClr val="1A1A1A"/>
                </a:solidFill>
                <a:latin typeface="Arial"/>
              </a:rPr>
              <a:t>The project tells you what it will build, what it will consume, and what data it touches. That is exactly the information the repository needs.</a:t>
            </a:r>
          </a:p>
          <a:p>
            <a:pPr>
              <a:spcAft>
                <a:spcPts val="1200"/>
              </a:spcAft>
            </a:pPr>
            <a:r>
              <a:rPr sz="2000" b="0" i="0">
                <a:solidFill>
                  <a:srgbClr val="1A1A1A"/>
                </a:solidFill>
                <a:latin typeface="Arial"/>
              </a:rPr>
              <a:t>So tie the two together: a project that passes the gate leaves its architecture change in the repository as it goes.</a:t>
            </a:r>
          </a:p>
        </p:txBody>
      </p:sp>
      <p:sp>
        <p:nvSpPr>
          <p:cNvPr id="5" name="Rounded Rectangle 4"/>
          <p:cNvSpPr/>
          <p:nvPr/>
        </p:nvSpPr>
        <p:spPr>
          <a:xfrm>
            <a:off x="658368" y="4434840"/>
            <a:ext cx="10881360" cy="1325880"/>
          </a:xfrm>
          <a:prstGeom prst="roundRect">
            <a:avLst>
              <a:gd name="adj" fmla="val 45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59536" y="4626864"/>
            <a:ext cx="10479024" cy="1051560"/>
          </a:xfrm>
          <a:prstGeom prst="rect">
            <a:avLst/>
          </a:prstGeom>
          <a:noFill/>
        </p:spPr>
        <p:txBody>
          <a:bodyPr wrap="square">
            <a:spAutoFit/>
          </a:bodyPr>
          <a:lstStyle/>
          <a:p>
            <a:pPr>
              <a:spcAft>
                <a:spcPts val="700"/>
              </a:spcAft>
            </a:pPr>
            <a:r>
              <a:rPr sz="2300" b="1" i="0">
                <a:solidFill>
                  <a:srgbClr val="006E96"/>
                </a:solidFill>
                <a:latin typeface="Arial"/>
              </a:rPr>
              <a:t>The governance process and the update discipline are one motion, done once.</a:t>
            </a:r>
          </a:p>
        </p:txBody>
      </p:sp>
      <p:sp>
        <p:nvSpPr>
          <p:cNvPr id="7" name="TextBox 6"/>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3.3 · Keep the repository true — the update discipline</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005840" y="2103120"/>
            <a:ext cx="10149840" cy="2377440"/>
          </a:xfrm>
          <a:prstGeom prst="rect">
            <a:avLst/>
          </a:prstGeom>
          <a:noFill/>
        </p:spPr>
        <p:txBody>
          <a:bodyPr wrap="square">
            <a:spAutoFit/>
          </a:bodyPr>
          <a:lstStyle/>
          <a:p>
            <a:r>
              <a:rPr sz="3000" b="1" i="0">
                <a:solidFill>
                  <a:srgbClr val="1A1A1A"/>
                </a:solidFill>
                <a:latin typeface="Arial"/>
              </a:rPr>
              <a:t>A repository is only worth what it is current — one owner, event-driven updates, a light conformance check — so the architecture tracks reality instead of becoming fiction.</a:t>
            </a:r>
          </a:p>
        </p:txBody>
      </p:sp>
      <p:sp>
        <p:nvSpPr>
          <p:cNvPr id="3" name="TextBox 2"/>
          <p:cNvSpPr txBox="1"/>
          <p:nvPr/>
        </p:nvSpPr>
        <p:spPr>
          <a:xfrm>
            <a:off x="1005840" y="1554480"/>
            <a:ext cx="5486400" cy="365760"/>
          </a:xfrm>
          <a:prstGeom prst="rect">
            <a:avLst/>
          </a:prstGeom>
          <a:noFill/>
        </p:spPr>
        <p:txBody>
          <a:bodyPr wrap="square">
            <a:spAutoFit/>
          </a:bodyPr>
          <a:lstStyle/>
          <a:p>
            <a:r>
              <a:rPr sz="1200" b="1" i="0">
                <a:solidFill>
                  <a:srgbClr val="006E96"/>
                </a:solidFill>
                <a:latin typeface="Arial"/>
              </a:rPr>
              <a:t>IN ONE SENTENCE</a:t>
            </a:r>
          </a:p>
        </p:txBody>
      </p:sp>
      <p:sp>
        <p:nvSpPr>
          <p:cNvPr id="4" name="Rounded Rectangle 3"/>
          <p:cNvSpPr/>
          <p:nvPr/>
        </p:nvSpPr>
        <p:spPr>
          <a:xfrm>
            <a:off x="658368" y="4709160"/>
            <a:ext cx="10881360" cy="1554480"/>
          </a:xfrm>
          <a:prstGeom prst="roundRect">
            <a:avLst>
              <a:gd name="adj" fmla="val 4500"/>
            </a:avLst>
          </a:prstGeom>
          <a:solidFill>
            <a:srgbClr val="FFFFFF"/>
          </a:solidFill>
          <a:ln w="9525">
            <a:solidFill>
              <a:srgbClr val="009C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09728" bIns="109728">
            <a:noAutofit/>
          </a:bodyPr>
          <a:lstStyle/>
          <a:p>
            <a:pPr algn="l">
              <a:spcAft>
                <a:spcPts val="400"/>
              </a:spcAft>
            </a:pPr>
            <a:r>
              <a:rPr sz="1800" b="1" i="0">
                <a:solidFill>
                  <a:srgbClr val="006E96"/>
                </a:solidFill>
                <a:latin typeface="Arial"/>
              </a:rPr>
              <a:t>Do this on your own sector. </a:t>
            </a:r>
            <a:r>
              <a:rPr sz="1800" b="1" i="0">
                <a:solidFill>
                  <a:srgbClr val="1A1A1A"/>
                </a:solidFill>
                <a:latin typeface="Arial"/>
              </a:rPr>
              <a:t>Draft the repository update policy.</a:t>
            </a:r>
          </a:p>
          <a:p>
            <a:pPr algn="l">
              <a:spcAft>
                <a:spcPts val="400"/>
              </a:spcAft>
            </a:pPr>
            <a:r>
              <a:rPr sz="1800" b="0" i="0">
                <a:solidFill>
                  <a:srgbClr val="595959"/>
                </a:solidFill>
                <a:latin typeface="Arial"/>
              </a:rPr>
              <a:t>The prompt in the companion material gives you a one-page update policy. Before the next video.</a:t>
            </a:r>
          </a:p>
        </p:txBody>
      </p:sp>
      <p:sp>
        <p:nvSpPr>
          <p:cNvPr id="5" name="TextBox 4"/>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3.3 · Keep the repository true — the update discipline</a:t>
            </a:r>
          </a:p>
        </p:txBody>
      </p:sp>
      <p:sp>
        <p:nvSpPr>
          <p:cNvPr id="6" name="TextBox 5"/>
          <p:cNvSpPr txBox="1"/>
          <p:nvPr/>
        </p:nvSpPr>
        <p:spPr>
          <a:xfrm>
            <a:off x="10058400" y="6473952"/>
            <a:ext cx="1673352" cy="292608"/>
          </a:xfrm>
          <a:prstGeom prst="rect">
            <a:avLst/>
          </a:prstGeom>
          <a:noFill/>
        </p:spPr>
        <p:txBody>
          <a:bodyPr wrap="square">
            <a:spAutoFit/>
          </a:bodyPr>
          <a:lstStyle/>
          <a:p>
            <a:pPr algn="r"/>
            <a:r>
              <a:rPr sz="900" b="0" i="0">
                <a:solidFill>
                  <a:srgbClr val="595959"/>
                </a:solidFill>
                <a:latin typeface="Arial"/>
              </a:rPr>
              <a:t>www.itu.int</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Sources</a:t>
            </a:r>
          </a:p>
        </p:txBody>
      </p:sp>
      <p:sp>
        <p:nvSpPr>
          <p:cNvPr id="4" name="TextBox 3"/>
          <p:cNvSpPr txBox="1"/>
          <p:nvPr/>
        </p:nvSpPr>
        <p:spPr>
          <a:xfrm>
            <a:off x="658368" y="1554480"/>
            <a:ext cx="10789920" cy="3840480"/>
          </a:xfrm>
          <a:prstGeom prst="rect">
            <a:avLst/>
          </a:prstGeom>
          <a:noFill/>
        </p:spPr>
        <p:txBody>
          <a:bodyPr wrap="square">
            <a:spAutoFit/>
          </a:bodyPr>
          <a:lstStyle/>
          <a:p>
            <a:pPr>
              <a:spcAft>
                <a:spcPts val="1200"/>
              </a:spcAft>
            </a:pPr>
            <a:r>
              <a:rPr sz="1700" b="0" i="0">
                <a:solidFill>
                  <a:srgbClr val="1A1A1A"/>
                </a:solidFill>
                <a:latin typeface="Arial"/>
              </a:rPr>
              <a:t>•  PAERA v1.0 — §4.2.2 (Architecture)</a:t>
            </a:r>
          </a:p>
          <a:p>
            <a:pPr>
              <a:spcAft>
                <a:spcPts val="1200"/>
              </a:spcAft>
            </a:pPr>
            <a:r>
              <a:rPr sz="1700" b="0" i="0">
                <a:solidFill>
                  <a:srgbClr val="1A1A1A"/>
                </a:solidFill>
                <a:latin typeface="Arial"/>
              </a:rPr>
              <a:t>•  PAERA v1.0 — §5.4 (Organisational Assessment &amp; Roadmap)</a:t>
            </a:r>
          </a:p>
        </p:txBody>
      </p:sp>
      <p:sp>
        <p:nvSpPr>
          <p:cNvPr id="5" name="TextBox 4"/>
          <p:cNvSpPr txBox="1"/>
          <p:nvPr/>
        </p:nvSpPr>
        <p:spPr>
          <a:xfrm>
            <a:off x="658368" y="5806440"/>
            <a:ext cx="10789920" cy="457200"/>
          </a:xfrm>
          <a:prstGeom prst="rect">
            <a:avLst/>
          </a:prstGeom>
          <a:noFill/>
        </p:spPr>
        <p:txBody>
          <a:bodyPr wrap="square">
            <a:spAutoFit/>
          </a:bodyPr>
          <a:lstStyle/>
          <a:p>
            <a:r>
              <a:rPr sz="1400" b="1" i="0">
                <a:solidFill>
                  <a:srgbClr val="006E96"/>
                </a:solidFill>
                <a:latin typeface="Arial"/>
              </a:rPr>
              <a:t>Find the link in the description.</a:t>
            </a:r>
          </a:p>
        </p:txBody>
      </p:sp>
      <p:sp>
        <p:nvSpPr>
          <p:cNvPr id="6" name="TextBox 5"/>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3.3 · Keep the repository true — the update discipline</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22960" y="822960"/>
            <a:ext cx="7315200" cy="457200"/>
          </a:xfrm>
          <a:prstGeom prst="rect">
            <a:avLst/>
          </a:prstGeom>
          <a:noFill/>
        </p:spPr>
        <p:txBody>
          <a:bodyPr wrap="square">
            <a:spAutoFit/>
          </a:bodyPr>
          <a:lstStyle/>
          <a:p>
            <a:r>
              <a:rPr sz="1200" b="1" i="0">
                <a:solidFill>
                  <a:srgbClr val="595959"/>
                </a:solidFill>
                <a:latin typeface="Arial"/>
              </a:rPr>
              <a:t>MODULE 3 · VIDEO 3.4</a:t>
            </a:r>
          </a:p>
        </p:txBody>
      </p:sp>
      <p:sp>
        <p:nvSpPr>
          <p:cNvPr id="3" name="TextBox 2"/>
          <p:cNvSpPr txBox="1"/>
          <p:nvPr/>
        </p:nvSpPr>
        <p:spPr>
          <a:xfrm>
            <a:off x="822960" y="1828800"/>
            <a:ext cx="2011680" cy="1097280"/>
          </a:xfrm>
          <a:prstGeom prst="rect">
            <a:avLst/>
          </a:prstGeom>
          <a:noFill/>
        </p:spPr>
        <p:txBody>
          <a:bodyPr wrap="square">
            <a:spAutoFit/>
          </a:bodyPr>
          <a:lstStyle/>
          <a:p>
            <a:r>
              <a:rPr sz="6000" b="1" i="0">
                <a:solidFill>
                  <a:srgbClr val="009CD6"/>
                </a:solidFill>
                <a:latin typeface="Arial"/>
              </a:rPr>
              <a:t>3.4</a:t>
            </a:r>
          </a:p>
        </p:txBody>
      </p:sp>
      <p:sp>
        <p:nvSpPr>
          <p:cNvPr id="4" name="TextBox 3"/>
          <p:cNvSpPr txBox="1"/>
          <p:nvPr/>
        </p:nvSpPr>
        <p:spPr>
          <a:xfrm>
            <a:off x="822960" y="2880360"/>
            <a:ext cx="9601200" cy="1371600"/>
          </a:xfrm>
          <a:prstGeom prst="rect">
            <a:avLst/>
          </a:prstGeom>
          <a:noFill/>
        </p:spPr>
        <p:txBody>
          <a:bodyPr wrap="square">
            <a:spAutoFit/>
          </a:bodyPr>
          <a:lstStyle/>
          <a:p>
            <a:r>
              <a:rPr sz="3400" b="1" i="0">
                <a:solidFill>
                  <a:srgbClr val="1A1A1A"/>
                </a:solidFill>
                <a:latin typeface="Arial"/>
              </a:rPr>
              <a:t>Stand up an EA Board that can actually say no</a:t>
            </a:r>
          </a:p>
        </p:txBody>
      </p:sp>
      <p:sp>
        <p:nvSpPr>
          <p:cNvPr id="5" name="TextBox 4"/>
          <p:cNvSpPr txBox="1"/>
          <p:nvPr/>
        </p:nvSpPr>
        <p:spPr>
          <a:xfrm>
            <a:off x="822960" y="4343400"/>
            <a:ext cx="9875520" cy="1554480"/>
          </a:xfrm>
          <a:prstGeom prst="rect">
            <a:avLst/>
          </a:prstGeom>
          <a:noFill/>
        </p:spPr>
        <p:txBody>
          <a:bodyPr wrap="square">
            <a:spAutoFit/>
          </a:bodyPr>
          <a:lstStyle/>
          <a:p>
            <a:r>
              <a:rPr sz="1700" b="0" i="1">
                <a:solidFill>
                  <a:srgbClr val="595959"/>
                </a:solidFill>
                <a:latin typeface="Arial"/>
              </a:rPr>
              <a:t>An EA Board with binding authority — the right chair, the right members, a regular cadence, and a mandate that lets it say no — is what turns the architecture from a document into the place every digital decision passes through.</a:t>
            </a:r>
          </a:p>
        </p:txBody>
      </p:sp>
      <p:sp>
        <p:nvSpPr>
          <p:cNvPr id="6" name="TextBox 5"/>
          <p:cNvSpPr txBox="1"/>
          <p:nvPr/>
        </p:nvSpPr>
        <p:spPr>
          <a:xfrm>
            <a:off x="822960" y="5989320"/>
            <a:ext cx="7315200" cy="365760"/>
          </a:xfrm>
          <a:prstGeom prst="rect">
            <a:avLst/>
          </a:prstGeom>
          <a:noFill/>
        </p:spPr>
        <p:txBody>
          <a:bodyPr wrap="square">
            <a:spAutoFit/>
          </a:bodyPr>
          <a:lstStyle/>
          <a:p>
            <a:r>
              <a:rPr sz="1200" b="0" i="0">
                <a:solidFill>
                  <a:srgbClr val="595959"/>
                </a:solidFill>
                <a:latin typeface="Arial"/>
              </a:rPr>
              <a:t>standalone video · voice-over on text slides</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005840" y="1325880"/>
            <a:ext cx="5486400" cy="365760"/>
          </a:xfrm>
          <a:prstGeom prst="rect">
            <a:avLst/>
          </a:prstGeom>
          <a:noFill/>
        </p:spPr>
        <p:txBody>
          <a:bodyPr wrap="square">
            <a:spAutoFit/>
          </a:bodyPr>
          <a:lstStyle/>
          <a:p>
            <a:r>
              <a:rPr sz="1200" b="1" i="0">
                <a:solidFill>
                  <a:srgbClr val="006E96"/>
                </a:solidFill>
                <a:latin typeface="Arial"/>
              </a:rPr>
              <a:t>WHERE WE START</a:t>
            </a:r>
          </a:p>
        </p:txBody>
      </p:sp>
      <p:sp>
        <p:nvSpPr>
          <p:cNvPr id="3" name="TextBox 2"/>
          <p:cNvSpPr txBox="1"/>
          <p:nvPr/>
        </p:nvSpPr>
        <p:spPr>
          <a:xfrm>
            <a:off x="1005840" y="1783080"/>
            <a:ext cx="10149840" cy="1737360"/>
          </a:xfrm>
          <a:prstGeom prst="rect">
            <a:avLst/>
          </a:prstGeom>
          <a:noFill/>
        </p:spPr>
        <p:txBody>
          <a:bodyPr wrap="square">
            <a:spAutoFit/>
          </a:bodyPr>
          <a:lstStyle/>
          <a:p>
            <a:r>
              <a:rPr sz="3000" b="1" i="0">
                <a:solidFill>
                  <a:srgbClr val="1A1A1A"/>
                </a:solidFill>
                <a:latin typeface="Arial"/>
              </a:rPr>
              <a:t>The repository holds the architecture. The Board gives it authority.</a:t>
            </a:r>
          </a:p>
        </p:txBody>
      </p:sp>
      <p:sp>
        <p:nvSpPr>
          <p:cNvPr id="4" name="TextBox 3"/>
          <p:cNvSpPr txBox="1"/>
          <p:nvPr/>
        </p:nvSpPr>
        <p:spPr>
          <a:xfrm>
            <a:off x="1005840" y="3611880"/>
            <a:ext cx="10149840" cy="2377440"/>
          </a:xfrm>
          <a:prstGeom prst="rect">
            <a:avLst/>
          </a:prstGeom>
          <a:noFill/>
        </p:spPr>
        <p:txBody>
          <a:bodyPr wrap="square">
            <a:spAutoFit/>
          </a:bodyPr>
          <a:lstStyle/>
          <a:p>
            <a:pPr>
              <a:spcAft>
                <a:spcPts val="800"/>
              </a:spcAft>
            </a:pPr>
            <a:r>
              <a:rPr sz="1700" b="0" i="0">
                <a:solidFill>
                  <a:srgbClr val="595959"/>
                </a:solidFill>
                <a:latin typeface="Arial"/>
              </a:rPr>
              <a:t>Without a governance board, the architecture is a document people can ignore.</a:t>
            </a:r>
          </a:p>
          <a:p>
            <a:pPr>
              <a:spcAft>
                <a:spcPts val="800"/>
              </a:spcAft>
            </a:pPr>
            <a:r>
              <a:rPr sz="1700" b="0" i="0">
                <a:solidFill>
                  <a:srgbClr val="595959"/>
                </a:solidFill>
                <a:latin typeface="Arial"/>
              </a:rPr>
              <a:t>With a real one — that can say no — it becomes the place every significant digital decision passes through.</a:t>
            </a:r>
          </a:p>
        </p:txBody>
      </p:sp>
      <p:sp>
        <p:nvSpPr>
          <p:cNvPr id="5" name="TextBox 4"/>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3.4 · Stand up an EA Board that can actually say no</a:t>
            </a:r>
          </a:p>
        </p:txBody>
      </p:sp>
      <p:sp>
        <p:nvSpPr>
          <p:cNvPr id="6" name="TextBox 5"/>
          <p:cNvSpPr txBox="1"/>
          <p:nvPr/>
        </p:nvSpPr>
        <p:spPr>
          <a:xfrm>
            <a:off x="10058400" y="6473952"/>
            <a:ext cx="1673352" cy="292608"/>
          </a:xfrm>
          <a:prstGeom prst="rect">
            <a:avLst/>
          </a:prstGeom>
          <a:noFill/>
        </p:spPr>
        <p:txBody>
          <a:bodyPr wrap="square">
            <a:spAutoFit/>
          </a:bodyPr>
          <a:lstStyle/>
          <a:p>
            <a:pPr algn="r"/>
            <a:r>
              <a:rPr sz="900" b="0" i="0">
                <a:solidFill>
                  <a:srgbClr val="595959"/>
                </a:solidFill>
                <a:latin typeface="Arial"/>
              </a:rPr>
              <a:t>www.itu.int</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An advisory board produces minutes; a binding board produces decisions</a:t>
            </a:r>
          </a:p>
        </p:txBody>
      </p:sp>
      <p:sp>
        <p:nvSpPr>
          <p:cNvPr id="4" name="TextBox 3"/>
          <p:cNvSpPr txBox="1"/>
          <p:nvPr/>
        </p:nvSpPr>
        <p:spPr>
          <a:xfrm>
            <a:off x="658368" y="1600200"/>
            <a:ext cx="10881360" cy="2651760"/>
          </a:xfrm>
          <a:prstGeom prst="rect">
            <a:avLst/>
          </a:prstGeom>
          <a:noFill/>
        </p:spPr>
        <p:txBody>
          <a:bodyPr wrap="square">
            <a:spAutoFit/>
          </a:bodyPr>
          <a:lstStyle/>
          <a:p>
            <a:pPr>
              <a:spcAft>
                <a:spcPts val="1200"/>
              </a:spcAft>
            </a:pPr>
            <a:r>
              <a:rPr sz="2000" b="0" i="0">
                <a:solidFill>
                  <a:srgbClr val="1A1A1A"/>
                </a:solidFill>
                <a:latin typeface="Arial"/>
              </a:rPr>
              <a:t>An advisory board looks at a project, offers an opinion, and the project does whatever it was going to do. That is governance theatre.</a:t>
            </a:r>
          </a:p>
          <a:p>
            <a:pPr>
              <a:spcAft>
                <a:spcPts val="1200"/>
              </a:spcAft>
            </a:pPr>
            <a:r>
              <a:rPr sz="2000" b="0" i="0">
                <a:solidFill>
                  <a:srgbClr val="1A1A1A"/>
                </a:solidFill>
                <a:latin typeface="Arial"/>
              </a:rPr>
              <a:t>A binding board’s rulings are a condition of proceeding: a project told to consume the shared identity platform does so, or it does not get funded.</a:t>
            </a:r>
          </a:p>
        </p:txBody>
      </p:sp>
      <p:sp>
        <p:nvSpPr>
          <p:cNvPr id="5" name="Rounded Rectangle 4"/>
          <p:cNvSpPr/>
          <p:nvPr/>
        </p:nvSpPr>
        <p:spPr>
          <a:xfrm>
            <a:off x="658368" y="4434840"/>
            <a:ext cx="10881360" cy="1325880"/>
          </a:xfrm>
          <a:prstGeom prst="roundRect">
            <a:avLst>
              <a:gd name="adj" fmla="val 45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59536" y="4626864"/>
            <a:ext cx="10479024" cy="1051560"/>
          </a:xfrm>
          <a:prstGeom prst="rect">
            <a:avLst/>
          </a:prstGeom>
          <a:noFill/>
        </p:spPr>
        <p:txBody>
          <a:bodyPr wrap="square">
            <a:spAutoFit/>
          </a:bodyPr>
          <a:lstStyle/>
          <a:p>
            <a:pPr>
              <a:spcAft>
                <a:spcPts val="700"/>
              </a:spcAft>
            </a:pPr>
            <a:r>
              <a:rPr sz="2300" b="1" i="0">
                <a:solidFill>
                  <a:srgbClr val="006E96"/>
                </a:solidFill>
                <a:latin typeface="Arial"/>
              </a:rPr>
              <a:t>Without binding authority you have a discussion group, not a governance board.</a:t>
            </a:r>
          </a:p>
        </p:txBody>
      </p:sp>
      <p:sp>
        <p:nvSpPr>
          <p:cNvPr id="7" name="TextBox 6"/>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3.4 · Stand up an EA Board that can actually say no</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The chair decides whether the no sticks</a:t>
            </a:r>
          </a:p>
        </p:txBody>
      </p:sp>
      <p:sp>
        <p:nvSpPr>
          <p:cNvPr id="4" name="TextBox 3"/>
          <p:cNvSpPr txBox="1"/>
          <p:nvPr/>
        </p:nvSpPr>
        <p:spPr>
          <a:xfrm>
            <a:off x="658368" y="1600200"/>
            <a:ext cx="10881360" cy="2651760"/>
          </a:xfrm>
          <a:prstGeom prst="rect">
            <a:avLst/>
          </a:prstGeom>
          <a:noFill/>
        </p:spPr>
        <p:txBody>
          <a:bodyPr wrap="square">
            <a:spAutoFit/>
          </a:bodyPr>
          <a:lstStyle/>
          <a:p>
            <a:pPr>
              <a:spcAft>
                <a:spcPts val="1200"/>
              </a:spcAft>
            </a:pPr>
            <a:r>
              <a:rPr sz="2000" b="0" i="0">
                <a:solidFill>
                  <a:srgbClr val="1A1A1A"/>
                </a:solidFill>
                <a:latin typeface="Arial"/>
              </a:rPr>
              <a:t>Your Chief Digitalisation Officer or its equivalent — or, in a smaller government, the minister directly. Senior enough that when the Board declines a powerful ministry’s pet project, the decision holds.</a:t>
            </a:r>
          </a:p>
          <a:p>
            <a:pPr>
              <a:spcAft>
                <a:spcPts val="1200"/>
              </a:spcAft>
            </a:pPr>
            <a:r>
              <a:rPr sz="2000" b="0" i="0">
                <a:solidFill>
                  <a:srgbClr val="1A1A1A"/>
                </a:solidFill>
                <a:latin typeface="Arial"/>
              </a:rPr>
              <a:t>Note who does not chair it: you. You prepare the Board, you advise it, you bring the analysis.</a:t>
            </a:r>
          </a:p>
        </p:txBody>
      </p:sp>
      <p:sp>
        <p:nvSpPr>
          <p:cNvPr id="5" name="Rounded Rectangle 4"/>
          <p:cNvSpPr/>
          <p:nvPr/>
        </p:nvSpPr>
        <p:spPr>
          <a:xfrm>
            <a:off x="658368" y="4434840"/>
            <a:ext cx="10881360" cy="1325880"/>
          </a:xfrm>
          <a:prstGeom prst="roundRect">
            <a:avLst>
              <a:gd name="adj" fmla="val 45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59536" y="4626864"/>
            <a:ext cx="10479024" cy="1051560"/>
          </a:xfrm>
          <a:prstGeom prst="rect">
            <a:avLst/>
          </a:prstGeom>
          <a:noFill/>
        </p:spPr>
        <p:txBody>
          <a:bodyPr wrap="square">
            <a:spAutoFit/>
          </a:bodyPr>
          <a:lstStyle/>
          <a:p>
            <a:pPr>
              <a:spcAft>
                <a:spcPts val="700"/>
              </a:spcAft>
            </a:pPr>
            <a:r>
              <a:rPr sz="2300" b="1" i="0">
                <a:solidFill>
                  <a:srgbClr val="006E96"/>
                </a:solidFill>
                <a:latin typeface="Arial"/>
              </a:rPr>
              <a:t>The architect informs; the chair decides.</a:t>
            </a:r>
          </a:p>
        </p:txBody>
      </p:sp>
      <p:sp>
        <p:nvSpPr>
          <p:cNvPr id="7" name="TextBox 6"/>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3.4 · Stand up an EA Board that can actually say no</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Membership follows the affected systems, not convenience</a:t>
            </a:r>
          </a:p>
        </p:txBody>
      </p:sp>
      <p:sp>
        <p:nvSpPr>
          <p:cNvPr id="4" name="Oval 3"/>
          <p:cNvSpPr/>
          <p:nvPr/>
        </p:nvSpPr>
        <p:spPr>
          <a:xfrm>
            <a:off x="621792" y="1508760"/>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1</a:t>
            </a:r>
          </a:p>
        </p:txBody>
      </p:sp>
      <p:sp>
        <p:nvSpPr>
          <p:cNvPr id="5" name="TextBox 4"/>
          <p:cNvSpPr txBox="1"/>
          <p:nvPr/>
        </p:nvSpPr>
        <p:spPr>
          <a:xfrm>
            <a:off x="1115568" y="1463040"/>
            <a:ext cx="10527487" cy="1028699"/>
          </a:xfrm>
          <a:prstGeom prst="rect">
            <a:avLst/>
          </a:prstGeom>
          <a:noFill/>
        </p:spPr>
        <p:txBody>
          <a:bodyPr wrap="square">
            <a:spAutoFit/>
          </a:bodyPr>
          <a:lstStyle/>
          <a:p>
            <a:pPr>
              <a:spcAft>
                <a:spcPts val="300"/>
              </a:spcAft>
            </a:pPr>
            <a:r>
              <a:rPr sz="1900" b="1" i="0">
                <a:solidFill>
                  <a:srgbClr val="1A1A1A"/>
                </a:solidFill>
                <a:latin typeface="Arial"/>
              </a:rPr>
              <a:t>The sector ministry CIOs</a:t>
            </a:r>
          </a:p>
          <a:p>
            <a:pPr>
              <a:spcAft>
                <a:spcPts val="300"/>
              </a:spcAft>
            </a:pPr>
            <a:r>
              <a:rPr sz="1550" b="0" i="0">
                <a:solidFill>
                  <a:srgbClr val="595959"/>
                </a:solidFill>
                <a:latin typeface="Arial"/>
              </a:rPr>
              <a:t>Their systems carry the decisions.</a:t>
            </a:r>
          </a:p>
        </p:txBody>
      </p:sp>
      <p:sp>
        <p:nvSpPr>
          <p:cNvPr id="6" name="Rectangle 5"/>
          <p:cNvSpPr/>
          <p:nvPr/>
        </p:nvSpPr>
        <p:spPr>
          <a:xfrm>
            <a:off x="621792" y="249631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621792" y="2583179"/>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2</a:t>
            </a:r>
          </a:p>
        </p:txBody>
      </p:sp>
      <p:sp>
        <p:nvSpPr>
          <p:cNvPr id="8" name="TextBox 7"/>
          <p:cNvSpPr txBox="1"/>
          <p:nvPr/>
        </p:nvSpPr>
        <p:spPr>
          <a:xfrm>
            <a:off x="1115568" y="2537460"/>
            <a:ext cx="10527487" cy="1028699"/>
          </a:xfrm>
          <a:prstGeom prst="rect">
            <a:avLst/>
          </a:prstGeom>
          <a:noFill/>
        </p:spPr>
        <p:txBody>
          <a:bodyPr wrap="square">
            <a:spAutoFit/>
          </a:bodyPr>
          <a:lstStyle/>
          <a:p>
            <a:pPr>
              <a:spcAft>
                <a:spcPts val="300"/>
              </a:spcAft>
            </a:pPr>
            <a:r>
              <a:rPr sz="1900" b="1" i="0">
                <a:solidFill>
                  <a:srgbClr val="1A1A1A"/>
                </a:solidFill>
                <a:latin typeface="Arial"/>
              </a:rPr>
              <a:t>The owners of the major state registries</a:t>
            </a:r>
          </a:p>
          <a:p>
            <a:pPr>
              <a:spcAft>
                <a:spcPts val="300"/>
              </a:spcAft>
            </a:pPr>
            <a:r>
              <a:rPr sz="1550" b="0" i="0">
                <a:solidFill>
                  <a:srgbClr val="595959"/>
                </a:solidFill>
                <a:latin typeface="Arial"/>
              </a:rPr>
              <a:t>The identity authority, the population register.</a:t>
            </a:r>
          </a:p>
        </p:txBody>
      </p:sp>
      <p:sp>
        <p:nvSpPr>
          <p:cNvPr id="9" name="Rectangle 8"/>
          <p:cNvSpPr/>
          <p:nvPr/>
        </p:nvSpPr>
        <p:spPr>
          <a:xfrm>
            <a:off x="621792" y="357073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621792" y="3657599"/>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3</a:t>
            </a:r>
          </a:p>
        </p:txBody>
      </p:sp>
      <p:sp>
        <p:nvSpPr>
          <p:cNvPr id="11" name="TextBox 10"/>
          <p:cNvSpPr txBox="1"/>
          <p:nvPr/>
        </p:nvSpPr>
        <p:spPr>
          <a:xfrm>
            <a:off x="1115568" y="3611879"/>
            <a:ext cx="10527487" cy="1028699"/>
          </a:xfrm>
          <a:prstGeom prst="rect">
            <a:avLst/>
          </a:prstGeom>
          <a:noFill/>
        </p:spPr>
        <p:txBody>
          <a:bodyPr wrap="square">
            <a:spAutoFit/>
          </a:bodyPr>
          <a:lstStyle/>
          <a:p>
            <a:pPr>
              <a:spcAft>
                <a:spcPts val="300"/>
              </a:spcAft>
            </a:pPr>
            <a:r>
              <a:rPr sz="1900" b="1" i="0">
                <a:solidFill>
                  <a:srgbClr val="1A1A1A"/>
                </a:solidFill>
                <a:latin typeface="Arial"/>
              </a:rPr>
              <a:t>The data-protection regulator</a:t>
            </a:r>
          </a:p>
          <a:p>
            <a:pPr>
              <a:spcAft>
                <a:spcPts val="300"/>
              </a:spcAft>
            </a:pPr>
            <a:r>
              <a:rPr sz="1550" b="0" i="0">
                <a:solidFill>
                  <a:srgbClr val="595959"/>
                </a:solidFill>
                <a:latin typeface="Arial"/>
              </a:rPr>
              <a:t>Wherever data-sharing is in play.</a:t>
            </a:r>
          </a:p>
        </p:txBody>
      </p:sp>
      <p:sp>
        <p:nvSpPr>
          <p:cNvPr id="12" name="Rectangle 11"/>
          <p:cNvSpPr/>
          <p:nvPr/>
        </p:nvSpPr>
        <p:spPr>
          <a:xfrm>
            <a:off x="621792" y="464515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21792" y="4732020"/>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4</a:t>
            </a:r>
          </a:p>
        </p:txBody>
      </p:sp>
      <p:sp>
        <p:nvSpPr>
          <p:cNvPr id="14" name="TextBox 13"/>
          <p:cNvSpPr txBox="1"/>
          <p:nvPr/>
        </p:nvSpPr>
        <p:spPr>
          <a:xfrm>
            <a:off x="1115568" y="4686300"/>
            <a:ext cx="10527487" cy="1028699"/>
          </a:xfrm>
          <a:prstGeom prst="rect">
            <a:avLst/>
          </a:prstGeom>
          <a:noFill/>
        </p:spPr>
        <p:txBody>
          <a:bodyPr wrap="square">
            <a:spAutoFit/>
          </a:bodyPr>
          <a:lstStyle/>
          <a:p>
            <a:pPr>
              <a:spcAft>
                <a:spcPts val="300"/>
              </a:spcAft>
            </a:pPr>
            <a:r>
              <a:rPr sz="1900" b="1" i="0">
                <a:solidFill>
                  <a:srgbClr val="1A1A1A"/>
                </a:solidFill>
                <a:latin typeface="Arial"/>
              </a:rPr>
              <a:t>One external advisor</a:t>
            </a:r>
          </a:p>
          <a:p>
            <a:pPr>
              <a:spcAft>
                <a:spcPts val="300"/>
              </a:spcAft>
            </a:pPr>
            <a:r>
              <a:rPr sz="1550" b="0" i="0">
                <a:solidFill>
                  <a:srgbClr val="595959"/>
                </a:solidFill>
                <a:latin typeface="Arial"/>
              </a:rPr>
              <a:t>Where an outside perspective is useful.</a:t>
            </a:r>
          </a:p>
        </p:txBody>
      </p:sp>
      <p:sp>
        <p:nvSpPr>
          <p:cNvPr id="15" name="TextBox 14"/>
          <p:cNvSpPr txBox="1"/>
          <p:nvPr/>
        </p:nvSpPr>
        <p:spPr>
          <a:xfrm>
            <a:off x="658368" y="5870448"/>
            <a:ext cx="10881360" cy="548640"/>
          </a:xfrm>
          <a:prstGeom prst="rect">
            <a:avLst/>
          </a:prstGeom>
          <a:noFill/>
        </p:spPr>
        <p:txBody>
          <a:bodyPr wrap="square">
            <a:spAutoFit/>
          </a:bodyPr>
          <a:lstStyle/>
          <a:p>
            <a:r>
              <a:rPr sz="1550" b="1" i="0">
                <a:solidFill>
                  <a:srgbClr val="006E96"/>
                </a:solidFill>
                <a:latin typeface="Arial"/>
              </a:rPr>
              <a:t>A Board of the right twelve is better than a Board of the convenient forty.</a:t>
            </a:r>
          </a:p>
        </p:txBody>
      </p:sp>
      <p:sp>
        <p:nvSpPr>
          <p:cNvPr id="16" name="TextBox 15"/>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3.4 · Stand up an EA Board that can actually say no</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Govern on a cadence that does not become the bottleneck</a:t>
            </a:r>
          </a:p>
        </p:txBody>
      </p:sp>
      <p:sp>
        <p:nvSpPr>
          <p:cNvPr id="4" name="Rounded Rectangle 3"/>
          <p:cNvSpPr/>
          <p:nvPr/>
        </p:nvSpPr>
        <p:spPr>
          <a:xfrm>
            <a:off x="658368" y="1554480"/>
            <a:ext cx="5394960" cy="3977639"/>
          </a:xfrm>
          <a:prstGeom prst="roundRect">
            <a:avLst>
              <a:gd name="adj" fmla="val 45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59536" y="1700784"/>
            <a:ext cx="4992624" cy="3703320"/>
          </a:xfrm>
          <a:prstGeom prst="rect">
            <a:avLst/>
          </a:prstGeom>
          <a:noFill/>
        </p:spPr>
        <p:txBody>
          <a:bodyPr wrap="square">
            <a:spAutoFit/>
          </a:bodyPr>
          <a:lstStyle/>
          <a:p>
            <a:pPr>
              <a:spcAft>
                <a:spcPts val="700"/>
              </a:spcAft>
            </a:pPr>
            <a:r>
              <a:rPr sz="1900" b="1" i="0">
                <a:solidFill>
                  <a:srgbClr val="006E96"/>
                </a:solidFill>
                <a:latin typeface="Arial"/>
              </a:rPr>
              <a:t>QUARTERLY — THE MAIN MEETING</a:t>
            </a:r>
          </a:p>
          <a:p>
            <a:pPr>
              <a:spcAft>
                <a:spcPts val="700"/>
              </a:spcAft>
            </a:pPr>
            <a:r>
              <a:rPr sz="1600" b="0" i="0">
                <a:solidFill>
                  <a:srgbClr val="1A1A1A"/>
                </a:solidFill>
                <a:latin typeface="Arial"/>
              </a:rPr>
              <a:t>Review the architecture as a whole.</a:t>
            </a:r>
          </a:p>
          <a:p>
            <a:pPr>
              <a:spcAft>
                <a:spcPts val="700"/>
              </a:spcAft>
            </a:pPr>
            <a:r>
              <a:rPr sz="1600" b="0" i="0">
                <a:solidFill>
                  <a:srgbClr val="1A1A1A"/>
                </a:solidFill>
                <a:latin typeface="Arial"/>
              </a:rPr>
              <a:t>What changed, what is drifting, what to prioritise next.</a:t>
            </a:r>
          </a:p>
        </p:txBody>
      </p:sp>
      <p:sp>
        <p:nvSpPr>
          <p:cNvPr id="6" name="Rounded Rectangle 5"/>
          <p:cNvSpPr/>
          <p:nvPr/>
        </p:nvSpPr>
        <p:spPr>
          <a:xfrm>
            <a:off x="6263640" y="1554480"/>
            <a:ext cx="5394960" cy="3977639"/>
          </a:xfrm>
          <a:prstGeom prst="roundRect">
            <a:avLst>
              <a:gd name="adj" fmla="val 45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64808" y="1700784"/>
            <a:ext cx="4992624" cy="3703320"/>
          </a:xfrm>
          <a:prstGeom prst="rect">
            <a:avLst/>
          </a:prstGeom>
          <a:noFill/>
        </p:spPr>
        <p:txBody>
          <a:bodyPr wrap="square">
            <a:spAutoFit/>
          </a:bodyPr>
          <a:lstStyle/>
          <a:p>
            <a:pPr>
              <a:spcAft>
                <a:spcPts val="700"/>
              </a:spcAft>
            </a:pPr>
            <a:r>
              <a:rPr sz="1900" b="1" i="0">
                <a:solidFill>
                  <a:srgbClr val="006E96"/>
                </a:solidFill>
                <a:latin typeface="Arial"/>
              </a:rPr>
              <a:t>AD HOC — THE FAST PATH</a:t>
            </a:r>
          </a:p>
          <a:p>
            <a:pPr>
              <a:spcAft>
                <a:spcPts val="700"/>
              </a:spcAft>
            </a:pPr>
            <a:r>
              <a:rPr sz="1600" b="0" i="0">
                <a:solidFill>
                  <a:srgbClr val="1A1A1A"/>
                </a:solidFill>
                <a:latin typeface="Arial"/>
              </a:rPr>
              <a:t>Urgent project decisions.</a:t>
            </a:r>
          </a:p>
          <a:p>
            <a:pPr>
              <a:spcAft>
                <a:spcPts val="700"/>
              </a:spcAft>
            </a:pPr>
            <a:r>
              <a:rPr sz="1600" b="0" i="0">
                <a:solidFill>
                  <a:srgbClr val="1A1A1A"/>
                </a:solidFill>
                <a:latin typeface="Arial"/>
              </a:rPr>
              <a:t>So a programme on a deadline is not stuck for three months waiting for the next quarterly.</a:t>
            </a:r>
          </a:p>
        </p:txBody>
      </p:sp>
      <p:sp>
        <p:nvSpPr>
          <p:cNvPr id="8" name="TextBox 7"/>
          <p:cNvSpPr txBox="1"/>
          <p:nvPr/>
        </p:nvSpPr>
        <p:spPr>
          <a:xfrm>
            <a:off x="658368" y="5715000"/>
            <a:ext cx="10881360" cy="548640"/>
          </a:xfrm>
          <a:prstGeom prst="rect">
            <a:avLst/>
          </a:prstGeom>
          <a:noFill/>
        </p:spPr>
        <p:txBody>
          <a:bodyPr wrap="square">
            <a:spAutoFit/>
          </a:bodyPr>
          <a:lstStyle/>
          <a:p>
            <a:r>
              <a:rPr sz="1550" b="1" i="0">
                <a:solidFill>
                  <a:srgbClr val="006E96"/>
                </a:solidFill>
                <a:latin typeface="Arial"/>
              </a:rPr>
              <a:t>If the Board is slow, projects route around it — and you are back to no governance.</a:t>
            </a:r>
          </a:p>
        </p:txBody>
      </p:sp>
      <p:sp>
        <p:nvSpPr>
          <p:cNvPr id="9" name="TextBox 8"/>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3.4 · Stand up an EA Board that can actually say no</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The Board is the standing rhythm no single project can provide</a:t>
            </a:r>
          </a:p>
        </p:txBody>
      </p:sp>
      <p:sp>
        <p:nvSpPr>
          <p:cNvPr id="4" name="Oval 3"/>
          <p:cNvSpPr/>
          <p:nvPr/>
        </p:nvSpPr>
        <p:spPr>
          <a:xfrm>
            <a:off x="621792" y="1508760"/>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1</a:t>
            </a:r>
          </a:p>
        </p:txBody>
      </p:sp>
      <p:sp>
        <p:nvSpPr>
          <p:cNvPr id="5" name="TextBox 4"/>
          <p:cNvSpPr txBox="1"/>
          <p:nvPr/>
        </p:nvSpPr>
        <p:spPr>
          <a:xfrm>
            <a:off x="1115568" y="1463040"/>
            <a:ext cx="10527487" cy="1386839"/>
          </a:xfrm>
          <a:prstGeom prst="rect">
            <a:avLst/>
          </a:prstGeom>
          <a:noFill/>
        </p:spPr>
        <p:txBody>
          <a:bodyPr wrap="square">
            <a:spAutoFit/>
          </a:bodyPr>
          <a:lstStyle/>
          <a:p>
            <a:pPr>
              <a:spcAft>
                <a:spcPts val="300"/>
              </a:spcAft>
            </a:pPr>
            <a:r>
              <a:rPr sz="1900" b="1" i="0">
                <a:solidFill>
                  <a:srgbClr val="1A1A1A"/>
                </a:solidFill>
                <a:latin typeface="Arial"/>
              </a:rPr>
              <a:t>The repository gives the shared picture</a:t>
            </a:r>
          </a:p>
        </p:txBody>
      </p:sp>
      <p:sp>
        <p:nvSpPr>
          <p:cNvPr id="6" name="Rectangle 5"/>
          <p:cNvSpPr/>
          <p:nvPr/>
        </p:nvSpPr>
        <p:spPr>
          <a:xfrm>
            <a:off x="621792" y="285445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621792" y="2941319"/>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2</a:t>
            </a:r>
          </a:p>
        </p:txBody>
      </p:sp>
      <p:sp>
        <p:nvSpPr>
          <p:cNvPr id="8" name="TextBox 7"/>
          <p:cNvSpPr txBox="1"/>
          <p:nvPr/>
        </p:nvSpPr>
        <p:spPr>
          <a:xfrm>
            <a:off x="1115568" y="2895600"/>
            <a:ext cx="10527487" cy="1386839"/>
          </a:xfrm>
          <a:prstGeom prst="rect">
            <a:avLst/>
          </a:prstGeom>
          <a:noFill/>
        </p:spPr>
        <p:txBody>
          <a:bodyPr wrap="square">
            <a:spAutoFit/>
          </a:bodyPr>
          <a:lstStyle/>
          <a:p>
            <a:pPr>
              <a:spcAft>
                <a:spcPts val="300"/>
              </a:spcAft>
            </a:pPr>
            <a:r>
              <a:rPr sz="1900" b="1" i="0">
                <a:solidFill>
                  <a:srgbClr val="1A1A1A"/>
                </a:solidFill>
                <a:latin typeface="Arial"/>
              </a:rPr>
              <a:t>The metamodel gives the shared words</a:t>
            </a:r>
          </a:p>
        </p:txBody>
      </p:sp>
      <p:sp>
        <p:nvSpPr>
          <p:cNvPr id="9" name="Rectangle 8"/>
          <p:cNvSpPr/>
          <p:nvPr/>
        </p:nvSpPr>
        <p:spPr>
          <a:xfrm>
            <a:off x="621792" y="4287011"/>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621792" y="4373879"/>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3</a:t>
            </a:r>
          </a:p>
        </p:txBody>
      </p:sp>
      <p:sp>
        <p:nvSpPr>
          <p:cNvPr id="11" name="TextBox 10"/>
          <p:cNvSpPr txBox="1"/>
          <p:nvPr/>
        </p:nvSpPr>
        <p:spPr>
          <a:xfrm>
            <a:off x="1115568" y="4328159"/>
            <a:ext cx="10527487" cy="1386839"/>
          </a:xfrm>
          <a:prstGeom prst="rect">
            <a:avLst/>
          </a:prstGeom>
          <a:noFill/>
        </p:spPr>
        <p:txBody>
          <a:bodyPr wrap="square">
            <a:spAutoFit/>
          </a:bodyPr>
          <a:lstStyle/>
          <a:p>
            <a:pPr>
              <a:spcAft>
                <a:spcPts val="300"/>
              </a:spcAft>
            </a:pPr>
            <a:r>
              <a:rPr sz="1900" b="1" i="0">
                <a:solidFill>
                  <a:srgbClr val="1A1A1A"/>
                </a:solidFill>
                <a:latin typeface="Arial"/>
              </a:rPr>
              <a:t>The Board gives the shared rhythm</a:t>
            </a:r>
          </a:p>
          <a:p>
            <a:pPr>
              <a:spcAft>
                <a:spcPts val="300"/>
              </a:spcAft>
            </a:pPr>
            <a:r>
              <a:rPr sz="1550" b="0" i="0">
                <a:solidFill>
                  <a:srgbClr val="595959"/>
                </a:solidFill>
                <a:latin typeface="Arial"/>
              </a:rPr>
              <a:t>A standing forum where the business side and the IT side decide together.</a:t>
            </a:r>
          </a:p>
        </p:txBody>
      </p:sp>
      <p:sp>
        <p:nvSpPr>
          <p:cNvPr id="12" name="TextBox 11"/>
          <p:cNvSpPr txBox="1"/>
          <p:nvPr/>
        </p:nvSpPr>
        <p:spPr>
          <a:xfrm>
            <a:off x="658368" y="5870448"/>
            <a:ext cx="10881360" cy="548640"/>
          </a:xfrm>
          <a:prstGeom prst="rect">
            <a:avLst/>
          </a:prstGeom>
          <a:noFill/>
        </p:spPr>
        <p:txBody>
          <a:bodyPr wrap="square">
            <a:spAutoFit/>
          </a:bodyPr>
          <a:lstStyle/>
          <a:p>
            <a:r>
              <a:rPr sz="1550" b="1" i="0">
                <a:solidFill>
                  <a:srgbClr val="006E96"/>
                </a:solidFill>
                <a:latin typeface="Arial"/>
              </a:rPr>
              <a:t>Four times a year, and whenever it is urgent, both sides sit down and decide together.</a:t>
            </a:r>
          </a:p>
        </p:txBody>
      </p:sp>
      <p:sp>
        <p:nvSpPr>
          <p:cNvPr id="13" name="TextBox 12"/>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3.4 · Stand up an EA Board that can actually say no</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005840" y="2103120"/>
            <a:ext cx="10149840" cy="2377440"/>
          </a:xfrm>
          <a:prstGeom prst="rect">
            <a:avLst/>
          </a:prstGeom>
          <a:noFill/>
        </p:spPr>
        <p:txBody>
          <a:bodyPr wrap="square">
            <a:spAutoFit/>
          </a:bodyPr>
          <a:lstStyle/>
          <a:p>
            <a:r>
              <a:rPr sz="3000" b="1" i="0">
                <a:solidFill>
                  <a:srgbClr val="1A1A1A"/>
                </a:solidFill>
                <a:latin typeface="Arial"/>
              </a:rPr>
              <a:t>An EA Board with binding authority, the right chair and members, and a cadence that doesn’t block delivery is what turns the architecture into the place every digital decision passes through.</a:t>
            </a:r>
          </a:p>
        </p:txBody>
      </p:sp>
      <p:sp>
        <p:nvSpPr>
          <p:cNvPr id="3" name="TextBox 2"/>
          <p:cNvSpPr txBox="1"/>
          <p:nvPr/>
        </p:nvSpPr>
        <p:spPr>
          <a:xfrm>
            <a:off x="1005840" y="1554480"/>
            <a:ext cx="5486400" cy="365760"/>
          </a:xfrm>
          <a:prstGeom prst="rect">
            <a:avLst/>
          </a:prstGeom>
          <a:noFill/>
        </p:spPr>
        <p:txBody>
          <a:bodyPr wrap="square">
            <a:spAutoFit/>
          </a:bodyPr>
          <a:lstStyle/>
          <a:p>
            <a:r>
              <a:rPr sz="1200" b="1" i="0">
                <a:solidFill>
                  <a:srgbClr val="006E96"/>
                </a:solidFill>
                <a:latin typeface="Arial"/>
              </a:rPr>
              <a:t>IN ONE SENTENCE</a:t>
            </a:r>
          </a:p>
        </p:txBody>
      </p:sp>
      <p:sp>
        <p:nvSpPr>
          <p:cNvPr id="4" name="Rounded Rectangle 3"/>
          <p:cNvSpPr/>
          <p:nvPr/>
        </p:nvSpPr>
        <p:spPr>
          <a:xfrm>
            <a:off x="658368" y="4709160"/>
            <a:ext cx="10881360" cy="1554480"/>
          </a:xfrm>
          <a:prstGeom prst="roundRect">
            <a:avLst>
              <a:gd name="adj" fmla="val 4500"/>
            </a:avLst>
          </a:prstGeom>
          <a:solidFill>
            <a:srgbClr val="FFFFFF"/>
          </a:solidFill>
          <a:ln w="9525">
            <a:solidFill>
              <a:srgbClr val="009C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09728" bIns="109728">
            <a:noAutofit/>
          </a:bodyPr>
          <a:lstStyle/>
          <a:p>
            <a:pPr algn="l">
              <a:spcAft>
                <a:spcPts val="400"/>
              </a:spcAft>
            </a:pPr>
            <a:r>
              <a:rPr sz="1800" b="1" i="0">
                <a:solidFill>
                  <a:srgbClr val="006E96"/>
                </a:solidFill>
                <a:latin typeface="Arial"/>
              </a:rPr>
              <a:t>Do this on your own sector. </a:t>
            </a:r>
            <a:r>
              <a:rPr sz="1800" b="1" i="0">
                <a:solidFill>
                  <a:srgbClr val="1A1A1A"/>
                </a:solidFill>
                <a:latin typeface="Arial"/>
              </a:rPr>
              <a:t>Draft your EA Board's Terms of Reference.</a:t>
            </a:r>
          </a:p>
          <a:p>
            <a:pPr algn="l">
              <a:spcAft>
                <a:spcPts val="400"/>
              </a:spcAft>
            </a:pPr>
            <a:r>
              <a:rPr sz="1800" b="0" i="0">
                <a:solidFill>
                  <a:srgbClr val="595959"/>
                </a:solidFill>
                <a:latin typeface="Arial"/>
              </a:rPr>
              <a:t>The prompt in the companion material gives you a structured EA Board Terms of Reference. Before the next video.</a:t>
            </a:r>
          </a:p>
        </p:txBody>
      </p:sp>
      <p:sp>
        <p:nvSpPr>
          <p:cNvPr id="5" name="TextBox 4"/>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3.4 · Stand up an EA Board that can actually say no</a:t>
            </a:r>
          </a:p>
        </p:txBody>
      </p:sp>
      <p:sp>
        <p:nvSpPr>
          <p:cNvPr id="6" name="TextBox 5"/>
          <p:cNvSpPr txBox="1"/>
          <p:nvPr/>
        </p:nvSpPr>
        <p:spPr>
          <a:xfrm>
            <a:off x="10058400" y="6473952"/>
            <a:ext cx="1673352" cy="292608"/>
          </a:xfrm>
          <a:prstGeom prst="rect">
            <a:avLst/>
          </a:prstGeom>
          <a:noFill/>
        </p:spPr>
        <p:txBody>
          <a:bodyPr wrap="square">
            <a:spAutoFit/>
          </a:bodyPr>
          <a:lstStyle/>
          <a:p>
            <a:pPr algn="r"/>
            <a:r>
              <a:rPr sz="900" b="0" i="0">
                <a:solidFill>
                  <a:srgbClr val="595959"/>
                </a:solidFill>
                <a:latin typeface="Arial"/>
              </a:rPr>
              <a:t>www.itu.int</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Sources</a:t>
            </a:r>
          </a:p>
        </p:txBody>
      </p:sp>
      <p:sp>
        <p:nvSpPr>
          <p:cNvPr id="4" name="TextBox 3"/>
          <p:cNvSpPr txBox="1"/>
          <p:nvPr/>
        </p:nvSpPr>
        <p:spPr>
          <a:xfrm>
            <a:off x="658368" y="1554480"/>
            <a:ext cx="10789920" cy="3840480"/>
          </a:xfrm>
          <a:prstGeom prst="rect">
            <a:avLst/>
          </a:prstGeom>
          <a:noFill/>
        </p:spPr>
        <p:txBody>
          <a:bodyPr wrap="square">
            <a:spAutoFit/>
          </a:bodyPr>
          <a:lstStyle/>
          <a:p>
            <a:pPr>
              <a:spcAft>
                <a:spcPts val="1200"/>
              </a:spcAft>
            </a:pPr>
            <a:r>
              <a:rPr sz="1700" b="0" i="0">
                <a:solidFill>
                  <a:srgbClr val="1A1A1A"/>
                </a:solidFill>
                <a:latin typeface="Arial"/>
              </a:rPr>
              <a:t>•  PAERA v1.0 — §4.2.1 (Management)</a:t>
            </a:r>
          </a:p>
          <a:p>
            <a:pPr>
              <a:spcAft>
                <a:spcPts val="1200"/>
              </a:spcAft>
            </a:pPr>
            <a:r>
              <a:rPr sz="1700" b="0" i="0">
                <a:solidFill>
                  <a:srgbClr val="1A1A1A"/>
                </a:solidFill>
                <a:latin typeface="Arial"/>
              </a:rPr>
              <a:t>•  PAERA v1.0 — §3.1 (Governance &amp; Policy)</a:t>
            </a:r>
          </a:p>
          <a:p>
            <a:pPr>
              <a:spcAft>
                <a:spcPts val="1200"/>
              </a:spcAft>
            </a:pPr>
            <a:r>
              <a:rPr sz="1700" b="0" i="0">
                <a:solidFill>
                  <a:srgbClr val="1A1A1A"/>
                </a:solidFill>
                <a:latin typeface="Arial"/>
              </a:rPr>
              <a:t>•  PAERA v1.0 — §5.4 (Organisational Assessment &amp; Roadmap)</a:t>
            </a:r>
          </a:p>
        </p:txBody>
      </p:sp>
      <p:sp>
        <p:nvSpPr>
          <p:cNvPr id="5" name="TextBox 4"/>
          <p:cNvSpPr txBox="1"/>
          <p:nvPr/>
        </p:nvSpPr>
        <p:spPr>
          <a:xfrm>
            <a:off x="658368" y="5806440"/>
            <a:ext cx="10789920" cy="457200"/>
          </a:xfrm>
          <a:prstGeom prst="rect">
            <a:avLst/>
          </a:prstGeom>
          <a:noFill/>
        </p:spPr>
        <p:txBody>
          <a:bodyPr wrap="square">
            <a:spAutoFit/>
          </a:bodyPr>
          <a:lstStyle/>
          <a:p>
            <a:r>
              <a:rPr sz="1400" b="1" i="0">
                <a:solidFill>
                  <a:srgbClr val="006E96"/>
                </a:solidFill>
                <a:latin typeface="Arial"/>
              </a:rPr>
              <a:t>Find the link in the description.</a:t>
            </a:r>
          </a:p>
        </p:txBody>
      </p:sp>
      <p:sp>
        <p:nvSpPr>
          <p:cNvPr id="6" name="TextBox 5"/>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3.4 · Stand up an EA Board that can actually say no</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22960" y="822960"/>
            <a:ext cx="7315200" cy="457200"/>
          </a:xfrm>
          <a:prstGeom prst="rect">
            <a:avLst/>
          </a:prstGeom>
          <a:noFill/>
        </p:spPr>
        <p:txBody>
          <a:bodyPr wrap="square">
            <a:spAutoFit/>
          </a:bodyPr>
          <a:lstStyle/>
          <a:p>
            <a:r>
              <a:rPr sz="1200" b="1" i="0">
                <a:solidFill>
                  <a:srgbClr val="595959"/>
                </a:solidFill>
                <a:latin typeface="Arial"/>
              </a:rPr>
              <a:t>MODULE 3 · VIDEO 3.5</a:t>
            </a:r>
          </a:p>
        </p:txBody>
      </p:sp>
      <p:sp>
        <p:nvSpPr>
          <p:cNvPr id="3" name="TextBox 2"/>
          <p:cNvSpPr txBox="1"/>
          <p:nvPr/>
        </p:nvSpPr>
        <p:spPr>
          <a:xfrm>
            <a:off x="822960" y="1828800"/>
            <a:ext cx="2011680" cy="1097280"/>
          </a:xfrm>
          <a:prstGeom prst="rect">
            <a:avLst/>
          </a:prstGeom>
          <a:noFill/>
        </p:spPr>
        <p:txBody>
          <a:bodyPr wrap="square">
            <a:spAutoFit/>
          </a:bodyPr>
          <a:lstStyle/>
          <a:p>
            <a:r>
              <a:rPr sz="6000" b="1" i="0">
                <a:solidFill>
                  <a:srgbClr val="009CD6"/>
                </a:solidFill>
                <a:latin typeface="Arial"/>
              </a:rPr>
              <a:t>3.5</a:t>
            </a:r>
          </a:p>
        </p:txBody>
      </p:sp>
      <p:sp>
        <p:nvSpPr>
          <p:cNvPr id="4" name="TextBox 3"/>
          <p:cNvSpPr txBox="1"/>
          <p:nvPr/>
        </p:nvSpPr>
        <p:spPr>
          <a:xfrm>
            <a:off x="822960" y="2880360"/>
            <a:ext cx="9601200" cy="1371600"/>
          </a:xfrm>
          <a:prstGeom prst="rect">
            <a:avLst/>
          </a:prstGeom>
          <a:noFill/>
        </p:spPr>
        <p:txBody>
          <a:bodyPr wrap="square">
            <a:spAutoFit/>
          </a:bodyPr>
          <a:lstStyle/>
          <a:p>
            <a:r>
              <a:rPr sz="3400" b="1" i="0">
                <a:solidFill>
                  <a:srgbClr val="1A1A1A"/>
                </a:solidFill>
                <a:latin typeface="Arial"/>
              </a:rPr>
              <a:t>Review projects against the architecture</a:t>
            </a:r>
          </a:p>
        </p:txBody>
      </p:sp>
      <p:sp>
        <p:nvSpPr>
          <p:cNvPr id="5" name="TextBox 4"/>
          <p:cNvSpPr txBox="1"/>
          <p:nvPr/>
        </p:nvSpPr>
        <p:spPr>
          <a:xfrm>
            <a:off x="822960" y="4343400"/>
            <a:ext cx="9875520" cy="1554480"/>
          </a:xfrm>
          <a:prstGeom prst="rect">
            <a:avLst/>
          </a:prstGeom>
          <a:noFill/>
        </p:spPr>
        <p:txBody>
          <a:bodyPr wrap="square">
            <a:spAutoFit/>
          </a:bodyPr>
          <a:lstStyle/>
          <a:p>
            <a:r>
              <a:rPr sz="1700" b="0" i="1">
                <a:solidFill>
                  <a:srgbClr val="595959"/>
                </a:solidFill>
                <a:latin typeface="Arial"/>
              </a:rPr>
              <a:t>The architecture review gate — a short, consistent set of questions every project passes through before funding — is what turns principles and re-use from good intentions into the actual path of least resistance.</a:t>
            </a:r>
          </a:p>
        </p:txBody>
      </p:sp>
      <p:sp>
        <p:nvSpPr>
          <p:cNvPr id="6" name="TextBox 5"/>
          <p:cNvSpPr txBox="1"/>
          <p:nvPr/>
        </p:nvSpPr>
        <p:spPr>
          <a:xfrm>
            <a:off x="822960" y="5989320"/>
            <a:ext cx="7315200" cy="365760"/>
          </a:xfrm>
          <a:prstGeom prst="rect">
            <a:avLst/>
          </a:prstGeom>
          <a:noFill/>
        </p:spPr>
        <p:txBody>
          <a:bodyPr wrap="square">
            <a:spAutoFit/>
          </a:bodyPr>
          <a:lstStyle/>
          <a:p>
            <a:r>
              <a:rPr sz="1200" b="0" i="0">
                <a:solidFill>
                  <a:srgbClr val="595959"/>
                </a:solidFill>
                <a:latin typeface="Arial"/>
              </a:rPr>
              <a:t>standalone video · voice-over on text slides</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005840" y="1325880"/>
            <a:ext cx="5486400" cy="365760"/>
          </a:xfrm>
          <a:prstGeom prst="rect">
            <a:avLst/>
          </a:prstGeom>
          <a:noFill/>
        </p:spPr>
        <p:txBody>
          <a:bodyPr wrap="square">
            <a:spAutoFit/>
          </a:bodyPr>
          <a:lstStyle/>
          <a:p>
            <a:r>
              <a:rPr sz="1200" b="1" i="0">
                <a:solidFill>
                  <a:srgbClr val="006E96"/>
                </a:solidFill>
                <a:latin typeface="Arial"/>
              </a:rPr>
              <a:t>WHERE WE START</a:t>
            </a:r>
          </a:p>
        </p:txBody>
      </p:sp>
      <p:sp>
        <p:nvSpPr>
          <p:cNvPr id="3" name="TextBox 2"/>
          <p:cNvSpPr txBox="1"/>
          <p:nvPr/>
        </p:nvSpPr>
        <p:spPr>
          <a:xfrm>
            <a:off x="1005840" y="1783080"/>
            <a:ext cx="10149840" cy="1737360"/>
          </a:xfrm>
          <a:prstGeom prst="rect">
            <a:avLst/>
          </a:prstGeom>
          <a:noFill/>
        </p:spPr>
        <p:txBody>
          <a:bodyPr wrap="square">
            <a:spAutoFit/>
          </a:bodyPr>
          <a:lstStyle/>
          <a:p>
            <a:r>
              <a:rPr sz="3000" b="1" i="0">
                <a:solidFill>
                  <a:srgbClr val="1A1A1A"/>
                </a:solidFill>
                <a:latin typeface="Arial"/>
              </a:rPr>
              <a:t>A Board with authority needs something to do with it.</a:t>
            </a:r>
          </a:p>
        </p:txBody>
      </p:sp>
      <p:sp>
        <p:nvSpPr>
          <p:cNvPr id="4" name="TextBox 3"/>
          <p:cNvSpPr txBox="1"/>
          <p:nvPr/>
        </p:nvSpPr>
        <p:spPr>
          <a:xfrm>
            <a:off x="1005840" y="3611880"/>
            <a:ext cx="10149840" cy="2377440"/>
          </a:xfrm>
          <a:prstGeom prst="rect">
            <a:avLst/>
          </a:prstGeom>
          <a:noFill/>
        </p:spPr>
        <p:txBody>
          <a:bodyPr wrap="square">
            <a:spAutoFit/>
          </a:bodyPr>
          <a:lstStyle/>
          <a:p>
            <a:pPr>
              <a:spcAft>
                <a:spcPts val="800"/>
              </a:spcAft>
            </a:pPr>
            <a:r>
              <a:rPr sz="1700" b="0" i="0">
                <a:solidFill>
                  <a:srgbClr val="595959"/>
                </a:solidFill>
                <a:latin typeface="Arial"/>
              </a:rPr>
              <a:t>The architecture review gate: every significant new project passes a short, consistent set of questions before it gets funded.</a:t>
            </a:r>
          </a:p>
          <a:p>
            <a:pPr>
              <a:spcAft>
                <a:spcPts val="800"/>
              </a:spcAft>
            </a:pPr>
            <a:r>
              <a:rPr sz="1700" b="0" i="0">
                <a:solidFill>
                  <a:srgbClr val="595959"/>
                </a:solidFill>
                <a:latin typeface="Arial"/>
              </a:rPr>
              <a:t>This is where the architecture does its real work.</a:t>
            </a:r>
          </a:p>
        </p:txBody>
      </p:sp>
      <p:sp>
        <p:nvSpPr>
          <p:cNvPr id="5" name="TextBox 4"/>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3.5 · Review projects against the architecture</a:t>
            </a:r>
          </a:p>
        </p:txBody>
      </p:sp>
      <p:sp>
        <p:nvSpPr>
          <p:cNvPr id="6" name="TextBox 5"/>
          <p:cNvSpPr txBox="1"/>
          <p:nvPr/>
        </p:nvSpPr>
        <p:spPr>
          <a:xfrm>
            <a:off x="10058400" y="6473952"/>
            <a:ext cx="1673352" cy="292608"/>
          </a:xfrm>
          <a:prstGeom prst="rect">
            <a:avLst/>
          </a:prstGeom>
          <a:noFill/>
        </p:spPr>
        <p:txBody>
          <a:bodyPr wrap="square">
            <a:spAutoFit/>
          </a:bodyPr>
          <a:lstStyle/>
          <a:p>
            <a:pPr algn="r"/>
            <a:r>
              <a:rPr sz="900" b="0" i="0">
                <a:solidFill>
                  <a:srgbClr val="595959"/>
                </a:solidFill>
                <a:latin typeface="Arial"/>
              </a:rPr>
              <a:t>www.itu.int</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Five questions, asked of every project, the same way every time</a:t>
            </a:r>
          </a:p>
        </p:txBody>
      </p:sp>
      <p:sp>
        <p:nvSpPr>
          <p:cNvPr id="4" name="Rounded Rectangle 3"/>
          <p:cNvSpPr/>
          <p:nvPr/>
        </p:nvSpPr>
        <p:spPr>
          <a:xfrm>
            <a:off x="658368" y="2926080"/>
            <a:ext cx="1600200" cy="1280160"/>
          </a:xfrm>
          <a:prstGeom prst="roundRect">
            <a:avLst>
              <a:gd name="adj" fmla="val 8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lIns="128016" rIns="128016" tIns="91440" bIns="54864" wrap="square"/>
          <a:lstStyle/>
          <a:p>
            <a:pPr algn="l">
              <a:spcAft>
                <a:spcPts val="300"/>
              </a:spcAft>
            </a:pPr>
            <a:r>
              <a:rPr sz="1300" b="1" i="0">
                <a:solidFill>
                  <a:srgbClr val="006E96"/>
                </a:solidFill>
                <a:latin typeface="Arial"/>
              </a:rPr>
              <a:t>A project proposal</a:t>
            </a:r>
          </a:p>
          <a:p>
            <a:pPr algn="l">
              <a:spcAft>
                <a:spcPts val="300"/>
              </a:spcAft>
            </a:pPr>
            <a:r>
              <a:rPr sz="1250" b="0" i="0">
                <a:solidFill>
                  <a:srgbClr val="1A1A1A"/>
                </a:solidFill>
                <a:latin typeface="Arial"/>
              </a:rPr>
              <a:t>before funding</a:t>
            </a:r>
          </a:p>
        </p:txBody>
      </p:sp>
      <p:sp>
        <p:nvSpPr>
          <p:cNvPr id="5" name="Rounded Rectangle 4"/>
          <p:cNvSpPr/>
          <p:nvPr/>
        </p:nvSpPr>
        <p:spPr>
          <a:xfrm>
            <a:off x="2697480" y="1600200"/>
            <a:ext cx="4160520" cy="3931920"/>
          </a:xfrm>
          <a:prstGeom prst="roundRect">
            <a:avLst>
              <a:gd name="adj" fmla="val 50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2880360" y="1691640"/>
            <a:ext cx="3794759" cy="320040"/>
          </a:xfrm>
          <a:prstGeom prst="rect">
            <a:avLst/>
          </a:prstGeom>
          <a:noFill/>
        </p:spPr>
        <p:txBody>
          <a:bodyPr wrap="square">
            <a:spAutoFit/>
          </a:bodyPr>
          <a:lstStyle/>
          <a:p>
            <a:r>
              <a:rPr sz="1050" b="1" i="0">
                <a:solidFill>
                  <a:srgbClr val="006E96"/>
                </a:solidFill>
                <a:latin typeface="Arial"/>
              </a:rPr>
              <a:t>THE GATE — THE SAME QUESTIONS, EVERY TIME</a:t>
            </a:r>
          </a:p>
        </p:txBody>
      </p:sp>
      <p:sp>
        <p:nvSpPr>
          <p:cNvPr id="7" name="Oval 6"/>
          <p:cNvSpPr/>
          <p:nvPr/>
        </p:nvSpPr>
        <p:spPr>
          <a:xfrm>
            <a:off x="2880360" y="2139696"/>
            <a:ext cx="274320" cy="274320"/>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1</a:t>
            </a:r>
          </a:p>
        </p:txBody>
      </p:sp>
      <p:sp>
        <p:nvSpPr>
          <p:cNvPr id="8" name="TextBox 7"/>
          <p:cNvSpPr txBox="1"/>
          <p:nvPr/>
        </p:nvSpPr>
        <p:spPr>
          <a:xfrm>
            <a:off x="3246120" y="2084831"/>
            <a:ext cx="3474720" cy="667512"/>
          </a:xfrm>
          <a:prstGeom prst="rect">
            <a:avLst/>
          </a:prstGeom>
          <a:noFill/>
        </p:spPr>
        <p:txBody>
          <a:bodyPr wrap="square">
            <a:spAutoFit/>
          </a:bodyPr>
          <a:lstStyle/>
          <a:p>
            <a:r>
              <a:rPr sz="1250" b="0" i="0">
                <a:solidFill>
                  <a:srgbClr val="1A1A1A"/>
                </a:solidFill>
                <a:latin typeface="Arial"/>
              </a:rPr>
              <a:t>Does a shared building block already exist for this?</a:t>
            </a:r>
          </a:p>
        </p:txBody>
      </p:sp>
      <p:sp>
        <p:nvSpPr>
          <p:cNvPr id="9" name="Oval 8"/>
          <p:cNvSpPr/>
          <p:nvPr/>
        </p:nvSpPr>
        <p:spPr>
          <a:xfrm>
            <a:off x="2880360" y="2807208"/>
            <a:ext cx="274320" cy="274320"/>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2</a:t>
            </a:r>
          </a:p>
        </p:txBody>
      </p:sp>
      <p:sp>
        <p:nvSpPr>
          <p:cNvPr id="10" name="TextBox 9"/>
          <p:cNvSpPr txBox="1"/>
          <p:nvPr/>
        </p:nvSpPr>
        <p:spPr>
          <a:xfrm>
            <a:off x="3246120" y="2752344"/>
            <a:ext cx="3474720" cy="667512"/>
          </a:xfrm>
          <a:prstGeom prst="rect">
            <a:avLst/>
          </a:prstGeom>
          <a:noFill/>
        </p:spPr>
        <p:txBody>
          <a:bodyPr wrap="square">
            <a:spAutoFit/>
          </a:bodyPr>
          <a:lstStyle/>
          <a:p>
            <a:r>
              <a:rPr sz="1250" b="0" i="0">
                <a:solidFill>
                  <a:srgbClr val="1A1A1A"/>
                </a:solidFill>
                <a:latin typeface="Arial"/>
              </a:rPr>
              <a:t>What data domains do you touch — and do you consume the owner’s copy?</a:t>
            </a:r>
          </a:p>
        </p:txBody>
      </p:sp>
      <p:sp>
        <p:nvSpPr>
          <p:cNvPr id="11" name="Oval 10"/>
          <p:cNvSpPr/>
          <p:nvPr/>
        </p:nvSpPr>
        <p:spPr>
          <a:xfrm>
            <a:off x="2880360" y="3474720"/>
            <a:ext cx="274320" cy="274320"/>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3</a:t>
            </a:r>
          </a:p>
        </p:txBody>
      </p:sp>
      <p:sp>
        <p:nvSpPr>
          <p:cNvPr id="12" name="TextBox 11"/>
          <p:cNvSpPr txBox="1"/>
          <p:nvPr/>
        </p:nvSpPr>
        <p:spPr>
          <a:xfrm>
            <a:off x="3246120" y="3419856"/>
            <a:ext cx="3474720" cy="667512"/>
          </a:xfrm>
          <a:prstGeom prst="rect">
            <a:avLst/>
          </a:prstGeom>
          <a:noFill/>
        </p:spPr>
        <p:txBody>
          <a:bodyPr wrap="square">
            <a:spAutoFit/>
          </a:bodyPr>
          <a:lstStyle/>
          <a:p>
            <a:r>
              <a:rPr sz="1250" b="0" i="0">
                <a:solidFill>
                  <a:srgbClr val="1A1A1A"/>
                </a:solidFill>
                <a:latin typeface="Arial"/>
              </a:rPr>
              <a:t>Do you meet the architecture principles — security by design, once-only, the rest?</a:t>
            </a:r>
          </a:p>
        </p:txBody>
      </p:sp>
      <p:sp>
        <p:nvSpPr>
          <p:cNvPr id="13" name="Oval 12"/>
          <p:cNvSpPr/>
          <p:nvPr/>
        </p:nvSpPr>
        <p:spPr>
          <a:xfrm>
            <a:off x="2880360" y="4142232"/>
            <a:ext cx="274320" cy="274320"/>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4</a:t>
            </a:r>
          </a:p>
        </p:txBody>
      </p:sp>
      <p:sp>
        <p:nvSpPr>
          <p:cNvPr id="14" name="TextBox 13"/>
          <p:cNvSpPr txBox="1"/>
          <p:nvPr/>
        </p:nvSpPr>
        <p:spPr>
          <a:xfrm>
            <a:off x="3246120" y="4087368"/>
            <a:ext cx="3474720" cy="667512"/>
          </a:xfrm>
          <a:prstGeom prst="rect">
            <a:avLst/>
          </a:prstGeom>
          <a:noFill/>
        </p:spPr>
        <p:txBody>
          <a:bodyPr wrap="square">
            <a:spAutoFit/>
          </a:bodyPr>
          <a:lstStyle/>
          <a:p>
            <a:r>
              <a:rPr sz="1250" b="0" i="0">
                <a:solidFill>
                  <a:srgbClr val="1A1A1A"/>
                </a:solidFill>
                <a:latin typeface="Arial"/>
              </a:rPr>
              <a:t>Is your sourcing choice deliberate — build, buy, share, sandbox?</a:t>
            </a:r>
          </a:p>
        </p:txBody>
      </p:sp>
      <p:sp>
        <p:nvSpPr>
          <p:cNvPr id="15" name="Oval 14"/>
          <p:cNvSpPr/>
          <p:nvPr/>
        </p:nvSpPr>
        <p:spPr>
          <a:xfrm>
            <a:off x="2880360" y="4809744"/>
            <a:ext cx="274320" cy="274320"/>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5</a:t>
            </a:r>
          </a:p>
        </p:txBody>
      </p:sp>
      <p:sp>
        <p:nvSpPr>
          <p:cNvPr id="16" name="TextBox 15"/>
          <p:cNvSpPr txBox="1"/>
          <p:nvPr/>
        </p:nvSpPr>
        <p:spPr>
          <a:xfrm>
            <a:off x="3246120" y="4754880"/>
            <a:ext cx="3474720" cy="667512"/>
          </a:xfrm>
          <a:prstGeom prst="rect">
            <a:avLst/>
          </a:prstGeom>
          <a:noFill/>
        </p:spPr>
        <p:txBody>
          <a:bodyPr wrap="square">
            <a:spAutoFit/>
          </a:bodyPr>
          <a:lstStyle/>
          <a:p>
            <a:r>
              <a:rPr sz="1250" b="0" i="0">
                <a:solidFill>
                  <a:srgbClr val="1A1A1A"/>
                </a:solidFill>
                <a:latin typeface="Arial"/>
              </a:rPr>
              <a:t>Can you export your data in an open format?</a:t>
            </a:r>
          </a:p>
        </p:txBody>
      </p:sp>
      <p:cxnSp>
        <p:nvCxnSpPr>
          <p:cNvPr id="17" name="Connector 16"/>
          <p:cNvCxnSpPr/>
          <p:nvPr/>
        </p:nvCxnSpPr>
        <p:spPr>
          <a:xfrm>
            <a:off x="2258568" y="3566160"/>
            <a:ext cx="438912" cy="0"/>
          </a:xfrm>
          <a:prstGeom prst="line">
            <a:avLst/>
          </a:prstGeom>
          <a:ln w="19050">
            <a:solidFill>
              <a:srgbClr val="006E96"/>
            </a:solidFill>
            <a:tailEnd type="triangle" w="med" len="med"/>
          </a:ln>
        </p:spPr>
        <p:style>
          <a:lnRef idx="2">
            <a:schemeClr val="accent1"/>
          </a:lnRef>
          <a:fillRef idx="0">
            <a:schemeClr val="accent1"/>
          </a:fillRef>
          <a:effectRef idx="1">
            <a:schemeClr val="accent1"/>
          </a:effectRef>
          <a:fontRef idx="minor">
            <a:schemeClr val="tx1"/>
          </a:fontRef>
        </p:style>
      </p:cxnSp>
      <p:sp>
        <p:nvSpPr>
          <p:cNvPr id="18" name="Diamond 17"/>
          <p:cNvSpPr/>
          <p:nvPr/>
        </p:nvSpPr>
        <p:spPr>
          <a:xfrm>
            <a:off x="7223760" y="2880360"/>
            <a:ext cx="1234440" cy="1371600"/>
          </a:xfrm>
          <a:prstGeom prst="diamond">
            <a:avLst/>
          </a:prstGeom>
          <a:solidFill>
            <a:srgbClr val="006E9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wrap="square"/>
          <a:lstStyle/>
          <a:p>
            <a:pPr algn="ctr"/>
            <a:r>
              <a:rPr sz="1100" b="1" i="0">
                <a:solidFill>
                  <a:srgbClr val="FFFFFF"/>
                </a:solidFill>
                <a:latin typeface="Arial"/>
              </a:rPr>
              <a:t>The Board</a:t>
            </a:r>
          </a:p>
          <a:p>
            <a:pPr algn="ctr"/>
            <a:r>
              <a:rPr sz="1100" b="1" i="0">
                <a:solidFill>
                  <a:srgbClr val="FFFFFF"/>
                </a:solidFill>
                <a:latin typeface="Arial"/>
              </a:rPr>
              <a:t>rules</a:t>
            </a:r>
          </a:p>
        </p:txBody>
      </p:sp>
      <p:cxnSp>
        <p:nvCxnSpPr>
          <p:cNvPr id="19" name="Connector 18"/>
          <p:cNvCxnSpPr/>
          <p:nvPr/>
        </p:nvCxnSpPr>
        <p:spPr>
          <a:xfrm>
            <a:off x="6858000" y="3566160"/>
            <a:ext cx="365760" cy="0"/>
          </a:xfrm>
          <a:prstGeom prst="line">
            <a:avLst/>
          </a:prstGeom>
          <a:ln w="19050">
            <a:solidFill>
              <a:srgbClr val="006E96"/>
            </a:solidFill>
            <a:tailEnd type="triangle" w="med" len="med"/>
          </a:ln>
        </p:spPr>
        <p:style>
          <a:lnRef idx="2">
            <a:schemeClr val="accent1"/>
          </a:lnRef>
          <a:fillRef idx="0">
            <a:schemeClr val="accent1"/>
          </a:fillRef>
          <a:effectRef idx="1">
            <a:schemeClr val="accent1"/>
          </a:effectRef>
          <a:fontRef idx="minor">
            <a:schemeClr val="tx1"/>
          </a:fontRef>
        </p:style>
      </p:cxnSp>
      <p:sp>
        <p:nvSpPr>
          <p:cNvPr id="20" name="Rounded Rectangle 19"/>
          <p:cNvSpPr/>
          <p:nvPr/>
        </p:nvSpPr>
        <p:spPr>
          <a:xfrm>
            <a:off x="8778240" y="1737360"/>
            <a:ext cx="1417320" cy="1325880"/>
          </a:xfrm>
          <a:prstGeom prst="roundRect">
            <a:avLst>
              <a:gd name="adj" fmla="val 80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t" lIns="128016" rIns="128016" tIns="91440" bIns="54864" wrap="square"/>
          <a:lstStyle/>
          <a:p>
            <a:pPr algn="l">
              <a:spcAft>
                <a:spcPts val="300"/>
              </a:spcAft>
            </a:pPr>
            <a:r>
              <a:rPr sz="1200" b="1" i="0">
                <a:solidFill>
                  <a:srgbClr val="006E96"/>
                </a:solidFill>
                <a:latin typeface="Arial"/>
              </a:rPr>
              <a:t>PASS</a:t>
            </a:r>
          </a:p>
          <a:p>
            <a:pPr algn="l">
              <a:spcAft>
                <a:spcPts val="300"/>
              </a:spcAft>
            </a:pPr>
            <a:r>
              <a:rPr sz="1100" b="0" i="0">
                <a:solidFill>
                  <a:srgbClr val="1A1A1A"/>
                </a:solidFill>
                <a:latin typeface="Arial"/>
              </a:rPr>
              <a:t>Funded — consume the shared blocks</a:t>
            </a:r>
          </a:p>
        </p:txBody>
      </p:sp>
      <p:sp>
        <p:nvSpPr>
          <p:cNvPr id="21" name="Rounded Rectangle 20"/>
          <p:cNvSpPr/>
          <p:nvPr/>
        </p:nvSpPr>
        <p:spPr>
          <a:xfrm>
            <a:off x="8778240" y="4069079"/>
            <a:ext cx="1417320" cy="1325880"/>
          </a:xfrm>
          <a:prstGeom prst="roundRect">
            <a:avLst>
              <a:gd name="adj" fmla="val 8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t" lIns="128016" rIns="128016" tIns="91440" bIns="54864" wrap="square"/>
          <a:lstStyle/>
          <a:p>
            <a:pPr algn="l">
              <a:spcAft>
                <a:spcPts val="300"/>
              </a:spcAft>
            </a:pPr>
            <a:r>
              <a:rPr sz="1200" b="1" i="0">
                <a:solidFill>
                  <a:srgbClr val="006E96"/>
                </a:solidFill>
                <a:latin typeface="Arial"/>
              </a:rPr>
              <a:t>EXCEPTION</a:t>
            </a:r>
          </a:p>
          <a:p>
            <a:pPr algn="l">
              <a:spcAft>
                <a:spcPts val="300"/>
              </a:spcAft>
            </a:pPr>
            <a:r>
              <a:rPr sz="1100" b="0" i="0">
                <a:solidFill>
                  <a:srgbClr val="1A1A1A"/>
                </a:solidFill>
                <a:latin typeface="Arial"/>
              </a:rPr>
              <a:t>Granted in writing, with an expiry date and a reason</a:t>
            </a:r>
          </a:p>
        </p:txBody>
      </p:sp>
      <p:cxnSp>
        <p:nvCxnSpPr>
          <p:cNvPr id="22" name="Connector 21"/>
          <p:cNvCxnSpPr/>
          <p:nvPr/>
        </p:nvCxnSpPr>
        <p:spPr>
          <a:xfrm flipV="1">
            <a:off x="8458200" y="2400300"/>
            <a:ext cx="320040" cy="1165860"/>
          </a:xfrm>
          <a:prstGeom prst="line">
            <a:avLst/>
          </a:prstGeom>
          <a:ln w="19050">
            <a:solidFill>
              <a:srgbClr val="006E96"/>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8458200" y="3566160"/>
            <a:ext cx="320040" cy="1165860"/>
          </a:xfrm>
          <a:prstGeom prst="line">
            <a:avLst/>
          </a:prstGeom>
          <a:ln w="19050">
            <a:solidFill>
              <a:srgbClr val="006E96"/>
            </a:solidFill>
            <a:tailEnd type="triangle" w="med" len="med"/>
          </a:ln>
        </p:spPr>
        <p:style>
          <a:lnRef idx="2">
            <a:schemeClr val="accent1"/>
          </a:lnRef>
          <a:fillRef idx="0">
            <a:schemeClr val="accent1"/>
          </a:fillRef>
          <a:effectRef idx="1">
            <a:schemeClr val="accent1"/>
          </a:effectRef>
          <a:fontRef idx="minor">
            <a:schemeClr val="tx1"/>
          </a:fontRef>
        </p:style>
      </p:cxnSp>
      <p:sp>
        <p:nvSpPr>
          <p:cNvPr id="24" name="Rounded Rectangle 23"/>
          <p:cNvSpPr/>
          <p:nvPr/>
        </p:nvSpPr>
        <p:spPr>
          <a:xfrm>
            <a:off x="10469880" y="2560320"/>
            <a:ext cx="1069848" cy="2011680"/>
          </a:xfrm>
          <a:prstGeom prst="roundRect">
            <a:avLst>
              <a:gd name="adj" fmla="val 8000"/>
            </a:avLst>
          </a:prstGeom>
          <a:solidFill>
            <a:srgbClr val="006E96"/>
          </a:solidFill>
          <a:ln>
            <a:noFill/>
          </a:ln>
          <a:effectLst/>
        </p:spPr>
        <p:style>
          <a:lnRef idx="1">
            <a:schemeClr val="accent1"/>
          </a:lnRef>
          <a:fillRef idx="3">
            <a:schemeClr val="accent1"/>
          </a:fillRef>
          <a:effectRef idx="2">
            <a:schemeClr val="accent1"/>
          </a:effectRef>
          <a:fontRef idx="minor">
            <a:schemeClr val="lt1"/>
          </a:fontRef>
        </p:style>
        <p:txBody>
          <a:bodyPr rtlCol="0" anchor="t" lIns="128016" rIns="128016" tIns="91440" bIns="54864" wrap="square"/>
          <a:lstStyle/>
          <a:p>
            <a:pPr algn="l">
              <a:spcAft>
                <a:spcPts val="300"/>
              </a:spcAft>
            </a:pPr>
            <a:r>
              <a:rPr sz="1100" b="1" i="0">
                <a:solidFill>
                  <a:srgbClr val="FFFFFF"/>
                </a:solidFill>
                <a:latin typeface="Arial"/>
              </a:rPr>
              <a:t>DECISION LOG</a:t>
            </a:r>
          </a:p>
          <a:p>
            <a:pPr algn="l">
              <a:spcAft>
                <a:spcPts val="300"/>
              </a:spcAft>
            </a:pPr>
            <a:r>
              <a:rPr sz="1050" b="0" i="0">
                <a:solidFill>
                  <a:srgbClr val="FFFFFF"/>
                </a:solidFill>
                <a:latin typeface="Arial"/>
              </a:rPr>
              <a:t>Every ruling and every exception, with its reason — into the repository</a:t>
            </a:r>
          </a:p>
        </p:txBody>
      </p:sp>
      <p:cxnSp>
        <p:nvCxnSpPr>
          <p:cNvPr id="25" name="Connector 24"/>
          <p:cNvCxnSpPr/>
          <p:nvPr/>
        </p:nvCxnSpPr>
        <p:spPr>
          <a:xfrm>
            <a:off x="10195560" y="2400300"/>
            <a:ext cx="274320" cy="800100"/>
          </a:xfrm>
          <a:prstGeom prst="line">
            <a:avLst/>
          </a:prstGeom>
          <a:ln w="19050">
            <a:solidFill>
              <a:srgbClr val="006E96"/>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flipV="1">
            <a:off x="10195560" y="3931920"/>
            <a:ext cx="274320" cy="800100"/>
          </a:xfrm>
          <a:prstGeom prst="line">
            <a:avLst/>
          </a:prstGeom>
          <a:ln w="19050">
            <a:solidFill>
              <a:srgbClr val="006E96"/>
            </a:solidFill>
            <a:tailEnd type="triangle" w="med" len="med"/>
          </a:ln>
        </p:spPr>
        <p:style>
          <a:lnRef idx="2">
            <a:schemeClr val="accent1"/>
          </a:lnRef>
          <a:fillRef idx="0">
            <a:schemeClr val="accent1"/>
          </a:fillRef>
          <a:effectRef idx="1">
            <a:schemeClr val="accent1"/>
          </a:effectRef>
          <a:fontRef idx="minor">
            <a:schemeClr val="tx1"/>
          </a:fontRef>
        </p:style>
      </p:cxnSp>
      <p:sp>
        <p:nvSpPr>
          <p:cNvPr id="27" name="TextBox 26"/>
          <p:cNvSpPr txBox="1"/>
          <p:nvPr/>
        </p:nvSpPr>
        <p:spPr>
          <a:xfrm>
            <a:off x="658368" y="5760720"/>
            <a:ext cx="10881360" cy="548640"/>
          </a:xfrm>
          <a:prstGeom prst="rect">
            <a:avLst/>
          </a:prstGeom>
          <a:noFill/>
        </p:spPr>
        <p:txBody>
          <a:bodyPr wrap="square">
            <a:spAutoFit/>
          </a:bodyPr>
          <a:lstStyle/>
          <a:p>
            <a:r>
              <a:rPr sz="1550" b="1" i="0">
                <a:solidFill>
                  <a:srgbClr val="006E96"/>
                </a:solidFill>
                <a:latin typeface="Arial"/>
              </a:rPr>
              <a:t>Consistency is what makes the gate fair and predictable — so projects prepare for it rather than resent it.</a:t>
            </a:r>
          </a:p>
        </p:txBody>
      </p:sp>
      <p:sp>
        <p:nvSpPr>
          <p:cNvPr id="28" name="TextBox 27"/>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3.5 · Review projects against the architecture</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The gate is where the whole-of-government view meets the decision</a:t>
            </a:r>
          </a:p>
        </p:txBody>
      </p:sp>
      <p:sp>
        <p:nvSpPr>
          <p:cNvPr id="4" name="TextBox 3"/>
          <p:cNvSpPr txBox="1"/>
          <p:nvPr/>
        </p:nvSpPr>
        <p:spPr>
          <a:xfrm>
            <a:off x="658368" y="1600200"/>
            <a:ext cx="10881360" cy="2194560"/>
          </a:xfrm>
          <a:prstGeom prst="rect">
            <a:avLst/>
          </a:prstGeom>
          <a:noFill/>
        </p:spPr>
        <p:txBody>
          <a:bodyPr wrap="square">
            <a:spAutoFit/>
          </a:bodyPr>
          <a:lstStyle/>
          <a:p>
            <a:pPr>
              <a:spcAft>
                <a:spcPts val="1200"/>
              </a:spcAft>
            </a:pPr>
            <a:r>
              <a:rPr sz="2000" b="0" i="0">
                <a:solidFill>
                  <a:srgbClr val="1A1A1A"/>
                </a:solidFill>
                <a:latin typeface="Arial"/>
              </a:rPr>
              <a:t>Inside a project, building your own is faster than reusing, so projects fragment — and no procurement rule can change that. Only whole-of-government planning makes re-use rational.</a:t>
            </a:r>
          </a:p>
          <a:p>
            <a:pPr>
              <a:spcAft>
                <a:spcPts val="1200"/>
              </a:spcAft>
            </a:pPr>
            <a:r>
              <a:rPr sz="2000" b="0" i="0">
                <a:solidFill>
                  <a:srgbClr val="1A1A1A"/>
                </a:solidFill>
                <a:latin typeface="Arial"/>
              </a:rPr>
              <a:t>The gate is where that view meets the decision, while it can still be changed.</a:t>
            </a:r>
          </a:p>
        </p:txBody>
      </p:sp>
      <p:sp>
        <p:nvSpPr>
          <p:cNvPr id="5" name="Rounded Rectangle 4"/>
          <p:cNvSpPr/>
          <p:nvPr/>
        </p:nvSpPr>
        <p:spPr>
          <a:xfrm>
            <a:off x="658368" y="3977639"/>
            <a:ext cx="10881360" cy="1325880"/>
          </a:xfrm>
          <a:prstGeom prst="roundRect">
            <a:avLst>
              <a:gd name="adj" fmla="val 4500"/>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59536" y="4169663"/>
            <a:ext cx="10479024" cy="1051560"/>
          </a:xfrm>
          <a:prstGeom prst="rect">
            <a:avLst/>
          </a:prstGeom>
          <a:noFill/>
        </p:spPr>
        <p:txBody>
          <a:bodyPr wrap="square">
            <a:spAutoFit/>
          </a:bodyPr>
          <a:lstStyle/>
          <a:p>
            <a:pPr>
              <a:spcAft>
                <a:spcPts val="700"/>
              </a:spcAft>
            </a:pPr>
            <a:r>
              <a:rPr sz="2300" b="1" i="0">
                <a:solidFill>
                  <a:srgbClr val="FFFFFF"/>
                </a:solidFill>
                <a:latin typeface="Arial"/>
              </a:rPr>
              <a:t>When a project proposes to build what already exists as a shared block, the Board says: consume the shared one.</a:t>
            </a:r>
          </a:p>
        </p:txBody>
      </p:sp>
      <p:sp>
        <p:nvSpPr>
          <p:cNvPr id="7" name="TextBox 6"/>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3.5 · Review projects against the architecture</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An exception without an expiry quietly becomes the permanent normal</a:t>
            </a:r>
          </a:p>
        </p:txBody>
      </p:sp>
      <p:sp>
        <p:nvSpPr>
          <p:cNvPr id="4" name="TextBox 3"/>
          <p:cNvSpPr txBox="1"/>
          <p:nvPr/>
        </p:nvSpPr>
        <p:spPr>
          <a:xfrm>
            <a:off x="658368" y="1600200"/>
            <a:ext cx="10881360" cy="2651760"/>
          </a:xfrm>
          <a:prstGeom prst="rect">
            <a:avLst/>
          </a:prstGeom>
          <a:noFill/>
        </p:spPr>
        <p:txBody>
          <a:bodyPr wrap="square">
            <a:spAutoFit/>
          </a:bodyPr>
          <a:lstStyle/>
          <a:p>
            <a:pPr>
              <a:spcAft>
                <a:spcPts val="1200"/>
              </a:spcAft>
            </a:pPr>
            <a:r>
              <a:rPr sz="2000" b="0" i="0">
                <a:solidFill>
                  <a:srgbClr val="1A1A1A"/>
                </a:solidFill>
                <a:latin typeface="Arial"/>
              </a:rPr>
              <a:t>Sometimes the project is right — the shared identity platform genuinely cannot do what it needs yet. So the gate is not a wall. It grants exceptions.</a:t>
            </a:r>
          </a:p>
          <a:p>
            <a:pPr>
              <a:spcAft>
                <a:spcPts val="1200"/>
              </a:spcAft>
            </a:pPr>
            <a:r>
              <a:rPr sz="2000" b="0" i="0">
                <a:solidFill>
                  <a:srgbClr val="1A1A1A"/>
                </a:solidFill>
                <a:latin typeface="Arial"/>
              </a:rPr>
              <a:t>But every exception is written down, with its reason, and given a sunset — a date when it is revisited. Ten open-ended exceptions are the fragmentation you were trying to prevent.</a:t>
            </a:r>
          </a:p>
        </p:txBody>
      </p:sp>
      <p:sp>
        <p:nvSpPr>
          <p:cNvPr id="5" name="Rounded Rectangle 4"/>
          <p:cNvSpPr/>
          <p:nvPr/>
        </p:nvSpPr>
        <p:spPr>
          <a:xfrm>
            <a:off x="658368" y="4434840"/>
            <a:ext cx="10881360" cy="1325880"/>
          </a:xfrm>
          <a:prstGeom prst="roundRect">
            <a:avLst>
              <a:gd name="adj" fmla="val 45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59536" y="4626864"/>
            <a:ext cx="10479024" cy="1051560"/>
          </a:xfrm>
          <a:prstGeom prst="rect">
            <a:avLst/>
          </a:prstGeom>
          <a:noFill/>
        </p:spPr>
        <p:txBody>
          <a:bodyPr wrap="square">
            <a:spAutoFit/>
          </a:bodyPr>
          <a:lstStyle/>
          <a:p>
            <a:pPr>
              <a:spcAft>
                <a:spcPts val="700"/>
              </a:spcAft>
            </a:pPr>
            <a:r>
              <a:rPr sz="2300" b="1" i="0">
                <a:solidFill>
                  <a:srgbClr val="006E96"/>
                </a:solidFill>
                <a:latin typeface="Arial"/>
              </a:rPr>
              <a:t>Grant exceptions honestly, record them, make them temporary by default.</a:t>
            </a:r>
          </a:p>
        </p:txBody>
      </p:sp>
      <p:sp>
        <p:nvSpPr>
          <p:cNvPr id="7" name="TextBox 6"/>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3.5 · Review projects against the architecture</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The decision log is the architecture’s memory</a:t>
            </a:r>
          </a:p>
        </p:txBody>
      </p:sp>
      <p:sp>
        <p:nvSpPr>
          <p:cNvPr id="4" name="TextBox 3"/>
          <p:cNvSpPr txBox="1"/>
          <p:nvPr/>
        </p:nvSpPr>
        <p:spPr>
          <a:xfrm>
            <a:off x="658368" y="1600200"/>
            <a:ext cx="10881360" cy="2651760"/>
          </a:xfrm>
          <a:prstGeom prst="rect">
            <a:avLst/>
          </a:prstGeom>
          <a:noFill/>
        </p:spPr>
        <p:txBody>
          <a:bodyPr wrap="square">
            <a:spAutoFit/>
          </a:bodyPr>
          <a:lstStyle/>
          <a:p>
            <a:pPr>
              <a:spcAft>
                <a:spcPts val="1200"/>
              </a:spcAft>
            </a:pPr>
            <a:r>
              <a:rPr sz="2000" b="0" i="0">
                <a:solidFill>
                  <a:srgbClr val="1A1A1A"/>
                </a:solidFill>
                <a:latin typeface="Arial"/>
              </a:rPr>
              <a:t>Every gate decision and every exception goes into the repository with its reason.</a:t>
            </a:r>
          </a:p>
          <a:p>
            <a:pPr>
              <a:spcAft>
                <a:spcPts val="1200"/>
              </a:spcAft>
            </a:pPr>
            <a:r>
              <a:rPr sz="2000" b="0" i="0">
                <a:solidFill>
                  <a:srgbClr val="1A1A1A"/>
                </a:solidFill>
                <a:latin typeface="Arial"/>
              </a:rPr>
              <a:t>Two years on, when someone asks why the Examination Authority is not allowed its own learner list, the answer is in the log — not lost with the architect who has moved on.</a:t>
            </a:r>
          </a:p>
        </p:txBody>
      </p:sp>
      <p:sp>
        <p:nvSpPr>
          <p:cNvPr id="5" name="Rounded Rectangle 4"/>
          <p:cNvSpPr/>
          <p:nvPr/>
        </p:nvSpPr>
        <p:spPr>
          <a:xfrm>
            <a:off x="658368" y="4434840"/>
            <a:ext cx="10881360" cy="1325880"/>
          </a:xfrm>
          <a:prstGeom prst="roundRect">
            <a:avLst>
              <a:gd name="adj" fmla="val 45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59536" y="4626864"/>
            <a:ext cx="10479024" cy="1051560"/>
          </a:xfrm>
          <a:prstGeom prst="rect">
            <a:avLst/>
          </a:prstGeom>
          <a:noFill/>
        </p:spPr>
        <p:txBody>
          <a:bodyPr wrap="square">
            <a:spAutoFit/>
          </a:bodyPr>
          <a:lstStyle/>
          <a:p>
            <a:pPr>
              <a:spcAft>
                <a:spcPts val="700"/>
              </a:spcAft>
            </a:pPr>
            <a:r>
              <a:rPr sz="2300" b="1" i="0">
                <a:solidFill>
                  <a:srgbClr val="006E96"/>
                </a:solidFill>
                <a:latin typeface="Arial"/>
              </a:rPr>
              <a:t>It is also what keeps the gate consistent: the precedent is written down.</a:t>
            </a:r>
          </a:p>
        </p:txBody>
      </p:sp>
      <p:sp>
        <p:nvSpPr>
          <p:cNvPr id="7" name="TextBox 6"/>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3.5 · Review projects against the architecture</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005840" y="2103120"/>
            <a:ext cx="10149840" cy="2377440"/>
          </a:xfrm>
          <a:prstGeom prst="rect">
            <a:avLst/>
          </a:prstGeom>
          <a:noFill/>
        </p:spPr>
        <p:txBody>
          <a:bodyPr wrap="square">
            <a:spAutoFit/>
          </a:bodyPr>
          <a:lstStyle/>
          <a:p>
            <a:r>
              <a:rPr sz="3000" b="1" i="0">
                <a:solidFill>
                  <a:srgbClr val="1A1A1A"/>
                </a:solidFill>
                <a:latin typeface="Arial"/>
              </a:rPr>
              <a:t>The review gate — a few consistent questions every project answers before funding, with logged decisions and time-boxed exceptions — is what turns re-use from a wish into the default.</a:t>
            </a:r>
          </a:p>
        </p:txBody>
      </p:sp>
      <p:sp>
        <p:nvSpPr>
          <p:cNvPr id="3" name="TextBox 2"/>
          <p:cNvSpPr txBox="1"/>
          <p:nvPr/>
        </p:nvSpPr>
        <p:spPr>
          <a:xfrm>
            <a:off x="1005840" y="1554480"/>
            <a:ext cx="5486400" cy="365760"/>
          </a:xfrm>
          <a:prstGeom prst="rect">
            <a:avLst/>
          </a:prstGeom>
          <a:noFill/>
        </p:spPr>
        <p:txBody>
          <a:bodyPr wrap="square">
            <a:spAutoFit/>
          </a:bodyPr>
          <a:lstStyle/>
          <a:p>
            <a:r>
              <a:rPr sz="1200" b="1" i="0">
                <a:solidFill>
                  <a:srgbClr val="006E96"/>
                </a:solidFill>
                <a:latin typeface="Arial"/>
              </a:rPr>
              <a:t>IN ONE SENTENCE</a:t>
            </a:r>
          </a:p>
        </p:txBody>
      </p:sp>
      <p:sp>
        <p:nvSpPr>
          <p:cNvPr id="4" name="Rounded Rectangle 3"/>
          <p:cNvSpPr/>
          <p:nvPr/>
        </p:nvSpPr>
        <p:spPr>
          <a:xfrm>
            <a:off x="658368" y="4709160"/>
            <a:ext cx="10881360" cy="1554480"/>
          </a:xfrm>
          <a:prstGeom prst="roundRect">
            <a:avLst>
              <a:gd name="adj" fmla="val 4500"/>
            </a:avLst>
          </a:prstGeom>
          <a:solidFill>
            <a:srgbClr val="FFFFFF"/>
          </a:solidFill>
          <a:ln w="9525">
            <a:solidFill>
              <a:srgbClr val="009C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09728" bIns="109728">
            <a:noAutofit/>
          </a:bodyPr>
          <a:lstStyle/>
          <a:p>
            <a:pPr algn="l">
              <a:spcAft>
                <a:spcPts val="400"/>
              </a:spcAft>
            </a:pPr>
            <a:r>
              <a:rPr sz="1800" b="1" i="0">
                <a:solidFill>
                  <a:srgbClr val="006E96"/>
                </a:solidFill>
                <a:latin typeface="Arial"/>
              </a:rPr>
              <a:t>Do this on your own sector. </a:t>
            </a:r>
            <a:r>
              <a:rPr sz="1800" b="1" i="0">
                <a:solidFill>
                  <a:srgbClr val="1A1A1A"/>
                </a:solidFill>
                <a:latin typeface="Arial"/>
              </a:rPr>
              <a:t>Build your architecture review gate checklist.</a:t>
            </a:r>
          </a:p>
          <a:p>
            <a:pPr algn="l">
              <a:spcAft>
                <a:spcPts val="400"/>
              </a:spcAft>
            </a:pPr>
            <a:r>
              <a:rPr sz="1800" b="0" i="0">
                <a:solidFill>
                  <a:srgbClr val="595959"/>
                </a:solidFill>
                <a:latin typeface="Arial"/>
              </a:rPr>
              <a:t>The prompt in the companion material gives you an intake checklist, pass criteria, exception form and decision-log fields. Before the next video.</a:t>
            </a:r>
          </a:p>
        </p:txBody>
      </p:sp>
      <p:sp>
        <p:nvSpPr>
          <p:cNvPr id="5" name="TextBox 4"/>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3.5 · Review projects against the architecture</a:t>
            </a:r>
          </a:p>
        </p:txBody>
      </p:sp>
      <p:sp>
        <p:nvSpPr>
          <p:cNvPr id="6" name="TextBox 5"/>
          <p:cNvSpPr txBox="1"/>
          <p:nvPr/>
        </p:nvSpPr>
        <p:spPr>
          <a:xfrm>
            <a:off x="10058400" y="6473952"/>
            <a:ext cx="1673352" cy="292608"/>
          </a:xfrm>
          <a:prstGeom prst="rect">
            <a:avLst/>
          </a:prstGeom>
          <a:noFill/>
        </p:spPr>
        <p:txBody>
          <a:bodyPr wrap="square">
            <a:spAutoFit/>
          </a:bodyPr>
          <a:lstStyle/>
          <a:p>
            <a:pPr algn="r"/>
            <a:r>
              <a:rPr sz="900" b="0" i="0">
                <a:solidFill>
                  <a:srgbClr val="595959"/>
                </a:solidFill>
                <a:latin typeface="Arial"/>
              </a:rPr>
              <a:t>www.itu.int</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Sources</a:t>
            </a:r>
          </a:p>
        </p:txBody>
      </p:sp>
      <p:sp>
        <p:nvSpPr>
          <p:cNvPr id="4" name="TextBox 3"/>
          <p:cNvSpPr txBox="1"/>
          <p:nvPr/>
        </p:nvSpPr>
        <p:spPr>
          <a:xfrm>
            <a:off x="658368" y="1554480"/>
            <a:ext cx="10789920" cy="3840480"/>
          </a:xfrm>
          <a:prstGeom prst="rect">
            <a:avLst/>
          </a:prstGeom>
          <a:noFill/>
        </p:spPr>
        <p:txBody>
          <a:bodyPr wrap="square">
            <a:spAutoFit/>
          </a:bodyPr>
          <a:lstStyle/>
          <a:p>
            <a:pPr>
              <a:spcAft>
                <a:spcPts val="1200"/>
              </a:spcAft>
            </a:pPr>
            <a:r>
              <a:rPr sz="1700" b="0" i="0">
                <a:solidFill>
                  <a:srgbClr val="1A1A1A"/>
                </a:solidFill>
                <a:latin typeface="Arial"/>
              </a:rPr>
              <a:t>•  PAERA v1.0 — §5.4 (Organisational Assessment &amp; Roadmap)</a:t>
            </a:r>
          </a:p>
          <a:p>
            <a:pPr>
              <a:spcAft>
                <a:spcPts val="1200"/>
              </a:spcAft>
            </a:pPr>
            <a:r>
              <a:rPr sz="1700" b="0" i="0">
                <a:solidFill>
                  <a:srgbClr val="1A1A1A"/>
                </a:solidFill>
                <a:latin typeface="Arial"/>
              </a:rPr>
              <a:t>•  PAERA v1.0 — §5.2 (Principles)</a:t>
            </a:r>
          </a:p>
          <a:p>
            <a:pPr>
              <a:spcAft>
                <a:spcPts val="1200"/>
              </a:spcAft>
            </a:pPr>
            <a:r>
              <a:rPr sz="1700" b="0" i="0">
                <a:solidFill>
                  <a:srgbClr val="1A1A1A"/>
                </a:solidFill>
                <a:latin typeface="Arial"/>
              </a:rPr>
              <a:t>•  PAERA v1.0 — §5.6 (Sourcing Strategy)</a:t>
            </a:r>
          </a:p>
          <a:p>
            <a:pPr>
              <a:spcAft>
                <a:spcPts val="1200"/>
              </a:spcAft>
            </a:pPr>
            <a:r>
              <a:rPr sz="1700" b="0" i="0">
                <a:solidFill>
                  <a:srgbClr val="1A1A1A"/>
                </a:solidFill>
                <a:latin typeface="Arial"/>
              </a:rPr>
              <a:t>•  GovStack Building Block specifications — for the shared building blocks referenced</a:t>
            </a:r>
          </a:p>
        </p:txBody>
      </p:sp>
      <p:sp>
        <p:nvSpPr>
          <p:cNvPr id="5" name="TextBox 4"/>
          <p:cNvSpPr txBox="1"/>
          <p:nvPr/>
        </p:nvSpPr>
        <p:spPr>
          <a:xfrm>
            <a:off x="658368" y="5806440"/>
            <a:ext cx="10789920" cy="457200"/>
          </a:xfrm>
          <a:prstGeom prst="rect">
            <a:avLst/>
          </a:prstGeom>
          <a:noFill/>
        </p:spPr>
        <p:txBody>
          <a:bodyPr wrap="square">
            <a:spAutoFit/>
          </a:bodyPr>
          <a:lstStyle/>
          <a:p>
            <a:r>
              <a:rPr sz="1400" b="1" i="0">
                <a:solidFill>
                  <a:srgbClr val="006E96"/>
                </a:solidFill>
                <a:latin typeface="Arial"/>
              </a:rPr>
              <a:t>Find the link in the description.</a:t>
            </a:r>
          </a:p>
        </p:txBody>
      </p:sp>
      <p:sp>
        <p:nvSpPr>
          <p:cNvPr id="6" name="TextBox 5"/>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3.5 · Review projects against the architecture</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22960" y="822960"/>
            <a:ext cx="7315200" cy="457200"/>
          </a:xfrm>
          <a:prstGeom prst="rect">
            <a:avLst/>
          </a:prstGeom>
          <a:noFill/>
        </p:spPr>
        <p:txBody>
          <a:bodyPr wrap="square">
            <a:spAutoFit/>
          </a:bodyPr>
          <a:lstStyle/>
          <a:p>
            <a:r>
              <a:rPr sz="1200" b="1" i="0">
                <a:solidFill>
                  <a:srgbClr val="595959"/>
                </a:solidFill>
                <a:latin typeface="Arial"/>
              </a:rPr>
              <a:t>MODULE 3 · VIDEO 3.6</a:t>
            </a:r>
          </a:p>
        </p:txBody>
      </p:sp>
      <p:sp>
        <p:nvSpPr>
          <p:cNvPr id="3" name="TextBox 2"/>
          <p:cNvSpPr txBox="1"/>
          <p:nvPr/>
        </p:nvSpPr>
        <p:spPr>
          <a:xfrm>
            <a:off x="822960" y="1828800"/>
            <a:ext cx="2011680" cy="1097280"/>
          </a:xfrm>
          <a:prstGeom prst="rect">
            <a:avLst/>
          </a:prstGeom>
          <a:noFill/>
        </p:spPr>
        <p:txBody>
          <a:bodyPr wrap="square">
            <a:spAutoFit/>
          </a:bodyPr>
          <a:lstStyle/>
          <a:p>
            <a:r>
              <a:rPr sz="6000" b="1" i="0">
                <a:solidFill>
                  <a:srgbClr val="009CD6"/>
                </a:solidFill>
                <a:latin typeface="Arial"/>
              </a:rPr>
              <a:t>3.6</a:t>
            </a:r>
          </a:p>
        </p:txBody>
      </p:sp>
      <p:sp>
        <p:nvSpPr>
          <p:cNvPr id="4" name="TextBox 3"/>
          <p:cNvSpPr txBox="1"/>
          <p:nvPr/>
        </p:nvSpPr>
        <p:spPr>
          <a:xfrm>
            <a:off x="822960" y="2880360"/>
            <a:ext cx="9601200" cy="1371600"/>
          </a:xfrm>
          <a:prstGeom prst="rect">
            <a:avLst/>
          </a:prstGeom>
          <a:noFill/>
        </p:spPr>
        <p:txBody>
          <a:bodyPr wrap="square">
            <a:spAutoFit/>
          </a:bodyPr>
          <a:lstStyle/>
          <a:p>
            <a:r>
              <a:rPr sz="3400" b="1" i="0">
                <a:solidFill>
                  <a:srgbClr val="1A1A1A"/>
                </a:solidFill>
                <a:latin typeface="Arial"/>
              </a:rPr>
              <a:t>Show the EA is working — the few metrics that matter</a:t>
            </a:r>
          </a:p>
        </p:txBody>
      </p:sp>
      <p:sp>
        <p:nvSpPr>
          <p:cNvPr id="5" name="TextBox 4"/>
          <p:cNvSpPr txBox="1"/>
          <p:nvPr/>
        </p:nvSpPr>
        <p:spPr>
          <a:xfrm>
            <a:off x="822960" y="4343400"/>
            <a:ext cx="9875520" cy="1554480"/>
          </a:xfrm>
          <a:prstGeom prst="rect">
            <a:avLst/>
          </a:prstGeom>
          <a:noFill/>
        </p:spPr>
        <p:txBody>
          <a:bodyPr wrap="square">
            <a:spAutoFit/>
          </a:bodyPr>
          <a:lstStyle/>
          <a:p>
            <a:r>
              <a:rPr sz="1700" b="0" i="1">
                <a:solidFill>
                  <a:srgbClr val="595959"/>
                </a:solidFill>
                <a:latin typeface="Arial"/>
              </a:rPr>
              <a:t>A handful of honest metrics — coverage, re-use rate, open exceptions, decisions made — show the minister and the team that the EA is working, and tell you where it isn’t, without drowning anyone in vanity numbers.</a:t>
            </a:r>
          </a:p>
        </p:txBody>
      </p:sp>
      <p:sp>
        <p:nvSpPr>
          <p:cNvPr id="6" name="TextBox 5"/>
          <p:cNvSpPr txBox="1"/>
          <p:nvPr/>
        </p:nvSpPr>
        <p:spPr>
          <a:xfrm>
            <a:off x="822960" y="5989320"/>
            <a:ext cx="7315200" cy="365760"/>
          </a:xfrm>
          <a:prstGeom prst="rect">
            <a:avLst/>
          </a:prstGeom>
          <a:noFill/>
        </p:spPr>
        <p:txBody>
          <a:bodyPr wrap="square">
            <a:spAutoFit/>
          </a:bodyPr>
          <a:lstStyle/>
          <a:p>
            <a:r>
              <a:rPr sz="1200" b="0" i="0">
                <a:solidFill>
                  <a:srgbClr val="595959"/>
                </a:solidFill>
                <a:latin typeface="Arial"/>
              </a:rPr>
              <a:t>standalone video · voice-over on text slides</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005840" y="1325880"/>
            <a:ext cx="5486400" cy="365760"/>
          </a:xfrm>
          <a:prstGeom prst="rect">
            <a:avLst/>
          </a:prstGeom>
          <a:noFill/>
        </p:spPr>
        <p:txBody>
          <a:bodyPr wrap="square">
            <a:spAutoFit/>
          </a:bodyPr>
          <a:lstStyle/>
          <a:p>
            <a:r>
              <a:rPr sz="1200" b="1" i="0">
                <a:solidFill>
                  <a:srgbClr val="006E96"/>
                </a:solidFill>
                <a:latin typeface="Arial"/>
              </a:rPr>
              <a:t>WHERE WE START</a:t>
            </a:r>
          </a:p>
        </p:txBody>
      </p:sp>
      <p:sp>
        <p:nvSpPr>
          <p:cNvPr id="3" name="TextBox 2"/>
          <p:cNvSpPr txBox="1"/>
          <p:nvPr/>
        </p:nvSpPr>
        <p:spPr>
          <a:xfrm>
            <a:off x="1005840" y="1783080"/>
            <a:ext cx="10149840" cy="1737360"/>
          </a:xfrm>
          <a:prstGeom prst="rect">
            <a:avLst/>
          </a:prstGeom>
          <a:noFill/>
        </p:spPr>
        <p:txBody>
          <a:bodyPr wrap="square">
            <a:spAutoFit/>
          </a:bodyPr>
          <a:lstStyle/>
          <a:p>
            <a:r>
              <a:rPr sz="3000" b="1" i="0">
                <a:solidFill>
                  <a:srgbClr val="1A1A1A"/>
                </a:solidFill>
                <a:latin typeface="Arial"/>
              </a:rPr>
              <a:t>Your minister’s fair question: is this EA work actually doing anything?</a:t>
            </a:r>
          </a:p>
        </p:txBody>
      </p:sp>
      <p:sp>
        <p:nvSpPr>
          <p:cNvPr id="4" name="TextBox 3"/>
          <p:cNvSpPr txBox="1"/>
          <p:nvPr/>
        </p:nvSpPr>
        <p:spPr>
          <a:xfrm>
            <a:off x="1005840" y="3611880"/>
            <a:ext cx="10149840" cy="2377440"/>
          </a:xfrm>
          <a:prstGeom prst="rect">
            <a:avLst/>
          </a:prstGeom>
          <a:noFill/>
        </p:spPr>
        <p:txBody>
          <a:bodyPr wrap="square">
            <a:spAutoFit/>
          </a:bodyPr>
          <a:lstStyle/>
          <a:p>
            <a:pPr>
              <a:spcAft>
                <a:spcPts val="800"/>
              </a:spcAft>
            </a:pPr>
            <a:r>
              <a:rPr sz="1700" b="0" i="0">
                <a:solidFill>
                  <a:srgbClr val="595959"/>
                </a:solidFill>
                <a:latin typeface="Arial"/>
              </a:rPr>
              <a:t>You need an answer that is honest, short and true.</a:t>
            </a:r>
          </a:p>
          <a:p>
            <a:pPr>
              <a:spcAft>
                <a:spcPts val="800"/>
              </a:spcAft>
            </a:pPr>
            <a:r>
              <a:rPr sz="1700" b="0" i="0">
                <a:solidFill>
                  <a:srgbClr val="595959"/>
                </a:solidFill>
                <a:latin typeface="Arial"/>
              </a:rPr>
              <a:t>A handful of metrics, not a fifty-page report. Pick them carefully.</a:t>
            </a:r>
          </a:p>
        </p:txBody>
      </p:sp>
      <p:sp>
        <p:nvSpPr>
          <p:cNvPr id="5" name="TextBox 4"/>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3.6 · Show the EA is working — the few metrics that matter</a:t>
            </a:r>
          </a:p>
        </p:txBody>
      </p:sp>
      <p:sp>
        <p:nvSpPr>
          <p:cNvPr id="6" name="TextBox 5"/>
          <p:cNvSpPr txBox="1"/>
          <p:nvPr/>
        </p:nvSpPr>
        <p:spPr>
          <a:xfrm>
            <a:off x="10058400" y="6473952"/>
            <a:ext cx="1673352" cy="292608"/>
          </a:xfrm>
          <a:prstGeom prst="rect">
            <a:avLst/>
          </a:prstGeom>
          <a:noFill/>
        </p:spPr>
        <p:txBody>
          <a:bodyPr wrap="square">
            <a:spAutoFit/>
          </a:bodyPr>
          <a:lstStyle/>
          <a:p>
            <a:pPr algn="r"/>
            <a:r>
              <a:rPr sz="900" b="0" i="0">
                <a:solidFill>
                  <a:srgbClr val="595959"/>
                </a:solidFill>
                <a:latin typeface="Arial"/>
              </a:rPr>
              <a:t>www.itu.int</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Four numbers carry most of the signal</a:t>
            </a:r>
          </a:p>
        </p:txBody>
      </p:sp>
      <p:sp>
        <p:nvSpPr>
          <p:cNvPr id="4" name="Oval 3"/>
          <p:cNvSpPr/>
          <p:nvPr/>
        </p:nvSpPr>
        <p:spPr>
          <a:xfrm>
            <a:off x="621792" y="1508760"/>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1</a:t>
            </a:r>
          </a:p>
        </p:txBody>
      </p:sp>
      <p:sp>
        <p:nvSpPr>
          <p:cNvPr id="5" name="TextBox 4"/>
          <p:cNvSpPr txBox="1"/>
          <p:nvPr/>
        </p:nvSpPr>
        <p:spPr>
          <a:xfrm>
            <a:off x="1115568" y="1463040"/>
            <a:ext cx="10527487" cy="1028699"/>
          </a:xfrm>
          <a:prstGeom prst="rect">
            <a:avLst/>
          </a:prstGeom>
          <a:noFill/>
        </p:spPr>
        <p:txBody>
          <a:bodyPr wrap="square">
            <a:spAutoFit/>
          </a:bodyPr>
          <a:lstStyle/>
          <a:p>
            <a:pPr>
              <a:spcAft>
                <a:spcPts val="300"/>
              </a:spcAft>
            </a:pPr>
            <a:r>
              <a:rPr sz="1900" b="1" i="0">
                <a:solidFill>
                  <a:srgbClr val="1A1A1A"/>
                </a:solidFill>
                <a:latin typeface="Arial"/>
              </a:rPr>
              <a:t>Coverage</a:t>
            </a:r>
          </a:p>
          <a:p>
            <a:pPr>
              <a:spcAft>
                <a:spcPts val="300"/>
              </a:spcAft>
            </a:pPr>
            <a:r>
              <a:rPr sz="1550" b="0" i="0">
                <a:solidFill>
                  <a:srgbClr val="595959"/>
                </a:solidFill>
                <a:latin typeface="Arial"/>
              </a:rPr>
              <a:t>How much of your government is actually in the repository — and current.</a:t>
            </a:r>
          </a:p>
        </p:txBody>
      </p:sp>
      <p:sp>
        <p:nvSpPr>
          <p:cNvPr id="6" name="Rectangle 5"/>
          <p:cNvSpPr/>
          <p:nvPr/>
        </p:nvSpPr>
        <p:spPr>
          <a:xfrm>
            <a:off x="621792" y="249631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621792" y="2583179"/>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2</a:t>
            </a:r>
          </a:p>
        </p:txBody>
      </p:sp>
      <p:sp>
        <p:nvSpPr>
          <p:cNvPr id="8" name="TextBox 7"/>
          <p:cNvSpPr txBox="1"/>
          <p:nvPr/>
        </p:nvSpPr>
        <p:spPr>
          <a:xfrm>
            <a:off x="1115568" y="2537460"/>
            <a:ext cx="10527487" cy="1028699"/>
          </a:xfrm>
          <a:prstGeom prst="rect">
            <a:avLst/>
          </a:prstGeom>
          <a:noFill/>
        </p:spPr>
        <p:txBody>
          <a:bodyPr wrap="square">
            <a:spAutoFit/>
          </a:bodyPr>
          <a:lstStyle/>
          <a:p>
            <a:pPr>
              <a:spcAft>
                <a:spcPts val="300"/>
              </a:spcAft>
            </a:pPr>
            <a:r>
              <a:rPr sz="1900" b="1" i="0">
                <a:solidFill>
                  <a:srgbClr val="1A1A1A"/>
                </a:solidFill>
                <a:latin typeface="Arial"/>
              </a:rPr>
              <a:t>Re-use rate</a:t>
            </a:r>
          </a:p>
          <a:p>
            <a:pPr>
              <a:spcAft>
                <a:spcPts val="300"/>
              </a:spcAft>
            </a:pPr>
            <a:r>
              <a:rPr sz="1550" b="0" i="0">
                <a:solidFill>
                  <a:srgbClr val="595959"/>
                </a:solidFill>
                <a:latin typeface="Arial"/>
              </a:rPr>
              <a:t>Of the projects that came through the gate, how many consumed a shared block instead of building their own.</a:t>
            </a:r>
          </a:p>
        </p:txBody>
      </p:sp>
      <p:sp>
        <p:nvSpPr>
          <p:cNvPr id="9" name="Rectangle 8"/>
          <p:cNvSpPr/>
          <p:nvPr/>
        </p:nvSpPr>
        <p:spPr>
          <a:xfrm>
            <a:off x="621792" y="357073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621792" y="3657599"/>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3</a:t>
            </a:r>
          </a:p>
        </p:txBody>
      </p:sp>
      <p:sp>
        <p:nvSpPr>
          <p:cNvPr id="11" name="TextBox 10"/>
          <p:cNvSpPr txBox="1"/>
          <p:nvPr/>
        </p:nvSpPr>
        <p:spPr>
          <a:xfrm>
            <a:off x="1115568" y="3611879"/>
            <a:ext cx="10527487" cy="1028699"/>
          </a:xfrm>
          <a:prstGeom prst="rect">
            <a:avLst/>
          </a:prstGeom>
          <a:noFill/>
        </p:spPr>
        <p:txBody>
          <a:bodyPr wrap="square">
            <a:spAutoFit/>
          </a:bodyPr>
          <a:lstStyle/>
          <a:p>
            <a:pPr>
              <a:spcAft>
                <a:spcPts val="300"/>
              </a:spcAft>
            </a:pPr>
            <a:r>
              <a:rPr sz="1900" b="1" i="0">
                <a:solidFill>
                  <a:srgbClr val="1A1A1A"/>
                </a:solidFill>
                <a:latin typeface="Arial"/>
              </a:rPr>
              <a:t>Open exceptions</a:t>
            </a:r>
          </a:p>
          <a:p>
            <a:pPr>
              <a:spcAft>
                <a:spcPts val="300"/>
              </a:spcAft>
            </a:pPr>
            <a:r>
              <a:rPr sz="1550" b="0" i="0">
                <a:solidFill>
                  <a:srgbClr val="595959"/>
                </a:solidFill>
                <a:latin typeface="Arial"/>
              </a:rPr>
              <a:t>How many waivers are outstanding, and how old.</a:t>
            </a:r>
          </a:p>
        </p:txBody>
      </p:sp>
      <p:sp>
        <p:nvSpPr>
          <p:cNvPr id="12" name="Rectangle 11"/>
          <p:cNvSpPr/>
          <p:nvPr/>
        </p:nvSpPr>
        <p:spPr>
          <a:xfrm>
            <a:off x="621792" y="464515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21792" y="4732020"/>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4</a:t>
            </a:r>
          </a:p>
        </p:txBody>
      </p:sp>
      <p:sp>
        <p:nvSpPr>
          <p:cNvPr id="14" name="TextBox 13"/>
          <p:cNvSpPr txBox="1"/>
          <p:nvPr/>
        </p:nvSpPr>
        <p:spPr>
          <a:xfrm>
            <a:off x="1115568" y="4686300"/>
            <a:ext cx="10527487" cy="1028699"/>
          </a:xfrm>
          <a:prstGeom prst="rect">
            <a:avLst/>
          </a:prstGeom>
          <a:noFill/>
        </p:spPr>
        <p:txBody>
          <a:bodyPr wrap="square">
            <a:spAutoFit/>
          </a:bodyPr>
          <a:lstStyle/>
          <a:p>
            <a:pPr>
              <a:spcAft>
                <a:spcPts val="300"/>
              </a:spcAft>
            </a:pPr>
            <a:r>
              <a:rPr sz="1900" b="1" i="0">
                <a:solidFill>
                  <a:srgbClr val="1A1A1A"/>
                </a:solidFill>
                <a:latin typeface="Arial"/>
              </a:rPr>
              <a:t>Decisions</a:t>
            </a:r>
          </a:p>
          <a:p>
            <a:pPr>
              <a:spcAft>
                <a:spcPts val="300"/>
              </a:spcAft>
            </a:pPr>
            <a:r>
              <a:rPr sz="1550" b="0" i="0">
                <a:solidFill>
                  <a:srgbClr val="595959"/>
                </a:solidFill>
                <a:latin typeface="Arial"/>
              </a:rPr>
              <a:t>How many gate decisions the Board made — and how fast.</a:t>
            </a:r>
          </a:p>
        </p:txBody>
      </p:sp>
      <p:sp>
        <p:nvSpPr>
          <p:cNvPr id="15" name="TextBox 14"/>
          <p:cNvSpPr txBox="1"/>
          <p:nvPr/>
        </p:nvSpPr>
        <p:spPr>
          <a:xfrm>
            <a:off x="658368" y="5870448"/>
            <a:ext cx="10881360" cy="548640"/>
          </a:xfrm>
          <a:prstGeom prst="rect">
            <a:avLst/>
          </a:prstGeom>
          <a:noFill/>
        </p:spPr>
        <p:txBody>
          <a:bodyPr wrap="square">
            <a:spAutoFit/>
          </a:bodyPr>
          <a:lstStyle/>
          <a:p>
            <a:r>
              <a:rPr sz="1550" b="1" i="0">
                <a:solidFill>
                  <a:srgbClr val="006E96"/>
                </a:solidFill>
                <a:latin typeface="Arial"/>
              </a:rPr>
              <a:t>A growing pile of aged exceptions is fragmentation returning; a slow gate is one projects route around.</a:t>
            </a:r>
          </a:p>
        </p:txBody>
      </p:sp>
      <p:sp>
        <p:nvSpPr>
          <p:cNvPr id="16" name="TextBox 15"/>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3.6 · Show the EA is working — the few metrics that matter</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The re-use rate is the one to put in front of the budget authority</a:t>
            </a:r>
          </a:p>
        </p:txBody>
      </p:sp>
      <p:sp>
        <p:nvSpPr>
          <p:cNvPr id="4" name="TextBox 3"/>
          <p:cNvSpPr txBox="1"/>
          <p:nvPr/>
        </p:nvSpPr>
        <p:spPr>
          <a:xfrm>
            <a:off x="658368" y="1600200"/>
            <a:ext cx="10881360" cy="2651760"/>
          </a:xfrm>
          <a:prstGeom prst="rect">
            <a:avLst/>
          </a:prstGeom>
          <a:noFill/>
        </p:spPr>
        <p:txBody>
          <a:bodyPr wrap="square">
            <a:spAutoFit/>
          </a:bodyPr>
          <a:lstStyle/>
          <a:p>
            <a:pPr>
              <a:spcAft>
                <a:spcPts val="1200"/>
              </a:spcAft>
            </a:pPr>
            <a:r>
              <a:rPr sz="2000" b="0" i="0">
                <a:solidFill>
                  <a:srgbClr val="1A1A1A"/>
                </a:solidFill>
                <a:latin typeface="Arial"/>
              </a:rPr>
              <a:t>Every project that consumed the shared identity platform instead of building its own is a system the country paid for once instead of many times.</a:t>
            </a:r>
          </a:p>
          <a:p>
            <a:pPr>
              <a:spcAft>
                <a:spcPts val="1200"/>
              </a:spcAft>
            </a:pPr>
            <a:r>
              <a:rPr sz="2000" b="0" i="0">
                <a:solidFill>
                  <a:srgbClr val="1A1A1A"/>
                </a:solidFill>
                <a:latin typeface="Arial"/>
              </a:rPr>
              <a:t>Tracked over a year, a rising re-use rate is the closest thing you have to proof that the EA is returning its cost — the abstract argument turned into a number that goes up.</a:t>
            </a:r>
          </a:p>
        </p:txBody>
      </p:sp>
      <p:sp>
        <p:nvSpPr>
          <p:cNvPr id="5" name="Rounded Rectangle 4"/>
          <p:cNvSpPr/>
          <p:nvPr/>
        </p:nvSpPr>
        <p:spPr>
          <a:xfrm>
            <a:off x="658368" y="4434840"/>
            <a:ext cx="10881360" cy="1325880"/>
          </a:xfrm>
          <a:prstGeom prst="roundRect">
            <a:avLst>
              <a:gd name="adj" fmla="val 45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59536" y="4626864"/>
            <a:ext cx="10479024" cy="1051560"/>
          </a:xfrm>
          <a:prstGeom prst="rect">
            <a:avLst/>
          </a:prstGeom>
          <a:noFill/>
        </p:spPr>
        <p:txBody>
          <a:bodyPr wrap="square">
            <a:spAutoFit/>
          </a:bodyPr>
          <a:lstStyle/>
          <a:p>
            <a:pPr>
              <a:spcAft>
                <a:spcPts val="700"/>
              </a:spcAft>
            </a:pPr>
            <a:r>
              <a:rPr sz="2300" b="1" i="0">
                <a:solidFill>
                  <a:srgbClr val="006E96"/>
                </a:solidFill>
                <a:latin typeface="Arial"/>
              </a:rPr>
              <a:t>That is the metric that protects your funding.</a:t>
            </a:r>
          </a:p>
        </p:txBody>
      </p:sp>
      <p:sp>
        <p:nvSpPr>
          <p:cNvPr id="7" name="TextBox 6"/>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3.6 · Show the EA is working — the few metrics that matter</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If a metric would still rise while the architecture stopped mattering, it is wrong</a:t>
            </a:r>
          </a:p>
        </p:txBody>
      </p:sp>
      <p:sp>
        <p:nvSpPr>
          <p:cNvPr id="4" name="Rounded Rectangle 3"/>
          <p:cNvSpPr/>
          <p:nvPr/>
        </p:nvSpPr>
        <p:spPr>
          <a:xfrm>
            <a:off x="658368" y="1554480"/>
            <a:ext cx="5394960" cy="3977639"/>
          </a:xfrm>
          <a:prstGeom prst="roundRect">
            <a:avLst>
              <a:gd name="adj" fmla="val 45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59536" y="1700784"/>
            <a:ext cx="4992624" cy="3703320"/>
          </a:xfrm>
          <a:prstGeom prst="rect">
            <a:avLst/>
          </a:prstGeom>
          <a:noFill/>
        </p:spPr>
        <p:txBody>
          <a:bodyPr wrap="square">
            <a:spAutoFit/>
          </a:bodyPr>
          <a:lstStyle/>
          <a:p>
            <a:pPr>
              <a:spcAft>
                <a:spcPts val="700"/>
              </a:spcAft>
            </a:pPr>
            <a:r>
              <a:rPr sz="1900" b="1" i="0">
                <a:solidFill>
                  <a:srgbClr val="006E96"/>
                </a:solidFill>
                <a:latin typeface="Arial"/>
              </a:rPr>
              <a:t>MEASURES EFFECT</a:t>
            </a:r>
          </a:p>
          <a:p>
            <a:pPr>
              <a:spcAft>
                <a:spcPts val="700"/>
              </a:spcAft>
            </a:pPr>
            <a:r>
              <a:rPr sz="1600" b="0" i="0">
                <a:solidFill>
                  <a:srgbClr val="1A1A1A"/>
                </a:solidFill>
                <a:latin typeface="Arial"/>
              </a:rPr>
              <a:t>Re-use rate.</a:t>
            </a:r>
          </a:p>
          <a:p>
            <a:pPr>
              <a:spcAft>
                <a:spcPts val="700"/>
              </a:spcAft>
            </a:pPr>
            <a:r>
              <a:rPr sz="1600" b="0" i="0">
                <a:solidFill>
                  <a:srgbClr val="1A1A1A"/>
                </a:solidFill>
                <a:latin typeface="Arial"/>
              </a:rPr>
              <a:t>Coverage that is current.</a:t>
            </a:r>
          </a:p>
          <a:p>
            <a:pPr>
              <a:spcAft>
                <a:spcPts val="700"/>
              </a:spcAft>
            </a:pPr>
            <a:r>
              <a:rPr sz="1600" b="0" i="0">
                <a:solidFill>
                  <a:srgbClr val="1A1A1A"/>
                </a:solidFill>
                <a:latin typeface="Arial"/>
              </a:rPr>
              <a:t>Gate decisions made, and how fast.</a:t>
            </a:r>
          </a:p>
        </p:txBody>
      </p:sp>
      <p:sp>
        <p:nvSpPr>
          <p:cNvPr id="6" name="Rounded Rectangle 5"/>
          <p:cNvSpPr/>
          <p:nvPr/>
        </p:nvSpPr>
        <p:spPr>
          <a:xfrm>
            <a:off x="6263640" y="1554480"/>
            <a:ext cx="5394960" cy="3977639"/>
          </a:xfrm>
          <a:prstGeom prst="roundRect">
            <a:avLst>
              <a:gd name="adj" fmla="val 45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64808" y="1700784"/>
            <a:ext cx="4992624" cy="3703320"/>
          </a:xfrm>
          <a:prstGeom prst="rect">
            <a:avLst/>
          </a:prstGeom>
          <a:noFill/>
        </p:spPr>
        <p:txBody>
          <a:bodyPr wrap="square">
            <a:spAutoFit/>
          </a:bodyPr>
          <a:lstStyle/>
          <a:p>
            <a:pPr>
              <a:spcAft>
                <a:spcPts val="700"/>
              </a:spcAft>
            </a:pPr>
            <a:r>
              <a:rPr sz="1900" b="1" i="0">
                <a:solidFill>
                  <a:srgbClr val="006E96"/>
                </a:solidFill>
                <a:latin typeface="Arial"/>
              </a:rPr>
              <a:t>MEASURES ACTIVITY</a:t>
            </a:r>
          </a:p>
          <a:p>
            <a:pPr>
              <a:spcAft>
                <a:spcPts val="700"/>
              </a:spcAft>
            </a:pPr>
            <a:r>
              <a:rPr sz="1600" b="0" i="0">
                <a:solidFill>
                  <a:srgbClr val="1A1A1A"/>
                </a:solidFill>
                <a:latin typeface="Arial"/>
              </a:rPr>
              <a:t>Diagrams drawn.</a:t>
            </a:r>
          </a:p>
          <a:p>
            <a:pPr>
              <a:spcAft>
                <a:spcPts val="700"/>
              </a:spcAft>
            </a:pPr>
            <a:r>
              <a:rPr sz="1600" b="0" i="0">
                <a:solidFill>
                  <a:srgbClr val="1A1A1A"/>
                </a:solidFill>
                <a:latin typeface="Arial"/>
              </a:rPr>
              <a:t>Pages written.</a:t>
            </a:r>
          </a:p>
          <a:p>
            <a:pPr>
              <a:spcAft>
                <a:spcPts val="700"/>
              </a:spcAft>
            </a:pPr>
            <a:r>
              <a:rPr sz="1600" b="0" i="0">
                <a:solidFill>
                  <a:srgbClr val="1A1A1A"/>
                </a:solidFill>
                <a:latin typeface="Arial"/>
              </a:rPr>
              <a:t>Meetings held.</a:t>
            </a:r>
          </a:p>
        </p:txBody>
      </p:sp>
      <p:sp>
        <p:nvSpPr>
          <p:cNvPr id="8" name="TextBox 7"/>
          <p:cNvSpPr txBox="1"/>
          <p:nvPr/>
        </p:nvSpPr>
        <p:spPr>
          <a:xfrm>
            <a:off x="658368" y="5715000"/>
            <a:ext cx="10881360" cy="548640"/>
          </a:xfrm>
          <a:prstGeom prst="rect">
            <a:avLst/>
          </a:prstGeom>
          <a:noFill/>
        </p:spPr>
        <p:txBody>
          <a:bodyPr wrap="square">
            <a:spAutoFit/>
          </a:bodyPr>
          <a:lstStyle/>
          <a:p>
            <a:r>
              <a:rPr sz="1550" b="1" i="0">
                <a:solidFill>
                  <a:srgbClr val="006E96"/>
                </a:solidFill>
                <a:latin typeface="Arial"/>
              </a:rPr>
              <a:t>A programme can produce a thousand pages and change nothing.</a:t>
            </a:r>
          </a:p>
        </p:txBody>
      </p:sp>
      <p:sp>
        <p:nvSpPr>
          <p:cNvPr id="9" name="TextBox 8"/>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3.6 · Show the EA is working — the few metrics that matter</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A scorecard that is always green is believed once</a:t>
            </a:r>
          </a:p>
        </p:txBody>
      </p:sp>
      <p:sp>
        <p:nvSpPr>
          <p:cNvPr id="4" name="TextBox 3"/>
          <p:cNvSpPr txBox="1"/>
          <p:nvPr/>
        </p:nvSpPr>
        <p:spPr>
          <a:xfrm>
            <a:off x="658368" y="1600200"/>
            <a:ext cx="10881360" cy="2651760"/>
          </a:xfrm>
          <a:prstGeom prst="rect">
            <a:avLst/>
          </a:prstGeom>
          <a:noFill/>
        </p:spPr>
        <p:txBody>
          <a:bodyPr wrap="square">
            <a:spAutoFit/>
          </a:bodyPr>
          <a:lstStyle/>
          <a:p>
            <a:pPr>
              <a:spcAft>
                <a:spcPts val="1200"/>
              </a:spcAft>
            </a:pPr>
            <a:r>
              <a:rPr sz="2000" b="0" i="0">
                <a:solidFill>
                  <a:srgbClr val="1A1A1A"/>
                </a:solidFill>
                <a:latin typeface="Arial"/>
              </a:rPr>
              <a:t>One page, every quarter, to the Board and the minister — including what is not working: the coverage gap in a sector nobody will let you near, the aging exceptions a powerful ministry will not close.</a:t>
            </a:r>
          </a:p>
          <a:p>
            <a:pPr>
              <a:spcAft>
                <a:spcPts val="1200"/>
              </a:spcAft>
            </a:pPr>
            <a:r>
              <a:rPr sz="2000" b="0" i="0">
                <a:solidFill>
                  <a:srgbClr val="1A1A1A"/>
                </a:solidFill>
                <a:latin typeface="Arial"/>
              </a:rPr>
              <a:t>The temptation is to show only green. Resist it.</a:t>
            </a:r>
          </a:p>
        </p:txBody>
      </p:sp>
      <p:sp>
        <p:nvSpPr>
          <p:cNvPr id="5" name="Rounded Rectangle 4"/>
          <p:cNvSpPr/>
          <p:nvPr/>
        </p:nvSpPr>
        <p:spPr>
          <a:xfrm>
            <a:off x="658368" y="4434840"/>
            <a:ext cx="10881360" cy="1325880"/>
          </a:xfrm>
          <a:prstGeom prst="roundRect">
            <a:avLst>
              <a:gd name="adj" fmla="val 45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59536" y="4626864"/>
            <a:ext cx="10479024" cy="1051560"/>
          </a:xfrm>
          <a:prstGeom prst="rect">
            <a:avLst/>
          </a:prstGeom>
          <a:noFill/>
        </p:spPr>
        <p:txBody>
          <a:bodyPr wrap="square">
            <a:spAutoFit/>
          </a:bodyPr>
          <a:lstStyle/>
          <a:p>
            <a:pPr>
              <a:spcAft>
                <a:spcPts val="700"/>
              </a:spcAft>
            </a:pPr>
            <a:r>
              <a:rPr sz="2300" b="1" i="0">
                <a:solidFill>
                  <a:srgbClr val="006E96"/>
                </a:solidFill>
                <a:latin typeface="Arial"/>
              </a:rPr>
              <a:t>A scorecard honestly amber where it should be is what keeps the EA funded across a change of minister.</a:t>
            </a:r>
          </a:p>
        </p:txBody>
      </p:sp>
      <p:sp>
        <p:nvSpPr>
          <p:cNvPr id="7" name="TextBox 6"/>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3.6 · Show the EA is working — the few metrics that matter</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005840" y="2103120"/>
            <a:ext cx="10149840" cy="2377440"/>
          </a:xfrm>
          <a:prstGeom prst="rect">
            <a:avLst/>
          </a:prstGeom>
          <a:noFill/>
        </p:spPr>
        <p:txBody>
          <a:bodyPr wrap="square">
            <a:spAutoFit/>
          </a:bodyPr>
          <a:lstStyle/>
          <a:p>
            <a:r>
              <a:rPr sz="3000" b="1" i="0">
                <a:solidFill>
                  <a:srgbClr val="1A1A1A"/>
                </a:solidFill>
                <a:latin typeface="Arial"/>
              </a:rPr>
              <a:t>A one-page quarterly scorecard — coverage, re-use rate, open exceptions, decisions — shows honestly whether the EA is working, and the re-use rate is what proves it pays.</a:t>
            </a:r>
          </a:p>
        </p:txBody>
      </p:sp>
      <p:sp>
        <p:nvSpPr>
          <p:cNvPr id="3" name="TextBox 2"/>
          <p:cNvSpPr txBox="1"/>
          <p:nvPr/>
        </p:nvSpPr>
        <p:spPr>
          <a:xfrm>
            <a:off x="1005840" y="1554480"/>
            <a:ext cx="5486400" cy="365760"/>
          </a:xfrm>
          <a:prstGeom prst="rect">
            <a:avLst/>
          </a:prstGeom>
          <a:noFill/>
        </p:spPr>
        <p:txBody>
          <a:bodyPr wrap="square">
            <a:spAutoFit/>
          </a:bodyPr>
          <a:lstStyle/>
          <a:p>
            <a:r>
              <a:rPr sz="1200" b="1" i="0">
                <a:solidFill>
                  <a:srgbClr val="006E96"/>
                </a:solidFill>
                <a:latin typeface="Arial"/>
              </a:rPr>
              <a:t>IN ONE SENTENCE</a:t>
            </a:r>
          </a:p>
        </p:txBody>
      </p:sp>
      <p:sp>
        <p:nvSpPr>
          <p:cNvPr id="4" name="Rounded Rectangle 3"/>
          <p:cNvSpPr/>
          <p:nvPr/>
        </p:nvSpPr>
        <p:spPr>
          <a:xfrm>
            <a:off x="658368" y="4709160"/>
            <a:ext cx="10881360" cy="1554480"/>
          </a:xfrm>
          <a:prstGeom prst="roundRect">
            <a:avLst>
              <a:gd name="adj" fmla="val 4500"/>
            </a:avLst>
          </a:prstGeom>
          <a:solidFill>
            <a:srgbClr val="FFFFFF"/>
          </a:solidFill>
          <a:ln w="9525">
            <a:solidFill>
              <a:srgbClr val="009C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09728" bIns="109728">
            <a:noAutofit/>
          </a:bodyPr>
          <a:lstStyle/>
          <a:p>
            <a:pPr algn="l">
              <a:spcAft>
                <a:spcPts val="400"/>
              </a:spcAft>
            </a:pPr>
            <a:r>
              <a:rPr sz="1800" b="1" i="0">
                <a:solidFill>
                  <a:srgbClr val="006E96"/>
                </a:solidFill>
                <a:latin typeface="Arial"/>
              </a:rPr>
              <a:t>Do this on your own sector. </a:t>
            </a:r>
            <a:r>
              <a:rPr sz="1800" b="1" i="0">
                <a:solidFill>
                  <a:srgbClr val="1A1A1A"/>
                </a:solidFill>
                <a:latin typeface="Arial"/>
              </a:rPr>
              <a:t>Build your EA health scorecard.</a:t>
            </a:r>
          </a:p>
          <a:p>
            <a:pPr algn="l">
              <a:spcAft>
                <a:spcPts val="400"/>
              </a:spcAft>
            </a:pPr>
            <a:r>
              <a:rPr sz="1800" b="0" i="0">
                <a:solidFill>
                  <a:srgbClr val="595959"/>
                </a:solidFill>
                <a:latin typeface="Arial"/>
              </a:rPr>
              <a:t>The prompt in the companion material gives you a one-page scorecard template with metrics, computations and thresholds. Before the next video.</a:t>
            </a:r>
          </a:p>
        </p:txBody>
      </p:sp>
      <p:sp>
        <p:nvSpPr>
          <p:cNvPr id="5" name="TextBox 4"/>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3.6 · Show the EA is working — the few metrics that matter</a:t>
            </a:r>
          </a:p>
        </p:txBody>
      </p:sp>
      <p:sp>
        <p:nvSpPr>
          <p:cNvPr id="6" name="TextBox 5"/>
          <p:cNvSpPr txBox="1"/>
          <p:nvPr/>
        </p:nvSpPr>
        <p:spPr>
          <a:xfrm>
            <a:off x="10058400" y="6473952"/>
            <a:ext cx="1673352" cy="292608"/>
          </a:xfrm>
          <a:prstGeom prst="rect">
            <a:avLst/>
          </a:prstGeom>
          <a:noFill/>
        </p:spPr>
        <p:txBody>
          <a:bodyPr wrap="square">
            <a:spAutoFit/>
          </a:bodyPr>
          <a:lstStyle/>
          <a:p>
            <a:pPr algn="r"/>
            <a:r>
              <a:rPr sz="900" b="0" i="0">
                <a:solidFill>
                  <a:srgbClr val="595959"/>
                </a:solidFill>
                <a:latin typeface="Arial"/>
              </a:rPr>
              <a:t>www.itu.int</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Sources</a:t>
            </a:r>
          </a:p>
        </p:txBody>
      </p:sp>
      <p:sp>
        <p:nvSpPr>
          <p:cNvPr id="4" name="TextBox 3"/>
          <p:cNvSpPr txBox="1"/>
          <p:nvPr/>
        </p:nvSpPr>
        <p:spPr>
          <a:xfrm>
            <a:off x="658368" y="1554480"/>
            <a:ext cx="10789920" cy="3840480"/>
          </a:xfrm>
          <a:prstGeom prst="rect">
            <a:avLst/>
          </a:prstGeom>
          <a:noFill/>
        </p:spPr>
        <p:txBody>
          <a:bodyPr wrap="square">
            <a:spAutoFit/>
          </a:bodyPr>
          <a:lstStyle/>
          <a:p>
            <a:pPr>
              <a:spcAft>
                <a:spcPts val="1200"/>
              </a:spcAft>
            </a:pPr>
            <a:r>
              <a:rPr sz="1700" b="0" i="0">
                <a:solidFill>
                  <a:srgbClr val="1A1A1A"/>
                </a:solidFill>
                <a:latin typeface="Arial"/>
              </a:rPr>
              <a:t>•  PAERA v1.0 — §5.4 (Organisational Assessment &amp; Roadmap)</a:t>
            </a:r>
          </a:p>
          <a:p>
            <a:pPr>
              <a:spcAft>
                <a:spcPts val="1200"/>
              </a:spcAft>
            </a:pPr>
            <a:r>
              <a:rPr sz="1700" b="0" i="0">
                <a:solidFill>
                  <a:srgbClr val="1A1A1A"/>
                </a:solidFill>
                <a:latin typeface="Arial"/>
              </a:rPr>
              <a:t>•  PAERA v1.0 — §5.7 (Recommended Roadmap — intermediate-results pattern)</a:t>
            </a:r>
          </a:p>
        </p:txBody>
      </p:sp>
      <p:sp>
        <p:nvSpPr>
          <p:cNvPr id="5" name="TextBox 4"/>
          <p:cNvSpPr txBox="1"/>
          <p:nvPr/>
        </p:nvSpPr>
        <p:spPr>
          <a:xfrm>
            <a:off x="658368" y="5806440"/>
            <a:ext cx="10789920" cy="457200"/>
          </a:xfrm>
          <a:prstGeom prst="rect">
            <a:avLst/>
          </a:prstGeom>
          <a:noFill/>
        </p:spPr>
        <p:txBody>
          <a:bodyPr wrap="square">
            <a:spAutoFit/>
          </a:bodyPr>
          <a:lstStyle/>
          <a:p>
            <a:r>
              <a:rPr sz="1400" b="1" i="0">
                <a:solidFill>
                  <a:srgbClr val="006E96"/>
                </a:solidFill>
                <a:latin typeface="Arial"/>
              </a:rPr>
              <a:t>Find the link in the description.</a:t>
            </a:r>
          </a:p>
        </p:txBody>
      </p:sp>
      <p:sp>
        <p:nvSpPr>
          <p:cNvPr id="6" name="TextBox 5"/>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3.6 · Show the EA is working — the few metrics that matter</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22960" y="822960"/>
            <a:ext cx="7315200" cy="457200"/>
          </a:xfrm>
          <a:prstGeom prst="rect">
            <a:avLst/>
          </a:prstGeom>
          <a:noFill/>
        </p:spPr>
        <p:txBody>
          <a:bodyPr wrap="square">
            <a:spAutoFit/>
          </a:bodyPr>
          <a:lstStyle/>
          <a:p>
            <a:r>
              <a:rPr sz="1200" b="1" i="0">
                <a:solidFill>
                  <a:srgbClr val="595959"/>
                </a:solidFill>
                <a:latin typeface="Arial"/>
              </a:rPr>
              <a:t>MODULE 3 · VIDEO 3.7</a:t>
            </a:r>
          </a:p>
        </p:txBody>
      </p:sp>
      <p:sp>
        <p:nvSpPr>
          <p:cNvPr id="3" name="TextBox 2"/>
          <p:cNvSpPr txBox="1"/>
          <p:nvPr/>
        </p:nvSpPr>
        <p:spPr>
          <a:xfrm>
            <a:off x="822960" y="1828800"/>
            <a:ext cx="2011680" cy="1097280"/>
          </a:xfrm>
          <a:prstGeom prst="rect">
            <a:avLst/>
          </a:prstGeom>
          <a:noFill/>
        </p:spPr>
        <p:txBody>
          <a:bodyPr wrap="square">
            <a:spAutoFit/>
          </a:bodyPr>
          <a:lstStyle/>
          <a:p>
            <a:r>
              <a:rPr sz="6000" b="1" i="0">
                <a:solidFill>
                  <a:srgbClr val="009CD6"/>
                </a:solidFill>
                <a:latin typeface="Arial"/>
              </a:rPr>
              <a:t>3.7</a:t>
            </a:r>
          </a:p>
        </p:txBody>
      </p:sp>
      <p:sp>
        <p:nvSpPr>
          <p:cNvPr id="4" name="TextBox 3"/>
          <p:cNvSpPr txBox="1"/>
          <p:nvPr/>
        </p:nvSpPr>
        <p:spPr>
          <a:xfrm>
            <a:off x="822960" y="2880360"/>
            <a:ext cx="9601200" cy="1371600"/>
          </a:xfrm>
          <a:prstGeom prst="rect">
            <a:avLst/>
          </a:prstGeom>
          <a:noFill/>
        </p:spPr>
        <p:txBody>
          <a:bodyPr wrap="square">
            <a:spAutoFit/>
          </a:bodyPr>
          <a:lstStyle/>
          <a:p>
            <a:r>
              <a:rPr sz="3400" b="1" i="0">
                <a:solidFill>
                  <a:srgbClr val="1A1A1A"/>
                </a:solidFill>
                <a:latin typeface="Arial"/>
              </a:rPr>
              <a:t>Keep the practice alive past year two</a:t>
            </a:r>
          </a:p>
        </p:txBody>
      </p:sp>
      <p:sp>
        <p:nvSpPr>
          <p:cNvPr id="5" name="TextBox 4"/>
          <p:cNvSpPr txBox="1"/>
          <p:nvPr/>
        </p:nvSpPr>
        <p:spPr>
          <a:xfrm>
            <a:off x="822960" y="4343400"/>
            <a:ext cx="9875520" cy="1554480"/>
          </a:xfrm>
          <a:prstGeom prst="rect">
            <a:avLst/>
          </a:prstGeom>
          <a:noFill/>
        </p:spPr>
        <p:txBody>
          <a:bodyPr wrap="square">
            <a:spAutoFit/>
          </a:bodyPr>
          <a:lstStyle/>
          <a:p>
            <a:r>
              <a:rPr sz="1700" b="0" i="1">
                <a:solidFill>
                  <a:srgbClr val="595959"/>
                </a:solidFill>
                <a:latin typeface="Arial"/>
              </a:rPr>
              <a:t>EA programmes rarely fail technically; they fade — the team gets pulled away, the repository goes stale, the Board drifts to advisory, the sponsor changes. Naming these four fade-modes and the move that counters each is how you keep the practice alive.</a:t>
            </a:r>
          </a:p>
        </p:txBody>
      </p:sp>
      <p:sp>
        <p:nvSpPr>
          <p:cNvPr id="6" name="TextBox 5"/>
          <p:cNvSpPr txBox="1"/>
          <p:nvPr/>
        </p:nvSpPr>
        <p:spPr>
          <a:xfrm>
            <a:off x="822960" y="5989320"/>
            <a:ext cx="7315200" cy="365760"/>
          </a:xfrm>
          <a:prstGeom prst="rect">
            <a:avLst/>
          </a:prstGeom>
          <a:noFill/>
        </p:spPr>
        <p:txBody>
          <a:bodyPr wrap="square">
            <a:spAutoFit/>
          </a:bodyPr>
          <a:lstStyle/>
          <a:p>
            <a:r>
              <a:rPr sz="1200" b="0" i="0">
                <a:solidFill>
                  <a:srgbClr val="595959"/>
                </a:solidFill>
                <a:latin typeface="Arial"/>
              </a:rPr>
              <a:t>standalone video · voice-over on text slides</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005840" y="1325880"/>
            <a:ext cx="5486400" cy="365760"/>
          </a:xfrm>
          <a:prstGeom prst="rect">
            <a:avLst/>
          </a:prstGeom>
          <a:noFill/>
        </p:spPr>
        <p:txBody>
          <a:bodyPr wrap="square">
            <a:spAutoFit/>
          </a:bodyPr>
          <a:lstStyle/>
          <a:p>
            <a:r>
              <a:rPr sz="1200" b="1" i="0">
                <a:solidFill>
                  <a:srgbClr val="006E96"/>
                </a:solidFill>
                <a:latin typeface="Arial"/>
              </a:rPr>
              <a:t>WHERE WE START</a:t>
            </a:r>
          </a:p>
        </p:txBody>
      </p:sp>
      <p:sp>
        <p:nvSpPr>
          <p:cNvPr id="3" name="TextBox 2"/>
          <p:cNvSpPr txBox="1"/>
          <p:nvPr/>
        </p:nvSpPr>
        <p:spPr>
          <a:xfrm>
            <a:off x="1005840" y="1783080"/>
            <a:ext cx="10149840" cy="1737360"/>
          </a:xfrm>
          <a:prstGeom prst="rect">
            <a:avLst/>
          </a:prstGeom>
          <a:noFill/>
        </p:spPr>
        <p:txBody>
          <a:bodyPr wrap="square">
            <a:spAutoFit/>
          </a:bodyPr>
          <a:lstStyle/>
          <a:p>
            <a:r>
              <a:rPr sz="3000" b="1" i="0">
                <a:solidFill>
                  <a:srgbClr val="1A1A1A"/>
                </a:solidFill>
                <a:latin typeface="Arial"/>
              </a:rPr>
              <a:t>Most EA programmes do not fail dramatically. They fade.</a:t>
            </a:r>
          </a:p>
        </p:txBody>
      </p:sp>
      <p:sp>
        <p:nvSpPr>
          <p:cNvPr id="4" name="TextBox 3"/>
          <p:cNvSpPr txBox="1"/>
          <p:nvPr/>
        </p:nvSpPr>
        <p:spPr>
          <a:xfrm>
            <a:off x="1005840" y="3611880"/>
            <a:ext cx="10149840" cy="2377440"/>
          </a:xfrm>
          <a:prstGeom prst="rect">
            <a:avLst/>
          </a:prstGeom>
          <a:noFill/>
        </p:spPr>
        <p:txBody>
          <a:bodyPr wrap="square">
            <a:spAutoFit/>
          </a:bodyPr>
          <a:lstStyle/>
          <a:p>
            <a:pPr>
              <a:spcAft>
                <a:spcPts val="800"/>
              </a:spcAft>
            </a:pPr>
            <a:r>
              <a:rPr sz="1700" b="0" i="0">
                <a:solidFill>
                  <a:srgbClr val="595959"/>
                </a:solidFill>
                <a:latin typeface="Arial"/>
              </a:rPr>
              <a:t>The first six months go well.</a:t>
            </a:r>
          </a:p>
          <a:p>
            <a:pPr>
              <a:spcAft>
                <a:spcPts val="800"/>
              </a:spcAft>
            </a:pPr>
            <a:r>
              <a:rPr sz="1700" b="0" i="0">
                <a:solidFill>
                  <a:srgbClr val="595959"/>
                </a:solidFill>
                <a:latin typeface="Arial"/>
              </a:rPr>
              <a:t>Then, somewhere in the second year, the practice quietly stops mattering.</a:t>
            </a:r>
          </a:p>
          <a:p>
            <a:pPr>
              <a:spcAft>
                <a:spcPts val="800"/>
              </a:spcAft>
            </a:pPr>
            <a:r>
              <a:rPr sz="1700" b="0" i="0">
                <a:solidFill>
                  <a:srgbClr val="595959"/>
                </a:solidFill>
                <a:latin typeface="Arial"/>
              </a:rPr>
              <a:t>The fade is predictable, and it comes in four forms.</a:t>
            </a:r>
          </a:p>
        </p:txBody>
      </p:sp>
      <p:sp>
        <p:nvSpPr>
          <p:cNvPr id="5" name="TextBox 4"/>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3.7 · Keep the practice alive past year two</a:t>
            </a:r>
          </a:p>
        </p:txBody>
      </p:sp>
      <p:sp>
        <p:nvSpPr>
          <p:cNvPr id="6" name="TextBox 5"/>
          <p:cNvSpPr txBox="1"/>
          <p:nvPr/>
        </p:nvSpPr>
        <p:spPr>
          <a:xfrm>
            <a:off x="10058400" y="6473952"/>
            <a:ext cx="1673352" cy="292608"/>
          </a:xfrm>
          <a:prstGeom prst="rect">
            <a:avLst/>
          </a:prstGeom>
          <a:noFill/>
        </p:spPr>
        <p:txBody>
          <a:bodyPr wrap="square">
            <a:spAutoFit/>
          </a:bodyPr>
          <a:lstStyle/>
          <a:p>
            <a:pPr algn="r"/>
            <a:r>
              <a:rPr sz="900" b="0" i="0">
                <a:solidFill>
                  <a:srgbClr val="595959"/>
                </a:solidFill>
                <a:latin typeface="Arial"/>
              </a:rPr>
              <a:t>www.itu.int</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Fade one — your architects are the obvious people to second to the crisis</a:t>
            </a:r>
          </a:p>
        </p:txBody>
      </p:sp>
      <p:sp>
        <p:nvSpPr>
          <p:cNvPr id="4" name="Rounded Rectangle 3"/>
          <p:cNvSpPr/>
          <p:nvPr/>
        </p:nvSpPr>
        <p:spPr>
          <a:xfrm>
            <a:off x="7360920" y="1207008"/>
            <a:ext cx="841248" cy="310896"/>
          </a:xfrm>
          <a:prstGeom prst="roundRect">
            <a:avLst>
              <a:gd name="adj" fmla="val 35000"/>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8257032" y="1207008"/>
            <a:ext cx="841248" cy="310896"/>
          </a:xfrm>
          <a:prstGeom prst="roundRect">
            <a:avLst>
              <a:gd name="adj" fmla="val 350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9153144" y="1207008"/>
            <a:ext cx="841248" cy="310896"/>
          </a:xfrm>
          <a:prstGeom prst="roundRect">
            <a:avLst>
              <a:gd name="adj" fmla="val 350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10049256" y="1207008"/>
            <a:ext cx="841248" cy="310896"/>
          </a:xfrm>
          <a:prstGeom prst="roundRect">
            <a:avLst>
              <a:gd name="adj" fmla="val 350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658368" y="1691640"/>
            <a:ext cx="10881360" cy="1920240"/>
          </a:xfrm>
          <a:prstGeom prst="roundRect">
            <a:avLst>
              <a:gd name="adj" fmla="val 45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68680" y="1874520"/>
            <a:ext cx="2286000" cy="365760"/>
          </a:xfrm>
          <a:prstGeom prst="rect">
            <a:avLst/>
          </a:prstGeom>
          <a:noFill/>
        </p:spPr>
        <p:txBody>
          <a:bodyPr wrap="square">
            <a:spAutoFit/>
          </a:bodyPr>
          <a:lstStyle/>
          <a:p>
            <a:r>
              <a:rPr sz="1100" b="1" i="0">
                <a:solidFill>
                  <a:srgbClr val="006E96"/>
                </a:solidFill>
                <a:latin typeface="Arial"/>
              </a:rPr>
              <a:t>HOW IT FADES</a:t>
            </a:r>
          </a:p>
        </p:txBody>
      </p:sp>
      <p:sp>
        <p:nvSpPr>
          <p:cNvPr id="10" name="TextBox 9"/>
          <p:cNvSpPr txBox="1"/>
          <p:nvPr/>
        </p:nvSpPr>
        <p:spPr>
          <a:xfrm>
            <a:off x="3200400" y="1847088"/>
            <a:ext cx="8092440" cy="1600200"/>
          </a:xfrm>
          <a:prstGeom prst="rect">
            <a:avLst/>
          </a:prstGeom>
          <a:noFill/>
        </p:spPr>
        <p:txBody>
          <a:bodyPr wrap="square">
            <a:spAutoFit/>
          </a:bodyPr>
          <a:lstStyle/>
          <a:p>
            <a:r>
              <a:rPr sz="1800" b="0" i="0">
                <a:solidFill>
                  <a:srgbClr val="1A1A1A"/>
                </a:solidFill>
                <a:latin typeface="Arial"/>
              </a:rPr>
              <a:t>A flagship programme runs into trouble and needs skilled people. Your architects go “just for a few months”, and the architecture work stops. This is the most common way EA programmes die.</a:t>
            </a:r>
          </a:p>
        </p:txBody>
      </p:sp>
      <p:sp>
        <p:nvSpPr>
          <p:cNvPr id="11" name="Rounded Rectangle 10"/>
          <p:cNvSpPr/>
          <p:nvPr/>
        </p:nvSpPr>
        <p:spPr>
          <a:xfrm>
            <a:off x="658368" y="3931920"/>
            <a:ext cx="10881360" cy="1920240"/>
          </a:xfrm>
          <a:prstGeom prst="roundRect">
            <a:avLst>
              <a:gd name="adj" fmla="val 4500"/>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68680" y="4114800"/>
            <a:ext cx="2286000" cy="365760"/>
          </a:xfrm>
          <a:prstGeom prst="rect">
            <a:avLst/>
          </a:prstGeom>
          <a:noFill/>
        </p:spPr>
        <p:txBody>
          <a:bodyPr wrap="square">
            <a:spAutoFit/>
          </a:bodyPr>
          <a:lstStyle/>
          <a:p>
            <a:r>
              <a:rPr sz="1100" b="1" i="0">
                <a:solidFill>
                  <a:srgbClr val="FFFFFF"/>
                </a:solidFill>
                <a:latin typeface="Arial"/>
              </a:rPr>
              <a:t>THE COUNTER</a:t>
            </a:r>
          </a:p>
        </p:txBody>
      </p:sp>
      <p:sp>
        <p:nvSpPr>
          <p:cNvPr id="13" name="TextBox 12"/>
          <p:cNvSpPr txBox="1"/>
          <p:nvPr/>
        </p:nvSpPr>
        <p:spPr>
          <a:xfrm>
            <a:off x="3200400" y="4087368"/>
            <a:ext cx="8092440" cy="1600200"/>
          </a:xfrm>
          <a:prstGeom prst="rect">
            <a:avLst/>
          </a:prstGeom>
          <a:noFill/>
        </p:spPr>
        <p:txBody>
          <a:bodyPr wrap="square">
            <a:spAutoFit/>
          </a:bodyPr>
          <a:lstStyle/>
          <a:p>
            <a:r>
              <a:rPr sz="1800" b="0" i="0">
                <a:solidFill>
                  <a:srgbClr val="FFFFFF"/>
                </a:solidFill>
                <a:latin typeface="Arial"/>
              </a:rPr>
              <a:t>A written protection promise — an explicit commitment that the EA team will not be pulled onto the urgent project of the week — recommitted whenever the minister or the sponsor changes.</a:t>
            </a:r>
          </a:p>
        </p:txBody>
      </p:sp>
      <p:sp>
        <p:nvSpPr>
          <p:cNvPr id="14" name="TextBox 13"/>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3.7 · Keep the practice alive past year two</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Fade two — an unused repository is a dead one</a:t>
            </a:r>
          </a:p>
        </p:txBody>
      </p:sp>
      <p:sp>
        <p:nvSpPr>
          <p:cNvPr id="4" name="Rounded Rectangle 3"/>
          <p:cNvSpPr/>
          <p:nvPr/>
        </p:nvSpPr>
        <p:spPr>
          <a:xfrm>
            <a:off x="7360920" y="1207008"/>
            <a:ext cx="841248" cy="310896"/>
          </a:xfrm>
          <a:prstGeom prst="roundRect">
            <a:avLst>
              <a:gd name="adj" fmla="val 350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8257032" y="1207008"/>
            <a:ext cx="841248" cy="310896"/>
          </a:xfrm>
          <a:prstGeom prst="roundRect">
            <a:avLst>
              <a:gd name="adj" fmla="val 35000"/>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9153144" y="1207008"/>
            <a:ext cx="841248" cy="310896"/>
          </a:xfrm>
          <a:prstGeom prst="roundRect">
            <a:avLst>
              <a:gd name="adj" fmla="val 350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10049256" y="1207008"/>
            <a:ext cx="841248" cy="310896"/>
          </a:xfrm>
          <a:prstGeom prst="roundRect">
            <a:avLst>
              <a:gd name="adj" fmla="val 350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658368" y="1691640"/>
            <a:ext cx="10881360" cy="1920240"/>
          </a:xfrm>
          <a:prstGeom prst="roundRect">
            <a:avLst>
              <a:gd name="adj" fmla="val 45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68680" y="1874520"/>
            <a:ext cx="2286000" cy="365760"/>
          </a:xfrm>
          <a:prstGeom prst="rect">
            <a:avLst/>
          </a:prstGeom>
          <a:noFill/>
        </p:spPr>
        <p:txBody>
          <a:bodyPr wrap="square">
            <a:spAutoFit/>
          </a:bodyPr>
          <a:lstStyle/>
          <a:p>
            <a:r>
              <a:rPr sz="1100" b="1" i="0">
                <a:solidFill>
                  <a:srgbClr val="006E96"/>
                </a:solidFill>
                <a:latin typeface="Arial"/>
              </a:rPr>
              <a:t>HOW IT FADES</a:t>
            </a:r>
          </a:p>
        </p:txBody>
      </p:sp>
      <p:sp>
        <p:nvSpPr>
          <p:cNvPr id="10" name="TextBox 9"/>
          <p:cNvSpPr txBox="1"/>
          <p:nvPr/>
        </p:nvSpPr>
        <p:spPr>
          <a:xfrm>
            <a:off x="3200400" y="1847088"/>
            <a:ext cx="8092440" cy="1600200"/>
          </a:xfrm>
          <a:prstGeom prst="rect">
            <a:avLst/>
          </a:prstGeom>
          <a:noFill/>
        </p:spPr>
        <p:txBody>
          <a:bodyPr wrap="square">
            <a:spAutoFit/>
          </a:bodyPr>
          <a:lstStyle/>
          <a:p>
            <a:r>
              <a:rPr sz="1800" b="0" i="0">
                <a:solidFill>
                  <a:srgbClr val="1A1A1A"/>
                </a:solidFill>
                <a:latin typeface="Arial"/>
              </a:rPr>
              <a:t>Updates slip during a busy quarter. The picture drifts from reality. Someone relies on it, gets burned, and word spreads that the repository cannot be trusted. Once trust goes, people stop using it.</a:t>
            </a:r>
          </a:p>
        </p:txBody>
      </p:sp>
      <p:sp>
        <p:nvSpPr>
          <p:cNvPr id="11" name="Rounded Rectangle 10"/>
          <p:cNvSpPr/>
          <p:nvPr/>
        </p:nvSpPr>
        <p:spPr>
          <a:xfrm>
            <a:off x="658368" y="3931920"/>
            <a:ext cx="10881360" cy="1920240"/>
          </a:xfrm>
          <a:prstGeom prst="roundRect">
            <a:avLst>
              <a:gd name="adj" fmla="val 4500"/>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68680" y="4114800"/>
            <a:ext cx="2286000" cy="365760"/>
          </a:xfrm>
          <a:prstGeom prst="rect">
            <a:avLst/>
          </a:prstGeom>
          <a:noFill/>
        </p:spPr>
        <p:txBody>
          <a:bodyPr wrap="square">
            <a:spAutoFit/>
          </a:bodyPr>
          <a:lstStyle/>
          <a:p>
            <a:r>
              <a:rPr sz="1100" b="1" i="0">
                <a:solidFill>
                  <a:srgbClr val="FFFFFF"/>
                </a:solidFill>
                <a:latin typeface="Arial"/>
              </a:rPr>
              <a:t>THE COUNTER</a:t>
            </a:r>
          </a:p>
        </p:txBody>
      </p:sp>
      <p:sp>
        <p:nvSpPr>
          <p:cNvPr id="13" name="TextBox 12"/>
          <p:cNvSpPr txBox="1"/>
          <p:nvPr/>
        </p:nvSpPr>
        <p:spPr>
          <a:xfrm>
            <a:off x="3200400" y="4087368"/>
            <a:ext cx="8092440" cy="1600200"/>
          </a:xfrm>
          <a:prstGeom prst="rect">
            <a:avLst/>
          </a:prstGeom>
          <a:noFill/>
        </p:spPr>
        <p:txBody>
          <a:bodyPr wrap="square">
            <a:spAutoFit/>
          </a:bodyPr>
          <a:lstStyle/>
          <a:p>
            <a:r>
              <a:rPr sz="1800" b="0" i="0">
                <a:solidFill>
                  <a:srgbClr val="FFFFFF"/>
                </a:solidFill>
                <a:latin typeface="Arial"/>
              </a:rPr>
              <a:t>The update discipline: one named owner accountable for currency, updates tied to real events and to the review gate — so the repository stays true as a by-product of work that happens anyway.</a:t>
            </a:r>
          </a:p>
        </p:txBody>
      </p:sp>
      <p:sp>
        <p:nvSpPr>
          <p:cNvPr id="14" name="TextBox 13"/>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3.7 · Keep the practice alive past year two</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Fade three — a Board overruled in silence is a Board being dismantled</a:t>
            </a:r>
          </a:p>
        </p:txBody>
      </p:sp>
      <p:sp>
        <p:nvSpPr>
          <p:cNvPr id="4" name="Rounded Rectangle 3"/>
          <p:cNvSpPr/>
          <p:nvPr/>
        </p:nvSpPr>
        <p:spPr>
          <a:xfrm>
            <a:off x="7360920" y="1207008"/>
            <a:ext cx="841248" cy="310896"/>
          </a:xfrm>
          <a:prstGeom prst="roundRect">
            <a:avLst>
              <a:gd name="adj" fmla="val 350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8257032" y="1207008"/>
            <a:ext cx="841248" cy="310896"/>
          </a:xfrm>
          <a:prstGeom prst="roundRect">
            <a:avLst>
              <a:gd name="adj" fmla="val 350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9153144" y="1207008"/>
            <a:ext cx="841248" cy="310896"/>
          </a:xfrm>
          <a:prstGeom prst="roundRect">
            <a:avLst>
              <a:gd name="adj" fmla="val 35000"/>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10049256" y="1207008"/>
            <a:ext cx="841248" cy="310896"/>
          </a:xfrm>
          <a:prstGeom prst="roundRect">
            <a:avLst>
              <a:gd name="adj" fmla="val 350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658368" y="1691640"/>
            <a:ext cx="10881360" cy="1920240"/>
          </a:xfrm>
          <a:prstGeom prst="roundRect">
            <a:avLst>
              <a:gd name="adj" fmla="val 45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68680" y="1874520"/>
            <a:ext cx="2286000" cy="365760"/>
          </a:xfrm>
          <a:prstGeom prst="rect">
            <a:avLst/>
          </a:prstGeom>
          <a:noFill/>
        </p:spPr>
        <p:txBody>
          <a:bodyPr wrap="square">
            <a:spAutoFit/>
          </a:bodyPr>
          <a:lstStyle/>
          <a:p>
            <a:r>
              <a:rPr sz="1100" b="1" i="0">
                <a:solidFill>
                  <a:srgbClr val="006E96"/>
                </a:solidFill>
                <a:latin typeface="Arial"/>
              </a:rPr>
              <a:t>HOW IT FADES</a:t>
            </a:r>
          </a:p>
        </p:txBody>
      </p:sp>
      <p:sp>
        <p:nvSpPr>
          <p:cNvPr id="10" name="TextBox 9"/>
          <p:cNvSpPr txBox="1"/>
          <p:nvPr/>
        </p:nvSpPr>
        <p:spPr>
          <a:xfrm>
            <a:off x="3200400" y="1847088"/>
            <a:ext cx="8092440" cy="1600200"/>
          </a:xfrm>
          <a:prstGeom prst="rect">
            <a:avLst/>
          </a:prstGeom>
          <a:noFill/>
        </p:spPr>
        <p:txBody>
          <a:bodyPr wrap="square">
            <a:spAutoFit/>
          </a:bodyPr>
          <a:lstStyle/>
          <a:p>
            <a:r>
              <a:rPr sz="1800" b="0" i="0">
                <a:solidFill>
                  <a:srgbClr val="1A1A1A"/>
                </a:solidFill>
                <a:latin typeface="Arial"/>
              </a:rPr>
              <a:t>Under delivery pressure, a powerful project is let through despite the Board’s objection. Then another. The no becomes a suggestion, projects learn they can route around it, and within a year it is a discussion group again.</a:t>
            </a:r>
          </a:p>
        </p:txBody>
      </p:sp>
      <p:sp>
        <p:nvSpPr>
          <p:cNvPr id="11" name="Rounded Rectangle 10"/>
          <p:cNvSpPr/>
          <p:nvPr/>
        </p:nvSpPr>
        <p:spPr>
          <a:xfrm>
            <a:off x="658368" y="3931920"/>
            <a:ext cx="10881360" cy="1920240"/>
          </a:xfrm>
          <a:prstGeom prst="roundRect">
            <a:avLst>
              <a:gd name="adj" fmla="val 4500"/>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68680" y="4114800"/>
            <a:ext cx="2286000" cy="365760"/>
          </a:xfrm>
          <a:prstGeom prst="rect">
            <a:avLst/>
          </a:prstGeom>
          <a:noFill/>
        </p:spPr>
        <p:txBody>
          <a:bodyPr wrap="square">
            <a:spAutoFit/>
          </a:bodyPr>
          <a:lstStyle/>
          <a:p>
            <a:r>
              <a:rPr sz="1100" b="1" i="0">
                <a:solidFill>
                  <a:srgbClr val="FFFFFF"/>
                </a:solidFill>
                <a:latin typeface="Arial"/>
              </a:rPr>
              <a:t>THE COUNTER</a:t>
            </a:r>
          </a:p>
        </p:txBody>
      </p:sp>
      <p:sp>
        <p:nvSpPr>
          <p:cNvPr id="13" name="TextBox 12"/>
          <p:cNvSpPr txBox="1"/>
          <p:nvPr/>
        </p:nvSpPr>
        <p:spPr>
          <a:xfrm>
            <a:off x="3200400" y="4087368"/>
            <a:ext cx="8092440" cy="1600200"/>
          </a:xfrm>
          <a:prstGeom prst="rect">
            <a:avLst/>
          </a:prstGeom>
          <a:noFill/>
        </p:spPr>
        <p:txBody>
          <a:bodyPr wrap="square">
            <a:spAutoFit/>
          </a:bodyPr>
          <a:lstStyle/>
          <a:p>
            <a:r>
              <a:rPr sz="1800" b="0" i="0">
                <a:solidFill>
                  <a:srgbClr val="FFFFFF"/>
                </a:solidFill>
                <a:latin typeface="Arial"/>
              </a:rPr>
              <a:t>Protect the binding authority deliberately — and track and report every time the Board is overruled. Sunlight on overrides is what keeps the authority real.</a:t>
            </a:r>
          </a:p>
        </p:txBody>
      </p:sp>
      <p:sp>
        <p:nvSpPr>
          <p:cNvPr id="14" name="TextBox 13"/>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3.7 · Keep the practice alive past year two</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Fade four — an EA that depends on one champion dies with that champion</a:t>
            </a:r>
          </a:p>
        </p:txBody>
      </p:sp>
      <p:sp>
        <p:nvSpPr>
          <p:cNvPr id="4" name="Rounded Rectangle 3"/>
          <p:cNvSpPr/>
          <p:nvPr/>
        </p:nvSpPr>
        <p:spPr>
          <a:xfrm>
            <a:off x="7360920" y="1207008"/>
            <a:ext cx="841248" cy="310896"/>
          </a:xfrm>
          <a:prstGeom prst="roundRect">
            <a:avLst>
              <a:gd name="adj" fmla="val 350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8257032" y="1207008"/>
            <a:ext cx="841248" cy="310896"/>
          </a:xfrm>
          <a:prstGeom prst="roundRect">
            <a:avLst>
              <a:gd name="adj" fmla="val 350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9153144" y="1207008"/>
            <a:ext cx="841248" cy="310896"/>
          </a:xfrm>
          <a:prstGeom prst="roundRect">
            <a:avLst>
              <a:gd name="adj" fmla="val 350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10049256" y="1207008"/>
            <a:ext cx="841248" cy="310896"/>
          </a:xfrm>
          <a:prstGeom prst="roundRect">
            <a:avLst>
              <a:gd name="adj" fmla="val 35000"/>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658368" y="1691640"/>
            <a:ext cx="10881360" cy="1920240"/>
          </a:xfrm>
          <a:prstGeom prst="roundRect">
            <a:avLst>
              <a:gd name="adj" fmla="val 45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68680" y="1874520"/>
            <a:ext cx="2286000" cy="365760"/>
          </a:xfrm>
          <a:prstGeom prst="rect">
            <a:avLst/>
          </a:prstGeom>
          <a:noFill/>
        </p:spPr>
        <p:txBody>
          <a:bodyPr wrap="square">
            <a:spAutoFit/>
          </a:bodyPr>
          <a:lstStyle/>
          <a:p>
            <a:r>
              <a:rPr sz="1100" b="1" i="0">
                <a:solidFill>
                  <a:srgbClr val="006E96"/>
                </a:solidFill>
                <a:latin typeface="Arial"/>
              </a:rPr>
              <a:t>HOW IT FADES</a:t>
            </a:r>
          </a:p>
        </p:txBody>
      </p:sp>
      <p:sp>
        <p:nvSpPr>
          <p:cNvPr id="10" name="TextBox 9"/>
          <p:cNvSpPr txBox="1"/>
          <p:nvPr/>
        </p:nvSpPr>
        <p:spPr>
          <a:xfrm>
            <a:off x="3200400" y="1847088"/>
            <a:ext cx="8092440" cy="1600200"/>
          </a:xfrm>
          <a:prstGeom prst="rect">
            <a:avLst/>
          </a:prstGeom>
          <a:noFill/>
        </p:spPr>
        <p:txBody>
          <a:bodyPr wrap="square">
            <a:spAutoFit/>
          </a:bodyPr>
          <a:lstStyle/>
          <a:p>
            <a:r>
              <a:rPr sz="1800" b="0" i="0">
                <a:solidFill>
                  <a:srgbClr val="1A1A1A"/>
                </a:solidFill>
                <a:latin typeface="Arial"/>
              </a:rPr>
              <a:t>The minister or the digitalisation officer who championed the EA moves on. The successor has their own priorities and no attachment to this one.</a:t>
            </a:r>
          </a:p>
        </p:txBody>
      </p:sp>
      <p:sp>
        <p:nvSpPr>
          <p:cNvPr id="11" name="Rounded Rectangle 10"/>
          <p:cNvSpPr/>
          <p:nvPr/>
        </p:nvSpPr>
        <p:spPr>
          <a:xfrm>
            <a:off x="658368" y="3931920"/>
            <a:ext cx="10881360" cy="1920240"/>
          </a:xfrm>
          <a:prstGeom prst="roundRect">
            <a:avLst>
              <a:gd name="adj" fmla="val 4500"/>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68680" y="4114800"/>
            <a:ext cx="2286000" cy="365760"/>
          </a:xfrm>
          <a:prstGeom prst="rect">
            <a:avLst/>
          </a:prstGeom>
          <a:noFill/>
        </p:spPr>
        <p:txBody>
          <a:bodyPr wrap="square">
            <a:spAutoFit/>
          </a:bodyPr>
          <a:lstStyle/>
          <a:p>
            <a:r>
              <a:rPr sz="1100" b="1" i="0">
                <a:solidFill>
                  <a:srgbClr val="FFFFFF"/>
                </a:solidFill>
                <a:latin typeface="Arial"/>
              </a:rPr>
              <a:t>THE COUNTER</a:t>
            </a:r>
          </a:p>
        </p:txBody>
      </p:sp>
      <p:sp>
        <p:nvSpPr>
          <p:cNvPr id="13" name="TextBox 12"/>
          <p:cNvSpPr txBox="1"/>
          <p:nvPr/>
        </p:nvSpPr>
        <p:spPr>
          <a:xfrm>
            <a:off x="3200400" y="4087368"/>
            <a:ext cx="8092440" cy="1600200"/>
          </a:xfrm>
          <a:prstGeom prst="rect">
            <a:avLst/>
          </a:prstGeom>
          <a:noFill/>
        </p:spPr>
        <p:txBody>
          <a:bodyPr wrap="square">
            <a:spAutoFit/>
          </a:bodyPr>
          <a:lstStyle/>
          <a:p>
            <a:r>
              <a:rPr sz="1800" b="0" i="0">
                <a:solidFill>
                  <a:srgbClr val="FFFFFF"/>
                </a:solidFill>
                <a:latin typeface="Arial"/>
              </a:rPr>
              <a:t>Institutionalise it: a legal mandate for the Board, not just a memo. A budget line, not an annual favour. And the one-page scorecard, so a new sponsor can see in five minutes that the EA is returning its cost.</a:t>
            </a:r>
          </a:p>
        </p:txBody>
      </p:sp>
      <p:sp>
        <p:nvSpPr>
          <p:cNvPr id="14" name="TextBox 13"/>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3.7 · Keep the practice alive past year two</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You are building something designed to outlast you</a:t>
            </a:r>
          </a:p>
        </p:txBody>
      </p:sp>
      <p:sp>
        <p:nvSpPr>
          <p:cNvPr id="4" name="TextBox 3"/>
          <p:cNvSpPr txBox="1"/>
          <p:nvPr/>
        </p:nvSpPr>
        <p:spPr>
          <a:xfrm>
            <a:off x="658368" y="1600200"/>
            <a:ext cx="10881360" cy="2651760"/>
          </a:xfrm>
          <a:prstGeom prst="rect">
            <a:avLst/>
          </a:prstGeom>
          <a:noFill/>
        </p:spPr>
        <p:txBody>
          <a:bodyPr wrap="square">
            <a:spAutoFit/>
          </a:bodyPr>
          <a:lstStyle/>
          <a:p>
            <a:pPr>
              <a:spcAft>
                <a:spcPts val="1200"/>
              </a:spcAft>
            </a:pPr>
            <a:r>
              <a:rPr sz="2000" b="0" i="0">
                <a:solidFill>
                  <a:srgbClr val="1A1A1A"/>
                </a:solidFill>
                <a:latin typeface="Arial"/>
              </a:rPr>
              <a:t>A mature EA practice takes about five years. The architect who stands it up is rarely the one who sees it mature. That is not a reason for discouragement — it is the job.</a:t>
            </a:r>
          </a:p>
          <a:p>
            <a:pPr>
              <a:spcAft>
                <a:spcPts val="1200"/>
              </a:spcAft>
            </a:pPr>
            <a:r>
              <a:rPr sz="2000" b="0" i="0">
                <a:solidFill>
                  <a:srgbClr val="1A1A1A"/>
                </a:solidFill>
                <a:latin typeface="Arial"/>
              </a:rPr>
              <a:t>A repository that stays true without you. A Board that holds without you. A mandate that survives the next election.</a:t>
            </a:r>
          </a:p>
        </p:txBody>
      </p:sp>
      <p:sp>
        <p:nvSpPr>
          <p:cNvPr id="5" name="Rounded Rectangle 4"/>
          <p:cNvSpPr/>
          <p:nvPr/>
        </p:nvSpPr>
        <p:spPr>
          <a:xfrm>
            <a:off x="658368" y="4434840"/>
            <a:ext cx="10881360" cy="1325880"/>
          </a:xfrm>
          <a:prstGeom prst="roundRect">
            <a:avLst>
              <a:gd name="adj" fmla="val 45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59536" y="4626864"/>
            <a:ext cx="10479024" cy="1051560"/>
          </a:xfrm>
          <a:prstGeom prst="rect">
            <a:avLst/>
          </a:prstGeom>
          <a:noFill/>
        </p:spPr>
        <p:txBody>
          <a:bodyPr wrap="square">
            <a:spAutoFit/>
          </a:bodyPr>
          <a:lstStyle/>
          <a:p>
            <a:pPr>
              <a:spcAft>
                <a:spcPts val="700"/>
              </a:spcAft>
            </a:pPr>
            <a:r>
              <a:rPr sz="2300" b="1" i="0">
                <a:solidFill>
                  <a:srgbClr val="006E96"/>
                </a:solidFill>
                <a:latin typeface="Arial"/>
              </a:rPr>
              <a:t>Build it to survive you, and you have done the work.</a:t>
            </a:r>
          </a:p>
        </p:txBody>
      </p:sp>
      <p:sp>
        <p:nvSpPr>
          <p:cNvPr id="7" name="TextBox 6"/>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3.7 · Keep the practice alive past year two</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005840" y="2103120"/>
            <a:ext cx="10149840" cy="2377440"/>
          </a:xfrm>
          <a:prstGeom prst="rect">
            <a:avLst/>
          </a:prstGeom>
          <a:noFill/>
        </p:spPr>
        <p:txBody>
          <a:bodyPr wrap="square">
            <a:spAutoFit/>
          </a:bodyPr>
          <a:lstStyle/>
          <a:p>
            <a:r>
              <a:rPr sz="3000" b="1" i="0">
                <a:solidFill>
                  <a:srgbClr val="1A1A1A"/>
                </a:solidFill>
                <a:latin typeface="Arial"/>
              </a:rPr>
              <a:t>EA programmes fade in four ways — team pulled, repository stale, Board gone advisory, sponsor changed — and you counter each by institutionalising the practice so it survives you.</a:t>
            </a:r>
          </a:p>
        </p:txBody>
      </p:sp>
      <p:sp>
        <p:nvSpPr>
          <p:cNvPr id="3" name="TextBox 2"/>
          <p:cNvSpPr txBox="1"/>
          <p:nvPr/>
        </p:nvSpPr>
        <p:spPr>
          <a:xfrm>
            <a:off x="1005840" y="1554480"/>
            <a:ext cx="5486400" cy="365760"/>
          </a:xfrm>
          <a:prstGeom prst="rect">
            <a:avLst/>
          </a:prstGeom>
          <a:noFill/>
        </p:spPr>
        <p:txBody>
          <a:bodyPr wrap="square">
            <a:spAutoFit/>
          </a:bodyPr>
          <a:lstStyle/>
          <a:p>
            <a:r>
              <a:rPr sz="1200" b="1" i="0">
                <a:solidFill>
                  <a:srgbClr val="006E96"/>
                </a:solidFill>
                <a:latin typeface="Arial"/>
              </a:rPr>
              <a:t>IN ONE SENTENCE</a:t>
            </a:r>
          </a:p>
        </p:txBody>
      </p:sp>
      <p:sp>
        <p:nvSpPr>
          <p:cNvPr id="4" name="Rounded Rectangle 3"/>
          <p:cNvSpPr/>
          <p:nvPr/>
        </p:nvSpPr>
        <p:spPr>
          <a:xfrm>
            <a:off x="658368" y="4709160"/>
            <a:ext cx="10881360" cy="1554480"/>
          </a:xfrm>
          <a:prstGeom prst="roundRect">
            <a:avLst>
              <a:gd name="adj" fmla="val 4500"/>
            </a:avLst>
          </a:prstGeom>
          <a:solidFill>
            <a:srgbClr val="FFFFFF"/>
          </a:solidFill>
          <a:ln w="9525">
            <a:solidFill>
              <a:srgbClr val="009C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09728" bIns="109728">
            <a:noAutofit/>
          </a:bodyPr>
          <a:lstStyle/>
          <a:p>
            <a:pPr algn="l">
              <a:spcAft>
                <a:spcPts val="400"/>
              </a:spcAft>
            </a:pPr>
            <a:r>
              <a:rPr sz="1800" b="1" i="0">
                <a:solidFill>
                  <a:srgbClr val="006E96"/>
                </a:solidFill>
                <a:latin typeface="Arial"/>
              </a:rPr>
              <a:t>Do this on your own sector. </a:t>
            </a:r>
            <a:r>
              <a:rPr sz="1800" b="1" i="0">
                <a:solidFill>
                  <a:srgbClr val="1A1A1A"/>
                </a:solidFill>
                <a:latin typeface="Arial"/>
              </a:rPr>
              <a:t>Build your EA sustainment risk register.</a:t>
            </a:r>
          </a:p>
          <a:p>
            <a:pPr algn="l">
              <a:spcAft>
                <a:spcPts val="400"/>
              </a:spcAft>
            </a:pPr>
            <a:r>
              <a:rPr sz="1800" b="0" i="0">
                <a:solidFill>
                  <a:srgbClr val="595959"/>
                </a:solidFill>
                <a:latin typeface="Arial"/>
              </a:rPr>
              <a:t>The prompt in the companion material gives you a four-row sustainment risk register plus early-warning signals. Before the next video.</a:t>
            </a:r>
          </a:p>
        </p:txBody>
      </p:sp>
      <p:sp>
        <p:nvSpPr>
          <p:cNvPr id="5" name="TextBox 4"/>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3.7 · Keep the practice alive past year two</a:t>
            </a:r>
          </a:p>
        </p:txBody>
      </p:sp>
      <p:sp>
        <p:nvSpPr>
          <p:cNvPr id="6" name="TextBox 5"/>
          <p:cNvSpPr txBox="1"/>
          <p:nvPr/>
        </p:nvSpPr>
        <p:spPr>
          <a:xfrm>
            <a:off x="10058400" y="6473952"/>
            <a:ext cx="1673352" cy="292608"/>
          </a:xfrm>
          <a:prstGeom prst="rect">
            <a:avLst/>
          </a:prstGeom>
          <a:noFill/>
        </p:spPr>
        <p:txBody>
          <a:bodyPr wrap="square">
            <a:spAutoFit/>
          </a:bodyPr>
          <a:lstStyle/>
          <a:p>
            <a:pPr algn="r"/>
            <a:r>
              <a:rPr sz="900" b="0" i="0">
                <a:solidFill>
                  <a:srgbClr val="595959"/>
                </a:solidFill>
                <a:latin typeface="Arial"/>
              </a:rPr>
              <a:t>www.itu.int</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Sources</a:t>
            </a:r>
          </a:p>
        </p:txBody>
      </p:sp>
      <p:sp>
        <p:nvSpPr>
          <p:cNvPr id="4" name="TextBox 3"/>
          <p:cNvSpPr txBox="1"/>
          <p:nvPr/>
        </p:nvSpPr>
        <p:spPr>
          <a:xfrm>
            <a:off x="658368" y="1554480"/>
            <a:ext cx="10789920" cy="3840480"/>
          </a:xfrm>
          <a:prstGeom prst="rect">
            <a:avLst/>
          </a:prstGeom>
          <a:noFill/>
        </p:spPr>
        <p:txBody>
          <a:bodyPr wrap="square">
            <a:spAutoFit/>
          </a:bodyPr>
          <a:lstStyle/>
          <a:p>
            <a:pPr>
              <a:spcAft>
                <a:spcPts val="1200"/>
              </a:spcAft>
            </a:pPr>
            <a:r>
              <a:rPr sz="1700" b="0" i="0">
                <a:solidFill>
                  <a:srgbClr val="1A1A1A"/>
                </a:solidFill>
                <a:latin typeface="Arial"/>
              </a:rPr>
              <a:t>•  PAERA v1.0 — §4.2.1 (Management)</a:t>
            </a:r>
          </a:p>
          <a:p>
            <a:pPr>
              <a:spcAft>
                <a:spcPts val="1200"/>
              </a:spcAft>
            </a:pPr>
            <a:r>
              <a:rPr sz="1700" b="0" i="0">
                <a:solidFill>
                  <a:srgbClr val="1A1A1A"/>
                </a:solidFill>
                <a:latin typeface="Arial"/>
              </a:rPr>
              <a:t>•  PAERA v1.0 — §4.2.2 (Architecture)</a:t>
            </a:r>
          </a:p>
          <a:p>
            <a:pPr>
              <a:spcAft>
                <a:spcPts val="1200"/>
              </a:spcAft>
            </a:pPr>
            <a:r>
              <a:rPr sz="1700" b="0" i="0">
                <a:solidFill>
                  <a:srgbClr val="1A1A1A"/>
                </a:solidFill>
                <a:latin typeface="Arial"/>
              </a:rPr>
              <a:t>•  PAERA v1.0 — §5.4 (Organisational Assessment &amp; Roadmap)</a:t>
            </a:r>
          </a:p>
        </p:txBody>
      </p:sp>
      <p:sp>
        <p:nvSpPr>
          <p:cNvPr id="5" name="TextBox 4"/>
          <p:cNvSpPr txBox="1"/>
          <p:nvPr/>
        </p:nvSpPr>
        <p:spPr>
          <a:xfrm>
            <a:off x="658368" y="5806440"/>
            <a:ext cx="10789920" cy="457200"/>
          </a:xfrm>
          <a:prstGeom prst="rect">
            <a:avLst/>
          </a:prstGeom>
          <a:noFill/>
        </p:spPr>
        <p:txBody>
          <a:bodyPr wrap="square">
            <a:spAutoFit/>
          </a:bodyPr>
          <a:lstStyle/>
          <a:p>
            <a:r>
              <a:rPr sz="1400" b="1" i="0">
                <a:solidFill>
                  <a:srgbClr val="006E96"/>
                </a:solidFill>
                <a:latin typeface="Arial"/>
              </a:rPr>
              <a:t>Find the link in the description.</a:t>
            </a:r>
          </a:p>
        </p:txBody>
      </p:sp>
      <p:sp>
        <p:nvSpPr>
          <p:cNvPr id="6" name="TextBox 5"/>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3.7 · Keep the practice alive past year two</a:t>
            </a:r>
          </a:p>
        </p:txBody>
      </p:sp>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Tree>
  </p:cSld>
  <p:clrMapOvr>
    <a:masterClrMapping/>
  </p:clrMapOvr>
</p:sld>
</file>

<file path=ppt/theme/theme1.xml><?xml version="1.0" encoding="utf-8"?>
<a:theme xmlns:a="http://schemas.openxmlformats.org/drawingml/2006/main" name="ITU Theme - White bg">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0000"/>
      </a:hlink>
      <a:folHlink>
        <a:srgbClr val="757070"/>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A0500DBE-3369-4A4A-B28D-9AE5003E2570}"/>
    </a:ext>
  </a:extLst>
</a:theme>
</file>

<file path=ppt/theme/theme2.xml><?xml version="1.0" encoding="utf-8"?>
<a:theme xmlns:a="http://schemas.openxmlformats.org/drawingml/2006/main" name="Big text">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9CD6"/>
      </a:hlink>
      <a:folHlink>
        <a:srgbClr val="009CD6"/>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EA5A528F-177A-4F34-B410-08836428AF20}"/>
    </a:ext>
  </a:extLst>
</a:theme>
</file>

<file path=ppt/theme/theme3.xml><?xml version="1.0" encoding="utf-8"?>
<a:theme xmlns:a="http://schemas.openxmlformats.org/drawingml/2006/main" name="Quote Slide">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9CD6"/>
      </a:hlink>
      <a:folHlink>
        <a:srgbClr val="009CD6"/>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B0771621-B97B-4C13-9C8D-7F1D735791AC}"/>
    </a:ext>
  </a:extLst>
</a:theme>
</file>

<file path=ppt/theme/theme4.xml><?xml version="1.0" encoding="utf-8"?>
<a:theme xmlns:a="http://schemas.openxmlformats.org/drawingml/2006/main" name="ITU Theme light blue bg">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9CD6"/>
      </a:hlink>
      <a:folHlink>
        <a:srgbClr val="009CD6"/>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D1ECFA71-5D53-4A3F-BEBD-1C69573B5224}"/>
    </a:ext>
  </a:ext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lcf76f155ced4ddcb4097134ff3c332f xmlns="ed7f0f61-51dd-499b-8f04-7c837a526382">
      <Terms xmlns="http://schemas.microsoft.com/office/infopath/2007/PartnerControls"/>
    </lcf76f155ced4ddcb4097134ff3c332f>
    <TaxCatchAll xmlns="ab90e5c9-10d8-4476-84ba-6005a25f4984"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53A3A08329EEE04EB33D96A577905A26" ma:contentTypeVersion="19" ma:contentTypeDescription="Create a new document." ma:contentTypeScope="" ma:versionID="a8087e2cbe64624dcde6ca4894bfb0b6">
  <xsd:schema xmlns:xsd="http://www.w3.org/2001/XMLSchema" xmlns:xs="http://www.w3.org/2001/XMLSchema" xmlns:p="http://schemas.microsoft.com/office/2006/metadata/properties" xmlns:ns2="ed7f0f61-51dd-499b-8f04-7c837a526382" xmlns:ns3="ab90e5c9-10d8-4476-84ba-6005a25f4984" targetNamespace="http://schemas.microsoft.com/office/2006/metadata/properties" ma:root="true" ma:fieldsID="2701f39123c6a01fbf026076f5c6add9" ns2:_="" ns3:_="">
    <xsd:import namespace="ed7f0f61-51dd-499b-8f04-7c837a526382"/>
    <xsd:import namespace="ab90e5c9-10d8-4476-84ba-6005a25f4984"/>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3:SharedWithUsers" minOccurs="0"/>
                <xsd:element ref="ns3:SharedWithDetails" minOccurs="0"/>
                <xsd:element ref="ns2:MediaServiceDateTaken" minOccurs="0"/>
                <xsd:element ref="ns2:MediaLengthInSeconds" minOccurs="0"/>
                <xsd:element ref="ns2:MediaServiceAutoTags" minOccurs="0"/>
                <xsd:element ref="ns2:MediaServiceOCR" minOccurs="0"/>
                <xsd:element ref="ns2:MediaServiceGenerationTime" minOccurs="0"/>
                <xsd:element ref="ns2:MediaServiceEventHashCode" minOccurs="0"/>
                <xsd:element ref="ns2:lcf76f155ced4ddcb4097134ff3c332f" minOccurs="0"/>
                <xsd:element ref="ns3:TaxCatchAll" minOccurs="0"/>
                <xsd:element ref="ns2:MediaServiceLocation" minOccurs="0"/>
                <xsd:element ref="ns2:MediaServiceObjectDetectorVersions" minOccurs="0"/>
                <xsd:element ref="ns2:MediaServiceSearchPropertie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d7f0f61-51dd-499b-8f04-7c837a526382"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DateTaken" ma:index="14" nillable="true" ma:displayName="MediaServiceDateTaken" ma:hidden="true" ma:internalName="MediaServiceDateTaken" ma:readOnly="true">
      <xsd:simpleType>
        <xsd:restriction base="dms:Text"/>
      </xsd:simpleType>
    </xsd:element>
    <xsd:element name="MediaLengthInSeconds" ma:index="15" nillable="true" ma:displayName="MediaLengthInSeconds" ma:hidden="true" ma:internalName="MediaLengthInSeconds" ma:readOnly="true">
      <xsd:simpleType>
        <xsd:restriction base="dms:Unknown"/>
      </xsd:simpleType>
    </xsd:element>
    <xsd:element name="MediaServiceAutoTags" ma:index="16" nillable="true" ma:displayName="Tags" ma:internalName="MediaServiceAutoTags" ma:readOnly="true">
      <xsd:simpleType>
        <xsd:restriction base="dms:Text"/>
      </xsd:simpleType>
    </xsd:element>
    <xsd:element name="MediaServiceOCR" ma:index="17" nillable="true" ma:displayName="Extracted Text" ma:internalName="MediaServiceOCR" ma:readOnly="true">
      <xsd:simpleType>
        <xsd:restriction base="dms:Note">
          <xsd:maxLength value="255"/>
        </xsd:restriction>
      </xsd:simpleType>
    </xsd:element>
    <xsd:element name="MediaServiceGenerationTime" ma:index="18" nillable="true" ma:displayName="MediaServiceGenerationTime" ma:hidden="true" ma:internalName="MediaServiceGenerationTime" ma:readOnly="true">
      <xsd:simpleType>
        <xsd:restriction base="dms:Text"/>
      </xsd:simpleType>
    </xsd:element>
    <xsd:element name="MediaServiceEventHashCode" ma:index="19" nillable="true" ma:displayName="MediaServiceEventHashCode" ma:hidden="true" ma:internalName="MediaServiceEventHashCode" ma:readOnly="true">
      <xsd:simpleType>
        <xsd:restriction base="dms:Text"/>
      </xsd:simpleType>
    </xsd:element>
    <xsd:element name="lcf76f155ced4ddcb4097134ff3c332f" ma:index="21" nillable="true" ma:taxonomy="true" ma:internalName="lcf76f155ced4ddcb4097134ff3c332f" ma:taxonomyFieldName="MediaServiceImageTags" ma:displayName="Image Tags" ma:readOnly="false" ma:fieldId="{5cf76f15-5ced-4ddc-b409-7134ff3c332f}" ma:taxonomyMulti="true" ma:sspId="0e895586-ec57-4162-862b-45953123501e" ma:termSetId="09814cd3-568e-fe90-9814-8d621ff8fb84" ma:anchorId="fba54fb3-c3e1-fe81-a776-ca4b69148c4d" ma:open="true" ma:isKeyword="false">
      <xsd:complexType>
        <xsd:sequence>
          <xsd:element ref="pc:Terms" minOccurs="0" maxOccurs="1"/>
        </xsd:sequence>
      </xsd:complexType>
    </xsd:element>
    <xsd:element name="MediaServiceLocation" ma:index="23" nillable="true" ma:displayName="Location" ma:indexed="true" ma:internalName="MediaServiceLocation" ma:readOnly="true">
      <xsd:simpleType>
        <xsd:restriction base="dms:Text"/>
      </xsd:simpleType>
    </xsd:element>
    <xsd:element name="MediaServiceObjectDetectorVersions" ma:index="24" nillable="true" ma:displayName="MediaServiceObjectDetectorVersions" ma:hidden="true" ma:indexed="true" ma:internalName="MediaServiceObjectDetectorVersions" ma:readOnly="true">
      <xsd:simpleType>
        <xsd:restriction base="dms:Text"/>
      </xsd:simpleType>
    </xsd:element>
    <xsd:element name="MediaServiceSearchProperties" ma:index="25" nillable="true" ma:displayName="MediaServiceSearchProperties" ma:hidden="true" ma:internalName="MediaServiceSearchProperties" ma:readOnly="true">
      <xsd:simpleType>
        <xsd:restriction base="dms:Note"/>
      </xsd:simpleType>
    </xsd:element>
    <xsd:element name="MediaServiceBillingMetadata" ma:index="26"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ab90e5c9-10d8-4476-84ba-6005a25f4984" elementFormDefault="qualified">
    <xsd:import namespace="http://schemas.microsoft.com/office/2006/documentManagement/types"/>
    <xsd:import namespace="http://schemas.microsoft.com/office/infopath/2007/PartnerControls"/>
    <xsd:element name="SharedWithUsers" ma:index="1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internalName="SharedWithDetails" ma:readOnly="true">
      <xsd:simpleType>
        <xsd:restriction base="dms:Note">
          <xsd:maxLength value="255"/>
        </xsd:restriction>
      </xsd:simpleType>
    </xsd:element>
    <xsd:element name="TaxCatchAll" ma:index="22" nillable="true" ma:displayName="Taxonomy Catch All Column" ma:hidden="true" ma:list="{f45fae84-f8a8-4d35-b240-8a5cf95bb259}" ma:internalName="TaxCatchAll" ma:showField="CatchAllData" ma:web="ab90e5c9-10d8-4476-84ba-6005a25f4984">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5F615F30-55BC-4400-8171-49B6C1A1BF75}">
  <ds:schemaRefs>
    <ds:schemaRef ds:uri="http://schemas.microsoft.com/office/2006/metadata/properties"/>
    <ds:schemaRef ds:uri="http://schemas.microsoft.com/office/infopath/2007/PartnerControls"/>
    <ds:schemaRef ds:uri="http://schemas.microsoft.com/sharepoint/v3"/>
    <ds:schemaRef ds:uri="ed7f0f61-51dd-499b-8f04-7c837a526382"/>
    <ds:schemaRef ds:uri="ab90e5c9-10d8-4476-84ba-6005a25f4984"/>
  </ds:schemaRefs>
</ds:datastoreItem>
</file>

<file path=customXml/itemProps2.xml><?xml version="1.0" encoding="utf-8"?>
<ds:datastoreItem xmlns:ds="http://schemas.openxmlformats.org/officeDocument/2006/customXml" ds:itemID="{A48191B6-3A4E-47E8-99A3-94A5982E1B43}">
  <ds:schemaRefs>
    <ds:schemaRef ds:uri="http://schemas.microsoft.com/sharepoint/v3/contenttype/forms"/>
  </ds:schemaRefs>
</ds:datastoreItem>
</file>

<file path=customXml/itemProps3.xml><?xml version="1.0" encoding="utf-8"?>
<ds:datastoreItem xmlns:ds="http://schemas.openxmlformats.org/officeDocument/2006/customXml" ds:itemID="{68C4513F-118C-4668-805A-58D1CE3FDA87}">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ed7f0f61-51dd-499b-8f04-7c837a526382"/>
    <ds:schemaRef ds:uri="ab90e5c9-10d8-4476-84ba-6005a25f4984"/>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ITU_Powerpoint_standard_template_16x9__July_2022</Template>
  <TotalTime>462</TotalTime>
  <Words>2240</Words>
  <Application>Microsoft Office PowerPoint</Application>
  <PresentationFormat>Widescreen</PresentationFormat>
  <Paragraphs>473</Paragraphs>
  <Slides>38</Slides>
  <Notes>20</Notes>
  <HiddenSlides>0</HiddenSlides>
  <MMClips>0</MMClips>
  <ScaleCrop>false</ScaleCrop>
  <HeadingPairs>
    <vt:vector size="6" baseType="variant">
      <vt:variant>
        <vt:lpstr>Fonts Used</vt:lpstr>
      </vt:variant>
      <vt:variant>
        <vt:i4>6</vt:i4>
      </vt:variant>
      <vt:variant>
        <vt:lpstr>Theme</vt:lpstr>
      </vt:variant>
      <vt:variant>
        <vt:i4>4</vt:i4>
      </vt:variant>
      <vt:variant>
        <vt:lpstr>Slide Titles</vt:lpstr>
      </vt:variant>
      <vt:variant>
        <vt:i4>38</vt:i4>
      </vt:variant>
    </vt:vector>
  </HeadingPairs>
  <TitlesOfParts>
    <vt:vector size="48" baseType="lpstr">
      <vt:lpstr>Arial</vt:lpstr>
      <vt:lpstr>Avenir Next LT Pro</vt:lpstr>
      <vt:lpstr>Calibri</vt:lpstr>
      <vt:lpstr>Georgia</vt:lpstr>
      <vt:lpstr>Lato Light</vt:lpstr>
      <vt:lpstr>Roboto</vt:lpstr>
      <vt:lpstr>ITU Theme - White bg</vt:lpstr>
      <vt:lpstr>Big text</vt:lpstr>
      <vt:lpstr>Quote Slide</vt:lpstr>
      <vt:lpstr>ITU Theme light blue bg</vt:lpstr>
      <vt:lpstr>PowerPoint Presentation</vt:lpstr>
      <vt:lpstr>PowerPoint Presentation</vt:lpstr>
      <vt:lpstr>Slide title text Arial Bold 28pt</vt:lpstr>
      <vt:lpstr>PowerPoint Presentation</vt:lpstr>
      <vt:lpstr>Long slide title  goes here second line here</vt:lpstr>
      <vt:lpstr>Slide title goes here second line of slide title goes here </vt:lpstr>
      <vt:lpstr>Long slide title goes here second line here</vt:lpstr>
      <vt:lpstr>Long slide title goes here second line of slide title here third line goes here</vt:lpstr>
      <vt:lpstr>Long slide title goes here second line of slide title here third line goes here</vt:lpstr>
      <vt:lpstr>Slide title goes here</vt:lpstr>
      <vt:lpstr>PowerPoint Presentation</vt:lpstr>
      <vt:lpstr>Click to add slide title here  </vt:lpstr>
      <vt:lpstr>Click to add slide title here </vt:lpstr>
      <vt:lpstr>PowerPoint Presentation</vt:lpstr>
      <vt:lpstr>PowerPoint Presentation</vt:lpstr>
      <vt:lpstr>PowerPoint Presentation</vt:lpstr>
      <vt:lpstr>PowerPoint Presentation</vt:lpstr>
      <vt:lpstr>Placeholder text for slide title</vt:lpstr>
      <vt:lpstr>Simple table</vt:lpstr>
      <vt:lpstr>PowerPoint Presentation</vt:lpstr>
      <vt:lpstr>Figure 1: Figure title</vt:lpstr>
      <vt:lpstr>Graphics</vt:lpstr>
      <vt:lpstr>PowerPoint Presentation</vt:lpstr>
      <vt:lpstr>PowerPoint Presentation</vt:lpstr>
      <vt:lpstr>PowerPoint Presentation</vt:lpstr>
      <vt:lpstr>PowerPoint Presentation</vt:lpstr>
      <vt:lpstr>PowerPoint Presentation</vt:lpstr>
      <vt:lpstr>Figure Title</vt:lpstr>
      <vt:lpstr>Figure Title</vt:lpstr>
      <vt:lpstr>Figure Title</vt:lpstr>
      <vt:lpstr>Key figures</vt:lpstr>
      <vt:lpstr>PowerPoint Presentation</vt:lpstr>
      <vt:lpstr>Timeline title</vt:lpstr>
      <vt:lpstr>Timeline title</vt:lpstr>
      <vt:lpstr>Timeline title</vt:lpstr>
      <vt:lpstr>PowerPoint Presentation</vt:lpstr>
      <vt:lpstr>ITU Blue</vt:lpstr>
      <vt:lpstr>PowerPoint Presentation</vt:lpstr>
    </vt:vector>
  </TitlesOfParts>
  <Company>ITU</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CHIMA HERNANDEZ, Maria Fernanda</dc:creator>
  <cp:lastModifiedBy>Anselmino, Carolina</cp:lastModifiedBy>
  <cp:revision>1</cp:revision>
  <dcterms:created xsi:type="dcterms:W3CDTF">2026-05-08T11:19:41Z</dcterms:created>
  <dcterms:modified xsi:type="dcterms:W3CDTF">2026-07-22T19:37:40Z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0x01010053A3A08329EEE04EB33D96A577905A26</vt:lpwstr>
  </property>
  <property fmtid="{D5CDD505-2E9C-101B-9397-08002B2CF9AE}" pid="3" name="MediaServiceImageTags">
    <vt:lpwstr/>
  </property>
</Properties>
</file>