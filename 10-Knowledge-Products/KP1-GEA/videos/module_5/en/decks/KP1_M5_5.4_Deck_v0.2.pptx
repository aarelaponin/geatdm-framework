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681" r:id="rId8"/>
    <p:sldId id="2716" r:id="rId38"/>
    <p:sldId id="2717" r:id="rId39"/>
    <p:sldId id="2718" r:id="rId40"/>
    <p:sldId id="2719" r:id="rId41"/>
    <p:sldId id="2720" r:id="rId42"/>
    <p:sldId id="2721" r:id="rId43"/>
    <p:sldId id="2722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for standalone video 5.4. Content slides are identical to the corresponding section of the combined deck KP1_M5_Deck_v0.2.pptx; voice-over is in each slide’s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VO, slide 1: The hardest step is getting your minister to commit the team, the mandate and the money. Ministers do not commit to architecture; they commit to numbers and to cases they can defend in cabinet. So bring three things: the saving, the proof, the honest cost.</a:t>
            </a:r>
          </a:p>
          <a:p/>
          <a:p>
            <a:r>
              <a:t>Retrieval prompt — ask before playing on: of everything in your case, what does a minister actually act on? Answer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Lead with the saving, because that is what a minister can act on. The strongest number you have is the cost of fragmentation: every programme that builds its own identity, its own registry, its own integration, means the country pays many times for one thing. A whole-of-government business case shows that consuming shared building blocks instead would save a meaningful share of the sectoral digital budget over five years. That number — not the four-layer diagram — is what opens a cabinet conversation. The architecture is how you achieve the saving; the saving is what you sell.</a:t>
            </a:r>
          </a:p>
          <a:p/>
          <a:p>
            <a:r>
              <a:t>Production cue: the pivotal slide of this video, and it answers the retrieval prompt set on the title slide. Hold it a beat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Back the number with the proof, because a minister's first worry is risk. A saving that depends on an untested approach is easy to refuse. A saving backed by four governments that have already built the same pattern is much harder to wave away. So pair the business case with the evidence: this is not an experiment, it is a charted path that countries like yours have walked, with the obstacles documented. You are not asking the minister to bet on a theory. You are asking them to capture a saving that others have already proven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Then be honest about the cost and the time, because overselling loses the case the moment a sharp official tests it. Name the real cost: a small permanent team and governance, typically around two per cent of the digital-government budget, sustained for five years. And name the real horizon: about six months to a roadmap the minister can show, but years to full maturity — which means the minister who launches this will likely not be the one who completes it. Said as a weakness, that sinks the case. Said as the truth about serious institution-building, it is what separates a credible proposal from a salesman's. Ministers fund people who tell them the real timeline.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Put it on one page, in that order. The saving — the country-level number over five years. The proof — the governments that have done it. The ask — a small permanent team, a board with real authority, around two per cent of the digital budget, and a promise to protect the team. And the horizon — six months to a roadmap, then a sustained practice. Saving, proof, ask, horizon. That single page turns a technical request the minister would defer into a business case they can defend in cabinet.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Winning the commitment is not an architecture conversation. It is a one-page business case: the saving, the proof, the ask, the honest horizon. Bring that, and your minister can say yes and defend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svg"/><Relationship Id="rId5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AD66F2-F7C0-4D03-9150-D28F17AC561D}"/>
              </a:ext>
            </a:extLst>
          </p:cNvPr>
          <p:cNvCxnSpPr>
            <a:cxnSpLocks/>
          </p:cNvCxnSpPr>
          <p:nvPr/>
        </p:nvCxnSpPr>
        <p:spPr>
          <a:xfrm>
            <a:off x="373021" y="2198718"/>
            <a:ext cx="6843567" cy="0"/>
          </a:xfrm>
          <a:prstGeom prst="line">
            <a:avLst/>
          </a:prstGeom>
          <a:ln w="12700">
            <a:solidFill>
              <a:srgbClr val="009CD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9">
            <a:extLst>
              <a:ext uri="{FF2B5EF4-FFF2-40B4-BE49-F238E27FC236}">
                <a16:creationId xmlns:a16="http://schemas.microsoft.com/office/drawing/2014/main" id="{EEB08032-CE0E-4986-AEDF-A41026C0E8B9}"/>
              </a:ext>
            </a:extLst>
          </p:cNvPr>
          <p:cNvSpPr txBox="1">
            <a:spLocks/>
          </p:cNvSpPr>
          <p:nvPr/>
        </p:nvSpPr>
        <p:spPr>
          <a:xfrm>
            <a:off x="237734" y="702833"/>
            <a:ext cx="6432007" cy="1218817"/>
          </a:xfrm>
          <a:prstGeom prst="rect">
            <a:avLst/>
          </a:prstGeom>
        </p:spPr>
        <p:txBody>
          <a:bodyPr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sz="2400" b="1" i="0">
                <a:solidFill>
                  <a:srgbClr val="1A1A1A"/>
                </a:solidFill>
                <a:latin typeface="Arial"/>
              </a:rPr>
              <a:t>5.4 — Win the commitment — the business case that gets your minister to yes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066351-C569-4C4C-A096-308777FC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19" b="14729"/>
          <a:stretch>
            <a:fillRect/>
          </a:stretch>
        </p:blipFill>
        <p:spPr>
          <a:xfrm>
            <a:off x="0" y="5620871"/>
            <a:ext cx="1323975" cy="1218816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B5087B80-3EE4-1881-0130-ED58CA625092}"/>
              </a:ext>
            </a:extLst>
          </p:cNvPr>
          <p:cNvSpPr txBox="1">
            <a:spLocks/>
          </p:cNvSpPr>
          <p:nvPr/>
        </p:nvSpPr>
        <p:spPr>
          <a:xfrm>
            <a:off x="284452" y="2475786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06E96"/>
                </a:solidFill>
                <a:latin typeface="Arial"/>
              </a:rPr>
              <a:t>KP1 · Government Enterprise Architecture · Module 5 · Video 5.4</a:t>
            </a:r>
          </a:p>
          <a:p>
            <a:r>
              <a:rPr sz="1200" b="0" i="1">
                <a:solidFill>
                  <a:srgbClr val="595959"/>
                </a:solidFill>
                <a:latin typeface="Arial"/>
              </a:rPr>
              <a:t>Winning the minister's commitment is not about the architecture — it's about the number. Pair the whole-of-government re-use saving with the proven evidence and an honest time horizon, and you turn a technical case into one a minister can take to cabinet.</a:t>
            </a:r>
          </a:p>
        </p:txBody>
      </p:sp>
      <p:sp>
        <p:nvSpPr>
          <p:cNvPr id="17" name="Title 9">
            <a:extLst>
              <a:ext uri="{FF2B5EF4-FFF2-40B4-BE49-F238E27FC236}">
                <a16:creationId xmlns:a16="http://schemas.microsoft.com/office/drawing/2014/main" id="{5E8796F7-DD26-D250-5E97-B38B22298E72}"/>
              </a:ext>
            </a:extLst>
          </p:cNvPr>
          <p:cNvSpPr txBox="1">
            <a:spLocks/>
          </p:cNvSpPr>
          <p:nvPr/>
        </p:nvSpPr>
        <p:spPr>
          <a:xfrm>
            <a:off x="284452" y="4363897"/>
            <a:ext cx="6382893" cy="953213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rtl="0">
              <a:spcBef>
                <a:spcPts val="600"/>
              </a:spcBef>
              <a:spcAft>
                <a:spcPts val="12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Arial"/>
              </a:rPr>
              <a:t>Length: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~4 mins</a:t>
            </a:r>
          </a:p>
          <a:p>
            <a:r>
              <a:rPr sz="1400" b="1" i="0">
                <a:solidFill>
                  <a:srgbClr val="1A1A1A"/>
                </a:solidFill>
                <a:latin typeface="Arial"/>
              </a:rPr>
              <a:t>Target audience: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Director-general · head of a sectoral ICT unit · technical secretary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2592" y="0"/>
            <a:ext cx="5169103" cy="6858000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4572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5F5FB"/>
                </a:solidFill>
                <a:latin typeface="Arial"/>
              </a:rPr>
              <a:t>THE CASE YOU CARRY INTO THE ROOM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960120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Proven — four real governments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92808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Portable — sector after sector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60" y="2825496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The commitment — the one page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758184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1A1A1A"/>
                </a:solidFill>
                <a:latin typeface="Arial"/>
              </a:rPr>
              <a:t>The capability — your own people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4690872"/>
            <a:ext cx="3840480" cy="658368"/>
          </a:xfrm>
          <a:prstGeom prst="roundRect">
            <a:avLst>
              <a:gd name="adj" fmla="val 14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Necessary now, not just useful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58064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FFFFFF"/>
                </a:solidFill>
                <a:latin typeface="Arial"/>
              </a:rPr>
              <a:t>4 governments · 4 killers to design out · 1 page for the minister</a:t>
            </a:r>
          </a:p>
        </p:txBody>
      </p:sp>
    </p:spTree>
    <p:extLst>
      <p:ext uri="{BB962C8B-B14F-4D97-AF65-F5344CB8AC3E}">
        <p14:creationId xmlns:p14="http://schemas.microsoft.com/office/powerpoint/2010/main" val="1196800265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5 · VIDEO 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Win the commitment — the business case that gets your minister to 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Winning the minister's commitment is not about the architecture — it's about the number. Pair the whole-of-government re-use saving with the proven evidence and an honest time horizon, and you turn a technical case into one a minister can take to cabinet.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~4 minutes · standalone video · voice-over on text slides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Lead with the saving, not the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strongest number you have is the cost of fragmentation: every programme that builds its own identity, its own registry, its own integration means the country pays many times for one thing.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 whole-of-government business case shows that consuming shared building blocks instead would save a meaningful share of the sectoral digital budget over five years. That number, not the four-layer diagram, opens a cabinet conversation.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The architecture is how you achieve the saving. The saving is what you sell.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Back the number with the proof, because a minister's first worry is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 saving that depends on an untested approach is easy to refuse. A saving backed by four governments that have already built the same pattern is much harder to wave away.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This is a charted path that countries like yours have walked, with the obstacles documented.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Not a bet on a theory — a saving others have already proven is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Ministers fund people who tell them the real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Name the real cost: a small permanent team and governance, typically around two per cent of the digital-government budget, sustained for five years.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And the real horizon: about six months to a roadmap the minister can show, but years to full maturity — so the minister who launches this will likely not be the one who completes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Said as a weakness, that sinks the case. Said as the truth, it wins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one page, in the order a minister reads it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saving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country-level number over five years.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5831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3746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proof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governments that have already done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65759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11879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ask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small permanent team, a board with real authority, ~2% sustained, protect the team.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7320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68630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horizon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Six months to a roadmap, then a sustained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Saving, proof, ask, horizon — a request the minister can defend in cabinet.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Ministers commit to numbers and proof, not architecture — pair the whole-of-government saving with the evidence and an honest cost, and you turn a technical request into a cabinet-ready case.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Draft the one-page ministerial business case.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one-page ministerial business case.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§5.6 (Sourcing Strategy)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