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35" r:id="rId57"/>
    <p:sldId id="2736" r:id="rId58"/>
    <p:sldId id="2737" r:id="rId59"/>
    <p:sldId id="2738" r:id="rId60"/>
    <p:sldId id="2739" r:id="rId61"/>
    <p:sldId id="2740" r:id="rId62"/>
    <p:sldId id="2741" r:id="rId6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7" Type="http://schemas.openxmlformats.org/officeDocument/2006/relationships/slide" Target="slides/slide42.xml"/><Relationship Id="rId58" Type="http://schemas.openxmlformats.org/officeDocument/2006/relationships/slide" Target="slides/slide43.xml"/><Relationship Id="rId59" Type="http://schemas.openxmlformats.org/officeDocument/2006/relationships/slide" Target="slides/slide44.xml"/><Relationship Id="rId60" Type="http://schemas.openxmlformats.org/officeDocument/2006/relationships/slide" Target="slides/slide45.xml"/><Relationship Id="rId61" Type="http://schemas.openxmlformats.org/officeDocument/2006/relationships/slide" Target="slides/slide46.xml"/><Relationship Id="rId62" Type="http://schemas.openxmlformats.org/officeDocument/2006/relationships/slide" Target="slides/slide47.xml"/><Relationship Id="rId63" Type="http://schemas.openxmlformats.org/officeDocument/2006/relationships/slide" Target="slides/slide4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Bring it all together into the case you carry into the room. It reduces to three sentences a minister can hold: this is proven, it is portable, and it is necessary now. Underneath those sit the two reasons an Enterprise Architecture exists at all.</a:t>
            </a:r>
          </a:p>
          <a:p/>
          <a:p>
            <a:r>
              <a:t>Production cue: the closing video of the module and of KP1.</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first two you can say plainly. Proven — four very different governments have built the same pattern, with the successes and the failures both documented, so you adapt a charted path rather than invent one. Portable — the method is sector-agnostic, the same phases on a learner, a patient, a farmer, and each sector after the first costs less because the muscle is built once. The third is the one that makes it urgent.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Necessary now. For thirty years, digital government meant taking a paper process and putting it online — the form becomes a web form, the queue an appointment. That era is ending. The work that delivers results today is different: once-only data sharing, a shared identity, a single record that follows a person across services. That is not putting paper online. It is changing how the government operates, and it cannot be done by the IT department alone, or by the policy side alone. Useful then; necessary now.</a:t>
            </a:r>
          </a:p>
          <a:p/>
          <a:p>
            <a:r>
              <a:t>Production cue: the era-shift argument, told once and in about eighty words; the punch line is the module's one full-colour block.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And here are the two reasons an EA exists — the two ideas to carry out of this whole knowledge product. First: re-use. Inside any project, building your own is cheaper than reusing, so projects fragment, and no procurement rule can change that. Only planning at the level of the whole government makes re-use rational, and only an EA gives you that view. Second: shared language. The new work needs the business side and the IT side to decide together, and they do not speak the same language. An EA gives them one — a shared picture, shared words, and a standing forum to decide in.</a:t>
            </a:r>
          </a:p>
          <a:p/>
          <a:p>
            <a:r>
              <a:t>Production cue: the pivotal slide of this video — both structural arguments as the closing synthesis.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that is the case, whole. Proven, portable, and necessary now — held together by the two reasons an EA exists: it makes re-use possible, and it gives business and IT a shared language.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s>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5.6</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5.6</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closing case — proven, portable, and necessary now</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case for a national EA comes down to three things you can now say with confidence — it is proven, it is portable, and in the era of redesigning how government works it is no longer optional but necessary — held together by the two reasons an EA exists: it makes re-use possible, and it gives business and IT a shared language.</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Three sentences a minister can hold.</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This is proven. It is portable. It is necessary now.</a:t>
            </a:r>
          </a:p>
          <a:p>
            <a:pPr>
              <a:spcAft>
                <a:spcPts val="800"/>
              </a:spcAft>
            </a:pPr>
            <a:r>
              <a:rPr sz="1700" b="0" i="0">
                <a:solidFill>
                  <a:srgbClr val="595959"/>
                </a:solidFill>
                <a:latin typeface="Arial"/>
              </a:rPr>
              <a:t>Underneath those sit the two reasons an Enterprise Architecture exists at all.</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The closing case — proven, portable, and necessary now</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Proven and portable — the first two you can say plainly</a:t>
            </a:r>
          </a:p>
        </p:txBody>
      </p:sp>
      <p:sp>
        <p:nvSpPr>
          <p:cNvPr id="4" name="Rounded Rectangle 3"/>
          <p:cNvSpPr/>
          <p:nvPr/>
        </p:nvSpPr>
        <p:spPr>
          <a:xfrm>
            <a:off x="658368"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PROVEN</a:t>
            </a:r>
          </a:p>
          <a:p>
            <a:pPr>
              <a:spcAft>
                <a:spcPts val="700"/>
              </a:spcAft>
            </a:pPr>
            <a:r>
              <a:rPr sz="1600" b="0" i="0">
                <a:solidFill>
                  <a:srgbClr val="1A1A1A"/>
                </a:solidFill>
                <a:latin typeface="Arial"/>
              </a:rPr>
              <a:t>Four very different governments built the same pattern.</a:t>
            </a:r>
          </a:p>
          <a:p>
            <a:pPr>
              <a:spcAft>
                <a:spcPts val="700"/>
              </a:spcAft>
            </a:pPr>
            <a:r>
              <a:rPr sz="1600" b="0" i="0">
                <a:solidFill>
                  <a:srgbClr val="1A1A1A"/>
                </a:solidFill>
                <a:latin typeface="Arial"/>
              </a:rPr>
              <a:t>Successes and failures both documented.</a:t>
            </a:r>
          </a:p>
          <a:p>
            <a:pPr>
              <a:spcAft>
                <a:spcPts val="700"/>
              </a:spcAft>
            </a:pPr>
            <a:r>
              <a:rPr sz="1600" b="0" i="0">
                <a:solidFill>
                  <a:srgbClr val="1A1A1A"/>
                </a:solidFill>
                <a:latin typeface="Arial"/>
              </a:rPr>
              <a:t>You adapt a charted path rather than invent one.</a:t>
            </a:r>
          </a:p>
        </p:txBody>
      </p:sp>
      <p:sp>
        <p:nvSpPr>
          <p:cNvPr id="6" name="Rounded Rectangle 5"/>
          <p:cNvSpPr/>
          <p:nvPr/>
        </p:nvSpPr>
        <p:spPr>
          <a:xfrm>
            <a:off x="6263640" y="1554480"/>
            <a:ext cx="5394960" cy="292608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PORTABLE</a:t>
            </a:r>
          </a:p>
          <a:p>
            <a:pPr>
              <a:spcAft>
                <a:spcPts val="700"/>
              </a:spcAft>
            </a:pPr>
            <a:r>
              <a:rPr sz="1600" b="0" i="0">
                <a:solidFill>
                  <a:srgbClr val="1A1A1A"/>
                </a:solidFill>
                <a:latin typeface="Arial"/>
              </a:rPr>
              <a:t>The method is sector-agnostic.</a:t>
            </a:r>
          </a:p>
          <a:p>
            <a:pPr>
              <a:spcAft>
                <a:spcPts val="700"/>
              </a:spcAft>
            </a:pPr>
            <a:r>
              <a:rPr sz="1600" b="0" i="0">
                <a:solidFill>
                  <a:srgbClr val="1A1A1A"/>
                </a:solidFill>
                <a:latin typeface="Arial"/>
              </a:rPr>
              <a:t>The same phases on a learner, a patient, a farmer.</a:t>
            </a:r>
          </a:p>
          <a:p>
            <a:pPr>
              <a:spcAft>
                <a:spcPts val="700"/>
              </a:spcAft>
            </a:pPr>
            <a:r>
              <a:rPr sz="1600" b="0" i="0">
                <a:solidFill>
                  <a:srgbClr val="1A1A1A"/>
                </a:solidFill>
                <a:latin typeface="Arial"/>
              </a:rPr>
              <a:t>Each sector after the first costs less — the muscle is built once.</a:t>
            </a:r>
          </a:p>
        </p:txBody>
      </p:sp>
      <p:sp>
        <p:nvSpPr>
          <p:cNvPr id="8" name="TextBox 7"/>
          <p:cNvSpPr txBox="1"/>
          <p:nvPr/>
        </p:nvSpPr>
        <p:spPr>
          <a:xfrm>
            <a:off x="658368" y="4663440"/>
            <a:ext cx="10881360" cy="548640"/>
          </a:xfrm>
          <a:prstGeom prst="rect">
            <a:avLst/>
          </a:prstGeom>
          <a:noFill/>
        </p:spPr>
        <p:txBody>
          <a:bodyPr wrap="square">
            <a:spAutoFit/>
          </a:bodyPr>
          <a:lstStyle/>
          <a:p>
            <a:r>
              <a:rPr sz="1550" b="1" i="0">
                <a:solidFill>
                  <a:srgbClr val="006E96"/>
                </a:solidFill>
                <a:latin typeface="Arial"/>
              </a:rPr>
              <a:t>The third is the one that makes it urgent.</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The closing case — proven, portable, and necessary now</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For thirty years, digital government meant putting paper online. That era is ending</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The form became a web form, the queue an appointment. The work that delivers today is different: once-only data sharing, a shared identity, a single record that follows a person across services.</a:t>
            </a:r>
          </a:p>
          <a:p>
            <a:pPr>
              <a:spcAft>
                <a:spcPts val="1200"/>
              </a:spcAft>
            </a:pPr>
            <a:r>
              <a:rPr sz="2000" b="0" i="0">
                <a:solidFill>
                  <a:srgbClr val="1A1A1A"/>
                </a:solidFill>
                <a:latin typeface="Arial"/>
              </a:rPr>
              <a:t>That is not putting paper online. It is changing how the government operates — and it cannot be done by the IT department alone, or the policy side alone.</a:t>
            </a:r>
          </a:p>
        </p:txBody>
      </p:sp>
      <p:sp>
        <p:nvSpPr>
          <p:cNvPr id="5" name="Rounded Rectangle 4"/>
          <p:cNvSpPr/>
          <p:nvPr/>
        </p:nvSpPr>
        <p:spPr>
          <a:xfrm>
            <a:off x="658368" y="3977639"/>
            <a:ext cx="10881360" cy="132588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FFFFFF"/>
                </a:solidFill>
                <a:latin typeface="Arial"/>
              </a:rPr>
              <a:t>Useful then. Necessary now.</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The closing case — proven, portable, and necessary now</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two reasons an Enterprise Architecture exists</a:t>
            </a:r>
          </a:p>
        </p:txBody>
      </p:sp>
      <p:sp>
        <p:nvSpPr>
          <p:cNvPr id="4" name="Rounded Rectangle 3"/>
          <p:cNvSpPr/>
          <p:nvPr/>
        </p:nvSpPr>
        <p:spPr>
          <a:xfrm>
            <a:off x="658368"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RE-USE</a:t>
            </a:r>
          </a:p>
          <a:p>
            <a:pPr>
              <a:spcAft>
                <a:spcPts val="700"/>
              </a:spcAft>
            </a:pPr>
            <a:r>
              <a:rPr sz="1600" b="0" i="0">
                <a:solidFill>
                  <a:srgbClr val="1A1A1A"/>
                </a:solidFill>
                <a:latin typeface="Arial"/>
              </a:rPr>
              <a:t>Inside any project, building your own is cheaper than reusing — so projects fragment.</a:t>
            </a:r>
          </a:p>
          <a:p>
            <a:pPr>
              <a:spcAft>
                <a:spcPts val="700"/>
              </a:spcAft>
            </a:pPr>
            <a:r>
              <a:rPr sz="1600" b="0" i="0">
                <a:solidFill>
                  <a:srgbClr val="1A1A1A"/>
                </a:solidFill>
                <a:latin typeface="Arial"/>
              </a:rPr>
              <a:t>No procurement rule can change that.</a:t>
            </a:r>
          </a:p>
          <a:p>
            <a:pPr>
              <a:spcAft>
                <a:spcPts val="700"/>
              </a:spcAft>
            </a:pPr>
            <a:r>
              <a:rPr sz="1600" b="0" i="0">
                <a:solidFill>
                  <a:srgbClr val="1A1A1A"/>
                </a:solidFill>
                <a:latin typeface="Arial"/>
              </a:rPr>
              <a:t>Only whole-of-government planning makes re-use rational, and only an EA gives that view.</a:t>
            </a:r>
          </a:p>
        </p:txBody>
      </p:sp>
      <p:sp>
        <p:nvSpPr>
          <p:cNvPr id="6" name="Rounded Rectangle 5"/>
          <p:cNvSpPr/>
          <p:nvPr/>
        </p:nvSpPr>
        <p:spPr>
          <a:xfrm>
            <a:off x="6263640" y="1554480"/>
            <a:ext cx="5394960" cy="292608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SHARED LANGUAGE</a:t>
            </a:r>
          </a:p>
          <a:p>
            <a:pPr>
              <a:spcAft>
                <a:spcPts val="700"/>
              </a:spcAft>
            </a:pPr>
            <a:r>
              <a:rPr sz="1600" b="0" i="0">
                <a:solidFill>
                  <a:srgbClr val="1A1A1A"/>
                </a:solidFill>
                <a:latin typeface="Arial"/>
              </a:rPr>
              <a:t>The new work needs the business side and the IT side to decide together.</a:t>
            </a:r>
          </a:p>
          <a:p>
            <a:pPr>
              <a:spcAft>
                <a:spcPts val="700"/>
              </a:spcAft>
            </a:pPr>
            <a:r>
              <a:rPr sz="1600" b="0" i="0">
                <a:solidFill>
                  <a:srgbClr val="1A1A1A"/>
                </a:solidFill>
                <a:latin typeface="Arial"/>
              </a:rPr>
              <a:t>They do not speak the same language.</a:t>
            </a:r>
          </a:p>
          <a:p>
            <a:pPr>
              <a:spcAft>
                <a:spcPts val="700"/>
              </a:spcAft>
            </a:pPr>
            <a:r>
              <a:rPr sz="1600" b="0" i="0">
                <a:solidFill>
                  <a:srgbClr val="1A1A1A"/>
                </a:solidFill>
                <a:latin typeface="Arial"/>
              </a:rPr>
              <a:t>An EA gives them a shared picture, shared words, and a forum to decide in.</a:t>
            </a:r>
          </a:p>
        </p:txBody>
      </p:sp>
      <p:sp>
        <p:nvSpPr>
          <p:cNvPr id="8" name="TextBox 7"/>
          <p:cNvSpPr txBox="1"/>
          <p:nvPr/>
        </p:nvSpPr>
        <p:spPr>
          <a:xfrm>
            <a:off x="658368" y="4663440"/>
            <a:ext cx="10881360" cy="548640"/>
          </a:xfrm>
          <a:prstGeom prst="rect">
            <a:avLst/>
          </a:prstGeom>
          <a:noFill/>
        </p:spPr>
        <p:txBody>
          <a:bodyPr wrap="square">
            <a:spAutoFit/>
          </a:bodyPr>
          <a:lstStyle/>
          <a:p>
            <a:r>
              <a:rPr sz="1550" b="1" i="0">
                <a:solidFill>
                  <a:srgbClr val="006E96"/>
                </a:solidFill>
                <a:latin typeface="Arial"/>
              </a:rPr>
              <a:t>The two ideas to carry out of this whole knowledge product.</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The closing case — proven, portable, and necessary now</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Proven, portable, and necessary now — held together by the two reasons an EA exists: it makes re-use possible, and it gives business and IT a shared language.</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your closing one-page case for the minister.</a:t>
            </a:r>
          </a:p>
          <a:p>
            <a:pPr algn="l">
              <a:spcAft>
                <a:spcPts val="400"/>
              </a:spcAft>
            </a:pPr>
            <a:r>
              <a:rPr sz="1800" b="0" i="0">
                <a:solidFill>
                  <a:srgbClr val="595959"/>
                </a:solidFill>
                <a:latin typeface="Arial"/>
              </a:rPr>
              <a:t>The prompt in the companion material gives you a one-page closing case.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The closing case — proven, portable, and necessary now</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§2.3 (Role of Enterprise Architecture)</a:t>
            </a:r>
          </a:p>
          <a:p>
            <a:pPr>
              <a:spcAft>
                <a:spcPts val="1200"/>
              </a:spcAft>
            </a:pPr>
            <a:r>
              <a:rPr sz="1700" b="0" i="0">
                <a:solidFill>
                  <a:srgbClr val="1A1A1A"/>
                </a:solidFill>
                <a:latin typeface="Arial"/>
              </a:rPr>
              <a:t>•  PAERA v1.0 — §2.5 (What is Digital Government?)</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The closing case — proven, portable, and necessary now</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