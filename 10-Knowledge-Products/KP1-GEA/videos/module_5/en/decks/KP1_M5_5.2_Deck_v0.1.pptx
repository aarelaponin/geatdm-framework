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03" r:id="rId25"/>
    <p:sldId id="2704" r:id="rId26"/>
    <p:sldId id="2705" r:id="rId27"/>
    <p:sldId id="2706" r:id="rId28"/>
    <p:sldId id="2707" r:id="rId29"/>
    <p:sldId id="2708" r:id="rId30"/>
    <p:sldId id="270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first play is the one you will use most: drafting the artefacts of Discovery and Assess. These are the slowest to start from a blank page — the capture template, and the ranked gap analysis. AI gets you from blank page to strong draft in minutes. Here is how it goes on a real sector.</a:t>
            </a:r>
          </a:p>
          <a:p/>
          <a:p>
            <a:r>
              <a:t>On screen: the play's copy-paste prompt is not shown on a slide — it ships in the video description so the viewer can run it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Step one, before the interviews. You paste what you know about a body — its mandate, its known systems, its registries. The AI returns a four-layer capture template: the right questions to ask per layer, a reminder to describe and not recommend, and a column to record where each answer came from. You walk into the Discovery interview with a structured sheet instead of a blank notebook. The template is a starting structure — you still ask the questions and record the real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Step two, after Discovery. You paste the findings back in and ask for a ranked gap analysis. On a sector like Progressa's education system, the AI scores the capabilities — register a learner low, certify a result high — scans for the four common gaps, ranks them by impact and effort, and, crucially, flags the gaps that involve a powerful body for honest handling. In minutes you have the skeleton of the assessment that would otherwise take a week to structure.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 clear about the division of labour. The AI is good at structure and completeness — it will not forget to score a capability or to check for duplicate registries. What it cannot do is know the ground truth. It scores what your notes say, not what is real. It cannot feel the political weight of the gap that a powerful programme will fight to keep. And it cannot tell whether a fact in your notes is actually true. The structure is the AI's; the truth and the judgement are yours.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 everything this play produces, the honesty flag matters most. The AI will mark the duplicate learner list that a powerful programme owns as a politically sensitive gap. But it cannot decide how to handle it — that is your call, made with the decision-maker, not softened to avoid a fight. The play gives you the flag; you provide the courage. An assessment that flatters the current state to keep the peace fails quietly, a year later, when the flagship still does not exist.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first play gets you from blank page to a structured capture template and a ranked gap analysis fast. Use it to skip the slow part — the structuring — and spend your time on the part only you can do: getting the truth right, and ranking the gaps honestly, including the ones that are uncomfortable to name.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5.2. Content slides are identical to the corresponding section of the combined deck KP1_M5_Deck_v0.1.pptx;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5.2 — Play 1 — Draft your Discovery and Assess artefacts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5 · Video 5.2</a:t>
            </a:r>
          </a:p>
          <a:p>
            <a:r>
              <a:rPr sz="1200" b="0" i="1">
                <a:solidFill>
                  <a:srgbClr val="595959"/>
                </a:solidFill>
                <a:latin typeface="Arial"/>
              </a:rPr>
              <a:t>The first play turns your raw Discovery notes into a structured capture template and then a ranked gap analysis — the two hardest-to-start artefacts of the assessment — in a fraction of the time, with the politics flagged for you to handle honestly.</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PLAYS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1 — Discovery and Assess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2 — the re-use business case</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3 — minister and architects</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4 — the governance artefacts</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Play 5 — comparators and transfer</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4-part prompt · 5 plays · 4 safeguards · you decide, the AI drafts</a:t>
            </a:r>
          </a:p>
        </p:txBody>
      </p:sp>
    </p:spTree>
    <p:extLst>
      <p:ext uri="{BB962C8B-B14F-4D97-AF65-F5344CB8AC3E}">
        <p14:creationId xmlns:p14="http://schemas.microsoft.com/office/powerpoint/2010/main" val="1196800265"/>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Play 1 — Draft your Discovery and Assess artefacts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first play turns your raw Discovery notes into a structured capture template and then a ranked gap analysis — the two hardest-to-start artefacts of the assessment — in a fraction of the time, with the politics flagged for you to handle honestly.</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 1 — walk in with a structured sheet, not a blank notebook</a:t>
            </a:r>
          </a:p>
        </p:txBody>
      </p:sp>
      <p:sp>
        <p:nvSpPr>
          <p:cNvPr id="4" name="Rounded Rectangle 3"/>
          <p:cNvSpPr/>
          <p:nvPr/>
        </p:nvSpPr>
        <p:spPr>
          <a:xfrm>
            <a:off x="658368" y="1645920"/>
            <a:ext cx="3246120" cy="38404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YOU PASTE</a:t>
            </a:r>
          </a:p>
          <a:p>
            <a:pPr algn="l">
              <a:spcAft>
                <a:spcPts val="300"/>
              </a:spcAft>
            </a:pPr>
            <a:r>
              <a:rPr sz="1450" b="0" i="0">
                <a:solidFill>
                  <a:srgbClr val="1A1A1A"/>
                </a:solidFill>
                <a:latin typeface="Arial"/>
              </a:rPr>
              <a:t>A body's mandate.</a:t>
            </a:r>
          </a:p>
          <a:p>
            <a:pPr algn="l">
              <a:spcAft>
                <a:spcPts val="300"/>
              </a:spcAft>
            </a:pPr>
            <a:r>
              <a:rPr sz="1450" b="0" i="0">
                <a:solidFill>
                  <a:srgbClr val="1A1A1A"/>
                </a:solidFill>
                <a:latin typeface="Arial"/>
              </a:rPr>
              <a:t>Its known systems.</a:t>
            </a:r>
          </a:p>
          <a:p>
            <a:pPr algn="l">
              <a:spcAft>
                <a:spcPts val="300"/>
              </a:spcAft>
            </a:pPr>
            <a:r>
              <a:rPr sz="1450" b="0" i="0">
                <a:solidFill>
                  <a:srgbClr val="1A1A1A"/>
                </a:solidFill>
                <a:latin typeface="Arial"/>
              </a:rPr>
              <a:t>Its registries.</a:t>
            </a:r>
          </a:p>
        </p:txBody>
      </p:sp>
      <p:sp>
        <p:nvSpPr>
          <p:cNvPr id="5" name="Rounded Rectangle 4"/>
          <p:cNvSpPr/>
          <p:nvPr/>
        </p:nvSpPr>
        <p:spPr>
          <a:xfrm>
            <a:off x="4471416" y="1645920"/>
            <a:ext cx="3246120" cy="3840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THE AI RETURNS</a:t>
            </a:r>
          </a:p>
          <a:p>
            <a:pPr algn="l">
              <a:spcAft>
                <a:spcPts val="300"/>
              </a:spcAft>
            </a:pPr>
            <a:r>
              <a:rPr sz="1450" b="0" i="0">
                <a:solidFill>
                  <a:srgbClr val="1A1A1A"/>
                </a:solidFill>
                <a:latin typeface="Arial"/>
              </a:rPr>
              <a:t>A four-layer capture template.</a:t>
            </a:r>
          </a:p>
          <a:p>
            <a:pPr algn="l">
              <a:spcAft>
                <a:spcPts val="300"/>
              </a:spcAft>
            </a:pPr>
            <a:r>
              <a:rPr sz="1450" b="0" i="0">
                <a:solidFill>
                  <a:srgbClr val="1A1A1A"/>
                </a:solidFill>
                <a:latin typeface="Arial"/>
              </a:rPr>
              <a:t>The right questions per layer.</a:t>
            </a:r>
          </a:p>
          <a:p>
            <a:pPr algn="l">
              <a:spcAft>
                <a:spcPts val="300"/>
              </a:spcAft>
            </a:pPr>
            <a:r>
              <a:rPr sz="1450" b="0" i="0">
                <a:solidFill>
                  <a:srgbClr val="1A1A1A"/>
                </a:solidFill>
                <a:latin typeface="Arial"/>
              </a:rPr>
              <a:t>A describe-don't-recommend reminder.</a:t>
            </a:r>
          </a:p>
          <a:p>
            <a:pPr algn="l">
              <a:spcAft>
                <a:spcPts val="300"/>
              </a:spcAft>
            </a:pPr>
            <a:r>
              <a:rPr sz="1450" b="0" i="0">
                <a:solidFill>
                  <a:srgbClr val="1A1A1A"/>
                </a:solidFill>
                <a:latin typeface="Arial"/>
              </a:rPr>
              <a:t>A column for where each answer came from.</a:t>
            </a:r>
          </a:p>
        </p:txBody>
      </p:sp>
      <p:sp>
        <p:nvSpPr>
          <p:cNvPr id="6" name="Rounded Rectangle 5"/>
          <p:cNvSpPr/>
          <p:nvPr/>
        </p:nvSpPr>
        <p:spPr>
          <a:xfrm>
            <a:off x="8284464" y="1645920"/>
            <a:ext cx="3246120" cy="38404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FFFFFF"/>
                </a:solidFill>
                <a:latin typeface="Arial"/>
              </a:rPr>
              <a:t>YOU DECIDE</a:t>
            </a:r>
          </a:p>
          <a:p>
            <a:pPr algn="l">
              <a:spcAft>
                <a:spcPts val="300"/>
              </a:spcAft>
            </a:pPr>
            <a:r>
              <a:rPr sz="1450" b="0" i="0">
                <a:solidFill>
                  <a:srgbClr val="FFFFFF"/>
                </a:solidFill>
                <a:latin typeface="Arial"/>
              </a:rPr>
              <a:t>Ask the questions.</a:t>
            </a:r>
          </a:p>
          <a:p>
            <a:pPr algn="l">
              <a:spcAft>
                <a:spcPts val="300"/>
              </a:spcAft>
            </a:pPr>
            <a:r>
              <a:rPr sz="1450" b="0" i="0">
                <a:solidFill>
                  <a:srgbClr val="FFFFFF"/>
                </a:solidFill>
                <a:latin typeface="Arial"/>
              </a:rPr>
              <a:t>Record the real answers.</a:t>
            </a:r>
          </a:p>
          <a:p>
            <a:pPr algn="l">
              <a:spcAft>
                <a:spcPts val="300"/>
              </a:spcAft>
            </a:pPr>
            <a:r>
              <a:rPr sz="1450" b="0" i="0">
                <a:solidFill>
                  <a:srgbClr val="FFFFFF"/>
                </a:solidFill>
                <a:latin typeface="Arial"/>
              </a:rPr>
              <a:t>The template is a structure, never the findings.</a:t>
            </a:r>
          </a:p>
        </p:txBody>
      </p:sp>
      <p:cxnSp>
        <p:nvCxnSpPr>
          <p:cNvPr id="7" name="Connector 6"/>
          <p:cNvCxnSpPr/>
          <p:nvPr/>
        </p:nvCxnSpPr>
        <p:spPr>
          <a:xfrm>
            <a:off x="3977639" y="3566160"/>
            <a:ext cx="420625"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90688" y="3566160"/>
            <a:ext cx="420624"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Blank page to structured sheet, before the first interview.</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 2 — a ranked gap analysis in minutes instead of a week</a:t>
            </a:r>
          </a:p>
        </p:txBody>
      </p:sp>
      <p:sp>
        <p:nvSpPr>
          <p:cNvPr id="4" name="Rounded Rectangle 3"/>
          <p:cNvSpPr/>
          <p:nvPr/>
        </p:nvSpPr>
        <p:spPr>
          <a:xfrm>
            <a:off x="658368" y="1645920"/>
            <a:ext cx="3246120" cy="38404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YOU PASTE</a:t>
            </a:r>
          </a:p>
          <a:p>
            <a:pPr algn="l">
              <a:spcAft>
                <a:spcPts val="300"/>
              </a:spcAft>
            </a:pPr>
            <a:r>
              <a:rPr sz="1450" b="0" i="0">
                <a:solidFill>
                  <a:srgbClr val="1A1A1A"/>
                </a:solidFill>
                <a:latin typeface="Arial"/>
              </a:rPr>
              <a:t>Your Discovery findings.</a:t>
            </a:r>
          </a:p>
        </p:txBody>
      </p:sp>
      <p:sp>
        <p:nvSpPr>
          <p:cNvPr id="5" name="Rounded Rectangle 4"/>
          <p:cNvSpPr/>
          <p:nvPr/>
        </p:nvSpPr>
        <p:spPr>
          <a:xfrm>
            <a:off x="4471416" y="1645920"/>
            <a:ext cx="3246120" cy="3840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THE AI RETURNS</a:t>
            </a:r>
          </a:p>
          <a:p>
            <a:pPr algn="l">
              <a:spcAft>
                <a:spcPts val="300"/>
              </a:spcAft>
            </a:pPr>
            <a:r>
              <a:rPr sz="1450" b="0" i="0">
                <a:solidFill>
                  <a:srgbClr val="1A1A1A"/>
                </a:solidFill>
                <a:latin typeface="Arial"/>
              </a:rPr>
              <a:t>Capability maturity scored.</a:t>
            </a:r>
          </a:p>
          <a:p>
            <a:pPr algn="l">
              <a:spcAft>
                <a:spcPts val="300"/>
              </a:spcAft>
            </a:pPr>
            <a:r>
              <a:rPr sz="1450" b="0" i="0">
                <a:solidFill>
                  <a:srgbClr val="1A1A1A"/>
                </a:solidFill>
                <a:latin typeface="Arial"/>
              </a:rPr>
              <a:t>The four common gaps, found.</a:t>
            </a:r>
          </a:p>
          <a:p>
            <a:pPr algn="l">
              <a:spcAft>
                <a:spcPts val="300"/>
              </a:spcAft>
            </a:pPr>
            <a:r>
              <a:rPr sz="1450" b="0" i="0">
                <a:solidFill>
                  <a:srgbClr val="1A1A1A"/>
                </a:solidFill>
                <a:latin typeface="Arial"/>
              </a:rPr>
              <a:t>Ranked by impact and effort.</a:t>
            </a:r>
          </a:p>
          <a:p>
            <a:pPr algn="l">
              <a:spcAft>
                <a:spcPts val="300"/>
              </a:spcAft>
            </a:pPr>
            <a:r>
              <a:rPr sz="1450" b="0" i="0">
                <a:solidFill>
                  <a:srgbClr val="1A1A1A"/>
                </a:solidFill>
                <a:latin typeface="Arial"/>
              </a:rPr>
              <a:t>Politically sensitive gaps flagged.</a:t>
            </a:r>
          </a:p>
        </p:txBody>
      </p:sp>
      <p:sp>
        <p:nvSpPr>
          <p:cNvPr id="6" name="Rounded Rectangle 5"/>
          <p:cNvSpPr/>
          <p:nvPr/>
        </p:nvSpPr>
        <p:spPr>
          <a:xfrm>
            <a:off x="8284464" y="1645920"/>
            <a:ext cx="3246120" cy="38404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FFFFFF"/>
                </a:solidFill>
                <a:latin typeface="Arial"/>
              </a:rPr>
              <a:t>YOU DECIDE</a:t>
            </a:r>
          </a:p>
          <a:p>
            <a:pPr algn="l">
              <a:spcAft>
                <a:spcPts val="300"/>
              </a:spcAft>
            </a:pPr>
            <a:r>
              <a:rPr sz="1450" b="0" i="0">
                <a:solidFill>
                  <a:srgbClr val="FFFFFF"/>
                </a:solidFill>
                <a:latin typeface="Arial"/>
              </a:rPr>
              <a:t>Check the ground truth.</a:t>
            </a:r>
          </a:p>
          <a:p>
            <a:pPr algn="l">
              <a:spcAft>
                <a:spcPts val="300"/>
              </a:spcAft>
            </a:pPr>
            <a:r>
              <a:rPr sz="1450" b="0" i="0">
                <a:solidFill>
                  <a:srgbClr val="FFFFFF"/>
                </a:solidFill>
                <a:latin typeface="Arial"/>
              </a:rPr>
              <a:t>Defend the ranking.</a:t>
            </a:r>
          </a:p>
          <a:p>
            <a:pPr algn="l">
              <a:spcAft>
                <a:spcPts val="300"/>
              </a:spcAft>
            </a:pPr>
            <a:r>
              <a:rPr sz="1450" b="0" i="0">
                <a:solidFill>
                  <a:srgbClr val="FFFFFF"/>
                </a:solidFill>
                <a:latin typeface="Arial"/>
              </a:rPr>
              <a:t>Decide how to handle the flagged gap.</a:t>
            </a:r>
          </a:p>
        </p:txBody>
      </p:sp>
      <p:cxnSp>
        <p:nvCxnSpPr>
          <p:cNvPr id="7" name="Connector 6"/>
          <p:cNvCxnSpPr/>
          <p:nvPr/>
        </p:nvCxnSpPr>
        <p:spPr>
          <a:xfrm>
            <a:off x="3977639" y="3566160"/>
            <a:ext cx="420625"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90688" y="3566160"/>
            <a:ext cx="420624" cy="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The skeleton of the assessment that would otherwise take a week to structure.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structure is the AI's. The truth and the judgement are yours</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AI GETS RIGHT</a:t>
            </a:r>
          </a:p>
          <a:p>
            <a:pPr>
              <a:spcAft>
                <a:spcPts val="700"/>
              </a:spcAft>
            </a:pPr>
            <a:r>
              <a:rPr sz="1600" b="0" i="0">
                <a:solidFill>
                  <a:srgbClr val="1A1A1A"/>
                </a:solidFill>
                <a:latin typeface="Arial"/>
              </a:rPr>
              <a:t>Structure and completeness.</a:t>
            </a:r>
          </a:p>
          <a:p>
            <a:pPr>
              <a:spcAft>
                <a:spcPts val="700"/>
              </a:spcAft>
            </a:pPr>
            <a:r>
              <a:rPr sz="1600" b="0" i="0">
                <a:solidFill>
                  <a:srgbClr val="1A1A1A"/>
                </a:solidFill>
                <a:latin typeface="Arial"/>
              </a:rPr>
              <a:t>It will not forget to score a capability.</a:t>
            </a:r>
          </a:p>
          <a:p>
            <a:pPr>
              <a:spcAft>
                <a:spcPts val="700"/>
              </a:spcAft>
            </a:pPr>
            <a:r>
              <a:rPr sz="1600" b="0" i="0">
                <a:solidFill>
                  <a:srgbClr val="1A1A1A"/>
                </a:solidFill>
                <a:latin typeface="Arial"/>
              </a:rPr>
              <a:t>It will not forget to check for duplicate registries.</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AI CANNOT</a:t>
            </a:r>
          </a:p>
          <a:p>
            <a:pPr>
              <a:spcAft>
                <a:spcPts val="700"/>
              </a:spcAft>
            </a:pPr>
            <a:r>
              <a:rPr sz="1600" b="0" i="0">
                <a:solidFill>
                  <a:srgbClr val="1A1A1A"/>
                </a:solidFill>
                <a:latin typeface="Arial"/>
              </a:rPr>
              <a:t>Know the ground truth.</a:t>
            </a:r>
          </a:p>
          <a:p>
            <a:pPr>
              <a:spcAft>
                <a:spcPts val="700"/>
              </a:spcAft>
            </a:pPr>
            <a:r>
              <a:rPr sz="1600" b="0" i="0">
                <a:solidFill>
                  <a:srgbClr val="1A1A1A"/>
                </a:solidFill>
                <a:latin typeface="Arial"/>
              </a:rPr>
              <a:t>Feel the political weight of a gap a powerful programme will fight to keep.</a:t>
            </a:r>
          </a:p>
          <a:p>
            <a:pPr>
              <a:spcAft>
                <a:spcPts val="700"/>
              </a:spcAft>
            </a:pPr>
            <a:r>
              <a:rPr sz="1600" b="0" i="0">
                <a:solidFill>
                  <a:srgbClr val="1A1A1A"/>
                </a:solidFill>
                <a:latin typeface="Arial"/>
              </a:rPr>
              <a:t>Tell whether a "fact" in your notes is actually true.</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It scores what your notes say, not what is real.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play gives you the flag. You provide the courage</a:t>
            </a:r>
          </a:p>
        </p:txBody>
      </p:sp>
      <p:sp>
        <p:nvSpPr>
          <p:cNvPr id="4" name="TextBox 3"/>
          <p:cNvSpPr txBox="1"/>
          <p:nvPr/>
        </p:nvSpPr>
        <p:spPr>
          <a:xfrm>
            <a:off x="658368" y="1600200"/>
            <a:ext cx="10881360" cy="1984248"/>
          </a:xfrm>
          <a:prstGeom prst="rect">
            <a:avLst/>
          </a:prstGeom>
          <a:noFill/>
        </p:spPr>
        <p:txBody>
          <a:bodyPr wrap="square">
            <a:spAutoFit/>
          </a:bodyPr>
          <a:lstStyle/>
          <a:p>
            <a:pPr>
              <a:spcAft>
                <a:spcPts val="1200"/>
              </a:spcAft>
            </a:pPr>
            <a:r>
              <a:rPr sz="2000" b="0" i="0">
                <a:solidFill>
                  <a:srgbClr val="1A1A1A"/>
                </a:solidFill>
                <a:latin typeface="Arial"/>
              </a:rPr>
              <a:t>The AI marks the duplicate learner list a powerful programme owns as a politically sensitive gap. But it cannot decide how to handle it — that is your call, made with the decision-maker, not softened to avoid a fight.</a:t>
            </a:r>
          </a:p>
          <a:p>
            <a:pPr>
              <a:spcAft>
                <a:spcPts val="1200"/>
              </a:spcAft>
            </a:pPr>
            <a:r>
              <a:rPr sz="2000" b="0" i="0">
                <a:solidFill>
                  <a:srgbClr val="1A1A1A"/>
                </a:solidFill>
                <a:latin typeface="Arial"/>
              </a:rPr>
              <a:t>An assessment that flatters the current state to keep the peace fails quietly, a year later, when the flagship still does not exist.</a:t>
            </a:r>
          </a:p>
        </p:txBody>
      </p:sp>
      <p:sp>
        <p:nvSpPr>
          <p:cNvPr id="5" name="Rounded Rectangle 4"/>
          <p:cNvSpPr/>
          <p:nvPr/>
        </p:nvSpPr>
        <p:spPr>
          <a:xfrm>
            <a:off x="658368" y="3767328"/>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959352"/>
            <a:ext cx="10479024" cy="1051560"/>
          </a:xfrm>
          <a:prstGeom prst="rect">
            <a:avLst/>
          </a:prstGeom>
          <a:noFill/>
        </p:spPr>
        <p:txBody>
          <a:bodyPr wrap="square">
            <a:spAutoFit/>
          </a:bodyPr>
          <a:lstStyle/>
          <a:p>
            <a:pPr>
              <a:spcAft>
                <a:spcPts val="700"/>
              </a:spcAft>
            </a:pPr>
            <a:r>
              <a:rPr sz="2300" b="1" i="0">
                <a:solidFill>
                  <a:srgbClr val="006E96"/>
                </a:solidFill>
                <a:latin typeface="Arial"/>
              </a:rPr>
              <a:t>Of everything this play produces, the honesty flag matters most.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This play turns raw Discovery notes into a capture template and a ranked gap analysis in minutes — the AI supplies the structure; you supply the ground truth and the honesty.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§5.1 (Capabilities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