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1" r:id="rId33"/>
    <p:sldId id="2712" r:id="rId34"/>
    <p:sldId id="2713" r:id="rId35"/>
    <p:sldId id="2714" r:id="rId36"/>
    <p:sldId id="2715" r:id="rId37"/>
    <p:sldId id="2716" r:id="rId38"/>
    <p:sldId id="2717" r:id="rId39"/>
    <p:sldId id="271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From wave two, each new sector consumes what wave one built. The health sector uses the identity platform and the data-exchange backbone that already exist. Its run of the method is lighter, because the team, the framework and the governance are in place. It delivers faster and costs less, and every sector that joins makes the next one easier still. That is why the expensive part is building the muscle once. But it only compounds if you govern it. The same board that reviews projects inside a sector governs the national pipeline: which sector comes next, what each must reuse, where an exception is genuinely warranted. A rollout that is launched and left drifts back into fragmentation, one sector at a time.</a:t>
            </a:r>
          </a:p>
          <a:p/>
          <a:p>
            <a:r>
              <a:t>Production cue: the pivotal slide of this video — the compounding and the governance on one page. Hold it a beat longer. On screen: a wave roadmap — each wave a smaller block than the last, the platform bar beneath growing, the Board bar across the top. Reveal the waves left to right; the Board bar is already there.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roll it out in waves. Wave one is one sector, done well. Pick the sector with a clear flagship the minister cares about — the single learner record, the single patient record — and run the full method there, end to end. But notice what wave one really builds: not just that sector's architecture, but the national foundations. The permanent team. The governance board. The first shared platforms, identity and data exchange. Wave one looks like one sector. It is actually the foundation the whole rollout stands on.</a:t>
            </a:r>
          </a:p>
          <a:p/>
          <a:p>
            <a:r>
              <a:t>On screen: the sector block standing on a wider foundation block — reveal the base on 'but notice what wave one really builds'.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Suppose you want this beyond one sector. Two questions follow: does the method travel, and how do you roll it out without trying to do everything at once? The answers are linked — and the second sector is cheaper than the first.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Most of the method does not change. The five phases, the four sign-offs, the six deliverables, the reuse-before-build default, the binding governance board — none of that is specific to one sector. What changes is only the record at the centre of the fragmentation. In education it is the learner. In health it is the patient. In agriculture the farmer; in social protection the beneficiary. Different domain, identical shape — registered several times, re-entered on paper, blocking a flagship the minister has promised. The problem rhymes across sectors because the cause is the same: no shared plan. Which means you are not buying a one-sector tool. You are building a national capability, of which the first sector is the foundation and the proof.</a:t>
            </a:r>
          </a:p>
          <a:p/>
          <a:p>
            <a:r>
              <a:t>On screen: health, agriculture and social protection are named as sectors the method transfers to — this is the ToR §4.4 portability statement, not a set of worked examples.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report the national picture upward, on one page, every quarter. How many sectors are live. The re-use rate across them. Which shared platforms are in place. This shows the minister a national capability actually growing — which is what sustains funding across a change of government — and it lets you see early if a sector is drifting from the shared foundation, while correction is still cheap.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method travels, and the rollout is a wave roadmap: one sector to build the foundations, then sectors one at a time, each cheaper than the last, governed into a single national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Roll it out across sectors — and why the second is cheaper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method is sector-agnostic — only the record at the centre changes — so roll it out as a wave roadmap: one sector first to build the shared platforms, then sectors one at a time, each cheaper than the last, governed into a single national architecture.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Beyond one sector: does the method travel, and how do you roll it out?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Two questions, and the answers are linked.</a:t>
            </a:r>
          </a:p>
          <a:p>
            <a:pPr>
              <a:spcAft>
                <a:spcPts val="800"/>
              </a:spcAft>
            </a:pPr>
            <a:r>
              <a:rPr sz="1700" b="0" i="0">
                <a:solidFill>
                  <a:srgbClr val="595959"/>
                </a:solidFill>
                <a:latin typeface="Arial"/>
              </a:rPr>
              <a:t>The second sector is cheaper than the first.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Roll it out across sectors — and why the second is cheaper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Most of the method does not change — only the record at the centre does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five phases, the four sign-offs, the six deliverables, reuse-before-build, the binding board — none of it is sector-specific.</a:t>
            </a:r>
          </a:p>
          <a:p>
            <a:pPr>
              <a:spcAft>
                <a:spcPts val="1200"/>
              </a:spcAft>
            </a:pPr>
            <a:r>
              <a:rPr sz="2000" b="0" i="0">
                <a:solidFill>
                  <a:srgbClr val="1A1A1A"/>
                </a:solidFill>
                <a:latin typeface="Arial"/>
              </a:rPr>
              <a:t>Only the record at the centre changes: a learner, a patient, a farmer, a beneficiary. Different domain, identical shape — registered several times, re-entered on paper, blocking a flagship the minister has promised.</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portability statement, not worked examples — each sector still needs its own discovery on the ground.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Roll it out across sectors — and why the second is cheaper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Wave 1 looks like one sector. It is the foundation the rollout stands on</a:t>
            </a:r>
          </a:p>
        </p:txBody>
      </p:sp>
      <p:sp>
        <p:nvSpPr>
          <p:cNvPr id="4" name="Rounded Rectangle 3"/>
          <p:cNvSpPr/>
          <p:nvPr/>
        </p:nvSpPr>
        <p:spPr>
          <a:xfrm>
            <a:off x="2651760" y="1737360"/>
            <a:ext cx="4754880" cy="1463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WAVE 1 — ONE SECTOR, THE FULL METHOD, END TO END</a:t>
            </a:r>
          </a:p>
          <a:p>
            <a:pPr algn="l">
              <a:spcAft>
                <a:spcPts val="300"/>
              </a:spcAft>
            </a:pPr>
            <a:r>
              <a:rPr sz="1300" b="0" i="0">
                <a:solidFill>
                  <a:srgbClr val="1A1A1A"/>
                </a:solidFill>
                <a:latin typeface="Arial"/>
              </a:rPr>
              <a:t>A sector with a clear flagship the minister cares about — the single learner record, the single patient record.</a:t>
            </a:r>
          </a:p>
        </p:txBody>
      </p:sp>
      <p:sp>
        <p:nvSpPr>
          <p:cNvPr id="5" name="Rounded Rectangle 4"/>
          <p:cNvSpPr/>
          <p:nvPr/>
        </p:nvSpPr>
        <p:spPr>
          <a:xfrm>
            <a:off x="658368" y="3383280"/>
            <a:ext cx="8732520" cy="16002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WHAT WAVE 1 REALLY BUILDS — THE NATIONAL FOUNDATIONS</a:t>
            </a:r>
          </a:p>
          <a:p>
            <a:pPr algn="l">
              <a:spcAft>
                <a:spcPts val="300"/>
              </a:spcAft>
            </a:pPr>
            <a:r>
              <a:rPr sz="1300" b="0" i="0">
                <a:solidFill>
                  <a:srgbClr val="FFFFFF"/>
                </a:solidFill>
                <a:latin typeface="Arial"/>
              </a:rPr>
              <a:t>The permanent team  ·  the governance board  ·  the first shared platforms: identity, data exchange</a:t>
            </a:r>
          </a:p>
          <a:p>
            <a:pPr algn="l">
              <a:spcAft>
                <a:spcPts val="300"/>
              </a:spcAft>
            </a:pPr>
            <a:r>
              <a:rPr sz="1300" b="0" i="0">
                <a:solidFill>
                  <a:srgbClr val="FFFFFF"/>
                </a:solidFill>
                <a:latin typeface="Arial"/>
              </a:rPr>
              <a:t>Every later sector stands on this — none of them builds it again.</a:t>
            </a:r>
          </a:p>
        </p:txBody>
      </p:sp>
      <p:sp>
        <p:nvSpPr>
          <p:cNvPr id="6" name="Rectangle 5"/>
          <p:cNvSpPr/>
          <p:nvPr/>
        </p:nvSpPr>
        <p:spPr>
          <a:xfrm>
            <a:off x="9646920" y="1737360"/>
            <a:ext cx="45720" cy="324612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1737360"/>
            <a:ext cx="1737360" cy="3246120"/>
          </a:xfrm>
          <a:prstGeom prst="rect">
            <a:avLst/>
          </a:prstGeom>
          <a:noFill/>
        </p:spPr>
        <p:txBody>
          <a:bodyPr wrap="square">
            <a:spAutoFit/>
          </a:bodyPr>
          <a:lstStyle/>
          <a:p>
            <a:pPr>
              <a:spcAft>
                <a:spcPts val="800"/>
              </a:spcAft>
            </a:pPr>
            <a:r>
              <a:rPr sz="1250" b="0" i="1">
                <a:solidFill>
                  <a:srgbClr val="595959"/>
                </a:solidFill>
                <a:latin typeface="Arial"/>
              </a:rPr>
              <a:t>The sector is what the minister sees.</a:t>
            </a:r>
          </a:p>
          <a:p>
            <a:pPr>
              <a:spcAft>
                <a:spcPts val="800"/>
              </a:spcAft>
            </a:pPr>
            <a:r>
              <a:rPr sz="1250" b="0" i="1">
                <a:solidFill>
                  <a:srgbClr val="595959"/>
                </a:solidFill>
                <a:latin typeface="Arial"/>
              </a:rPr>
              <a:t>The base is what the country keeps.</a:t>
            </a:r>
          </a:p>
        </p:txBody>
      </p:sp>
      <p:sp>
        <p:nvSpPr>
          <p:cNvPr id="8" name="TextBox 7"/>
          <p:cNvSpPr txBox="1"/>
          <p:nvPr/>
        </p:nvSpPr>
        <p:spPr>
          <a:xfrm>
            <a:off x="658368" y="5760720"/>
            <a:ext cx="10881360" cy="548640"/>
          </a:xfrm>
          <a:prstGeom prst="rect">
            <a:avLst/>
          </a:prstGeom>
          <a:noFill/>
        </p:spPr>
        <p:txBody>
          <a:bodyPr wrap="square">
            <a:spAutoFit/>
          </a:bodyPr>
          <a:lstStyle/>
          <a:p>
            <a:r>
              <a:rPr sz="1550" b="1" i="0">
                <a:solidFill>
                  <a:srgbClr val="006E96"/>
                </a:solidFill>
                <a:latin typeface="Arial"/>
              </a:rPr>
              <a:t>One sector, done well — and the national foundations, laid.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Roll it out across sectors — and why the second is cheaper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From Wave 2 each sector is cheaper — if the same board governs the pipeline</a:t>
            </a:r>
          </a:p>
        </p:txBody>
      </p:sp>
      <p:sp>
        <p:nvSpPr>
          <p:cNvPr id="4" name="Rounded Rectangle 3"/>
          <p:cNvSpPr/>
          <p:nvPr/>
        </p:nvSpPr>
        <p:spPr>
          <a:xfrm>
            <a:off x="658368" y="1554480"/>
            <a:ext cx="10881360" cy="457200"/>
          </a:xfrm>
          <a:prstGeom prst="roundRect">
            <a:avLst>
              <a:gd name="adj" fmla="val 30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Arial"/>
              </a:rPr>
              <a:t>THE SAME BOARD GOVERNS THE NATIONAL PIPELINE — which sector next, what each must reuse, where an exception is warranted</a:t>
            </a:r>
          </a:p>
        </p:txBody>
      </p:sp>
      <p:sp>
        <p:nvSpPr>
          <p:cNvPr id="5" name="Rounded Rectangle 4"/>
          <p:cNvSpPr/>
          <p:nvPr/>
        </p:nvSpPr>
        <p:spPr>
          <a:xfrm>
            <a:off x="658368" y="2285999"/>
            <a:ext cx="3574222" cy="2606040"/>
          </a:xfrm>
          <a:prstGeom prst="roundRect">
            <a:avLst>
              <a:gd name="adj" fmla="val 8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300" b="1" i="0">
                <a:solidFill>
                  <a:srgbClr val="FFFFFF"/>
                </a:solidFill>
                <a:latin typeface="Arial"/>
              </a:rPr>
              <a:t>WAVE 1 — the foundation sector</a:t>
            </a:r>
          </a:p>
          <a:p>
            <a:pPr algn="l">
              <a:spcAft>
                <a:spcPts val="300"/>
              </a:spcAft>
            </a:pPr>
            <a:r>
              <a:rPr sz="1150" b="0" i="0">
                <a:solidFill>
                  <a:srgbClr val="FFFFFF"/>
                </a:solidFill>
                <a:latin typeface="Arial"/>
              </a:rPr>
              <a:t>Full method, end to end</a:t>
            </a:r>
          </a:p>
          <a:p>
            <a:pPr algn="l">
              <a:spcAft>
                <a:spcPts val="300"/>
              </a:spcAft>
            </a:pPr>
            <a:r>
              <a:rPr sz="1150" b="0" i="0">
                <a:solidFill>
                  <a:srgbClr val="FFFFFF"/>
                </a:solidFill>
                <a:latin typeface="Arial"/>
              </a:rPr>
              <a:t>Builds the team, the board, identity, data exchange</a:t>
            </a:r>
          </a:p>
        </p:txBody>
      </p:sp>
      <p:sp>
        <p:nvSpPr>
          <p:cNvPr id="6" name="Rounded Rectangle 5"/>
          <p:cNvSpPr/>
          <p:nvPr/>
        </p:nvSpPr>
        <p:spPr>
          <a:xfrm>
            <a:off x="4397182" y="2859328"/>
            <a:ext cx="2792361" cy="2032711"/>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300" b="1" i="0">
                <a:solidFill>
                  <a:srgbClr val="006E96"/>
                </a:solidFill>
                <a:latin typeface="Arial"/>
              </a:rPr>
              <a:t>WAVE 2 — health</a:t>
            </a:r>
          </a:p>
          <a:p>
            <a:pPr algn="l">
              <a:spcAft>
                <a:spcPts val="300"/>
              </a:spcAft>
            </a:pPr>
            <a:r>
              <a:rPr sz="1150" b="0" i="0">
                <a:solidFill>
                  <a:srgbClr val="1A1A1A"/>
                </a:solidFill>
                <a:latin typeface="Arial"/>
              </a:rPr>
              <a:t>Consumes the platforms</a:t>
            </a:r>
          </a:p>
          <a:p>
            <a:pPr algn="l">
              <a:spcAft>
                <a:spcPts val="300"/>
              </a:spcAft>
            </a:pPr>
            <a:r>
              <a:rPr sz="1150" b="0" i="0">
                <a:solidFill>
                  <a:srgbClr val="1A1A1A"/>
                </a:solidFill>
                <a:latin typeface="Arial"/>
              </a:rPr>
              <a:t>Lighter method — team, framework and governance in place</a:t>
            </a:r>
          </a:p>
        </p:txBody>
      </p:sp>
      <p:cxnSp>
        <p:nvCxnSpPr>
          <p:cNvPr id="7" name="Connector 6"/>
          <p:cNvCxnSpPr/>
          <p:nvPr/>
        </p:nvCxnSpPr>
        <p:spPr>
          <a:xfrm>
            <a:off x="4250878" y="4480559"/>
            <a:ext cx="128016"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354135" y="3276295"/>
            <a:ext cx="2233889" cy="1615744"/>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300" b="1" i="0">
                <a:solidFill>
                  <a:srgbClr val="006E96"/>
                </a:solidFill>
                <a:latin typeface="Arial"/>
              </a:rPr>
              <a:t>WAVE 3 — agriculture</a:t>
            </a:r>
          </a:p>
          <a:p>
            <a:pPr algn="l">
              <a:spcAft>
                <a:spcPts val="300"/>
              </a:spcAft>
            </a:pPr>
            <a:r>
              <a:rPr sz="1150" b="0" i="0">
                <a:solidFill>
                  <a:srgbClr val="1A1A1A"/>
                </a:solidFill>
                <a:latin typeface="Arial"/>
              </a:rPr>
              <a:t>Consumes more</a:t>
            </a:r>
          </a:p>
          <a:p>
            <a:pPr algn="l">
              <a:spcAft>
                <a:spcPts val="300"/>
              </a:spcAft>
            </a:pPr>
            <a:r>
              <a:rPr sz="1150" b="0" i="0">
                <a:solidFill>
                  <a:srgbClr val="1A1A1A"/>
                </a:solidFill>
                <a:latin typeface="Arial"/>
              </a:rPr>
              <a:t>Faster, for less</a:t>
            </a:r>
          </a:p>
        </p:txBody>
      </p:sp>
      <p:cxnSp>
        <p:nvCxnSpPr>
          <p:cNvPr id="9" name="Connector 8"/>
          <p:cNvCxnSpPr/>
          <p:nvPr/>
        </p:nvCxnSpPr>
        <p:spPr>
          <a:xfrm>
            <a:off x="7207831" y="4480559"/>
            <a:ext cx="128016"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752616" y="3589020"/>
            <a:ext cx="1787111" cy="13030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300" b="1" i="0">
                <a:solidFill>
                  <a:srgbClr val="006E96"/>
                </a:solidFill>
                <a:latin typeface="Arial"/>
              </a:rPr>
              <a:t>WAVE 4 — social protection</a:t>
            </a:r>
          </a:p>
          <a:p>
            <a:pPr algn="l">
              <a:spcAft>
                <a:spcPts val="300"/>
              </a:spcAft>
            </a:pPr>
            <a:r>
              <a:rPr sz="1150" b="0" i="0">
                <a:solidFill>
                  <a:srgbClr val="1A1A1A"/>
                </a:solidFill>
                <a:latin typeface="Arial"/>
              </a:rPr>
              <a:t>Easier still</a:t>
            </a:r>
          </a:p>
        </p:txBody>
      </p:sp>
      <p:cxnSp>
        <p:nvCxnSpPr>
          <p:cNvPr id="11" name="Connector 10"/>
          <p:cNvCxnSpPr/>
          <p:nvPr/>
        </p:nvCxnSpPr>
        <p:spPr>
          <a:xfrm>
            <a:off x="9606312" y="4480559"/>
            <a:ext cx="128016"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58368" y="5248656"/>
            <a:ext cx="3738814" cy="182880"/>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97182" y="5175504"/>
            <a:ext cx="2956953"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54135" y="5102352"/>
            <a:ext cx="2398481" cy="329184"/>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752616" y="5029200"/>
            <a:ext cx="1787111" cy="402336"/>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486400"/>
            <a:ext cx="10881360" cy="320040"/>
          </a:xfrm>
          <a:prstGeom prst="rect">
            <a:avLst/>
          </a:prstGeom>
          <a:noFill/>
        </p:spPr>
        <p:txBody>
          <a:bodyPr wrap="square">
            <a:spAutoFit/>
          </a:bodyPr>
          <a:lstStyle/>
          <a:p>
            <a:r>
              <a:rPr sz="1150" b="1" i="0">
                <a:solidFill>
                  <a:srgbClr val="006E96"/>
                </a:solidFill>
                <a:latin typeface="Arial"/>
              </a:rPr>
              <a:t>Shared platforms — more complete with every wave</a:t>
            </a:r>
          </a:p>
        </p:txBody>
      </p:sp>
      <p:sp>
        <p:nvSpPr>
          <p:cNvPr id="17" name="TextBox 16"/>
          <p:cNvSpPr txBox="1"/>
          <p:nvPr/>
        </p:nvSpPr>
        <p:spPr>
          <a:xfrm>
            <a:off x="658368" y="5806440"/>
            <a:ext cx="10881360" cy="548640"/>
          </a:xfrm>
          <a:prstGeom prst="rect">
            <a:avLst/>
          </a:prstGeom>
          <a:noFill/>
        </p:spPr>
        <p:txBody>
          <a:bodyPr wrap="square">
            <a:spAutoFit/>
          </a:bodyPr>
          <a:lstStyle/>
          <a:p>
            <a:r>
              <a:rPr sz="1550" b="1" i="0">
                <a:solidFill>
                  <a:srgbClr val="006E96"/>
                </a:solidFill>
                <a:latin typeface="Arial"/>
              </a:rPr>
              <a:t>Launched and left, a rollout drifts back into fragmentation. Governed, it compounds.</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Roll it out across sectors — and why the second is cheaper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page, every quarter — the national scorecard</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Sectors live</a:t>
            </a:r>
          </a:p>
          <a:p>
            <a:pPr>
              <a:spcAft>
                <a:spcPts val="300"/>
              </a:spcAft>
            </a:pPr>
            <a:r>
              <a:rPr sz="1550" b="0" i="0">
                <a:solidFill>
                  <a:srgbClr val="595959"/>
                </a:solidFill>
                <a:latin typeface="Arial"/>
              </a:rPr>
              <a:t>How many have run the method end to end.</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re-use rate across them</a:t>
            </a:r>
          </a:p>
          <a:p>
            <a:pPr>
              <a:spcAft>
                <a:spcPts val="300"/>
              </a:spcAft>
            </a:pPr>
            <a:r>
              <a:rPr sz="1550" b="0" i="0">
                <a:solidFill>
                  <a:srgbClr val="595959"/>
                </a:solidFill>
                <a:latin typeface="Arial"/>
              </a:rPr>
              <a:t>How much of the new work consumes a shared block instead of rebuilding it.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Shared platforms in place</a:t>
            </a:r>
          </a:p>
          <a:p>
            <a:pPr>
              <a:spcAft>
                <a:spcPts val="300"/>
              </a:spcAft>
            </a:pPr>
            <a:r>
              <a:rPr sz="1550" b="0" i="0">
                <a:solidFill>
                  <a:srgbClr val="595959"/>
                </a:solidFill>
                <a:latin typeface="Arial"/>
              </a:rPr>
              <a:t>Which of identity and data exchange are authoritative and available.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It sustains funding across a change of government, and catches a drifting sector early.</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Roll it out across sectors — and why the second is cheaper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method is sector-agnostic — only the central record changes — so roll it out in waves, each sector after the first cheaper, governed into a single national architecture.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Sequence your national rollout into waves.</a:t>
            </a:r>
          </a:p>
          <a:p>
            <a:pPr algn="l">
              <a:spcAft>
                <a:spcPts val="400"/>
              </a:spcAft>
            </a:pPr>
            <a:r>
              <a:rPr sz="1800" b="0" i="0">
                <a:solidFill>
                  <a:srgbClr val="595959"/>
                </a:solidFill>
                <a:latin typeface="Arial"/>
              </a:rPr>
              <a:t>The prompt in the companion material gives you a national wave sequence with per-wave reuse.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Roll it out across sectors — and why the second is cheaper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§5.7 (Recommended Roadmap)</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Roll it out across sectors — and why the second is cheaper</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