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8" r:id="rId60"/>
    <p:sldId id="2739" r:id="rId61"/>
    <p:sldId id="2740" r:id="rId62"/>
    <p:sldId id="2741" r:id="rId63"/>
    <p:sldId id="2742" r:id="rId64"/>
    <p:sldId id="2743" r:id="rId65"/>
    <p:sldId id="2744"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5.7. Content slides are identical to the corresponding section of the combined deck KP1_M5_Deck_v0.1.pptx;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Every play in this module produces a draft fast. This last part is about the discipline that keeps those drafts from becoming liabilities. Four safeguards. Skip them, and AI becomes a fast way to put wrong facts, fabricated sources, or leaked data into a government decision.</a:t>
            </a:r>
          </a:p>
          <a:p/>
          <a:p>
            <a:r>
              <a:t>Production cue: the closing video of the module. Its AI usage tip is a meta-prompt — strip a prompt of sensitive data — and it ships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verify. Every fact an AI states is a hypothesis until you check it against a real source — a document, a system, a named person. The plausible section number, the confident figure, the specific claim: each is exactly as convincing whether it is right or invented. This is not a small risk. A wrong reference in a deliverable, a made-up statistic in a cabinet briefing — these damage your credibility more than a gap in the work would. Verify before you forward. Always.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cite or discard — the rule from the comparator play, applied everywhere. Any claim about the outside world — what another country did, what a standard requires, what a benchmark shows — needs a real, checkable source. AI fabricates citations as fluently as it writes prose. So open the source. If it does not say what the AI claims, discard the claim, not just the citation. An unsourced claim you cannot verify is a liability you are choosing to carry into a meeting.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protect the data. Do not paste citizen personal data, security configurations, unpublished cabinet papers, or anything your data-protection act covers into a public AI tool. The plays never need it: you can run every one with placeholders — a learner, a powerful programme, country X — instead of real names and records. Your data-protection act applies to what you type into a chatbot exactly as it applies to any other system. Treat the prompt box as a public place, because it 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keep the decision human. Across every play, the pattern holds: the AI prepares, the human decides. The Board rules on the gate paper. The architect defends the ranking. The legal counsel approves the terms of reference. The minister owns the roadmap. Accountability cannot be handed to a tool that has no stake in the outcome and cannot be questioned afterward. When something the AI drafted turns out wrong, the answer is never the AI said so — it is your name on the decision. Use AI to decide faster and better, never to avoid deciding.</a:t>
            </a:r>
          </a:p>
          <a:p/>
          <a:p>
            <a:r>
              <a:t>Production cue: this is the pivotal slide of the whole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these are the safeguards that make the plays safe. Verify every fact. Cite or discard every claim. Protect the data. Keep the decision human. None of them slows you down much, and together they are the difference between AI that makes you faster and AI that makes you confidently, accountably wrong. Use the plays freely — inside these four rules.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5.7 — Keep AI honest — verify, cite, and protect data</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5 · Video 5.7</a:t>
            </a:r>
          </a:p>
          <a:p>
            <a:r>
              <a:rPr sz="1200" b="0" i="1">
                <a:solidFill>
                  <a:srgbClr val="595959"/>
                </a:solidFill>
                <a:latin typeface="Arial"/>
              </a:rPr>
              <a:t>The safeguards that make every play safe: verify each output against a named source, cite or discard, never paste confidential or personal data, and keep the decision human — the difference between AI that helps and AI that quietly harms.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AI honest — verify, cite, and protect data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safeguards that make every play safe: verify each output against a named source, cite or discard, never paste confidential or personal data, and keep the decision human — the difference between AI that helps and AI that quietly harms.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fact the AI states is a hypothesis until you check it</a:t>
            </a:r>
          </a:p>
        </p:txBody>
      </p:sp>
      <p:sp>
        <p:nvSpPr>
          <p:cNvPr id="4" name="TextBox 3"/>
          <p:cNvSpPr txBox="1"/>
          <p:nvPr/>
        </p:nvSpPr>
        <p:spPr>
          <a:xfrm>
            <a:off x="658368" y="1600200"/>
            <a:ext cx="10881360" cy="1984248"/>
          </a:xfrm>
          <a:prstGeom prst="rect">
            <a:avLst/>
          </a:prstGeom>
          <a:noFill/>
        </p:spPr>
        <p:txBody>
          <a:bodyPr wrap="square">
            <a:spAutoFit/>
          </a:bodyPr>
          <a:lstStyle/>
          <a:p>
            <a:pPr>
              <a:spcAft>
                <a:spcPts val="1200"/>
              </a:spcAft>
            </a:pPr>
            <a:r>
              <a:rPr sz="2000" b="0" i="0">
                <a:solidFill>
                  <a:srgbClr val="1A1A1A"/>
                </a:solidFill>
                <a:latin typeface="Arial"/>
              </a:rPr>
              <a:t>Check it against a real source — a document, a system, a named person. The plausible section number, the confident figure, the specific claim: each is exactly as convincing whether it is right or invented.</a:t>
            </a:r>
          </a:p>
          <a:p>
            <a:pPr>
              <a:spcAft>
                <a:spcPts val="1200"/>
              </a:spcAft>
            </a:pPr>
            <a:r>
              <a:rPr sz="2000" b="0" i="0">
                <a:solidFill>
                  <a:srgbClr val="1A1A1A"/>
                </a:solidFill>
                <a:latin typeface="Arial"/>
              </a:rPr>
              <a:t>A wrong reference in a deliverable, or a made-up statistic in a cabinet briefing, damages your credibility more than a gap in the work would.</a:t>
            </a:r>
          </a:p>
        </p:txBody>
      </p:sp>
      <p:sp>
        <p:nvSpPr>
          <p:cNvPr id="5" name="Rounded Rectangle 4"/>
          <p:cNvSpPr/>
          <p:nvPr/>
        </p:nvSpPr>
        <p:spPr>
          <a:xfrm>
            <a:off x="658368" y="3767328"/>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59352"/>
            <a:ext cx="10479024" cy="1051560"/>
          </a:xfrm>
          <a:prstGeom prst="rect">
            <a:avLst/>
          </a:prstGeom>
          <a:noFill/>
        </p:spPr>
        <p:txBody>
          <a:bodyPr wrap="square">
            <a:spAutoFit/>
          </a:bodyPr>
          <a:lstStyle/>
          <a:p>
            <a:pPr>
              <a:spcAft>
                <a:spcPts val="700"/>
              </a:spcAft>
            </a:pPr>
            <a:r>
              <a:rPr sz="2300" b="1" i="0">
                <a:solidFill>
                  <a:srgbClr val="006E96"/>
                </a:solidFill>
                <a:latin typeface="Arial"/>
              </a:rPr>
              <a:t>Verify before you forward. Always.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AI fabricates citations as fluently as it writes prose</a:t>
            </a:r>
          </a:p>
        </p:txBody>
      </p:sp>
      <p:sp>
        <p:nvSpPr>
          <p:cNvPr id="4" name="TextBox 3"/>
          <p:cNvSpPr txBox="1"/>
          <p:nvPr/>
        </p:nvSpPr>
        <p:spPr>
          <a:xfrm>
            <a:off x="658368" y="1600200"/>
            <a:ext cx="10881360" cy="1673352"/>
          </a:xfrm>
          <a:prstGeom prst="rect">
            <a:avLst/>
          </a:prstGeom>
          <a:noFill/>
        </p:spPr>
        <p:txBody>
          <a:bodyPr wrap="square">
            <a:spAutoFit/>
          </a:bodyPr>
          <a:lstStyle/>
          <a:p>
            <a:pPr>
              <a:spcAft>
                <a:spcPts val="1200"/>
              </a:spcAft>
            </a:pPr>
            <a:r>
              <a:rPr sz="2000" b="0" i="0">
                <a:solidFill>
                  <a:srgbClr val="1A1A1A"/>
                </a:solidFill>
                <a:latin typeface="Arial"/>
              </a:rPr>
              <a:t>Any claim about the outside world — what another country did, what a standard requires, what a benchmark shows — needs a real, checkable source.</a:t>
            </a:r>
          </a:p>
          <a:p>
            <a:pPr>
              <a:spcAft>
                <a:spcPts val="1200"/>
              </a:spcAft>
            </a:pPr>
            <a:r>
              <a:rPr sz="2000" b="0" i="0">
                <a:solidFill>
                  <a:srgbClr val="1A1A1A"/>
                </a:solidFill>
                <a:latin typeface="Arial"/>
              </a:rPr>
              <a:t>So open the source. If it does not say what the AI claims, discard the claim, not just the citation.</a:t>
            </a:r>
          </a:p>
        </p:txBody>
      </p:sp>
      <p:sp>
        <p:nvSpPr>
          <p:cNvPr id="5" name="Rounded Rectangle 4"/>
          <p:cNvSpPr/>
          <p:nvPr/>
        </p:nvSpPr>
        <p:spPr>
          <a:xfrm>
            <a:off x="658368" y="3456432"/>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648456"/>
            <a:ext cx="10479024" cy="1051560"/>
          </a:xfrm>
          <a:prstGeom prst="rect">
            <a:avLst/>
          </a:prstGeom>
          <a:noFill/>
        </p:spPr>
        <p:txBody>
          <a:bodyPr wrap="square">
            <a:spAutoFit/>
          </a:bodyPr>
          <a:lstStyle/>
          <a:p>
            <a:pPr>
              <a:spcAft>
                <a:spcPts val="700"/>
              </a:spcAft>
            </a:pPr>
            <a:r>
              <a:rPr sz="2300" b="1" i="0">
                <a:solidFill>
                  <a:srgbClr val="006E96"/>
                </a:solidFill>
                <a:latin typeface="Arial"/>
              </a:rPr>
              <a:t>An unsourced claim you cannot verify is a liability you choose to carry into the room.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Treat the prompt box as a public place, because it is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Citizen personal data</a:t>
            </a:r>
          </a:p>
          <a:p>
            <a:pPr>
              <a:spcAft>
                <a:spcPts val="300"/>
              </a:spcAft>
            </a:pPr>
            <a:r>
              <a:rPr sz="1550" b="0" i="0">
                <a:solidFill>
                  <a:srgbClr val="595959"/>
                </a:solidFill>
                <a:latin typeface="Arial"/>
              </a:rPr>
              <a:t>Names, records, anything identifying a real person.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Security configurations</a:t>
            </a:r>
          </a:p>
          <a:p>
            <a:pPr>
              <a:spcAft>
                <a:spcPts val="300"/>
              </a:spcAft>
            </a:pPr>
            <a:r>
              <a:rPr sz="1550" b="0" i="0">
                <a:solidFill>
                  <a:srgbClr val="595959"/>
                </a:solidFill>
                <a:latin typeface="Arial"/>
              </a:rPr>
              <a:t>How your systems are protected.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Unpublished cabinet papers</a:t>
            </a:r>
          </a:p>
          <a:p>
            <a:pPr>
              <a:spcAft>
                <a:spcPts val="300"/>
              </a:spcAft>
            </a:pPr>
            <a:r>
              <a:rPr sz="1550" b="0" i="0">
                <a:solidFill>
                  <a:srgbClr val="595959"/>
                </a:solidFill>
                <a:latin typeface="Arial"/>
              </a:rPr>
              <a:t>Anything not yet public.</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Anything your data-protection act covers</a:t>
            </a:r>
          </a:p>
          <a:p>
            <a:pPr>
              <a:spcAft>
                <a:spcPts val="300"/>
              </a:spcAft>
            </a:pPr>
            <a:r>
              <a:rPr sz="1550" b="0" i="0">
                <a:solidFill>
                  <a:srgbClr val="595959"/>
                </a:solidFill>
                <a:latin typeface="Arial"/>
              </a:rPr>
              <a:t>The act applies to what you type into a chatbot as it does to any other system.</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plays never need it — run every one with placeholders: "a learner", "country X".</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something the AI drafted turns out wrong, it is your name on the decision</a:t>
            </a:r>
          </a:p>
        </p:txBody>
      </p:sp>
      <p:sp>
        <p:nvSpPr>
          <p:cNvPr id="4" name="TextBox 3"/>
          <p:cNvSpPr txBox="1"/>
          <p:nvPr/>
        </p:nvSpPr>
        <p:spPr>
          <a:xfrm>
            <a:off x="658368" y="1600200"/>
            <a:ext cx="10881360" cy="1984248"/>
          </a:xfrm>
          <a:prstGeom prst="rect">
            <a:avLst/>
          </a:prstGeom>
          <a:noFill/>
        </p:spPr>
        <p:txBody>
          <a:bodyPr wrap="square">
            <a:spAutoFit/>
          </a:bodyPr>
          <a:lstStyle/>
          <a:p>
            <a:pPr>
              <a:spcAft>
                <a:spcPts val="1200"/>
              </a:spcAft>
            </a:pPr>
            <a:r>
              <a:rPr sz="2000" b="0" i="0">
                <a:solidFill>
                  <a:srgbClr val="1A1A1A"/>
                </a:solidFill>
                <a:latin typeface="Arial"/>
              </a:rPr>
              <a:t>Across every play the pattern holds: the AI prepares, the human decides. The Board rules on the gate paper. The architect defends the ranking. Counsel approves the terms of reference. The minister owns the roadmap.</a:t>
            </a:r>
          </a:p>
          <a:p>
            <a:pPr>
              <a:spcAft>
                <a:spcPts val="1200"/>
              </a:spcAft>
            </a:pPr>
            <a:r>
              <a:rPr sz="2000" b="0" i="0">
                <a:solidFill>
                  <a:srgbClr val="1A1A1A"/>
                </a:solidFill>
                <a:latin typeface="Arial"/>
              </a:rPr>
              <a:t>Accountability cannot be handed to a tool that has no stake in the outcome and cannot be questioned afterward. The answer is never "the AI said so".</a:t>
            </a:r>
          </a:p>
        </p:txBody>
      </p:sp>
      <p:sp>
        <p:nvSpPr>
          <p:cNvPr id="5" name="Rounded Rectangle 4"/>
          <p:cNvSpPr/>
          <p:nvPr/>
        </p:nvSpPr>
        <p:spPr>
          <a:xfrm>
            <a:off x="658368" y="3767328"/>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3959352"/>
            <a:ext cx="10479024" cy="1051560"/>
          </a:xfrm>
          <a:prstGeom prst="rect">
            <a:avLst/>
          </a:prstGeom>
          <a:noFill/>
        </p:spPr>
        <p:txBody>
          <a:bodyPr wrap="square">
            <a:spAutoFit/>
          </a:bodyPr>
          <a:lstStyle/>
          <a:p>
            <a:pPr>
              <a:spcAft>
                <a:spcPts val="700"/>
              </a:spcAft>
            </a:pPr>
            <a:r>
              <a:rPr sz="2300" b="1" i="0">
                <a:solidFill>
                  <a:srgbClr val="FFFFFF"/>
                </a:solidFill>
                <a:latin typeface="Arial"/>
              </a:rPr>
              <a:t>Use AI to decide faster and better. Never to avoid deciding.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Verify against a source, cite or discard, never paste confidential data, and keep the decision human — four safeguards that separate AI that helps from AI that quietly harms.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Knowledge Products contract Terms of Reference — §4.3 (AI integration)</a:t>
            </a:r>
          </a:p>
          <a:p>
            <a:pPr>
              <a:spcAft>
                <a:spcPts val="1200"/>
              </a:spcAft>
            </a:pPr>
            <a:r>
              <a:rPr sz="1700" b="0" i="0">
                <a:solidFill>
                  <a:srgbClr val="1A1A1A"/>
                </a:solidFill>
                <a:latin typeface="Arial"/>
              </a:rPr>
              <a:t>•  PAERA v1.0 — §3.4.2 (Digital Data)</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