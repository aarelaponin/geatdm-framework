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commit your agency, you are right to ask: is this proven, or a consultant's theory? The honest answer is that the core of it has already been done — in countries large and small, unitary and federal, well-resourced and not.</a:t>
            </a:r>
          </a:p>
          <a:p/>
          <a:p>
            <a:r>
              <a:t>On screen: the four countries appear as plain typography only — no flags, no national emblems, no agency logos. They are public examples cited to public sources, never the team's own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signposts, deliberately different. Rwanda — a small country with a strong centre, one citizen-services platform, a national identity linked across services. Kenya — physical one-stop centres and a unifying identity programme, with results that are mixed and openly debated. South Africa — a federal state where no architecture can be imposed from the top, coordinated instead through a central agency and shared standards. And Estonia — a mature reference, distributed registries, the once-only principle, almost every service online. Four governments that could hardly be more different in size, resources and shape.</a:t>
            </a:r>
          </a:p>
          <a:p/>
          <a:p>
            <a:r>
              <a:t>Production cue: the first half of the module's centrepiece. Hold it a beat longer — the next slide is what turns these four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makes them evidence is not that they are all the same — they are not — but that the same architectural elements show in every one. A small central team with real authority. A published framework that other agencies adopt rather than fight. A governance mechanism that is binding, not advisory. And a time horizon measured in years for full maturity, with intermediate results visible inside months. Four contexts, one recurring pattern. That recurrence is what tells you the pattern is real, not local luck.</a:t>
            </a:r>
          </a:p>
          <a:p/>
          <a:p>
            <a:r>
              <a:t>Production cue: the centrepiece slide of the module. Reveal the four rows one at a time; the closing line is the whole argument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be honest about the mixed results, because that honesty is what makes the evidence trustworthy. Kenya's identity programme met real obstacles — in the courts, in parliament, in implementation — and the debate is public and documented. That is not a reason to dismiss the approach; it is part of the evidence. The programmes that struggled struggled for reasons you can learn from, and the reasons are remarkably consistent. The evidence is not a brochure of successes. It is a record of what works and what does not, which is far more useful to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this means for your agency is simple and freeing. You are not the first. The path is charted, the common elements are known, and so are the common ways programmes fail. You are not being asked to invent an approach and hope it works. You are being asked to adapt a pattern that four very different governments have already shown delivers — to your country, your constraints, your sector. That is a far easier case to make to a minister than 'trust me, this should work'.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someone asks whether this is proven, you have an answer: four governments, four shapes, one recurring pattern, with the failures as documented as the successes. Not theory — a charted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Is this proven, or just theory? — evidence from real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This is not a theory waiting for its first trial. Across four very different governments, the same architectural approach has already produced results — which means the question for you is not whether it works, but how to apply it where you are.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Is this proven, or a consultant’s theory?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 are right to ask before you commit your agency.</a:t>
            </a:r>
          </a:p>
          <a:p>
            <a:pPr>
              <a:spcAft>
                <a:spcPts val="800"/>
              </a:spcAft>
            </a:pPr>
            <a:r>
              <a:rPr sz="1700" b="0" i="0">
                <a:solidFill>
                  <a:srgbClr val="595959"/>
                </a:solidFill>
                <a:latin typeface="Arial"/>
              </a:rPr>
              <a:t>The core of it has already been done — in countries large and small, unitary and federal, well-resourced and not.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governments, four shapes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Rwanda — small, with a strong centre</a:t>
            </a:r>
          </a:p>
          <a:p>
            <a:pPr>
              <a:spcAft>
                <a:spcPts val="300"/>
              </a:spcAft>
            </a:pPr>
            <a:r>
              <a:rPr sz="1550" b="0" i="0">
                <a:solidFill>
                  <a:srgbClr val="595959"/>
                </a:solidFill>
                <a:latin typeface="Arial"/>
              </a:rPr>
              <a:t>One citizen-services platform; a national identity linked across services.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Kenya — one-stop centres and a unifying identity programme</a:t>
            </a:r>
          </a:p>
          <a:p>
            <a:pPr>
              <a:spcAft>
                <a:spcPts val="300"/>
              </a:spcAft>
            </a:pPr>
            <a:r>
              <a:rPr sz="1550" b="0" i="0">
                <a:solidFill>
                  <a:srgbClr val="595959"/>
                </a:solidFill>
                <a:latin typeface="Arial"/>
              </a:rPr>
              <a:t>Results mixed and openly debated.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South Africa — federal, so nothing can be imposed from the top</a:t>
            </a:r>
          </a:p>
          <a:p>
            <a:pPr>
              <a:spcAft>
                <a:spcPts val="300"/>
              </a:spcAft>
            </a:pPr>
            <a:r>
              <a:rPr sz="1550" b="0" i="0">
                <a:solidFill>
                  <a:srgbClr val="595959"/>
                </a:solidFill>
                <a:latin typeface="Arial"/>
              </a:rPr>
              <a:t>Coordinated instead through a central agency and shared standards.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Estonia — mature, and the reference the others are measured against</a:t>
            </a:r>
          </a:p>
          <a:p>
            <a:pPr>
              <a:spcAft>
                <a:spcPts val="300"/>
              </a:spcAft>
            </a:pPr>
            <a:r>
              <a:rPr sz="1550" b="0" i="0">
                <a:solidFill>
                  <a:srgbClr val="595959"/>
                </a:solidFill>
                <a:latin typeface="Arial"/>
              </a:rPr>
              <a:t>Distributed registries; the once-only principle; almost every service online.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governments that could hardly differ more in size, resources and shape.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every one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50" b="0" i="0">
                <a:solidFill>
                  <a:srgbClr val="595959"/>
                </a:solidFill>
                <a:latin typeface="Arial"/>
              </a:rPr>
              <a:t>Not a committee, and not a contractor.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50" b="0" i="0">
                <a:solidFill>
                  <a:srgbClr val="595959"/>
                </a:solidFill>
                <a:latin typeface="Arial"/>
              </a:rPr>
              <a:t>Adopted because it helps them, not because it is forced on them.</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that is binding, not advisory</a:t>
            </a:r>
          </a:p>
          <a:p>
            <a:pPr>
              <a:spcAft>
                <a:spcPts val="300"/>
              </a:spcAft>
            </a:pPr>
            <a:r>
              <a:rPr sz="1550" b="0" i="0">
                <a:solidFill>
                  <a:srgbClr val="595959"/>
                </a:solidFill>
                <a:latin typeface="Arial"/>
              </a:rPr>
              <a:t>It can say no to a project that would fragment the architecture.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Years to full maturity, with results visible in months</a:t>
            </a:r>
          </a:p>
          <a:p>
            <a:pPr>
              <a:spcAft>
                <a:spcPts val="300"/>
              </a:spcAft>
            </a:pPr>
            <a:r>
              <a:rPr sz="1550" b="0" i="0">
                <a:solidFill>
                  <a:srgbClr val="595959"/>
                </a:solidFill>
                <a:latin typeface="Arial"/>
              </a:rPr>
              <a:t>The horizon is long; the first intermediate wins are not.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contexts, one recurring pattern — recurrence is what makes it evidence, not luck.</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failures are documented too — which is what makes it evidence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Kenya's identity programme met real obstacles — in the courts, in parliament, in implementation — and the debate is public and documented.</a:t>
            </a:r>
          </a:p>
          <a:p>
            <a:pPr>
              <a:spcAft>
                <a:spcPts val="1200"/>
              </a:spcAft>
            </a:pPr>
            <a:r>
              <a:rPr sz="2000" b="0" i="0">
                <a:solidFill>
                  <a:srgbClr val="1A1A1A"/>
                </a:solidFill>
                <a:latin typeface="Arial"/>
              </a:rPr>
              <a:t>That is not a reason to dismiss the approach; it is part of the evidence. The programmes that struggled struggled for consistent, learnable reasons.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brochure of successes. A record of what works and what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the first — the path is already charted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common elements are known, and so are the common ways programmes fail. You are not being asked to invent an approach and hope it works.</a:t>
            </a:r>
          </a:p>
          <a:p>
            <a:pPr>
              <a:spcAft>
                <a:spcPts val="1200"/>
              </a:spcAft>
            </a:pPr>
            <a:r>
              <a:rPr sz="2000" b="0" i="0">
                <a:solidFill>
                  <a:srgbClr val="1A1A1A"/>
                </a:solidFill>
                <a:latin typeface="Arial"/>
              </a:rPr>
              <a:t>You are being asked to adapt a pattern four very different governments have already shown delivers — to your country, your constraints, your sector.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far easier case to make than "trust me, this should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Across four very different governments the same architectural pattern has already produced results — so your question is not whether it works, but how to apply it where you are.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comparator-country evidence tuned to your context.</a:t>
            </a:r>
          </a:p>
          <a:p>
            <a:pPr algn="l">
              <a:spcAft>
                <a:spcPts val="400"/>
              </a:spcAft>
            </a:pPr>
            <a:r>
              <a:rPr sz="1800" b="0" i="0">
                <a:solidFill>
                  <a:srgbClr val="595959"/>
                </a:solidFill>
                <a:latin typeface="Arial"/>
              </a:rPr>
              <a:t>The prompt in the companion material gives you comparator cards with cited sources.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a:t>
            </a:r>
          </a:p>
          <a:p>
            <a:pPr>
              <a:spcAft>
                <a:spcPts val="1200"/>
              </a:spcAft>
            </a:pPr>
            <a:r>
              <a:rPr sz="1700" b="0" i="0">
                <a:solidFill>
                  <a:srgbClr val="1A1A1A"/>
                </a:solidFill>
                <a:latin typeface="Arial"/>
              </a:rPr>
              <a:t>•  Kenya — Huduma Kenya (huduma.go.ke)</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and RIA (ria.ee)</a:t>
            </a:r>
          </a:p>
          <a:p>
            <a:pPr>
              <a:spcAft>
                <a:spcPts val="1200"/>
              </a:spcAft>
            </a:pPr>
            <a:r>
              <a:rPr sz="1700" b="0" i="0">
                <a:solidFill>
                  <a:srgbClr val="1A1A1A"/>
                </a:solidFill>
                <a:latin typeface="Arial"/>
              </a:rPr>
              <a:t>•  PAERA v1.0 — §5.7 (Recommended Roadmap); §2.1 (Problem statement)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Is this proven, or just theory? — evidence from real programmes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