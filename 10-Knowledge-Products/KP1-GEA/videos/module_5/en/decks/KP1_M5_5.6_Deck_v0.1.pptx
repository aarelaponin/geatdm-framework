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31" r:id="rId10"/>
    <p:sldId id="2732" r:id="rId54"/>
    <p:sldId id="2733" r:id="rId55"/>
    <p:sldId id="2734" r:id="rId56"/>
    <p:sldId id="2735" r:id="rId57"/>
    <p:sldId id="2736" r:id="rId58"/>
    <p:sldId id="2737"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10" Type="http://schemas.openxmlformats.org/officeDocument/2006/relationships/slide" Target="slides/slide38.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5.6. Content slides are identical to the corresponding section of the combined deck KP1_M5_Deck_v0.1.pptx;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The fifth play produces the material you need to persuade and to spread the method: comparator cases for a briefing, and a transfer plan for a new sector. Both are research-heavy and slow by hand. The play drafts them — with one strict rule about sources.</a:t>
            </a:r>
          </a:p>
          <a:p/>
          <a:p>
            <a:r>
              <a:t>Retrieval prompt — ask before playing on: what is the single most dangerous thing AI does on a comparator card? Answer on the next slide but one.</a:t>
            </a:r>
          </a:p>
          <a:p/>
          <a:p>
            <a:r>
              <a:t>On screen: the play's copy-paste prompt is not shown on a slide — it ships in the video description so the viewer can run it on the other half of the screen.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comparator cards. You give the AI your country's characteristics — size, income level, governance type, region, the constraints you face. It returns three to five genuinely comparable countries, prioritising African and other developing-country examples: for each, why it is comparable, what they actually built, one transferable lesson, and a public source for every substantive claim. Instead of always reaching for Estonia, you get signposts that look like your country, which land far better in a cabinet briefing.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strict rule for this play, because it is where AI is most dangerous. Every claim on a comparator card must have a real, checkable source — and AI will invent plausible-looking citations that do not say what the card claims, or do not exist at all. So the rule is: cite or discard. Open the source for every example. If it does not actually document what the card says, throw that example out. A comparator card with a fabricated citation, caught in a cabinet meeting, discredits your whole briefing.</a:t>
            </a:r>
          </a:p>
          <a:p/>
          <a:p>
            <a:r>
              <a:t>Production cue: this slide answers the retrieval prompt set on the title slide. The operative beat of the video —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the sector-transfer plan. The method you have built on education transfers to health, to agriculture, to social protection — only the institutions and the data domains change. You give the AI a new sector's bodies, and it returns a one-page plan: the bodies classified, this sector's equivalent of the single learner record, the five phase deliverables named for this sector, and a suggested first two waves. It is the fastest way to start the method on a sector you have just been handed.</a:t>
            </a:r>
          </a:p>
          <a:p/>
          <a:p>
            <a:r>
              <a:t>On screen: health, agriculture and social protection are named as places the method applies, not as worked examples — education is the worked sector throughout KP1.</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caution on the transfer plan, the same as every play. It is a starting structure, not an assessment. It guesses the duplicated data domain and the likely gaps for the new sector — and it may guess wrong, because it has not looked. Use it to start Discovery faster, not to skip it. The real gaps come from running the method on the real sector, not from a plan written before anyone has looked.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the fifth play gives you the persuasion and spread material — comparator cards that look like your country, and a plan to take the method to a new sector. Use it freely, under one discipline: cite or discard, and confirm by looking. Evidence you cannot verify is worse than none.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5.6 — Play 5 — Generate comparator cases and a sector-transfer plan</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5 · Video 5.6</a:t>
            </a:r>
          </a:p>
          <a:p>
            <a:r>
              <a:rPr sz="1200" b="0" i="1">
                <a:solidFill>
                  <a:srgbClr val="595959"/>
                </a:solidFill>
                <a:latin typeface="Arial"/>
              </a:rPr>
              <a:t>The fifth play generates the persuasion material — comparator-country cards tuned to your context with real sources, and a one-page plan to run the method on a new sector — for the briefings and pitches where you need evidence and a path.</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~4 mins</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FIVE PLAYS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1 — Discovery and Assess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2 — the re-use business case</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3 — minister and architects</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4 — the governance artefacts</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Play 5 — comparators and transfer</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4-part prompt · 5 plays · 4 safeguards · you decide, the AI drafts</a:t>
            </a:r>
          </a:p>
        </p:txBody>
      </p:sp>
    </p:spTree>
    <p:extLst>
      <p:ext uri="{BB962C8B-B14F-4D97-AF65-F5344CB8AC3E}">
        <p14:creationId xmlns:p14="http://schemas.microsoft.com/office/powerpoint/2010/main" val="1196800265"/>
      </p:ext>
    </p:extLst>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5 · VIDEO 5.6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Play 5 — Generate comparator cases and a sector-transfer plan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fifth play generates the persuasion material — comparator-country cards tuned to your context with real sources, and a one-page plan to run the method on a new sector — for the briefings and pitches where you need evidence and a path.</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Comparator cards that look like your country, not always Estonia</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Why it is comparable</a:t>
            </a:r>
          </a:p>
          <a:p>
            <a:pPr>
              <a:spcAft>
                <a:spcPts val="300"/>
              </a:spcAft>
            </a:pPr>
            <a:r>
              <a:rPr sz="1550" b="0" i="0">
                <a:solidFill>
                  <a:srgbClr val="595959"/>
                </a:solidFill>
                <a:latin typeface="Arial"/>
              </a:rPr>
              <a:t>One sentence against your size, income level, governance type and region.</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What they actually built</a:t>
            </a:r>
          </a:p>
          <a:p>
            <a:pPr>
              <a:spcAft>
                <a:spcPts val="300"/>
              </a:spcAft>
            </a:pPr>
            <a:r>
              <a:rPr sz="1550" b="0" i="0">
                <a:solidFill>
                  <a:srgbClr val="595959"/>
                </a:solidFill>
                <a:latin typeface="Arial"/>
              </a:rPr>
              <a:t>Two or three bullets — substance, not marketing.</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One transferable lesson</a:t>
            </a:r>
          </a:p>
          <a:p>
            <a:pPr>
              <a:spcAft>
                <a:spcPts val="300"/>
              </a:spcAft>
            </a:pPr>
            <a:r>
              <a:rPr sz="1550" b="0" i="0">
                <a:solidFill>
                  <a:srgbClr val="595959"/>
                </a:solidFill>
                <a:latin typeface="Arial"/>
              </a:rPr>
              <a:t>The thing you could do differently on Monday.</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A public source for every substantive claim</a:t>
            </a:r>
          </a:p>
          <a:p>
            <a:pPr>
              <a:spcAft>
                <a:spcPts val="300"/>
              </a:spcAft>
            </a:pPr>
            <a:r>
              <a:rPr sz="1550" b="0" i="0">
                <a:solidFill>
                  <a:srgbClr val="595959"/>
                </a:solidFill>
                <a:latin typeface="Arial"/>
              </a:rPr>
              <a:t>A URL you can open.</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Three to five countries, prioritising African and other developing-country examples.</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Play 5 — Generate comparator cases and a sector-transfer plan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Cite or discard — this is where AI is most dangerous</a:t>
            </a:r>
          </a:p>
        </p:txBody>
      </p:sp>
      <p:sp>
        <p:nvSpPr>
          <p:cNvPr id="4" name="TextBox 3"/>
          <p:cNvSpPr txBox="1"/>
          <p:nvPr/>
        </p:nvSpPr>
        <p:spPr>
          <a:xfrm>
            <a:off x="658368" y="1600200"/>
            <a:ext cx="10881360" cy="1673352"/>
          </a:xfrm>
          <a:prstGeom prst="rect">
            <a:avLst/>
          </a:prstGeom>
          <a:noFill/>
        </p:spPr>
        <p:txBody>
          <a:bodyPr wrap="square">
            <a:spAutoFit/>
          </a:bodyPr>
          <a:lstStyle/>
          <a:p>
            <a:pPr>
              <a:spcAft>
                <a:spcPts val="1200"/>
              </a:spcAft>
            </a:pPr>
            <a:r>
              <a:rPr sz="2000" b="0" i="0">
                <a:solidFill>
                  <a:srgbClr val="1A1A1A"/>
                </a:solidFill>
                <a:latin typeface="Arial"/>
              </a:rPr>
              <a:t>Every claim on a comparator card needs a real, checkable source. AI invents plausible-looking citations that do not say what the card claims, or do not exist at all.</a:t>
            </a:r>
          </a:p>
          <a:p>
            <a:pPr>
              <a:spcAft>
                <a:spcPts val="1200"/>
              </a:spcAft>
            </a:pPr>
            <a:r>
              <a:rPr sz="2000" b="0" i="0">
                <a:solidFill>
                  <a:srgbClr val="1A1A1A"/>
                </a:solidFill>
                <a:latin typeface="Arial"/>
              </a:rPr>
              <a:t>So open the source for every example. If it does not actually document what the card says, throw that example out — discard the claim, not just the citation.</a:t>
            </a:r>
          </a:p>
        </p:txBody>
      </p:sp>
      <p:sp>
        <p:nvSpPr>
          <p:cNvPr id="5" name="Rounded Rectangle 4"/>
          <p:cNvSpPr/>
          <p:nvPr/>
        </p:nvSpPr>
        <p:spPr>
          <a:xfrm>
            <a:off x="658368" y="3456432"/>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648456"/>
            <a:ext cx="10479024" cy="1051560"/>
          </a:xfrm>
          <a:prstGeom prst="rect">
            <a:avLst/>
          </a:prstGeom>
          <a:noFill/>
        </p:spPr>
        <p:txBody>
          <a:bodyPr wrap="square">
            <a:spAutoFit/>
          </a:bodyPr>
          <a:lstStyle/>
          <a:p>
            <a:pPr>
              <a:spcAft>
                <a:spcPts val="700"/>
              </a:spcAft>
            </a:pPr>
            <a:r>
              <a:rPr sz="2300" b="1" i="0">
                <a:solidFill>
                  <a:srgbClr val="006E96"/>
                </a:solidFill>
                <a:latin typeface="Arial"/>
              </a:rPr>
              <a:t>A fabricated citation, caught in a cabinet meeting, discredits your whole briefing.</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Play 5 — Generate comparator cases and a sector-transfer plan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sector-transfer plan — one page to start on a sector you were just handed</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The bodies, classified</a:t>
            </a:r>
          </a:p>
          <a:p>
            <a:pPr>
              <a:spcAft>
                <a:spcPts val="300"/>
              </a:spcAft>
            </a:pPr>
            <a:r>
              <a:rPr sz="1550" b="0" i="0">
                <a:solidFill>
                  <a:srgbClr val="595959"/>
                </a:solidFill>
                <a:latin typeface="Arial"/>
              </a:rPr>
              <a:t>Policy unit, regulator, service authority — in health, agriculture or social protection.</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This sector's equivalent of the single learner record</a:t>
            </a:r>
          </a:p>
          <a:p>
            <a:pPr>
              <a:spcAft>
                <a:spcPts val="300"/>
              </a:spcAft>
            </a:pPr>
            <a:r>
              <a:rPr sz="1550" b="0" i="0">
                <a:solidFill>
                  <a:srgbClr val="595959"/>
                </a:solidFill>
                <a:latin typeface="Arial"/>
              </a:rPr>
              <a:t>A patient record. A farmer registry. A beneficiary record.</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The five phase deliverables, named for this sector</a:t>
            </a:r>
          </a:p>
          <a:p>
            <a:pPr>
              <a:spcAft>
                <a:spcPts val="300"/>
              </a:spcAft>
            </a:pPr>
            <a:r>
              <a:rPr sz="1550" b="0" i="0">
                <a:solidFill>
                  <a:srgbClr val="595959"/>
                </a:solidFill>
                <a:latin typeface="Arial"/>
              </a:rPr>
              <a:t>The same outputs, in this sector's language.</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A suggested first two waves</a:t>
            </a:r>
          </a:p>
          <a:p>
            <a:pPr>
              <a:spcAft>
                <a:spcPts val="300"/>
              </a:spcAft>
            </a:pPr>
            <a:r>
              <a:rPr sz="1550" b="0" i="0">
                <a:solidFill>
                  <a:srgbClr val="595959"/>
                </a:solidFill>
                <a:latin typeface="Arial"/>
              </a:rPr>
              <a:t>Where to start, so something lands inside the first year.</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Only the institutions and the data domains change. The method does not.</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Play 5 — Generate comparator cases and a sector-transfer plan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plan to start Discovery faster, not a reason to skip it</a:t>
            </a:r>
          </a:p>
        </p:txBody>
      </p:sp>
      <p:sp>
        <p:nvSpPr>
          <p:cNvPr id="4" name="TextBox 3"/>
          <p:cNvSpPr txBox="1"/>
          <p:nvPr/>
        </p:nvSpPr>
        <p:spPr>
          <a:xfrm>
            <a:off x="658368" y="1600200"/>
            <a:ext cx="10881360" cy="1673352"/>
          </a:xfrm>
          <a:prstGeom prst="rect">
            <a:avLst/>
          </a:prstGeom>
          <a:noFill/>
        </p:spPr>
        <p:txBody>
          <a:bodyPr wrap="square">
            <a:spAutoFit/>
          </a:bodyPr>
          <a:lstStyle/>
          <a:p>
            <a:pPr>
              <a:spcAft>
                <a:spcPts val="1200"/>
              </a:spcAft>
            </a:pPr>
            <a:r>
              <a:rPr sz="2000" b="0" i="0">
                <a:solidFill>
                  <a:srgbClr val="1A1A1A"/>
                </a:solidFill>
                <a:latin typeface="Arial"/>
              </a:rPr>
              <a:t>The transfer plan guesses the duplicated data domain and the likely gaps for the new sector — and it may guess wrong, because it has not looked.</a:t>
            </a:r>
          </a:p>
          <a:p>
            <a:pPr>
              <a:spcAft>
                <a:spcPts val="1200"/>
              </a:spcAft>
            </a:pPr>
            <a:r>
              <a:rPr sz="2000" b="0" i="0">
                <a:solidFill>
                  <a:srgbClr val="1A1A1A"/>
                </a:solidFill>
                <a:latin typeface="Arial"/>
              </a:rPr>
              <a:t>The real gaps come from running the method on the real sector, not from a plan written before anyone has looked.</a:t>
            </a:r>
          </a:p>
        </p:txBody>
      </p:sp>
      <p:sp>
        <p:nvSpPr>
          <p:cNvPr id="5" name="Rounded Rectangle 4"/>
          <p:cNvSpPr/>
          <p:nvPr/>
        </p:nvSpPr>
        <p:spPr>
          <a:xfrm>
            <a:off x="658368" y="3456432"/>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648456"/>
            <a:ext cx="10479024" cy="1051560"/>
          </a:xfrm>
          <a:prstGeom prst="rect">
            <a:avLst/>
          </a:prstGeom>
          <a:noFill/>
        </p:spPr>
        <p:txBody>
          <a:bodyPr wrap="square">
            <a:spAutoFit/>
          </a:bodyPr>
          <a:lstStyle/>
          <a:p>
            <a:pPr>
              <a:spcAft>
                <a:spcPts val="700"/>
              </a:spcAft>
            </a:pPr>
            <a:r>
              <a:rPr sz="2300" b="1" i="0">
                <a:solidFill>
                  <a:srgbClr val="006E96"/>
                </a:solidFill>
                <a:latin typeface="Arial"/>
              </a:rPr>
              <a:t>It is a starting structure, not an assessment.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Play 5 — Generate comparator cases and a sector-transfer plan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This play generates comparator cards tuned to your context and a sector-transfer plan — fast — under one rule: cite every source or discard the claim, and confirm by looking.</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Play 5 — Generate comparator cases and a sector-transfer plan</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§5.7 (Recommended Roadmap)</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Play 5 — Generate comparator cases and a sector-transfer plan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