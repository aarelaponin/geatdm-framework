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7" r:id="rId39"/>
    <p:sldId id="2718" r:id="rId40"/>
    <p:sldId id="2719" r:id="rId41"/>
    <p:sldId id="2720" r:id="rId42"/>
    <p:sldId id="2721" r:id="rId43"/>
    <p:sldId id="2722" r:id="rId44"/>
    <p:sldId id="272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5.4.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third play addresses the problem at the heart of modern EA work: the business side and the IT side do not share a language. The minister talks outcomes; the architect talks systems. They sit in the same meeting and miss each other. This play is a translator that helps both sides decide together.</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direction: from policy to architecture. You paste the minister's goal in their words — every learner should have one record that follows them through school. The AI returns what that means in architecture terms: the capabilities involved, the services, the data domains, and the decisions it forces — who owns the authoritative learner, which bodies must consume it, what must be built versus reused. The minister's sentence becomes a structured set of architecture decisions, without losing what the minister actually asked for.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direction, just as important: from architecture back to outcomes. You paste a technical decision — the Examination Authority will consume the Learner Registry over the data-exchange backbone. The AI returns what that means for the minister and the citizen: parents stop re-entering their child's details, the single learner record becomes possible, the flagship can be delivered. The architecture stops being a black box the minister has to trust, and becomes a set of choices they can understand and own.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play's most useful output is the joint agenda. You give it an operating-model question — should we move to once-only data sharing for education — and it decomposes the decision into three parts: the business decisions only the ministry can make, the technical decisions only the architects can make, and the joint decisions that need both in the room. For each joint decision, it names what each side needs from the other to decide well. That agenda is exactly what an EA Board meeting needs to be productive instead of two groups talking past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great purpose of an EA, made practical. An Enterprise Architecture exists to give the business side and the IT side a shared language for the new work of redesigning services. This play is a tool that does the translating in real time. But a caution: the tool translates; it does not replace the shared vocabulary and the standing forum. The metamodel still has to be agreed, and the Board still has to meet. The play makes the translation faster; the architecture is what makes it stick.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third play is a translator between the minister and the architects. Goal to architecture, architecture to outcome, and the joint agenda that gets both sides deciding together. It is the shared-language job an EA exists to do — with a tool that makes it happen in the meeting, not just in theory.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5.4 — Play 3 — Translate between the minister and the architects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5.4</a:t>
            </a:r>
          </a:p>
          <a:p>
            <a:r>
              <a:rPr sz="1200" b="0" i="1">
                <a:solidFill>
                  <a:srgbClr val="595959"/>
                </a:solidFill>
                <a:latin typeface="Arial"/>
              </a:rPr>
              <a:t>The third play is a translator — it turns a minister's policy goal into architecture terms and a joint agenda, and architecture decisions back into outcomes a minister understands — so the business side and the IT side can actually decide together.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3 — Translate between the minister and the architects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third play is a translator — it turns a minister's policy goal into architecture terms and a joint agenda, and architecture decisions back into outcomes a minister understands — so the business side and the IT side can actually decide together.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minister's sentence to the decisions it forces</a:t>
            </a:r>
          </a:p>
        </p:txBody>
      </p:sp>
      <p:sp>
        <p:nvSpPr>
          <p:cNvPr id="4" name="Rounded Rectangle 3"/>
          <p:cNvSpPr/>
          <p:nvPr/>
        </p:nvSpPr>
        <p:spPr>
          <a:xfrm>
            <a:off x="658368" y="1645920"/>
            <a:ext cx="3246120" cy="38404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YOU PASTE</a:t>
            </a:r>
          </a:p>
          <a:p>
            <a:pPr algn="l">
              <a:spcAft>
                <a:spcPts val="300"/>
              </a:spcAft>
            </a:pPr>
            <a:r>
              <a:rPr sz="1450" b="0" i="0">
                <a:solidFill>
                  <a:srgbClr val="1A1A1A"/>
                </a:solidFill>
                <a:latin typeface="Arial"/>
              </a:rPr>
              <a:t>The minister's goal, in their own words.</a:t>
            </a:r>
          </a:p>
          <a:p>
            <a:pPr algn="l">
              <a:spcAft>
                <a:spcPts val="300"/>
              </a:spcAft>
            </a:pPr>
            <a:r>
              <a:rPr sz="1450" b="0" i="0">
                <a:solidFill>
                  <a:srgbClr val="1A1A1A"/>
                </a:solidFill>
                <a:latin typeface="Arial"/>
              </a:rPr>
              <a:t>"Every learner should have one record that follows them through school."</a:t>
            </a:r>
          </a:p>
        </p:txBody>
      </p:sp>
      <p:sp>
        <p:nvSpPr>
          <p:cNvPr id="5" name="Rounded Rectangle 4"/>
          <p:cNvSpPr/>
          <p:nvPr/>
        </p:nvSpPr>
        <p:spPr>
          <a:xfrm>
            <a:off x="4471416" y="1645920"/>
            <a:ext cx="324612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THE AI RETURNS</a:t>
            </a:r>
          </a:p>
          <a:p>
            <a:pPr algn="l">
              <a:spcAft>
                <a:spcPts val="300"/>
              </a:spcAft>
            </a:pPr>
            <a:r>
              <a:rPr sz="1450" b="0" i="0">
                <a:solidFill>
                  <a:srgbClr val="1A1A1A"/>
                </a:solidFill>
                <a:latin typeface="Arial"/>
              </a:rPr>
              <a:t>The capabilities it implies.</a:t>
            </a:r>
          </a:p>
          <a:p>
            <a:pPr algn="l">
              <a:spcAft>
                <a:spcPts val="300"/>
              </a:spcAft>
            </a:pPr>
            <a:r>
              <a:rPr sz="1450" b="0" i="0">
                <a:solidFill>
                  <a:srgbClr val="1A1A1A"/>
                </a:solidFill>
                <a:latin typeface="Arial"/>
              </a:rPr>
              <a:t>The services and the data domains.</a:t>
            </a:r>
          </a:p>
          <a:p>
            <a:pPr algn="l">
              <a:spcAft>
                <a:spcPts val="300"/>
              </a:spcAft>
            </a:pPr>
            <a:r>
              <a:rPr sz="1450" b="0" i="0">
                <a:solidFill>
                  <a:srgbClr val="1A1A1A"/>
                </a:solidFill>
                <a:latin typeface="Arial"/>
              </a:rPr>
              <a:t>Who owns the authoritative learner.</a:t>
            </a:r>
          </a:p>
          <a:p>
            <a:pPr algn="l">
              <a:spcAft>
                <a:spcPts val="300"/>
              </a:spcAft>
            </a:pPr>
            <a:r>
              <a:rPr sz="1450" b="0" i="0">
                <a:solidFill>
                  <a:srgbClr val="1A1A1A"/>
                </a:solidFill>
                <a:latin typeface="Arial"/>
              </a:rPr>
              <a:t>What to build and what to reuse.</a:t>
            </a:r>
          </a:p>
        </p:txBody>
      </p:sp>
      <p:sp>
        <p:nvSpPr>
          <p:cNvPr id="6" name="Rounded Rectangle 5"/>
          <p:cNvSpPr/>
          <p:nvPr/>
        </p:nvSpPr>
        <p:spPr>
          <a:xfrm>
            <a:off x="8284464" y="1645920"/>
            <a:ext cx="3246120" cy="38404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FFFFFF"/>
                </a:solidFill>
                <a:latin typeface="Arial"/>
              </a:rPr>
              <a:t>YOU DECIDE</a:t>
            </a:r>
          </a:p>
          <a:p>
            <a:pPr algn="l">
              <a:spcAft>
                <a:spcPts val="300"/>
              </a:spcAft>
            </a:pPr>
            <a:r>
              <a:rPr sz="1450" b="0" i="0">
                <a:solidFill>
                  <a:srgbClr val="FFFFFF"/>
                </a:solidFill>
                <a:latin typeface="Arial"/>
              </a:rPr>
              <a:t>Confirm it is what was meant.</a:t>
            </a:r>
          </a:p>
          <a:p>
            <a:pPr algn="l">
              <a:spcAft>
                <a:spcPts val="300"/>
              </a:spcAft>
            </a:pPr>
            <a:r>
              <a:rPr sz="1450" b="0" i="0">
                <a:solidFill>
                  <a:srgbClr val="FFFFFF"/>
                </a:solidFill>
                <a:latin typeface="Arial"/>
              </a:rPr>
              <a:t>Take the decisions to the Board.</a:t>
            </a:r>
          </a:p>
        </p:txBody>
      </p:sp>
      <p:cxnSp>
        <p:nvCxnSpPr>
          <p:cNvPr id="7" name="Connector 6"/>
          <p:cNvCxnSpPr/>
          <p:nvPr/>
        </p:nvCxnSpPr>
        <p:spPr>
          <a:xfrm>
            <a:off x="3977639" y="3566160"/>
            <a:ext cx="420625"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90688" y="3566160"/>
            <a:ext cx="420624"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Architecture decisions, without losing what the minister actually asked for.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And back the other way — from a technical decision to what a parent notices</a:t>
            </a:r>
          </a:p>
        </p:txBody>
      </p:sp>
      <p:sp>
        <p:nvSpPr>
          <p:cNvPr id="4" name="Rounded Rectangle 3"/>
          <p:cNvSpPr/>
          <p:nvPr/>
        </p:nvSpPr>
        <p:spPr>
          <a:xfrm>
            <a:off x="658368" y="1645920"/>
            <a:ext cx="3246120" cy="38404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YOU PASTE</a:t>
            </a:r>
          </a:p>
          <a:p>
            <a:pPr algn="l">
              <a:spcAft>
                <a:spcPts val="300"/>
              </a:spcAft>
            </a:pPr>
            <a:r>
              <a:rPr sz="1450" b="0" i="0">
                <a:solidFill>
                  <a:srgbClr val="1A1A1A"/>
                </a:solidFill>
                <a:latin typeface="Arial"/>
              </a:rPr>
              <a:t>A technical decision.</a:t>
            </a:r>
          </a:p>
          <a:p>
            <a:pPr algn="l">
              <a:spcAft>
                <a:spcPts val="300"/>
              </a:spcAft>
            </a:pPr>
            <a:r>
              <a:rPr sz="1450" b="0" i="0">
                <a:solidFill>
                  <a:srgbClr val="1A1A1A"/>
                </a:solidFill>
                <a:latin typeface="Arial"/>
              </a:rPr>
              <a:t>"The Examination Authority will consume the Learner Registry."</a:t>
            </a:r>
          </a:p>
        </p:txBody>
      </p:sp>
      <p:sp>
        <p:nvSpPr>
          <p:cNvPr id="5" name="Rounded Rectangle 4"/>
          <p:cNvSpPr/>
          <p:nvPr/>
        </p:nvSpPr>
        <p:spPr>
          <a:xfrm>
            <a:off x="4471416" y="1645920"/>
            <a:ext cx="324612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THE AI RETURNS</a:t>
            </a:r>
          </a:p>
          <a:p>
            <a:pPr algn="l">
              <a:spcAft>
                <a:spcPts val="300"/>
              </a:spcAft>
            </a:pPr>
            <a:r>
              <a:rPr sz="1450" b="0" i="0">
                <a:solidFill>
                  <a:srgbClr val="1A1A1A"/>
                </a:solidFill>
                <a:latin typeface="Arial"/>
              </a:rPr>
              <a:t>Parents stop re-entering details.</a:t>
            </a:r>
          </a:p>
          <a:p>
            <a:pPr algn="l">
              <a:spcAft>
                <a:spcPts val="300"/>
              </a:spcAft>
            </a:pPr>
            <a:r>
              <a:rPr sz="1450" b="0" i="0">
                <a:solidFill>
                  <a:srgbClr val="1A1A1A"/>
                </a:solidFill>
                <a:latin typeface="Arial"/>
              </a:rPr>
              <a:t>The single learner record becomes possible.</a:t>
            </a:r>
          </a:p>
          <a:p>
            <a:pPr algn="l">
              <a:spcAft>
                <a:spcPts val="300"/>
              </a:spcAft>
            </a:pPr>
            <a:r>
              <a:rPr sz="1450" b="0" i="0">
                <a:solidFill>
                  <a:srgbClr val="1A1A1A"/>
                </a:solidFill>
                <a:latin typeface="Arial"/>
              </a:rPr>
              <a:t>The flagship can be delivered.</a:t>
            </a:r>
          </a:p>
        </p:txBody>
      </p:sp>
      <p:sp>
        <p:nvSpPr>
          <p:cNvPr id="6" name="Rounded Rectangle 5"/>
          <p:cNvSpPr/>
          <p:nvPr/>
        </p:nvSpPr>
        <p:spPr>
          <a:xfrm>
            <a:off x="8284464" y="1645920"/>
            <a:ext cx="3246120" cy="38404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FFFFFF"/>
                </a:solidFill>
                <a:latin typeface="Arial"/>
              </a:rPr>
              <a:t>YOU DECIDE</a:t>
            </a:r>
          </a:p>
          <a:p>
            <a:pPr algn="l">
              <a:spcAft>
                <a:spcPts val="300"/>
              </a:spcAft>
            </a:pPr>
            <a:r>
              <a:rPr sz="1450" b="0" i="0">
                <a:solidFill>
                  <a:srgbClr val="FFFFFF"/>
                </a:solidFill>
                <a:latin typeface="Arial"/>
              </a:rPr>
              <a:t>Brief the minister in their language.</a:t>
            </a:r>
          </a:p>
          <a:p>
            <a:pPr algn="l">
              <a:spcAft>
                <a:spcPts val="300"/>
              </a:spcAft>
            </a:pPr>
            <a:r>
              <a:rPr sz="1450" b="0" i="0">
                <a:solidFill>
                  <a:srgbClr val="FFFFFF"/>
                </a:solidFill>
                <a:latin typeface="Arial"/>
              </a:rPr>
              <a:t>Own the trade-offs it carries.</a:t>
            </a:r>
          </a:p>
        </p:txBody>
      </p:sp>
      <p:cxnSp>
        <p:nvCxnSpPr>
          <p:cNvPr id="7" name="Connector 6"/>
          <p:cNvCxnSpPr/>
          <p:nvPr/>
        </p:nvCxnSpPr>
        <p:spPr>
          <a:xfrm>
            <a:off x="3977639" y="3566160"/>
            <a:ext cx="420625"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90688" y="3566160"/>
            <a:ext cx="420624"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 architecture stops being a black box the minister has to trust.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most useful output is the joint agenda</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Business decisions only the ministry can make</a:t>
            </a:r>
          </a:p>
          <a:p>
            <a:pPr>
              <a:spcAft>
                <a:spcPts val="300"/>
              </a:spcAft>
            </a:pPr>
            <a:r>
              <a:rPr sz="1550" b="0" i="0">
                <a:solidFill>
                  <a:srgbClr val="595959"/>
                </a:solidFill>
                <a:latin typeface="Arial"/>
              </a:rPr>
              <a:t>Policy, legal, who owns what.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Technical decisions only the architects can make</a:t>
            </a:r>
          </a:p>
          <a:p>
            <a:pPr>
              <a:spcAft>
                <a:spcPts val="300"/>
              </a:spcAft>
            </a:pPr>
            <a:r>
              <a:rPr sz="1550" b="0" i="0">
                <a:solidFill>
                  <a:srgbClr val="595959"/>
                </a:solidFill>
                <a:latin typeface="Arial"/>
              </a:rPr>
              <a:t>Technology choice, security model, integration pattern.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Joint decisions that need both in the room</a:t>
            </a:r>
          </a:p>
          <a:p>
            <a:pPr>
              <a:spcAft>
                <a:spcPts val="300"/>
              </a:spcAft>
            </a:pPr>
            <a:r>
              <a:rPr sz="1550" b="0" i="0">
                <a:solidFill>
                  <a:srgbClr val="595959"/>
                </a:solidFill>
                <a:latin typeface="Arial"/>
              </a:rPr>
              <a:t>Named in plain language, with what each side needs from the other to decide well.</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Exactly what an EA Board meeting needs, instead of two groups talking past each other.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tool translates. The architecture is what makes it stick</a:t>
            </a:r>
          </a:p>
        </p:txBody>
      </p:sp>
      <p:sp>
        <p:nvSpPr>
          <p:cNvPr id="4" name="TextBox 3"/>
          <p:cNvSpPr txBox="1"/>
          <p:nvPr/>
        </p:nvSpPr>
        <p:spPr>
          <a:xfrm>
            <a:off x="658368" y="1600200"/>
            <a:ext cx="10881360" cy="1673352"/>
          </a:xfrm>
          <a:prstGeom prst="rect">
            <a:avLst/>
          </a:prstGeom>
          <a:noFill/>
        </p:spPr>
        <p:txBody>
          <a:bodyPr wrap="square">
            <a:spAutoFit/>
          </a:bodyPr>
          <a:lstStyle/>
          <a:p>
            <a:pPr>
              <a:spcAft>
                <a:spcPts val="1200"/>
              </a:spcAft>
            </a:pPr>
            <a:r>
              <a:rPr sz="2000" b="0" i="0">
                <a:solidFill>
                  <a:srgbClr val="1A1A1A"/>
                </a:solidFill>
                <a:latin typeface="Arial"/>
              </a:rPr>
              <a:t>An Enterprise Architecture exists to give the business side and the IT side a shared language for the new work of redesigning services. This play does the translating in real time — in the meeting, not just in theory.</a:t>
            </a:r>
          </a:p>
          <a:p>
            <a:pPr>
              <a:spcAft>
                <a:spcPts val="1200"/>
              </a:spcAft>
            </a:pPr>
            <a:r>
              <a:rPr sz="2000" b="0" i="0">
                <a:solidFill>
                  <a:srgbClr val="1A1A1A"/>
                </a:solidFill>
                <a:latin typeface="Arial"/>
              </a:rPr>
              <a:t>But it does not replace the shared vocabulary or the standing forum.</a:t>
            </a:r>
          </a:p>
        </p:txBody>
      </p:sp>
      <p:sp>
        <p:nvSpPr>
          <p:cNvPr id="5" name="Rounded Rectangle 4"/>
          <p:cNvSpPr/>
          <p:nvPr/>
        </p:nvSpPr>
        <p:spPr>
          <a:xfrm>
            <a:off x="658368" y="3456432"/>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648456"/>
            <a:ext cx="10479024" cy="1051560"/>
          </a:xfrm>
          <a:prstGeom prst="rect">
            <a:avLst/>
          </a:prstGeom>
          <a:noFill/>
        </p:spPr>
        <p:txBody>
          <a:bodyPr wrap="square">
            <a:spAutoFit/>
          </a:bodyPr>
          <a:lstStyle/>
          <a:p>
            <a:pPr>
              <a:spcAft>
                <a:spcPts val="700"/>
              </a:spcAft>
            </a:pPr>
            <a:r>
              <a:rPr sz="2300" b="1" i="0">
                <a:solidFill>
                  <a:srgbClr val="006E96"/>
                </a:solidFill>
                <a:latin typeface="Arial"/>
              </a:rPr>
              <a:t>A translator is not a shared language. Agree the metamodel; convene the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translates a minister's goal into architecture and back, and decomposes a decision into business, IT and joint parts — so the two sides can finally decide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