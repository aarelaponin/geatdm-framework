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second play is your re-use argument, made concrete. It shows, programme by programme, that building your own is locally cheaper and nationally ruinous, and it totals the saving the country gets from re-use. Use it to win the funding argument that an architect, armed only with a principle, usually loses.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discipline with this play. The numbers it produces are directional, not quotations. Their job is to make the shape of the saving visible — to win the argument that re-use is worth a proper costing — not to be the costing themselves. Present the country-level total as a reason to commission a detailed business case, and name the conditions that make the saving real: the shared blocks must exist, the Board must have authority, the funding must be sustained. Oversell the numbers and a sharp finance officer will dismiss the whole case.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AI can save you days of drafting on EA work, and it can also lead you confidently into a wrong answer. The difference is entirely in how you use it. So before any of the plays, learn the ground rules that make them safe — the small set of habits that turn AI from a risk into a fast, reliable drafting partner.</a:t>
            </a:r>
          </a:p>
          <a:p/>
          <a:p>
            <a:r>
              <a:t>Retrieval prompt — ask before playing on: what is the difference between a safeguard that helps you and one that does nothing? Answer on the fourth slide.</a:t>
            </a:r>
          </a:p>
          <a:p/>
          <a:p>
            <a:r>
              <a:t>Production cue: this is the foundation video for the whole module. Every play that follows assumes the four-part prompt taught here.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rule. AI is a drafting partner, not an oracle. It produces a strong first draft of a gap analysis, a board terms of reference, a business case — in minutes instead of days. What it does not produce is a finding you can trust without checking. It will state a wrong section number, a plausible but invented figure, a confident claim with no basis, in exactly the same tone as a correct one. The draft is where your work starts, not where it ends. Treat every output as a hypothesis to verify, never a fact to forward.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shape of a good prompt. Every play in this topic uses the same four parts. One — name the input you are pasting: below is my Discovery brief. Two — break the task into named outputs: score the capabilities, list the gaps, rank them. Three — state the exact output format you want: a four-row table plus three bullets. Four — add a safeguard line that names this prompt's specific risk. A prompt with these four parts gives you a usable artefact. A vague one — help me with my architecture — gives you vague mush.</a:t>
            </a:r>
          </a:p>
          <a:p/>
          <a:p>
            <a:r>
              <a:t>Production cue: the centrepiece slide of the module. Reveal the four rows one at a time and hold the finished slide a beat longer — every later video refers back to 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 that safeguard line — it is the most important part, and the easiest to get lazy about. A good safeguard names the specific way this specific prompt can mislead you. For a gap analysis: a severity judgement about a powerful ministry must be checked with the decision-maker, not softened by the model. For a comparator card: discard any country example where the cited source does not actually say what the prompt claims. The safeguard is not 'AI can make mistakes' — that helps no one. It is the one check that catches this play's particular trap.</a:t>
            </a:r>
          </a:p>
          <a:p/>
          <a:p>
            <a:r>
              <a:t>Production cue: this slide answers the retrieval prompt set on the title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the rule that sits above all the others. You decide; the AI drafts. The AI can prepare the board paper, but the board rules. It can rank the gaps, but you defend the ranking. It can propose a sourcing call, but the architect and the EA Board own the decision. The moment you let the AI's output be the decision instead of the input to a decision, you have handed your judgement to a tool that has no accountability and cannot be questioned in a meeting. Use it to think faster, never to think less.</a:t>
            </a:r>
          </a:p>
          <a:p/>
          <a:p>
            <a:r>
              <a:t>Production cue: the pivotal slide of this video — the rule the whole module sits under.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these are the ground rules. AI is a drafting partner, not an oracle. Use the four-part prompt. Make the safeguard specific. And keep the decision yours. Hold to these, and the plays in this topic save you days without leading you astray. Forget them, and AI becomes a fast way to be confidently wrong.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first play is the one you will use most: drafting the artefacts of Discovery and Assess. These are the slowest to start from a blank page — the capture template, and the ranked gap analysis. AI gets you from blank page to strong draft in minutes. Here is how it goes on a real sector.</a:t>
            </a:r>
          </a:p>
          <a:p/>
          <a:p>
            <a:r>
              <a:t>On screen: the play's copy-paste prompt is not shown on a slide — it ships in the video description so the viewer can run it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Step one, before the interviews. You paste what you know about a body — its mandate, its known systems, its registries. The AI returns a four-layer capture template: the right questions to ask per layer, a reminder to describe and not recommend, and a column to record where each answer came from. You walk into the Discovery interview with a structured sheet instead of a blank notebook. The template is a starting structure — you still ask the questions and record the real answers.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Step two, after Discovery. You paste the findings back in and ask for a ranked gap analysis. On a sector like Progressa's education system, the AI scores the capabilities — register a learner low, certify a result high — scans for the four common gaps, ranks them by impact and effort, and, crucially, flags the gaps that involve a powerful body for honest handling. In minutes you have the skeleton of the assessment that would otherwise take a week to structure.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Be clear about the division of labour. The AI is good at structure and completeness — it will not forget to score a capability or to check for duplicate registries. What it cannot do is know the ground truth. It scores what your notes say, not what is real. It cannot feel the political weight of the gap that a powerful programme will fight to keep. And it cannot tell whether a fact in your notes is actually true. The structure is the AI's; the truth and the judgement are yours.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Of everything this play produces, the honesty flag matters most. The AI will mark the duplicate learner list that a powerful programme owns as a politically sensitive gap. But it cannot decide how to handle it — that is your call, made with the decision-maker, not softened to avoid a fight. The play gives you the flag; you provide the courage. An assessment that flatters the current state to keep the peace fails quietly, a year later, when the flagship still does not exist.</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first play gets you from blank page to a structured capture template and a ranked gap analysis fast. Use it to skip the slow part — the structuring — and spend your time on the part only you can do: getting the truth right, and ranking the gaps honestly, including the ones that are uncomfortable to name.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second play helps you win the hardest argument in EA: that re-use saves money, even though no single project will choose it. The trouble is that the saving is invisible at the project level and only appears across the whole government. This play makes it visible — a business case with a number the budget authority can act on.</a:t>
            </a:r>
          </a:p>
          <a:p/>
          <a:p>
            <a:r>
              <a:t>On screen: the play's copy-paste prompt is not shown on a slide — it ships in the video description so the viewer can run it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argument the play helps you make. Inside any one project, building its own small identity function is cheaper and faster than reusing the national one. So every project builds its own. Across ten projects, the country has paid ten times for identity, and the citizen proves who they are on paper at every counter. The saving from re-use is real, but it only exists when you add up the whole government — which is exactly the view no project has, and the budget authority rarely sees.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play makes that addition for you. You paste in three to five of your country's programmes, with rough budgets, and the shared building blocks that exist. The AI produces a per-programme table: for each, the local cost of building its own versus consuming the shared block — and it honestly shows that consuming is often more expensive for the individual project. Then it totals across all programmes over five years, where the country-level saving finally appears as a single number.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central case for an EA, turned into a number. A procurement rule can require open standards, but it cannot make re-use the cheapest choice for the project doing the work. Only planning at the level of the whole government can show why re-use is worth it — and that is the view an Enterprise Architecture exists to give. This play takes that view, which usually lives in an architect's head, and puts it on one page the budget authority can read. The whole-of-government saving stops being a claim and becomes a calculation.</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5 deck. Each section that follows is one standalone ~4–5 minute video. Modules 1 to 4 each carried a single AI prompt in passing, to turn a method step into a draft. Module 5 is dedicated to using the tool well: the ground rules first, then five reusable plays for real EA work, then the safeguards that make all five safe.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5.1 sets the ground rules and the four-part prompt every later play uses; 5.2 to 5.6 are the five plays; 5.7 closes with the four safeguards. Each play video's AI usage tip is the play itself — a copy-paste prompt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third play addresses the problem at the heart of modern EA work: the business side and the IT side do not share a language. The minister talks outcomes; the architect talks systems. They sit in the same meeting and miss each other. This play is a translator that helps both sides decide together.</a:t>
            </a:r>
          </a:p>
          <a:p/>
          <a:p>
            <a:r>
              <a:t>On screen: the play's copy-paste prompt is not shown on a slide — it ships in the video description so the viewer can run it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direction: from policy to architecture. You paste the minister's goal in their words — every learner should have one record that follows them through school. The AI returns what that means in architecture terms: the capabilities involved, the services, the data domains, and the decisions it forces — who owns the authoritative learner, which bodies must consume it, what must be built versus reused. The minister's sentence becomes a structured set of architecture decisions, without losing what the minister actually asked for.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direction, just as important: from architecture back to outcomes. You paste a technical decision — the Examination Authority will consume the Learner Registry over the data-exchange backbone. The AI returns what that means for the minister and the citizen: parents stop re-entering their child's details, the single learner record becomes possible, the flagship can be delivered. The architecture stops being a black box the minister has to trust, and becomes a set of choices they can understand and own.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play's most useful output is the joint agenda. You give it an operating-model question — should we move to once-only data sharing for education — and it decomposes the decision into three parts: the business decisions only the ministry can make, the technical decisions only the architects can make, and the joint decisions that need both in the room. For each joint decision, it names what each side needs from the other to decide well. That agenda is exactly what an EA Board meeting needs to be productive instead of two groups talking past each other.</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This is the second great purpose of an EA, made practical. An Enterprise Architecture exists to give the business side and the IT side a shared language for the new work of redesigning services. This play is a tool that does the translating in real time. But a caution: the tool translates; it does not replace the shared vocabulary and the standing forum. The metamodel still has to be agreed, and the Board still has to meet. The play makes the translation faster; the architecture is what makes it stick.</a:t>
            </a:r>
          </a:p>
          <a:p/>
          <a:p>
            <a:r>
              <a:t>Production cue: the pivotal slide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third play is a translator between the minister and the architects. Goal to architecture, architecture to outcome, and the joint agenda that gets both sides deciding together. It is the shared-language job an EA exists to do — with a tool that makes it happen in the meeting, not just in theory.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fourth play drafts the documents that make governance real — and that architects most dread starting. A Board terms of reference. A review-gate checklist. A gate-decision paper for a specific project. These are formal, structured, and slow to write from scratch. The play gets you a strong draft to edit.</a:t>
            </a:r>
          </a:p>
          <a:p/>
          <a:p>
            <a:r>
              <a:t>On screen: the play's copy-paste prompt is not shown on a slide — it ships in the video description so the viewer can run it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the Board terms of reference. You give the AI your country's relevant roles — the digitalisation officer, the sector CIOs, the registry owners, the data-protection regulator. It drafts a terms of reference with the parts that matter: the purpose, the binding decision scope spelled out as specific decision types, the membership, the cadence, the reporting line, the escalation path. You get a one-to-two-page institutional document to take to the chair, instead of a blank page and a deadline.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review-gate checklist — the questions every project answers before funding. You give it your adopted principles and the shared building blocks you have. It drafts the intake questions, what a pass looks like for each, an exception form with a sunset date, and the fields for the decision log. This is the operational heart of governance, and the play gives you a working draft of it in minutes.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the gate-decision paper for a real project. You paste a project proposal — the scholarship programme that wants its own learner list — and the AI drafts the gate questions answered, a recommended ruling, consume the registry or a time-boxed exception, and the decision-log entry. You arrive at the Board with a prepared paper. The Board still rules — but it rules on a clear, structured recommendation instead of an argument made on the spot.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firm caution with this play. The documents it drafts are institutional, and some of them — especially the Board's binding decision scope — interact with your country's laws. The AI draft is a starting point for your legal counsel, never the final text. A Board that claims authority it does not legally hold will be overruled the first time a powerful ministry tests it, and that overrule sets a precedent that is hard to undo. Draft fast with the play; ratify slowly, with counsel.</a:t>
            </a:r>
          </a:p>
          <a:p/>
          <a:p>
            <a:r>
              <a:t>Production cue: the operative beat of this video.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fourth play drafts the institutional documents governance needs. The terms of reference, the review-gate checklist, the gate-decision paper. Use it to skip the dread of the blank page — and route every document that touches authority through your legal counsel before it is adopted.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fifth play produces the material you need to persuade and to spread the method: comparator cases for a briefing, and a transfer plan for a new sector. Both are research-heavy and slow by hand. The play drafts them — with one strict rule about sources.</a:t>
            </a:r>
          </a:p>
          <a:p/>
          <a:p>
            <a:r>
              <a:t>Retrieval prompt — ask before playing on: what is the single most dangerous thing AI does on a comparator card? Answer on the next slide but one.</a:t>
            </a:r>
          </a:p>
          <a:p/>
          <a:p>
            <a:r>
              <a:t>On screen: the play's copy-paste prompt is not shown on a slide — it ships in the video description so the viewer can run it on the other half of the screen.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comparator cards. You give the AI your country's characteristics — size, income level, governance type, region, the constraints you face. It returns three to five genuinely comparable countries, prioritising African and other developing-country examples: for each, why it is comparable, what they actually built, one transferable lesson, and a public source for every substantive claim. Instead of always reaching for Estonia, you get signposts that look like your country, which land far better in a cabinet briefing.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the strict rule for this play, because it is where AI is most dangerous. Every claim on a comparator card must have a real, checkable source — and AI will invent plausible-looking citations that do not say what the card claims, or do not exist at all. So the rule is: cite or discard. Open the source for every example. If it does not actually document what the card says, throw that example out. A comparator card with a fabricated citation, caught in a cabinet meeting, discredits your whole briefing.</a:t>
            </a:r>
          </a:p>
          <a:p/>
          <a:p>
            <a:r>
              <a:t>Production cue: this slide answers the retrieval prompt set on the title slide. The operative beat of the video —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the sector-transfer plan. The method you have built on education transfers to health, to agriculture, to social protection — only the institutions and the data domains change. You give the AI a new sector's bodies, and it returns a one-page plan: the bodies classified, this sector's equivalent of the single learner record, the five phase deliverables named for this sector, and a suggested first two waves. It is the fastest way to start the method on a sector you have just been handed.</a:t>
            </a:r>
          </a:p>
          <a:p/>
          <a:p>
            <a:r>
              <a:t>On screen: health, agriculture and social protection are named as places the method applies, not as worked examples — education is the worked sector throughout KP1.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caution on the transfer plan, the same as every play. It is a starting structure, not an assessment. It guesses the duplicated data domain and the likely gaps for the new sector — and it may guess wrong, because it has not looked. Use it to start Discovery faster, not to skip it. The real gaps come from running the method on the real sector, not from a plan written before anyone has looked.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 fifth play gives you the persuasion and spread material — comparator cards that look like your country, and a plan to take the method to a new sector. Use it freely, under one discipline: cite or discard, and confirm by looking. Evidence you cannot verify is worse than none.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Every play in this topic produces a draft fast. This last part is about the discipline that keeps those drafts from becoming liabilities. Four safeguards. Skip them, and AI becomes a fast way to put wrong facts, fabricated sources, or leaked data into a government decision.</a:t>
            </a:r>
          </a:p>
          <a:p/>
          <a:p>
            <a:r>
              <a:t>Production cue: the closing video of the module. Its AI usage tip is a meta-prompt — strip a prompt of sensitive data — and it ships in the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verify. Every fact an AI states is a hypothesis until you check it against a real source — a document, a system, a named person. The plausible section number, the confident figure, the specific claim: each is exactly as convincing whether it is right or invented. This is not a small risk. A wrong reference in a deliverable, a made-up statistic in a cabinet briefing — these damage your credibility more than a gap in the work would. Verify before you forward. Always.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cite or discard — the rule from the comparator play, applied everywhere. Any claim about the outside world — what another country did, what a standard requires, what a benchmark shows — needs a real, checkable source. AI fabricates citations as fluently as it writes prose. So open the source. If it does not say what the AI claims, discard the claim, not just the citation. An unsourced claim you cannot verify is a liability you are choosing to carry into a meeting.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protect the data. Do not paste citizen personal data, security configurations, unpublished cabinet papers, or anything your data-protection act covers into a public AI tool. The plays never need it: you can run every one with placeholders — a learner, a powerful programme, country X — instead of real names and records. Your data-protection act applies to what you type into a chatbot exactly as it applies to any other system. Treat the prompt box as a public place, because it is.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keep the decision human. Across every play, the pattern holds: the AI prepares, the human decides. The Board rules on the gate paper. The architect defends the ranking. The legal counsel approves the terms of reference. The minister owns the roadmap. Accountability cannot be handed to a tool that has no stake in the outcome and cannot be questioned afterward. When something the AI drafted turns out wrong, the answer is never the AI said so — it is your name on the decision. Use AI to decide faster and better, never to avoid deciding.</a:t>
            </a:r>
          </a:p>
          <a:p/>
          <a:p>
            <a:r>
              <a:t>Production cue: this is the pivotal slide of the whole module and its one full-colour block.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these are the safeguards that make the plays safe. Verify every fact. Cite or discard every claim. Protect the data. Keep the decision human. None of them slows you down much, and together they are the difference between AI that makes you faster and AI that makes you confidently, accountably wrong. Use the plays freely — inside these four rules.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Five AI plays
for real EA work</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KP1 · Government Enterprise Architecture · Module 5</a:t>
            </a:r>
          </a:p>
          <a:p>
            <a:r>
              <a:rPr sz="1400" b="0" i="0">
                <a:solidFill>
                  <a:srgbClr val="595959"/>
                </a:solidFill>
                <a:latin typeface="Arial"/>
              </a:rPr>
              <a:t>Seven standalone videos on using AI well for enterprise-architecture work: the ground rules that make every play safe, five reusable plays that draft the assessment, the re-use business case, the minister-to-architect translation, the governance documents and the comparator cases — and the four safeguards that keep a fast draft from becoming a liability.</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~33 mins across 7 videos (5.1 – 5.7)</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FIVE PLAYS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1 — Discovery and Assess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2 — the re-use business case</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3 — minister and architects</a:t>
            </a:r>
          </a:p>
        </p:txBody>
      </p:sp>
      <p:sp>
        <p:nvSpPr>
          <p:cNvPr id="23" name="Rounded Rectangle 22"/>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Play 4 — the governance artefacts</a:t>
            </a:r>
          </a:p>
        </p:txBody>
      </p:sp>
      <p:sp>
        <p:nvSpPr>
          <p:cNvPr id="24" name="Rounded Rectangle 23"/>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Play 5 — comparators and transfer</a:t>
            </a:r>
          </a:p>
        </p:txBody>
      </p:sp>
      <p:sp>
        <p:nvSpPr>
          <p:cNvPr id="25" name="TextBox 24"/>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4-part prompt · 5 plays · 4 safeguards · you decide, the AI drafts</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5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5.1  Use AI as a drafting partner, not an oracle</a:t>
            </a:r>
            <a:r>
              <a:rPr sz="1200" b="0" i="0">
                <a:solidFill>
                  <a:srgbClr val="595959"/>
                </a:solidFill>
                <a:latin typeface="Arial"/>
              </a:rPr>
              <a:t>   ~5 min</a:t>
            </a:r>
          </a:p>
          <a:p>
            <a:pPr algn="l">
              <a:spcAft>
                <a:spcPts val="900"/>
              </a:spcAft>
            </a:pPr>
            <a:r>
              <a:rPr sz="1500" b="1" i="0">
                <a:solidFill>
                  <a:srgbClr val="1A1A1A"/>
                </a:solidFill>
                <a:latin typeface="Arial"/>
              </a:rPr>
              <a:t>5.2  Play 1 — Draft your Discovery and Assess artefacts</a:t>
            </a:r>
            <a:r>
              <a:rPr sz="1200" b="0" i="0">
                <a:solidFill>
                  <a:srgbClr val="595959"/>
                </a:solidFill>
                <a:latin typeface="Arial"/>
              </a:rPr>
              <a:t>   ~5 min</a:t>
            </a:r>
          </a:p>
          <a:p>
            <a:pPr algn="l">
              <a:spcAft>
                <a:spcPts val="900"/>
              </a:spcAft>
            </a:pPr>
            <a:r>
              <a:rPr sz="1500" b="1" i="0">
                <a:solidFill>
                  <a:srgbClr val="1A1A1A"/>
                </a:solidFill>
                <a:latin typeface="Arial"/>
              </a:rPr>
              <a:t>5.3  Play 2 — Build the re-use business case</a:t>
            </a:r>
            <a:r>
              <a:rPr sz="1200" b="0" i="0">
                <a:solidFill>
                  <a:srgbClr val="595959"/>
                </a:solidFill>
                <a:latin typeface="Arial"/>
              </a:rPr>
              <a:t>   ~5 min</a:t>
            </a:r>
          </a:p>
          <a:p>
            <a:pPr algn="l">
              <a:spcAft>
                <a:spcPts val="900"/>
              </a:spcAft>
            </a:pPr>
            <a:r>
              <a:rPr sz="1500" b="1" i="0">
                <a:solidFill>
                  <a:srgbClr val="1A1A1A"/>
                </a:solidFill>
                <a:latin typeface="Arial"/>
              </a:rPr>
              <a:t>5.4  Play 3 — Translate minister and architects</a:t>
            </a:r>
            <a:r>
              <a:rPr sz="1200" b="0" i="0">
                <a:solidFill>
                  <a:srgbClr val="595959"/>
                </a:solidFill>
                <a:latin typeface="Arial"/>
              </a:rPr>
              <a:t>   ~5 min</a:t>
            </a:r>
          </a:p>
          <a:p>
            <a:pPr algn="l">
              <a:spcAft>
                <a:spcPts val="900"/>
              </a:spcAft>
            </a:pPr>
            <a:r>
              <a:rPr sz="1500" b="1" i="0">
                <a:solidFill>
                  <a:srgbClr val="1A1A1A"/>
                </a:solidFill>
                <a:latin typeface="Arial"/>
              </a:rPr>
              <a:t>5.5  Play 4 — Draft your governance artefacts</a:t>
            </a:r>
            <a:r>
              <a:rPr sz="1200" b="0" i="0">
                <a:solidFill>
                  <a:srgbClr val="595959"/>
                </a:solidFill>
                <a:latin typeface="Arial"/>
              </a:rPr>
              <a:t>   ~4 min</a:t>
            </a:r>
          </a:p>
          <a:p>
            <a:pPr algn="l">
              <a:spcAft>
                <a:spcPts val="900"/>
              </a:spcAft>
            </a:pPr>
            <a:r>
              <a:rPr sz="1500" b="1" i="0">
                <a:solidFill>
                  <a:srgbClr val="1A1A1A"/>
                </a:solidFill>
                <a:latin typeface="Arial"/>
              </a:rPr>
              <a:t>5.6  Play 5 — Comparator cases and sector transfer</a:t>
            </a:r>
            <a:r>
              <a:rPr sz="1200" b="0" i="0">
                <a:solidFill>
                  <a:srgbClr val="595959"/>
                </a:solidFill>
                <a:latin typeface="Arial"/>
              </a:rPr>
              <a:t>   ~4 min</a:t>
            </a:r>
          </a:p>
          <a:p>
            <a:pPr algn="l">
              <a:spcAft>
                <a:spcPts val="900"/>
              </a:spcAft>
            </a:pPr>
            <a:r>
              <a:rPr sz="1500" b="1" i="0">
                <a:solidFill>
                  <a:srgbClr val="1A1A1A"/>
                </a:solidFill>
                <a:latin typeface="Arial"/>
              </a:rPr>
              <a:t>5.7  Keep AI honest — verify, cite, and protect data</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AI can save an architect days of drafting, and it can lead them confidently into a wrong answer. The difference is entirely in how it is used.</a:t>
            </a:r>
          </a:p>
          <a:p>
            <a:pPr>
              <a:spcAft>
                <a:spcPts val="1000"/>
              </a:spcAft>
            </a:pPr>
            <a:r>
              <a:rPr sz="1900" b="0" i="1">
                <a:solidFill>
                  <a:srgbClr val="1A1A1A"/>
                </a:solidFill>
                <a:latin typeface="Arial"/>
              </a:rPr>
              <a:t>So: the ground rules, five plays you will reuse on every engagement, and the four safeguards that sit under all of them. AI drafts. You decide.</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Use AI as a drafting partner, not an oracle — the ground rules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AI is a fast drafting partner for EA work, not an oracle — it produces a strong first draft you verify, never a finding you trust. Learn the four-part prompt pattern and the one rule that makes every play safe: you decide, the AI drafts.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It states a wrong figure in exactly the tone it states a right one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AI produces a strong first draft in minutes — a gap analysis, a terms of reference, a business case. What it does not produce is a finding you can trust without checking.</a:t>
            </a:r>
          </a:p>
          <a:p>
            <a:pPr>
              <a:spcAft>
                <a:spcPts val="1200"/>
              </a:spcAft>
            </a:pPr>
            <a:r>
              <a:rPr sz="2000" b="0" i="0">
                <a:solidFill>
                  <a:srgbClr val="1A1A1A"/>
                </a:solidFill>
                <a:latin typeface="Arial"/>
              </a:rPr>
              <a:t>A wrong section number, a plausible but invented figure, a confident claim with no basis — each arrives in exactly the same tone as a correct one.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draft is where your work starts, not where it ends.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Use AI as a drafting partner, not an oracle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play in this module uses the same four-part prompt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Name the input you are pasting.</a:t>
            </a:r>
          </a:p>
          <a:p>
            <a:pPr>
              <a:spcAft>
                <a:spcPts val="300"/>
              </a:spcAft>
            </a:pPr>
            <a:r>
              <a:rPr sz="1550" b="0" i="0">
                <a:solidFill>
                  <a:srgbClr val="595959"/>
                </a:solidFill>
                <a:latin typeface="Arial"/>
              </a:rPr>
              <a:t>"Below is my Discovery brief for the education sector."</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Break the task into named outputs.</a:t>
            </a:r>
          </a:p>
          <a:p>
            <a:pPr>
              <a:spcAft>
                <a:spcPts val="300"/>
              </a:spcAft>
            </a:pPr>
            <a:r>
              <a:rPr sz="1550" b="0" i="0">
                <a:solidFill>
                  <a:srgbClr val="595959"/>
                </a:solidFill>
                <a:latin typeface="Arial"/>
              </a:rPr>
              <a:t>"Score the capabilities, list the gaps, rank them."</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State the exact output format you want.</a:t>
            </a:r>
          </a:p>
          <a:p>
            <a:pPr>
              <a:spcAft>
                <a:spcPts val="300"/>
              </a:spcAft>
            </a:pPr>
            <a:r>
              <a:rPr sz="1550" b="0" i="0">
                <a:solidFill>
                  <a:srgbClr val="595959"/>
                </a:solidFill>
                <a:latin typeface="Arial"/>
              </a:rPr>
              <a:t>"A four-row table plus three bullets."</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Add a safeguard line for this prompt's specific risk.</a:t>
            </a:r>
          </a:p>
          <a:p>
            <a:pPr>
              <a:spcAft>
                <a:spcPts val="300"/>
              </a:spcAft>
            </a:pPr>
            <a:r>
              <a:rPr sz="1550" b="0" i="0">
                <a:solidFill>
                  <a:srgbClr val="595959"/>
                </a:solidFill>
                <a:latin typeface="Arial"/>
              </a:rPr>
              <a:t>"Flag any gap involving a politically powerful body."</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parts gives you a usable artefact. "Help me with my architecture" gives you mush.</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Use AI as a drafting partner, not an oracle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good safeguard names how THIS prompt can mislead you</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For a gap analysis: a severity judgement about a powerful ministry must be checked with the decision-maker, not softened by the model.</a:t>
            </a:r>
          </a:p>
          <a:p>
            <a:pPr>
              <a:spcAft>
                <a:spcPts val="1200"/>
              </a:spcAft>
            </a:pPr>
            <a:r>
              <a:rPr sz="2000" b="0" i="0">
                <a:solidFill>
                  <a:srgbClr val="1A1A1A"/>
                </a:solidFill>
                <a:latin typeface="Arial"/>
              </a:rPr>
              <a:t>For a comparator card: discard any country example where the cited source does not actually say what the prompt claims.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Not "AI can make mistakes" — that helps no 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Use AI as a drafting partner, not an oracle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decide; the AI drafts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AI prepares the Board paper; the Board rules. It ranks the gaps; you defend the ranking. It proposes a sourcing call; the architect and the EA Board own the decision.</a:t>
            </a:r>
          </a:p>
          <a:p>
            <a:pPr>
              <a:spcAft>
                <a:spcPts val="1200"/>
              </a:spcAft>
            </a:pPr>
            <a:r>
              <a:rPr sz="2000" b="0" i="0">
                <a:solidFill>
                  <a:srgbClr val="1A1A1A"/>
                </a:solidFill>
                <a:latin typeface="Arial"/>
              </a:rPr>
              <a:t>The moment the output becomes the decision instead of the input to one, you have handed your judgement to a tool with no accountability, that cannot be questioned in a meeting.</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Use it to think faster, never to think less.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Use AI as a drafting partner, not an oracle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AI is a fast drafting partner for EA work, not an oracle — use the four-part prompt, write a specific safeguard, and remember: you decide, the AI drafts.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Use AI as a drafting partner, not an oracle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ITU Knowledge Products contract Terms of Reference — §4.3 (AI integration)</a:t>
            </a:r>
          </a:p>
          <a:p>
            <a:pPr>
              <a:spcAft>
                <a:spcPts val="1200"/>
              </a:spcAft>
            </a:pPr>
            <a:r>
              <a:rPr sz="1700" b="0" i="0">
                <a:solidFill>
                  <a:srgbClr val="1A1A1A"/>
                </a:solidFill>
                <a:latin typeface="Arial"/>
              </a:rPr>
              <a:t>•  GovStack knowledge base — govstack.global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5.1 · Use AI as a drafting partner, not an oracle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Play 1 — Draft your Discovery and Assess artefacts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first play turns your raw Discovery notes into a structured capture template and then a ranked gap analysis — the two hardest-to-start artefacts of the assessment — in a fraction of the time, with the politics flagged for you to handle honestly.</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Step 1 — walk in with a structured sheet, not a blank notebook</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Before the interviews, you paste what you know about a body — its mandate, its known systems, its registries. The AI returns a four-layer capture template: the right questions per layer, a reminder to describe and not recommend, and a column to record where each answer came from.</a:t>
            </a:r>
          </a:p>
          <a:p>
            <a:pPr>
              <a:spcAft>
                <a:spcPts val="1200"/>
              </a:spcAft>
            </a:pPr>
            <a:r>
              <a:rPr sz="2000" b="0" i="0">
                <a:solidFill>
                  <a:srgbClr val="1A1A1A"/>
                </a:solidFill>
                <a:latin typeface="Arial"/>
              </a:rPr>
              <a:t>The template is a starting structure. You still ask the questions and record the real answers.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Blank page to structured sheet, before the first interview.</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Play 1 — Draft your Discovery and Assess artefacts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Step 2 — a ranked gap analysis in minutes instead of a week</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After Discovery you paste the findings back in. On a sector like Progressa's education system the AI scores the capabilities — register a learner low, certify a result high — scans for the four common gaps, and ranks them by impact and effort.</a:t>
            </a:r>
          </a:p>
          <a:p>
            <a:pPr>
              <a:spcAft>
                <a:spcPts val="1200"/>
              </a:spcAft>
            </a:pPr>
            <a:r>
              <a:rPr sz="2000" b="0" i="0">
                <a:solidFill>
                  <a:srgbClr val="1A1A1A"/>
                </a:solidFill>
                <a:latin typeface="Arial"/>
              </a:rPr>
              <a:t>And, crucially, it flags the gaps that involve a powerful body for honest handling.</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skeleton of the assessment that would otherwise take a week to structure.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Play 1 — Draft your Discovery and Assess artefacts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structure is the AI's. The truth and the judgement are yours</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AI GETS RIGHT</a:t>
            </a:r>
          </a:p>
          <a:p>
            <a:pPr>
              <a:spcAft>
                <a:spcPts val="700"/>
              </a:spcAft>
            </a:pPr>
            <a:r>
              <a:rPr sz="1600" b="0" i="0">
                <a:solidFill>
                  <a:srgbClr val="1A1A1A"/>
                </a:solidFill>
                <a:latin typeface="Arial"/>
              </a:rPr>
              <a:t>Structure and completeness.</a:t>
            </a:r>
          </a:p>
          <a:p>
            <a:pPr>
              <a:spcAft>
                <a:spcPts val="700"/>
              </a:spcAft>
            </a:pPr>
            <a:r>
              <a:rPr sz="1600" b="0" i="0">
                <a:solidFill>
                  <a:srgbClr val="1A1A1A"/>
                </a:solidFill>
                <a:latin typeface="Arial"/>
              </a:rPr>
              <a:t>It will not forget to score a capability.</a:t>
            </a:r>
          </a:p>
          <a:p>
            <a:pPr>
              <a:spcAft>
                <a:spcPts val="700"/>
              </a:spcAft>
            </a:pPr>
            <a:r>
              <a:rPr sz="1600" b="0" i="0">
                <a:solidFill>
                  <a:srgbClr val="1A1A1A"/>
                </a:solidFill>
                <a:latin typeface="Arial"/>
              </a:rPr>
              <a:t>It will not forget to check for duplicate registries.</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AI CANNOT</a:t>
            </a:r>
          </a:p>
          <a:p>
            <a:pPr>
              <a:spcAft>
                <a:spcPts val="700"/>
              </a:spcAft>
            </a:pPr>
            <a:r>
              <a:rPr sz="1600" b="0" i="0">
                <a:solidFill>
                  <a:srgbClr val="1A1A1A"/>
                </a:solidFill>
                <a:latin typeface="Arial"/>
              </a:rPr>
              <a:t>Know the ground truth.</a:t>
            </a:r>
          </a:p>
          <a:p>
            <a:pPr>
              <a:spcAft>
                <a:spcPts val="700"/>
              </a:spcAft>
            </a:pPr>
            <a:r>
              <a:rPr sz="1600" b="0" i="0">
                <a:solidFill>
                  <a:srgbClr val="1A1A1A"/>
                </a:solidFill>
                <a:latin typeface="Arial"/>
              </a:rPr>
              <a:t>Feel the political weight of a gap a powerful programme will fight to keep.</a:t>
            </a:r>
          </a:p>
          <a:p>
            <a:pPr>
              <a:spcAft>
                <a:spcPts val="700"/>
              </a:spcAft>
            </a:pPr>
            <a:r>
              <a:rPr sz="1600" b="0" i="0">
                <a:solidFill>
                  <a:srgbClr val="1A1A1A"/>
                </a:solidFill>
                <a:latin typeface="Arial"/>
              </a:rPr>
              <a:t>Tell whether a "fact" in your notes is actually true.</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It scores what your notes say, not what is real.</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Play 1 — Draft your Discovery and Assess artefacts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play gives you the flag. You provide the courage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AI marks the duplicate learner list a powerful programme owns as a politically sensitive gap. But it cannot decide how to handle it — that is your call, made with the decision-maker, not softened to avoid a fight.</a:t>
            </a:r>
          </a:p>
          <a:p>
            <a:pPr>
              <a:spcAft>
                <a:spcPts val="1200"/>
              </a:spcAft>
            </a:pPr>
            <a:r>
              <a:rPr sz="2000" b="0" i="0">
                <a:solidFill>
                  <a:srgbClr val="1A1A1A"/>
                </a:solidFill>
                <a:latin typeface="Arial"/>
              </a:rPr>
              <a:t>An assessment that flatters the current state to keep the peace fails quietly, a year later, when the flagship still does not exist.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Of everything this play produces, the honesty flag matters most.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Play 1 — Draft your Discovery and Assess artefacts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This play turns raw Discovery notes into a capture template and a ranked gap analysis in minutes — the AI supplies the structure; you supply the ground truth and the honesty.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Play 1 — Draft your Discovery and Assess artefacts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§5.1 (Capabilities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5.2 · Play 1 — Draft your Discovery and Assess artefacts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Play 2 — Build the whole-of-government re-use business case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second play builds the business case that makes re-use visible — a cost comparison showing that each project building its own is cheaper for the project but ruinous for the country — the number that wins the budget argument.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Cheaper for the project. Ruinous for the country</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INSIDE ONE PROJECT</a:t>
            </a:r>
          </a:p>
          <a:p>
            <a:pPr>
              <a:spcAft>
                <a:spcPts val="700"/>
              </a:spcAft>
            </a:pPr>
            <a:r>
              <a:rPr sz="1600" b="0" i="0">
                <a:solidFill>
                  <a:srgbClr val="1A1A1A"/>
                </a:solidFill>
                <a:latin typeface="Arial"/>
              </a:rPr>
              <a:t>Building its own small identity function is cheaper and faster than reusing the national one.</a:t>
            </a:r>
          </a:p>
          <a:p>
            <a:pPr>
              <a:spcAft>
                <a:spcPts val="700"/>
              </a:spcAft>
            </a:pPr>
            <a:r>
              <a:rPr sz="1600" b="0" i="0">
                <a:solidFill>
                  <a:srgbClr val="1A1A1A"/>
                </a:solidFill>
                <a:latin typeface="Arial"/>
              </a:rPr>
              <a:t>So every project builds its own.</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ACROSS TEN PROJECTS</a:t>
            </a:r>
          </a:p>
          <a:p>
            <a:pPr>
              <a:spcAft>
                <a:spcPts val="700"/>
              </a:spcAft>
            </a:pPr>
            <a:r>
              <a:rPr sz="1600" b="0" i="0">
                <a:solidFill>
                  <a:srgbClr val="1A1A1A"/>
                </a:solidFill>
                <a:latin typeface="Arial"/>
              </a:rPr>
              <a:t>The country has paid ten times for identity.</a:t>
            </a:r>
          </a:p>
          <a:p>
            <a:pPr>
              <a:spcAft>
                <a:spcPts val="700"/>
              </a:spcAft>
            </a:pPr>
            <a:r>
              <a:rPr sz="1600" b="0" i="0">
                <a:solidFill>
                  <a:srgbClr val="1A1A1A"/>
                </a:solidFill>
                <a:latin typeface="Arial"/>
              </a:rPr>
              <a:t>The citizen proves who they are on paper at every counter.</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The re-use saving only exists when you add up the whole government — the view no project has.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Play 2 — Build the whole-of-government re-use business case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the play produces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You paste in three to five programmes</a:t>
            </a:r>
          </a:p>
          <a:p>
            <a:pPr>
              <a:spcAft>
                <a:spcPts val="300"/>
              </a:spcAft>
            </a:pPr>
            <a:r>
              <a:rPr sz="1550" b="0" i="0">
                <a:solidFill>
                  <a:srgbClr val="595959"/>
                </a:solidFill>
                <a:latin typeface="Arial"/>
              </a:rPr>
              <a:t>Rough budget envelopes, plus the shared building blocks that already exist.</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It returns a per-programme cost table</a:t>
            </a:r>
          </a:p>
          <a:p>
            <a:pPr>
              <a:spcAft>
                <a:spcPts val="300"/>
              </a:spcAft>
            </a:pPr>
            <a:r>
              <a:rPr sz="1550" b="0" i="0">
                <a:solidFill>
                  <a:srgbClr val="595959"/>
                </a:solidFill>
                <a:latin typeface="Arial"/>
              </a:rPr>
              <a:t>Build your own versus consume the shared block — honestly showing that consuming is often dearer for the single project.</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It totals across all programmes over five years</a:t>
            </a:r>
          </a:p>
          <a:p>
            <a:pPr>
              <a:spcAft>
                <a:spcPts val="300"/>
              </a:spcAft>
            </a:pPr>
            <a:r>
              <a:rPr sz="1550" b="0" i="0">
                <a:solidFill>
                  <a:srgbClr val="595959"/>
                </a:solidFill>
                <a:latin typeface="Arial"/>
              </a:rPr>
              <a:t>Where the country-level saving finally appears as a single number.</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whole-of-government saving stops being a claim and becomes a calculation.</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Play 2 — Build the whole-of-government re-use business case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procurement rule cannot make re-use the cheapest choice for the project doing the work</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procurement rule can require open standards, but it cannot change the arithmetic inside a single project. Only planning at the level of the whole government can show why re-use is worth it — and that is the view an Enterprise Architecture exists to give.</a:t>
            </a:r>
          </a:p>
          <a:p>
            <a:pPr>
              <a:spcAft>
                <a:spcPts val="1200"/>
              </a:spcAft>
            </a:pPr>
            <a:r>
              <a:rPr sz="2000" b="0" i="0">
                <a:solidFill>
                  <a:srgbClr val="1A1A1A"/>
                </a:solidFill>
                <a:latin typeface="Arial"/>
              </a:rPr>
              <a:t>This play takes that view, which usually lives in an architect's head, and puts it on one page the budget authority can read.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central case for an EA, turned into a number.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Play 2 — Build the whole-of-government re-use business case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Use the total to motivate a costing, not to quote it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numbers are directional. Their job is to win the argument that re-use deserves a proper costing — not to be the costing.</a:t>
            </a:r>
          </a:p>
          <a:p>
            <a:pPr>
              <a:spcAft>
                <a:spcPts val="1200"/>
              </a:spcAft>
            </a:pPr>
            <a:r>
              <a:rPr sz="2000" b="0" i="0">
                <a:solidFill>
                  <a:srgbClr val="1A1A1A"/>
                </a:solidFill>
                <a:latin typeface="Arial"/>
              </a:rPr>
              <a:t>Present the country-level total as a reason to commission a detailed business case, and name the conditions that make the saving real: the shared blocks exist, the Board has authority, the funding is sustained.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Oversell the numbers and a sharp finance officer dismisses the whole case.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Play 2 — Build the whole-of-government re-use business case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This play makes the re-use saving visible — a per-programme cost table totalled to a country-level number — turning the whole-of-government argument into a figure the budget authority can act 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Play 2 — Build the whole-of-government re-use business case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§5.6 (Sourcing Strategy)</a:t>
            </a:r>
          </a:p>
          <a:p>
            <a:pPr>
              <a:spcAft>
                <a:spcPts val="1200"/>
              </a:spcAft>
            </a:pPr>
            <a:r>
              <a:rPr sz="1700" b="0" i="0">
                <a:solidFill>
                  <a:srgbClr val="1A1A1A"/>
                </a:solidFill>
                <a:latin typeface="Arial"/>
              </a:rPr>
              <a:t>•  PAERA v1.0 — §1.3 (GovStack Vision)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5.3 · Play 2 — Build the whole-of-government re-use business case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Play 3 — Translate between the minister and the architects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third play is a translator — it turns a minister's policy goal into architecture terms and a joint agenda, and architecture decisions back into outcomes a minister understands — so the business side and the IT side can actually decide together.</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From the minister's sentence to the decisions it forces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 paste the goal in the minister's own words — every learner should have one record that follows them through school. The AI returns the capabilities, the services and the data domains it implies.</a:t>
            </a:r>
          </a:p>
          <a:p>
            <a:pPr>
              <a:spcAft>
                <a:spcPts val="1200"/>
              </a:spcAft>
            </a:pPr>
            <a:r>
              <a:rPr sz="2000" b="0" i="0">
                <a:solidFill>
                  <a:srgbClr val="1A1A1A"/>
                </a:solidFill>
                <a:latin typeface="Arial"/>
              </a:rPr>
              <a:t>And the decisions it forces: who owns the authoritative learner, which bodies must consume it, what must be built and what must be reused.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Architecture decisions, without losing what the minister actually asked for.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Play 3 — Translate between the minister and the architects</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And back the other way — from a technical decision to what a parent notices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 paste a technical decision — the Examination Authority will consume the Learner Registry over the data-exchange backbone. The AI returns what it means for the minister and the citizen.</a:t>
            </a:r>
          </a:p>
          <a:p>
            <a:pPr>
              <a:spcAft>
                <a:spcPts val="1200"/>
              </a:spcAft>
            </a:pPr>
            <a:r>
              <a:rPr sz="2000" b="0" i="0">
                <a:solidFill>
                  <a:srgbClr val="1A1A1A"/>
                </a:solidFill>
                <a:latin typeface="Arial"/>
              </a:rPr>
              <a:t>Parents stop re-entering their child's details. The single learner record becomes possible. The flagship can be delivered.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architecture stops being a black box the minister has to trust.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Play 3 — Translate between the minister and the architects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most useful output is the joint agenda</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Business decisions only the ministry can make</a:t>
            </a:r>
          </a:p>
          <a:p>
            <a:pPr>
              <a:spcAft>
                <a:spcPts val="300"/>
              </a:spcAft>
            </a:pPr>
            <a:r>
              <a:rPr sz="1550" b="0" i="0">
                <a:solidFill>
                  <a:srgbClr val="595959"/>
                </a:solidFill>
                <a:latin typeface="Arial"/>
              </a:rPr>
              <a:t>Policy, legal, who owns what.</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Technical decisions only the architects can make</a:t>
            </a:r>
          </a:p>
          <a:p>
            <a:pPr>
              <a:spcAft>
                <a:spcPts val="300"/>
              </a:spcAft>
            </a:pPr>
            <a:r>
              <a:rPr sz="1550" b="0" i="0">
                <a:solidFill>
                  <a:srgbClr val="595959"/>
                </a:solidFill>
                <a:latin typeface="Arial"/>
              </a:rPr>
              <a:t>Technology choice, security model, integration pattern.</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Joint decisions that need both in the room</a:t>
            </a:r>
          </a:p>
          <a:p>
            <a:pPr>
              <a:spcAft>
                <a:spcPts val="300"/>
              </a:spcAft>
            </a:pPr>
            <a:r>
              <a:rPr sz="1550" b="0" i="0">
                <a:solidFill>
                  <a:srgbClr val="595959"/>
                </a:solidFill>
                <a:latin typeface="Arial"/>
              </a:rPr>
              <a:t>Named in plain language, with what each side needs from the other to decide well.</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Exactly what an EA Board meeting needs, instead of two groups talking past each other.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Play 3 — Translate between the minister and the architects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tool translates. The architecture is what makes it stick</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An Enterprise Architecture exists to give the business side and the IT side a shared language for the new work of redesigning services. This play does the translating in real time — in the meeting, not just in theory.</a:t>
            </a:r>
          </a:p>
          <a:p>
            <a:pPr>
              <a:spcAft>
                <a:spcPts val="1200"/>
              </a:spcAft>
            </a:pPr>
            <a:r>
              <a:rPr sz="2000" b="0" i="0">
                <a:solidFill>
                  <a:srgbClr val="1A1A1A"/>
                </a:solidFill>
                <a:latin typeface="Arial"/>
              </a:rPr>
              <a:t>But it does not replace the shared vocabulary or the standing forum.</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translator is not a shared language. Agree the metamodel; convene the Board.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Play 3 — Translate between the minister and the architects</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This play translates a minister's goal into architecture and back, and decomposes a decision into business, IT and joint parts — so the two sides can finally decide together.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Play 3 — Translate between the minister and the architects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§2.3 (Role of Enterprise Architecture)</a:t>
            </a:r>
          </a:p>
          <a:p>
            <a:pPr>
              <a:spcAft>
                <a:spcPts val="1200"/>
              </a:spcAft>
            </a:pPr>
            <a:r>
              <a:rPr sz="1700" b="0" i="0">
                <a:solidFill>
                  <a:srgbClr val="1A1A1A"/>
                </a:solidFill>
                <a:latin typeface="Arial"/>
              </a:rPr>
              <a:t>•  PAERA v1.0 — §4.5 (Digital Co-creation)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5.4 · Play 3 — Translate between the minister and the architects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Play 4 — Draft your governance artefacts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fourth play drafts the institutional documents governance needs — the Board terms of reference, the review-gate checklist, the gate-decision paper — so you arrive at the meeting with a strong draft to edit, not a blank page to dread.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Board terms of reference — the one-to-two pages you take to the chair</a:t>
            </a:r>
          </a:p>
        </p:txBody>
      </p:sp>
      <p:sp>
        <p:nvSpPr>
          <p:cNvPr id="4" name="TextBox 3"/>
          <p:cNvSpPr txBox="1"/>
          <p:nvPr/>
        </p:nvSpPr>
        <p:spPr>
          <a:xfrm>
            <a:off x="658368" y="1417320"/>
            <a:ext cx="10984687" cy="832103"/>
          </a:xfrm>
          <a:prstGeom prst="rect">
            <a:avLst/>
          </a:prstGeom>
          <a:noFill/>
        </p:spPr>
        <p:txBody>
          <a:bodyPr wrap="square">
            <a:spAutoFit/>
          </a:bodyPr>
          <a:lstStyle/>
          <a:p>
            <a:pPr>
              <a:spcAft>
                <a:spcPts val="300"/>
              </a:spcAft>
            </a:pPr>
            <a:r>
              <a:rPr sz="1700" b="1" i="0">
                <a:solidFill>
                  <a:srgbClr val="1A1A1A"/>
                </a:solidFill>
                <a:latin typeface="Arial"/>
              </a:rPr>
              <a:t>Purpose</a:t>
            </a:r>
          </a:p>
          <a:p>
            <a:pPr>
              <a:spcAft>
                <a:spcPts val="300"/>
              </a:spcAft>
            </a:pPr>
            <a:r>
              <a:rPr sz="1550" b="0" i="0">
                <a:solidFill>
                  <a:srgbClr val="595959"/>
                </a:solidFill>
                <a:latin typeface="Arial"/>
              </a:rPr>
              <a:t>What the Board is for, in one paragraph.</a:t>
            </a:r>
          </a:p>
        </p:txBody>
      </p:sp>
      <p:sp>
        <p:nvSpPr>
          <p:cNvPr id="5" name="Rectangle 4"/>
          <p:cNvSpPr/>
          <p:nvPr/>
        </p:nvSpPr>
        <p:spPr>
          <a:xfrm>
            <a:off x="621792" y="225399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295144"/>
            <a:ext cx="10984687" cy="832103"/>
          </a:xfrm>
          <a:prstGeom prst="rect">
            <a:avLst/>
          </a:prstGeom>
          <a:noFill/>
        </p:spPr>
        <p:txBody>
          <a:bodyPr wrap="square">
            <a:spAutoFit/>
          </a:bodyPr>
          <a:lstStyle/>
          <a:p>
            <a:pPr>
              <a:spcAft>
                <a:spcPts val="300"/>
              </a:spcAft>
            </a:pPr>
            <a:r>
              <a:rPr sz="1700" b="1" i="0">
                <a:solidFill>
                  <a:srgbClr val="1A1A1A"/>
                </a:solidFill>
                <a:latin typeface="Arial"/>
              </a:rPr>
              <a:t>Binding decision scope</a:t>
            </a:r>
          </a:p>
          <a:p>
            <a:pPr>
              <a:spcAft>
                <a:spcPts val="300"/>
              </a:spcAft>
            </a:pPr>
            <a:r>
              <a:rPr sz="1550" b="0" i="0">
                <a:solidFill>
                  <a:srgbClr val="595959"/>
                </a:solidFill>
                <a:latin typeface="Arial"/>
              </a:rPr>
              <a:t>Spelled out as specific decision types — not "provides guidance".</a:t>
            </a:r>
          </a:p>
        </p:txBody>
      </p:sp>
      <p:sp>
        <p:nvSpPr>
          <p:cNvPr id="7" name="Rectangle 6"/>
          <p:cNvSpPr/>
          <p:nvPr/>
        </p:nvSpPr>
        <p:spPr>
          <a:xfrm>
            <a:off x="621792" y="313182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172968"/>
            <a:ext cx="10984687" cy="832103"/>
          </a:xfrm>
          <a:prstGeom prst="rect">
            <a:avLst/>
          </a:prstGeom>
          <a:noFill/>
        </p:spPr>
        <p:txBody>
          <a:bodyPr wrap="square">
            <a:spAutoFit/>
          </a:bodyPr>
          <a:lstStyle/>
          <a:p>
            <a:pPr>
              <a:spcAft>
                <a:spcPts val="300"/>
              </a:spcAft>
            </a:pPr>
            <a:r>
              <a:rPr sz="1700" b="1" i="0">
                <a:solidFill>
                  <a:srgbClr val="1A1A1A"/>
                </a:solidFill>
                <a:latin typeface="Arial"/>
              </a:rPr>
              <a:t>Membership</a:t>
            </a:r>
          </a:p>
          <a:p>
            <a:pPr>
              <a:spcAft>
                <a:spcPts val="300"/>
              </a:spcAft>
            </a:pPr>
            <a:r>
              <a:rPr sz="1550" b="0" i="0">
                <a:solidFill>
                  <a:srgbClr val="595959"/>
                </a:solidFill>
                <a:latin typeface="Arial"/>
              </a:rPr>
              <a:t>The digitalisation officer, the sector CIOs, the registry owners, the data-protection regulator.</a:t>
            </a:r>
          </a:p>
        </p:txBody>
      </p:sp>
      <p:sp>
        <p:nvSpPr>
          <p:cNvPr id="9" name="Rectangle 8"/>
          <p:cNvSpPr/>
          <p:nvPr/>
        </p:nvSpPr>
        <p:spPr>
          <a:xfrm>
            <a:off x="621792" y="4009644"/>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050791"/>
            <a:ext cx="10984687" cy="832103"/>
          </a:xfrm>
          <a:prstGeom prst="rect">
            <a:avLst/>
          </a:prstGeom>
          <a:noFill/>
        </p:spPr>
        <p:txBody>
          <a:bodyPr wrap="square">
            <a:spAutoFit/>
          </a:bodyPr>
          <a:lstStyle/>
          <a:p>
            <a:pPr>
              <a:spcAft>
                <a:spcPts val="300"/>
              </a:spcAft>
            </a:pPr>
            <a:r>
              <a:rPr sz="1700" b="1" i="0">
                <a:solidFill>
                  <a:srgbClr val="1A1A1A"/>
                </a:solidFill>
                <a:latin typeface="Arial"/>
              </a:rPr>
              <a:t>Cadence and reporting line</a:t>
            </a:r>
          </a:p>
          <a:p>
            <a:pPr>
              <a:spcAft>
                <a:spcPts val="300"/>
              </a:spcAft>
            </a:pPr>
            <a:r>
              <a:rPr sz="1550" b="0" i="0">
                <a:solidFill>
                  <a:srgbClr val="595959"/>
                </a:solidFill>
                <a:latin typeface="Arial"/>
              </a:rPr>
              <a:t>How often it meets, and who it reports to.</a:t>
            </a:r>
          </a:p>
        </p:txBody>
      </p:sp>
      <p:sp>
        <p:nvSpPr>
          <p:cNvPr id="11" name="Rectangle 10"/>
          <p:cNvSpPr/>
          <p:nvPr/>
        </p:nvSpPr>
        <p:spPr>
          <a:xfrm>
            <a:off x="621792" y="488746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928616"/>
            <a:ext cx="10984687" cy="832103"/>
          </a:xfrm>
          <a:prstGeom prst="rect">
            <a:avLst/>
          </a:prstGeom>
          <a:noFill/>
        </p:spPr>
        <p:txBody>
          <a:bodyPr wrap="square">
            <a:spAutoFit/>
          </a:bodyPr>
          <a:lstStyle/>
          <a:p>
            <a:pPr>
              <a:spcAft>
                <a:spcPts val="300"/>
              </a:spcAft>
            </a:pPr>
            <a:r>
              <a:rPr sz="1700" b="1" i="0">
                <a:solidFill>
                  <a:srgbClr val="1A1A1A"/>
                </a:solidFill>
                <a:latin typeface="Arial"/>
              </a:rPr>
              <a:t>Escalation path</a:t>
            </a:r>
          </a:p>
          <a:p>
            <a:pPr>
              <a:spcAft>
                <a:spcPts val="300"/>
              </a:spcAft>
            </a:pPr>
            <a:r>
              <a:rPr sz="1550" b="0" i="0">
                <a:solidFill>
                  <a:srgbClr val="595959"/>
                </a:solidFill>
                <a:latin typeface="Arial"/>
              </a:rPr>
              <a:t>What happens when a body refuses a ruling.</a:t>
            </a:r>
          </a:p>
        </p:txBody>
      </p:sp>
      <p:sp>
        <p:nvSpPr>
          <p:cNvPr id="13" name="TextBox 12"/>
          <p:cNvSpPr txBox="1"/>
          <p:nvPr/>
        </p:nvSpPr>
        <p:spPr>
          <a:xfrm>
            <a:off x="658368" y="5916168"/>
            <a:ext cx="10881360" cy="548640"/>
          </a:xfrm>
          <a:prstGeom prst="rect">
            <a:avLst/>
          </a:prstGeom>
          <a:noFill/>
        </p:spPr>
        <p:txBody>
          <a:bodyPr wrap="square">
            <a:spAutoFit/>
          </a:bodyPr>
          <a:lstStyle/>
          <a:p>
            <a:r>
              <a:rPr sz="1550" b="1" i="0">
                <a:solidFill>
                  <a:srgbClr val="006E96"/>
                </a:solidFill>
                <a:latin typeface="Arial"/>
              </a:rPr>
              <a:t>Give it your country's roles; get a draft instead of a blank page and a deadline.</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Play 4 — Draft your governance artefacts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review-gate checklist — the operational heart of governance</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The intake questions</a:t>
            </a:r>
          </a:p>
          <a:p>
            <a:pPr>
              <a:spcAft>
                <a:spcPts val="300"/>
              </a:spcAft>
            </a:pPr>
            <a:r>
              <a:rPr sz="1550" b="0" i="0">
                <a:solidFill>
                  <a:srgbClr val="595959"/>
                </a:solidFill>
                <a:latin typeface="Arial"/>
              </a:rPr>
              <a:t>What every project answers before funding.</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What a pass looks like for each</a:t>
            </a:r>
          </a:p>
          <a:p>
            <a:pPr>
              <a:spcAft>
                <a:spcPts val="300"/>
              </a:spcAft>
            </a:pPr>
            <a:r>
              <a:rPr sz="1550" b="0" i="0">
                <a:solidFill>
                  <a:srgbClr val="595959"/>
                </a:solidFill>
                <a:latin typeface="Arial"/>
              </a:rPr>
              <a:t>So the gate is a test, not an opinion.</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An exception form with a sunset date</a:t>
            </a:r>
          </a:p>
          <a:p>
            <a:pPr>
              <a:spcAft>
                <a:spcPts val="300"/>
              </a:spcAft>
            </a:pPr>
            <a:r>
              <a:rPr sz="1550" b="0" i="0">
                <a:solidFill>
                  <a:srgbClr val="595959"/>
                </a:solidFill>
                <a:latin typeface="Arial"/>
              </a:rPr>
              <a:t>Exceptions are granted in writing, and they expire.</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The decision-log fields</a:t>
            </a:r>
          </a:p>
          <a:p>
            <a:pPr>
              <a:spcAft>
                <a:spcPts val="300"/>
              </a:spcAft>
            </a:pPr>
            <a:r>
              <a:rPr sz="1550" b="0" i="0">
                <a:solidFill>
                  <a:srgbClr val="595959"/>
                </a:solidFill>
                <a:latin typeface="Arial"/>
              </a:rPr>
              <a:t>What was decided, and why.</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Give it your adopted principles and your shared blocks; get a working draft in minutes.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Play 4 — Draft your governance artefacts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gate-decision paper — arrive prepared, and let the Board rule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 paste a real project proposal — the scholarship programme that wants its own learner list — and the AI drafts the gate questions answered, a recommended ruling and the decision-log entry.</a:t>
            </a:r>
          </a:p>
          <a:p>
            <a:pPr>
              <a:spcAft>
                <a:spcPts val="1200"/>
              </a:spcAft>
            </a:pPr>
            <a:r>
              <a:rPr sz="2000" b="0" i="0">
                <a:solidFill>
                  <a:srgbClr val="1A1A1A"/>
                </a:solidFill>
                <a:latin typeface="Arial"/>
              </a:rPr>
              <a:t>The ruling it recommends is either consume the registry, or a written exception with a sunset date and a reason.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Board still rules — on a structured paper, not an argument made on the spot.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Play 4 — Draft your governance artefacts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Board claiming authority it does not legally hold is overruled on first test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documents this play drafts are institutional, and some of them — especially the Board's binding decision scope — interact with your country's laws. The AI draft is a starting point for your legal counsel, never the final text.</a:t>
            </a:r>
          </a:p>
          <a:p>
            <a:pPr>
              <a:spcAft>
                <a:spcPts val="1200"/>
              </a:spcAft>
            </a:pPr>
            <a:r>
              <a:rPr sz="2000" b="0" i="0">
                <a:solidFill>
                  <a:srgbClr val="1A1A1A"/>
                </a:solidFill>
                <a:latin typeface="Arial"/>
              </a:rPr>
              <a:t>The first time a powerful ministry tests an authority the Board does not have, the overrule sets a precedent that is hard to undo.</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Draft fast with the play. Ratify slowly, with counsel.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Play 4 — Draft your governance artefacts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This play drafts the Board terms of reference, the review-gate checklist and the gate-decision paper — so governance arrives as a strong draft to edit, with legal review before anything is adopted.</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Play 4 — Draft your governance artefacts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5.5 · Play 4 — Draft your governance artefacts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Play 5 — Generate comparator cases and a sector-transfer plan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fifth play generates the persuasion material — comparator-country cards tuned to your context with real sources, and a one-page plan to run the method on a new sector — for the briefings and pitches where you need evidence and a path.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Comparator cards that look like your country, not always Estonia</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Why it is comparable</a:t>
            </a:r>
          </a:p>
          <a:p>
            <a:pPr>
              <a:spcAft>
                <a:spcPts val="300"/>
              </a:spcAft>
            </a:pPr>
            <a:r>
              <a:rPr sz="1550" b="0" i="0">
                <a:solidFill>
                  <a:srgbClr val="595959"/>
                </a:solidFill>
                <a:latin typeface="Arial"/>
              </a:rPr>
              <a:t>One sentence against your size, income level, governance type and region.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What they actually built</a:t>
            </a:r>
          </a:p>
          <a:p>
            <a:pPr>
              <a:spcAft>
                <a:spcPts val="300"/>
              </a:spcAft>
            </a:pPr>
            <a:r>
              <a:rPr sz="1550" b="0" i="0">
                <a:solidFill>
                  <a:srgbClr val="595959"/>
                </a:solidFill>
                <a:latin typeface="Arial"/>
              </a:rPr>
              <a:t>Two or three bullets — substance, not marketing.</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One transferable lesson</a:t>
            </a:r>
          </a:p>
          <a:p>
            <a:pPr>
              <a:spcAft>
                <a:spcPts val="300"/>
              </a:spcAft>
            </a:pPr>
            <a:r>
              <a:rPr sz="1550" b="0" i="0">
                <a:solidFill>
                  <a:srgbClr val="595959"/>
                </a:solidFill>
                <a:latin typeface="Arial"/>
              </a:rPr>
              <a:t>The thing you could do differently on Monday.</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A public source for every substantive claim</a:t>
            </a:r>
          </a:p>
          <a:p>
            <a:pPr>
              <a:spcAft>
                <a:spcPts val="300"/>
              </a:spcAft>
            </a:pPr>
            <a:r>
              <a:rPr sz="1550" b="0" i="0">
                <a:solidFill>
                  <a:srgbClr val="595959"/>
                </a:solidFill>
                <a:latin typeface="Arial"/>
              </a:rPr>
              <a:t>A URL you can open.</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Three to five countries, prioritising African and other developing-country examples.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Play 5 — Generate comparator cases and a sector-transfer plan</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Cite or discard — this is where AI is most dangerous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 claim on a comparator card needs a real, checkable source. AI invents plausible-looking citations that do not say what the card claims, or do not exist at all.</a:t>
            </a:r>
          </a:p>
          <a:p>
            <a:pPr>
              <a:spcAft>
                <a:spcPts val="1200"/>
              </a:spcAft>
            </a:pPr>
            <a:r>
              <a:rPr sz="2000" b="0" i="0">
                <a:solidFill>
                  <a:srgbClr val="1A1A1A"/>
                </a:solidFill>
                <a:latin typeface="Arial"/>
              </a:rPr>
              <a:t>So open the source for every example. If it does not actually document what the card says, throw that example out — discard the claim, not just the citation.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fabricated citation, caught in a cabinet meeting, discredits your whole briefing.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Play 5 — Generate comparator cases and a sector-transfer plan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sector-transfer plan — one page to start on a sector you were just handed</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bodies, classified</a:t>
            </a:r>
          </a:p>
          <a:p>
            <a:pPr>
              <a:spcAft>
                <a:spcPts val="300"/>
              </a:spcAft>
            </a:pPr>
            <a:r>
              <a:rPr sz="1550" b="0" i="0">
                <a:solidFill>
                  <a:srgbClr val="595959"/>
                </a:solidFill>
                <a:latin typeface="Arial"/>
              </a:rPr>
              <a:t>Policy unit, regulator, service authority — in health, agriculture or social protection.</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This sector's equivalent of the single learner record</a:t>
            </a:r>
          </a:p>
          <a:p>
            <a:pPr>
              <a:spcAft>
                <a:spcPts val="300"/>
              </a:spcAft>
            </a:pPr>
            <a:r>
              <a:rPr sz="1550" b="0" i="0">
                <a:solidFill>
                  <a:srgbClr val="595959"/>
                </a:solidFill>
                <a:latin typeface="Arial"/>
              </a:rPr>
              <a:t>A patient record. A farmer registry. A beneficiary record.</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five phase deliverables, named for this sector</a:t>
            </a:r>
          </a:p>
          <a:p>
            <a:pPr>
              <a:spcAft>
                <a:spcPts val="300"/>
              </a:spcAft>
            </a:pPr>
            <a:r>
              <a:rPr sz="1550" b="0" i="0">
                <a:solidFill>
                  <a:srgbClr val="595959"/>
                </a:solidFill>
                <a:latin typeface="Arial"/>
              </a:rPr>
              <a:t>The same outputs, in this sector's language.</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A suggested first two waves</a:t>
            </a:r>
          </a:p>
          <a:p>
            <a:pPr>
              <a:spcAft>
                <a:spcPts val="300"/>
              </a:spcAft>
            </a:pPr>
            <a:r>
              <a:rPr sz="1550" b="0" i="0">
                <a:solidFill>
                  <a:srgbClr val="595959"/>
                </a:solidFill>
                <a:latin typeface="Arial"/>
              </a:rPr>
              <a:t>Where to start, so something lands inside the first year.</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Only the institutions and the data domains change. The method does not.</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Play 5 — Generate comparator cases and a sector-transfer plan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plan to start Discovery faster, not a reason to skip it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transfer plan guesses the duplicated data domain and the likely gaps for the new sector — and it may guess wrong, because it has not looked.</a:t>
            </a:r>
          </a:p>
          <a:p>
            <a:pPr>
              <a:spcAft>
                <a:spcPts val="1200"/>
              </a:spcAft>
            </a:pPr>
            <a:r>
              <a:rPr sz="2000" b="0" i="0">
                <a:solidFill>
                  <a:srgbClr val="1A1A1A"/>
                </a:solidFill>
                <a:latin typeface="Arial"/>
              </a:rPr>
              <a:t>The real gaps come from running the method on the real sector, not from a plan written before anyone has looked.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It is a starting structure, not an assessment.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Play 5 — Generate comparator cases and a sector-transfer plan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This play generates comparator cards tuned to your context and a sector-transfer plan — fast — under one rule: cite every source or discard the claim, and confirm by looking.</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Play 5 — Generate comparator cases and a sector-transfer plan</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§5.7 (Recommended Roadmap)</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5.6 · Play 5 — Generate comparator cases and a sector-transfer plan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5 · VIDEO 5.7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5.7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AI honest — verify, cite, and protect data</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safeguards that make every play safe: verify each output against a named source, cite or discard, never paste confidential or personal data, and keep the decision human — the difference between AI that helps and AI that quietly harms.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Every fact the AI states is a hypothesis until you check it</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Check it against a real source — a document, a system, a named person. The plausible section number, the confident figure, the specific claim: each is exactly as convincing whether it is right or invented.</a:t>
            </a:r>
          </a:p>
          <a:p>
            <a:pPr>
              <a:spcAft>
                <a:spcPts val="1200"/>
              </a:spcAft>
            </a:pPr>
            <a:r>
              <a:rPr sz="2000" b="0" i="0">
                <a:solidFill>
                  <a:srgbClr val="1A1A1A"/>
                </a:solidFill>
                <a:latin typeface="Arial"/>
              </a:rPr>
              <a:t>A wrong reference in a deliverable, or a made-up statistic in a cabinet briefing, damages your credibility more than a gap in the work would.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Verify before you forward. Always.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Keep AI honest — verify, cite, and protect data</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AI fabricates citations as fluently as it writes prose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Any claim about the outside world — what another country did, what a standard requires, what a benchmark shows — needs a real, checkable source.</a:t>
            </a:r>
          </a:p>
          <a:p>
            <a:pPr>
              <a:spcAft>
                <a:spcPts val="1200"/>
              </a:spcAft>
            </a:pPr>
            <a:r>
              <a:rPr sz="2000" b="0" i="0">
                <a:solidFill>
                  <a:srgbClr val="1A1A1A"/>
                </a:solidFill>
                <a:latin typeface="Arial"/>
              </a:rPr>
              <a:t>So open the source. If it does not say what the AI claims, discard the claim, not just the citation.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An unsourced claim you cannot verify is a liability you choose to carry into the room.</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Keep AI honest — verify, cite, and protect data</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Treat the prompt box as a public place, because it is</a:t>
            </a:r>
          </a:p>
        </p:txBody>
      </p:sp>
      <p:sp>
        <p:nvSpPr>
          <p:cNvPr id="4" name="TextBox 3"/>
          <p:cNvSpPr txBox="1"/>
          <p:nvPr/>
        </p:nvSpPr>
        <p:spPr>
          <a:xfrm>
            <a:off x="658368" y="1463040"/>
            <a:ext cx="10984687" cy="1028699"/>
          </a:xfrm>
          <a:prstGeom prst="rect">
            <a:avLst/>
          </a:prstGeom>
          <a:noFill/>
        </p:spPr>
        <p:txBody>
          <a:bodyPr wrap="square">
            <a:spAutoFit/>
          </a:bodyPr>
          <a:lstStyle/>
          <a:p>
            <a:pPr>
              <a:spcAft>
                <a:spcPts val="300"/>
              </a:spcAft>
            </a:pPr>
            <a:r>
              <a:rPr sz="1900" b="1" i="0">
                <a:solidFill>
                  <a:srgbClr val="1A1A1A"/>
                </a:solidFill>
                <a:latin typeface="Arial"/>
              </a:rPr>
              <a:t>Citizen personal data</a:t>
            </a:r>
          </a:p>
          <a:p>
            <a:pPr>
              <a:spcAft>
                <a:spcPts val="300"/>
              </a:spcAft>
            </a:pPr>
            <a:r>
              <a:rPr sz="1550" b="0" i="0">
                <a:solidFill>
                  <a:srgbClr val="595959"/>
                </a:solidFill>
                <a:latin typeface="Arial"/>
              </a:rPr>
              <a:t>Names, records, anything identifying a real person.</a:t>
            </a:r>
          </a:p>
        </p:txBody>
      </p:sp>
      <p:sp>
        <p:nvSpPr>
          <p:cNvPr id="5" name="Rectangle 4"/>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37460"/>
            <a:ext cx="10984687" cy="1028699"/>
          </a:xfrm>
          <a:prstGeom prst="rect">
            <a:avLst/>
          </a:prstGeom>
          <a:noFill/>
        </p:spPr>
        <p:txBody>
          <a:bodyPr wrap="square">
            <a:spAutoFit/>
          </a:bodyPr>
          <a:lstStyle/>
          <a:p>
            <a:pPr>
              <a:spcAft>
                <a:spcPts val="300"/>
              </a:spcAft>
            </a:pPr>
            <a:r>
              <a:rPr sz="1900" b="1" i="0">
                <a:solidFill>
                  <a:srgbClr val="1A1A1A"/>
                </a:solidFill>
                <a:latin typeface="Arial"/>
              </a:rPr>
              <a:t>Security configurations</a:t>
            </a:r>
          </a:p>
          <a:p>
            <a:pPr>
              <a:spcAft>
                <a:spcPts val="300"/>
              </a:spcAft>
            </a:pPr>
            <a:r>
              <a:rPr sz="1550" b="0" i="0">
                <a:solidFill>
                  <a:srgbClr val="595959"/>
                </a:solidFill>
                <a:latin typeface="Arial"/>
              </a:rPr>
              <a:t>How your systems are protected.</a:t>
            </a:r>
          </a:p>
        </p:txBody>
      </p:sp>
      <p:sp>
        <p:nvSpPr>
          <p:cNvPr id="7" name="Rectangle 6"/>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611879"/>
            <a:ext cx="10984687" cy="1028699"/>
          </a:xfrm>
          <a:prstGeom prst="rect">
            <a:avLst/>
          </a:prstGeom>
          <a:noFill/>
        </p:spPr>
        <p:txBody>
          <a:bodyPr wrap="square">
            <a:spAutoFit/>
          </a:bodyPr>
          <a:lstStyle/>
          <a:p>
            <a:pPr>
              <a:spcAft>
                <a:spcPts val="300"/>
              </a:spcAft>
            </a:pPr>
            <a:r>
              <a:rPr sz="1900" b="1" i="0">
                <a:solidFill>
                  <a:srgbClr val="1A1A1A"/>
                </a:solidFill>
                <a:latin typeface="Arial"/>
              </a:rPr>
              <a:t>Unpublished cabinet papers</a:t>
            </a:r>
          </a:p>
          <a:p>
            <a:pPr>
              <a:spcAft>
                <a:spcPts val="300"/>
              </a:spcAft>
            </a:pPr>
            <a:r>
              <a:rPr sz="1550" b="0" i="0">
                <a:solidFill>
                  <a:srgbClr val="595959"/>
                </a:solidFill>
                <a:latin typeface="Arial"/>
              </a:rPr>
              <a:t>Anything not yet public.</a:t>
            </a:r>
          </a:p>
        </p:txBody>
      </p:sp>
      <p:sp>
        <p:nvSpPr>
          <p:cNvPr id="9" name="Rectangle 8"/>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4686300"/>
            <a:ext cx="10984687" cy="1028699"/>
          </a:xfrm>
          <a:prstGeom prst="rect">
            <a:avLst/>
          </a:prstGeom>
          <a:noFill/>
        </p:spPr>
        <p:txBody>
          <a:bodyPr wrap="square">
            <a:spAutoFit/>
          </a:bodyPr>
          <a:lstStyle/>
          <a:p>
            <a:pPr>
              <a:spcAft>
                <a:spcPts val="300"/>
              </a:spcAft>
            </a:pPr>
            <a:r>
              <a:rPr sz="1900" b="1" i="0">
                <a:solidFill>
                  <a:srgbClr val="1A1A1A"/>
                </a:solidFill>
                <a:latin typeface="Arial"/>
              </a:rPr>
              <a:t>Anything your data-protection act covers</a:t>
            </a:r>
          </a:p>
          <a:p>
            <a:pPr>
              <a:spcAft>
                <a:spcPts val="300"/>
              </a:spcAft>
            </a:pPr>
            <a:r>
              <a:rPr sz="1550" b="0" i="0">
                <a:solidFill>
                  <a:srgbClr val="595959"/>
                </a:solidFill>
                <a:latin typeface="Arial"/>
              </a:rPr>
              <a:t>The act applies to what you type into a chatbot as it does to any other system.</a:t>
            </a:r>
          </a:p>
        </p:txBody>
      </p:sp>
      <p:sp>
        <p:nvSpPr>
          <p:cNvPr id="11" name="TextBox 10"/>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plays never need it — run every one with placeholders: "a learner", "country X".</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Keep AI honest — verify, cite, and protect data</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something the AI drafted turns out wrong, it is your name on the decision</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Across every play the pattern holds: the AI prepares, the human decides. The Board rules on the gate paper. The architect defends the ranking. Counsel approves the terms of reference. The minister owns the roadmap.</a:t>
            </a:r>
          </a:p>
          <a:p>
            <a:pPr>
              <a:spcAft>
                <a:spcPts val="1200"/>
              </a:spcAft>
            </a:pPr>
            <a:r>
              <a:rPr sz="2000" b="0" i="0">
                <a:solidFill>
                  <a:srgbClr val="1A1A1A"/>
                </a:solidFill>
                <a:latin typeface="Arial"/>
              </a:rPr>
              <a:t>Accountability cannot be handed to a tool that has no stake in the outcome and cannot be questioned afterward. The answer is never "the AI said so".</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Use AI to decide faster and better. Never to avoid deciding.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Keep AI honest — verify, cite, and protect data</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Verify against a source, cite or discard, never paste confidential data, and keep the decision human — four safeguards that separate AI that helps from AI that quietly harms.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Keep AI honest — verify, cite, and protect data</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ITU Knowledge Products contract Terms of Reference — §4.3 (AI integration)</a:t>
            </a:r>
          </a:p>
          <a:p>
            <a:pPr>
              <a:spcAft>
                <a:spcPts val="1200"/>
              </a:spcAft>
            </a:pPr>
            <a:r>
              <a:rPr sz="1700" b="0" i="0">
                <a:solidFill>
                  <a:srgbClr val="1A1A1A"/>
                </a:solidFill>
                <a:latin typeface="Arial"/>
              </a:rPr>
              <a:t>•  PAERA v1.0 — §3.4.2 (Digital Data)</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5.7 · Keep AI honest — verify, cite, and protect data</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