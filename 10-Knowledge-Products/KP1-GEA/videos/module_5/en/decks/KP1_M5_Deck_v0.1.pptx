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you are asked whether this works beyond education, the answer is yes, and it gets cheaper as you go. The same method, a different record at the centre, the same shared platforms reused sector after sector. You are not making a one-sector decision. You are making the first move in building a national capability — which is exactly how to frame it when you make the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the case you make upward, this changes the framing. You are not asking the minister to fund a tool for one sector. You are asking to build a national capability, of which the first sector is the foundation and the proof. That is a stronger case and an honest one: the first sector carries more of the cost because it builds the shared muscle; every sector after it benefits from that muscle and costs less. A minister who funds it as a one-sector project undersells it. A minister who funds it as the first wave of a national capability has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to this approach, you are right to ask one question: is it proven, or is it a consultant's theory? The honest answer is that the core of it has already been done — in countries large and small, unitary and federal, well-resourced and not. Look at what four real governments built, and the question changes from whether it works to how you apply it.</a:t>
            </a:r>
          </a:p>
          <a:p/>
          <a:p>
            <a:r>
              <a:t>On screen: the four countries appear as plain typography only — no flags, no national emblems, no agency logos. They are public examples cited to public sources, never the team's own engagements.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someone asks whether this is proven, you have an answer. Four governments, four shapes, one recurring pattern, with the failures as well documented as the successes. It is not theory. It is a charted path. Your job is not to prove it again — it is to apply it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the pattern works, it also shows, just as clearly, why programmes fail. And the striking thing is that the failures are almost never technical. The technology works. What kills these programmes is organisational — and because it is organisational, you can design around it from the start. Here is what the record says, on both sides.</a:t>
            </a:r>
          </a:p>
          <a:p/>
          <a:p>
            <a:r>
              <a:t>Retrieval prompt — ask before playing on: name the ways a programme like this dies. Are any of them technical? Answer on the next two slides.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works, because you will build these in deliberately. A small permanent team, protected from being pulled onto other work. A published framework that agencies adopt because it helps them, not because it is forced. Governance that can actually say no to a project that would fragment the architecture. And funding sustained across years, not granted annually and withdrawn when priorities shift. Where these four hold, the programmes deliver. Where any one is missing, they wobble.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evidence gives you two lists. What to build in — a protected team, an adopted framework, binding governance, sustained funding. And what to design out — the four organisational failures that quietly kill these programmes in their second year. Brief your minister on both.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watching this with education in mind, or you may be a director-general responsible for several sectors. Either way, a fair question is whether this approach is tied to one sector or works across your government. The answer matters for how big a commitment you are really making — and the answer is that the method is sector-agnostic, and it compounds.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stays the same, because it is most of it. The five phases — discover, assess, adapt, plan, execute and govern. The four sign-offs. The six deliverables. The reuse-before-build default. The binding governance board. None of that is specific to education. It is the method. What changes when you move to another sector is only the contents: the institutions you map, and the kind of record at the centre of the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that change is smaller than it looks. In education, the duplicated record at the heart of the fragmentation is the learner. In health it is the patient. In agriculture it is the farmer. In social protection it is the beneficiary. Different domain, identical shape — registered several times, re-entered on paper, blocking a flagship the minister has promised. The problem rhymes across sectors because the underlying cause is the same: no shared plan. So the same method resolves it.</a:t>
            </a:r>
          </a:p>
          <a:p/>
          <a:p>
            <a:r>
              <a:t>On screen: health, agriculture and social protection are named as sectors the method transfers to — this is the ToR §4.4 portability statement, not a set of worked examples. Each sector still needs its own discovery and assessment run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changes the size of your decision. The hard, expensive part of this work is building the muscle the first time — the permanent team, the localised framework, the governance, and above all the shared platforms like identity and data exchange. Once those exist, the second sector does not rebuild them. It consumes them. The health sector reuses the identity platform the education work stood up. The agriculture sector reuses the data-exchange backbone. So the second sector is cheaper and faster than the first, and the third cheaper still. The investment you make for one sector is, in large part, an investment for all of them.</a:t>
            </a:r>
          </a:p>
          <a:p/>
          <a:p>
            <a:r>
              <a:t>Production cue: the pivotal slide of this video. Hold it a beat longer. On screen: bar length is the argument and carries no figures — the dark segments are the muscle built once; every later sector's bar is only its own architecture plus a sliver for consuming what exists.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~4–5 minute video. This is the capstone, and the first topic since Module 1 to address the Strategist rather than the Architect — the director-general, the head of a sectoral ICT unit, the technical secretary who commissions the work and makes the case to the minister. It answers the three questions asked before committing: is it proven, does it travel, and how do I win the commitment and roll it 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and 5.2 are the evidence — what four governments built, and what makes these programmes live or die. 5.3 is the portability case. 5.4 to 5.6 are the commitment, the capability and the rollout. 5.7 puts the whole case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evidence that it works and the case that it travels. Now the hardest step: getting your minister to commit the team, the mandate and the money. Ministers do not commit to architecture. They commit to outcomes, to numbers, and to cases they can defend in cabinet. So the case you bring cannot be about the architecture. It has to be about three things: the saving, the proof, and the honest cost.</a:t>
            </a:r>
          </a:p>
          <a:p/>
          <a:p>
            <a:r>
              <a:t>Retrieval prompt — ask before playing on: of everything in your case, what does a minister actually act on? Answer on the next slide.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winning the commitment is not an architecture conversation. It is a one-page business case: the saving, the proof, the ask, the honest horizon. Bring that, and you give your minister something they can say yes to and defend afterwards. Bring a diagram of four layers, and you give them something to admire and postpone.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One worry that stops strategists committing is capability: do we have the people who can do this, and can we afford to train them? The reassuring answer is that you do not have to build the knowledge from scratch. The method, the framework and the training materials already exist as open knowledge products — which changes what you actually need to fund.</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capability is not the barrier it appears to be. The knowledge is documented, open and taught; a community is already using it; and your budget goes to a team that applies it, not to reinventing it. Use the open knowledge products to grow your own architects —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the commitment. How do you actually roll this out across a government, without trying to do everything at once and failing? The answer is the same discipline the method uses inside one sector, applied to the whole country: a wave roadmap. Start small, prove it, build the shared muscle, then bring sectors on one at a time.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Wave one is one sector, done well. Pick the sector with a clear flagship the minister cares about — the single learner record, the single patient record. Run the full method there, end to end. But notice what wave one really builds: not just that sector's architecture, but the national foundations — the permanent team, the governance board, and the first shared platforms like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reuses what wave one built. The health sector consumes the identity platform and the data-exchange backbone that already exist. Its run of the method is lighter, because the team, the framework and the governance are in place. It delivers faster and costs less. And every sector that joins makes the next one easier still, because the shared platforms get more complete and the team more practised. The rollout accelerates as it goes — the opposite of a programme that gets harder under its own weight.</a:t>
            </a:r>
          </a:p>
          <a:p/>
          <a:p>
            <a:r>
              <a:t>On screen: a wave roadmap — each wave a smaller block than the last, the platform bar beneath growing, the Board bar across the top (the next slide's subject). Reveal the waves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govern the rollout rather than just launching it. The same board that reviews projects inside a sector governs the national pipeline: which sector comes next, what each must reuse, where an exception is genuinely warranted. This keeps the rollout coherent — every new sector building on the shared foundation instead of starting its own. A rollout that is launched and left drifts back into fragmentation, one sector at a time. A rollout that is governed compounds into a single national architecture.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Finally, report the national picture upward, on one page, every quarter. How many sectors are live. The re-use rate across them. Which shared platforms are in place. This does two things. It shows the minister the national capability actually growing — sector by sector, saving by saving — which is what sustains the funding across a change of government. And it lets you see, early, if a sector is drifting from the shared foundation, while it is still cheap to correct. The national scorecard is how a multi-year rollout stays funded and stays coherent.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rollout is a wave roadmap at national scale. One sector to prove it and build the foundations. Then sectors one at a time, each reusing the last, each cheaper, all governed into one coherent architecture and reported on a single page. That is how an approach that works in one sector becomes how your whole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After everything, it reduces to three sentences a minister can hold: this is proven, it is portable, and it is necessary now. And underneath those three sit the two reasons an Enterprise Architecture exists at all — the two ideas to leave with.</a:t>
            </a:r>
          </a:p>
          <a:p/>
          <a:p>
            <a:r>
              <a:t>Production cue: the closing video of the module and of KP1. Its AI usage tip drafts the closing one-page case for the minister, and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now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Proven and portable. Those alone make a strong case. But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real results today is different: redesigning how government serves citizens — once-only data sharing, a shared identity, a single record that follows a person across services. That work is not putting paper online. It is changing how the government operates. And it cannot be done by the IT department alone, or by the policy side alone.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which are the two ideas to carry out of this whole knowledge product. First: re-use. Inside any project, building your own is cheaper than reusing —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 Re-use and shared language. Everything else in this knowledge product serves those two.</a:t>
            </a:r>
          </a:p>
          <a:p/>
          <a:p>
            <a:r>
              <a:t>Production cue: the two ideas the whole knowledge product reduces to.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Which is why the third sentence is the urgent one. In the era of digitising paper, an Enterprise Architecture was useful — a nice-to-have that made things tidier. In the era of redesigning how government works, it is necessary — because without it, re-use does not happen and the business and IT sides cannot have the conversation the redesign requires. The countries delivering real results have understood this. The case you make is not that an EA would be a good idea. It is that the work your government is now being asked to do cannot be done well without one.</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that is the case, whole. Proven — four governments have done it. Portable — it works across your sectors and compounds. Necessary now — because the new work of government cannot be done without it. And underneath, the two reasons it exists: re-use, and a shared language between business and IT. Carry those into the room. That is the case for a national Enterprise Architecture — and the case for starting it where you are, now.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case for a national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5</a:t>
            </a:r>
          </a:p>
          <a:p>
            <a:r>
              <a:rPr sz="1400" b="0" i="0">
                <a:solidFill>
                  <a:srgbClr val="595959"/>
                </a:solidFill>
                <a:latin typeface="Arial"/>
              </a:rPr>
              <a:t>Seven standalone videos for the person who commissions the architecture and makes the case upward: the evidence from four real governments, what sustains these programmes and what quietly kills them, the cross-sector portability case, the business case that wins a minister's commitment, building capability from open knowledge products, the national rollout — and the whole case in one piece.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~33 mins across 7 videos (5.1 – 5.7)</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Is this proven? Evidence from real programmes</a:t>
            </a:r>
            <a:r>
              <a:rPr sz="1200" b="0" i="0">
                <a:solidFill>
                  <a:srgbClr val="595959"/>
                </a:solidFill>
                <a:latin typeface="Arial"/>
              </a:rPr>
              <a:t>   ~5 min</a:t>
            </a:r>
          </a:p>
          <a:p>
            <a:pPr algn="l">
              <a:spcAft>
                <a:spcPts val="900"/>
              </a:spcAft>
            </a:pPr>
            <a:r>
              <a:rPr sz="1500" b="1" i="0">
                <a:solidFill>
                  <a:srgbClr val="1A1A1A"/>
                </a:solidFill>
                <a:latin typeface="Arial"/>
              </a:rPr>
              <a:t>5.2  What works, and what quietly kills them</a:t>
            </a:r>
            <a:r>
              <a:rPr sz="1200" b="0" i="0">
                <a:solidFill>
                  <a:srgbClr val="595959"/>
                </a:solidFill>
                <a:latin typeface="Arial"/>
              </a:rPr>
              <a:t>   ~5 min</a:t>
            </a:r>
          </a:p>
          <a:p>
            <a:pPr algn="l">
              <a:spcAft>
                <a:spcPts val="900"/>
              </a:spcAft>
            </a:pPr>
            <a:r>
              <a:rPr sz="1500" b="1" i="0">
                <a:solidFill>
                  <a:srgbClr val="1A1A1A"/>
                </a:solidFill>
                <a:latin typeface="Arial"/>
              </a:rPr>
              <a:t>5.3  Will it work for your other sectors?</a:t>
            </a:r>
            <a:r>
              <a:rPr sz="1200" b="0" i="0">
                <a:solidFill>
                  <a:srgbClr val="595959"/>
                </a:solidFill>
                <a:latin typeface="Arial"/>
              </a:rPr>
              <a:t>   ~5 min</a:t>
            </a:r>
          </a:p>
          <a:p>
            <a:pPr algn="l">
              <a:spcAft>
                <a:spcPts val="900"/>
              </a:spcAft>
            </a:pPr>
            <a:r>
              <a:rPr sz="1500" b="1" i="0">
                <a:solidFill>
                  <a:srgbClr val="1A1A1A"/>
                </a:solidFill>
                <a:latin typeface="Arial"/>
              </a:rPr>
              <a:t>5.4  Win the commitment — the business case</a:t>
            </a:r>
            <a:r>
              <a:rPr sz="1200" b="0" i="0">
                <a:solidFill>
                  <a:srgbClr val="595959"/>
                </a:solidFill>
                <a:latin typeface="Arial"/>
              </a:rPr>
              <a:t>   ~5 min</a:t>
            </a:r>
          </a:p>
          <a:p>
            <a:pPr algn="l">
              <a:spcAft>
                <a:spcPts val="900"/>
              </a:spcAft>
            </a:pPr>
            <a:r>
              <a:rPr sz="1500" b="1" i="0">
                <a:solidFill>
                  <a:srgbClr val="1A1A1A"/>
                </a:solidFill>
                <a:latin typeface="Arial"/>
              </a:rPr>
              <a:t>5.5  Build capability with open knowledge products</a:t>
            </a:r>
            <a:r>
              <a:rPr sz="1200" b="0" i="0">
                <a:solidFill>
                  <a:srgbClr val="595959"/>
                </a:solidFill>
                <a:latin typeface="Arial"/>
              </a:rPr>
              <a:t>   ~4 min</a:t>
            </a:r>
          </a:p>
          <a:p>
            <a:pPr algn="l">
              <a:spcAft>
                <a:spcPts val="900"/>
              </a:spcAft>
            </a:pPr>
            <a:r>
              <a:rPr sz="1500" b="1" i="0">
                <a:solidFill>
                  <a:srgbClr val="1A1A1A"/>
                </a:solidFill>
                <a:latin typeface="Arial"/>
              </a:rPr>
              <a:t>5.6  Roll it out to a national EA practice</a:t>
            </a:r>
            <a:r>
              <a:rPr sz="1200" b="0" i="0">
                <a:solidFill>
                  <a:srgbClr val="595959"/>
                </a:solidFill>
                <a:latin typeface="Arial"/>
              </a:rPr>
              <a:t>   ~4 min</a:t>
            </a:r>
          </a:p>
          <a:p>
            <a:pPr algn="l">
              <a:spcAft>
                <a:spcPts val="900"/>
              </a:spcAft>
            </a:pPr>
            <a:r>
              <a:rPr sz="1500" b="1" i="0">
                <a:solidFill>
                  <a:srgbClr val="1A1A1A"/>
                </a:solidFill>
                <a:latin typeface="Arial"/>
              </a:rPr>
              <a:t>5.7  The closing case — proven, portable, necessary</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Three questions decide whether this happens: is it proven, does it travel, and can I win the commitment and roll it out?</a:t>
            </a:r>
          </a:p>
          <a:p>
            <a:pPr>
              <a:spcAft>
                <a:spcPts val="1000"/>
              </a:spcAft>
            </a:pPr>
            <a:r>
              <a:rPr sz="1900" b="0" i="1">
                <a:solidFill>
                  <a:srgbClr val="1A1A1A"/>
                </a:solidFill>
                <a:latin typeface="Arial"/>
              </a:rPr>
              <a:t>This module answers all three — with the evidence, the numbers and the honest timeline — so you can make the case upward and defend it afterwards.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make them work — build all four in deliberately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small permanent team, protected</a:t>
            </a:r>
          </a:p>
          <a:p>
            <a:pPr>
              <a:spcAft>
                <a:spcPts val="300"/>
              </a:spcAft>
            </a:pPr>
            <a:r>
              <a:rPr sz="1550" b="0" i="0">
                <a:solidFill>
                  <a:srgbClr val="595959"/>
                </a:solidFill>
                <a:latin typeface="Arial"/>
              </a:rPr>
              <a:t>Not pulled onto other work when something urgent appears.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framework agencies adopt, rather than are forced into</a:t>
            </a:r>
          </a:p>
          <a:p>
            <a:pPr>
              <a:spcAft>
                <a:spcPts val="300"/>
              </a:spcAft>
            </a:pPr>
            <a:r>
              <a:rPr sz="1550" b="0" i="0">
                <a:solidFill>
                  <a:srgbClr val="595959"/>
                </a:solidFill>
                <a:latin typeface="Arial"/>
              </a:rPr>
              <a:t>They use it because it helps them.</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Governance that can actually say no</a:t>
            </a:r>
          </a:p>
          <a:p>
            <a:pPr>
              <a:spcAft>
                <a:spcPts val="300"/>
              </a:spcAft>
            </a:pPr>
            <a:r>
              <a:rPr sz="1550" b="0" i="0">
                <a:solidFill>
                  <a:srgbClr val="595959"/>
                </a:solidFill>
                <a:latin typeface="Arial"/>
              </a:rPr>
              <a:t>To a project that would fragment the architecture.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Funding sustained across years</a:t>
            </a:r>
          </a:p>
          <a:p>
            <a:pPr>
              <a:spcAft>
                <a:spcPts val="300"/>
              </a:spcAft>
            </a:pPr>
            <a:r>
              <a:rPr sz="1550" b="0" i="0">
                <a:solidFill>
                  <a:srgbClr val="595959"/>
                </a:solidFill>
                <a:latin typeface="Arial"/>
              </a:rPr>
              <a:t>Not granted annually and withdrawn when priorities shift.</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all four hold, the programmes deliver. Where any one is missing, they wobble.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Will it work for your other sectors? — the portability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at 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the reuse-before-build default, the binding governance board — none of it is specific to education. It is the method.</a:t>
            </a:r>
          </a:p>
          <a:p>
            <a:pPr>
              <a:spcAft>
                <a:spcPts val="1200"/>
              </a:spcAft>
            </a:pPr>
            <a:r>
              <a:rPr sz="2000" b="0" i="0">
                <a:solidFill>
                  <a:srgbClr val="1A1A1A"/>
                </a:solidFill>
                <a:latin typeface="Arial"/>
              </a:rPr>
              <a:t>What changes when you move to another sector is only the contents: the institutions you map, and the kind of record at the centre of the fragmentation.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method travels. Only the contents 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changes is the record at the centre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Education — the learner</a:t>
            </a:r>
          </a:p>
          <a:p>
            <a:pPr>
              <a:spcAft>
                <a:spcPts val="300"/>
              </a:spcAft>
            </a:pPr>
            <a:r>
              <a:rPr sz="1550" b="0" i="0">
                <a:solidFill>
                  <a:srgbClr val="595959"/>
                </a:solidFill>
                <a:latin typeface="Arial"/>
              </a:rPr>
              <a:t>Registered in the school census, by the examination authority, by a grant programme.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Health — the patient</a:t>
            </a:r>
          </a:p>
          <a:p>
            <a:pPr>
              <a:spcAft>
                <a:spcPts val="300"/>
              </a:spcAft>
            </a:pPr>
            <a:r>
              <a:rPr sz="1550" b="0" i="0">
                <a:solidFill>
                  <a:srgbClr val="595959"/>
                </a:solidFill>
                <a:latin typeface="Arial"/>
              </a:rPr>
              <a:t>The record that should follow a person between facilities.</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Agriculture — the farmer</a:t>
            </a:r>
          </a:p>
          <a:p>
            <a:pPr>
              <a:spcAft>
                <a:spcPts val="300"/>
              </a:spcAft>
            </a:pPr>
            <a:r>
              <a:rPr sz="1550" b="0" i="0">
                <a:solidFill>
                  <a:srgbClr val="595959"/>
                </a:solidFill>
                <a:latin typeface="Arial"/>
              </a:rPr>
              <a:t>The registry every subsidy and extension programme rebuilds.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Social protection — the beneficiary</a:t>
            </a:r>
          </a:p>
          <a:p>
            <a:pPr>
              <a:spcAft>
                <a:spcPts val="300"/>
              </a:spcAft>
            </a:pPr>
            <a:r>
              <a:rPr sz="1550" b="0" i="0">
                <a:solidFill>
                  <a:srgbClr val="595959"/>
                </a:solidFill>
                <a:latin typeface="Arial"/>
              </a:rPr>
              <a:t>The list each programme keeps its own copy of.</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portability statement, not worked examples — each sector needs its own discovery.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second sector is cheaper because the muscle is built once</a:t>
            </a:r>
          </a:p>
        </p:txBody>
      </p:sp>
      <p:sp>
        <p:nvSpPr>
          <p:cNvPr id="4" name="TextBox 3"/>
          <p:cNvSpPr txBox="1"/>
          <p:nvPr/>
        </p:nvSpPr>
        <p:spPr>
          <a:xfrm>
            <a:off x="658368" y="1508760"/>
            <a:ext cx="10881360" cy="329184"/>
          </a:xfrm>
          <a:prstGeom prst="rect">
            <a:avLst/>
          </a:prstGeom>
          <a:noFill/>
        </p:spPr>
        <p:txBody>
          <a:bodyPr wrap="square">
            <a:spAutoFit/>
          </a:bodyPr>
          <a:lstStyle/>
          <a:p>
            <a:r>
              <a:rPr sz="1200" b="1" i="0">
                <a:solidFill>
                  <a:srgbClr val="595959"/>
                </a:solidFill>
                <a:latin typeface="Arial"/>
              </a:rPr>
              <a:t>WHAT EACH SECTOR PAYS FOR — directional, not a costing</a:t>
            </a:r>
          </a:p>
        </p:txBody>
      </p:sp>
      <p:sp>
        <p:nvSpPr>
          <p:cNvPr id="5" name="TextBox 4"/>
          <p:cNvSpPr txBox="1"/>
          <p:nvPr/>
        </p:nvSpPr>
        <p:spPr>
          <a:xfrm>
            <a:off x="658368" y="1892807"/>
            <a:ext cx="2514600" cy="548640"/>
          </a:xfrm>
          <a:prstGeom prst="rect">
            <a:avLst/>
          </a:prstGeom>
          <a:noFill/>
        </p:spPr>
        <p:txBody>
          <a:bodyPr wrap="square" anchor="ctr">
            <a:spAutoFit/>
          </a:bodyPr>
          <a:lstStyle/>
          <a:p>
            <a:r>
              <a:rPr sz="1400" b="1" i="0">
                <a:solidFill>
                  <a:srgbClr val="1A1A1A"/>
                </a:solidFill>
                <a:latin typeface="Arial"/>
              </a:rPr>
              <a:t>Sector 1 — education</a:t>
            </a:r>
          </a:p>
        </p:txBody>
      </p:sp>
      <p:sp>
        <p:nvSpPr>
          <p:cNvPr id="6" name="Rectangle 5"/>
          <p:cNvSpPr/>
          <p:nvPr/>
        </p:nvSpPr>
        <p:spPr>
          <a:xfrm>
            <a:off x="3310128" y="1947672"/>
            <a:ext cx="1289304"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permanent team</a:t>
            </a:r>
          </a:p>
        </p:txBody>
      </p:sp>
      <p:sp>
        <p:nvSpPr>
          <p:cNvPr id="7" name="Rectangle 6"/>
          <p:cNvSpPr/>
          <p:nvPr/>
        </p:nvSpPr>
        <p:spPr>
          <a:xfrm>
            <a:off x="4626864"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framework</a:t>
            </a:r>
          </a:p>
        </p:txBody>
      </p:sp>
      <p:sp>
        <p:nvSpPr>
          <p:cNvPr id="8" name="Rectangle 7"/>
          <p:cNvSpPr/>
          <p:nvPr/>
        </p:nvSpPr>
        <p:spPr>
          <a:xfrm>
            <a:off x="5696712"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governance</a:t>
            </a:r>
          </a:p>
        </p:txBody>
      </p:sp>
      <p:sp>
        <p:nvSpPr>
          <p:cNvPr id="9" name="Rectangle 8"/>
          <p:cNvSpPr/>
          <p:nvPr/>
        </p:nvSpPr>
        <p:spPr>
          <a:xfrm>
            <a:off x="6766560" y="1947672"/>
            <a:ext cx="1947672"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identity · data exchange</a:t>
            </a:r>
          </a:p>
        </p:txBody>
      </p:sp>
      <p:sp>
        <p:nvSpPr>
          <p:cNvPr id="10" name="Rectangle 9"/>
          <p:cNvSpPr/>
          <p:nvPr/>
        </p:nvSpPr>
        <p:spPr>
          <a:xfrm>
            <a:off x="8741664" y="1947672"/>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1" name="TextBox 10"/>
          <p:cNvSpPr txBox="1"/>
          <p:nvPr/>
        </p:nvSpPr>
        <p:spPr>
          <a:xfrm>
            <a:off x="658368" y="2642615"/>
            <a:ext cx="2514600" cy="548640"/>
          </a:xfrm>
          <a:prstGeom prst="rect">
            <a:avLst/>
          </a:prstGeom>
          <a:noFill/>
        </p:spPr>
        <p:txBody>
          <a:bodyPr wrap="square" anchor="ctr">
            <a:spAutoFit/>
          </a:bodyPr>
          <a:lstStyle/>
          <a:p>
            <a:r>
              <a:rPr sz="1400" b="1" i="0">
                <a:solidFill>
                  <a:srgbClr val="1A1A1A"/>
                </a:solidFill>
                <a:latin typeface="Arial"/>
              </a:rPr>
              <a:t>Sector 2 — health</a:t>
            </a:r>
          </a:p>
        </p:txBody>
      </p:sp>
      <p:sp>
        <p:nvSpPr>
          <p:cNvPr id="12" name="Rectangle 11"/>
          <p:cNvSpPr/>
          <p:nvPr/>
        </p:nvSpPr>
        <p:spPr>
          <a:xfrm>
            <a:off x="3310128" y="2697479"/>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3" name="Rectangle 12"/>
          <p:cNvSpPr/>
          <p:nvPr/>
        </p:nvSpPr>
        <p:spPr>
          <a:xfrm>
            <a:off x="4956048" y="2697479"/>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4" name="TextBox 13"/>
          <p:cNvSpPr txBox="1"/>
          <p:nvPr/>
        </p:nvSpPr>
        <p:spPr>
          <a:xfrm>
            <a:off x="5952744" y="2642615"/>
            <a:ext cx="5586984" cy="548640"/>
          </a:xfrm>
          <a:prstGeom prst="rect">
            <a:avLst/>
          </a:prstGeom>
          <a:noFill/>
        </p:spPr>
        <p:txBody>
          <a:bodyPr wrap="square" anchor="ctr">
            <a:spAutoFit/>
          </a:bodyPr>
          <a:lstStyle/>
          <a:p>
            <a:r>
              <a:rPr sz="1200" b="0" i="1">
                <a:solidFill>
                  <a:srgbClr val="595959"/>
                </a:solidFill>
                <a:latin typeface="Arial"/>
              </a:rPr>
              <a:t>reuses the identity platform education stood up</a:t>
            </a:r>
          </a:p>
        </p:txBody>
      </p:sp>
      <p:sp>
        <p:nvSpPr>
          <p:cNvPr id="15" name="TextBox 14"/>
          <p:cNvSpPr txBox="1"/>
          <p:nvPr/>
        </p:nvSpPr>
        <p:spPr>
          <a:xfrm>
            <a:off x="658368" y="3392423"/>
            <a:ext cx="2514600" cy="548640"/>
          </a:xfrm>
          <a:prstGeom prst="rect">
            <a:avLst/>
          </a:prstGeom>
          <a:noFill/>
        </p:spPr>
        <p:txBody>
          <a:bodyPr wrap="square" anchor="ctr">
            <a:spAutoFit/>
          </a:bodyPr>
          <a:lstStyle/>
          <a:p>
            <a:r>
              <a:rPr sz="1400" b="1" i="0">
                <a:solidFill>
                  <a:srgbClr val="1A1A1A"/>
                </a:solidFill>
                <a:latin typeface="Arial"/>
              </a:rPr>
              <a:t>Sector 3 — agriculture</a:t>
            </a:r>
          </a:p>
        </p:txBody>
      </p:sp>
      <p:sp>
        <p:nvSpPr>
          <p:cNvPr id="16" name="Rectangle 15"/>
          <p:cNvSpPr/>
          <p:nvPr/>
        </p:nvSpPr>
        <p:spPr>
          <a:xfrm>
            <a:off x="3310128" y="3447287"/>
            <a:ext cx="1207007"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17" name="Rectangle 16"/>
          <p:cNvSpPr/>
          <p:nvPr/>
        </p:nvSpPr>
        <p:spPr>
          <a:xfrm>
            <a:off x="4544568" y="3447287"/>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8" name="TextBox 17"/>
          <p:cNvSpPr txBox="1"/>
          <p:nvPr/>
        </p:nvSpPr>
        <p:spPr>
          <a:xfrm>
            <a:off x="5541264" y="3392423"/>
            <a:ext cx="5998464" cy="548640"/>
          </a:xfrm>
          <a:prstGeom prst="rect">
            <a:avLst/>
          </a:prstGeom>
          <a:noFill/>
        </p:spPr>
        <p:txBody>
          <a:bodyPr wrap="square" anchor="ctr">
            <a:spAutoFit/>
          </a:bodyPr>
          <a:lstStyle/>
          <a:p>
            <a:r>
              <a:rPr sz="1200" b="0" i="1">
                <a:solidFill>
                  <a:srgbClr val="595959"/>
                </a:solidFill>
                <a:latin typeface="Arial"/>
              </a:rPr>
              <a:t>reuses the data-exchange backbone</a:t>
            </a:r>
          </a:p>
        </p:txBody>
      </p:sp>
      <p:sp>
        <p:nvSpPr>
          <p:cNvPr id="19" name="TextBox 18"/>
          <p:cNvSpPr txBox="1"/>
          <p:nvPr/>
        </p:nvSpPr>
        <p:spPr>
          <a:xfrm>
            <a:off x="658368" y="4142231"/>
            <a:ext cx="2514600" cy="548640"/>
          </a:xfrm>
          <a:prstGeom prst="rect">
            <a:avLst/>
          </a:prstGeom>
          <a:noFill/>
        </p:spPr>
        <p:txBody>
          <a:bodyPr wrap="square" anchor="ctr">
            <a:spAutoFit/>
          </a:bodyPr>
          <a:lstStyle/>
          <a:p>
            <a:r>
              <a:rPr sz="1400" b="1" i="0">
                <a:solidFill>
                  <a:srgbClr val="1A1A1A"/>
                </a:solidFill>
                <a:latin typeface="Arial"/>
              </a:rPr>
              <a:t>Sector 4 — social protection</a:t>
            </a:r>
          </a:p>
        </p:txBody>
      </p:sp>
      <p:sp>
        <p:nvSpPr>
          <p:cNvPr id="20" name="Rectangle 19"/>
          <p:cNvSpPr/>
          <p:nvPr/>
        </p:nvSpPr>
        <p:spPr>
          <a:xfrm>
            <a:off x="3310128" y="4197095"/>
            <a:ext cx="960120"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21" name="Rectangle 20"/>
          <p:cNvSpPr/>
          <p:nvPr/>
        </p:nvSpPr>
        <p:spPr>
          <a:xfrm>
            <a:off x="4297680" y="4197095"/>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22" name="TextBox 21"/>
          <p:cNvSpPr txBox="1"/>
          <p:nvPr/>
        </p:nvSpPr>
        <p:spPr>
          <a:xfrm>
            <a:off x="5294376" y="4142231"/>
            <a:ext cx="6245352" cy="548640"/>
          </a:xfrm>
          <a:prstGeom prst="rect">
            <a:avLst/>
          </a:prstGeom>
          <a:noFill/>
        </p:spPr>
        <p:txBody>
          <a:bodyPr wrap="square" anchor="ctr">
            <a:spAutoFit/>
          </a:bodyPr>
          <a:lstStyle/>
          <a:p>
            <a:r>
              <a:rPr sz="1200" b="0" i="1">
                <a:solidFill>
                  <a:srgbClr val="595959"/>
                </a:solidFill>
                <a:latin typeface="Arial"/>
              </a:rPr>
              <a:t>the platforms are more complete each time</a:t>
            </a:r>
          </a:p>
        </p:txBody>
      </p:sp>
      <p:sp>
        <p:nvSpPr>
          <p:cNvPr id="23" name="TextBox 22"/>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investment you make for one sector is, in large part, an investment for all.</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buying a one-sector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are building a national capability, of which the first sector is the foundation and the proof. The first sector carries more of the cost because it builds the shared muscle; every sector after it costs less.</a:t>
            </a:r>
          </a:p>
          <a:p>
            <a:pPr>
              <a:spcAft>
                <a:spcPts val="1200"/>
              </a:spcAft>
            </a:pPr>
            <a:r>
              <a:rPr sz="2000" b="0" i="0">
                <a:solidFill>
                  <a:srgbClr val="1A1A1A"/>
                </a:solidFill>
                <a:latin typeface="Arial"/>
              </a:rPr>
              <a:t>That is a stronger case to make, and an honest 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minister who funds this as one sector undersells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same phases, only the central record changes — and because the muscle is built once, every sector after the first is cheaper and faster.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 not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 from one sector to a national EA practice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the rollout accelerates instead of getting harder</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EA BOARD GOVERNS THE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education</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The opposite of a programme that gets harder under its own weight.</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the rollout — do not just launch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same board that reviews projects inside a sector governs the national pipeline: which sector comes next, what each must reuse, and where an exception is genuinely warranted.</a:t>
            </a:r>
          </a:p>
          <a:p>
            <a:pPr>
              <a:spcAft>
                <a:spcPts val="1200"/>
              </a:spcAft>
            </a:pPr>
            <a:r>
              <a:rPr sz="2000" b="0" i="0">
                <a:solidFill>
                  <a:srgbClr val="1A1A1A"/>
                </a:solidFill>
                <a:latin typeface="Arial"/>
              </a:rPr>
              <a:t>A rollout that is launched and left drifts back into fragmentation, one sector at a time.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governed rollout compounds into a single national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payments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Roll it out as a wave roadmap — one sector first to prove the pattern and build the shared platforms, then sectors one at a time, each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now say plainly</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Those two alone make a strong case. The third is what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real results today is different: once-only data sharing, a shared identity, a single record that follows a person across services.</a:t>
            </a:r>
          </a:p>
          <a:p>
            <a:pPr>
              <a:spcAft>
                <a:spcPts val="1200"/>
              </a:spcAft>
            </a:pPr>
            <a:r>
              <a:rPr sz="2000" b="0" i="0">
                <a:solidFill>
                  <a:srgbClr val="1A1A1A"/>
                </a:solidFill>
                <a:latin typeface="Arial"/>
              </a:rPr>
              <a:t>That work is not putting paper online. It is changing how the government operates.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And it cannot be done by the IT department alone, or the policy side alone.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Everything else in this knowledge product serves those two.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Useful then. Necessary now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In the era of digitising paper, an Enterprise Architecture was useful — a nice-to-have that made things tidier.</a:t>
            </a:r>
          </a:p>
          <a:p>
            <a:pPr>
              <a:spcAft>
                <a:spcPts val="1200"/>
              </a:spcAft>
            </a:pPr>
            <a:r>
              <a:rPr sz="2000" b="0" i="0">
                <a:solidFill>
                  <a:srgbClr val="1A1A1A"/>
                </a:solidFill>
                <a:latin typeface="Arial"/>
              </a:rPr>
              <a:t>In the era of redesigning how government works, it is necessary: without it, re-use does not happen, and the business and IT sides cannot have the conversation the redesign requires.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case is not that an EA would be a good idea. It is that the new work cannot be done well without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The closing case — proven, portable, and necessary now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