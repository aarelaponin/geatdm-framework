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6" r:id="rId18"/>
    <p:sldId id="2697" r:id="rId19"/>
    <p:sldId id="2698" r:id="rId20"/>
    <p:sldId id="2699" r:id="rId21"/>
    <p:sldId id="2700" r:id="rId22"/>
    <p:sldId id="2701" r:id="rId23"/>
    <p:sldId id="270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AI can save you days of drafting on EA work, and it can also lead you confidently into a wrong answer. The difference is entirely in how you use it. So before any of the plays, learn the ground rules that make them safe — the small set of habits that turn AI from a risk into a fast, reliable drafting partner.</a:t>
            </a:r>
          </a:p>
          <a:p/>
          <a:p>
            <a:r>
              <a:t>Retrieval prompt — ask before playing on: what is the difference between a safeguard that helps you and one that does nothing? Answer on the fourth slide.</a:t>
            </a:r>
          </a:p>
          <a:p/>
          <a:p>
            <a:r>
              <a:t>Production cue: this is the foundation video for the whole module. Every play that follows assumes the four-part prompt taught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rule. AI is a drafting partner, not an oracle. It produces a strong first draft of a gap analysis, a board terms of reference, a business case — in minutes instead of days. What it does not produce is a finding you can trust without checking. It will state a wrong section number, a plausible but invented figure, a confident claim with no basis, in exactly the same tone as a correct one. The draft is where your work starts, not where it ends. Treat every output as a hypothesis to verify, never a fact to forward.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shape of a good prompt. Every play in this module uses the same four parts. One — name the input you are pasting: below is my Discovery brief. Two — break the task into named outputs: score the capabilities, list the gaps, rank them. Three — state the exact output format you want: a four-row table plus three bullets. Four — add a safeguard line that names this prompt's specific risk. A prompt with these four parts gives you a usable artefact. A vague one — help me with my architecture — gives you vague mush.</a:t>
            </a:r>
          </a:p>
          <a:p/>
          <a:p>
            <a:r>
              <a:t>Production cue: the centrepiece slide of the module. The four parts are shown as one prompt block on the right, bracketed part by part. Reveal the four parts one at a time and hold the finished slide a beat longer — every later video refers back to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 that safeguard line — it is the most important part, and the easiest to get lazy about. A good safeguard names the specific way this specific prompt can mislead you. For a gap analysis: a severity judgement about a powerful ministry must be checked with the decision-maker, not softened by the model. For a comparator card: discard any country example where the cited source does not actually say what the prompt claims. The safeguard is not 'AI can make mistakes' — that helps no one. It is the one check that catches this play's particular trap.</a:t>
            </a:r>
          </a:p>
          <a:p/>
          <a:p>
            <a:r>
              <a:t>Production cue: this slide answers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rule that sits above all the others. You decide; the AI drafts. The AI can prepare the board paper, but the board rules. It can rank the gaps, but you defend the ranking. It can propose a sourcing call, but the architect and the EA Board own the decision. The moment you let the AI's output be the decision instead of the input to a decision, you have handed your judgement to a tool that has no accountability and cannot be questioned in a meeting. Use it to think faster, never to think less.</a:t>
            </a:r>
          </a:p>
          <a:p/>
          <a:p>
            <a:r>
              <a:t>Production cue: the pivotal slide of this video — the rule the whole module sits under.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these are the ground rules. AI is a drafting partner, not an oracle. Use the four-part prompt. Make the safeguard specific. And keep the decision yours. Hold to these, and the plays in this module save you days without leading you astray. Forget them, and AI becomes a fast way to be confidently wrong.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5.1. Content slides are identical to the corresponding section of the combined deck KP1_M5_Deck_v0.1.pptx;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5.1 — Use AI as a drafting partner, not an oracle — the ground rules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5 · Video 5.1</a:t>
            </a:r>
          </a:p>
          <a:p>
            <a:r>
              <a:rPr sz="1200" b="0" i="1">
                <a:solidFill>
                  <a:srgbClr val="595959"/>
                </a:solidFill>
                <a:latin typeface="Arial"/>
              </a:rPr>
              <a:t>AI is a fast drafting partner for EA work, not an oracle — it produces a strong first draft you verify, never a finding you trust. Learn the four-part prompt pattern and the one rule that makes every play safe: you decide, the AI drafts.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PLAYS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1 — Discovery and Assess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2 — the re-use business case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3 — minister and architects</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4 — the governance artefacts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Play 5 — comparators and transfer</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4-part prompt · 5 plays · 4 safeguards · you decide, the AI drafts</a:t>
            </a:r>
          </a:p>
        </p:txBody>
      </p:sp>
    </p:spTree>
    <p:extLst>
      <p:ext uri="{BB962C8B-B14F-4D97-AF65-F5344CB8AC3E}">
        <p14:creationId xmlns:p14="http://schemas.microsoft.com/office/powerpoint/2010/main" val="119680026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Use AI as a drafting partner, not an oracle — the ground rules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AI is a fast drafting partner for EA work, not an oracle — it produces a strong first draft you verify, never a finding you trust. Learn the four-part prompt pattern and the one rule that makes every play safe: you decide, the AI drafts.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It states a wrong figure in exactly the tone it states a right one</a:t>
            </a:r>
          </a:p>
        </p:txBody>
      </p:sp>
      <p:sp>
        <p:nvSpPr>
          <p:cNvPr id="4" name="TextBox 3"/>
          <p:cNvSpPr txBox="1"/>
          <p:nvPr/>
        </p:nvSpPr>
        <p:spPr>
          <a:xfrm>
            <a:off x="658368" y="1600200"/>
            <a:ext cx="10881360" cy="1673352"/>
          </a:xfrm>
          <a:prstGeom prst="rect">
            <a:avLst/>
          </a:prstGeom>
          <a:noFill/>
        </p:spPr>
        <p:txBody>
          <a:bodyPr wrap="square">
            <a:spAutoFit/>
          </a:bodyPr>
          <a:lstStyle/>
          <a:p>
            <a:pPr>
              <a:spcAft>
                <a:spcPts val="1200"/>
              </a:spcAft>
            </a:pPr>
            <a:r>
              <a:rPr sz="2000" b="0" i="0">
                <a:solidFill>
                  <a:srgbClr val="1A1A1A"/>
                </a:solidFill>
                <a:latin typeface="Arial"/>
              </a:rPr>
              <a:t>AI produces a strong first draft in minutes — a gap analysis, a terms of reference, a business case. What it does not produce is a finding you can trust without checking.</a:t>
            </a:r>
          </a:p>
          <a:p>
            <a:pPr>
              <a:spcAft>
                <a:spcPts val="1200"/>
              </a:spcAft>
            </a:pPr>
            <a:r>
              <a:rPr sz="2000" b="0" i="0">
                <a:solidFill>
                  <a:srgbClr val="1A1A1A"/>
                </a:solidFill>
                <a:latin typeface="Arial"/>
              </a:rPr>
              <a:t>A wrong section number, a plausible but invented figure, a confident claim with no basis — each arrives in exactly the same tone as a correct one.</a:t>
            </a:r>
          </a:p>
        </p:txBody>
      </p:sp>
      <p:sp>
        <p:nvSpPr>
          <p:cNvPr id="5" name="Rounded Rectangle 4"/>
          <p:cNvSpPr/>
          <p:nvPr/>
        </p:nvSpPr>
        <p:spPr>
          <a:xfrm>
            <a:off x="658368" y="3456432"/>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648456"/>
            <a:ext cx="10479024" cy="1051560"/>
          </a:xfrm>
          <a:prstGeom prst="rect">
            <a:avLst/>
          </a:prstGeom>
          <a:noFill/>
        </p:spPr>
        <p:txBody>
          <a:bodyPr wrap="square">
            <a:spAutoFit/>
          </a:bodyPr>
          <a:lstStyle/>
          <a:p>
            <a:pPr>
              <a:spcAft>
                <a:spcPts val="700"/>
              </a:spcAft>
            </a:pPr>
            <a:r>
              <a:rPr sz="2300" b="1" i="0">
                <a:solidFill>
                  <a:srgbClr val="006E96"/>
                </a:solidFill>
                <a:latin typeface="Arial"/>
              </a:rPr>
              <a:t>The draft is where your work starts, not where it ends.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play in this module uses the same four-part prompt</a:t>
            </a:r>
          </a:p>
        </p:txBody>
      </p:sp>
      <p:sp>
        <p:nvSpPr>
          <p:cNvPr id="4" name="Rounded Rectangle 3"/>
          <p:cNvSpPr/>
          <p:nvPr/>
        </p:nvSpPr>
        <p:spPr>
          <a:xfrm>
            <a:off x="5989320" y="1508760"/>
            <a:ext cx="5550408" cy="4114800"/>
          </a:xfrm>
          <a:prstGeom prst="roundRect">
            <a:avLst>
              <a:gd name="adj" fmla="val 3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0" y="1618488"/>
            <a:ext cx="5093208" cy="320040"/>
          </a:xfrm>
          <a:prstGeom prst="rect">
            <a:avLst/>
          </a:prstGeom>
          <a:noFill/>
        </p:spPr>
        <p:txBody>
          <a:bodyPr wrap="square">
            <a:spAutoFit/>
          </a:bodyPr>
          <a:lstStyle/>
          <a:p>
            <a:r>
              <a:rPr sz="1050" b="1" i="0">
                <a:solidFill>
                  <a:srgbClr val="595959"/>
                </a:solidFill>
                <a:latin typeface="Arial"/>
              </a:rPr>
              <a:t>THE PROMPT, AS PASTED</a:t>
            </a:r>
          </a:p>
        </p:txBody>
      </p:sp>
      <p:sp>
        <p:nvSpPr>
          <p:cNvPr id="6" name="Oval 5"/>
          <p:cNvSpPr/>
          <p:nvPr/>
        </p:nvSpPr>
        <p:spPr>
          <a:xfrm>
            <a:off x="658368" y="208483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7" name="TextBox 6"/>
          <p:cNvSpPr txBox="1"/>
          <p:nvPr/>
        </p:nvSpPr>
        <p:spPr>
          <a:xfrm>
            <a:off x="1115568" y="2011680"/>
            <a:ext cx="4480560" cy="811530"/>
          </a:xfrm>
          <a:prstGeom prst="rect">
            <a:avLst/>
          </a:prstGeom>
          <a:noFill/>
        </p:spPr>
        <p:txBody>
          <a:bodyPr wrap="square">
            <a:spAutoFit/>
          </a:bodyPr>
          <a:lstStyle/>
          <a:p>
            <a:r>
              <a:rPr sz="1600" b="1" i="0">
                <a:solidFill>
                  <a:srgbClr val="1A1A1A"/>
                </a:solidFill>
                <a:latin typeface="Arial"/>
              </a:rPr>
              <a:t>Name the input you are pasting.</a:t>
            </a:r>
          </a:p>
        </p:txBody>
      </p:sp>
      <p:sp>
        <p:nvSpPr>
          <p:cNvPr id="8" name="Rectangle 7"/>
          <p:cNvSpPr/>
          <p:nvPr/>
        </p:nvSpPr>
        <p:spPr>
          <a:xfrm>
            <a:off x="6099048" y="2103120"/>
            <a:ext cx="54864" cy="67437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0" y="2231136"/>
            <a:ext cx="274320" cy="1905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81928" y="2029968"/>
            <a:ext cx="5047488" cy="811530"/>
          </a:xfrm>
          <a:prstGeom prst="rect">
            <a:avLst/>
          </a:prstGeom>
          <a:noFill/>
        </p:spPr>
        <p:txBody>
          <a:bodyPr wrap="square">
            <a:spAutoFit/>
          </a:bodyPr>
          <a:lstStyle/>
          <a:p>
            <a:r>
              <a:rPr sz="1500" b="0" i="1">
                <a:solidFill>
                  <a:srgbClr val="1A1A1A"/>
                </a:solidFill>
                <a:latin typeface="Arial"/>
              </a:rPr>
              <a:t>"Below is my Discovery brief for the education sector."</a:t>
            </a:r>
          </a:p>
        </p:txBody>
      </p:sp>
      <p:sp>
        <p:nvSpPr>
          <p:cNvPr id="11" name="Rectangle 10"/>
          <p:cNvSpPr/>
          <p:nvPr/>
        </p:nvSpPr>
        <p:spPr>
          <a:xfrm>
            <a:off x="658368" y="2868930"/>
            <a:ext cx="49377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98780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13" name="TextBox 12"/>
          <p:cNvSpPr txBox="1"/>
          <p:nvPr/>
        </p:nvSpPr>
        <p:spPr>
          <a:xfrm>
            <a:off x="1115568" y="2914650"/>
            <a:ext cx="4480560" cy="811530"/>
          </a:xfrm>
          <a:prstGeom prst="rect">
            <a:avLst/>
          </a:prstGeom>
          <a:noFill/>
        </p:spPr>
        <p:txBody>
          <a:bodyPr wrap="square">
            <a:spAutoFit/>
          </a:bodyPr>
          <a:lstStyle/>
          <a:p>
            <a:r>
              <a:rPr sz="1600" b="1" i="0">
                <a:solidFill>
                  <a:srgbClr val="1A1A1A"/>
                </a:solidFill>
                <a:latin typeface="Arial"/>
              </a:rPr>
              <a:t>Break the task into named outputs.</a:t>
            </a:r>
          </a:p>
        </p:txBody>
      </p:sp>
      <p:sp>
        <p:nvSpPr>
          <p:cNvPr id="14" name="Rectangle 13"/>
          <p:cNvSpPr/>
          <p:nvPr/>
        </p:nvSpPr>
        <p:spPr>
          <a:xfrm>
            <a:off x="6099048" y="3006090"/>
            <a:ext cx="54864" cy="67437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0" y="3134106"/>
            <a:ext cx="274320" cy="1905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1928" y="2932938"/>
            <a:ext cx="5047488" cy="811530"/>
          </a:xfrm>
          <a:prstGeom prst="rect">
            <a:avLst/>
          </a:prstGeom>
          <a:noFill/>
        </p:spPr>
        <p:txBody>
          <a:bodyPr wrap="square">
            <a:spAutoFit/>
          </a:bodyPr>
          <a:lstStyle/>
          <a:p>
            <a:r>
              <a:rPr sz="1500" b="0" i="1">
                <a:solidFill>
                  <a:srgbClr val="1A1A1A"/>
                </a:solidFill>
                <a:latin typeface="Arial"/>
              </a:rPr>
              <a:t>"Score the capabilities, list the gaps, rank them."</a:t>
            </a:r>
          </a:p>
        </p:txBody>
      </p:sp>
      <p:sp>
        <p:nvSpPr>
          <p:cNvPr id="17" name="Rectangle 16"/>
          <p:cNvSpPr/>
          <p:nvPr/>
        </p:nvSpPr>
        <p:spPr>
          <a:xfrm>
            <a:off x="658368" y="3771900"/>
            <a:ext cx="49377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89077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9" name="TextBox 18"/>
          <p:cNvSpPr txBox="1"/>
          <p:nvPr/>
        </p:nvSpPr>
        <p:spPr>
          <a:xfrm>
            <a:off x="1115568" y="3817620"/>
            <a:ext cx="4480560" cy="811530"/>
          </a:xfrm>
          <a:prstGeom prst="rect">
            <a:avLst/>
          </a:prstGeom>
          <a:noFill/>
        </p:spPr>
        <p:txBody>
          <a:bodyPr wrap="square">
            <a:spAutoFit/>
          </a:bodyPr>
          <a:lstStyle/>
          <a:p>
            <a:r>
              <a:rPr sz="1600" b="1" i="0">
                <a:solidFill>
                  <a:srgbClr val="1A1A1A"/>
                </a:solidFill>
                <a:latin typeface="Arial"/>
              </a:rPr>
              <a:t>State the exact output format you want.</a:t>
            </a:r>
          </a:p>
        </p:txBody>
      </p:sp>
      <p:sp>
        <p:nvSpPr>
          <p:cNvPr id="20" name="Rectangle 19"/>
          <p:cNvSpPr/>
          <p:nvPr/>
        </p:nvSpPr>
        <p:spPr>
          <a:xfrm>
            <a:off x="6099048" y="3909060"/>
            <a:ext cx="54864" cy="67437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0" y="4037076"/>
            <a:ext cx="274320" cy="1905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81928" y="3835908"/>
            <a:ext cx="5047488" cy="811530"/>
          </a:xfrm>
          <a:prstGeom prst="rect">
            <a:avLst/>
          </a:prstGeom>
          <a:noFill/>
        </p:spPr>
        <p:txBody>
          <a:bodyPr wrap="square">
            <a:spAutoFit/>
          </a:bodyPr>
          <a:lstStyle/>
          <a:p>
            <a:r>
              <a:rPr sz="1500" b="0" i="1">
                <a:solidFill>
                  <a:srgbClr val="1A1A1A"/>
                </a:solidFill>
                <a:latin typeface="Arial"/>
              </a:rPr>
              <a:t>"A four-row table plus three bullets."</a:t>
            </a:r>
          </a:p>
        </p:txBody>
      </p:sp>
      <p:sp>
        <p:nvSpPr>
          <p:cNvPr id="23" name="Rectangle 22"/>
          <p:cNvSpPr/>
          <p:nvPr/>
        </p:nvSpPr>
        <p:spPr>
          <a:xfrm>
            <a:off x="658368" y="4674870"/>
            <a:ext cx="49377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79374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25" name="TextBox 24"/>
          <p:cNvSpPr txBox="1"/>
          <p:nvPr/>
        </p:nvSpPr>
        <p:spPr>
          <a:xfrm>
            <a:off x="1115568" y="4720590"/>
            <a:ext cx="4480560" cy="811530"/>
          </a:xfrm>
          <a:prstGeom prst="rect">
            <a:avLst/>
          </a:prstGeom>
          <a:noFill/>
        </p:spPr>
        <p:txBody>
          <a:bodyPr wrap="square">
            <a:spAutoFit/>
          </a:bodyPr>
          <a:lstStyle/>
          <a:p>
            <a:r>
              <a:rPr sz="1600" b="1" i="0">
                <a:solidFill>
                  <a:srgbClr val="1A1A1A"/>
                </a:solidFill>
                <a:latin typeface="Arial"/>
              </a:rPr>
              <a:t>Add a safeguard line for this prompt's specific risk.</a:t>
            </a:r>
          </a:p>
        </p:txBody>
      </p:sp>
      <p:sp>
        <p:nvSpPr>
          <p:cNvPr id="26" name="Rectangle 25"/>
          <p:cNvSpPr/>
          <p:nvPr/>
        </p:nvSpPr>
        <p:spPr>
          <a:xfrm>
            <a:off x="6099048" y="4812030"/>
            <a:ext cx="54864" cy="67437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0" y="4940046"/>
            <a:ext cx="274320" cy="1905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81928" y="4738878"/>
            <a:ext cx="5047488" cy="811530"/>
          </a:xfrm>
          <a:prstGeom prst="rect">
            <a:avLst/>
          </a:prstGeom>
          <a:noFill/>
        </p:spPr>
        <p:txBody>
          <a:bodyPr wrap="square">
            <a:spAutoFit/>
          </a:bodyPr>
          <a:lstStyle/>
          <a:p>
            <a:r>
              <a:rPr sz="1500" b="0" i="1">
                <a:solidFill>
                  <a:srgbClr val="1A1A1A"/>
                </a:solidFill>
                <a:latin typeface="Arial"/>
              </a:rPr>
              <a:t>"Flag any gap involving a politically powerful body."</a:t>
            </a:r>
          </a:p>
        </p:txBody>
      </p:sp>
      <p:sp>
        <p:nvSpPr>
          <p:cNvPr id="29" name="TextBox 28"/>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Four parts gives you a usable artefact. "Help me with my architecture" gives you mush.</a:t>
            </a:r>
          </a:p>
        </p:txBody>
      </p:sp>
      <p:sp>
        <p:nvSpPr>
          <p:cNvPr id="30" name="TextBox 2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good safeguard names how THIS prompt can mislead you</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FOR A GAP ANALYSIS</a:t>
            </a:r>
          </a:p>
          <a:p>
            <a:pPr>
              <a:spcAft>
                <a:spcPts val="700"/>
              </a:spcAft>
            </a:pPr>
            <a:r>
              <a:rPr sz="1600" b="0" i="0">
                <a:solidFill>
                  <a:srgbClr val="1A1A1A"/>
                </a:solidFill>
                <a:latin typeface="Arial"/>
              </a:rPr>
              <a:t>A severity judgement about a powerful ministry must be checked with the decision-maker.</a:t>
            </a:r>
          </a:p>
          <a:p>
            <a:pPr>
              <a:spcAft>
                <a:spcPts val="700"/>
              </a:spcAft>
            </a:pPr>
            <a:r>
              <a:rPr sz="1600" b="0" i="0">
                <a:solidFill>
                  <a:srgbClr val="1A1A1A"/>
                </a:solidFill>
                <a:latin typeface="Arial"/>
              </a:rPr>
              <a:t>Not softened by the model.</a:t>
            </a:r>
          </a:p>
          <a:p>
            <a:pPr>
              <a:spcAft>
                <a:spcPts val="700"/>
              </a:spcAft>
            </a:pPr>
            <a:r>
              <a:rPr sz="1600" b="0" i="0">
                <a:solidFill>
                  <a:srgbClr val="1A1A1A"/>
                </a:solidFill>
                <a:latin typeface="Arial"/>
              </a:rPr>
              <a:t>The trap here is a model being diplomatic about power.</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FOR A COMPARATOR CARD</a:t>
            </a:r>
          </a:p>
          <a:p>
            <a:pPr>
              <a:spcAft>
                <a:spcPts val="700"/>
              </a:spcAft>
            </a:pPr>
            <a:r>
              <a:rPr sz="1600" b="0" i="0">
                <a:solidFill>
                  <a:srgbClr val="1A1A1A"/>
                </a:solidFill>
                <a:latin typeface="Arial"/>
              </a:rPr>
              <a:t>Discard any country example where the cited source does not actually say what the prompt claims.</a:t>
            </a:r>
          </a:p>
          <a:p>
            <a:pPr>
              <a:spcAft>
                <a:spcPts val="700"/>
              </a:spcAft>
            </a:pPr>
            <a:r>
              <a:rPr sz="1600" b="0" i="0">
                <a:solidFill>
                  <a:srgbClr val="1A1A1A"/>
                </a:solidFill>
                <a:latin typeface="Arial"/>
              </a:rPr>
              <a:t>Discard the claim, not just the citation.</a:t>
            </a:r>
          </a:p>
          <a:p>
            <a:pPr>
              <a:spcAft>
                <a:spcPts val="700"/>
              </a:spcAft>
            </a:pPr>
            <a:r>
              <a:rPr sz="1600" b="0" i="0">
                <a:solidFill>
                  <a:srgbClr val="1A1A1A"/>
                </a:solidFill>
                <a:latin typeface="Arial"/>
              </a:rPr>
              <a:t>The trap here is a fluent, invented source.</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Not "AI can make mistakes" — that helps no 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decide; the AI drafts</a:t>
            </a:r>
          </a:p>
        </p:txBody>
      </p:sp>
      <p:sp>
        <p:nvSpPr>
          <p:cNvPr id="4" name="TextBox 3"/>
          <p:cNvSpPr txBox="1"/>
          <p:nvPr/>
        </p:nvSpPr>
        <p:spPr>
          <a:xfrm>
            <a:off x="658368" y="1600200"/>
            <a:ext cx="10881360" cy="1984248"/>
          </a:xfrm>
          <a:prstGeom prst="rect">
            <a:avLst/>
          </a:prstGeom>
          <a:noFill/>
        </p:spPr>
        <p:txBody>
          <a:bodyPr wrap="square">
            <a:spAutoFit/>
          </a:bodyPr>
          <a:lstStyle/>
          <a:p>
            <a:pPr>
              <a:spcAft>
                <a:spcPts val="1200"/>
              </a:spcAft>
            </a:pPr>
            <a:r>
              <a:rPr sz="2000" b="0" i="0">
                <a:solidFill>
                  <a:srgbClr val="1A1A1A"/>
                </a:solidFill>
                <a:latin typeface="Arial"/>
              </a:rPr>
              <a:t>The AI prepares the Board paper; the Board rules. It ranks the gaps; you defend the ranking. It proposes a sourcing call; the architect and the EA Board own the decision.</a:t>
            </a:r>
          </a:p>
          <a:p>
            <a:pPr>
              <a:spcAft>
                <a:spcPts val="1200"/>
              </a:spcAft>
            </a:pPr>
            <a:r>
              <a:rPr sz="2000" b="0" i="0">
                <a:solidFill>
                  <a:srgbClr val="1A1A1A"/>
                </a:solidFill>
                <a:latin typeface="Arial"/>
              </a:rPr>
              <a:t>The moment the output becomes the decision instead of the input to one, you have handed your judgement to a tool with no accountability, that cannot be questioned in a meeting.</a:t>
            </a:r>
          </a:p>
        </p:txBody>
      </p:sp>
      <p:sp>
        <p:nvSpPr>
          <p:cNvPr id="5" name="Rounded Rectangle 4"/>
          <p:cNvSpPr/>
          <p:nvPr/>
        </p:nvSpPr>
        <p:spPr>
          <a:xfrm>
            <a:off x="658368" y="3767328"/>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959352"/>
            <a:ext cx="10479024" cy="1051560"/>
          </a:xfrm>
          <a:prstGeom prst="rect">
            <a:avLst/>
          </a:prstGeom>
          <a:noFill/>
        </p:spPr>
        <p:txBody>
          <a:bodyPr wrap="square">
            <a:spAutoFit/>
          </a:bodyPr>
          <a:lstStyle/>
          <a:p>
            <a:pPr>
              <a:spcAft>
                <a:spcPts val="700"/>
              </a:spcAft>
            </a:pPr>
            <a:r>
              <a:rPr sz="2300" b="1" i="0">
                <a:solidFill>
                  <a:srgbClr val="006E96"/>
                </a:solidFill>
                <a:latin typeface="Arial"/>
              </a:rPr>
              <a:t>Use it to think faster, never to think less.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AI is a fast drafting partner for EA work, not an oracle — use the four-part prompt, write a specific safeguard, and remember: you decide, the AI drafts.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ITU Knowledge Products contract Terms of Reference — §4.3 (AI integration)</a:t>
            </a:r>
          </a:p>
          <a:p>
            <a:pPr>
              <a:spcAft>
                <a:spcPts val="1200"/>
              </a:spcAft>
            </a:pPr>
            <a:r>
              <a:rPr sz="1700" b="0" i="0">
                <a:solidFill>
                  <a:srgbClr val="1A1A1A"/>
                </a:solidFill>
                <a:latin typeface="Arial"/>
              </a:rPr>
              <a:t>•  GovStack knowledge base — govstack.global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