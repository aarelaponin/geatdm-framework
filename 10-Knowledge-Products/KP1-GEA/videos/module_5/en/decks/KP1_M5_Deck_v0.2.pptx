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consumes what wave one built. The health sector uses the identity platform and the data-exchange backbone that already exist. Its run of the method is lighter, because the team, the framework and the governance are in place. It delivers faster and costs less, and every sector that joins makes the next one easier still. That is why the expensive part is building the muscle once. But it only compounds if you govern it. The same board that reviews projects inside a sector governs the national pipeline: which sector comes next, what each must reuse, where an exception is genuinely warranted. A rollout that is launched and left drifts back into fragmentation, one sector at a time.</a:t>
            </a:r>
          </a:p>
          <a:p/>
          <a:p>
            <a:r>
              <a:t>Production cue: the pivotal slide of this video — the compounding and the governance on one page. Hold it a beat longer. On screen: a wave roadmap — each wave a smaller block than the last, the platform bar beneath growing, the Board bar across the top. Reveal the waves left to right; the Board bar is already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roll it out in waves. Wave one is one sector, done well. Pick the sector with a clear flagship the minister cares about — the single learner record, the single patient record — and run the full method there, end to end. But notice what wave one really builds: not just that sector's architecture, but the national foundations. The permanent team. The governance board. The first shared platforms,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commit your agency, you are right to ask: is this proven, or a consultant's theory? The honest answer is that the core of it has already been done — in countries large and small, unitary and federal, well-resourced and not.</a:t>
            </a:r>
          </a:p>
          <a:p/>
          <a:p>
            <a:r>
              <a:t>On screen: the four countries appear as plain typography only — no flags, no national emblems, no agency logos. They are public examples cited to public sources, never the team's own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when someone asks whether this is proven, you have an answer: four governments, four shapes, one recurring pattern, with the failures as documented as the successes. Not theory — a charted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the evidence shows what works, it also shows why programmes fail — and the failures are almost never technical. What works is known: a protected team, a framework agencies adopt, governance that can say no, funding sustained for years. The killers are the harder half.</a:t>
            </a:r>
          </a:p>
          <a:p/>
          <a:p>
            <a:r>
              <a:t>Retrieval prompt — ask before playing on: name the ways a programme like this dies. Are any of them technical? Answer on the next two slides.</a:t>
            </a:r>
          </a:p>
          <a:p/>
          <a:p>
            <a:r>
              <a:t>The four success factors are named in this opener only; the v0.2 script gives them no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evidence gives you two lists: what to build in, and the four organisational failures to design out.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Suppose you want this beyond one sector. Two questions follow: does the method travel, and how do you roll it out without trying to do everything at once? The answers are linked — and the second sector is cheaper than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Most of the method does not change. The five phases, the four sign-offs, the six deliverables, the reuse-before-build default, the binding governance board — none of that is specific to one sector. What changes is only the record at the centre of the fragmentation. In education it is the learner. In health it is the patient. In agriculture the farmer; in social protection the beneficiary. Different domain, identical shape — registered several times, re-entered on paper, blocking a flagship the minister has promised. The problem rhymes across sectors because the cause is the same: no shared plan. Which means you are not buying a one-sector tool. You are building a national capability, of which the first sector is the foundation and the proof.</a:t>
            </a:r>
          </a:p>
          <a:p/>
          <a:p>
            <a:r>
              <a:t>On screen: health, agriculture and social protection are named as sectors the method transfers to — this is the ToR §4.4 portability statement, not a set of worked examples.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~3–5 minute video. This is the capstone, and the first topic since Module 1 to address the Strategist rather than the Architect — the director-general, the head of a sectoral ICT unit, the technical secretary who commissions the work and makes the case to the minister. It answers the three questions asked before committing: is it proven, does it travel and how do I roll it out, and how do I win the commitment and build the team.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and 5.2 are the evidence — what four governments built, and what makes these programmes live or die. 5.3 is the portability case and the wave rollout in one. 5.4 and 5.5 are the commitment and the capability. 5.6 puts the whole case in one piece.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report the national picture upward, on one page, every quarter. How many sectors are live. The re-use rate across them. Which shared platforms are in place. This shows the minister a national capability actually growing — which is what sustains funding across a change of government — and it lets you see early if a sector is drifting from the shared foundation, while correction is still cheap.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method travels, and the rollout is a wave roadmap: one sector to build the foundations, then sectors one at a time, each cheaper than the last, governed into a single national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step is getting your minister to commit the team, the mandate and the money. Ministers do not commit to architecture; they commit to numbers and to cases they can defend in cabinet. So bring three things: the saving, the proof, the honest cost.</a:t>
            </a:r>
          </a:p>
          <a:p/>
          <a:p>
            <a:r>
              <a:t>Retrieval prompt — ask before playing on: of everything in your case, what does a minister actually act on? Answer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Winning the commitment is not an architecture conversation. It is a one-page business case: the saving, the proof, the ask, the honest horizon. Bring that, and your minister can say yes and defend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worry that stops strategists committing is capability: do we have the people, and can we afford to train them? You do not have to build the knowledge from scratch. The method, the framework and the training materials already exist as open knowledge products.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capability is not the barrier it appears to be. The knowledge is documented, open and taught. Use it to grow your own architects,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Bring it all together into the case you carry into the room. It reduces to three sentences a minister can hold: this is proven, it is portable, and it is necessary now. Underneath those sit the two reasons an Enterprise Architecture exists at all.</a:t>
            </a:r>
          </a:p>
          <a:p/>
          <a:p>
            <a:r>
              <a:t>Production cue: the closing video of the module and of KP1.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results today is different: once-only data sharing, a shared identity, a single record that follows a person across services. That is not putting paper online. It is changing how the government operates, and it cannot be done by the IT department alone, or by the policy side alone. Useful then; necessary now.</a:t>
            </a:r>
          </a:p>
          <a:p/>
          <a:p>
            <a:r>
              <a:t>Production cue: the era-shift argument, told once and in about eighty words; the punch line is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 the two ideas to carry out of this whole knowledge product. First: re-use. Inside any project, building your own is cheaper than reusing,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a:t>
            </a:r>
          </a:p>
          <a:p/>
          <a:p>
            <a:r>
              <a:t>Production cue: the pivotal slide of this video — both structural arguments as the closing synthesis.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that is the case, whole. Proven, portable, and necessary now — held together by the two reasons an EA exists: it makes re-use possible, and it gives business and IT a shared language.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The case for a national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5</a:t>
            </a:r>
          </a:p>
          <a:p>
            <a:r>
              <a:rPr sz="1400" b="0" i="0">
                <a:solidFill>
                  <a:srgbClr val="595959"/>
                </a:solidFill>
                <a:latin typeface="Arial"/>
              </a:rPr>
              <a:t>Six standalone videos for the person who commissions the architecture and makes the case upward: the evidence from four real governments, what quietly kills these programmes, the wave rollout across sectors and why the second is cheaper, the business case that wins a minister's commitment, building capability from open knowledge products — and the whole case in one piece.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~23 mins across 6 videos (5.1 – 5.6)</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Is this proven? Evidence from real programmes</a:t>
            </a:r>
            <a:r>
              <a:rPr sz="1200" b="0" i="0">
                <a:solidFill>
                  <a:srgbClr val="595959"/>
                </a:solidFill>
                <a:latin typeface="Arial"/>
              </a:rPr>
              <a:t>   ~4 min</a:t>
            </a:r>
          </a:p>
          <a:p>
            <a:pPr algn="l">
              <a:spcAft>
                <a:spcPts val="900"/>
              </a:spcAft>
            </a:pPr>
            <a:r>
              <a:rPr sz="1500" b="1" i="0">
                <a:solidFill>
                  <a:srgbClr val="1A1A1A"/>
                </a:solidFill>
                <a:latin typeface="Arial"/>
              </a:rPr>
              <a:t>5.2  What works, and what quietly kills them</a:t>
            </a:r>
            <a:r>
              <a:rPr sz="1200" b="0" i="0">
                <a:solidFill>
                  <a:srgbClr val="595959"/>
                </a:solidFill>
                <a:latin typeface="Arial"/>
              </a:rPr>
              <a:t>   ~3 min</a:t>
            </a:r>
          </a:p>
          <a:p>
            <a:pPr algn="l">
              <a:spcAft>
                <a:spcPts val="900"/>
              </a:spcAft>
            </a:pPr>
            <a:r>
              <a:rPr sz="1500" b="1" i="0">
                <a:solidFill>
                  <a:srgbClr val="1A1A1A"/>
                </a:solidFill>
                <a:latin typeface="Arial"/>
              </a:rPr>
              <a:t>5.3  Roll it out across sectors — the second is cheaper</a:t>
            </a:r>
            <a:r>
              <a:rPr sz="1200" b="0" i="0">
                <a:solidFill>
                  <a:srgbClr val="595959"/>
                </a:solidFill>
                <a:latin typeface="Arial"/>
              </a:rPr>
              <a:t>   ~5 min</a:t>
            </a:r>
          </a:p>
          <a:p>
            <a:pPr algn="l">
              <a:spcAft>
                <a:spcPts val="900"/>
              </a:spcAft>
            </a:pPr>
            <a:r>
              <a:rPr sz="1500" b="1" i="0">
                <a:solidFill>
                  <a:srgbClr val="1A1A1A"/>
                </a:solidFill>
                <a:latin typeface="Arial"/>
              </a:rPr>
              <a:t>5.4  Win the commitment — the business case</a:t>
            </a:r>
            <a:r>
              <a:rPr sz="1200" b="0" i="0">
                <a:solidFill>
                  <a:srgbClr val="595959"/>
                </a:solidFill>
                <a:latin typeface="Arial"/>
              </a:rPr>
              <a:t>   ~4 min</a:t>
            </a:r>
          </a:p>
          <a:p>
            <a:pPr algn="l">
              <a:spcAft>
                <a:spcPts val="900"/>
              </a:spcAft>
            </a:pPr>
            <a:r>
              <a:rPr sz="1500" b="1" i="0">
                <a:solidFill>
                  <a:srgbClr val="1A1A1A"/>
                </a:solidFill>
                <a:latin typeface="Arial"/>
              </a:rPr>
              <a:t>5.5  Build capability with open knowledge products</a:t>
            </a:r>
            <a:r>
              <a:rPr sz="1200" b="0" i="0">
                <a:solidFill>
                  <a:srgbClr val="595959"/>
                </a:solidFill>
                <a:latin typeface="Arial"/>
              </a:rPr>
              <a:t>   ~4 min</a:t>
            </a:r>
          </a:p>
          <a:p>
            <a:pPr algn="l">
              <a:spcAft>
                <a:spcPts val="900"/>
              </a:spcAft>
            </a:pPr>
            <a:r>
              <a:rPr sz="1500" b="1" i="0">
                <a:solidFill>
                  <a:srgbClr val="1A1A1A"/>
                </a:solidFill>
                <a:latin typeface="Arial"/>
              </a:rPr>
              <a:t>5.6  The closing case — proven, portable, necessary</a:t>
            </a:r>
            <a:r>
              <a:rPr sz="1200" b="0" i="0">
                <a:solidFill>
                  <a:srgbClr val="595959"/>
                </a:solidFill>
                <a:latin typeface="Arial"/>
              </a:rPr>
              <a:t>   ~3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Three questions decide whether this happens: is it proven, does it travel, and can I win the commitment and roll it out?</a:t>
            </a:r>
          </a:p>
          <a:p>
            <a:pPr>
              <a:spcAft>
                <a:spcPts val="1000"/>
              </a:spcAft>
            </a:pPr>
            <a:r>
              <a:rPr sz="1900" b="0" i="1">
                <a:solidFill>
                  <a:srgbClr val="1A1A1A"/>
                </a:solidFill>
                <a:latin typeface="Arial"/>
              </a:rPr>
              <a:t>This module answers all three — with the evidence, the numbers and the honest timeline — so you can make the case upward and defend it afterwards.</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Is this proven, or a consultant’s theory?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are right to ask before you commit your agency.</a:t>
            </a:r>
          </a:p>
          <a:p>
            <a:pPr>
              <a:spcAft>
                <a:spcPts val="800"/>
              </a:spcAft>
            </a:pPr>
            <a:r>
              <a:rPr sz="1700" b="0" i="0">
                <a:solidFill>
                  <a:srgbClr val="595959"/>
                </a:solidFill>
                <a:latin typeface="Arial"/>
              </a:rPr>
              <a:t>The core of it has already been done — in countries large and small, unitary and federal, well-resourced and not.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comparator-country evidence tuned to your context.</a:t>
            </a:r>
          </a:p>
          <a:p>
            <a:pPr algn="l">
              <a:spcAft>
                <a:spcPts val="400"/>
              </a:spcAft>
            </a:pPr>
            <a:r>
              <a:rPr sz="1800" b="0" i="0">
                <a:solidFill>
                  <a:srgbClr val="595959"/>
                </a:solidFill>
                <a:latin typeface="Arial"/>
              </a:rPr>
              <a:t>The prompt in the companion material gives you comparator cards with cited sources.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What works is known. The killers are the harder half.</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protected team. A framework agencies adopt. Governance that can say no. Funding sustained for years.</a:t>
            </a:r>
          </a:p>
          <a:p>
            <a:pPr>
              <a:spcAft>
                <a:spcPts val="800"/>
              </a:spcAft>
            </a:pPr>
            <a:r>
              <a:rPr sz="1700" b="0" i="0">
                <a:solidFill>
                  <a:srgbClr val="595959"/>
                </a:solidFill>
                <a:latin typeface="Arial"/>
              </a:rPr>
              <a:t>The failures are almost never technical.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programme's sustainment risk register.</a:t>
            </a:r>
          </a:p>
          <a:p>
            <a:pPr algn="l">
              <a:spcAft>
                <a:spcPts val="400"/>
              </a:spcAft>
            </a:pPr>
            <a:r>
              <a:rPr sz="1800" b="0" i="0">
                <a:solidFill>
                  <a:srgbClr val="595959"/>
                </a:solidFill>
                <a:latin typeface="Arial"/>
              </a:rPr>
              <a:t>The prompt in the companion material gives you a four-row sustainment risk register plus early-warning signals.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What the evidence says works — and what quietly kills these programmes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across sectors — and why the second is cheaper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sector-agnostic — only the record at the centre changes — so roll it out as a wave roadmap: one sector first to build the shared platforms, then sectors one at a time, each cheaper than the last, governed into a single national architecture.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Beyond one sector: does the method travel, and how do you roll it out?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Two questions, and the answers are linked.</a:t>
            </a:r>
          </a:p>
          <a:p>
            <a:pPr>
              <a:spcAft>
                <a:spcPts val="800"/>
              </a:spcAft>
            </a:pPr>
            <a:r>
              <a:rPr sz="1700" b="0" i="0">
                <a:solidFill>
                  <a:srgbClr val="595959"/>
                </a:solidFill>
                <a:latin typeface="Arial"/>
              </a:rPr>
              <a:t>The second sector is cheaper than the first.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 only the record at the centre does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reuse-before-build, the binding board — none of it is sector-specific.</a:t>
            </a:r>
          </a:p>
          <a:p>
            <a:pPr>
              <a:spcAft>
                <a:spcPts val="1200"/>
              </a:spcAft>
            </a:pPr>
            <a:r>
              <a:rPr sz="2000" b="0" i="0">
                <a:solidFill>
                  <a:srgbClr val="1A1A1A"/>
                </a:solidFill>
                <a:latin typeface="Arial"/>
              </a:rPr>
              <a:t>Only the record at the centre changes: a learner, a patient, a farmer, a beneficiary. Different domain, identical shape — registered several times, re-entered on paper, blocking a flagship the minister has promised.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portability statement, not worked examples — each sector still needs its own discovery on the ground.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each sector is cheaper — if the same board governs the pipeline</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SAME BOARD GOVERNS THE NATIONAL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the foundation sector</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framework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Launched and left, a rollout drifts back into fragmentation. Governed, it compounds.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only the central record changes — so roll it out in waves, each sector after the first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national rollout into waves.</a:t>
            </a:r>
          </a:p>
          <a:p>
            <a:pPr algn="l">
              <a:spcAft>
                <a:spcPts val="400"/>
              </a:spcAft>
            </a:pPr>
            <a:r>
              <a:rPr sz="1800" b="0" i="0">
                <a:solidFill>
                  <a:srgbClr val="595959"/>
                </a:solidFill>
                <a:latin typeface="Arial"/>
              </a:rPr>
              <a:t>The prompt in the companion material gives you a national wave sequence with per-wave reuse.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Roll it out across sectors — and why the second is cheaper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Ministers do not commit to architecture. They commit to numbers.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hardest step is getting the team, the mandate and the money.</a:t>
            </a:r>
          </a:p>
          <a:p>
            <a:pPr>
              <a:spcAft>
                <a:spcPts val="800"/>
              </a:spcAft>
            </a:pPr>
            <a:r>
              <a:rPr sz="1700" b="0" i="0">
                <a:solidFill>
                  <a:srgbClr val="595959"/>
                </a:solidFill>
                <a:latin typeface="Arial"/>
              </a:rPr>
              <a:t>Bring three things: the saving, the proof, the honest cost.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one-page ministerial business case.</a:t>
            </a:r>
          </a:p>
          <a:p>
            <a:pPr algn="l">
              <a:spcAft>
                <a:spcPts val="400"/>
              </a:spcAft>
            </a:pPr>
            <a:r>
              <a:rPr sz="1800" b="0" i="0">
                <a:solidFill>
                  <a:srgbClr val="595959"/>
                </a:solidFill>
                <a:latin typeface="Arial"/>
              </a:rPr>
              <a:t>The prompt in the companion material gives you a one-page ministerial business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Win the commitment — the business case that gets your minister to yes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don't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Do we have the people — and can we afford to train them?</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 do not have to build the knowledge from scratch.</a:t>
            </a:r>
          </a:p>
          <a:p>
            <a:pPr>
              <a:spcAft>
                <a:spcPts val="800"/>
              </a:spcAft>
            </a:pPr>
            <a:r>
              <a:rPr sz="1700" b="0" i="0">
                <a:solidFill>
                  <a:srgbClr val="595959"/>
                </a:solidFill>
                <a:latin typeface="Arial"/>
              </a:rPr>
              <a:t>The method, the framework and the training materials already exist as open knowledge products.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team's capability-building plan.</a:t>
            </a:r>
          </a:p>
          <a:p>
            <a:pPr algn="l">
              <a:spcAft>
                <a:spcPts val="400"/>
              </a:spcAft>
            </a:pPr>
            <a:r>
              <a:rPr sz="1800" b="0" i="0">
                <a:solidFill>
                  <a:srgbClr val="595959"/>
                </a:solidFill>
                <a:latin typeface="Arial"/>
              </a:rPr>
              <a:t>The prompt in the companion material gives you a learning sequence, the three layers to use, what to fund, and how to retain the capability.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Build your team's capability with open knowledge products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sentences a minister can hold.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This is proven. It is portable. It is necessary now.</a:t>
            </a:r>
          </a:p>
          <a:p>
            <a:pPr>
              <a:spcAft>
                <a:spcPts val="800"/>
              </a:spcAft>
            </a:pPr>
            <a:r>
              <a:rPr sz="1700" b="0" i="0">
                <a:solidFill>
                  <a:srgbClr val="595959"/>
                </a:solidFill>
                <a:latin typeface="Arial"/>
              </a:rPr>
              <a:t>Underneath those sit the two reasons an Enterprise Architecture exists at all.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say plainly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 — the muscle is built once.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third is the one that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today is different: once-only data sharing, a shared identity, a single record that follows a person across services.</a:t>
            </a:r>
          </a:p>
          <a:p>
            <a:pPr>
              <a:spcAft>
                <a:spcPts val="1200"/>
              </a:spcAft>
            </a:pPr>
            <a:r>
              <a:rPr sz="2000" b="0" i="0">
                <a:solidFill>
                  <a:srgbClr val="1A1A1A"/>
                </a:solidFill>
                <a:latin typeface="Arial"/>
              </a:rPr>
              <a:t>That is not putting paper online. It is changing how the government operates — and it cannot be done by the IT department alone, or the policy side alone.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Useful then. Necessary now.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two ideas to carry out of this whole knowledge product.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closing one-page case for the minister.</a:t>
            </a:r>
          </a:p>
          <a:p>
            <a:pPr algn="l">
              <a:spcAft>
                <a:spcPts val="400"/>
              </a:spcAft>
            </a:pPr>
            <a:r>
              <a:rPr sz="1800" b="0" i="0">
                <a:solidFill>
                  <a:srgbClr val="595959"/>
                </a:solidFill>
                <a:latin typeface="Arial"/>
              </a:rPr>
              <a:t>The prompt in the companion material gives you a one-page closing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