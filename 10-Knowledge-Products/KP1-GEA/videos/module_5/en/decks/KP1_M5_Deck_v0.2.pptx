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From wave two, each new sector consumes what wave one built. The health sector uses the identity platform and the data-exchange backbone that already exist. Its run of the method is lighter, because the team, the framework and the governance are in place. It delivers faster and costs less, and every sector that joins makes the next one easier still. That is why the expensive part is building the muscle once. But it only compounds if you govern it. The same board that reviews projects inside a sector governs the national pipeline: which sector comes next, what each must reuse, where an exception is genuinely warranted. A rollout that is launched and left drifts back into fragmentation, one sector at a time.</a:t>
            </a:r>
          </a:p>
          <a:p/>
          <a:p>
            <a:r>
              <a:t>Production cue: the pivotal slide of this video — the compounding and the governance on one page. Hold it a beat longer. On screen: a wave roadmap — each wave a smaller block than the last, the platform bar beneath growing, the Board bar across the top. Reveal the waves left to right; the Board bar is already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roll it out in waves. Wave one is one sector, done well. Pick the sector with a clear flagship the minister cares about — the single learner record, the single patient record — and run the full method there, end to end. But notice what wave one really builds: not just that sector's architecture, but the national foundations. The permanent team. The governance board. The first shared platforms, identity and data exchange. Wave one looks like one sector. It is actually the foundation the whole rollout stands on.</a:t>
            </a:r>
          </a:p>
          <a:p/>
          <a:p>
            <a:r>
              <a:t>On screen: the sector block standing on a wider foundation block — reveal the base on 'but notice what wave one really builds'.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Before you commit your agency, you are right to ask: is this proven, or a consultant's theory? The honest answer is that the core of it has already been done — in countries large and small, unitary and federal, well-resourced and not.</a:t>
            </a:r>
          </a:p>
          <a:p/>
          <a:p>
            <a:r>
              <a:t>On screen: the four countries appear as plain typography only — no flags, no national emblems, no agency logos. They are public examples cited to public sources, never the team's own engagements.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signposts, deliberately different. Rwanda — a small country with a strong centre, one citizen-services platform, a national identity linked across services. Kenya — physical one-stop centres and a unifying identity programme, with results that are mixed and openly debated. South Africa — a federal state where no architecture can be imposed from the top, coordinated instead through a central agency and shared standards. And Estonia — a mature reference, distributed registries, the once-only principle, almost every service online. Four governments that could hardly be more different in size, resources and shape.</a:t>
            </a:r>
          </a:p>
          <a:p/>
          <a:p>
            <a:r>
              <a:t>Production cue: the first half of the module's centrepiece. Hold it a beat longer — the next slide is what turns these four into 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makes them evidence is not that they are all the same — they are not — but that the same architectural elements show in every one. A small central team with real authority. A published framework that other agencies adopt rather than fight. A governance mechanism that is binding, not advisory. And a time horizon measured in years for full maturity, with intermediate results visible inside months. Four contexts, one recurring pattern. That recurrence is what tells you the pattern is real, not local luck.</a:t>
            </a:r>
          </a:p>
          <a:p/>
          <a:p>
            <a:r>
              <a:t>Production cue: the centrepiece slide of the module. Reveal the four rows one at a time; the closing line is the whole argument of this video.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be honest about the mixed results, because that honesty is what makes the evidence trustworthy. Kenya's identity programme met real obstacles — in the courts, in parliament, in implementation — and the debate is public and documented. That is not a reason to dismiss the approach; it is part of the evidence. The programmes that struggled struggled for reasons you can learn from, and the reasons are remarkably consistent. The evidence is not a brochure of successes. It is a record of what works and what does not, which is far more useful to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this means for your agency is simple and freeing. You are not the first. The path is charted, the common elements are known, and so are the common ways programmes fail. You are not being asked to invent an approach and hope it works. You are being asked to adapt a pattern that four very different governments have already shown delivers — to your country, your constraints, your sector. That is a far easier case to make to a minister than 'trust me, this should work'.</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someone asks whether this is proven, you have an answer: four governments, four shapes, one recurring pattern, with the failures as documented as the successes. Not theory — a charted path.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If the evidence shows what works, it also shows why programmes fail — and the failures are almost never technical. What works is known: a protected team, a framework agencies adopt, governance that can say no, funding sustained for years. The killers are the harder half.</a:t>
            </a:r>
          </a:p>
          <a:p/>
          <a:p>
            <a:r>
              <a:t>Retrieval prompt — ask before playing on: name the ways a programme like this dies. Are any of them technical? Answer on the next two slides.</a:t>
            </a:r>
          </a:p>
          <a:p/>
          <a:p>
            <a:r>
              <a:t>The four success factors are named in this opener only; the v0.2 script gives them no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failures, because forewarned is forearmed. The team gets pulled onto the flagship project that is in trouble, and the architecture work stops. The minister or director-general who championed it moves on, and the successor has their own priorities. The governance board, under delivery pressure, lets one powerful project through, then another, until its "no" means nothing. And the funding, never secured as a multi-year commitment, quietly becomes an annual favour that one budget cycle removes. None of these is dramatic. Each is a slow fade, usually in the second year.</a:t>
            </a:r>
          </a:p>
          <a:p/>
          <a:p>
            <a:r>
              <a:t>Production cue: this slide and the next answer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what every one of those killers has in common. Not one is about technology. They are about people, authority and money — protecting the team, securing the mandate, defending the governance, locking in the funding. And that is the good news, because those are exactly the things you, as the one making the case upward, can influence. The chief architect cannot protect their own team or secure their own five-year budget. Only the strategist who commissioned the work can. The failures are organisational, which means they are yours to prevent.</a:t>
            </a:r>
          </a:p>
          <a:p/>
          <a:p>
            <a:r>
              <a:t>Production cue: the pivotal reframe of this video, and it closes the retrieval prompt.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design for the second year now, while you have the minister's attention. Get the team's protection in writing. Make the governance mandate legal, not just a memo. Secure a multi-year funding envelope, not an annual line. And plan to re-commit all of it when the sponsor changes, because the next minister will not feel bound by the last one's promises. These are not afterthoughts to add if the programme survives. They are how it survives. Build them in at the start, and you have designed out the four most common ways these programmes die.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evidence gives you two lists: what to build in, and the four organisational failures to design out. A programme designed to survive its own second year is the one that delivers.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Suppose you want this beyond one sector. Two questions follow: does the method travel, and how do you roll it out without trying to do everything at once? The answers are linked — and the second sector is cheaper than the first.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Most of the method does not change. The five phases, the four sign-offs, the six deliverables, the reuse-before-build default, the binding governance board — none of that is specific to one sector. What changes is only the record at the centre of the fragmentation. In education it is the learner. In health it is the patient. In agriculture the farmer; in social protection the beneficiary. Different domain, identical shape — registered several times, re-entered on paper, blocking a flagship the minister has promised. The problem rhymes across sectors because the cause is the same: no shared plan. Which means you are not buying a one-sector tool. You are building a national capability, of which the first sector is the foundation and the proof.</a:t>
            </a:r>
          </a:p>
          <a:p/>
          <a:p>
            <a:r>
              <a:t>On screen: health, agriculture and social protection are named as sectors the method transfers to — this is the ToR §4.4 portability statement, not a set of worked examples.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5 deck. Each section that follows is one standalone ~3–5 minute video. This is the capstone, and the first topic since Module 1 to address the Strategist rather than the Architect — the director-general, the head of a sectoral ICT unit, the technical secretary who commissions the work and makes the case to the minister. It answers the three questions asked before committing: is it proven, does it travel and how do I roll it out, and how do I win the commitment and build the team.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5.1 and 5.2 are the evidence — what four governments built, and what makes these programmes live or die. 5.3 is the portability case and the wave rollout in one. 5.4 and 5.5 are the commitment and the capability. 5.6 puts the whole case in one piece.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report the national picture upward, on one page, every quarter. How many sectors are live. The re-use rate across them. Which shared platforms are in place. This shows the minister a national capability actually growing — which is what sustains funding across a change of government — and it lets you see early if a sector is drifting from the shared foundation, while correction is still cheap.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method travels, and the rollout is a wave roadmap: one sector to build the foundations, then sectors one at a time, each cheaper than the last, governed into a single national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hardest step is getting your minister to commit the team, the mandate and the money. Ministers do not commit to architecture; they commit to numbers and to cases they can defend in cabinet. So bring three things: the saving, the proof, the honest cost.</a:t>
            </a:r>
          </a:p>
          <a:p/>
          <a:p>
            <a:r>
              <a:t>Retrieval prompt — ask before playing on: of everything in your case, what does a minister actually act on? Answer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Lead with the saving, because that is what a minister can act on. The strongest number you have is the cost of fragmentation: every programme that builds its own identity, its own registry, its own integration, means the country pays many times for one thing. A whole-of-government business case shows that consuming shared building blocks instead would save a meaningful share of the sectoral digital budget over five years. That number — not the four-layer diagram — is what opens a cabinet conversation. The architecture is how you achieve the saving; the saving is what you sell.</a:t>
            </a:r>
          </a:p>
          <a:p/>
          <a:p>
            <a:r>
              <a:t>Production cue: the pivotal slide of this video, and it answers the retrieval prompt set on the title slide.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Back the number with the proof, because a minister's first worry is risk. A saving that depends on an untested approach is easy to refuse. A saving backed by four governments that have already built the same pattern is much harder to wave away. So pair the business case with the evidence: this is not an experiment, it is a charted path that countries like yours have walked, with the obstacles documented. You are not asking the minister to bet on a theory. You are asking them to capture a saving that others have already proven is real.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be honest about the cost and the time, because overselling loses the case the moment a sharp official tests it. Name the real cost: a small permanent team and governance, typically around two per cent of the digital-government budget, sustained for five years. And name the real horizon: about six months to a roadmap the minister can show, but years to full maturity — which means the minister who launches this will likely not be the one who completes it. Said as a weakness, that sinks the case. Said as the truth about serious institution-building, it is what separates a credible proposal from a salesman's. Ministers fund people who tell them the real timeline.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Put it on one page, in that order. The saving — the country-level number over five years. The proof — the governments that have done it. The ask — a small permanent team, a board with real authority, around two per cent of the digital budget, and a promise to protect the team. And the horizon — six months to a roadmap, then a sustained practice. Saving, proof, ask, horizon. That single page turns a technical request the minister would defer into a business case they can defend in cabinet.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Winning the commitment is not an architecture conversation. It is a one-page business case: the saving, the proof, the ask, the honest horizon. Bring that, and your minister can say yes and defend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worry that stops strategists committing is capability: do we have the people, and can we afford to train them? You do not have to build the knowledge from scratch. The method, the framework and the training materials already exist as open knowledge products.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method is not locked in a consultant's head. The reference architecture is published. The building-block specifications are open. And the knowledge products — videos, written guides, worked examples, the very materials this is part of — are made to teach a practising architect the method step by step. Your team does not start from a blank page. They start from a documented method that other countries are already using, which means your training cost is a fraction of what building the knowledge yourself would be.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Think of the capability as three layers you can draw on rather than build. The published framework tells your team what to do — the phases, the principles, the deliverables. The worked examples and the AI plays show them how to do it faster — turning a method into a draft in minutes. And the community — the countries, the partners, the certification and the shared knowledge base around the framework — tells them who to ask when they are stuck. You are not equipping your team alone. You are connecting them to a network that is already solving these problems.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what do you actually need to fund? Not the invention of a method — that exists. You need a small team given the time to learn it and apply it to your country, and access to the materials and the community. The expensive thing — the decades of accumulated knowledge about what works in public-sector architecture — you get for the cost of learning it, not the cost of discovering it. That is the difference between funding a team to apply a proven method and funding consultants to invent one. The first is affordable and builds lasting capability in your own people; the second is neither.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aim the capability at your own people, not at a consultancy you will depend on forever. The reason to use open knowledge products is not only that they are cheaper. It is that they let you build the capability inside your own institutions — architects who learn the method, apply it, and stay, instead of expertise that walks out the door when a contract ends. A strategist's quiet goal in all of this is a national capability that outlasts any single contract or consultant. Open knowledge products are how you build it in your own people.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capability is not the barrier it appears to be. The knowledge is documented, open and taught. Use it to grow your own architects, and you build something that lasts longer than any contract.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Bring it all together into the case you carry into the room. It reduces to three sentences a minister can hold: this is proven, it is portable, and it is necessary now. Underneath those sit the two reasons an Enterprise Architecture exists at all.</a:t>
            </a:r>
          </a:p>
          <a:p/>
          <a:p>
            <a:r>
              <a:t>Production cue: the closing video of the module and of KP1.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two you can say plainly. Proven — four very different governments have built the same pattern, with the successes and the failures both documented, so you adapt a charted path rather than invent one. Portable — the method is sector-agnostic, the same phases on a learner, a patient, a farmer, and each sector after the first costs less because the muscle is built once. The third is the one that makes it urgent.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Necessary now. For thirty years, digital government meant taking a paper process and putting it online — the form becomes a web form, the queue an appointment. That era is ending. The work that delivers results today is different: once-only data sharing, a shared identity, a single record that follows a person across services. That is not putting paper online. It is changing how the government operates, and it cannot be done by the IT department alone, or by the policy side alone. Useful then; necessary now.</a:t>
            </a:r>
          </a:p>
          <a:p/>
          <a:p>
            <a:r>
              <a:t>Production cue: the era-shift argument, told once and in about eighty words; the punch line is the module's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here are the two reasons an EA exists — the two ideas to carry out of this whole knowledge product. First: re-use. Inside any project, building your own is cheaper than reusing, so projects fragment, and no procurement rule can change that. Only planning at the level of the whole government makes re-use rational, and only an EA gives you that view. Second: shared language. The new work needs the business side and the IT side to decide together, and they do not speak the same language. An EA gives them one — a shared picture, shared words, and a standing forum to decide in.</a:t>
            </a:r>
          </a:p>
          <a:p/>
          <a:p>
            <a:r>
              <a:t>Production cue: the pivotal slide of this video — both structural arguments as the closing synthesis.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that is the case, whole. Proven, portable, and necessary now — held together by the two reasons an EA exists: it makes re-use possible, and it gives business and IT a shared language.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The case for a national
Enterprise Architecture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5</a:t>
            </a:r>
          </a:p>
          <a:p>
            <a:r>
              <a:rPr sz="1400" b="0" i="0">
                <a:solidFill>
                  <a:srgbClr val="595959"/>
                </a:solidFill>
                <a:latin typeface="Arial"/>
              </a:rPr>
              <a:t>Six standalone videos for the person who commissions the architecture and makes the case upward: the evidence from four real governments, what quietly kills these programmes, the wave rollout across sectors and why the second is cheaper, the business case that wins a minister's commitment, building capability from open knowledge products — and the whole case in one piece.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~23 mins across 6 videos (5.1 – 5.6)</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5 — six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5.1  Is this proven? Evidence from real programmes</a:t>
            </a:r>
            <a:r>
              <a:rPr sz="1200" b="0" i="0">
                <a:solidFill>
                  <a:srgbClr val="595959"/>
                </a:solidFill>
                <a:latin typeface="Arial"/>
              </a:rPr>
              <a:t>   ~4 min</a:t>
            </a:r>
          </a:p>
          <a:p>
            <a:pPr algn="l">
              <a:spcAft>
                <a:spcPts val="900"/>
              </a:spcAft>
            </a:pPr>
            <a:r>
              <a:rPr sz="1500" b="1" i="0">
                <a:solidFill>
                  <a:srgbClr val="1A1A1A"/>
                </a:solidFill>
                <a:latin typeface="Arial"/>
              </a:rPr>
              <a:t>5.2  What works, and what quietly kills them</a:t>
            </a:r>
            <a:r>
              <a:rPr sz="1200" b="0" i="0">
                <a:solidFill>
                  <a:srgbClr val="595959"/>
                </a:solidFill>
                <a:latin typeface="Arial"/>
              </a:rPr>
              <a:t>   ~3 min</a:t>
            </a:r>
          </a:p>
          <a:p>
            <a:pPr algn="l">
              <a:spcAft>
                <a:spcPts val="900"/>
              </a:spcAft>
            </a:pPr>
            <a:r>
              <a:rPr sz="1500" b="1" i="0">
                <a:solidFill>
                  <a:srgbClr val="1A1A1A"/>
                </a:solidFill>
                <a:latin typeface="Arial"/>
              </a:rPr>
              <a:t>5.3  Roll it out across sectors — the second is cheaper</a:t>
            </a:r>
            <a:r>
              <a:rPr sz="1200" b="0" i="0">
                <a:solidFill>
                  <a:srgbClr val="595959"/>
                </a:solidFill>
                <a:latin typeface="Arial"/>
              </a:rPr>
              <a:t>   ~5 min</a:t>
            </a:r>
          </a:p>
          <a:p>
            <a:pPr algn="l">
              <a:spcAft>
                <a:spcPts val="900"/>
              </a:spcAft>
            </a:pPr>
            <a:r>
              <a:rPr sz="1500" b="1" i="0">
                <a:solidFill>
                  <a:srgbClr val="1A1A1A"/>
                </a:solidFill>
                <a:latin typeface="Arial"/>
              </a:rPr>
              <a:t>5.4  Win the commitment — the business case</a:t>
            </a:r>
            <a:r>
              <a:rPr sz="1200" b="0" i="0">
                <a:solidFill>
                  <a:srgbClr val="595959"/>
                </a:solidFill>
                <a:latin typeface="Arial"/>
              </a:rPr>
              <a:t>   ~4 min</a:t>
            </a:r>
          </a:p>
          <a:p>
            <a:pPr algn="l">
              <a:spcAft>
                <a:spcPts val="900"/>
              </a:spcAft>
            </a:pPr>
            <a:r>
              <a:rPr sz="1500" b="1" i="0">
                <a:solidFill>
                  <a:srgbClr val="1A1A1A"/>
                </a:solidFill>
                <a:latin typeface="Arial"/>
              </a:rPr>
              <a:t>5.5  Build capability with open knowledge products</a:t>
            </a:r>
            <a:r>
              <a:rPr sz="1200" b="0" i="0">
                <a:solidFill>
                  <a:srgbClr val="595959"/>
                </a:solidFill>
                <a:latin typeface="Arial"/>
              </a:rPr>
              <a:t>   ~4 min</a:t>
            </a:r>
          </a:p>
          <a:p>
            <a:pPr algn="l">
              <a:spcAft>
                <a:spcPts val="900"/>
              </a:spcAft>
            </a:pPr>
            <a:r>
              <a:rPr sz="1500" b="1" i="0">
                <a:solidFill>
                  <a:srgbClr val="1A1A1A"/>
                </a:solidFill>
                <a:latin typeface="Arial"/>
              </a:rPr>
              <a:t>5.6  The closing case — proven, portable, necessary</a:t>
            </a:r>
            <a:r>
              <a:rPr sz="1200" b="0" i="0">
                <a:solidFill>
                  <a:srgbClr val="595959"/>
                </a:solidFill>
                <a:latin typeface="Arial"/>
              </a:rPr>
              <a:t>   ~3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Three questions decide whether this happens: is it proven, does it travel, and can I win the commitment and roll it out?</a:t>
            </a:r>
          </a:p>
          <a:p>
            <a:pPr>
              <a:spcAft>
                <a:spcPts val="1000"/>
              </a:spcAft>
            </a:pPr>
            <a:r>
              <a:rPr sz="1900" b="0" i="1">
                <a:solidFill>
                  <a:srgbClr val="1A1A1A"/>
                </a:solidFill>
                <a:latin typeface="Arial"/>
              </a:rPr>
              <a:t>This module answers all three — with the evidence, the numbers and the honest timeline — so you can make the case upward and defend it afterwards.</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Is this proven, or just theory? — evidence from real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This is not a theory waiting for its first trial. Across four very different governments, the same architectural approach has already produced results — which means the question for you is not whether it works, but how to apply it where you are.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Is this proven, or a consultant’s theory?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You are right to ask before you commit your agency.</a:t>
            </a:r>
          </a:p>
          <a:p>
            <a:pPr>
              <a:spcAft>
                <a:spcPts val="800"/>
              </a:spcAft>
            </a:pPr>
            <a:r>
              <a:rPr sz="1700" b="0" i="0">
                <a:solidFill>
                  <a:srgbClr val="595959"/>
                </a:solidFill>
                <a:latin typeface="Arial"/>
              </a:rPr>
              <a:t>The core of it has already been done — in countries large and small, unitary and federal, well-resourced and not.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governments, four shapes</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Rwanda — small, with a strong centre</a:t>
            </a:r>
          </a:p>
          <a:p>
            <a:pPr>
              <a:spcAft>
                <a:spcPts val="300"/>
              </a:spcAft>
            </a:pPr>
            <a:r>
              <a:rPr sz="1550" b="0" i="0">
                <a:solidFill>
                  <a:srgbClr val="595959"/>
                </a:solidFill>
                <a:latin typeface="Arial"/>
              </a:rPr>
              <a:t>One citizen-services platform; a national identity linked across services.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Kenya — one-stop centres and a unifying identity programme</a:t>
            </a:r>
          </a:p>
          <a:p>
            <a:pPr>
              <a:spcAft>
                <a:spcPts val="300"/>
              </a:spcAft>
            </a:pPr>
            <a:r>
              <a:rPr sz="1550" b="0" i="0">
                <a:solidFill>
                  <a:srgbClr val="595959"/>
                </a:solidFill>
                <a:latin typeface="Arial"/>
              </a:rPr>
              <a:t>Results mixed and openly debated.</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South Africa — federal, so nothing can be imposed from the top</a:t>
            </a:r>
          </a:p>
          <a:p>
            <a:pPr>
              <a:spcAft>
                <a:spcPts val="300"/>
              </a:spcAft>
            </a:pPr>
            <a:r>
              <a:rPr sz="1550" b="0" i="0">
                <a:solidFill>
                  <a:srgbClr val="595959"/>
                </a:solidFill>
                <a:latin typeface="Arial"/>
              </a:rPr>
              <a:t>Coordinated instead through a central agency and shared standards.</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Estonia — mature, and the reference the others are measured against</a:t>
            </a:r>
          </a:p>
          <a:p>
            <a:pPr>
              <a:spcAft>
                <a:spcPts val="300"/>
              </a:spcAft>
            </a:pPr>
            <a:r>
              <a:rPr sz="1550" b="0" i="0">
                <a:solidFill>
                  <a:srgbClr val="595959"/>
                </a:solidFill>
                <a:latin typeface="Arial"/>
              </a:rPr>
              <a:t>Distributed registries; the once-only principle; almost every service online.</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governments that could hardly differ more in size, resources and shape.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four elements show in every one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small central team with real authority</a:t>
            </a:r>
          </a:p>
          <a:p>
            <a:pPr>
              <a:spcAft>
                <a:spcPts val="300"/>
              </a:spcAft>
            </a:pPr>
            <a:r>
              <a:rPr sz="1550" b="0" i="0">
                <a:solidFill>
                  <a:srgbClr val="595959"/>
                </a:solidFill>
                <a:latin typeface="Arial"/>
              </a:rPr>
              <a:t>Not a committee, and not a contractor.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published framework other agencies adopt</a:t>
            </a:r>
          </a:p>
          <a:p>
            <a:pPr>
              <a:spcAft>
                <a:spcPts val="300"/>
              </a:spcAft>
            </a:pPr>
            <a:r>
              <a:rPr sz="1550" b="0" i="0">
                <a:solidFill>
                  <a:srgbClr val="595959"/>
                </a:solidFill>
                <a:latin typeface="Arial"/>
              </a:rPr>
              <a:t>Adopted because it helps them, not because it is forced on them.</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that is binding, not advisory</a:t>
            </a:r>
          </a:p>
          <a:p>
            <a:pPr>
              <a:spcAft>
                <a:spcPts val="300"/>
              </a:spcAft>
            </a:pPr>
            <a:r>
              <a:rPr sz="1550" b="0" i="0">
                <a:solidFill>
                  <a:srgbClr val="595959"/>
                </a:solidFill>
                <a:latin typeface="Arial"/>
              </a:rPr>
              <a:t>It can say no to a project that would fragment the architecture.</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Years to full maturity, with results visible in months</a:t>
            </a:r>
          </a:p>
          <a:p>
            <a:pPr>
              <a:spcAft>
                <a:spcPts val="300"/>
              </a:spcAft>
            </a:pPr>
            <a:r>
              <a:rPr sz="1550" b="0" i="0">
                <a:solidFill>
                  <a:srgbClr val="595959"/>
                </a:solidFill>
                <a:latin typeface="Arial"/>
              </a:rPr>
              <a:t>The horizon is long; the first intermediate wins are not.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contexts, one recurring pattern — recurrence is what makes it evidence, not luck.</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failures are documented too — which is what makes it evidence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Kenya's identity programme met real obstacles — in the courts, in parliament, in implementation — and the debate is public and documented.</a:t>
            </a:r>
          </a:p>
          <a:p>
            <a:pPr>
              <a:spcAft>
                <a:spcPts val="1200"/>
              </a:spcAft>
            </a:pPr>
            <a:r>
              <a:rPr sz="2000" b="0" i="0">
                <a:solidFill>
                  <a:srgbClr val="1A1A1A"/>
                </a:solidFill>
                <a:latin typeface="Arial"/>
              </a:rPr>
              <a:t>That is not a reason to dismiss the approach; it is part of the evidence. The programmes that struggled struggled for consistent, learnable reasons.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Not a brochure of successes. A record of what works and what does 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not the first — the path is already charted</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common elements are known, and so are the common ways programmes fail. You are not being asked to invent an approach and hope it works.</a:t>
            </a:r>
          </a:p>
          <a:p>
            <a:pPr>
              <a:spcAft>
                <a:spcPts val="1200"/>
              </a:spcAft>
            </a:pPr>
            <a:r>
              <a:rPr sz="2000" b="0" i="0">
                <a:solidFill>
                  <a:srgbClr val="1A1A1A"/>
                </a:solidFill>
                <a:latin typeface="Arial"/>
              </a:rPr>
              <a:t>You are being asked to adapt a pattern four very different governments have already shown delivers — to your country, your constraints, your sector.</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far easier case to make than "trust me, this should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Across four very different governments the same architectural pattern has already produced results — so your question is not whether it works, but how to apply it where you are.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comparator-country evidence tuned to your context.</a:t>
            </a:r>
          </a:p>
          <a:p>
            <a:pPr algn="l">
              <a:spcAft>
                <a:spcPts val="400"/>
              </a:spcAft>
            </a:pPr>
            <a:r>
              <a:rPr sz="1800" b="0" i="0">
                <a:solidFill>
                  <a:srgbClr val="595959"/>
                </a:solidFill>
                <a:latin typeface="Arial"/>
              </a:rPr>
              <a:t>The prompt in the companion material gives you comparator cards with cited sources.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Rwanda — Irembo (irembo.gov.rw)</a:t>
            </a:r>
          </a:p>
          <a:p>
            <a:pPr>
              <a:spcAft>
                <a:spcPts val="1200"/>
              </a:spcAft>
            </a:pPr>
            <a:r>
              <a:rPr sz="1700" b="0" i="0">
                <a:solidFill>
                  <a:srgbClr val="1A1A1A"/>
                </a:solidFill>
                <a:latin typeface="Arial"/>
              </a:rPr>
              <a:t>•  Kenya — Huduma Kenya (huduma.go.ke)</a:t>
            </a:r>
          </a:p>
          <a:p>
            <a:pPr>
              <a:spcAft>
                <a:spcPts val="1200"/>
              </a:spcAft>
            </a:pPr>
            <a:r>
              <a:rPr sz="1700" b="0" i="0">
                <a:solidFill>
                  <a:srgbClr val="1A1A1A"/>
                </a:solidFill>
                <a:latin typeface="Arial"/>
              </a:rPr>
              <a:t>•  South Africa — SITA (sita.co.za)</a:t>
            </a:r>
          </a:p>
          <a:p>
            <a:pPr>
              <a:spcAft>
                <a:spcPts val="1200"/>
              </a:spcAft>
            </a:pPr>
            <a:r>
              <a:rPr sz="1700" b="0" i="0">
                <a:solidFill>
                  <a:srgbClr val="1A1A1A"/>
                </a:solidFill>
                <a:latin typeface="Arial"/>
              </a:rPr>
              <a:t>•  Estonia — e-Estonia.com and RIA (ria.ee)</a:t>
            </a:r>
          </a:p>
          <a:p>
            <a:pPr>
              <a:spcAft>
                <a:spcPts val="1200"/>
              </a:spcAft>
            </a:pPr>
            <a:r>
              <a:rPr sz="1700" b="0" i="0">
                <a:solidFill>
                  <a:srgbClr val="1A1A1A"/>
                </a:solidFill>
                <a:latin typeface="Arial"/>
              </a:rPr>
              <a:t>•  PAERA v1.0 — §5.7 (Recommended Roadmap); §2.1 (Problem statement)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the evidence says works — and what quietly kills these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public record is consistent about what makes these programmes succeed and what kills them — and the killers are organisational, not technical. Knowing both lets you design your programme to last, and brief your minister on the real risks.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What works is known. The killers are the harder half.</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protected team. A framework agencies adopt. Governance that can say no. Funding sustained for years.</a:t>
            </a:r>
          </a:p>
          <a:p>
            <a:pPr>
              <a:spcAft>
                <a:spcPts val="800"/>
              </a:spcAft>
            </a:pPr>
            <a:r>
              <a:rPr sz="1700" b="0" i="0">
                <a:solidFill>
                  <a:srgbClr val="595959"/>
                </a:solidFill>
                <a:latin typeface="Arial"/>
              </a:rPr>
              <a:t>The failures are almost never technical.</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things quietly kill them — usually in the second year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team is pulled onto the urgent flagship</a:t>
            </a:r>
          </a:p>
          <a:p>
            <a:pPr>
              <a:spcAft>
                <a:spcPts val="300"/>
              </a:spcAft>
            </a:pPr>
            <a:r>
              <a:rPr sz="1550" b="0" i="0">
                <a:solidFill>
                  <a:srgbClr val="595959"/>
                </a:solidFill>
                <a:latin typeface="Arial"/>
              </a:rPr>
              <a:t>The architecture work simply stops.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sponsor changes</a:t>
            </a:r>
          </a:p>
          <a:p>
            <a:pPr>
              <a:spcAft>
                <a:spcPts val="300"/>
              </a:spcAft>
            </a:pPr>
            <a:r>
              <a:rPr sz="1550" b="0" i="0">
                <a:solidFill>
                  <a:srgbClr val="595959"/>
                </a:solidFill>
                <a:latin typeface="Arial"/>
              </a:rPr>
              <a:t>The successor has their own priorities.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drifts to advisory under delivery pressure</a:t>
            </a:r>
          </a:p>
          <a:p>
            <a:pPr>
              <a:spcAft>
                <a:spcPts val="300"/>
              </a:spcAft>
            </a:pPr>
            <a:r>
              <a:rPr sz="1550" b="0" i="0">
                <a:solidFill>
                  <a:srgbClr val="595959"/>
                </a:solidFill>
                <a:latin typeface="Arial"/>
              </a:rPr>
              <a:t>One powerful project through, then another, until its "no" means nothing.</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Funding becomes an annual favour</a:t>
            </a:r>
          </a:p>
          <a:p>
            <a:pPr>
              <a:spcAft>
                <a:spcPts val="300"/>
              </a:spcAft>
            </a:pPr>
            <a:r>
              <a:rPr sz="1550" b="0" i="0">
                <a:solidFill>
                  <a:srgbClr val="595959"/>
                </a:solidFill>
                <a:latin typeface="Arial"/>
              </a:rPr>
              <a:t>One budget cycle removes it.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None of them is dramatic. Each one is a slow fade.</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Not one of the killers is about technology</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They are about people, authority and money — protecting the team, securing the mandate, defending the governance, locking in the funding.</a:t>
            </a:r>
          </a:p>
          <a:p>
            <a:pPr>
              <a:spcAft>
                <a:spcPts val="1200"/>
              </a:spcAft>
            </a:pPr>
            <a:r>
              <a:rPr sz="2000" b="0" i="0">
                <a:solidFill>
                  <a:srgbClr val="1A1A1A"/>
                </a:solidFill>
                <a:latin typeface="Arial"/>
              </a:rPr>
              <a:t>Which is the good news, because those are what you can influence. The chief architect cannot protect their own team or secure their own five-year budget. Only the strategist who commissioned the work can.</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failures are organisational, which means they are yours to prevent.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Design for the second year now, while you have the minister's attention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Get the team's protection in writing. Make the governance mandate legal, not just a memo. Secure a multi-year envelope, not an annual line.</a:t>
            </a:r>
          </a:p>
          <a:p>
            <a:pPr>
              <a:spcAft>
                <a:spcPts val="1200"/>
              </a:spcAft>
            </a:pPr>
            <a:r>
              <a:rPr sz="2000" b="0" i="0">
                <a:solidFill>
                  <a:srgbClr val="1A1A1A"/>
                </a:solidFill>
                <a:latin typeface="Arial"/>
              </a:rPr>
              <a:t>And plan to re-commit all of it when the sponsor changes, because the next minister will not feel bound by the last one's promises.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Not afterthoughts to add if the programme survives. They are how it survives.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What kills these programmes is organisational, not technical — the team pulled, the sponsor changed, governance gone advisory, funding withdrawn — so design the protections in from the start.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programme's sustainment risk register.</a:t>
            </a:r>
          </a:p>
          <a:p>
            <a:pPr algn="l">
              <a:spcAft>
                <a:spcPts val="400"/>
              </a:spcAft>
            </a:pPr>
            <a:r>
              <a:rPr sz="1800" b="0" i="0">
                <a:solidFill>
                  <a:srgbClr val="595959"/>
                </a:solidFill>
                <a:latin typeface="Arial"/>
              </a:rPr>
              <a:t>The prompt in the companion material gives you a four-row sustainment risk register plus early-warning signals.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§4.2.1 (Management)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Roll it out across sectors — and why the second is cheaper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method is sector-agnostic — only the record at the centre changes — so roll it out as a wave roadmap: one sector first to build the shared platforms, then sectors one at a time, each cheaper than the last, governed into a single national architecture.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Beyond one sector: does the method travel, and how do you roll it out?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Two questions, and the answers are linked.</a:t>
            </a:r>
          </a:p>
          <a:p>
            <a:pPr>
              <a:spcAft>
                <a:spcPts val="800"/>
              </a:spcAft>
            </a:pPr>
            <a:r>
              <a:rPr sz="1700" b="0" i="0">
                <a:solidFill>
                  <a:srgbClr val="595959"/>
                </a:solidFill>
                <a:latin typeface="Arial"/>
              </a:rPr>
              <a:t>The second sector is cheaper than the first.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Most of the method does not change — only the record at the centre does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five phases, the four sign-offs, the six deliverables, reuse-before-build, the binding board — none of it is sector-specific.</a:t>
            </a:r>
          </a:p>
          <a:p>
            <a:pPr>
              <a:spcAft>
                <a:spcPts val="1200"/>
              </a:spcAft>
            </a:pPr>
            <a:r>
              <a:rPr sz="2000" b="0" i="0">
                <a:solidFill>
                  <a:srgbClr val="1A1A1A"/>
                </a:solidFill>
                <a:latin typeface="Arial"/>
              </a:rPr>
              <a:t>Only the record at the centre changes: a learner, a patient, a farmer, a beneficiary. Different domain, identical shape — registered several times, re-entered on paper, blocking a flagship the minister has promised.</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portability statement, not worked examples — each sector still needs its own discovery on the ground.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Wave 1 looks like one sector. It is the foundation the rollout stands on</a:t>
            </a:r>
          </a:p>
        </p:txBody>
      </p:sp>
      <p:sp>
        <p:nvSpPr>
          <p:cNvPr id="4" name="Rounded Rectangle 3"/>
          <p:cNvSpPr/>
          <p:nvPr/>
        </p:nvSpPr>
        <p:spPr>
          <a:xfrm>
            <a:off x="2651760" y="1737360"/>
            <a:ext cx="4754880" cy="14630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WAVE 1 — ONE SECTOR, THE FULL METHOD, END TO END</a:t>
            </a:r>
          </a:p>
          <a:p>
            <a:pPr algn="l">
              <a:spcAft>
                <a:spcPts val="300"/>
              </a:spcAft>
            </a:pPr>
            <a:r>
              <a:rPr sz="1300" b="0" i="0">
                <a:solidFill>
                  <a:srgbClr val="1A1A1A"/>
                </a:solidFill>
                <a:latin typeface="Arial"/>
              </a:rPr>
              <a:t>A sector with a clear flagship the minister cares about — the single learner record, the single patient record.</a:t>
            </a:r>
          </a:p>
        </p:txBody>
      </p:sp>
      <p:sp>
        <p:nvSpPr>
          <p:cNvPr id="5" name="Rounded Rectangle 4"/>
          <p:cNvSpPr/>
          <p:nvPr/>
        </p:nvSpPr>
        <p:spPr>
          <a:xfrm>
            <a:off x="658368" y="3383280"/>
            <a:ext cx="8732520" cy="16002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WHAT WAVE 1 REALLY BUILDS — THE NATIONAL FOUNDATIONS</a:t>
            </a:r>
          </a:p>
          <a:p>
            <a:pPr algn="l">
              <a:spcAft>
                <a:spcPts val="300"/>
              </a:spcAft>
            </a:pPr>
            <a:r>
              <a:rPr sz="1300" b="0" i="0">
                <a:solidFill>
                  <a:srgbClr val="FFFFFF"/>
                </a:solidFill>
                <a:latin typeface="Arial"/>
              </a:rPr>
              <a:t>The permanent team  ·  the governance board  ·  the first shared platforms: identity, data exchange</a:t>
            </a:r>
          </a:p>
          <a:p>
            <a:pPr algn="l">
              <a:spcAft>
                <a:spcPts val="300"/>
              </a:spcAft>
            </a:pPr>
            <a:r>
              <a:rPr sz="1300" b="0" i="0">
                <a:solidFill>
                  <a:srgbClr val="FFFFFF"/>
                </a:solidFill>
                <a:latin typeface="Arial"/>
              </a:rPr>
              <a:t>Every later sector stands on this — none of them builds it again.</a:t>
            </a:r>
          </a:p>
        </p:txBody>
      </p:sp>
      <p:sp>
        <p:nvSpPr>
          <p:cNvPr id="6" name="Rectangle 5"/>
          <p:cNvSpPr/>
          <p:nvPr/>
        </p:nvSpPr>
        <p:spPr>
          <a:xfrm>
            <a:off x="9646920" y="1737360"/>
            <a:ext cx="45720" cy="324612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1737360"/>
            <a:ext cx="1737360" cy="3246120"/>
          </a:xfrm>
          <a:prstGeom prst="rect">
            <a:avLst/>
          </a:prstGeom>
          <a:noFill/>
        </p:spPr>
        <p:txBody>
          <a:bodyPr wrap="square">
            <a:spAutoFit/>
          </a:bodyPr>
          <a:lstStyle/>
          <a:p>
            <a:pPr>
              <a:spcAft>
                <a:spcPts val="800"/>
              </a:spcAft>
            </a:pPr>
            <a:r>
              <a:rPr sz="1250" b="0" i="1">
                <a:solidFill>
                  <a:srgbClr val="595959"/>
                </a:solidFill>
                <a:latin typeface="Arial"/>
              </a:rPr>
              <a:t>The sector is what the minister sees.</a:t>
            </a:r>
          </a:p>
          <a:p>
            <a:pPr>
              <a:spcAft>
                <a:spcPts val="800"/>
              </a:spcAft>
            </a:pPr>
            <a:r>
              <a:rPr sz="1250" b="0" i="1">
                <a:solidFill>
                  <a:srgbClr val="595959"/>
                </a:solidFill>
                <a:latin typeface="Arial"/>
              </a:rPr>
              <a:t>The base is what the country keeps.</a:t>
            </a:r>
          </a:p>
        </p:txBody>
      </p:sp>
      <p:sp>
        <p:nvSpPr>
          <p:cNvPr id="8" name="TextBox 7"/>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One sector, done well — and the national foundations, laid.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From Wave 2 each sector is cheaper — if the same board governs the pipeline</a:t>
            </a:r>
          </a:p>
        </p:txBody>
      </p:sp>
      <p:sp>
        <p:nvSpPr>
          <p:cNvPr id="4" name="Rounded Rectangle 3"/>
          <p:cNvSpPr/>
          <p:nvPr/>
        </p:nvSpPr>
        <p:spPr>
          <a:xfrm>
            <a:off x="658368" y="1554480"/>
            <a:ext cx="10881360" cy="457200"/>
          </a:xfrm>
          <a:prstGeom prst="roundRect">
            <a:avLst>
              <a:gd name="adj" fmla="val 30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Arial"/>
              </a:rPr>
              <a:t>THE SAME BOARD GOVERNS THE NATIONAL PIPELINE — which sector next, what each must reuse, where an exception is warranted</a:t>
            </a:r>
          </a:p>
        </p:txBody>
      </p:sp>
      <p:sp>
        <p:nvSpPr>
          <p:cNvPr id="5" name="Rounded Rectangle 4"/>
          <p:cNvSpPr/>
          <p:nvPr/>
        </p:nvSpPr>
        <p:spPr>
          <a:xfrm>
            <a:off x="658368" y="2285999"/>
            <a:ext cx="3574222" cy="2606040"/>
          </a:xfrm>
          <a:prstGeom prst="roundRect">
            <a:avLst>
              <a:gd name="adj" fmla="val 8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FFFFFF"/>
                </a:solidFill>
                <a:latin typeface="Arial"/>
              </a:rPr>
              <a:t>WAVE 1 — the foundation sector</a:t>
            </a:r>
          </a:p>
          <a:p>
            <a:pPr algn="l">
              <a:spcAft>
                <a:spcPts val="300"/>
              </a:spcAft>
            </a:pPr>
            <a:r>
              <a:rPr sz="1150" b="0" i="0">
                <a:solidFill>
                  <a:srgbClr val="FFFFFF"/>
                </a:solidFill>
                <a:latin typeface="Arial"/>
              </a:rPr>
              <a:t>Full method, end to end</a:t>
            </a:r>
          </a:p>
          <a:p>
            <a:pPr algn="l">
              <a:spcAft>
                <a:spcPts val="300"/>
              </a:spcAft>
            </a:pPr>
            <a:r>
              <a:rPr sz="1150" b="0" i="0">
                <a:solidFill>
                  <a:srgbClr val="FFFFFF"/>
                </a:solidFill>
                <a:latin typeface="Arial"/>
              </a:rPr>
              <a:t>Builds the team, the board, identity, data exchange</a:t>
            </a:r>
          </a:p>
        </p:txBody>
      </p:sp>
      <p:sp>
        <p:nvSpPr>
          <p:cNvPr id="6" name="Rounded Rectangle 5"/>
          <p:cNvSpPr/>
          <p:nvPr/>
        </p:nvSpPr>
        <p:spPr>
          <a:xfrm>
            <a:off x="4397182" y="2859328"/>
            <a:ext cx="2792361" cy="2032711"/>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2 — health</a:t>
            </a:r>
          </a:p>
          <a:p>
            <a:pPr algn="l">
              <a:spcAft>
                <a:spcPts val="300"/>
              </a:spcAft>
            </a:pPr>
            <a:r>
              <a:rPr sz="1150" b="0" i="0">
                <a:solidFill>
                  <a:srgbClr val="1A1A1A"/>
                </a:solidFill>
                <a:latin typeface="Arial"/>
              </a:rPr>
              <a:t>Consumes the platforms</a:t>
            </a:r>
          </a:p>
          <a:p>
            <a:pPr algn="l">
              <a:spcAft>
                <a:spcPts val="300"/>
              </a:spcAft>
            </a:pPr>
            <a:r>
              <a:rPr sz="1150" b="0" i="0">
                <a:solidFill>
                  <a:srgbClr val="1A1A1A"/>
                </a:solidFill>
                <a:latin typeface="Arial"/>
              </a:rPr>
              <a:t>Lighter method — team, framework and governance in place</a:t>
            </a:r>
          </a:p>
        </p:txBody>
      </p:sp>
      <p:cxnSp>
        <p:nvCxnSpPr>
          <p:cNvPr id="7" name="Connector 6"/>
          <p:cNvCxnSpPr/>
          <p:nvPr/>
        </p:nvCxnSpPr>
        <p:spPr>
          <a:xfrm>
            <a:off x="4250878"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354135" y="3276295"/>
            <a:ext cx="2233889" cy="1615744"/>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3 — agriculture</a:t>
            </a:r>
          </a:p>
          <a:p>
            <a:pPr algn="l">
              <a:spcAft>
                <a:spcPts val="300"/>
              </a:spcAft>
            </a:pPr>
            <a:r>
              <a:rPr sz="1150" b="0" i="0">
                <a:solidFill>
                  <a:srgbClr val="1A1A1A"/>
                </a:solidFill>
                <a:latin typeface="Arial"/>
              </a:rPr>
              <a:t>Consumes more</a:t>
            </a:r>
          </a:p>
          <a:p>
            <a:pPr algn="l">
              <a:spcAft>
                <a:spcPts val="300"/>
              </a:spcAft>
            </a:pPr>
            <a:r>
              <a:rPr sz="1150" b="0" i="0">
                <a:solidFill>
                  <a:srgbClr val="1A1A1A"/>
                </a:solidFill>
                <a:latin typeface="Arial"/>
              </a:rPr>
              <a:t>Faster, for less</a:t>
            </a:r>
          </a:p>
        </p:txBody>
      </p:sp>
      <p:cxnSp>
        <p:nvCxnSpPr>
          <p:cNvPr id="9" name="Connector 8"/>
          <p:cNvCxnSpPr/>
          <p:nvPr/>
        </p:nvCxnSpPr>
        <p:spPr>
          <a:xfrm>
            <a:off x="7207831"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752616" y="3589020"/>
            <a:ext cx="1787111" cy="13030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4 — social protection</a:t>
            </a:r>
          </a:p>
          <a:p>
            <a:pPr algn="l">
              <a:spcAft>
                <a:spcPts val="300"/>
              </a:spcAft>
            </a:pPr>
            <a:r>
              <a:rPr sz="1150" b="0" i="0">
                <a:solidFill>
                  <a:srgbClr val="1A1A1A"/>
                </a:solidFill>
                <a:latin typeface="Arial"/>
              </a:rPr>
              <a:t>Easier still</a:t>
            </a:r>
          </a:p>
        </p:txBody>
      </p:sp>
      <p:cxnSp>
        <p:nvCxnSpPr>
          <p:cNvPr id="11" name="Connector 10"/>
          <p:cNvCxnSpPr/>
          <p:nvPr/>
        </p:nvCxnSpPr>
        <p:spPr>
          <a:xfrm>
            <a:off x="9606312"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 y="5248656"/>
            <a:ext cx="3738814" cy="182880"/>
          </a:xfrm>
          <a:prstGeom prst="rect">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97182" y="5175504"/>
            <a:ext cx="2956953"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54135" y="5102352"/>
            <a:ext cx="2398481" cy="329184"/>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752616" y="5029200"/>
            <a:ext cx="1787111" cy="402336"/>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5486400"/>
            <a:ext cx="10881360" cy="320040"/>
          </a:xfrm>
          <a:prstGeom prst="rect">
            <a:avLst/>
          </a:prstGeom>
          <a:noFill/>
        </p:spPr>
        <p:txBody>
          <a:bodyPr wrap="square">
            <a:spAutoFit/>
          </a:bodyPr>
          <a:lstStyle/>
          <a:p>
            <a:r>
              <a:rPr sz="1150" b="1" i="0">
                <a:solidFill>
                  <a:srgbClr val="006E96"/>
                </a:solidFill>
                <a:latin typeface="Arial"/>
              </a:rPr>
              <a:t>Shared platforms — more complete with every wave</a:t>
            </a:r>
          </a:p>
        </p:txBody>
      </p:sp>
      <p:sp>
        <p:nvSpPr>
          <p:cNvPr id="17" name="TextBox 16"/>
          <p:cNvSpPr txBox="1"/>
          <p:nvPr/>
        </p:nvSpPr>
        <p:spPr>
          <a:xfrm>
            <a:off x="658368" y="5806440"/>
            <a:ext cx="10881360" cy="548640"/>
          </a:xfrm>
          <a:prstGeom prst="rect">
            <a:avLst/>
          </a:prstGeom>
          <a:noFill/>
        </p:spPr>
        <p:txBody>
          <a:bodyPr wrap="square">
            <a:spAutoFit/>
          </a:bodyPr>
          <a:lstStyle/>
          <a:p>
            <a:r>
              <a:rPr sz="1550" b="1" i="0">
                <a:solidFill>
                  <a:srgbClr val="006E96"/>
                </a:solidFill>
                <a:latin typeface="Arial"/>
              </a:rPr>
              <a:t>Launched and left, a rollout drifts back into fragmentation. Governed, it compounds.</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page, every quarter — the national scorecard</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Sectors live</a:t>
            </a:r>
          </a:p>
          <a:p>
            <a:pPr>
              <a:spcAft>
                <a:spcPts val="300"/>
              </a:spcAft>
            </a:pPr>
            <a:r>
              <a:rPr sz="1550" b="0" i="0">
                <a:solidFill>
                  <a:srgbClr val="595959"/>
                </a:solidFill>
                <a:latin typeface="Arial"/>
              </a:rPr>
              <a:t>How many have run the method end to end.</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The re-use rate across them</a:t>
            </a:r>
          </a:p>
          <a:p>
            <a:pPr>
              <a:spcAft>
                <a:spcPts val="300"/>
              </a:spcAft>
            </a:pPr>
            <a:r>
              <a:rPr sz="1550" b="0" i="0">
                <a:solidFill>
                  <a:srgbClr val="595959"/>
                </a:solidFill>
                <a:latin typeface="Arial"/>
              </a:rPr>
              <a:t>How much of the new work consumes a shared block instead of rebuilding it.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Shared platforms in place</a:t>
            </a:r>
          </a:p>
          <a:p>
            <a:pPr>
              <a:spcAft>
                <a:spcPts val="300"/>
              </a:spcAft>
            </a:pPr>
            <a:r>
              <a:rPr sz="1550" b="0" i="0">
                <a:solidFill>
                  <a:srgbClr val="595959"/>
                </a:solidFill>
                <a:latin typeface="Arial"/>
              </a:rPr>
              <a:t>Which of identity and data exchange are authoritative and available.</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It sustains funding across a change of government, and catches a drifting sector early.</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is sector-agnostic — only the central record changes — so roll it out in waves, each sector after the first cheaper, governed into a single national architecture.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Sequence your national rollout into waves.</a:t>
            </a:r>
          </a:p>
          <a:p>
            <a:pPr algn="l">
              <a:spcAft>
                <a:spcPts val="400"/>
              </a:spcAft>
            </a:pPr>
            <a:r>
              <a:rPr sz="1800" b="0" i="0">
                <a:solidFill>
                  <a:srgbClr val="595959"/>
                </a:solidFill>
                <a:latin typeface="Arial"/>
              </a:rPr>
              <a:t>The prompt in the companion material gives you a national wave sequence with per-wave reuse.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§5.7 (Recommended Roadmap)</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Win the commitment — the business case that gets your minister to yes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Winning the minister's commitment is not about the architecture — it's about the number. Pair the whole-of-government re-use saving with the proven evidence and an honest time horizon, and you turn a technical case into one a minister can take to cabinet.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Ministers do not commit to architecture. They commit to numbers.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hardest step is getting the team, the mandate and the money.</a:t>
            </a:r>
          </a:p>
          <a:p>
            <a:pPr>
              <a:spcAft>
                <a:spcPts val="800"/>
              </a:spcAft>
            </a:pPr>
            <a:r>
              <a:rPr sz="1700" b="0" i="0">
                <a:solidFill>
                  <a:srgbClr val="595959"/>
                </a:solidFill>
                <a:latin typeface="Arial"/>
              </a:rPr>
              <a:t>Bring three things: the saving, the proof, the honest cost.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Lead with the saving, not the architecture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strongest number you have is the cost of fragmentation: every programme that builds its own identity, its own registry, its own integration means the country pays many times for one thing.</a:t>
            </a:r>
          </a:p>
          <a:p>
            <a:pPr>
              <a:spcAft>
                <a:spcPts val="1200"/>
              </a:spcAft>
            </a:pPr>
            <a:r>
              <a:rPr sz="2000" b="0" i="0">
                <a:solidFill>
                  <a:srgbClr val="1A1A1A"/>
                </a:solidFill>
                <a:latin typeface="Arial"/>
              </a:rPr>
              <a:t>A whole-of-government business case shows that consuming shared building blocks instead would save a meaningful share of the sectoral digital budget over five years. That number, not the four-layer diagram, opens a cabinet conversation.</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architecture is how you achieve the saving. The saving is what you sell.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Back the number with the proof, because a minister's first worry is risk</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saving that depends on an untested approach is easy to refuse. A saving backed by four governments that have already built the same pattern is much harder to wave away.</a:t>
            </a:r>
          </a:p>
          <a:p>
            <a:pPr>
              <a:spcAft>
                <a:spcPts val="1200"/>
              </a:spcAft>
            </a:pPr>
            <a:r>
              <a:rPr sz="2000" b="0" i="0">
                <a:solidFill>
                  <a:srgbClr val="1A1A1A"/>
                </a:solidFill>
                <a:latin typeface="Arial"/>
              </a:rPr>
              <a:t>This is a charted path that countries like yours have walked, with the obstacles documented.</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Not a bet on a theory — a saving others have already proven is real.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Ministers fund people who tell them the real timeline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Name the real cost: a small permanent team and governance, typically around two per cent of the digital-government budget, sustained for five years.</a:t>
            </a:r>
          </a:p>
          <a:p>
            <a:pPr>
              <a:spcAft>
                <a:spcPts val="1200"/>
              </a:spcAft>
            </a:pPr>
            <a:r>
              <a:rPr sz="2000" b="0" i="0">
                <a:solidFill>
                  <a:srgbClr val="1A1A1A"/>
                </a:solidFill>
                <a:latin typeface="Arial"/>
              </a:rPr>
              <a:t>And the real horizon: about six months to a roadmap the minister can show, but years to full maturity — so the minister who launches this will likely not be the one who completes it.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Said as a weakness, that sinks the case. Said as the truth, it wins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one page, in the order a minister reads it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saving</a:t>
            </a:r>
          </a:p>
          <a:p>
            <a:pPr>
              <a:spcAft>
                <a:spcPts val="300"/>
              </a:spcAft>
            </a:pPr>
            <a:r>
              <a:rPr sz="1550" b="0" i="0">
                <a:solidFill>
                  <a:srgbClr val="595959"/>
                </a:solidFill>
                <a:latin typeface="Arial"/>
              </a:rPr>
              <a:t>The country-level number over five years.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proof</a:t>
            </a:r>
          </a:p>
          <a:p>
            <a:pPr>
              <a:spcAft>
                <a:spcPts val="300"/>
              </a:spcAft>
            </a:pPr>
            <a:r>
              <a:rPr sz="1550" b="0" i="0">
                <a:solidFill>
                  <a:srgbClr val="595959"/>
                </a:solidFill>
                <a:latin typeface="Arial"/>
              </a:rPr>
              <a:t>The governments that have already done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ask</a:t>
            </a:r>
          </a:p>
          <a:p>
            <a:pPr>
              <a:spcAft>
                <a:spcPts val="300"/>
              </a:spcAft>
            </a:pPr>
            <a:r>
              <a:rPr sz="1550" b="0" i="0">
                <a:solidFill>
                  <a:srgbClr val="595959"/>
                </a:solidFill>
                <a:latin typeface="Arial"/>
              </a:rPr>
              <a:t>A small permanent team, a board with real authority, ~2% sustained, protect the team.</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horizon</a:t>
            </a:r>
          </a:p>
          <a:p>
            <a:pPr>
              <a:spcAft>
                <a:spcPts val="300"/>
              </a:spcAft>
            </a:pPr>
            <a:r>
              <a:rPr sz="1550" b="0" i="0">
                <a:solidFill>
                  <a:srgbClr val="595959"/>
                </a:solidFill>
                <a:latin typeface="Arial"/>
              </a:rPr>
              <a:t>Six months to a roadmap, then a sustained practice.</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Saving, proof, ask, horizon — a request the minister can defend in cabinet.</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Ministers commit to numbers and proof, not architecture — pair the whole-of-government saving with the evidence and an honest cost, and you turn a technical request into a cabinet-ready case.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one-page ministerial business case.</a:t>
            </a:r>
          </a:p>
          <a:p>
            <a:pPr algn="l">
              <a:spcAft>
                <a:spcPts val="400"/>
              </a:spcAft>
            </a:pPr>
            <a:r>
              <a:rPr sz="1800" b="0" i="0">
                <a:solidFill>
                  <a:srgbClr val="595959"/>
                </a:solidFill>
                <a:latin typeface="Arial"/>
              </a:rPr>
              <a:t>The prompt in the companion material gives you a one-page ministerial business case.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Build your team's capability with open knowledge products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You don't have to train your team from scratch — open knowledge products, a shared framework, and a community of practising countries mean your people can learn the method from materials that already exist, freeing your budget for the work itself.</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Do we have the people — and can we afford to train them?</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You do not have to build the knowledge from scratch.</a:t>
            </a:r>
          </a:p>
          <a:p>
            <a:pPr>
              <a:spcAft>
                <a:spcPts val="800"/>
              </a:spcAft>
            </a:pPr>
            <a:r>
              <a:rPr sz="1700" b="0" i="0">
                <a:solidFill>
                  <a:srgbClr val="595959"/>
                </a:solidFill>
                <a:latin typeface="Arial"/>
              </a:rPr>
              <a:t>The method, the framework and the training materials already exist as open knowledge products.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method is not locked in a consultant's head</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reference architecture is published. The building-block specifications are open. The knowledge products — videos, written guides, worked examples — are made to teach a practising architect the method step by step.</a:t>
            </a:r>
          </a:p>
          <a:p>
            <a:pPr>
              <a:spcAft>
                <a:spcPts val="1200"/>
              </a:spcAft>
            </a:pPr>
            <a:r>
              <a:rPr sz="2000" b="0" i="0">
                <a:solidFill>
                  <a:srgbClr val="1A1A1A"/>
                </a:solidFill>
                <a:latin typeface="Arial"/>
              </a:rPr>
              <a:t>Your team does not start from a blank page. They start from a documented method that other countries are already using.</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Your training cost is a fraction of building the knowledge yourself.</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layers you draw on rather than build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published framework</a:t>
            </a:r>
          </a:p>
          <a:p>
            <a:pPr>
              <a:spcAft>
                <a:spcPts val="300"/>
              </a:spcAft>
            </a:pPr>
            <a:r>
              <a:rPr sz="1550" b="0" i="0">
                <a:solidFill>
                  <a:srgbClr val="595959"/>
                </a:solidFill>
                <a:latin typeface="Arial"/>
              </a:rPr>
              <a:t>What to do — the phases, the principles, the deliverables.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worked examples and the AI plays</a:t>
            </a:r>
          </a:p>
          <a:p>
            <a:pPr>
              <a:spcAft>
                <a:spcPts val="300"/>
              </a:spcAft>
            </a:pPr>
            <a:r>
              <a:rPr sz="1550" b="0" i="0">
                <a:solidFill>
                  <a:srgbClr val="595959"/>
                </a:solidFill>
                <a:latin typeface="Arial"/>
              </a:rPr>
              <a:t>How to do it faster — a method turned into a draft in minutes.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community of countries and partners</a:t>
            </a:r>
          </a:p>
          <a:p>
            <a:pPr>
              <a:spcAft>
                <a:spcPts val="300"/>
              </a:spcAft>
            </a:pPr>
            <a:r>
              <a:rPr sz="1550" b="0" i="0">
                <a:solidFill>
                  <a:srgbClr val="595959"/>
                </a:solidFill>
                <a:latin typeface="Arial"/>
              </a:rPr>
              <a:t>Who to ask when your team is stuck.</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are not equipping your team alone. You are connecting them to a network.</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you actually need to fund is time, not invention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Not the invention of a method — that exists. You fund a small team given the time to learn it and apply it to your country, and access to the materials and the community.</a:t>
            </a:r>
          </a:p>
          <a:p>
            <a:pPr>
              <a:spcAft>
                <a:spcPts val="1200"/>
              </a:spcAft>
            </a:pPr>
            <a:r>
              <a:rPr sz="2000" b="0" i="0">
                <a:solidFill>
                  <a:srgbClr val="1A1A1A"/>
                </a:solidFill>
                <a:latin typeface="Arial"/>
              </a:rPr>
              <a:t>The expensive thing — decades of accumulated knowledge about what works in public-sector architecture — you get for the cost of learning it, not the cost of discovering it.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Fund a team to apply a proven method, not consultants to invent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Build the capability in your own people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Open knowledge products let you build the capability inside your own institutions — architects who learn the method, apply it, and stay — instead of expertise that walks out of the door when a contract ends.</a:t>
            </a:r>
          </a:p>
          <a:p>
            <a:pPr>
              <a:spcAft>
                <a:spcPts val="1200"/>
              </a:spcAft>
            </a:pPr>
            <a:r>
              <a:rPr sz="2000" b="0" i="0">
                <a:solidFill>
                  <a:srgbClr val="1A1A1A"/>
                </a:solidFill>
                <a:latin typeface="Arial"/>
              </a:rPr>
              <a:t>A strategist's quiet goal in all of this is a national capability that outlasts any single contract or consultant.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Open knowledge products are how you build it in your own people.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the framework and the training already exist as open knowledge products — so fund a small team to learn and apply them, not consultants to reinvent them, and build the capability in your own people.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team's capability-building plan.</a:t>
            </a:r>
          </a:p>
          <a:p>
            <a:pPr algn="l">
              <a:spcAft>
                <a:spcPts val="400"/>
              </a:spcAft>
            </a:pPr>
            <a:r>
              <a:rPr sz="1800" b="0" i="0">
                <a:solidFill>
                  <a:srgbClr val="595959"/>
                </a:solidFill>
                <a:latin typeface="Arial"/>
              </a:rPr>
              <a:t>The prompt in the companion material gives you a learning sequence, the three layers to use, what to fund, and how to retain the capability.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§4.5 (Digital Co-creation)</a:t>
            </a:r>
          </a:p>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GovStack knowledge base — govstack.global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closing case — proven, portable, and necessary now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case for a national EA comes down to three things you can now say with confidence — it is proven, it is portable, and in the era of redesigning how government works it is no longer optional but necessary — held together by the two reasons an EA exists: it makes re-use possible, and it gives business and IT a shared language.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Three sentences a minister can hold.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This is proven. It is portable. It is necessary now.</a:t>
            </a:r>
          </a:p>
          <a:p>
            <a:pPr>
              <a:spcAft>
                <a:spcPts val="800"/>
              </a:spcAft>
            </a:pPr>
            <a:r>
              <a:rPr sz="1700" b="0" i="0">
                <a:solidFill>
                  <a:srgbClr val="595959"/>
                </a:solidFill>
                <a:latin typeface="Arial"/>
              </a:rPr>
              <a:t>Underneath those sit the two reasons an Enterprise Architecture exists at all.</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Proven and portable — the first two you can say plainly</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PROVEN</a:t>
            </a:r>
          </a:p>
          <a:p>
            <a:pPr>
              <a:spcAft>
                <a:spcPts val="700"/>
              </a:spcAft>
            </a:pPr>
            <a:r>
              <a:rPr sz="1600" b="0" i="0">
                <a:solidFill>
                  <a:srgbClr val="1A1A1A"/>
                </a:solidFill>
                <a:latin typeface="Arial"/>
              </a:rPr>
              <a:t>Four very different governments built the same pattern.</a:t>
            </a:r>
          </a:p>
          <a:p>
            <a:pPr>
              <a:spcAft>
                <a:spcPts val="700"/>
              </a:spcAft>
            </a:pPr>
            <a:r>
              <a:rPr sz="1600" b="0" i="0">
                <a:solidFill>
                  <a:srgbClr val="1A1A1A"/>
                </a:solidFill>
                <a:latin typeface="Arial"/>
              </a:rPr>
              <a:t>Successes and failures both documented.</a:t>
            </a:r>
          </a:p>
          <a:p>
            <a:pPr>
              <a:spcAft>
                <a:spcPts val="700"/>
              </a:spcAft>
            </a:pPr>
            <a:r>
              <a:rPr sz="1600" b="0" i="0">
                <a:solidFill>
                  <a:srgbClr val="1A1A1A"/>
                </a:solidFill>
                <a:latin typeface="Arial"/>
              </a:rPr>
              <a:t>You adapt a charted path rather than invent one.</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PORTABLE</a:t>
            </a:r>
          </a:p>
          <a:p>
            <a:pPr>
              <a:spcAft>
                <a:spcPts val="700"/>
              </a:spcAft>
            </a:pPr>
            <a:r>
              <a:rPr sz="1600" b="0" i="0">
                <a:solidFill>
                  <a:srgbClr val="1A1A1A"/>
                </a:solidFill>
                <a:latin typeface="Arial"/>
              </a:rPr>
              <a:t>The method is sector-agnostic.</a:t>
            </a:r>
          </a:p>
          <a:p>
            <a:pPr>
              <a:spcAft>
                <a:spcPts val="700"/>
              </a:spcAft>
            </a:pPr>
            <a:r>
              <a:rPr sz="1600" b="0" i="0">
                <a:solidFill>
                  <a:srgbClr val="1A1A1A"/>
                </a:solidFill>
                <a:latin typeface="Arial"/>
              </a:rPr>
              <a:t>The same phases on a learner, a patient, a farmer.</a:t>
            </a:r>
          </a:p>
          <a:p>
            <a:pPr>
              <a:spcAft>
                <a:spcPts val="700"/>
              </a:spcAft>
            </a:pPr>
            <a:r>
              <a:rPr sz="1600" b="0" i="0">
                <a:solidFill>
                  <a:srgbClr val="1A1A1A"/>
                </a:solidFill>
                <a:latin typeface="Arial"/>
              </a:rPr>
              <a:t>Each sector after the first costs less — the muscle is built once.</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third is the one that makes it urgent.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For thirty years, digital government meant putting paper online. That era is ending</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form became a web form, the queue an appointment. The work that delivers today is different: once-only data sharing, a shared identity, a single record that follows a person across services.</a:t>
            </a:r>
          </a:p>
          <a:p>
            <a:pPr>
              <a:spcAft>
                <a:spcPts val="1200"/>
              </a:spcAft>
            </a:pPr>
            <a:r>
              <a:rPr sz="2000" b="0" i="0">
                <a:solidFill>
                  <a:srgbClr val="1A1A1A"/>
                </a:solidFill>
                <a:latin typeface="Arial"/>
              </a:rPr>
              <a:t>That is not putting paper online. It is changing how the government operates — and it cannot be done by the IT department alone, or the policy side alone.</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Useful then. Necessary now.</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two reasons an Enterprise Architecture exists</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RE-USE</a:t>
            </a:r>
          </a:p>
          <a:p>
            <a:pPr>
              <a:spcAft>
                <a:spcPts val="700"/>
              </a:spcAft>
            </a:pPr>
            <a:r>
              <a:rPr sz="1600" b="0" i="0">
                <a:solidFill>
                  <a:srgbClr val="1A1A1A"/>
                </a:solidFill>
                <a:latin typeface="Arial"/>
              </a:rPr>
              <a:t>Inside any project, building your own is cheaper than reusing — so projects fragment.</a:t>
            </a:r>
          </a:p>
          <a:p>
            <a:pPr>
              <a:spcAft>
                <a:spcPts val="700"/>
              </a:spcAft>
            </a:pPr>
            <a:r>
              <a:rPr sz="1600" b="0" i="0">
                <a:solidFill>
                  <a:srgbClr val="1A1A1A"/>
                </a:solidFill>
                <a:latin typeface="Arial"/>
              </a:rPr>
              <a:t>No procurement rule can change that.</a:t>
            </a:r>
          </a:p>
          <a:p>
            <a:pPr>
              <a:spcAft>
                <a:spcPts val="700"/>
              </a:spcAft>
            </a:pPr>
            <a:r>
              <a:rPr sz="1600" b="0" i="0">
                <a:solidFill>
                  <a:srgbClr val="1A1A1A"/>
                </a:solidFill>
                <a:latin typeface="Arial"/>
              </a:rPr>
              <a:t>Only whole-of-government planning makes re-use rational, and only an EA gives that view.</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SHARED LANGUAGE</a:t>
            </a:r>
          </a:p>
          <a:p>
            <a:pPr>
              <a:spcAft>
                <a:spcPts val="700"/>
              </a:spcAft>
            </a:pPr>
            <a:r>
              <a:rPr sz="1600" b="0" i="0">
                <a:solidFill>
                  <a:srgbClr val="1A1A1A"/>
                </a:solidFill>
                <a:latin typeface="Arial"/>
              </a:rPr>
              <a:t>The new work needs the business side and the IT side to decide together.</a:t>
            </a:r>
          </a:p>
          <a:p>
            <a:pPr>
              <a:spcAft>
                <a:spcPts val="700"/>
              </a:spcAft>
            </a:pPr>
            <a:r>
              <a:rPr sz="1600" b="0" i="0">
                <a:solidFill>
                  <a:srgbClr val="1A1A1A"/>
                </a:solidFill>
                <a:latin typeface="Arial"/>
              </a:rPr>
              <a:t>They do not speak the same language.</a:t>
            </a:r>
          </a:p>
          <a:p>
            <a:pPr>
              <a:spcAft>
                <a:spcPts val="700"/>
              </a:spcAft>
            </a:pPr>
            <a:r>
              <a:rPr sz="1600" b="0" i="0">
                <a:solidFill>
                  <a:srgbClr val="1A1A1A"/>
                </a:solidFill>
                <a:latin typeface="Arial"/>
              </a:rPr>
              <a:t>An EA gives them a shared picture, shared words, and a forum to decide in.</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two ideas to carry out of this whole knowledge product.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Proven, portable, and necessary now — held together by the two reasons an EA exists: it makes re-use possible, and it gives business and IT a shared language.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closing one-page case for the minister.</a:t>
            </a:r>
          </a:p>
          <a:p>
            <a:pPr algn="l">
              <a:spcAft>
                <a:spcPts val="400"/>
              </a:spcAft>
            </a:pPr>
            <a:r>
              <a:rPr sz="1800" b="0" i="0">
                <a:solidFill>
                  <a:srgbClr val="595959"/>
                </a:solidFill>
                <a:latin typeface="Arial"/>
              </a:rPr>
              <a:t>The prompt in the companion material gives you a one-page closing case.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§2.5 (What is Digital Government?)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