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0" r:id="rId32"/>
    <p:sldId id="2711" r:id="rId33"/>
    <p:sldId id="2712" r:id="rId34"/>
    <p:sldId id="2713" r:id="rId35"/>
    <p:sldId id="2714" r:id="rId36"/>
    <p:sldId id="2715" r:id="rId37"/>
    <p:sldId id="2716"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second play is your re-use argument, made concrete. It shows, programme by programme, that building your own is locally cheaper and nationally ruinous, and it totals the saving the country gets from re-use. Use it to win the funding argument that an architect, armed only with a principle, usually loses.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with this play. The numbers it produces are directional, not quotations. Their job is to make the shape of the saving visible — to win the argument that re-use is worth a proper costing — not to be the costing themselves. Present the country-level total as a reason to commission a detailed business case, and name the conditions that make the saving real: the shared blocks must exist, the Board must have authority, the funding must be sustained. Oversell the numbers and a sharp finance officer will dismiss the whole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second play helps you win the hardest argument in EA: that re-use saves money, even though no single project will choose it. The trouble is that the saving is invisible at the project level and only appears across the whole government. This play makes it visible — a business case with a number the budget authority can act on.</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argument the play helps you make. Inside any one project, building its own small identity function is cheaper and faster than reusing the national one. So every project builds its own. Across ten projects, the country has paid ten times for identity, and the citizen proves who they are on paper at every counter. The saving from re-use is real, but it only exists when you add up the whole government — which is exactly the view no project has, and the budget authority rarely sees.</a:t>
            </a:r>
          </a:p>
          <a:p/>
          <a:p>
            <a:r>
              <a:t>On screen: bar length is the argument — no figures. The top pair shows why the project chooses to build; the bottom pair shows what that choice costs the country. Reveal the bottom pair on 'Across ten projects'.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 makes that addition for you. You paste in three to five of your country's programmes, with rough budgets, and the shared building blocks that exist. The AI produces a per-programme table: for each, the local cost of building its own versus consuming the shared block — and it honestly shows that consuming is often more expensive for the individual project. Then it totals across all programmes over five years, where the country-level saving finally appears as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central case for an EA, turned into a number. A procurement rule can require open standards, but it cannot make re-use the cheapest choice for the project doing the work. Only planning at the level of the whole government can show why re-use is worth it — and that is the view an Enterprise Architecture exists to give. This play takes that view, which usually lives in an architect's head, and puts it on one page the budget authority can read. The whole-of-government saving stops being a claim and becomes a calculation.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5.3.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5.3 — Play 2 — Build the whole-of-government re-use business case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5.3</a:t>
            </a:r>
          </a:p>
          <a:p>
            <a:r>
              <a:rPr sz="1200" b="0" i="1">
                <a:solidFill>
                  <a:srgbClr val="595959"/>
                </a:solidFill>
                <a:latin typeface="Arial"/>
              </a:rPr>
              <a:t>The second play builds the business case that makes re-use visible — a cost comparison showing that each project building its own is cheaper for the project but ruinous for the country — the number that wins the budget argument.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2 — Build the whole-of-government re-use business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second play builds the business case that makes re-use visible — a cost comparison showing that each project building its own is cheaper for the project but ruinous for the country — the number that wins the budget argument.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Cheaper for the project. Ruinous for the country</a:t>
            </a:r>
          </a:p>
        </p:txBody>
      </p:sp>
      <p:sp>
        <p:nvSpPr>
          <p:cNvPr id="4" name="TextBox 3"/>
          <p:cNvSpPr txBox="1"/>
          <p:nvPr/>
        </p:nvSpPr>
        <p:spPr>
          <a:xfrm>
            <a:off x="658368" y="1554480"/>
            <a:ext cx="10881360" cy="329184"/>
          </a:xfrm>
          <a:prstGeom prst="rect">
            <a:avLst/>
          </a:prstGeom>
          <a:noFill/>
        </p:spPr>
        <p:txBody>
          <a:bodyPr wrap="square">
            <a:spAutoFit/>
          </a:bodyPr>
          <a:lstStyle/>
          <a:p>
            <a:r>
              <a:rPr sz="1200" b="1" i="0">
                <a:solidFill>
                  <a:srgbClr val="595959"/>
                </a:solidFill>
                <a:latin typeface="Arial"/>
              </a:rPr>
              <a:t>INSIDE ONE PROJECT — the project manager is making the right call, for the project</a:t>
            </a:r>
          </a:p>
        </p:txBody>
      </p:sp>
      <p:sp>
        <p:nvSpPr>
          <p:cNvPr id="5" name="TextBox 4"/>
          <p:cNvSpPr txBox="1"/>
          <p:nvPr/>
        </p:nvSpPr>
        <p:spPr>
          <a:xfrm>
            <a:off x="658368" y="1938528"/>
            <a:ext cx="2377440" cy="548640"/>
          </a:xfrm>
          <a:prstGeom prst="rect">
            <a:avLst/>
          </a:prstGeom>
          <a:noFill/>
        </p:spPr>
        <p:txBody>
          <a:bodyPr wrap="square" anchor="ctr">
            <a:spAutoFit/>
          </a:bodyPr>
          <a:lstStyle/>
          <a:p>
            <a:r>
              <a:rPr sz="1400" b="1" i="0">
                <a:solidFill>
                  <a:srgbClr val="1A1A1A"/>
                </a:solidFill>
                <a:latin typeface="Arial"/>
              </a:rPr>
              <a:t>Build its own</a:t>
            </a:r>
          </a:p>
        </p:txBody>
      </p:sp>
      <p:sp>
        <p:nvSpPr>
          <p:cNvPr id="6" name="Rectangle 5"/>
          <p:cNvSpPr/>
          <p:nvPr/>
        </p:nvSpPr>
        <p:spPr>
          <a:xfrm>
            <a:off x="3172968" y="1993392"/>
            <a:ext cx="1813255"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cheaper, faster</a:t>
            </a:r>
          </a:p>
        </p:txBody>
      </p:sp>
      <p:sp>
        <p:nvSpPr>
          <p:cNvPr id="7" name="TextBox 6"/>
          <p:cNvSpPr txBox="1"/>
          <p:nvPr/>
        </p:nvSpPr>
        <p:spPr>
          <a:xfrm>
            <a:off x="5105095" y="1938528"/>
            <a:ext cx="6434632" cy="548640"/>
          </a:xfrm>
          <a:prstGeom prst="rect">
            <a:avLst/>
          </a:prstGeom>
          <a:noFill/>
        </p:spPr>
        <p:txBody>
          <a:bodyPr wrap="square" anchor="ctr">
            <a:spAutoFit/>
          </a:bodyPr>
          <a:lstStyle/>
          <a:p>
            <a:r>
              <a:rPr sz="1200" b="0" i="1">
                <a:solidFill>
                  <a:srgbClr val="595959"/>
                </a:solidFill>
                <a:latin typeface="Arial"/>
              </a:rPr>
              <a:t>so every project builds its own</a:t>
            </a:r>
          </a:p>
        </p:txBody>
      </p:sp>
      <p:sp>
        <p:nvSpPr>
          <p:cNvPr id="8" name="TextBox 7"/>
          <p:cNvSpPr txBox="1"/>
          <p:nvPr/>
        </p:nvSpPr>
        <p:spPr>
          <a:xfrm>
            <a:off x="658368" y="2761488"/>
            <a:ext cx="2377440" cy="548640"/>
          </a:xfrm>
          <a:prstGeom prst="rect">
            <a:avLst/>
          </a:prstGeom>
          <a:noFill/>
        </p:spPr>
        <p:txBody>
          <a:bodyPr wrap="square" anchor="ctr">
            <a:spAutoFit/>
          </a:bodyPr>
          <a:lstStyle/>
          <a:p>
            <a:r>
              <a:rPr sz="1400" b="1" i="0">
                <a:solidFill>
                  <a:srgbClr val="1A1A1A"/>
                </a:solidFill>
                <a:latin typeface="Arial"/>
              </a:rPr>
              <a:t>Reuse the national one</a:t>
            </a:r>
          </a:p>
        </p:txBody>
      </p:sp>
      <p:sp>
        <p:nvSpPr>
          <p:cNvPr id="9" name="Rectangle 8"/>
          <p:cNvSpPr/>
          <p:nvPr/>
        </p:nvSpPr>
        <p:spPr>
          <a:xfrm>
            <a:off x="3172968" y="2816352"/>
            <a:ext cx="2817266" cy="43891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1A1A1A"/>
                </a:solidFill>
                <a:latin typeface="Arial"/>
              </a:rPr>
              <a:t>learn it · negotiate · wait</a:t>
            </a:r>
          </a:p>
        </p:txBody>
      </p:sp>
      <p:sp>
        <p:nvSpPr>
          <p:cNvPr id="10" name="TextBox 9"/>
          <p:cNvSpPr txBox="1"/>
          <p:nvPr/>
        </p:nvSpPr>
        <p:spPr>
          <a:xfrm>
            <a:off x="658368" y="3584448"/>
            <a:ext cx="10881360" cy="329184"/>
          </a:xfrm>
          <a:prstGeom prst="rect">
            <a:avLst/>
          </a:prstGeom>
          <a:noFill/>
        </p:spPr>
        <p:txBody>
          <a:bodyPr wrap="square">
            <a:spAutoFit/>
          </a:bodyPr>
          <a:lstStyle/>
          <a:p>
            <a:r>
              <a:rPr sz="1200" b="1" i="0">
                <a:solidFill>
                  <a:srgbClr val="595959"/>
                </a:solidFill>
                <a:latin typeface="Arial"/>
              </a:rPr>
              <a:t>ACROSS TEN PROJECTS — the column no single project ever sees</a:t>
            </a:r>
          </a:p>
        </p:txBody>
      </p:sp>
      <p:sp>
        <p:nvSpPr>
          <p:cNvPr id="11" name="TextBox 10"/>
          <p:cNvSpPr txBox="1"/>
          <p:nvPr/>
        </p:nvSpPr>
        <p:spPr>
          <a:xfrm>
            <a:off x="658368" y="3968496"/>
            <a:ext cx="2377440" cy="548640"/>
          </a:xfrm>
          <a:prstGeom prst="rect">
            <a:avLst/>
          </a:prstGeom>
          <a:noFill/>
        </p:spPr>
        <p:txBody>
          <a:bodyPr wrap="square" anchor="ctr">
            <a:spAutoFit/>
          </a:bodyPr>
          <a:lstStyle/>
          <a:p>
            <a:r>
              <a:rPr sz="1400" b="1" i="0">
                <a:solidFill>
                  <a:srgbClr val="1A1A1A"/>
                </a:solidFill>
                <a:latin typeface="Arial"/>
              </a:rPr>
              <a:t>Each builds its own</a:t>
            </a:r>
          </a:p>
        </p:txBody>
      </p:sp>
      <p:sp>
        <p:nvSpPr>
          <p:cNvPr id="12" name="Rectangle 11"/>
          <p:cNvSpPr/>
          <p:nvPr/>
        </p:nvSpPr>
        <p:spPr>
          <a:xfrm>
            <a:off x="3172968"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142"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95317"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6491"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17666"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28841"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40015"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1190"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62364"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73539" y="4023359"/>
            <a:ext cx="683742"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76153" y="3968496"/>
            <a:ext cx="1163574" cy="548640"/>
          </a:xfrm>
          <a:prstGeom prst="rect">
            <a:avLst/>
          </a:prstGeom>
          <a:noFill/>
        </p:spPr>
        <p:txBody>
          <a:bodyPr wrap="square" anchor="ctr">
            <a:spAutoFit/>
          </a:bodyPr>
          <a:lstStyle/>
          <a:p>
            <a:r>
              <a:rPr sz="1200" b="0" i="1">
                <a:solidFill>
                  <a:srgbClr val="595959"/>
                </a:solidFill>
                <a:latin typeface="Arial"/>
              </a:rPr>
              <a:t>paid ten times for identity</a:t>
            </a:r>
          </a:p>
        </p:txBody>
      </p:sp>
      <p:sp>
        <p:nvSpPr>
          <p:cNvPr id="23" name="TextBox 22"/>
          <p:cNvSpPr txBox="1"/>
          <p:nvPr/>
        </p:nvSpPr>
        <p:spPr>
          <a:xfrm>
            <a:off x="658368" y="4791456"/>
            <a:ext cx="2377440" cy="548640"/>
          </a:xfrm>
          <a:prstGeom prst="rect">
            <a:avLst/>
          </a:prstGeom>
          <a:noFill/>
        </p:spPr>
        <p:txBody>
          <a:bodyPr wrap="square" anchor="ctr">
            <a:spAutoFit/>
          </a:bodyPr>
          <a:lstStyle/>
          <a:p>
            <a:r>
              <a:rPr sz="1400" b="1" i="0">
                <a:solidFill>
                  <a:srgbClr val="1A1A1A"/>
                </a:solidFill>
                <a:latin typeface="Arial"/>
              </a:rPr>
              <a:t>Build once, consume ×9</a:t>
            </a:r>
          </a:p>
        </p:txBody>
      </p:sp>
      <p:sp>
        <p:nvSpPr>
          <p:cNvPr id="24" name="Rectangle 23"/>
          <p:cNvSpPr/>
          <p:nvPr/>
        </p:nvSpPr>
        <p:spPr>
          <a:xfrm>
            <a:off x="3172968" y="4846320"/>
            <a:ext cx="1813255"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build once</a:t>
            </a:r>
          </a:p>
        </p:txBody>
      </p:sp>
      <p:sp>
        <p:nvSpPr>
          <p:cNvPr id="25" name="Rectangle 24"/>
          <p:cNvSpPr/>
          <p:nvPr/>
        </p:nvSpPr>
        <p:spPr>
          <a:xfrm>
            <a:off x="5013655" y="4846320"/>
            <a:ext cx="1311249"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nine consume</a:t>
            </a:r>
          </a:p>
        </p:txBody>
      </p:sp>
      <p:sp>
        <p:nvSpPr>
          <p:cNvPr id="26" name="TextBox 25"/>
          <p:cNvSpPr txBox="1"/>
          <p:nvPr/>
        </p:nvSpPr>
        <p:spPr>
          <a:xfrm>
            <a:off x="6443776" y="4791456"/>
            <a:ext cx="5095951" cy="548640"/>
          </a:xfrm>
          <a:prstGeom prst="rect">
            <a:avLst/>
          </a:prstGeom>
          <a:noFill/>
        </p:spPr>
        <p:txBody>
          <a:bodyPr wrap="square" anchor="ctr">
            <a:spAutoFit/>
          </a:bodyPr>
          <a:lstStyle/>
          <a:p>
            <a:r>
              <a:rPr sz="1200" b="0" i="1">
                <a:solidFill>
                  <a:srgbClr val="595959"/>
                </a:solidFill>
                <a:latin typeface="Arial"/>
              </a:rPr>
              <a:t>the citizen proves who they are once</a:t>
            </a:r>
          </a:p>
        </p:txBody>
      </p: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re-use saving only exists when you add up the whole government — the view no project has.</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play produces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paste in three to five programmes</a:t>
            </a:r>
          </a:p>
          <a:p>
            <a:pPr>
              <a:spcAft>
                <a:spcPts val="300"/>
              </a:spcAft>
            </a:pPr>
            <a:r>
              <a:rPr sz="1550" b="0" i="0">
                <a:solidFill>
                  <a:srgbClr val="595959"/>
                </a:solidFill>
                <a:latin typeface="Arial"/>
              </a:rPr>
              <a:t>Rough budget envelopes, plus the shared building blocks that already exist.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It returns a per-programme cost table</a:t>
            </a:r>
          </a:p>
          <a:p>
            <a:pPr>
              <a:spcAft>
                <a:spcPts val="300"/>
              </a:spcAft>
            </a:pPr>
            <a:r>
              <a:rPr sz="1550" b="0" i="0">
                <a:solidFill>
                  <a:srgbClr val="595959"/>
                </a:solidFill>
                <a:latin typeface="Arial"/>
              </a:rPr>
              <a:t>Build your own versus consume the shared block — honestly showing that consuming is often dearer for the single project.</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It totals across all programmes over five years</a:t>
            </a:r>
          </a:p>
          <a:p>
            <a:pPr>
              <a:spcAft>
                <a:spcPts val="300"/>
              </a:spcAft>
            </a:pPr>
            <a:r>
              <a:rPr sz="1550" b="0" i="0">
                <a:solidFill>
                  <a:srgbClr val="595959"/>
                </a:solidFill>
                <a:latin typeface="Arial"/>
              </a:rPr>
              <a:t>Where the country-level saving finally appears as a single number.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whole-of-government saving stops being a claim and becomes a calculation.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procurement rule cannot make re-use the cheapest choice for the project doing the work</a:t>
            </a:r>
          </a:p>
        </p:txBody>
      </p:sp>
      <p:sp>
        <p:nvSpPr>
          <p:cNvPr id="4" name="TextBox 3"/>
          <p:cNvSpPr txBox="1"/>
          <p:nvPr/>
        </p:nvSpPr>
        <p:spPr>
          <a:xfrm>
            <a:off x="658368" y="1600200"/>
            <a:ext cx="10881360" cy="2295144"/>
          </a:xfrm>
          <a:prstGeom prst="rect">
            <a:avLst/>
          </a:prstGeom>
          <a:noFill/>
        </p:spPr>
        <p:txBody>
          <a:bodyPr wrap="square">
            <a:spAutoFit/>
          </a:bodyPr>
          <a:lstStyle/>
          <a:p>
            <a:pPr>
              <a:spcAft>
                <a:spcPts val="1200"/>
              </a:spcAft>
            </a:pPr>
            <a:r>
              <a:rPr sz="2000" b="0" i="0">
                <a:solidFill>
                  <a:srgbClr val="1A1A1A"/>
                </a:solidFill>
                <a:latin typeface="Arial"/>
              </a:rPr>
              <a:t>A procurement rule can require open standards, but it cannot change the arithmetic inside a single project. Only planning at the level of the whole government can show why re-use is worth it — and that is the view an Enterprise Architecture exists to give.</a:t>
            </a:r>
          </a:p>
          <a:p>
            <a:pPr>
              <a:spcAft>
                <a:spcPts val="1200"/>
              </a:spcAft>
            </a:pPr>
            <a:r>
              <a:rPr sz="2000" b="0" i="0">
                <a:solidFill>
                  <a:srgbClr val="1A1A1A"/>
                </a:solidFill>
                <a:latin typeface="Arial"/>
              </a:rPr>
              <a:t>This play takes that view, which usually lives in an architect's head, and puts it on one page the budget authority can read.</a:t>
            </a:r>
          </a:p>
        </p:txBody>
      </p:sp>
      <p:sp>
        <p:nvSpPr>
          <p:cNvPr id="5" name="Rounded Rectangle 4"/>
          <p:cNvSpPr/>
          <p:nvPr/>
        </p:nvSpPr>
        <p:spPr>
          <a:xfrm>
            <a:off x="658368" y="4078224"/>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70248"/>
            <a:ext cx="10479024" cy="1051560"/>
          </a:xfrm>
          <a:prstGeom prst="rect">
            <a:avLst/>
          </a:prstGeom>
          <a:noFill/>
        </p:spPr>
        <p:txBody>
          <a:bodyPr wrap="square">
            <a:spAutoFit/>
          </a:bodyPr>
          <a:lstStyle/>
          <a:p>
            <a:pPr>
              <a:spcAft>
                <a:spcPts val="700"/>
              </a:spcAft>
            </a:pPr>
            <a:r>
              <a:rPr sz="2300" b="1" i="0">
                <a:solidFill>
                  <a:srgbClr val="006E96"/>
                </a:solidFill>
                <a:latin typeface="Arial"/>
              </a:rPr>
              <a:t>The central case for an EA, turned into a number.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 the total to motivate a costing, not to quote it</a:t>
            </a:r>
          </a:p>
        </p:txBody>
      </p:sp>
      <p:sp>
        <p:nvSpPr>
          <p:cNvPr id="4" name="TextBox 3"/>
          <p:cNvSpPr txBox="1"/>
          <p:nvPr/>
        </p:nvSpPr>
        <p:spPr>
          <a:xfrm>
            <a:off x="658368" y="1600200"/>
            <a:ext cx="10881360" cy="1984248"/>
          </a:xfrm>
          <a:prstGeom prst="rect">
            <a:avLst/>
          </a:prstGeom>
          <a:noFill/>
        </p:spPr>
        <p:txBody>
          <a:bodyPr wrap="square">
            <a:spAutoFit/>
          </a:bodyPr>
          <a:lstStyle/>
          <a:p>
            <a:pPr>
              <a:spcAft>
                <a:spcPts val="1200"/>
              </a:spcAft>
            </a:pPr>
            <a:r>
              <a:rPr sz="2000" b="0" i="0">
                <a:solidFill>
                  <a:srgbClr val="1A1A1A"/>
                </a:solidFill>
                <a:latin typeface="Arial"/>
              </a:rPr>
              <a:t>The numbers are directional. Their job is to win the argument that re-use deserves a proper costing — not to be the costing.</a:t>
            </a:r>
          </a:p>
          <a:p>
            <a:pPr>
              <a:spcAft>
                <a:spcPts val="1200"/>
              </a:spcAft>
            </a:pPr>
            <a:r>
              <a:rPr sz="2000" b="0" i="0">
                <a:solidFill>
                  <a:srgbClr val="1A1A1A"/>
                </a:solidFill>
                <a:latin typeface="Arial"/>
              </a:rPr>
              <a:t>Present the country-level total as a reason to commission a detailed business case, and name the conditions that make the saving real: the shared blocks exist, the Board has authority, the funding is sustained.</a:t>
            </a:r>
          </a:p>
        </p:txBody>
      </p:sp>
      <p:sp>
        <p:nvSpPr>
          <p:cNvPr id="5" name="Rounded Rectangle 4"/>
          <p:cNvSpPr/>
          <p:nvPr/>
        </p:nvSpPr>
        <p:spPr>
          <a:xfrm>
            <a:off x="658368" y="3767328"/>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59352"/>
            <a:ext cx="10479024" cy="1051560"/>
          </a:xfrm>
          <a:prstGeom prst="rect">
            <a:avLst/>
          </a:prstGeom>
          <a:noFill/>
        </p:spPr>
        <p:txBody>
          <a:bodyPr wrap="square">
            <a:spAutoFit/>
          </a:bodyPr>
          <a:lstStyle/>
          <a:p>
            <a:pPr>
              <a:spcAft>
                <a:spcPts val="700"/>
              </a:spcAft>
            </a:pPr>
            <a:r>
              <a:rPr sz="2300" b="1" i="0">
                <a:solidFill>
                  <a:srgbClr val="006E96"/>
                </a:solidFill>
                <a:latin typeface="Arial"/>
              </a:rPr>
              <a:t>Oversell the numbers and a sharp finance officer dismisses the whole case.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makes the re-use saving visible — a per-programme cost table totalled to a country-level number — turning the whole-of-government argument into a figure the budget authority can act 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§1.3 (GovStack Vision)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Play 2 — Build the whole-of-government re-use business case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