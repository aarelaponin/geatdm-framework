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0" r:id="rId32"/>
    <p:sldId id="2711" r:id="rId33"/>
    <p:sldId id="2712" r:id="rId34"/>
    <p:sldId id="2713" r:id="rId35"/>
    <p:sldId id="2714" r:id="rId36"/>
    <p:sldId id="2715" r:id="rId37"/>
    <p:sldId id="2716"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when you are asked whether this works beyond education, the answer is yes, and it gets cheaper as you go. The same method, a different record at the centre, the same shared platforms reused sector after sector. You are not making a one-sector decision. You are making the first move in building a national capability — which is exactly how to frame it when you make the case.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For the case you make upward, this changes the framing. You are not asking the minister to fund a tool for one sector. You are asking to build a national capability, of which the first sector is the foundation and the proof. That is a stronger case and an honest one: the first sector carries more of the cost because it builds the shared muscle; every sector after it benefits from that muscle and costs less. A minister who funds it as a one-sector project undersells it. A minister who funds it as the first wave of a national capability has understood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You may be watching this with education in mind, or you may be a director-general responsible for several sectors. Either way, a fair question is whether this approach is tied to one sector or works across your government. The answer matters for how big a commitment you are really making — and the answer is that the method is sector-agnostic, and it compounds.</a:t>
            </a:r>
          </a:p>
          <a:p/>
          <a:p>
            <a:r>
              <a:t>On screen: the copy-paste prompt is not shown on a slide — it ships in the video description so the viewer can draft the artefact on the other half of the screen.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with what stays the same, because it is most of it. The five phases — discover, assess, adapt, plan, execute and govern. The four sign-offs. The six deliverables. The reuse-before-build default. The binding governance board. None of that is specific to education. It is the method. What changes when you move to another sector is only the contents: the institutions you map, and the kind of record at the centre of the fragmentation.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that change is smaller than it looks. In education, the duplicated record at the heart of the fragmentation is the learner. In health it is the patient. In agriculture it is the farmer. In social protection it is the beneficiary. Different domain, identical shape — registered several times, re-entered on paper, blocking a flagship the minister has promised. The problem rhymes across sectors because the underlying cause is the same: no shared plan. So the same method resolves it.</a:t>
            </a:r>
          </a:p>
          <a:p/>
          <a:p>
            <a:r>
              <a:t>On screen: health, agriculture and social protection are named as sectors the method transfers to — this is the ToR §4.4 portability statement, not a set of worked examples. Each sector still needs its own discovery and assessment run on the ground.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part that changes the size of your decision. The hard, expensive part of this work is building the muscle the first time — the permanent team, the localised framework, the governance, and above all the shared platforms like identity and data exchange. Once those exist, the second sector does not rebuild them. It consumes them. The health sector reuses the identity platform the education work stood up. The agriculture sector reuses the data-exchange backbone. So the second sector is cheaper and faster than the first, and the third cheaper still. The investment you make for one sector is, in large part, an investment for all of them.</a:t>
            </a:r>
          </a:p>
          <a:p/>
          <a:p>
            <a:r>
              <a:t>Production cue: the pivotal slide of this video. Hold it a beat longer. On screen: bar length is the argument and carries no figures — the dark segments are the muscle built once; every later sector's bar is only its own architecture plus a sliver for consuming what exists.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5.3.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5.3 — Will it work for your other sectors? — the portability case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5.3</a:t>
            </a:r>
          </a:p>
          <a:p>
            <a:r>
              <a:rPr sz="1200" b="0" i="1">
                <a:solidFill>
                  <a:srgbClr val="595959"/>
                </a:solidFill>
                <a:latin typeface="Arial"/>
              </a:rPr>
              <a:t>The method is not tied to one sector — the same five phases run on any public-sector domain, and because the hard part is building the muscle once, each sector after the first is cheaper and faster.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Director-general · head of a sectoral ICT unit · technical secretary</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CASE YOU CARRY INTO THE ROOM</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Proven — four real governments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Portable — sector after sector</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commitment — the one page</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The capability — your own people</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Necessary now, not just useful</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governments · 4 killers to design out · 1 page for the minister</a:t>
            </a:r>
          </a:p>
        </p:txBody>
      </p:sp>
    </p:spTree>
    <p:extLst>
      <p:ext uri="{BB962C8B-B14F-4D97-AF65-F5344CB8AC3E}">
        <p14:creationId xmlns:p14="http://schemas.microsoft.com/office/powerpoint/2010/main" val="1196800265"/>
      </p:ext>
    </p:extLst>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Will it work for your other sectors? — the portability case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method is not tied to one sector — the same five phases run on any public-sector domain, and because the hard part is building the muscle once, each sector after the first is cheaper and faster.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Most of the method does not change at 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five phases, the four sign-offs, the six deliverables, the reuse-before-build default, the binding governance board — none of it is specific to education. It is the method.</a:t>
            </a:r>
          </a:p>
          <a:p>
            <a:pPr>
              <a:spcAft>
                <a:spcPts val="1200"/>
              </a:spcAft>
            </a:pPr>
            <a:r>
              <a:rPr sz="2000" b="0" i="0">
                <a:solidFill>
                  <a:srgbClr val="1A1A1A"/>
                </a:solidFill>
                <a:latin typeface="Arial"/>
              </a:rPr>
              <a:t>What changes when you move to another sector is only the contents: the institutions you map, and the kind of record at the centre of the fragmentation.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method travels. Only the contents change.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changes is the record at the centre</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Education — the learner</a:t>
            </a:r>
          </a:p>
          <a:p>
            <a:pPr>
              <a:spcAft>
                <a:spcPts val="300"/>
              </a:spcAft>
            </a:pPr>
            <a:r>
              <a:rPr sz="1550" b="0" i="0">
                <a:solidFill>
                  <a:srgbClr val="595959"/>
                </a:solidFill>
                <a:latin typeface="Arial"/>
              </a:rPr>
              <a:t>Registered in the school census, by the examination authority, by a grant programme.</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Health — the patient</a:t>
            </a:r>
          </a:p>
          <a:p>
            <a:pPr>
              <a:spcAft>
                <a:spcPts val="300"/>
              </a:spcAft>
            </a:pPr>
            <a:r>
              <a:rPr sz="1550" b="0" i="0">
                <a:solidFill>
                  <a:srgbClr val="595959"/>
                </a:solidFill>
                <a:latin typeface="Arial"/>
              </a:rPr>
              <a:t>The record that should follow a person between facilities.</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Agriculture — the farmer</a:t>
            </a:r>
          </a:p>
          <a:p>
            <a:pPr>
              <a:spcAft>
                <a:spcPts val="300"/>
              </a:spcAft>
            </a:pPr>
            <a:r>
              <a:rPr sz="1550" b="0" i="0">
                <a:solidFill>
                  <a:srgbClr val="595959"/>
                </a:solidFill>
                <a:latin typeface="Arial"/>
              </a:rPr>
              <a:t>The registry every subsidy and extension programme rebuilds.</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Social protection — the beneficiary</a:t>
            </a:r>
          </a:p>
          <a:p>
            <a:pPr>
              <a:spcAft>
                <a:spcPts val="300"/>
              </a:spcAft>
            </a:pPr>
            <a:r>
              <a:rPr sz="1550" b="0" i="0">
                <a:solidFill>
                  <a:srgbClr val="595959"/>
                </a:solidFill>
                <a:latin typeface="Arial"/>
              </a:rPr>
              <a:t>The list each programme keeps its own copy of.</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A portability statement, not worked examples — each sector needs its own discovery.</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second sector is cheaper because the muscle is built once</a:t>
            </a:r>
          </a:p>
        </p:txBody>
      </p:sp>
      <p:sp>
        <p:nvSpPr>
          <p:cNvPr id="4" name="TextBox 3"/>
          <p:cNvSpPr txBox="1"/>
          <p:nvPr/>
        </p:nvSpPr>
        <p:spPr>
          <a:xfrm>
            <a:off x="658368" y="1508760"/>
            <a:ext cx="10881360" cy="329184"/>
          </a:xfrm>
          <a:prstGeom prst="rect">
            <a:avLst/>
          </a:prstGeom>
          <a:noFill/>
        </p:spPr>
        <p:txBody>
          <a:bodyPr wrap="square">
            <a:spAutoFit/>
          </a:bodyPr>
          <a:lstStyle/>
          <a:p>
            <a:r>
              <a:rPr sz="1200" b="1" i="0">
                <a:solidFill>
                  <a:srgbClr val="595959"/>
                </a:solidFill>
                <a:latin typeface="Arial"/>
              </a:rPr>
              <a:t>WHAT EACH SECTOR PAYS FOR — directional, not a costing</a:t>
            </a:r>
          </a:p>
        </p:txBody>
      </p:sp>
      <p:sp>
        <p:nvSpPr>
          <p:cNvPr id="5" name="TextBox 4"/>
          <p:cNvSpPr txBox="1"/>
          <p:nvPr/>
        </p:nvSpPr>
        <p:spPr>
          <a:xfrm>
            <a:off x="658368" y="1892807"/>
            <a:ext cx="2514600" cy="548640"/>
          </a:xfrm>
          <a:prstGeom prst="rect">
            <a:avLst/>
          </a:prstGeom>
          <a:noFill/>
        </p:spPr>
        <p:txBody>
          <a:bodyPr wrap="square" anchor="ctr">
            <a:spAutoFit/>
          </a:bodyPr>
          <a:lstStyle/>
          <a:p>
            <a:r>
              <a:rPr sz="1400" b="1" i="0">
                <a:solidFill>
                  <a:srgbClr val="1A1A1A"/>
                </a:solidFill>
                <a:latin typeface="Arial"/>
              </a:rPr>
              <a:t>Sector 1 — education</a:t>
            </a:r>
          </a:p>
        </p:txBody>
      </p:sp>
      <p:sp>
        <p:nvSpPr>
          <p:cNvPr id="6" name="Rectangle 5"/>
          <p:cNvSpPr/>
          <p:nvPr/>
        </p:nvSpPr>
        <p:spPr>
          <a:xfrm>
            <a:off x="3310128" y="1947672"/>
            <a:ext cx="1289304"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permanent team</a:t>
            </a:r>
          </a:p>
        </p:txBody>
      </p:sp>
      <p:sp>
        <p:nvSpPr>
          <p:cNvPr id="7" name="Rectangle 6"/>
          <p:cNvSpPr/>
          <p:nvPr/>
        </p:nvSpPr>
        <p:spPr>
          <a:xfrm>
            <a:off x="4626864" y="1947672"/>
            <a:ext cx="1042415"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framework</a:t>
            </a:r>
          </a:p>
        </p:txBody>
      </p:sp>
      <p:sp>
        <p:nvSpPr>
          <p:cNvPr id="8" name="Rectangle 7"/>
          <p:cNvSpPr/>
          <p:nvPr/>
        </p:nvSpPr>
        <p:spPr>
          <a:xfrm>
            <a:off x="5696712" y="1947672"/>
            <a:ext cx="1042415"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governance</a:t>
            </a:r>
          </a:p>
        </p:txBody>
      </p:sp>
      <p:sp>
        <p:nvSpPr>
          <p:cNvPr id="9" name="Rectangle 8"/>
          <p:cNvSpPr/>
          <p:nvPr/>
        </p:nvSpPr>
        <p:spPr>
          <a:xfrm>
            <a:off x="6766560" y="1947672"/>
            <a:ext cx="1947672" cy="438912"/>
          </a:xfrm>
          <a:prstGeom prst="rect">
            <a:avLst/>
          </a:prstGeom>
          <a:solidFill>
            <a:srgbClr val="006E9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identity · data exchange</a:t>
            </a:r>
          </a:p>
        </p:txBody>
      </p:sp>
      <p:sp>
        <p:nvSpPr>
          <p:cNvPr id="10" name="Rectangle 9"/>
          <p:cNvSpPr/>
          <p:nvPr/>
        </p:nvSpPr>
        <p:spPr>
          <a:xfrm>
            <a:off x="8741664" y="1947672"/>
            <a:ext cx="1618488"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 architecture</a:t>
            </a:r>
          </a:p>
        </p:txBody>
      </p:sp>
      <p:sp>
        <p:nvSpPr>
          <p:cNvPr id="11" name="TextBox 10"/>
          <p:cNvSpPr txBox="1"/>
          <p:nvPr/>
        </p:nvSpPr>
        <p:spPr>
          <a:xfrm>
            <a:off x="658368" y="2642615"/>
            <a:ext cx="2514600" cy="548640"/>
          </a:xfrm>
          <a:prstGeom prst="rect">
            <a:avLst/>
          </a:prstGeom>
          <a:noFill/>
        </p:spPr>
        <p:txBody>
          <a:bodyPr wrap="square" anchor="ctr">
            <a:spAutoFit/>
          </a:bodyPr>
          <a:lstStyle/>
          <a:p>
            <a:r>
              <a:rPr sz="1400" b="1" i="0">
                <a:solidFill>
                  <a:srgbClr val="1A1A1A"/>
                </a:solidFill>
                <a:latin typeface="Arial"/>
              </a:rPr>
              <a:t>Sector 2 — health</a:t>
            </a:r>
          </a:p>
        </p:txBody>
      </p:sp>
      <p:sp>
        <p:nvSpPr>
          <p:cNvPr id="12" name="Rectangle 11"/>
          <p:cNvSpPr/>
          <p:nvPr/>
        </p:nvSpPr>
        <p:spPr>
          <a:xfrm>
            <a:off x="3310128" y="2697479"/>
            <a:ext cx="1618488"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 architecture</a:t>
            </a:r>
          </a:p>
        </p:txBody>
      </p:sp>
      <p:sp>
        <p:nvSpPr>
          <p:cNvPr id="13" name="Rectangle 12"/>
          <p:cNvSpPr/>
          <p:nvPr/>
        </p:nvSpPr>
        <p:spPr>
          <a:xfrm>
            <a:off x="4956048" y="2697479"/>
            <a:ext cx="877824"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consumes</a:t>
            </a:r>
          </a:p>
        </p:txBody>
      </p:sp>
      <p:sp>
        <p:nvSpPr>
          <p:cNvPr id="14" name="TextBox 13"/>
          <p:cNvSpPr txBox="1"/>
          <p:nvPr/>
        </p:nvSpPr>
        <p:spPr>
          <a:xfrm>
            <a:off x="5952744" y="2642615"/>
            <a:ext cx="5586984" cy="548640"/>
          </a:xfrm>
          <a:prstGeom prst="rect">
            <a:avLst/>
          </a:prstGeom>
          <a:noFill/>
        </p:spPr>
        <p:txBody>
          <a:bodyPr wrap="square" anchor="ctr">
            <a:spAutoFit/>
          </a:bodyPr>
          <a:lstStyle/>
          <a:p>
            <a:r>
              <a:rPr sz="1200" b="0" i="1">
                <a:solidFill>
                  <a:srgbClr val="595959"/>
                </a:solidFill>
                <a:latin typeface="Arial"/>
              </a:rPr>
              <a:t>reuses the identity platform education stood up</a:t>
            </a:r>
          </a:p>
        </p:txBody>
      </p:sp>
      <p:sp>
        <p:nvSpPr>
          <p:cNvPr id="15" name="TextBox 14"/>
          <p:cNvSpPr txBox="1"/>
          <p:nvPr/>
        </p:nvSpPr>
        <p:spPr>
          <a:xfrm>
            <a:off x="658368" y="3392423"/>
            <a:ext cx="2514600" cy="548640"/>
          </a:xfrm>
          <a:prstGeom prst="rect">
            <a:avLst/>
          </a:prstGeom>
          <a:noFill/>
        </p:spPr>
        <p:txBody>
          <a:bodyPr wrap="square" anchor="ctr">
            <a:spAutoFit/>
          </a:bodyPr>
          <a:lstStyle/>
          <a:p>
            <a:r>
              <a:rPr sz="1400" b="1" i="0">
                <a:solidFill>
                  <a:srgbClr val="1A1A1A"/>
                </a:solidFill>
                <a:latin typeface="Arial"/>
              </a:rPr>
              <a:t>Sector 3 — agriculture</a:t>
            </a:r>
          </a:p>
        </p:txBody>
      </p:sp>
      <p:sp>
        <p:nvSpPr>
          <p:cNvPr id="16" name="Rectangle 15"/>
          <p:cNvSpPr/>
          <p:nvPr/>
        </p:nvSpPr>
        <p:spPr>
          <a:xfrm>
            <a:off x="3310128" y="3447287"/>
            <a:ext cx="1207007"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a:t>
            </a:r>
          </a:p>
        </p:txBody>
      </p:sp>
      <p:sp>
        <p:nvSpPr>
          <p:cNvPr id="17" name="Rectangle 16"/>
          <p:cNvSpPr/>
          <p:nvPr/>
        </p:nvSpPr>
        <p:spPr>
          <a:xfrm>
            <a:off x="4544568" y="3447287"/>
            <a:ext cx="877824"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consumes</a:t>
            </a:r>
          </a:p>
        </p:txBody>
      </p:sp>
      <p:sp>
        <p:nvSpPr>
          <p:cNvPr id="18" name="TextBox 17"/>
          <p:cNvSpPr txBox="1"/>
          <p:nvPr/>
        </p:nvSpPr>
        <p:spPr>
          <a:xfrm>
            <a:off x="5541264" y="3392423"/>
            <a:ext cx="5998464" cy="548640"/>
          </a:xfrm>
          <a:prstGeom prst="rect">
            <a:avLst/>
          </a:prstGeom>
          <a:noFill/>
        </p:spPr>
        <p:txBody>
          <a:bodyPr wrap="square" anchor="ctr">
            <a:spAutoFit/>
          </a:bodyPr>
          <a:lstStyle/>
          <a:p>
            <a:r>
              <a:rPr sz="1200" b="0" i="1">
                <a:solidFill>
                  <a:srgbClr val="595959"/>
                </a:solidFill>
                <a:latin typeface="Arial"/>
              </a:rPr>
              <a:t>reuses the data-exchange backbone</a:t>
            </a:r>
          </a:p>
        </p:txBody>
      </p:sp>
      <p:sp>
        <p:nvSpPr>
          <p:cNvPr id="19" name="TextBox 18"/>
          <p:cNvSpPr txBox="1"/>
          <p:nvPr/>
        </p:nvSpPr>
        <p:spPr>
          <a:xfrm>
            <a:off x="658368" y="4142231"/>
            <a:ext cx="2514600" cy="548640"/>
          </a:xfrm>
          <a:prstGeom prst="rect">
            <a:avLst/>
          </a:prstGeom>
          <a:noFill/>
        </p:spPr>
        <p:txBody>
          <a:bodyPr wrap="square" anchor="ctr">
            <a:spAutoFit/>
          </a:bodyPr>
          <a:lstStyle/>
          <a:p>
            <a:r>
              <a:rPr sz="1400" b="1" i="0">
                <a:solidFill>
                  <a:srgbClr val="1A1A1A"/>
                </a:solidFill>
                <a:latin typeface="Arial"/>
              </a:rPr>
              <a:t>Sector 4 — social protection</a:t>
            </a:r>
          </a:p>
        </p:txBody>
      </p:sp>
      <p:sp>
        <p:nvSpPr>
          <p:cNvPr id="20" name="Rectangle 19"/>
          <p:cNvSpPr/>
          <p:nvPr/>
        </p:nvSpPr>
        <p:spPr>
          <a:xfrm>
            <a:off x="3310128" y="4197095"/>
            <a:ext cx="960120" cy="438912"/>
          </a:xfrm>
          <a:prstGeom prst="rect">
            <a:avLst/>
          </a:prstGeom>
          <a:solidFill>
            <a:srgbClr val="009CD6"/>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FFFFFF"/>
                </a:solidFill>
                <a:latin typeface="Arial"/>
              </a:rPr>
              <a:t>its own</a:t>
            </a:r>
          </a:p>
        </p:txBody>
      </p:sp>
      <p:sp>
        <p:nvSpPr>
          <p:cNvPr id="21" name="Rectangle 20"/>
          <p:cNvSpPr/>
          <p:nvPr/>
        </p:nvSpPr>
        <p:spPr>
          <a:xfrm>
            <a:off x="4297680" y="4197095"/>
            <a:ext cx="877824" cy="438912"/>
          </a:xfrm>
          <a:prstGeom prst="rect">
            <a:avLst/>
          </a:prstGeom>
          <a:solidFill>
            <a:srgbClr val="E5F5FB"/>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wrap="square"/>
          <a:lstStyle/>
          <a:p>
            <a:pPr algn="ctr"/>
            <a:r>
              <a:rPr sz="1100" b="1" i="0">
                <a:solidFill>
                  <a:srgbClr val="006E96"/>
                </a:solidFill>
                <a:latin typeface="Arial"/>
              </a:rPr>
              <a:t>consumes</a:t>
            </a:r>
          </a:p>
        </p:txBody>
      </p:sp>
      <p:sp>
        <p:nvSpPr>
          <p:cNvPr id="22" name="TextBox 21"/>
          <p:cNvSpPr txBox="1"/>
          <p:nvPr/>
        </p:nvSpPr>
        <p:spPr>
          <a:xfrm>
            <a:off x="5294376" y="4142231"/>
            <a:ext cx="6245352" cy="548640"/>
          </a:xfrm>
          <a:prstGeom prst="rect">
            <a:avLst/>
          </a:prstGeom>
          <a:noFill/>
        </p:spPr>
        <p:txBody>
          <a:bodyPr wrap="square" anchor="ctr">
            <a:spAutoFit/>
          </a:bodyPr>
          <a:lstStyle/>
          <a:p>
            <a:r>
              <a:rPr sz="1200" b="0" i="1">
                <a:solidFill>
                  <a:srgbClr val="595959"/>
                </a:solidFill>
                <a:latin typeface="Arial"/>
              </a:rPr>
              <a:t>the platforms are more complete each time</a:t>
            </a:r>
          </a:p>
        </p:txBody>
      </p:sp>
      <p:sp>
        <p:nvSpPr>
          <p:cNvPr id="23" name="TextBox 22"/>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The investment you make for one sector is, in large part, an investment for all.</a:t>
            </a:r>
          </a:p>
        </p:txBody>
      </p:sp>
      <p:sp>
        <p:nvSpPr>
          <p:cNvPr id="24" name="TextBox 2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are not buying a one-sector tool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You are building a national capability, of which the first sector is the foundation and the proof. The first sector carries more of the cost because it builds the shared muscle; every sector after it costs less.</a:t>
            </a:r>
          </a:p>
          <a:p>
            <a:pPr>
              <a:spcAft>
                <a:spcPts val="1200"/>
              </a:spcAft>
            </a:pPr>
            <a:r>
              <a:rPr sz="2000" b="0" i="0">
                <a:solidFill>
                  <a:srgbClr val="1A1A1A"/>
                </a:solidFill>
                <a:latin typeface="Arial"/>
              </a:rPr>
              <a:t>That is a stronger case to make, and an honest one.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minister who funds this as one sector undersells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method is sector-agnostic — same phases, only the central record changes — and because the muscle is built once, every sector after the first is cheaper and faster.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5.3 · Will it work for your other sectors? — the portability case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