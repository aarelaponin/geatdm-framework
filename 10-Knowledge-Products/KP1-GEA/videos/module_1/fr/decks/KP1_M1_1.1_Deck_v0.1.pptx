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diapositive 1 : Dans votre ministère, vous avez probablement observé ce schéma. Un programme construit un système pour enregistrer les citoyens. Un autre programme construit un autre système pour enregistrer les mêmes citoyens — pour un service différent. Un troisième programme en construit un troisième. Chacun prend des années. Chacun est financé séparément — souvent par un bailleur différent : la Banque mondiale, la Banque africaine de développement, un partenaire bilatéral. Aucun ne fonctionne avec les autres. Et votre citoyen remplit toujours le même formulaire, cinq fois, à cinq guichets différents.</a:t>
            </a:r>
          </a:p>
          <a:p/>
          <a:p>
            <a:r>
              <a:t>Vous ne pouvez pas corriger cela à l’intérieur d’un seul programme. Chaque programme fait exactement ce pour quoi il a été financé.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lignes apparaissent une à une, en cumul.</a:t>
            </a:r>
          </a:p>
          <a:p/>
          <a:p>
            <a:r>
              <a:t>MOMENT DE RAPPEL (avant de révéler la ligne 1) : demander au spectateur — combien de registres distincts des mêmes citoyens votre gouvernement tient-il ? Tenir deux secondes, puis révéler.</a:t>
            </a:r>
          </a:p>
          <a:p/>
          <a:p>
            <a:r>
              <a:t>VO : Il y a quatre signes que ce schéma est à l’œuvre dans votre gouvernement. Signe un — votre ministère tient plusieurs registres des mêmes personnes… Signe deux — chaque fois que deux systèmes doivent partager des données, vous construisez une nouvelle connexion à partir de zéro… Signe trois — un fournisseur a construit l’un de vos systèmes il y a dix ans ; personne d’autre ne sait comment il fonctionne… Signe quatre — chaque ministère a ses propres systèmes numériques, et ils ne se connectent pas entre les ministères. L’engagement de ne demander chaque information qu’une seule fois au citoyen n’existe que sur le papier. En pratique, c’est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 Le coût de ce schéma court dans quatre directions à la fois. Vous payez plus, parce que vous construisez plusieurs fois les mêmes choses. Le pays avance plus lentement, parce que chaque nouveau programme attend des travaux inter-systèmes que personne n’avait planifiés. Vos citoyens portent le fardeau, parce qu’ils remplissent le même formulaire à cinq endroits. Et votre ministre ne peut pas livrer un programme phare interministériel, parce que les systèmes ne communiquent pas entre eux.</a:t>
            </a:r>
          </a:p>
          <a:p/>
          <a:p>
            <a:r>
              <a:t>La case « ministre » est celle qui doit frapper le plus fort auprès d’un public de stratèges — elle est mise en évidence à dessein.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 Les quatre signes ont une seule cause profonde. Il n’y a pas de plan commun. Personne n’a écrit noir sur blanc quels sont les systèmes numériques de votre gouvernement, qui en est responsable, et comment ils doivent s’articuler. Ce plan commun, c’est précisément ce qu’apporte une architecture d’entreprise nationale. La suite de ce produit de connaissance vous montre comment en commander une, ce qu’elle livrera, et ce dont vous aurez besoin de votre ministre pour qu’elle fonctionne.</a:t>
            </a:r>
          </a:p>
          <a:p/>
          <a:p>
            <a:r>
              <a:t>C’est la diapositive la plus importante de la vidéo 1.1 — la tenir un instant de plus.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Sources, tenue ~5 secondes à la fin de la vidéo. Les liens sont compilés dans la description YouTube selon la convention UIT ; aucune URL n’est lue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Carte-titre de la vidéo autonome 1.1. Les diapositives de contenu sont identiques à la section correspondante du deck combiné KP1_M1_Deck_v0.1.pptx ; la voix off figure dans les notes de chaque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1.1 — Pourquoi votre pays a besoin d’une AE nationale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Architecture d’entreprise gouvernementale · Module 1 · Vidéo 1.1</a:t>
            </a:r>
          </a:p>
          <a:p>
            <a:r>
              <a:rPr sz="1200" b="0" i="1">
                <a:solidFill>
                  <a:srgbClr val="595959"/>
                </a:solidFill>
                <a:latin typeface="Arial"/>
              </a:rPr>
              <a:t>Sans plan commun pour les systèmes numériques de votre gouvernement, chaque nouveau programme reconstruit ce que d’autres ont déjà construit. Le pays paie. Le citoyen paie. Votre ministre ne peut pas tenir ses promesses.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Durée : </a:t>
            </a:r>
            <a:r>
              <a:rPr sz="1400" b="0" i="0">
                <a:solidFill>
                  <a:srgbClr val="1A1A1A"/>
                </a:solidFill>
                <a:latin typeface="Arial"/>
              </a:rPr>
              <a:t>~4 min</a:t>
            </a:r>
          </a:p>
          <a:p>
            <a:r>
              <a:rPr sz="1400" b="1" i="0">
                <a:solidFill>
                  <a:srgbClr val="1A1A1A"/>
                </a:solidFill>
                <a:latin typeface="Arial"/>
              </a:rPr>
              <a:t>Public cible : </a:t>
            </a:r>
            <a:r>
              <a:rPr sz="1400" b="0" i="0">
                <a:solidFill>
                  <a:srgbClr val="1A1A1A"/>
                </a:solidFill>
                <a:latin typeface="Arial"/>
              </a:rPr>
              <a:t>CDO · directeur général · ministre sectoriel</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LE CYCLE DE VIE ENSEIGNÉ DANS CE MODULE</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Découvrir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Évaluer</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Adapter</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Planifier</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Exécuter et gouverner</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validations · 6 mois jusqu’à la feuille de route · puis en continu</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VIDÉO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Pourquoi votre pays a besoin d’une AE nationale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Sans plan commun pour les systèmes numériques de votre gouvernement, chaque nouveau programme reconstruit ce que d’autres ont déjà construit. Le pays paie. Le citoyen paie. Votre ministre ne peut pas tenir ses promesses.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vidéo autonome · voix off sur diapositives de texte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Quatre signes que votre gouvernement n’a pas de plan commun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Plusieurs registres des mêmes personnes</a:t>
            </a:r>
          </a:p>
          <a:p>
            <a:pPr>
              <a:spcAft>
                <a:spcPts val="300"/>
              </a:spcAft>
            </a:pPr>
            <a:r>
              <a:rPr sz="1550" b="0" i="0">
                <a:solidFill>
                  <a:srgbClr val="595959"/>
                </a:solidFill>
                <a:latin typeface="Arial"/>
              </a:rPr>
              <a:t>La liste scolaire en a un. Le registre national d’identité en a un autre. Le registre social, un troisième. Aucun ne concorde.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Chaque interconnexion de systèmes construite à partir de zéro</a:t>
            </a:r>
          </a:p>
          <a:p>
            <a:pPr>
              <a:spcAft>
                <a:spcPts val="300"/>
              </a:spcAft>
            </a:pPr>
            <a:r>
              <a:rPr sz="1550" b="0" i="0">
                <a:solidFill>
                  <a:srgbClr val="595959"/>
                </a:solidFill>
                <a:latin typeface="Arial"/>
              </a:rPr>
              <a:t>L’an dernier, votre équipe a relié l’administration fiscale au registre des entreprises. Cette année, le même travail recommence — pour le ministère de la santé.</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Dépendance au fournisseur sur des systèmes construits il y a des années</a:t>
            </a:r>
          </a:p>
          <a:p>
            <a:pPr>
              <a:spcAft>
                <a:spcPts val="300"/>
              </a:spcAft>
            </a:pPr>
            <a:r>
              <a:rPr sz="1550" b="0" i="0">
                <a:solidFill>
                  <a:srgbClr val="595959"/>
                </a:solidFill>
                <a:latin typeface="Arial"/>
              </a:rPr>
              <a:t>Un fournisseur l’a construit il y a dix ans. Pour tout changement, vous appelez ce fournisseur et payez le prix demandé. Le fournisseur le sait, et fixe ses prix en conséquence.</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Des ministères qui ne se connectent pas entre eux</a:t>
            </a:r>
          </a:p>
          <a:p>
            <a:pPr>
              <a:spcAft>
                <a:spcPts val="300"/>
              </a:spcAft>
            </a:pPr>
            <a:r>
              <a:rPr sz="1550" b="0" i="0">
                <a:solidFill>
                  <a:srgbClr val="595959"/>
                </a:solidFill>
                <a:latin typeface="Arial"/>
              </a:rPr>
              <a:t>La citoyenne qui a donné son numéro d’identité au ministère de la santé le redonne, sur papier, en inscrivant son enfant à l’école. « Une seule fois » n’existe que sur le papier.</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Pourquoi votre pays a besoin d’une AE nationale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 pays paie dans quatre directions à la fois</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L’argent</a:t>
            </a:r>
          </a:p>
          <a:p>
            <a:pPr>
              <a:spcAft>
                <a:spcPts val="700"/>
              </a:spcAft>
            </a:pPr>
            <a:r>
              <a:rPr sz="1500" b="0" i="0">
                <a:solidFill>
                  <a:srgbClr val="595959"/>
                </a:solidFill>
                <a:latin typeface="Arial"/>
              </a:rPr>
              <a:t>Les mêmes systèmes construits plusieurs fois.</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Le temps</a:t>
            </a:r>
          </a:p>
          <a:p>
            <a:pPr>
              <a:spcAft>
                <a:spcPts val="700"/>
              </a:spcAft>
            </a:pPr>
            <a:r>
              <a:rPr sz="1500" b="0" i="0">
                <a:solidFill>
                  <a:srgbClr val="595959"/>
                </a:solidFill>
                <a:latin typeface="Arial"/>
              </a:rPr>
              <a:t>Chaque nouveau programme attend des travaux inter-systèmes que personne n’avait planifiés.</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4"/>
            <a:ext cx="4992624" cy="1965960"/>
          </a:xfrm>
          <a:prstGeom prst="rect">
            <a:avLst/>
          </a:prstGeom>
          <a:noFill/>
        </p:spPr>
        <p:txBody>
          <a:bodyPr wrap="square">
            <a:spAutoFit/>
          </a:bodyPr>
          <a:lstStyle/>
          <a:p>
            <a:pPr>
              <a:spcAft>
                <a:spcPts val="700"/>
              </a:spcAft>
            </a:pPr>
            <a:r>
              <a:rPr sz="2000" b="1" i="0">
                <a:solidFill>
                  <a:srgbClr val="1A1A1A"/>
                </a:solidFill>
                <a:latin typeface="Arial"/>
              </a:rPr>
              <a:t>Les citoyens</a:t>
            </a:r>
          </a:p>
          <a:p>
            <a:pPr>
              <a:spcAft>
                <a:spcPts val="700"/>
              </a:spcAft>
            </a:pPr>
            <a:r>
              <a:rPr sz="1500" b="0" i="0">
                <a:solidFill>
                  <a:srgbClr val="595959"/>
                </a:solidFill>
                <a:latin typeface="Arial"/>
              </a:rPr>
              <a:t>Le même formulaire, rempli à cinq endroits.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4"/>
            <a:ext cx="4992624" cy="1965960"/>
          </a:xfrm>
          <a:prstGeom prst="rect">
            <a:avLst/>
          </a:prstGeom>
          <a:noFill/>
        </p:spPr>
        <p:txBody>
          <a:bodyPr wrap="square">
            <a:spAutoFit/>
          </a:bodyPr>
          <a:lstStyle/>
          <a:p>
            <a:pPr>
              <a:spcAft>
                <a:spcPts val="700"/>
              </a:spcAft>
            </a:pPr>
            <a:r>
              <a:rPr sz="2000" b="1" i="0">
                <a:solidFill>
                  <a:srgbClr val="FFFFFF"/>
                </a:solidFill>
                <a:latin typeface="Arial"/>
              </a:rPr>
              <a:t>Votre ministre</a:t>
            </a:r>
          </a:p>
          <a:p>
            <a:pPr>
              <a:spcAft>
                <a:spcPts val="700"/>
              </a:spcAft>
            </a:pPr>
            <a:r>
              <a:rPr sz="1500" b="0" i="0">
                <a:solidFill>
                  <a:srgbClr val="FFFFFF"/>
                </a:solidFill>
                <a:latin typeface="Arial"/>
              </a:rPr>
              <a:t>Les programmes phares interministériels n’aboutissent pas — les systèmes ne communiquent pas.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Pourquoi votre pays a besoin d’une AE nationale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Une seule cause profonde : il n’y a pas de plan commun</a:t>
            </a:r>
          </a:p>
        </p:txBody>
      </p:sp>
      <p:sp>
        <p:nvSpPr>
          <p:cNvPr id="4" name="TextBox 3"/>
          <p:cNvSpPr txBox="1"/>
          <p:nvPr/>
        </p:nvSpPr>
        <p:spPr>
          <a:xfrm>
            <a:off x="658368" y="1828800"/>
            <a:ext cx="10789920" cy="2377440"/>
          </a:xfrm>
          <a:prstGeom prst="rect">
            <a:avLst/>
          </a:prstGeom>
          <a:noFill/>
        </p:spPr>
        <p:txBody>
          <a:bodyPr wrap="square">
            <a:spAutoFit/>
          </a:bodyPr>
          <a:lstStyle/>
          <a:p>
            <a:pPr>
              <a:spcAft>
                <a:spcPts val="1000"/>
              </a:spcAft>
            </a:pPr>
            <a:r>
              <a:rPr sz="2200" b="0" i="0">
                <a:solidFill>
                  <a:srgbClr val="1A1A1A"/>
                </a:solidFill>
                <a:latin typeface="Arial"/>
              </a:rPr>
              <a:t>Personne n’a écrit noir sur blanc quels sont les systèmes numériques de votre gouvernement, qui en est responsable, et comment ils doivent s’articuler.</a:t>
            </a:r>
          </a:p>
        </p:txBody>
      </p:sp>
      <p:sp>
        <p:nvSpPr>
          <p:cNvPr id="5" name="Rounded Rectangle 4"/>
          <p:cNvSpPr/>
          <p:nvPr/>
        </p:nvSpPr>
        <p:spPr>
          <a:xfrm>
            <a:off x="658368" y="4023360"/>
            <a:ext cx="10789920" cy="14630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15384"/>
            <a:ext cx="10387584" cy="1188720"/>
          </a:xfrm>
          <a:prstGeom prst="rect">
            <a:avLst/>
          </a:prstGeom>
          <a:noFill/>
        </p:spPr>
        <p:txBody>
          <a:bodyPr wrap="square">
            <a:spAutoFit/>
          </a:bodyPr>
          <a:lstStyle/>
          <a:p>
            <a:pPr>
              <a:spcAft>
                <a:spcPts val="700"/>
              </a:spcAft>
            </a:pPr>
            <a:r>
              <a:rPr sz="2600" b="1" i="0">
                <a:solidFill>
                  <a:srgbClr val="006E96"/>
                </a:solidFill>
                <a:latin typeface="Arial"/>
              </a:rPr>
              <a:t>Une architecture d’entreprise nationale est ce plan.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Pourquoi votre pays a besoin d’une AE nationale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Énoncé du problème (paera.govstack.global)</a:t>
            </a:r>
          </a:p>
          <a:p>
            <a:pPr>
              <a:spcAft>
                <a:spcPts val="1200"/>
              </a:spcAft>
            </a:pPr>
            <a:r>
              <a:rPr sz="1700" b="0" i="0">
                <a:solidFill>
                  <a:srgbClr val="1A1A1A"/>
                </a:solidFill>
                <a:latin typeface="Arial"/>
              </a:rPr>
              <a:t>•  PAERA v1.0 — §5.2 Principe n°5, « Une seule fois » (Once-Only)</a:t>
            </a:r>
          </a:p>
          <a:p>
            <a:pPr>
              <a:spcAft>
                <a:spcPts val="1200"/>
              </a:spcAft>
            </a:pPr>
            <a:r>
              <a:rPr sz="1700" b="0" i="0">
                <a:solidFill>
                  <a:srgbClr val="1A1A1A"/>
                </a:solidFill>
                <a:latin typeface="Arial"/>
              </a:rPr>
              <a:t>•  Cadre européen d’interopérabilité (EIF) — principe « une seule fois »</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Le lien se trouve dans la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Pourquoi votre pays a besoin d’une AE nationale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