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1" r:id="rId23"/>
    <p:sldId id="2702" r:id="rId24"/>
    <p:sldId id="2703" r:id="rId25"/>
    <p:sldId id="2704" r:id="rId26"/>
    <p:sldId id="2705" r:id="rId27"/>
    <p:sldId id="2706" r:id="rId28"/>
    <p:sldId id="270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a set of documents and diagrams. Together, they describe how your government works. What services it delivers, and to whom. What data it holds, and who owns it. What software supports those services. What infrastructure runs underneath.</a:t>
            </a:r>
          </a:p>
          <a:p/>
          <a:p>
            <a:r>
              <a:t>An EA is not software. It is not a vendor product. It is not a tool you buy. It is the agreed picture.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EA is not software. It is not a vendor product. It is not a tool you buy. It is the agreed picture.</a:t>
            </a:r>
          </a:p>
          <a:p/>
          <a:p>
            <a:r>
              <a:t>Why does it matter that everyone has the same picture? Because every important conversation in your ministry breaks down on this point. This slide is the Strategist's first line of defence against vendor pitches — when a vendor says 'our product gives you an EA', this is the slide that says no,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uses the picture to brief cabinet... The donor uses the picture before they fund the next programme... The vendor uses the picture when they propose a system... And you, the middle manager, use the picture to keep all three aligned.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build top to bottom, cumulative. Order is deliberate — BDAT with data before applications, reflecting data-first architecture.</a:t>
            </a:r>
          </a:p>
          <a:p/>
          <a:p>
            <a:r>
              <a:t>VO: Every EA looks at your government in four parts. Services — what your government does, and for whom... Data — the information your government holds. Data is the longest-lived part of any government. Applications come and go. Technology cycles every decade. Data outlasts them all. Applications — the software that uses that data... Technology — the basics that must be running for anything else to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write down all four parts, your government's digital landscape stops being a list of unrelated projects. It starts looking like a system. A system you can change deliberately. A system you can plan investments against. A system you can talk about across ministries, with donors and with vendors, without re-explaining the basics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what an Enterprise Architecture is. Not software. Not a tool. The agreed picture of your government — and the tool that lets you, instead of the vendor or the donor, lead the conversation about what comes next.</a:t>
            </a:r>
          </a:p>
          <a:p/>
          <a:p>
            <a:r>
              <a:t>Screenshot-ready summary; Strategists reuse this line in their own briefings.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1.2.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1.2 — What an EA actually is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1.2</a:t>
            </a:r>
          </a:p>
          <a:p>
            <a:r>
              <a:rPr sz="12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~3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an EA actually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~3 minutes · standalone video · voice-over on text 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is the agreed picture — not software you buy</a:t>
            </a:r>
          </a:p>
        </p:txBody>
      </p:sp>
      <p:sp>
        <p:nvSpPr>
          <p:cNvPr id="4" name="Rounded Rectangle 3"/>
          <p:cNvSpPr/>
          <p:nvPr/>
        </p:nvSpPr>
        <p:spPr>
          <a:xfrm>
            <a:off x="658368" y="1600200"/>
            <a:ext cx="5394960" cy="4297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46504"/>
            <a:ext cx="4992624" cy="4023360"/>
          </a:xfrm>
          <a:prstGeom prst="rect">
            <a:avLst/>
          </a:prstGeom>
          <a:noFill/>
        </p:spPr>
        <p:txBody>
          <a:bodyPr wrap="square">
            <a:spAutoFit/>
          </a:bodyPr>
          <a:lstStyle/>
          <a:p>
            <a:pPr>
              <a:spcAft>
                <a:spcPts val="700"/>
              </a:spcAft>
            </a:pPr>
            <a:r>
              <a:rPr sz="2000" b="1" i="0">
                <a:solidFill>
                  <a:srgbClr val="006E96"/>
                </a:solidFill>
                <a:latin typeface="Arial"/>
              </a:rPr>
              <a:t>An EA is</a:t>
            </a:r>
          </a:p>
          <a:p>
            <a:pPr>
              <a:spcAft>
                <a:spcPts val="700"/>
              </a:spcAft>
            </a:pPr>
            <a:r>
              <a:rPr sz="1700" b="0" i="0">
                <a:solidFill>
                  <a:srgbClr val="1A1A1A"/>
                </a:solidFill>
                <a:latin typeface="Arial"/>
              </a:rPr>
              <a:t>the agreed picture of your government</a:t>
            </a:r>
          </a:p>
          <a:p>
            <a:pPr>
              <a:spcAft>
                <a:spcPts val="700"/>
              </a:spcAft>
            </a:pPr>
            <a:r>
              <a:rPr sz="1700" b="0" i="0">
                <a:solidFill>
                  <a:srgbClr val="1A1A1A"/>
                </a:solidFill>
                <a:latin typeface="Arial"/>
              </a:rPr>
              <a:t>a set of documents and diagrams</a:t>
            </a:r>
          </a:p>
          <a:p>
            <a:pPr>
              <a:spcAft>
                <a:spcPts val="700"/>
              </a:spcAft>
            </a:pPr>
            <a:r>
              <a:rPr sz="1700" b="0" i="0">
                <a:solidFill>
                  <a:srgbClr val="1A1A1A"/>
                </a:solidFill>
                <a:latin typeface="Arial"/>
              </a:rPr>
              <a:t>the same description everyone uses — minister, CIO, donor, vendor</a:t>
            </a:r>
          </a:p>
        </p:txBody>
      </p:sp>
      <p:sp>
        <p:nvSpPr>
          <p:cNvPr id="6" name="Rounded Rectangle 5"/>
          <p:cNvSpPr/>
          <p:nvPr/>
        </p:nvSpPr>
        <p:spPr>
          <a:xfrm>
            <a:off x="6281928" y="1600200"/>
            <a:ext cx="5394960" cy="42976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46504"/>
            <a:ext cx="4992624" cy="4023360"/>
          </a:xfrm>
          <a:prstGeom prst="rect">
            <a:avLst/>
          </a:prstGeom>
          <a:noFill/>
        </p:spPr>
        <p:txBody>
          <a:bodyPr wrap="square">
            <a:spAutoFit/>
          </a:bodyPr>
          <a:lstStyle/>
          <a:p>
            <a:pPr>
              <a:spcAft>
                <a:spcPts val="700"/>
              </a:spcAft>
            </a:pPr>
            <a:r>
              <a:rPr sz="2000" b="1" i="0">
                <a:solidFill>
                  <a:srgbClr val="595959"/>
                </a:solidFill>
                <a:latin typeface="Arial"/>
              </a:rPr>
              <a:t>An EA is not</a:t>
            </a:r>
          </a:p>
          <a:p>
            <a:pPr>
              <a:spcAft>
                <a:spcPts val="700"/>
              </a:spcAft>
            </a:pPr>
            <a:r>
              <a:rPr sz="1700" b="0" i="0">
                <a:solidFill>
                  <a:srgbClr val="1A1A1A"/>
                </a:solidFill>
                <a:latin typeface="Arial"/>
              </a:rPr>
              <a:t>software</a:t>
            </a:r>
          </a:p>
          <a:p>
            <a:pPr>
              <a:spcAft>
                <a:spcPts val="700"/>
              </a:spcAft>
            </a:pPr>
            <a:r>
              <a:rPr sz="1700" b="0" i="0">
                <a:solidFill>
                  <a:srgbClr val="1A1A1A"/>
                </a:solidFill>
                <a:latin typeface="Arial"/>
              </a:rPr>
              <a:t>a vendor product</a:t>
            </a:r>
          </a:p>
          <a:p>
            <a:pPr>
              <a:spcAft>
                <a:spcPts val="700"/>
              </a:spcAft>
            </a:pPr>
            <a:r>
              <a:rPr sz="1700" b="0" i="0">
                <a:solidFill>
                  <a:srgbClr val="1A1A1A"/>
                </a:solidFill>
                <a:latin typeface="Arial"/>
              </a:rPr>
              <a:t>a tool you procure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 donor, vendor — all use the same picture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Your minister — to brief cabinet</a:t>
            </a:r>
          </a:p>
          <a:p>
            <a:pPr>
              <a:spcAft>
                <a:spcPts val="300"/>
              </a:spcAft>
            </a:pPr>
            <a:r>
              <a:rPr sz="1550" b="0" i="0">
                <a:solidFill>
                  <a:srgbClr val="595959"/>
                </a:solidFill>
                <a:latin typeface="Arial"/>
              </a:rPr>
              <a:t>They cannot describe what the country’s digital spend is buying without an agreed picture of what the systems are.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The donor — before funding the next programme</a:t>
            </a:r>
          </a:p>
          <a:p>
            <a:pPr>
              <a:spcAft>
                <a:spcPts val="300"/>
              </a:spcAft>
            </a:pPr>
            <a:r>
              <a:rPr sz="1550" b="0" i="0">
                <a:solidFill>
                  <a:srgbClr val="595959"/>
                </a:solidFill>
                <a:latin typeface="Arial"/>
              </a:rPr>
              <a:t>They want to see how their investment fits with the others.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The vendor — to match what they propose</a:t>
            </a:r>
          </a:p>
          <a:p>
            <a:pPr>
              <a:spcAft>
                <a:spcPts val="300"/>
              </a:spcAft>
            </a:pPr>
            <a:r>
              <a:rPr sz="1550" b="0" i="0">
                <a:solidFill>
                  <a:srgbClr val="595959"/>
                </a:solidFill>
                <a:latin typeface="Arial"/>
              </a:rPr>
              <a:t>What they build must fit what is already there.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You — to keep all three aligned</a:t>
            </a:r>
          </a:p>
          <a:p>
            <a:pPr>
              <a:spcAft>
                <a:spcPts val="300"/>
              </a:spcAft>
            </a:pPr>
            <a:r>
              <a:rPr sz="1550" b="0" i="0">
                <a:solidFill>
                  <a:srgbClr val="595959"/>
                </a:solidFill>
                <a:latin typeface="Arial"/>
              </a:rPr>
              <a:t>So the donor funds what the country needs, the vendor builds what fits, and the minister tells a coherent story.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picture has four parts</a:t>
            </a:r>
          </a:p>
        </p:txBody>
      </p:sp>
      <p:sp>
        <p:nvSpPr>
          <p:cNvPr id="4" name="Rounded Rectangle 3"/>
          <p:cNvSpPr/>
          <p:nvPr/>
        </p:nvSpPr>
        <p:spPr>
          <a:xfrm>
            <a:off x="658368" y="146304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09344"/>
            <a:ext cx="8321040" cy="841248"/>
          </a:xfrm>
          <a:prstGeom prst="rect">
            <a:avLst/>
          </a:prstGeom>
          <a:noFill/>
        </p:spPr>
        <p:txBody>
          <a:bodyPr wrap="square">
            <a:spAutoFit/>
          </a:bodyPr>
          <a:lstStyle/>
          <a:p>
            <a:pPr>
              <a:spcAft>
                <a:spcPts val="700"/>
              </a:spcAft>
            </a:pPr>
            <a:r>
              <a:rPr sz="1800" b="1" i="0">
                <a:solidFill>
                  <a:srgbClr val="1A1A1A"/>
                </a:solidFill>
                <a:latin typeface="Arial"/>
              </a:rPr>
              <a:t>Services</a:t>
            </a:r>
            <a:r>
              <a:rPr sz="1400" b="0" i="0">
                <a:solidFill>
                  <a:srgbClr val="595959"/>
                </a:solidFill>
                <a:latin typeface="Arial"/>
              </a:rPr>
              <a:t>   What your government does, and for whom. The layer your minister talks about — the layer the public sees.</a:t>
            </a:r>
          </a:p>
        </p:txBody>
      </p:sp>
      <p:sp>
        <p:nvSpPr>
          <p:cNvPr id="6" name="Rounded Rectangle 5"/>
          <p:cNvSpPr/>
          <p:nvPr/>
        </p:nvSpPr>
        <p:spPr>
          <a:xfrm>
            <a:off x="658368" y="2651760"/>
            <a:ext cx="8778240" cy="1115568"/>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798064"/>
            <a:ext cx="8321040" cy="841248"/>
          </a:xfrm>
          <a:prstGeom prst="rect">
            <a:avLst/>
          </a:prstGeom>
          <a:noFill/>
        </p:spPr>
        <p:txBody>
          <a:bodyPr wrap="square">
            <a:spAutoFit/>
          </a:bodyPr>
          <a:lstStyle/>
          <a:p>
            <a:pPr>
              <a:spcAft>
                <a:spcPts val="700"/>
              </a:spcAft>
            </a:pPr>
            <a:r>
              <a:rPr sz="1800" b="1" i="0">
                <a:solidFill>
                  <a:srgbClr val="FFFFFF"/>
                </a:solidFill>
                <a:latin typeface="Arial"/>
              </a:rPr>
              <a:t>Data</a:t>
            </a:r>
            <a:r>
              <a:rPr sz="1400" b="0" i="0">
                <a:solidFill>
                  <a:srgbClr val="FFFFFF"/>
                </a:solidFill>
                <a:latin typeface="Arial"/>
              </a:rPr>
              <a:t>   The information your government holds, who owns it, where the authoritative copy lives.</a:t>
            </a:r>
          </a:p>
        </p:txBody>
      </p:sp>
      <p:sp>
        <p:nvSpPr>
          <p:cNvPr id="8" name="Rounded Rectangle 7"/>
          <p:cNvSpPr/>
          <p:nvPr/>
        </p:nvSpPr>
        <p:spPr>
          <a:xfrm>
            <a:off x="658368" y="384048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986784"/>
            <a:ext cx="8321040" cy="841248"/>
          </a:xfrm>
          <a:prstGeom prst="rect">
            <a:avLst/>
          </a:prstGeom>
          <a:noFill/>
        </p:spPr>
        <p:txBody>
          <a:bodyPr wrap="square">
            <a:spAutoFit/>
          </a:bodyPr>
          <a:lstStyle/>
          <a:p>
            <a:pPr>
              <a:spcAft>
                <a:spcPts val="700"/>
              </a:spcAft>
            </a:pPr>
            <a:r>
              <a:rPr sz="1800" b="1" i="0">
                <a:solidFill>
                  <a:srgbClr val="1A1A1A"/>
                </a:solidFill>
                <a:latin typeface="Arial"/>
              </a:rPr>
              <a:t>Applications</a:t>
            </a:r>
            <a:r>
              <a:rPr sz="1400" b="0" i="0">
                <a:solidFill>
                  <a:srgbClr val="595959"/>
                </a:solidFill>
                <a:latin typeface="Arial"/>
              </a:rPr>
              <a:t>   The software that uses the data to deliver the services. What gets bought, built, integrated, replaced.</a:t>
            </a:r>
          </a:p>
        </p:txBody>
      </p:sp>
      <p:sp>
        <p:nvSpPr>
          <p:cNvPr id="10" name="Rounded Rectangle 9"/>
          <p:cNvSpPr/>
          <p:nvPr/>
        </p:nvSpPr>
        <p:spPr>
          <a:xfrm>
            <a:off x="658368" y="502920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175504"/>
            <a:ext cx="8321040" cy="841248"/>
          </a:xfrm>
          <a:prstGeom prst="rect">
            <a:avLst/>
          </a:prstGeom>
          <a:noFill/>
        </p:spPr>
        <p:txBody>
          <a:bodyPr wrap="square">
            <a:spAutoFit/>
          </a:bodyPr>
          <a:lstStyle/>
          <a:p>
            <a:pPr>
              <a:spcAft>
                <a:spcPts val="700"/>
              </a:spcAft>
            </a:pPr>
            <a:r>
              <a:rPr sz="1800" b="1" i="0">
                <a:solidFill>
                  <a:srgbClr val="1A1A1A"/>
                </a:solidFill>
                <a:latin typeface="Arial"/>
              </a:rPr>
              <a:t>Technology</a:t>
            </a:r>
            <a:r>
              <a:rPr sz="1400" b="0" i="0">
                <a:solidFill>
                  <a:srgbClr val="595959"/>
                </a:solidFill>
                <a:latin typeface="Arial"/>
              </a:rPr>
              <a:t>   The infrastructure underneath — networks, hosting, identity, security.</a:t>
            </a:r>
          </a:p>
        </p:txBody>
      </p:sp>
      <p:sp>
        <p:nvSpPr>
          <p:cNvPr id="12" name="TextBox 11"/>
          <p:cNvSpPr txBox="1"/>
          <p:nvPr/>
        </p:nvSpPr>
        <p:spPr>
          <a:xfrm>
            <a:off x="9646920" y="2331720"/>
            <a:ext cx="2103120" cy="2011680"/>
          </a:xfrm>
          <a:prstGeom prst="rect">
            <a:avLst/>
          </a:prstGeom>
          <a:noFill/>
        </p:spPr>
        <p:txBody>
          <a:bodyPr wrap="square">
            <a:spAutoFit/>
          </a:bodyPr>
          <a:lstStyle/>
          <a:p>
            <a:pPr>
              <a:spcAft>
                <a:spcPts val="800"/>
              </a:spcAft>
            </a:pPr>
            <a:r>
              <a:rPr sz="1300" b="0" i="1">
                <a:solidFill>
                  <a:srgbClr val="595959"/>
                </a:solidFill>
                <a:latin typeface="Arial"/>
              </a:rPr>
              <a:t>Applications come and go. Technology cycles every decade.</a:t>
            </a:r>
          </a:p>
          <a:p>
            <a:pPr>
              <a:spcAft>
                <a:spcPts val="800"/>
              </a:spcAft>
            </a:pPr>
            <a:r>
              <a:rPr sz="1500" b="1" i="0">
                <a:solidFill>
                  <a:srgbClr val="006E96"/>
                </a:solidFill>
                <a:latin typeface="Arial"/>
              </a:rPr>
              <a:t>Data outlasts them all.</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down, a list of projects becomes a system</a:t>
            </a:r>
          </a:p>
        </p:txBody>
      </p:sp>
      <p:sp>
        <p:nvSpPr>
          <p:cNvPr id="4" name="TextBox 3"/>
          <p:cNvSpPr txBox="1"/>
          <p:nvPr/>
        </p:nvSpPr>
        <p:spPr>
          <a:xfrm>
            <a:off x="658368" y="1737360"/>
            <a:ext cx="10789920" cy="4114800"/>
          </a:xfrm>
          <a:prstGeom prst="rect">
            <a:avLst/>
          </a:prstGeom>
          <a:noFill/>
        </p:spPr>
        <p:txBody>
          <a:bodyPr wrap="square">
            <a:spAutoFit/>
          </a:bodyPr>
          <a:lstStyle/>
          <a:p>
            <a:pPr>
              <a:spcAft>
                <a:spcPts val="1400"/>
              </a:spcAft>
            </a:pPr>
            <a:r>
              <a:rPr sz="2200" b="0" i="0">
                <a:solidFill>
                  <a:srgbClr val="1A1A1A"/>
                </a:solidFill>
                <a:latin typeface="Arial"/>
              </a:rPr>
              <a:t>When you write down all four parts, your digital landscape stops being a list of unrelated projects. It starts looking like a system —</a:t>
            </a:r>
          </a:p>
          <a:p>
            <a:pPr>
              <a:spcAft>
                <a:spcPts val="1400"/>
              </a:spcAft>
            </a:pPr>
            <a:r>
              <a:rPr sz="2200" b="0" i="0">
                <a:solidFill>
                  <a:srgbClr val="1A1A1A"/>
                </a:solidFill>
                <a:latin typeface="Arial"/>
              </a:rPr>
              <a:t>a system you can change deliberately,</a:t>
            </a:r>
          </a:p>
          <a:p>
            <a:pPr>
              <a:spcAft>
                <a:spcPts val="1400"/>
              </a:spcAft>
            </a:pPr>
            <a:r>
              <a:rPr sz="2200" b="0" i="0">
                <a:solidFill>
                  <a:srgbClr val="1A1A1A"/>
                </a:solidFill>
                <a:latin typeface="Arial"/>
              </a:rPr>
              <a:t>a system you can plan investments against,</a:t>
            </a:r>
          </a:p>
          <a:p>
            <a:pPr>
              <a:spcAft>
                <a:spcPts val="1400"/>
              </a:spcAft>
            </a:pPr>
            <a:r>
              <a:rPr sz="2200" b="0" i="0">
                <a:solidFill>
                  <a:srgbClr val="1A1A1A"/>
                </a:solidFill>
                <a:latin typeface="Arial"/>
              </a:rPr>
              <a:t>a system you can talk about across ministries, with donors and vendors, without re-explaining the basics every time.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is the agreed picture of your government — and the tool that lets you lead the conversation about what comes next.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TOGAF — BDAT layering reference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