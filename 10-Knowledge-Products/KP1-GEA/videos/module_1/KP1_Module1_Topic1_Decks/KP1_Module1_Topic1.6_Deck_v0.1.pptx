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0" r:id="rId11"/>
    <p:sldId id="2731" r:id="rId10"/>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11" Type="http://schemas.openxmlformats.org/officeDocument/2006/relationships/slide" Target="slides/slide3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1.6.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you take one picture away from this knowledge product, take this one. The EA lifecycle on a single page. The picture that goes on the wall of the EA Board room. The picture your minister puts in every cabinet briefing. The picture your team points at when they explain where the work is.</a:t>
            </a:r>
          </a:p>
          <a:p/>
          <a:p>
            <a:r>
              <a:t>RETRIEVAL MOMENT: before showing the next slide,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Each one answers a single question. Each produces a single deliverable. Each ends with a sign-off by the senior decision-maker. The first four phases together take about six months. The fifth phase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one. Discover. The question: what exists today? Your architects map the current digital landscape — the strategies in force, the systems that exist, the sector plans, the stakeholders, the legal framework. The deliverable is a Discovery brief: the picture of where your country is, with no recommendations yet. The sign-off: the senior decision-maker confirms the picture is accurate enough to build on. Three to four weeks.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Assess. The question: what is the gap? Architects compare what they found in Discovery against PAERA-anchored standards. They write the current-state picture in the four parts of an EA. They produce maturity scorecards. They write the gap analysis. The sign-off: the gap analysis reflects ground truth.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Adapt. The question: what fits our country? PAERA is a starting point, not a constraint. Architects work with sector CIOs and your EA Board to shape the framework to your country. For each building block, the question is: do we build it, do we buy it from the marketplace, do we share another country's, or do we test in a sandbox first?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Plan. The question: how do we get there? Architects describe the target state and sequence the work into a roadmap with investment estimates. The senior decision-maker and the EA Board approve the roadmap and commit budget. This is the deliverable your minister can take to cabinet.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Execute and Govern. The question: how do we sustain this? The approved roadmap becomes a project pipeline. The small permanent EA team — two to four senior architects — turns the EA from a one-time delivery into a living repository. The EA Board reviews new projects against the architecture, approves cross-ministry decisions, enforces boundaries between domains. Quarterly reviews.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Four sign-offs in six months. Your minister does not review every diagram. They review at four moments, each tied to a defined deliverable. Between sign-offs, the architects work. The minister's job in between is to remove obstacles — the political ones, mostly. The technical ones are why the architects were hired.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phases depend on each other, in order. Discover before you measure. Measure before you adapt. Adapt before you plan. Plan before you execute. Govern always. You can skip a phase, but you will pay for it later — usually several times what skipping appeared to save.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1.6 — The lifecycle on one page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1.6</a:t>
            </a:r>
          </a:p>
          <a:p>
            <a:r>
              <a:rPr sz="1200" b="0" i="1">
                <a:solidFill>
                  <a:srgbClr val="595959"/>
                </a:solidFill>
                <a:latin typeface="Arial"/>
              </a:rPr>
              <a:t>Six months from start to a roadmap your minister can take to cabinet. Then ongoing governance. Five phases. Four sign-offs. One continuous practice.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The centrepiece of Module 1 — designed to be screenshot and put on the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1 — Discover</a:t>
            </a:r>
          </a:p>
        </p:txBody>
      </p:sp>
      <p:sp>
        <p:nvSpPr>
          <p:cNvPr id="4" name="Rounded Rectangle 3"/>
          <p:cNvSpPr/>
          <p:nvPr/>
        </p:nvSpPr>
        <p:spPr>
          <a:xfrm>
            <a:off x="7360920"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exists today?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Discovery brief — the current picture: strategies in force, systems, sector plans, stakeholders, legal framework. No recommendations yet.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senior decision-maker confirms the picture is accurate enough to build on.</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3 to 4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2 — Assess</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is the gap?</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Assessment report — current-state picture in the four parts of an EA, maturity scorecards, gap analysis against PAERA-anchored standards.</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gap analysis reflects ground truth — it names the right problems in the right priority.</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3 — Adapt</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fits our country?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Localised framework with sourcing decisions — your principles, your sector priorities; per building block: build, buy, share, or sandbox first.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framework and the build / buy / share approach.</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4 to 6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4 — Plan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get there?</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Roadmap and investment plan — target state, sequenced work, investment estimates. The deliverable your minister can take to cabinet.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Roadmap approved, budget committed — by the senior decision-maker and the EA Board.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5 — Execute &amp; Govern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sustain this?</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 living, governed EA — repository plus practice. The 2–4 permanent architects keep it alive; the EA Board reviews projects against it.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CADENCE</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Quarterly Board reviews — indefinitely. New projects reviewed against the architecture; cross-ministry decisions approved; domain boundaries enforced.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Ongoing — your country’s permanent way of working</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480560"/>
            <a:ext cx="10515600" cy="1463040"/>
          </a:xfrm>
          <a:prstGeom prst="rect">
            <a:avLst/>
          </a:prstGeom>
          <a:noFill/>
        </p:spPr>
        <p:txBody>
          <a:bodyPr wrap="square">
            <a:spAutoFit/>
          </a:bodyPr>
          <a:lstStyle/>
          <a:p>
            <a:pPr>
              <a:spcAft>
                <a:spcPts val="800"/>
              </a:spcAft>
            </a:pPr>
            <a:r>
              <a:rPr sz="1800" b="0" i="0">
                <a:solidFill>
                  <a:srgbClr val="1A1A1A"/>
                </a:solidFill>
                <a:latin typeface="Arial"/>
              </a:rPr>
              <a:t>Between sign-offs, the architects work.</a:t>
            </a:r>
          </a:p>
          <a:p>
            <a:pPr>
              <a:spcAft>
                <a:spcPts val="800"/>
              </a:spcAft>
            </a:pPr>
            <a:r>
              <a:rPr sz="1800" b="0" i="0">
                <a:solidFill>
                  <a:srgbClr val="595959"/>
                </a:solidFill>
                <a:latin typeface="Arial"/>
              </a:rPr>
              <a:t>The minister’s job in between is to remove obstacles — the political ones, mostly. The technical ones are why the architects were hired.</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can skip a phase — and pay for it several times over</a:t>
            </a:r>
          </a:p>
        </p:txBody>
      </p:sp>
      <p:sp>
        <p:nvSpPr>
          <p:cNvPr id="4" name="TextBox 3"/>
          <p:cNvSpPr txBox="1"/>
          <p:nvPr/>
        </p:nvSpPr>
        <p:spPr>
          <a:xfrm>
            <a:off x="822960" y="1737360"/>
            <a:ext cx="10515600" cy="3108960"/>
          </a:xfrm>
          <a:prstGeom prst="rect">
            <a:avLst/>
          </a:prstGeom>
          <a:noFill/>
        </p:spPr>
        <p:txBody>
          <a:bodyPr wrap="square">
            <a:spAutoFit/>
          </a:bodyPr>
          <a:lstStyle/>
          <a:p>
            <a:pPr>
              <a:spcAft>
                <a:spcPts val="1000"/>
              </a:spcAft>
            </a:pPr>
            <a:r>
              <a:rPr sz="2400" b="1" i="0">
                <a:solidFill>
                  <a:srgbClr val="1A1A1A"/>
                </a:solidFill>
                <a:latin typeface="Arial"/>
              </a:rPr>
              <a:t>Discover before you measure.</a:t>
            </a:r>
          </a:p>
          <a:p>
            <a:pPr>
              <a:spcAft>
                <a:spcPts val="1000"/>
              </a:spcAft>
            </a:pPr>
            <a:r>
              <a:rPr sz="2400" b="1" i="0">
                <a:solidFill>
                  <a:srgbClr val="1A1A1A"/>
                </a:solidFill>
                <a:latin typeface="Arial"/>
              </a:rPr>
              <a:t>Measure before you adapt.</a:t>
            </a:r>
          </a:p>
          <a:p>
            <a:pPr>
              <a:spcAft>
                <a:spcPts val="1000"/>
              </a:spcAft>
            </a:pPr>
            <a:r>
              <a:rPr sz="2400" b="1" i="0">
                <a:solidFill>
                  <a:srgbClr val="1A1A1A"/>
                </a:solidFill>
                <a:latin typeface="Arial"/>
              </a:rPr>
              <a:t>Adapt before you plan.</a:t>
            </a:r>
          </a:p>
          <a:p>
            <a:pPr>
              <a:spcAft>
                <a:spcPts val="1000"/>
              </a:spcAft>
            </a:pPr>
            <a:r>
              <a:rPr sz="2400" b="1" i="0">
                <a:solidFill>
                  <a:srgbClr val="1A1A1A"/>
                </a:solidFill>
                <a:latin typeface="Arial"/>
              </a:rPr>
              <a:t>Plan before you execute.</a:t>
            </a:r>
          </a:p>
          <a:p>
            <a:pPr>
              <a:spcAft>
                <a:spcPts val="1000"/>
              </a:spcAft>
            </a:pPr>
            <a:r>
              <a:rPr sz="2400" b="1" i="0">
                <a:solidFill>
                  <a:srgbClr val="006E96"/>
                </a:solidFill>
                <a:latin typeface="Arial"/>
              </a:rPr>
              <a:t>Govern always.</a:t>
            </a:r>
          </a:p>
        </p:txBody>
      </p:sp>
      <p:sp>
        <p:nvSpPr>
          <p:cNvPr id="5" name="TextBox 4"/>
          <p:cNvSpPr txBox="1"/>
          <p:nvPr/>
        </p:nvSpPr>
        <p:spPr>
          <a:xfrm>
            <a:off x="822960" y="5120640"/>
            <a:ext cx="10515600" cy="822960"/>
          </a:xfrm>
          <a:prstGeom prst="rect">
            <a:avLst/>
          </a:prstGeom>
          <a:noFill/>
        </p:spPr>
        <p:txBody>
          <a:bodyPr wrap="square">
            <a:spAutoFit/>
          </a:bodyPr>
          <a:lstStyle/>
          <a:p>
            <a:r>
              <a:rPr sz="1700" b="0" i="1">
                <a:solidFill>
                  <a:srgbClr val="595959"/>
                </a:solidFill>
                <a:latin typeface="Arial"/>
              </a:rPr>
              <a:t>Skipping usually costs several times what it appeared to save.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30175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116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4747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4747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0116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4747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846320"/>
            <a:ext cx="10515600" cy="118872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