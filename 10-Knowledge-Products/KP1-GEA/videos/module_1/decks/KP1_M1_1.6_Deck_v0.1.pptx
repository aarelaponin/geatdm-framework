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0" r:id="rId11"/>
    <p:sldId id="2731" r:id="rId10"/>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11" Type="http://schemas.openxmlformats.org/officeDocument/2006/relationships/slide" Target="slides/slide3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1.6.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If you take one picture away from this knowledge product, take this one. The EA lifecycle on a single page. The picture that goes on the wall of the EA Board room. The picture your minister puts in every cabinet briefing. The picture your team points at when they explain where the work is.</a:t>
            </a:r>
          </a:p>
          <a:p/>
          <a:p>
            <a:r>
              <a:t>RETRIEVAL MOMENT: before showing the next slide, ask the viewer to guess — from a standing start, how long until a roadmap your minister can take to cabinet? Answer comes on the timeline: six months.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Five phases. Each one answers a single question. Each produces a single deliverable. Each ends with a sign-off by the senior decision-maker. The first four phases together take about six months. The fifth phase is ongoing — your country's permanent way of working.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one. Discover. The question: what exists today? Your architects map the current digital landscape — the strategies in force, the systems that exist, the sector plans, the stakeholders, the legal framework. The deliverable is a Discovery brief: the picture of where your country is, with no recommendations yet. The sign-off: the senior decision-maker confirms the picture is accurate enough to build on. Three to four weeks.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two. Assess. The question: what is the gap? Architects compare what they found in Discovery against PAERA-anchored standards. They write the current-state picture in the four parts of an EA. They produce maturity scorecards. They write the gap analysis. The sign-off: the gap analysis reflects ground truth.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three. Adapt. The question: what fits our country? PAERA is a starting point, not a constraint. Architects work with sector CIOs and your EA Board to shape the framework to your country. For each building block, the question is: do we build it, do we buy it from the marketplace, do we share another country's, or do we test in a sandbox first? Four to six weeks.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four. Plan. The question: how do we get there? Architects describe the target state and sequence the work into a roadmap with investment estimates. The senior decision-maker and the EA Board approve the roadmap and commit budget. This is the deliverable your minister can take to cabinet.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Phase five. Execute and Govern. The question: how do we sustain this? The approved roadmap becomes a project pipeline. The small permanent EA team — two to four senior architects — turns the EA from a one-time delivery into a living repository. The EA Board reviews new projects against the architecture, approves cross-ministry decisions, enforces boundaries between domains. Quarterly reviews. Indefinitely.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the rhythm. Four sign-offs in six months. Your minister does not review every diagram. They review at four moments, each tied to a defined deliverable. Between sign-offs, the architects work. The minister's job in between is to remove obstacles — the political ones, mostly. The technical ones are why the architects were hired.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phases depend on each other, in order. Discover before you measure. Measure before you adapt. Adapt before you plan. Plan before you execute. Govern always. You can skip a phase, but you will pay for it later — usually several times what skipping appeared to save.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 months from Discovery to an approved roadmap. Then your country in permanent EA-governed mode. That is what 'months not years' actually means. It is not a slogan. It is the consequence of sequencing five phases — each with a clear question, a clear deliverable, a clear sign-off — and committing to the practice that runs after.</a:t>
            </a:r>
          </a:p>
          <a:p/>
          <a:p>
            <a:r>
              <a:t>(This answers the prediction question posed at the start of the video.)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1.6 — The lifecycle on one page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1.6</a:t>
            </a:r>
          </a:p>
          <a:p>
            <a:r>
              <a:rPr sz="1200" b="0" i="1">
                <a:solidFill>
                  <a:srgbClr val="595959"/>
                </a:solidFill>
                <a:latin typeface="Arial"/>
              </a:rPr>
              <a:t>Six months from start to a roadmap your minister can take to cabinet. Then ongoing governance. Five phases. Four sign-offs. One continuous practice.</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lifecycle on one page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Six months from start to a roadmap your minister can take to cabinet. Then ongoing governance. Five phases. Four sign-offs. One continuous practice.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phases. Four sign-offs. Six months to a roadmap.</a:t>
            </a:r>
          </a:p>
        </p:txBody>
      </p:sp>
      <p:sp>
        <p:nvSpPr>
          <p:cNvPr id="4" name="Rounded Rectangle 3"/>
          <p:cNvSpPr/>
          <p:nvPr/>
        </p:nvSpPr>
        <p:spPr>
          <a:xfrm>
            <a:off x="548640"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Discover</a:t>
            </a:r>
          </a:p>
          <a:p>
            <a:pPr algn="ctr"/>
            <a:r>
              <a:rPr sz="1200" b="0" i="1">
                <a:solidFill>
                  <a:srgbClr val="595959"/>
                </a:solidFill>
                <a:latin typeface="Arial"/>
              </a:rPr>
              <a:t>What exists today?</a:t>
            </a:r>
          </a:p>
        </p:txBody>
      </p:sp>
      <p:sp>
        <p:nvSpPr>
          <p:cNvPr id="5" name="TextBox 4"/>
          <p:cNvSpPr txBox="1"/>
          <p:nvPr/>
        </p:nvSpPr>
        <p:spPr>
          <a:xfrm>
            <a:off x="548640" y="3493008"/>
            <a:ext cx="2084831" cy="365760"/>
          </a:xfrm>
          <a:prstGeom prst="rect">
            <a:avLst/>
          </a:prstGeom>
          <a:noFill/>
        </p:spPr>
        <p:txBody>
          <a:bodyPr wrap="square">
            <a:spAutoFit/>
          </a:bodyPr>
          <a:lstStyle/>
          <a:p>
            <a:pPr algn="ctr"/>
            <a:r>
              <a:rPr sz="1300" b="1" i="0">
                <a:solidFill>
                  <a:srgbClr val="006E96"/>
                </a:solidFill>
                <a:latin typeface="Arial"/>
              </a:rPr>
              <a:t>3–4 wks</a:t>
            </a:r>
          </a:p>
        </p:txBody>
      </p:sp>
      <p:sp>
        <p:nvSpPr>
          <p:cNvPr id="6" name="Diamond 5"/>
          <p:cNvSpPr/>
          <p:nvPr/>
        </p:nvSpPr>
        <p:spPr>
          <a:xfrm>
            <a:off x="2628899"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07208"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Assess</a:t>
            </a:r>
          </a:p>
          <a:p>
            <a:pPr algn="ctr"/>
            <a:r>
              <a:rPr sz="1200" b="0" i="1">
                <a:solidFill>
                  <a:srgbClr val="595959"/>
                </a:solidFill>
                <a:latin typeface="Arial"/>
              </a:rPr>
              <a:t>What is the gap?</a:t>
            </a:r>
          </a:p>
        </p:txBody>
      </p:sp>
      <p:sp>
        <p:nvSpPr>
          <p:cNvPr id="8" name="TextBox 7"/>
          <p:cNvSpPr txBox="1"/>
          <p:nvPr/>
        </p:nvSpPr>
        <p:spPr>
          <a:xfrm>
            <a:off x="2807208"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9" name="Diamond 8"/>
          <p:cNvSpPr/>
          <p:nvPr/>
        </p:nvSpPr>
        <p:spPr>
          <a:xfrm>
            <a:off x="4887468"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65775"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Adapt</a:t>
            </a:r>
          </a:p>
          <a:p>
            <a:pPr algn="ctr"/>
            <a:r>
              <a:rPr sz="1200" b="0" i="1">
                <a:solidFill>
                  <a:srgbClr val="595959"/>
                </a:solidFill>
                <a:latin typeface="Arial"/>
              </a:rPr>
              <a:t>What fits our country?</a:t>
            </a:r>
          </a:p>
        </p:txBody>
      </p:sp>
      <p:sp>
        <p:nvSpPr>
          <p:cNvPr id="11" name="TextBox 10"/>
          <p:cNvSpPr txBox="1"/>
          <p:nvPr/>
        </p:nvSpPr>
        <p:spPr>
          <a:xfrm>
            <a:off x="5065775" y="3493008"/>
            <a:ext cx="2084831" cy="365760"/>
          </a:xfrm>
          <a:prstGeom prst="rect">
            <a:avLst/>
          </a:prstGeom>
          <a:noFill/>
        </p:spPr>
        <p:txBody>
          <a:bodyPr wrap="square">
            <a:spAutoFit/>
          </a:bodyPr>
          <a:lstStyle/>
          <a:p>
            <a:pPr algn="ctr"/>
            <a:r>
              <a:rPr sz="1300" b="1" i="0">
                <a:solidFill>
                  <a:srgbClr val="006E96"/>
                </a:solidFill>
                <a:latin typeface="Arial"/>
              </a:rPr>
              <a:t>4–6 wks</a:t>
            </a:r>
          </a:p>
        </p:txBody>
      </p:sp>
      <p:sp>
        <p:nvSpPr>
          <p:cNvPr id="12" name="Diamond 11"/>
          <p:cNvSpPr/>
          <p:nvPr/>
        </p:nvSpPr>
        <p:spPr>
          <a:xfrm>
            <a:off x="7146036"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24344" y="1965960"/>
            <a:ext cx="2084831" cy="1417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1A1A1A"/>
                </a:solidFill>
                <a:latin typeface="Arial"/>
              </a:rPr>
              <a:t>Plan</a:t>
            </a:r>
          </a:p>
          <a:p>
            <a:pPr algn="ctr"/>
            <a:r>
              <a:rPr sz="1200" b="0" i="1">
                <a:solidFill>
                  <a:srgbClr val="595959"/>
                </a:solidFill>
                <a:latin typeface="Arial"/>
              </a:rPr>
              <a:t>How do we get there?</a:t>
            </a:r>
          </a:p>
        </p:txBody>
      </p:sp>
      <p:sp>
        <p:nvSpPr>
          <p:cNvPr id="14" name="TextBox 13"/>
          <p:cNvSpPr txBox="1"/>
          <p:nvPr/>
        </p:nvSpPr>
        <p:spPr>
          <a:xfrm>
            <a:off x="7324344" y="3493008"/>
            <a:ext cx="2084831" cy="365760"/>
          </a:xfrm>
          <a:prstGeom prst="rect">
            <a:avLst/>
          </a:prstGeom>
          <a:noFill/>
        </p:spPr>
        <p:txBody>
          <a:bodyPr wrap="square">
            <a:spAutoFit/>
          </a:bodyPr>
          <a:lstStyle/>
          <a:p>
            <a:pPr algn="ctr"/>
            <a:r>
              <a:rPr sz="1300" b="1" i="0">
                <a:solidFill>
                  <a:srgbClr val="006E96"/>
                </a:solidFill>
                <a:latin typeface="Arial"/>
              </a:rPr>
              <a:t>6–8 wks</a:t>
            </a:r>
          </a:p>
        </p:txBody>
      </p:sp>
      <p:sp>
        <p:nvSpPr>
          <p:cNvPr id="15" name="Diamond 14"/>
          <p:cNvSpPr/>
          <p:nvPr/>
        </p:nvSpPr>
        <p:spPr>
          <a:xfrm>
            <a:off x="9404603" y="2583179"/>
            <a:ext cx="182880" cy="18288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582911" y="1965960"/>
            <a:ext cx="2084831" cy="14173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wrap="square"/>
          <a:lstStyle/>
          <a:p>
            <a:pPr algn="ctr"/>
            <a:r>
              <a:rPr sz="1600" b="1" i="0">
                <a:solidFill>
                  <a:srgbClr val="FFFFFF"/>
                </a:solidFill>
                <a:latin typeface="Arial"/>
              </a:rPr>
              <a:t>Execute &amp; Govern</a:t>
            </a:r>
          </a:p>
          <a:p>
            <a:pPr algn="ctr"/>
            <a:r>
              <a:rPr sz="1200" b="0" i="1">
                <a:solidFill>
                  <a:srgbClr val="FFFFFF"/>
                </a:solidFill>
                <a:latin typeface="Arial"/>
              </a:rPr>
              <a:t>How do we sustain this?</a:t>
            </a:r>
          </a:p>
        </p:txBody>
      </p:sp>
      <p:sp>
        <p:nvSpPr>
          <p:cNvPr id="17" name="TextBox 16"/>
          <p:cNvSpPr txBox="1"/>
          <p:nvPr/>
        </p:nvSpPr>
        <p:spPr>
          <a:xfrm>
            <a:off x="9582911" y="3493008"/>
            <a:ext cx="2084831" cy="365760"/>
          </a:xfrm>
          <a:prstGeom prst="rect">
            <a:avLst/>
          </a:prstGeom>
          <a:noFill/>
        </p:spPr>
        <p:txBody>
          <a:bodyPr wrap="square">
            <a:spAutoFit/>
          </a:bodyPr>
          <a:lstStyle/>
          <a:p>
            <a:pPr algn="ctr"/>
            <a:r>
              <a:rPr sz="1300" b="1" i="0">
                <a:solidFill>
                  <a:srgbClr val="595959"/>
                </a:solidFill>
                <a:latin typeface="Arial"/>
              </a:rPr>
              <a:t>Ongoing</a:t>
            </a:r>
          </a:p>
        </p:txBody>
      </p:sp>
      <p:sp>
        <p:nvSpPr>
          <p:cNvPr id="18" name="TextBox 17"/>
          <p:cNvSpPr txBox="1"/>
          <p:nvPr/>
        </p:nvSpPr>
        <p:spPr>
          <a:xfrm>
            <a:off x="548640" y="4160520"/>
            <a:ext cx="11064240" cy="457200"/>
          </a:xfrm>
          <a:prstGeom prst="rect">
            <a:avLst/>
          </a:prstGeom>
          <a:noFill/>
        </p:spPr>
        <p:txBody>
          <a:bodyPr wrap="square">
            <a:spAutoFit/>
          </a:bodyPr>
          <a:lstStyle/>
          <a:p>
            <a:r>
              <a:rPr sz="1350" b="0" i="0">
                <a:solidFill>
                  <a:srgbClr val="595959"/>
                </a:solidFill>
                <a:latin typeface="Arial"/>
              </a:rPr>
              <a:t>◆ = sign-off by the senior decision-maker. Each phase answers one question and produces one deliverable.</a:t>
            </a:r>
          </a:p>
        </p:txBody>
      </p:sp>
      <p:sp>
        <p:nvSpPr>
          <p:cNvPr id="19" name="Rounded Rectangle 18"/>
          <p:cNvSpPr/>
          <p:nvPr/>
        </p:nvSpPr>
        <p:spPr>
          <a:xfrm>
            <a:off x="548640" y="4800600"/>
            <a:ext cx="8823960" cy="5029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595959"/>
                </a:solidFill>
                <a:latin typeface="Arial"/>
              </a:rPr>
              <a:t>Phases 1–4: about six months, four sign-offs</a:t>
            </a:r>
          </a:p>
        </p:txBody>
      </p:sp>
      <p:sp>
        <p:nvSpPr>
          <p:cNvPr id="20" name="Rounded Rectangle 19"/>
          <p:cNvSpPr/>
          <p:nvPr/>
        </p:nvSpPr>
        <p:spPr>
          <a:xfrm>
            <a:off x="9555480" y="4800600"/>
            <a:ext cx="2084831" cy="50292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Arial"/>
              </a:rPr>
              <a:t>permanent practice</a:t>
            </a:r>
          </a:p>
        </p:txBody>
      </p:sp>
      <p:sp>
        <p:nvSpPr>
          <p:cNvPr id="21" name="TextBox 20"/>
          <p:cNvSpPr txBox="1"/>
          <p:nvPr/>
        </p:nvSpPr>
        <p:spPr>
          <a:xfrm>
            <a:off x="548640" y="5577840"/>
            <a:ext cx="11064240" cy="548640"/>
          </a:xfrm>
          <a:prstGeom prst="rect">
            <a:avLst/>
          </a:prstGeom>
          <a:noFill/>
        </p:spPr>
        <p:txBody>
          <a:bodyPr wrap="square">
            <a:spAutoFit/>
          </a:bodyPr>
          <a:lstStyle/>
          <a:p>
            <a:r>
              <a:rPr sz="1300" b="0" i="1">
                <a:solidFill>
                  <a:srgbClr val="595959"/>
                </a:solidFill>
                <a:latin typeface="Arial"/>
              </a:rPr>
              <a:t>The centrepiece of Module 1 — designed to be screenshot and put on the EA Board room wall.</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1 — Discover</a:t>
            </a:r>
          </a:p>
        </p:txBody>
      </p:sp>
      <p:sp>
        <p:nvSpPr>
          <p:cNvPr id="4" name="Rounded Rectangle 3"/>
          <p:cNvSpPr/>
          <p:nvPr/>
        </p:nvSpPr>
        <p:spPr>
          <a:xfrm>
            <a:off x="7360920"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exists today?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Discovery brief — the current picture: strategies in force, systems, sector plans, stakeholders, legal framework. No recommendations yet.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senior decision-maker confirms the picture is accurate enough to build on.</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3 to 4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2 — Assess</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is the gap?</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Assessment report — current-state picture in the four parts of an EA, maturity scorecards, gap analysis against PAERA-anchored standards.</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gap analysis reflects ground truth — it names the right problems in the right priority.</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3 — Adapt</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What fits our country?</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Localised framework with sourcing decisions — your principles, your sector priorities; per building block: build, buy, share, or sandbox first.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The framework and the build / buy / share approach.</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4 to 6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4 — Plan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get there?</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Roadmap and investment plan — target state, sequenced work, investment estimates. The deliverable your minister can take to cabinet.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SIGN-OFF</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Roadmap approved, budget committed — by the senior decision-maker and the EA Board.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6 to 8 weeks</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5 — Execute &amp; Govern</a:t>
            </a:r>
          </a:p>
        </p:txBody>
      </p:sp>
      <p:sp>
        <p:nvSpPr>
          <p:cNvPr id="4" name="Rounded Rectangle 3"/>
          <p:cNvSpPr/>
          <p:nvPr/>
        </p:nvSpPr>
        <p:spPr>
          <a:xfrm>
            <a:off x="7360920"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38404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945368" y="38404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508760"/>
            <a:ext cx="2103120" cy="548640"/>
          </a:xfrm>
          <a:prstGeom prst="rect">
            <a:avLst/>
          </a:prstGeom>
          <a:noFill/>
        </p:spPr>
        <p:txBody>
          <a:bodyPr wrap="square">
            <a:spAutoFit/>
          </a:bodyPr>
          <a:lstStyle/>
          <a:p>
            <a:r>
              <a:rPr sz="1300" b="1" i="0">
                <a:solidFill>
                  <a:srgbClr val="006E96"/>
                </a:solidFill>
                <a:latin typeface="Arial"/>
              </a:rPr>
              <a:t>QUESTION</a:t>
            </a:r>
          </a:p>
        </p:txBody>
      </p:sp>
      <p:sp>
        <p:nvSpPr>
          <p:cNvPr id="10" name="TextBox 9"/>
          <p:cNvSpPr txBox="1"/>
          <p:nvPr/>
        </p:nvSpPr>
        <p:spPr>
          <a:xfrm>
            <a:off x="2834640" y="1490472"/>
            <a:ext cx="8595360" cy="914400"/>
          </a:xfrm>
          <a:prstGeom prst="rect">
            <a:avLst/>
          </a:prstGeom>
          <a:noFill/>
        </p:spPr>
        <p:txBody>
          <a:bodyPr wrap="square">
            <a:spAutoFit/>
          </a:bodyPr>
          <a:lstStyle/>
          <a:p>
            <a:r>
              <a:rPr sz="1800" b="0" i="0">
                <a:solidFill>
                  <a:srgbClr val="1A1A1A"/>
                </a:solidFill>
                <a:latin typeface="Arial"/>
              </a:rPr>
              <a:t>How do we sustain this?</a:t>
            </a:r>
          </a:p>
        </p:txBody>
      </p:sp>
      <p:sp>
        <p:nvSpPr>
          <p:cNvPr id="11" name="TextBox 10"/>
          <p:cNvSpPr txBox="1"/>
          <p:nvPr/>
        </p:nvSpPr>
        <p:spPr>
          <a:xfrm>
            <a:off x="658368" y="2587752"/>
            <a:ext cx="2103120" cy="548640"/>
          </a:xfrm>
          <a:prstGeom prst="rect">
            <a:avLst/>
          </a:prstGeom>
          <a:noFill/>
        </p:spPr>
        <p:txBody>
          <a:bodyPr wrap="square">
            <a:spAutoFit/>
          </a:bodyPr>
          <a:lstStyle/>
          <a:p>
            <a:r>
              <a:rPr sz="1300" b="1" i="0">
                <a:solidFill>
                  <a:srgbClr val="006E96"/>
                </a:solidFill>
                <a:latin typeface="Arial"/>
              </a:rPr>
              <a:t>DELIVERABLE</a:t>
            </a:r>
          </a:p>
        </p:txBody>
      </p:sp>
      <p:sp>
        <p:nvSpPr>
          <p:cNvPr id="12" name="TextBox 11"/>
          <p:cNvSpPr txBox="1"/>
          <p:nvPr/>
        </p:nvSpPr>
        <p:spPr>
          <a:xfrm>
            <a:off x="2834640" y="2569464"/>
            <a:ext cx="8595360" cy="1417320"/>
          </a:xfrm>
          <a:prstGeom prst="rect">
            <a:avLst/>
          </a:prstGeom>
          <a:noFill/>
        </p:spPr>
        <p:txBody>
          <a:bodyPr wrap="square">
            <a:spAutoFit/>
          </a:bodyPr>
          <a:lstStyle/>
          <a:p>
            <a:r>
              <a:rPr sz="1800" b="1" i="0">
                <a:solidFill>
                  <a:srgbClr val="1A1A1A"/>
                </a:solidFill>
                <a:latin typeface="Arial"/>
              </a:rPr>
              <a:t>A living, governed EA — repository plus practice. The 2–4 permanent architects keep it alive; the EA Board reviews projects against it.</a:t>
            </a:r>
          </a:p>
        </p:txBody>
      </p:sp>
      <p:sp>
        <p:nvSpPr>
          <p:cNvPr id="13" name="TextBox 12"/>
          <p:cNvSpPr txBox="1"/>
          <p:nvPr/>
        </p:nvSpPr>
        <p:spPr>
          <a:xfrm>
            <a:off x="658368" y="4169664"/>
            <a:ext cx="2103120" cy="548640"/>
          </a:xfrm>
          <a:prstGeom prst="rect">
            <a:avLst/>
          </a:prstGeom>
          <a:noFill/>
        </p:spPr>
        <p:txBody>
          <a:bodyPr wrap="square">
            <a:spAutoFit/>
          </a:bodyPr>
          <a:lstStyle/>
          <a:p>
            <a:r>
              <a:rPr sz="1300" b="1" i="0">
                <a:solidFill>
                  <a:srgbClr val="006E96"/>
                </a:solidFill>
                <a:latin typeface="Arial"/>
              </a:rPr>
              <a:t>CADENCE</a:t>
            </a:r>
          </a:p>
        </p:txBody>
      </p:sp>
      <p:sp>
        <p:nvSpPr>
          <p:cNvPr id="14" name="TextBox 13"/>
          <p:cNvSpPr txBox="1"/>
          <p:nvPr/>
        </p:nvSpPr>
        <p:spPr>
          <a:xfrm>
            <a:off x="2834640" y="4151376"/>
            <a:ext cx="8595360" cy="1325880"/>
          </a:xfrm>
          <a:prstGeom prst="rect">
            <a:avLst/>
          </a:prstGeom>
          <a:noFill/>
        </p:spPr>
        <p:txBody>
          <a:bodyPr wrap="square">
            <a:spAutoFit/>
          </a:bodyPr>
          <a:lstStyle/>
          <a:p>
            <a:r>
              <a:rPr sz="1800" b="1" i="0">
                <a:solidFill>
                  <a:srgbClr val="1A1A1A"/>
                </a:solidFill>
                <a:latin typeface="Arial"/>
              </a:rPr>
              <a:t>Quarterly Board reviews — indefinitely. New projects reviewed against the architecture; cross-ministry decisions approved; domain boundaries enforced.</a:t>
            </a:r>
          </a:p>
        </p:txBody>
      </p:sp>
      <p:sp>
        <p:nvSpPr>
          <p:cNvPr id="15" name="TextBox 14"/>
          <p:cNvSpPr txBox="1"/>
          <p:nvPr/>
        </p:nvSpPr>
        <p:spPr>
          <a:xfrm>
            <a:off x="658368" y="5660136"/>
            <a:ext cx="2103120" cy="548640"/>
          </a:xfrm>
          <a:prstGeom prst="rect">
            <a:avLst/>
          </a:prstGeom>
          <a:noFill/>
        </p:spPr>
        <p:txBody>
          <a:bodyPr wrap="square">
            <a:spAutoFit/>
          </a:bodyPr>
          <a:lstStyle/>
          <a:p>
            <a:r>
              <a:rPr sz="1300" b="1" i="0">
                <a:solidFill>
                  <a:srgbClr val="006E96"/>
                </a:solidFill>
                <a:latin typeface="Arial"/>
              </a:rPr>
              <a:t>DURATION</a:t>
            </a:r>
          </a:p>
        </p:txBody>
      </p:sp>
      <p:sp>
        <p:nvSpPr>
          <p:cNvPr id="16" name="TextBox 15"/>
          <p:cNvSpPr txBox="1"/>
          <p:nvPr/>
        </p:nvSpPr>
        <p:spPr>
          <a:xfrm>
            <a:off x="2834640" y="5641848"/>
            <a:ext cx="8595360" cy="777240"/>
          </a:xfrm>
          <a:prstGeom prst="rect">
            <a:avLst/>
          </a:prstGeom>
          <a:noFill/>
        </p:spPr>
        <p:txBody>
          <a:bodyPr wrap="square">
            <a:spAutoFit/>
          </a:bodyPr>
          <a:lstStyle/>
          <a:p>
            <a:r>
              <a:rPr sz="1800" b="0" i="0">
                <a:solidFill>
                  <a:srgbClr val="1A1A1A"/>
                </a:solidFill>
                <a:latin typeface="Arial"/>
              </a:rPr>
              <a:t>Ongoing — your country’s permanent way of working</a:t>
            </a:r>
          </a:p>
        </p:txBody>
      </p:sp>
      <p:sp>
        <p:nvSpPr>
          <p:cNvPr id="17" name="TextBox 1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Your minister reviews four times — not every diagram</a:t>
            </a:r>
          </a:p>
        </p:txBody>
      </p:sp>
      <p:sp>
        <p:nvSpPr>
          <p:cNvPr id="4" name="Rectangle 3"/>
          <p:cNvSpPr/>
          <p:nvPr/>
        </p:nvSpPr>
        <p:spPr>
          <a:xfrm>
            <a:off x="822960" y="251460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iamond 4"/>
          <p:cNvSpPr/>
          <p:nvPr/>
        </p:nvSpPr>
        <p:spPr>
          <a:xfrm>
            <a:off x="137160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picture is accurate</a:t>
            </a:r>
          </a:p>
          <a:p>
            <a:pPr algn="ctr">
              <a:spcAft>
                <a:spcPts val="300"/>
              </a:spcAft>
            </a:pPr>
            <a:r>
              <a:rPr sz="1200" b="0" i="0">
                <a:solidFill>
                  <a:srgbClr val="595959"/>
                </a:solidFill>
                <a:latin typeface="Arial"/>
              </a:rPr>
              <a:t>end of Discover</a:t>
            </a:r>
          </a:p>
        </p:txBody>
      </p:sp>
      <p:sp>
        <p:nvSpPr>
          <p:cNvPr id="7" name="Diamond 6"/>
          <p:cNvSpPr/>
          <p:nvPr/>
        </p:nvSpPr>
        <p:spPr>
          <a:xfrm>
            <a:off x="406908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1752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The gap reflects ground truth</a:t>
            </a:r>
          </a:p>
          <a:p>
            <a:pPr algn="ctr">
              <a:spcAft>
                <a:spcPts val="300"/>
              </a:spcAft>
            </a:pPr>
            <a:r>
              <a:rPr sz="1200" b="0" i="0">
                <a:solidFill>
                  <a:srgbClr val="595959"/>
                </a:solidFill>
                <a:latin typeface="Arial"/>
              </a:rPr>
              <a:t>end of Assess</a:t>
            </a:r>
          </a:p>
        </p:txBody>
      </p:sp>
      <p:sp>
        <p:nvSpPr>
          <p:cNvPr id="9" name="Diamond 8"/>
          <p:cNvSpPr/>
          <p:nvPr/>
        </p:nvSpPr>
        <p:spPr>
          <a:xfrm>
            <a:off x="676656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1500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Framework + sourcing approach</a:t>
            </a:r>
          </a:p>
          <a:p>
            <a:pPr algn="ctr">
              <a:spcAft>
                <a:spcPts val="300"/>
              </a:spcAft>
            </a:pPr>
            <a:r>
              <a:rPr sz="1200" b="0" i="0">
                <a:solidFill>
                  <a:srgbClr val="595959"/>
                </a:solidFill>
                <a:latin typeface="Arial"/>
              </a:rPr>
              <a:t>end of Adapt</a:t>
            </a:r>
          </a:p>
        </p:txBody>
      </p:sp>
      <p:sp>
        <p:nvSpPr>
          <p:cNvPr id="11" name="Diamond 10"/>
          <p:cNvSpPr/>
          <p:nvPr/>
        </p:nvSpPr>
        <p:spPr>
          <a:xfrm>
            <a:off x="9464040" y="2395728"/>
            <a:ext cx="256032" cy="256032"/>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2880360"/>
            <a:ext cx="2377440" cy="1188720"/>
          </a:xfrm>
          <a:prstGeom prst="rect">
            <a:avLst/>
          </a:prstGeom>
          <a:noFill/>
        </p:spPr>
        <p:txBody>
          <a:bodyPr wrap="square">
            <a:spAutoFit/>
          </a:bodyPr>
          <a:lstStyle/>
          <a:p>
            <a:pPr algn="ctr">
              <a:spcAft>
                <a:spcPts val="300"/>
              </a:spcAft>
            </a:pPr>
            <a:r>
              <a:rPr sz="1400" b="1" i="0">
                <a:solidFill>
                  <a:srgbClr val="1A1A1A"/>
                </a:solidFill>
                <a:latin typeface="Arial"/>
              </a:rPr>
              <a:t>Roadmap approved, budget committed</a:t>
            </a:r>
          </a:p>
          <a:p>
            <a:pPr algn="ctr">
              <a:spcAft>
                <a:spcPts val="300"/>
              </a:spcAft>
            </a:pPr>
            <a:r>
              <a:rPr sz="1200" b="0" i="0">
                <a:solidFill>
                  <a:srgbClr val="595959"/>
                </a:solidFill>
                <a:latin typeface="Arial"/>
              </a:rPr>
              <a:t>end of Plan</a:t>
            </a:r>
          </a:p>
        </p:txBody>
      </p:sp>
      <p:sp>
        <p:nvSpPr>
          <p:cNvPr id="13" name="TextBox 12"/>
          <p:cNvSpPr txBox="1"/>
          <p:nvPr/>
        </p:nvSpPr>
        <p:spPr>
          <a:xfrm>
            <a:off x="822960" y="4480560"/>
            <a:ext cx="10515600" cy="1463040"/>
          </a:xfrm>
          <a:prstGeom prst="rect">
            <a:avLst/>
          </a:prstGeom>
          <a:noFill/>
        </p:spPr>
        <p:txBody>
          <a:bodyPr wrap="square">
            <a:spAutoFit/>
          </a:bodyPr>
          <a:lstStyle/>
          <a:p>
            <a:pPr>
              <a:spcAft>
                <a:spcPts val="800"/>
              </a:spcAft>
            </a:pPr>
            <a:r>
              <a:rPr sz="1800" b="0" i="0">
                <a:solidFill>
                  <a:srgbClr val="1A1A1A"/>
                </a:solidFill>
                <a:latin typeface="Arial"/>
              </a:rPr>
              <a:t>Between sign-offs, the architects work.</a:t>
            </a:r>
          </a:p>
          <a:p>
            <a:pPr>
              <a:spcAft>
                <a:spcPts val="800"/>
              </a:spcAft>
            </a:pPr>
            <a:r>
              <a:rPr sz="1800" b="0" i="0">
                <a:solidFill>
                  <a:srgbClr val="595959"/>
                </a:solidFill>
                <a:latin typeface="Arial"/>
              </a:rPr>
              <a:t>The minister’s job in between is to remove obstacles — the political ones, mostly. The technical ones are why the architects were hired.</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can skip a phase — and pay for it several times over</a:t>
            </a:r>
          </a:p>
        </p:txBody>
      </p:sp>
      <p:sp>
        <p:nvSpPr>
          <p:cNvPr id="4" name="TextBox 3"/>
          <p:cNvSpPr txBox="1"/>
          <p:nvPr/>
        </p:nvSpPr>
        <p:spPr>
          <a:xfrm>
            <a:off x="822960" y="1737360"/>
            <a:ext cx="10515600" cy="3108960"/>
          </a:xfrm>
          <a:prstGeom prst="rect">
            <a:avLst/>
          </a:prstGeom>
          <a:noFill/>
        </p:spPr>
        <p:txBody>
          <a:bodyPr wrap="square">
            <a:spAutoFit/>
          </a:bodyPr>
          <a:lstStyle/>
          <a:p>
            <a:pPr>
              <a:spcAft>
                <a:spcPts val="1000"/>
              </a:spcAft>
            </a:pPr>
            <a:r>
              <a:rPr sz="2400" b="1" i="0">
                <a:solidFill>
                  <a:srgbClr val="1A1A1A"/>
                </a:solidFill>
                <a:latin typeface="Arial"/>
              </a:rPr>
              <a:t>Discover before you measure.</a:t>
            </a:r>
          </a:p>
          <a:p>
            <a:pPr>
              <a:spcAft>
                <a:spcPts val="1000"/>
              </a:spcAft>
            </a:pPr>
            <a:r>
              <a:rPr sz="2400" b="1" i="0">
                <a:solidFill>
                  <a:srgbClr val="1A1A1A"/>
                </a:solidFill>
                <a:latin typeface="Arial"/>
              </a:rPr>
              <a:t>Measure before you adapt.</a:t>
            </a:r>
          </a:p>
          <a:p>
            <a:pPr>
              <a:spcAft>
                <a:spcPts val="1000"/>
              </a:spcAft>
            </a:pPr>
            <a:r>
              <a:rPr sz="2400" b="1" i="0">
                <a:solidFill>
                  <a:srgbClr val="1A1A1A"/>
                </a:solidFill>
                <a:latin typeface="Arial"/>
              </a:rPr>
              <a:t>Adapt before you plan.</a:t>
            </a:r>
          </a:p>
          <a:p>
            <a:pPr>
              <a:spcAft>
                <a:spcPts val="1000"/>
              </a:spcAft>
            </a:pPr>
            <a:r>
              <a:rPr sz="2400" b="1" i="0">
                <a:solidFill>
                  <a:srgbClr val="1A1A1A"/>
                </a:solidFill>
                <a:latin typeface="Arial"/>
              </a:rPr>
              <a:t>Plan before you execute.</a:t>
            </a:r>
          </a:p>
          <a:p>
            <a:pPr>
              <a:spcAft>
                <a:spcPts val="1000"/>
              </a:spcAft>
            </a:pPr>
            <a:r>
              <a:rPr sz="2400" b="1" i="0">
                <a:solidFill>
                  <a:srgbClr val="006E96"/>
                </a:solidFill>
                <a:latin typeface="Arial"/>
              </a:rPr>
              <a:t>Govern always.</a:t>
            </a:r>
          </a:p>
        </p:txBody>
      </p:sp>
      <p:sp>
        <p:nvSpPr>
          <p:cNvPr id="5" name="TextBox 4"/>
          <p:cNvSpPr txBox="1"/>
          <p:nvPr/>
        </p:nvSpPr>
        <p:spPr>
          <a:xfrm>
            <a:off x="822960" y="5120640"/>
            <a:ext cx="10515600" cy="822960"/>
          </a:xfrm>
          <a:prstGeom prst="rect">
            <a:avLst/>
          </a:prstGeom>
          <a:noFill/>
        </p:spPr>
        <p:txBody>
          <a:bodyPr wrap="square">
            <a:spAutoFit/>
          </a:bodyPr>
          <a:lstStyle/>
          <a:p>
            <a:r>
              <a:rPr sz="1700" b="0" i="1">
                <a:solidFill>
                  <a:srgbClr val="595959"/>
                </a:solidFill>
                <a:latin typeface="Arial"/>
              </a:rPr>
              <a:t>Skipping usually costs several times what it appeared to save.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Week 1 to week 26 — then forever</a:t>
            </a:r>
          </a:p>
        </p:txBody>
      </p:sp>
      <p:sp>
        <p:nvSpPr>
          <p:cNvPr id="4" name="Rectangle 3"/>
          <p:cNvSpPr/>
          <p:nvPr/>
        </p:nvSpPr>
        <p:spPr>
          <a:xfrm>
            <a:off x="822960" y="3017520"/>
            <a:ext cx="10515600" cy="31750"/>
          </a:xfrm>
          <a:prstGeom prst="rect">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2011680"/>
            <a:ext cx="2286000" cy="548640"/>
          </a:xfrm>
          <a:prstGeom prst="rect">
            <a:avLst/>
          </a:prstGeom>
          <a:noFill/>
        </p:spPr>
        <p:txBody>
          <a:bodyPr wrap="square">
            <a:spAutoFit/>
          </a:bodyPr>
          <a:lstStyle/>
          <a:p>
            <a:pPr algn="ctr"/>
            <a:r>
              <a:rPr sz="1800" b="1" i="0">
                <a:solidFill>
                  <a:srgbClr val="1A1A1A"/>
                </a:solidFill>
                <a:latin typeface="Arial"/>
              </a:rPr>
              <a:t>Week 1</a:t>
            </a:r>
          </a:p>
        </p:txBody>
      </p:sp>
      <p:sp>
        <p:nvSpPr>
          <p:cNvPr id="7" name="TextBox 6"/>
          <p:cNvSpPr txBox="1"/>
          <p:nvPr/>
        </p:nvSpPr>
        <p:spPr>
          <a:xfrm>
            <a:off x="45720" y="3474720"/>
            <a:ext cx="2743200" cy="914400"/>
          </a:xfrm>
          <a:prstGeom prst="rect">
            <a:avLst/>
          </a:prstGeom>
          <a:noFill/>
        </p:spPr>
        <p:txBody>
          <a:bodyPr wrap="square">
            <a:spAutoFit/>
          </a:bodyPr>
          <a:lstStyle/>
          <a:p>
            <a:pPr algn="ctr"/>
            <a:r>
              <a:rPr sz="1400" b="0" i="0">
                <a:solidFill>
                  <a:srgbClr val="595959"/>
                </a:solidFill>
                <a:latin typeface="Arial"/>
              </a:rPr>
              <a:t>Discovery begins</a:t>
            </a:r>
          </a:p>
        </p:txBody>
      </p:sp>
      <p:sp>
        <p:nvSpPr>
          <p:cNvPr id="8" name="Oval 7"/>
          <p:cNvSpPr/>
          <p:nvPr/>
        </p:nvSpPr>
        <p:spPr>
          <a:xfrm>
            <a:off x="548640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2286000" cy="548640"/>
          </a:xfrm>
          <a:prstGeom prst="rect">
            <a:avLst/>
          </a:prstGeom>
          <a:noFill/>
        </p:spPr>
        <p:txBody>
          <a:bodyPr wrap="square">
            <a:spAutoFit/>
          </a:bodyPr>
          <a:lstStyle/>
          <a:p>
            <a:pPr algn="ctr"/>
            <a:r>
              <a:rPr sz="1800" b="1" i="0">
                <a:solidFill>
                  <a:srgbClr val="1A1A1A"/>
                </a:solidFill>
                <a:latin typeface="Arial"/>
              </a:rPr>
              <a:t>Week 26</a:t>
            </a:r>
          </a:p>
        </p:txBody>
      </p:sp>
      <p:sp>
        <p:nvSpPr>
          <p:cNvPr id="10" name="TextBox 9"/>
          <p:cNvSpPr txBox="1"/>
          <p:nvPr/>
        </p:nvSpPr>
        <p:spPr>
          <a:xfrm>
            <a:off x="4343400" y="3474720"/>
            <a:ext cx="2743200" cy="914400"/>
          </a:xfrm>
          <a:prstGeom prst="rect">
            <a:avLst/>
          </a:prstGeom>
          <a:noFill/>
        </p:spPr>
        <p:txBody>
          <a:bodyPr wrap="square">
            <a:spAutoFit/>
          </a:bodyPr>
          <a:lstStyle/>
          <a:p>
            <a:pPr algn="ctr"/>
            <a:r>
              <a:rPr sz="1400" b="0" i="0">
                <a:solidFill>
                  <a:srgbClr val="595959"/>
                </a:solidFill>
                <a:latin typeface="Arial"/>
              </a:rPr>
              <a:t>Approved roadmap — to cabinet</a:t>
            </a:r>
          </a:p>
        </p:txBody>
      </p:sp>
      <p:sp>
        <p:nvSpPr>
          <p:cNvPr id="11" name="Oval 10"/>
          <p:cNvSpPr/>
          <p:nvPr/>
        </p:nvSpPr>
        <p:spPr>
          <a:xfrm>
            <a:off x="9692640" y="2852928"/>
            <a:ext cx="365760" cy="36576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0" y="2011680"/>
            <a:ext cx="2286000" cy="548640"/>
          </a:xfrm>
          <a:prstGeom prst="rect">
            <a:avLst/>
          </a:prstGeom>
          <a:noFill/>
        </p:spPr>
        <p:txBody>
          <a:bodyPr wrap="square">
            <a:spAutoFit/>
          </a:bodyPr>
          <a:lstStyle/>
          <a:p>
            <a:pPr algn="ctr"/>
            <a:r>
              <a:rPr sz="1800" b="1" i="0">
                <a:solidFill>
                  <a:srgbClr val="1A1A1A"/>
                </a:solidFill>
                <a:latin typeface="Arial"/>
              </a:rPr>
              <a:t>Ongoing</a:t>
            </a:r>
          </a:p>
        </p:txBody>
      </p:sp>
      <p:sp>
        <p:nvSpPr>
          <p:cNvPr id="13" name="TextBox 12"/>
          <p:cNvSpPr txBox="1"/>
          <p:nvPr/>
        </p:nvSpPr>
        <p:spPr>
          <a:xfrm>
            <a:off x="8549640" y="3474720"/>
            <a:ext cx="2743200" cy="914400"/>
          </a:xfrm>
          <a:prstGeom prst="rect">
            <a:avLst/>
          </a:prstGeom>
          <a:noFill/>
        </p:spPr>
        <p:txBody>
          <a:bodyPr wrap="square">
            <a:spAutoFit/>
          </a:bodyPr>
          <a:lstStyle/>
          <a:p>
            <a:pPr algn="ctr"/>
            <a:r>
              <a:rPr sz="1400" b="0" i="0">
                <a:solidFill>
                  <a:srgbClr val="595959"/>
                </a:solidFill>
                <a:latin typeface="Arial"/>
              </a:rPr>
              <a:t>Governed EA — permanent practice</a:t>
            </a:r>
          </a:p>
        </p:txBody>
      </p:sp>
      <p:sp>
        <p:nvSpPr>
          <p:cNvPr id="14" name="TextBox 13"/>
          <p:cNvSpPr txBox="1"/>
          <p:nvPr/>
        </p:nvSpPr>
        <p:spPr>
          <a:xfrm>
            <a:off x="822960" y="4846320"/>
            <a:ext cx="10515600" cy="1188720"/>
          </a:xfrm>
          <a:prstGeom prst="rect">
            <a:avLst/>
          </a:prstGeom>
          <a:noFill/>
        </p:spPr>
        <p:txBody>
          <a:bodyPr wrap="square">
            <a:spAutoFit/>
          </a:bodyPr>
          <a:lstStyle/>
          <a:p>
            <a:r>
              <a:rPr sz="1700" b="0" i="0">
                <a:solidFill>
                  <a:srgbClr val="1A1A1A"/>
                </a:solidFill>
                <a:latin typeface="Arial"/>
              </a:rPr>
              <a:t>“Months, not years” is not a slogan. It is the consequence of five phases, each with a clear question, a clear deliverable, and a clear sign-off.</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The lifecycle on one page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