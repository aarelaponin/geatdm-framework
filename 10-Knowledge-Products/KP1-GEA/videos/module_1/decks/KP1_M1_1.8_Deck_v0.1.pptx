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9" r:id="rId71"/>
    <p:sldId id="2750" r:id="rId72"/>
    <p:sldId id="2751" r:id="rId73"/>
    <p:sldId id="2752" r:id="rId74"/>
    <p:sldId id="2753" r:id="rId75"/>
    <p:sldId id="2754" r:id="rId76"/>
    <p:sldId id="2755" r:id="rId77"/>
    <p:sldId id="275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1.8.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Four countries did the work. Three of them are in Africa. They differ in size, in resources, in governance type — and the EA pattern shows in all three. The fourth is Estonia, the most-cited international example, useful as a reference but with a very different starting context. Looking at the four together shows what the pattern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Rwanda. The Ministry of ICT and Innovation, with Irembo as the unifying citizen-services platform. Starting from a small base in the mid-2010s, Rwanda built one of the most ambitious digital-government programmes on the continent. A single citizen-service platform. A national ID linked across services. Strong central coordination. The institutional muscle is small but disciplined. The lesson for other countries: in a smaller country with political will, the lifecycle can be compressed, and the gains in the second and third sectors come faster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Kenya. The Huduma Centres and the Huduma Namba experience. Kenya took a different path — physical one-stop centres where citizens could access many government services in one place, with the Huduma Namba programme attempting to provide a unifying digital identity to underpin them. The results are mixed and openly debated in Kenya's public arena. The lesson is not 'Kenya solved this' — it is that Kenya tried, encountered concrete obstacles in courts, in parliament, and in implementation, and the debate is documented and useful. For countries thinking about similar moves, Kenya's experience tells you what to plan for.</a:t>
            </a:r>
          </a:p>
          <a:p/>
          <a:p>
            <a:r>
              <a:t>Honesty about the contested experience is a feature of this example, not a defect.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South Africa. State Information Technology Agency, known as SITA, and the federated digital-government model. South Africa is a federal democracy with strong provincial governments and constitutionally autonomous statutory bodies. You cannot impose a single architecture from the top. SITA acts as a coordinating body — shared standards, common procurement frameworks, a maintained reference architecture that agencies adopt rather than have imposed. The lesson: in any country where sub-national governments or autonomous statutory bodies carry real authority, the federated model — coordination without coercion — is the realistic pattern. Many African countries with strong provincial or county governments will recognise this shape.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 The Information System Authority, known as RIA. The most-cited international example of mature digital government. Starting in the late 1990s, Estonia built X-Road as the data-exchange backbone, distributed state registries owned by their accountable agencies, and the Once-Only principle — that the state never asks a citizen for the same information twice. Today, almost every public service in Estonia runs online. Estonia is a small unitary state with very different starting conditions from most African countries. Use it as a polestar — what fully mature digital government can look like — not as a template to copy directly. The pattern is the same. The path is your country's.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very different countries. The same architectural elements show in all four. A small central team with real authority. A published framework that other agencies adopt rather than fight. A governance mechanism that is binding, not advisory. A time horizon measured in years for full maturity, with intermediate results visible inside months. These are not outliers. They are what committing to the lifecycle and the team and the governance and the time horizon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pattern travels. Across small countries and large. Across unitary states and federations. Across countries with strong central authority and countries where authority is distributed. Your country can apply it too — once your minister commits to the four asks from the previous video. The rest of this knowledge product shows you how to do the work, using a fictional country called Progressa so every step is visible in detail.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1.8 — Four signposts — three African, one international</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1.8</a:t>
            </a:r>
          </a:p>
          <a:p>
            <a:r>
              <a:rPr sz="12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signposts — three African, one international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Rwanda — small country, strong centre: the lifecycle can compress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Ministry of ICT and Innovation; Irembo as the citizen-services platform</a:t>
            </a:r>
          </a:p>
          <a:p>
            <a:pPr>
              <a:spcAft>
                <a:spcPts val="300"/>
              </a:spcAft>
            </a:pPr>
            <a:r>
              <a:rPr sz="1500" b="0" i="0">
                <a:solidFill>
                  <a:srgbClr val="595959"/>
                </a:solidFill>
                <a:latin typeface="Arial"/>
              </a:rPr>
              <a:t>From a small base in the mid-2010s to one of the most ambitious digital-government programmes on the continent.</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A single national ID linked across services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 small institutional muscle, coordinated centrally, disciplined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with political will, the lifecycle can be compressed</a:t>
            </a:r>
          </a:p>
          <a:p>
            <a:pPr>
              <a:spcAft>
                <a:spcPts val="300"/>
              </a:spcAft>
            </a:pPr>
            <a:r>
              <a:rPr sz="1500" b="0" i="0">
                <a:solidFill>
                  <a:srgbClr val="595959"/>
                </a:solidFill>
                <a:latin typeface="Arial"/>
              </a:rPr>
              <a:t>And the gains in the second and third sectors come faster than the first.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Kenya — the obstacles are concrete and documented: plan for them</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Centres — physical one-stop shops for government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Namba — the unifying identity programme underneath</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Mixed results, openly debated in public</a:t>
            </a:r>
          </a:p>
          <a:p>
            <a:pPr>
              <a:spcAft>
                <a:spcPts val="300"/>
              </a:spcAft>
            </a:pPr>
            <a:r>
              <a:rPr sz="1500" b="0" i="0">
                <a:solidFill>
                  <a:srgbClr val="595959"/>
                </a:solidFill>
                <a:latin typeface="Arial"/>
              </a:rPr>
              <a:t>Obstacles met in courts, in parliament, and in implementation.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the lesson is not “Kenya solved this”</a:t>
            </a:r>
          </a:p>
          <a:p>
            <a:pPr>
              <a:spcAft>
                <a:spcPts val="300"/>
              </a:spcAft>
            </a:pPr>
            <a:r>
              <a:rPr sz="1500" b="0" i="0">
                <a:solidFill>
                  <a:srgbClr val="595959"/>
                </a:solidFill>
                <a:latin typeface="Arial"/>
              </a:rPr>
              <a:t>It is that Kenya tried, the obstacles are documented — legal, political, technical — and the debate tells you what to plan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South Africa — where you cannot impose, you federate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SITA — the State Information Technology Agency as coordinating body</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Strong provincial governments and constitutionally autonomous statutory bodies</a:t>
            </a:r>
          </a:p>
          <a:p>
            <a:pPr>
              <a:spcAft>
                <a:spcPts val="300"/>
              </a:spcAft>
            </a:pPr>
            <a:r>
              <a:rPr sz="1500" b="0" i="0">
                <a:solidFill>
                  <a:srgbClr val="595959"/>
                </a:solidFill>
                <a:latin typeface="Arial"/>
              </a:rPr>
              <a:t>A single architecture cannot be imposed from the top.</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Shared standards, common procurement, a maintained reference architecture</a:t>
            </a:r>
          </a:p>
          <a:p>
            <a:pPr>
              <a:spcAft>
                <a:spcPts val="300"/>
              </a:spcAft>
            </a:pPr>
            <a:r>
              <a:rPr sz="1500" b="0" i="0">
                <a:solidFill>
                  <a:srgbClr val="595959"/>
                </a:solidFill>
                <a:latin typeface="Arial"/>
              </a:rPr>
              <a:t>Agencies adopt it rather than have it imposed.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federation — coordination without coercion</a:t>
            </a:r>
          </a:p>
          <a:p>
            <a:pPr>
              <a:spcAft>
                <a:spcPts val="300"/>
              </a:spcAft>
            </a:pPr>
            <a:r>
              <a:rPr sz="1500" b="0" i="0">
                <a:solidFill>
                  <a:srgbClr val="595959"/>
                </a:solidFill>
                <a:latin typeface="Arial"/>
              </a:rPr>
              <a:t>The realistic pattern wherever sub-national governments or autonomous bodies carry real authority.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the polestar, not the template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RIA — the Information System Authority; X-Road as the data-exchange backbone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Distributed registries — population, business, land — owned by their accountable agencies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Anchoring principle: Once-Only</a:t>
            </a:r>
          </a:p>
          <a:p>
            <a:pPr>
              <a:spcAft>
                <a:spcPts val="300"/>
              </a:spcAft>
            </a:pPr>
            <a:r>
              <a:rPr sz="1500" b="0" i="0">
                <a:solidFill>
                  <a:srgbClr val="595959"/>
                </a:solidFill>
                <a:latin typeface="Arial"/>
              </a:rPr>
              <a:t>The state never asks a citizen for the same information twice.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Started late 1990s; most public services online today</a:t>
            </a:r>
          </a:p>
          <a:p>
            <a:pPr>
              <a:spcAft>
                <a:spcPts val="300"/>
              </a:spcAft>
            </a:pPr>
            <a:r>
              <a:rPr sz="1500" b="0" i="0">
                <a:solidFill>
                  <a:srgbClr val="595959"/>
                </a:solidFill>
                <a:latin typeface="Arial"/>
              </a:rPr>
              <a:t>A small unitary state with very different starting conditions — use it as a polestar for what mature digital government looks like, not a template to copy.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countries — the same four elements</a:t>
            </a:r>
          </a:p>
        </p:txBody>
      </p:sp>
      <p:graphicFrame>
        <p:nvGraphicFramePr>
          <p:cNvPr id="4" name="Table 3"/>
          <p:cNvGraphicFramePr>
            <a:graphicFrameLocks noGrp="1"/>
          </p:cNvGraphicFramePr>
          <p:nvPr/>
        </p:nvGraphicFramePr>
        <p:xfrm>
          <a:off x="658368" y="1554480"/>
          <a:ext cx="10881360" cy="4023360"/>
        </p:xfrm>
        <a:graphic>
          <a:graphicData uri="http://schemas.openxmlformats.org/drawingml/2006/table">
            <a:tbl>
              <a:tblPr firstRow="1" bandRow="1">
                <a:tableStyleId>{5C22544A-7EE6-4342-B048-85BDC9FD1C3A}</a:tableStyleId>
              </a:tblPr>
              <a:tblGrid>
                <a:gridCol w="4663440"/>
                <a:gridCol w="1554480"/>
                <a:gridCol w="1554480"/>
                <a:gridCol w="1554480"/>
                <a:gridCol w="1554480"/>
              </a:tblGrid>
              <a:tr h="804672">
                <a:tc>
                  <a:txBody>
                    <a:bodyPr/>
                    <a:lstStyle/>
                    <a:p>
                      <a:pPr algn="l"/>
                    </a:p>
                  </a:txBody>
                  <a:tcPr/>
                </a:tc>
                <a:tc>
                  <a:txBody>
                    <a:bodyPr/>
                    <a:lstStyle/>
                    <a:p>
                      <a:pPr algn="ctr"/>
                      <a:r>
                        <a:rPr sz="1500" b="1">
                          <a:solidFill>
                            <a:srgbClr val="1A1A1A"/>
                          </a:solidFill>
                          <a:latin typeface="Arial"/>
                        </a:rPr>
                        <a:t>Rwanda</a:t>
                      </a:r>
                    </a:p>
                  </a:txBody>
                  <a:tcPr/>
                </a:tc>
                <a:tc>
                  <a:txBody>
                    <a:bodyPr/>
                    <a:lstStyle/>
                    <a:p>
                      <a:pPr algn="ctr"/>
                      <a:r>
                        <a:rPr sz="1500" b="1">
                          <a:solidFill>
                            <a:srgbClr val="1A1A1A"/>
                          </a:solidFill>
                          <a:latin typeface="Arial"/>
                        </a:rPr>
                        <a:t>Kenya</a:t>
                      </a:r>
                    </a:p>
                  </a:txBody>
                  <a:tcPr/>
                </a:tc>
                <a:tc>
                  <a:txBody>
                    <a:bodyPr/>
                    <a:lstStyle/>
                    <a:p>
                      <a:pPr algn="ctr"/>
                      <a:r>
                        <a:rPr sz="1500" b="1">
                          <a:solidFill>
                            <a:srgbClr val="1A1A1A"/>
                          </a:solidFill>
                          <a:latin typeface="Arial"/>
                        </a:rPr>
                        <a:t>South Africa</a:t>
                      </a:r>
                    </a:p>
                  </a:txBody>
                  <a:tcPr/>
                </a:tc>
                <a:tc>
                  <a:txBody>
                    <a:bodyPr/>
                    <a:lstStyle/>
                    <a:p>
                      <a:pPr algn="ctr"/>
                      <a:r>
                        <a:rPr sz="1500" b="1">
                          <a:solidFill>
                            <a:srgbClr val="1A1A1A"/>
                          </a:solidFill>
                          <a:latin typeface="Arial"/>
                        </a:rPr>
                        <a:t>Estonia</a:t>
                      </a:r>
                    </a:p>
                  </a:txBody>
                  <a:tcPr/>
                </a:tc>
              </a:tr>
              <a:tr h="804672">
                <a:tc>
                  <a:txBody>
                    <a:bodyPr/>
                    <a:lstStyle/>
                    <a:p>
                      <a:r>
                        <a:rPr sz="1500">
                          <a:solidFill>
                            <a:srgbClr val="1A1A1A"/>
                          </a:solidFill>
                          <a:latin typeface="Arial"/>
                        </a:rPr>
                        <a:t>Small central team with real authority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Published framework other agencies adopt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Binding governance, not advisory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Multi-year horizon, results visible in months</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bl>
          </a:graphicData>
        </a:graphic>
      </p:graphicFrame>
      <p:sp>
        <p:nvSpPr>
          <p:cNvPr id="5" name="TextBox 4"/>
          <p:cNvSpPr txBox="1"/>
          <p:nvPr/>
        </p:nvSpPr>
        <p:spPr>
          <a:xfrm>
            <a:off x="658368" y="5760720"/>
            <a:ext cx="10881360" cy="548640"/>
          </a:xfrm>
          <a:prstGeom prst="rect">
            <a:avLst/>
          </a:prstGeom>
          <a:noFill/>
        </p:spPr>
        <p:txBody>
          <a:bodyPr wrap="square">
            <a:spAutoFit/>
          </a:bodyPr>
          <a:lstStyle/>
          <a:p>
            <a:r>
              <a:rPr sz="1450" b="0" i="0">
                <a:solidFill>
                  <a:srgbClr val="595959"/>
                </a:solidFill>
                <a:latin typeface="Arial"/>
              </a:rPr>
              <a:t>These are not outliers. This is what committing to the lifecycle, the team, the governance and the time horizon looks like in practice.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travels — across small countries and large, unitary states and federations. Your country can apply it too.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Ministry of ICT and Innovation</a:t>
            </a:r>
          </a:p>
          <a:p>
            <a:pPr>
              <a:spcAft>
                <a:spcPts val="1200"/>
              </a:spcAft>
            </a:pPr>
            <a:r>
              <a:rPr sz="1700" b="0" i="0">
                <a:solidFill>
                  <a:srgbClr val="1A1A1A"/>
                </a:solidFill>
                <a:latin typeface="Arial"/>
              </a:rPr>
              <a:t>•  Kenya — Huduma Kenya (huduma.go.ke); Huduma Namba</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RIA (ria.ee)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