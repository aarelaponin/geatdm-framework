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42" r:id="rId64"/>
    <p:sldId id="2743" r:id="rId65"/>
    <p:sldId id="2744" r:id="rId66"/>
    <p:sldId id="2745" r:id="rId67"/>
    <p:sldId id="2746" r:id="rId68"/>
    <p:sldId id="2747" r:id="rId69"/>
    <p:sldId id="2748" r:id="rId70"/>
    <p:sldId id="2749" r:id="rId71"/>
    <p:sldId id="2750" r:id="rId72"/>
    <p:sldId id="2751" r:id="rId73"/>
    <p:sldId id="2752"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Suppose you have made the case and your minister is convinced. Now the harder part: agreeing the four specific things the minister must commit to. Each one is necessary; without any one of them the EA programme will struggle.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ask. A small permanent EA team. Two to four senior architects. Permanent. Reporting to your CDO or its equivalent. Not project consultants who arrive and leave. Not a temporary unit. The institutional home of architecture work in your country. Tell your minister: this team will exist whether or not any single programme is running. That is the point. It is your country's permanent muscle for cross-cutting digital decisions.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ask. An EA Board with real authority. Chaired by your CDO, or by the minister directly. Members: sector ministry CIOs, owners of the major state registers, and where useful an external advisor. Cadence: quarterly meetings, with ad-hoc sessions for urgent decisions. The hardest part: the mandate must be binding, not advisory. Without binding authority the EA becomes documentation nobody reads; with it, the EA becomes the place every digital decision passes through.</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ask. A sustained budget envelope. Three parts: the initial six-month engagement that runs the first four phases, about ten to fifteen senior person-months; the permanent practice, your two to four architects; and the governance overhead of Board time and occasional external review. As a share of your digital-government budget the whole thing is typically about two per cent. What you want is a five-year envelope, not an annual line that disappears when ministerial priorities shift.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Fourth ask. One promise. The EA team will not be pulled onto the urgent project of the week. Not by you. Not by the minister. Not by anyone in cabinet. Get this in writing if you can. The most common way EA programmes quietly die is in their second year, when the team is moved onto a flagship delivery and the architecture work stops. The promise to protect the team must be explicit, must be visible, and must be recommitted whenever the minister changes.</a:t>
            </a:r>
          </a:p>
          <a:p/>
          <a:p>
            <a:r>
              <a:t>This is the emotional peak of video 1.7 — the one slide in the module with a full-colour block.</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one note on time horizon, put honestly. Six months to an approved roadmap. Eighteen to twenty-four months to a fully operating practice. Five years to mature governance. The minister who launches this work will not be the one who completes it — and a minister who hears that as a feature is the right one to commission it.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Honesty about Kenya's contested experience is a feature of this example, not a defect.</a:t>
            </a:r>
          </a:p>
          <a:p/>
          <a:p>
            <a:r>
              <a:t>VO: One more thing to take into the meeting. Four very different governments have already made these commitments. Rwanda, small with a strong centre, one citizen-services platform and a national identity linked across services. Kenya, with one-stop centres and an identity programme whose results are mixed and openly debated. South Africa, federal, coordinating through a central agency and shared standards rather than imposing them. And Estonia, mature, with distributed registries and the once-only principle.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contexts, one pattern. A small central team with real authority. A published framework other agencies adopt. Binding governance rather than advisory. And a multi-year horizon with results visible inside months. Different sizes, different constitutions, the same four elements — which are the four asks, in four real governments.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Four asks. A team. A Board. A budget envelope. A promise. Put them on a single page and ask for all four together — not in pieces. With all four committed, you have what you need.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you will need from your minister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Four asks. A small permanent EA team. An EA Board with real authority. About two per cent of digital budget, sustained for five years. And one promise — that the team will not be pulled onto the urgent project of the week.</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Your minister is convinced. Now the harder part.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Four specific things the minister must commit to.</a:t>
            </a:r>
          </a:p>
          <a:p>
            <a:pPr>
              <a:spcAft>
                <a:spcPts val="800"/>
              </a:spcAft>
            </a:pPr>
            <a:r>
              <a:rPr sz="1700" b="0" i="0">
                <a:solidFill>
                  <a:srgbClr val="595959"/>
                </a:solidFill>
                <a:latin typeface="Arial"/>
              </a:rPr>
              <a:t>Each one is necessary — without any one of them the EA programme will struggle.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1 — A small permanent EA team</a:t>
            </a:r>
          </a:p>
        </p:txBody>
      </p:sp>
      <p:sp>
        <p:nvSpPr>
          <p:cNvPr id="4" name="TextBox 3"/>
          <p:cNvSpPr txBox="1"/>
          <p:nvPr/>
        </p:nvSpPr>
        <p:spPr>
          <a:xfrm>
            <a:off x="658368" y="1645920"/>
            <a:ext cx="2286000" cy="548640"/>
          </a:xfrm>
          <a:prstGeom prst="rect">
            <a:avLst/>
          </a:prstGeom>
          <a:noFill/>
        </p:spPr>
        <p:txBody>
          <a:bodyPr wrap="square">
            <a:spAutoFit/>
          </a:bodyPr>
          <a:lstStyle/>
          <a:p>
            <a:r>
              <a:rPr sz="1300" b="1" i="0">
                <a:solidFill>
                  <a:srgbClr val="006E96"/>
                </a:solidFill>
                <a:latin typeface="Arial"/>
              </a:rPr>
              <a:t>SIZE</a:t>
            </a:r>
          </a:p>
        </p:txBody>
      </p:sp>
      <p:sp>
        <p:nvSpPr>
          <p:cNvPr id="5" name="TextBox 4"/>
          <p:cNvSpPr txBox="1"/>
          <p:nvPr/>
        </p:nvSpPr>
        <p:spPr>
          <a:xfrm>
            <a:off x="3017520" y="1627632"/>
            <a:ext cx="8412480" cy="1051560"/>
          </a:xfrm>
          <a:prstGeom prst="rect">
            <a:avLst/>
          </a:prstGeom>
          <a:noFill/>
        </p:spPr>
        <p:txBody>
          <a:bodyPr wrap="square">
            <a:spAutoFit/>
          </a:bodyPr>
          <a:lstStyle/>
          <a:p>
            <a:r>
              <a:rPr sz="1700" b="0" i="0">
                <a:solidFill>
                  <a:srgbClr val="1A1A1A"/>
                </a:solidFill>
                <a:latin typeface="Arial"/>
              </a:rPr>
              <a:t>2 to 4 senior architects — permanent, reporting to your CDO or equivalent</a:t>
            </a:r>
          </a:p>
        </p:txBody>
      </p:sp>
      <p:sp>
        <p:nvSpPr>
          <p:cNvPr id="6" name="TextBox 5"/>
          <p:cNvSpPr txBox="1"/>
          <p:nvPr/>
        </p:nvSpPr>
        <p:spPr>
          <a:xfrm>
            <a:off x="658368" y="2724912"/>
            <a:ext cx="2286000" cy="548640"/>
          </a:xfrm>
          <a:prstGeom prst="rect">
            <a:avLst/>
          </a:prstGeom>
          <a:noFill/>
        </p:spPr>
        <p:txBody>
          <a:bodyPr wrap="square">
            <a:spAutoFit/>
          </a:bodyPr>
          <a:lstStyle/>
          <a:p>
            <a:r>
              <a:rPr sz="1300" b="1" i="0">
                <a:solidFill>
                  <a:srgbClr val="006E96"/>
                </a:solidFill>
                <a:latin typeface="Arial"/>
              </a:rPr>
              <a:t>TYPICALLY</a:t>
            </a:r>
          </a:p>
        </p:txBody>
      </p:sp>
      <p:sp>
        <p:nvSpPr>
          <p:cNvPr id="7" name="TextBox 6"/>
          <p:cNvSpPr txBox="1"/>
          <p:nvPr/>
        </p:nvSpPr>
        <p:spPr>
          <a:xfrm>
            <a:off x="3017520" y="2706624"/>
            <a:ext cx="8412480" cy="1051560"/>
          </a:xfrm>
          <a:prstGeom prst="rect">
            <a:avLst/>
          </a:prstGeom>
          <a:noFill/>
        </p:spPr>
        <p:txBody>
          <a:bodyPr wrap="square">
            <a:spAutoFit/>
          </a:bodyPr>
          <a:lstStyle/>
          <a:p>
            <a:r>
              <a:rPr sz="1700" b="0" i="0">
                <a:solidFill>
                  <a:srgbClr val="1A1A1A"/>
                </a:solidFill>
                <a:latin typeface="Arial"/>
              </a:rPr>
              <a:t>A chief architect, domain architects, a methodology lead. Smaller countries: 2 people, each carrying several domains.</a:t>
            </a:r>
          </a:p>
        </p:txBody>
      </p:sp>
      <p:sp>
        <p:nvSpPr>
          <p:cNvPr id="8" name="TextBox 7"/>
          <p:cNvSpPr txBox="1"/>
          <p:nvPr/>
        </p:nvSpPr>
        <p:spPr>
          <a:xfrm>
            <a:off x="658368" y="3803904"/>
            <a:ext cx="2286000" cy="548640"/>
          </a:xfrm>
          <a:prstGeom prst="rect">
            <a:avLst/>
          </a:prstGeom>
          <a:noFill/>
        </p:spPr>
        <p:txBody>
          <a:bodyPr wrap="square">
            <a:spAutoFit/>
          </a:bodyPr>
          <a:lstStyle/>
          <a:p>
            <a:r>
              <a:rPr sz="1300" b="1" i="0">
                <a:solidFill>
                  <a:srgbClr val="006E96"/>
                </a:solidFill>
                <a:latin typeface="Arial"/>
              </a:rPr>
              <a:t>NOT</a:t>
            </a:r>
          </a:p>
        </p:txBody>
      </p:sp>
      <p:sp>
        <p:nvSpPr>
          <p:cNvPr id="9" name="TextBox 8"/>
          <p:cNvSpPr txBox="1"/>
          <p:nvPr/>
        </p:nvSpPr>
        <p:spPr>
          <a:xfrm>
            <a:off x="3017520" y="3785616"/>
            <a:ext cx="8412480" cy="1051560"/>
          </a:xfrm>
          <a:prstGeom prst="rect">
            <a:avLst/>
          </a:prstGeom>
          <a:noFill/>
        </p:spPr>
        <p:txBody>
          <a:bodyPr wrap="square">
            <a:spAutoFit/>
          </a:bodyPr>
          <a:lstStyle/>
          <a:p>
            <a:r>
              <a:rPr sz="1700" b="0" i="0">
                <a:solidFill>
                  <a:srgbClr val="1A1A1A"/>
                </a:solidFill>
                <a:latin typeface="Arial"/>
              </a:rPr>
              <a:t>Consultants. Not a temporary unit.</a:t>
            </a:r>
          </a:p>
        </p:txBody>
      </p:sp>
      <p:sp>
        <p:nvSpPr>
          <p:cNvPr id="10" name="TextBox 9"/>
          <p:cNvSpPr txBox="1"/>
          <p:nvPr/>
        </p:nvSpPr>
        <p:spPr>
          <a:xfrm>
            <a:off x="658368" y="4882896"/>
            <a:ext cx="2286000" cy="548640"/>
          </a:xfrm>
          <a:prstGeom prst="rect">
            <a:avLst/>
          </a:prstGeom>
          <a:noFill/>
        </p:spPr>
        <p:txBody>
          <a:bodyPr wrap="square">
            <a:spAutoFit/>
          </a:bodyPr>
          <a:lstStyle/>
          <a:p>
            <a:r>
              <a:rPr sz="1300" b="1" i="0">
                <a:solidFill>
                  <a:srgbClr val="006E96"/>
                </a:solidFill>
                <a:latin typeface="Arial"/>
              </a:rPr>
              <a:t>THE POINT</a:t>
            </a:r>
          </a:p>
        </p:txBody>
      </p:sp>
      <p:sp>
        <p:nvSpPr>
          <p:cNvPr id="11" name="TextBox 10"/>
          <p:cNvSpPr txBox="1"/>
          <p:nvPr/>
        </p:nvSpPr>
        <p:spPr>
          <a:xfrm>
            <a:off x="3017520" y="4864608"/>
            <a:ext cx="8412480" cy="1051560"/>
          </a:xfrm>
          <a:prstGeom prst="rect">
            <a:avLst/>
          </a:prstGeom>
          <a:noFill/>
        </p:spPr>
        <p:txBody>
          <a:bodyPr wrap="square">
            <a:spAutoFit/>
          </a:bodyPr>
          <a:lstStyle/>
          <a:p>
            <a:r>
              <a:rPr sz="1700" b="1" i="0">
                <a:solidFill>
                  <a:srgbClr val="1A1A1A"/>
                </a:solidFill>
                <a:latin typeface="Arial"/>
              </a:rPr>
              <a:t>The institutional home of architecture — it exists whether or not any single programme is running.</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2 — An EA Board with binding authority</a:t>
            </a:r>
          </a:p>
        </p:txBody>
      </p:sp>
      <p:sp>
        <p:nvSpPr>
          <p:cNvPr id="4" name="TextBox 3"/>
          <p:cNvSpPr txBox="1"/>
          <p:nvPr/>
        </p:nvSpPr>
        <p:spPr>
          <a:xfrm>
            <a:off x="658368" y="1645920"/>
            <a:ext cx="2286000" cy="548640"/>
          </a:xfrm>
          <a:prstGeom prst="rect">
            <a:avLst/>
          </a:prstGeom>
          <a:noFill/>
        </p:spPr>
        <p:txBody>
          <a:bodyPr wrap="square">
            <a:spAutoFit/>
          </a:bodyPr>
          <a:lstStyle/>
          <a:p>
            <a:r>
              <a:rPr sz="1300" b="1" i="0">
                <a:solidFill>
                  <a:srgbClr val="006E96"/>
                </a:solidFill>
                <a:latin typeface="Arial"/>
              </a:rPr>
              <a:t>CHAIR</a:t>
            </a:r>
          </a:p>
        </p:txBody>
      </p:sp>
      <p:sp>
        <p:nvSpPr>
          <p:cNvPr id="5" name="TextBox 4"/>
          <p:cNvSpPr txBox="1"/>
          <p:nvPr/>
        </p:nvSpPr>
        <p:spPr>
          <a:xfrm>
            <a:off x="3017520" y="1627632"/>
            <a:ext cx="8412480" cy="1051560"/>
          </a:xfrm>
          <a:prstGeom prst="rect">
            <a:avLst/>
          </a:prstGeom>
          <a:noFill/>
        </p:spPr>
        <p:txBody>
          <a:bodyPr wrap="square">
            <a:spAutoFit/>
          </a:bodyPr>
          <a:lstStyle/>
          <a:p>
            <a:r>
              <a:rPr sz="1700" b="0" i="0">
                <a:solidFill>
                  <a:srgbClr val="1A1A1A"/>
                </a:solidFill>
                <a:latin typeface="Arial"/>
              </a:rPr>
              <a:t>Your CDO — or the minister directly</a:t>
            </a:r>
          </a:p>
        </p:txBody>
      </p:sp>
      <p:sp>
        <p:nvSpPr>
          <p:cNvPr id="6" name="TextBox 5"/>
          <p:cNvSpPr txBox="1"/>
          <p:nvPr/>
        </p:nvSpPr>
        <p:spPr>
          <a:xfrm>
            <a:off x="658368" y="2724912"/>
            <a:ext cx="2286000" cy="548640"/>
          </a:xfrm>
          <a:prstGeom prst="rect">
            <a:avLst/>
          </a:prstGeom>
          <a:noFill/>
        </p:spPr>
        <p:txBody>
          <a:bodyPr wrap="square">
            <a:spAutoFit/>
          </a:bodyPr>
          <a:lstStyle/>
          <a:p>
            <a:r>
              <a:rPr sz="1300" b="1" i="0">
                <a:solidFill>
                  <a:srgbClr val="006E96"/>
                </a:solidFill>
                <a:latin typeface="Arial"/>
              </a:rPr>
              <a:t>MEMBERS</a:t>
            </a:r>
          </a:p>
        </p:txBody>
      </p:sp>
      <p:sp>
        <p:nvSpPr>
          <p:cNvPr id="7" name="TextBox 6"/>
          <p:cNvSpPr txBox="1"/>
          <p:nvPr/>
        </p:nvSpPr>
        <p:spPr>
          <a:xfrm>
            <a:off x="3017520" y="2706624"/>
            <a:ext cx="8412480" cy="1051560"/>
          </a:xfrm>
          <a:prstGeom prst="rect">
            <a:avLst/>
          </a:prstGeom>
          <a:noFill/>
        </p:spPr>
        <p:txBody>
          <a:bodyPr wrap="square">
            <a:spAutoFit/>
          </a:bodyPr>
          <a:lstStyle/>
          <a:p>
            <a:r>
              <a:rPr sz="1700" b="0" i="0">
                <a:solidFill>
                  <a:srgbClr val="1A1A1A"/>
                </a:solidFill>
                <a:latin typeface="Arial"/>
              </a:rPr>
              <a:t>Sector ministry CIOs, owners of the major state registers, optionally an external advisor</a:t>
            </a:r>
          </a:p>
        </p:txBody>
      </p:sp>
      <p:sp>
        <p:nvSpPr>
          <p:cNvPr id="8" name="TextBox 7"/>
          <p:cNvSpPr txBox="1"/>
          <p:nvPr/>
        </p:nvSpPr>
        <p:spPr>
          <a:xfrm>
            <a:off x="658368" y="3803904"/>
            <a:ext cx="2286000" cy="548640"/>
          </a:xfrm>
          <a:prstGeom prst="rect">
            <a:avLst/>
          </a:prstGeom>
          <a:noFill/>
        </p:spPr>
        <p:txBody>
          <a:bodyPr wrap="square">
            <a:spAutoFit/>
          </a:bodyPr>
          <a:lstStyle/>
          <a:p>
            <a:r>
              <a:rPr sz="1300" b="1" i="0">
                <a:solidFill>
                  <a:srgbClr val="006E96"/>
                </a:solidFill>
                <a:latin typeface="Arial"/>
              </a:rPr>
              <a:t>CADENCE</a:t>
            </a:r>
          </a:p>
        </p:txBody>
      </p:sp>
      <p:sp>
        <p:nvSpPr>
          <p:cNvPr id="9" name="TextBox 8"/>
          <p:cNvSpPr txBox="1"/>
          <p:nvPr/>
        </p:nvSpPr>
        <p:spPr>
          <a:xfrm>
            <a:off x="3017520" y="3785616"/>
            <a:ext cx="8412480" cy="1051560"/>
          </a:xfrm>
          <a:prstGeom prst="rect">
            <a:avLst/>
          </a:prstGeom>
          <a:noFill/>
        </p:spPr>
        <p:txBody>
          <a:bodyPr wrap="square">
            <a:spAutoFit/>
          </a:bodyPr>
          <a:lstStyle/>
          <a:p>
            <a:r>
              <a:rPr sz="1700" b="0" i="0">
                <a:solidFill>
                  <a:srgbClr val="1A1A1A"/>
                </a:solidFill>
                <a:latin typeface="Arial"/>
              </a:rPr>
              <a:t>Quarterly main meetings; ad-hoc for urgent decisions</a:t>
            </a:r>
          </a:p>
        </p:txBody>
      </p:sp>
      <p:sp>
        <p:nvSpPr>
          <p:cNvPr id="10" name="TextBox 9"/>
          <p:cNvSpPr txBox="1"/>
          <p:nvPr/>
        </p:nvSpPr>
        <p:spPr>
          <a:xfrm>
            <a:off x="658368" y="4882896"/>
            <a:ext cx="2286000" cy="548640"/>
          </a:xfrm>
          <a:prstGeom prst="rect">
            <a:avLst/>
          </a:prstGeom>
          <a:noFill/>
        </p:spPr>
        <p:txBody>
          <a:bodyPr wrap="square">
            <a:spAutoFit/>
          </a:bodyPr>
          <a:lstStyle/>
          <a:p>
            <a:r>
              <a:rPr sz="1300" b="1" i="0">
                <a:solidFill>
                  <a:srgbClr val="006E96"/>
                </a:solidFill>
                <a:latin typeface="Arial"/>
              </a:rPr>
              <a:t>MANDATE</a:t>
            </a:r>
          </a:p>
        </p:txBody>
      </p:sp>
      <p:sp>
        <p:nvSpPr>
          <p:cNvPr id="11" name="TextBox 10"/>
          <p:cNvSpPr txBox="1"/>
          <p:nvPr/>
        </p:nvSpPr>
        <p:spPr>
          <a:xfrm>
            <a:off x="3017520" y="4864608"/>
            <a:ext cx="8412480" cy="1051560"/>
          </a:xfrm>
          <a:prstGeom prst="rect">
            <a:avLst/>
          </a:prstGeom>
          <a:noFill/>
        </p:spPr>
        <p:txBody>
          <a:bodyPr wrap="square">
            <a:spAutoFit/>
          </a:bodyPr>
          <a:lstStyle/>
          <a:p>
            <a:r>
              <a:rPr sz="1700" b="1" i="0">
                <a:solidFill>
                  <a:srgbClr val="1A1A1A"/>
                </a:solidFill>
                <a:latin typeface="Arial"/>
              </a:rPr>
              <a:t>BINDING — not advisory. Without binding authority, the EA becomes documentation nobody reads.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3 — About 2% of digital budget, for five years</a:t>
            </a:r>
          </a:p>
        </p:txBody>
      </p:sp>
      <p:sp>
        <p:nvSpPr>
          <p:cNvPr id="4" name="TextBox 3"/>
          <p:cNvSpPr txBox="1"/>
          <p:nvPr/>
        </p:nvSpPr>
        <p:spPr>
          <a:xfrm>
            <a:off x="658368" y="1645920"/>
            <a:ext cx="2286000" cy="548640"/>
          </a:xfrm>
          <a:prstGeom prst="rect">
            <a:avLst/>
          </a:prstGeom>
          <a:noFill/>
        </p:spPr>
        <p:txBody>
          <a:bodyPr wrap="square">
            <a:spAutoFit/>
          </a:bodyPr>
          <a:lstStyle/>
          <a:p>
            <a:r>
              <a:rPr sz="1300" b="1" i="0">
                <a:solidFill>
                  <a:srgbClr val="006E96"/>
                </a:solidFill>
                <a:latin typeface="Arial"/>
              </a:rPr>
              <a:t>INITIAL ENGAGEMENT</a:t>
            </a:r>
          </a:p>
        </p:txBody>
      </p:sp>
      <p:sp>
        <p:nvSpPr>
          <p:cNvPr id="5" name="TextBox 4"/>
          <p:cNvSpPr txBox="1"/>
          <p:nvPr/>
        </p:nvSpPr>
        <p:spPr>
          <a:xfrm>
            <a:off x="3017520" y="1627632"/>
            <a:ext cx="8412480" cy="1051560"/>
          </a:xfrm>
          <a:prstGeom prst="rect">
            <a:avLst/>
          </a:prstGeom>
          <a:noFill/>
        </p:spPr>
        <p:txBody>
          <a:bodyPr wrap="square">
            <a:spAutoFit/>
          </a:bodyPr>
          <a:lstStyle/>
          <a:p>
            <a:r>
              <a:rPr sz="1700" b="0" i="0">
                <a:solidFill>
                  <a:srgbClr val="1A1A1A"/>
                </a:solidFill>
                <a:latin typeface="Arial"/>
              </a:rPr>
              <a:t>The first four phases — about 10 to 15 senior person-months over six months</a:t>
            </a:r>
          </a:p>
        </p:txBody>
      </p:sp>
      <p:sp>
        <p:nvSpPr>
          <p:cNvPr id="6" name="TextBox 5"/>
          <p:cNvSpPr txBox="1"/>
          <p:nvPr/>
        </p:nvSpPr>
        <p:spPr>
          <a:xfrm>
            <a:off x="658368" y="2724912"/>
            <a:ext cx="2286000" cy="548640"/>
          </a:xfrm>
          <a:prstGeom prst="rect">
            <a:avLst/>
          </a:prstGeom>
          <a:noFill/>
        </p:spPr>
        <p:txBody>
          <a:bodyPr wrap="square">
            <a:spAutoFit/>
          </a:bodyPr>
          <a:lstStyle/>
          <a:p>
            <a:r>
              <a:rPr sz="1300" b="1" i="0">
                <a:solidFill>
                  <a:srgbClr val="006E96"/>
                </a:solidFill>
                <a:latin typeface="Arial"/>
              </a:rPr>
              <a:t>PERMANENT PRACTICE</a:t>
            </a:r>
          </a:p>
        </p:txBody>
      </p:sp>
      <p:sp>
        <p:nvSpPr>
          <p:cNvPr id="7" name="TextBox 6"/>
          <p:cNvSpPr txBox="1"/>
          <p:nvPr/>
        </p:nvSpPr>
        <p:spPr>
          <a:xfrm>
            <a:off x="3017520" y="2706624"/>
            <a:ext cx="8412480" cy="1051560"/>
          </a:xfrm>
          <a:prstGeom prst="rect">
            <a:avLst/>
          </a:prstGeom>
          <a:noFill/>
        </p:spPr>
        <p:txBody>
          <a:bodyPr wrap="square">
            <a:spAutoFit/>
          </a:bodyPr>
          <a:lstStyle/>
          <a:p>
            <a:r>
              <a:rPr sz="1700" b="0" i="0">
                <a:solidFill>
                  <a:srgbClr val="1A1A1A"/>
                </a:solidFill>
                <a:latin typeface="Arial"/>
              </a:rPr>
              <a:t>Your 2 to 4 architects, ongoing</a:t>
            </a:r>
          </a:p>
        </p:txBody>
      </p:sp>
      <p:sp>
        <p:nvSpPr>
          <p:cNvPr id="8" name="TextBox 7"/>
          <p:cNvSpPr txBox="1"/>
          <p:nvPr/>
        </p:nvSpPr>
        <p:spPr>
          <a:xfrm>
            <a:off x="658368" y="3803904"/>
            <a:ext cx="2286000" cy="548640"/>
          </a:xfrm>
          <a:prstGeom prst="rect">
            <a:avLst/>
          </a:prstGeom>
          <a:noFill/>
        </p:spPr>
        <p:txBody>
          <a:bodyPr wrap="square">
            <a:spAutoFit/>
          </a:bodyPr>
          <a:lstStyle/>
          <a:p>
            <a:r>
              <a:rPr sz="1300" b="1" i="0">
                <a:solidFill>
                  <a:srgbClr val="006E96"/>
                </a:solidFill>
                <a:latin typeface="Arial"/>
              </a:rPr>
              <a:t>GOVERNANCE OVERHEAD</a:t>
            </a:r>
          </a:p>
        </p:txBody>
      </p:sp>
      <p:sp>
        <p:nvSpPr>
          <p:cNvPr id="9" name="TextBox 8"/>
          <p:cNvSpPr txBox="1"/>
          <p:nvPr/>
        </p:nvSpPr>
        <p:spPr>
          <a:xfrm>
            <a:off x="3017520" y="3785616"/>
            <a:ext cx="8412480" cy="1051560"/>
          </a:xfrm>
          <a:prstGeom prst="rect">
            <a:avLst/>
          </a:prstGeom>
          <a:noFill/>
        </p:spPr>
        <p:txBody>
          <a:bodyPr wrap="square">
            <a:spAutoFit/>
          </a:bodyPr>
          <a:lstStyle/>
          <a:p>
            <a:r>
              <a:rPr sz="1700" b="0" i="0">
                <a:solidFill>
                  <a:srgbClr val="1A1A1A"/>
                </a:solidFill>
                <a:latin typeface="Arial"/>
              </a:rPr>
              <a:t>Board time, occasional external review</a:t>
            </a:r>
          </a:p>
        </p:txBody>
      </p:sp>
      <p:sp>
        <p:nvSpPr>
          <p:cNvPr id="10" name="TextBox 9"/>
          <p:cNvSpPr txBox="1"/>
          <p:nvPr/>
        </p:nvSpPr>
        <p:spPr>
          <a:xfrm>
            <a:off x="658368" y="4882896"/>
            <a:ext cx="2286000" cy="548640"/>
          </a:xfrm>
          <a:prstGeom prst="rect">
            <a:avLst/>
          </a:prstGeom>
          <a:noFill/>
        </p:spPr>
        <p:txBody>
          <a:bodyPr wrap="square">
            <a:spAutoFit/>
          </a:bodyPr>
          <a:lstStyle/>
          <a:p>
            <a:r>
              <a:rPr sz="1300" b="1" i="0">
                <a:solidFill>
                  <a:srgbClr val="006E96"/>
                </a:solidFill>
                <a:latin typeface="Arial"/>
              </a:rPr>
              <a:t>THE FRAMING</a:t>
            </a:r>
          </a:p>
        </p:txBody>
      </p:sp>
      <p:sp>
        <p:nvSpPr>
          <p:cNvPr id="11" name="TextBox 10"/>
          <p:cNvSpPr txBox="1"/>
          <p:nvPr/>
        </p:nvSpPr>
        <p:spPr>
          <a:xfrm>
            <a:off x="3017520" y="4864608"/>
            <a:ext cx="8412480" cy="1051560"/>
          </a:xfrm>
          <a:prstGeom prst="rect">
            <a:avLst/>
          </a:prstGeom>
          <a:noFill/>
        </p:spPr>
        <p:txBody>
          <a:bodyPr wrap="square">
            <a:spAutoFit/>
          </a:bodyPr>
          <a:lstStyle/>
          <a:p>
            <a:r>
              <a:rPr sz="1700" b="1" i="0">
                <a:solidFill>
                  <a:srgbClr val="1A1A1A"/>
                </a:solidFill>
                <a:latin typeface="Arial"/>
              </a:rPr>
              <a:t>A five-year envelope, not an annual line that disappears when priorities shift. Every other digital programme runs more efficiently when this 2% is in place.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4 — One promise: the team stays protected</a:t>
            </a:r>
          </a:p>
        </p:txBody>
      </p:sp>
      <p:sp>
        <p:nvSpPr>
          <p:cNvPr id="4" name="Rounded Rectangle 3"/>
          <p:cNvSpPr/>
          <p:nvPr/>
        </p:nvSpPr>
        <p:spPr>
          <a:xfrm>
            <a:off x="658368" y="1645920"/>
            <a:ext cx="10881360" cy="23774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7" y="1883664"/>
            <a:ext cx="10241280" cy="2103120"/>
          </a:xfrm>
          <a:prstGeom prst="rect">
            <a:avLst/>
          </a:prstGeom>
          <a:noFill/>
        </p:spPr>
        <p:txBody>
          <a:bodyPr wrap="square">
            <a:spAutoFit/>
          </a:bodyPr>
          <a:lstStyle/>
          <a:p>
            <a:pPr>
              <a:spcAft>
                <a:spcPts val="700"/>
              </a:spcAft>
            </a:pPr>
            <a:r>
              <a:rPr sz="2400" b="1" i="0">
                <a:solidFill>
                  <a:srgbClr val="FFFFFF"/>
                </a:solidFill>
                <a:latin typeface="Arial"/>
              </a:rPr>
              <a:t>The EA team will not be pulled onto the urgent project of the week.</a:t>
            </a:r>
          </a:p>
          <a:p>
            <a:pPr>
              <a:spcAft>
                <a:spcPts val="700"/>
              </a:spcAft>
            </a:pPr>
            <a:r>
              <a:rPr sz="1800" b="0" i="0">
                <a:solidFill>
                  <a:srgbClr val="FFFFFF"/>
                </a:solidFill>
                <a:latin typeface="Arial"/>
              </a:rPr>
              <a:t>Not by you. Not by the minister. Not by anyone in cabinet.</a:t>
            </a:r>
          </a:p>
        </p:txBody>
      </p:sp>
      <p:sp>
        <p:nvSpPr>
          <p:cNvPr id="6" name="TextBox 5"/>
          <p:cNvSpPr txBox="1"/>
          <p:nvPr/>
        </p:nvSpPr>
        <p:spPr>
          <a:xfrm>
            <a:off x="658368" y="4389120"/>
            <a:ext cx="10881360" cy="1554480"/>
          </a:xfrm>
          <a:prstGeom prst="rect">
            <a:avLst/>
          </a:prstGeom>
          <a:noFill/>
        </p:spPr>
        <p:txBody>
          <a:bodyPr wrap="square">
            <a:spAutoFit/>
          </a:bodyPr>
          <a:lstStyle/>
          <a:p>
            <a:pPr>
              <a:spcAft>
                <a:spcPts val="800"/>
              </a:spcAft>
            </a:pPr>
            <a:r>
              <a:rPr sz="1800" b="1" i="0">
                <a:solidFill>
                  <a:srgbClr val="1A1A1A"/>
                </a:solidFill>
                <a:latin typeface="Arial"/>
              </a:rPr>
              <a:t>This is the most commonly broken promise — and the one that quietly kills EA programmes in their second year.</a:t>
            </a:r>
          </a:p>
          <a:p>
            <a:pPr>
              <a:spcAft>
                <a:spcPts val="800"/>
              </a:spcAft>
            </a:pPr>
            <a:r>
              <a:rPr sz="1600" b="0" i="0">
                <a:solidFill>
                  <a:srgbClr val="595959"/>
                </a:solidFill>
                <a:latin typeface="Arial"/>
              </a:rPr>
              <a:t>Get it in writing if you can. Recommit it whenever the minister changes.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 honest about the time horizon</a:t>
            </a:r>
          </a:p>
        </p:txBody>
      </p:sp>
      <p:sp>
        <p:nvSpPr>
          <p:cNvPr id="4" name="TextBox 3"/>
          <p:cNvSpPr txBox="1"/>
          <p:nvPr/>
        </p:nvSpPr>
        <p:spPr>
          <a:xfrm>
            <a:off x="658368" y="1463040"/>
            <a:ext cx="10984687" cy="1082039"/>
          </a:xfrm>
          <a:prstGeom prst="rect">
            <a:avLst/>
          </a:prstGeom>
          <a:noFill/>
        </p:spPr>
        <p:txBody>
          <a:bodyPr wrap="square">
            <a:spAutoFit/>
          </a:bodyPr>
          <a:lstStyle/>
          <a:p>
            <a:pPr>
              <a:spcAft>
                <a:spcPts val="300"/>
              </a:spcAft>
            </a:pPr>
            <a:r>
              <a:rPr sz="2400" b="1" i="0">
                <a:solidFill>
                  <a:srgbClr val="1A1A1A"/>
                </a:solidFill>
                <a:latin typeface="Arial"/>
              </a:rPr>
              <a:t>6 months</a:t>
            </a:r>
          </a:p>
          <a:p>
            <a:pPr>
              <a:spcAft>
                <a:spcPts val="300"/>
              </a:spcAft>
            </a:pPr>
            <a:r>
              <a:rPr sz="1700" b="0" i="0">
                <a:solidFill>
                  <a:srgbClr val="595959"/>
                </a:solidFill>
                <a:latin typeface="Arial"/>
              </a:rPr>
              <a:t>to an approved roadmap</a:t>
            </a:r>
          </a:p>
        </p:txBody>
      </p:sp>
      <p:sp>
        <p:nvSpPr>
          <p:cNvPr id="5" name="Rectangle 4"/>
          <p:cNvSpPr/>
          <p:nvPr/>
        </p:nvSpPr>
        <p:spPr>
          <a:xfrm>
            <a:off x="621792" y="25496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90799"/>
            <a:ext cx="10984687" cy="1082039"/>
          </a:xfrm>
          <a:prstGeom prst="rect">
            <a:avLst/>
          </a:prstGeom>
          <a:noFill/>
        </p:spPr>
        <p:txBody>
          <a:bodyPr wrap="square">
            <a:spAutoFit/>
          </a:bodyPr>
          <a:lstStyle/>
          <a:p>
            <a:pPr>
              <a:spcAft>
                <a:spcPts val="300"/>
              </a:spcAft>
            </a:pPr>
            <a:r>
              <a:rPr sz="2400" b="1" i="0">
                <a:solidFill>
                  <a:srgbClr val="1A1A1A"/>
                </a:solidFill>
                <a:latin typeface="Arial"/>
              </a:rPr>
              <a:t>18 to 24 months</a:t>
            </a:r>
          </a:p>
          <a:p>
            <a:pPr>
              <a:spcAft>
                <a:spcPts val="300"/>
              </a:spcAft>
            </a:pPr>
            <a:r>
              <a:rPr sz="1700" b="0" i="0">
                <a:solidFill>
                  <a:srgbClr val="595959"/>
                </a:solidFill>
                <a:latin typeface="Arial"/>
              </a:rPr>
              <a:t>to a fully operating practice</a:t>
            </a:r>
          </a:p>
        </p:txBody>
      </p:sp>
      <p:sp>
        <p:nvSpPr>
          <p:cNvPr id="7" name="Rectangle 6"/>
          <p:cNvSpPr/>
          <p:nvPr/>
        </p:nvSpPr>
        <p:spPr>
          <a:xfrm>
            <a:off x="621792" y="36774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718560"/>
            <a:ext cx="10984687" cy="1082039"/>
          </a:xfrm>
          <a:prstGeom prst="rect">
            <a:avLst/>
          </a:prstGeom>
          <a:noFill/>
        </p:spPr>
        <p:txBody>
          <a:bodyPr wrap="square">
            <a:spAutoFit/>
          </a:bodyPr>
          <a:lstStyle/>
          <a:p>
            <a:pPr>
              <a:spcAft>
                <a:spcPts val="300"/>
              </a:spcAft>
            </a:pPr>
            <a:r>
              <a:rPr sz="2400" b="1" i="0">
                <a:solidFill>
                  <a:srgbClr val="1A1A1A"/>
                </a:solidFill>
                <a:latin typeface="Arial"/>
              </a:rPr>
              <a:t>5+ years</a:t>
            </a:r>
          </a:p>
          <a:p>
            <a:pPr>
              <a:spcAft>
                <a:spcPts val="300"/>
              </a:spcAft>
            </a:pPr>
            <a:r>
              <a:rPr sz="1700" b="0" i="0">
                <a:solidFill>
                  <a:srgbClr val="595959"/>
                </a:solidFill>
                <a:latin typeface="Arial"/>
              </a:rPr>
              <a:t>to mature governance</a:t>
            </a:r>
          </a:p>
        </p:txBody>
      </p:sp>
      <p:sp>
        <p:nvSpPr>
          <p:cNvPr id="9" name="TextBox 8"/>
          <p:cNvSpPr txBox="1"/>
          <p:nvPr/>
        </p:nvSpPr>
        <p:spPr>
          <a:xfrm>
            <a:off x="658368" y="5029200"/>
            <a:ext cx="10881360" cy="1188720"/>
          </a:xfrm>
          <a:prstGeom prst="rect">
            <a:avLst/>
          </a:prstGeom>
          <a:noFill/>
        </p:spPr>
        <p:txBody>
          <a:bodyPr wrap="square">
            <a:spAutoFit/>
          </a:bodyPr>
          <a:lstStyle/>
          <a:p>
            <a:pPr>
              <a:spcAft>
                <a:spcPts val="600"/>
              </a:spcAft>
            </a:pPr>
            <a:r>
              <a:rPr sz="1900" b="1" i="0">
                <a:solidFill>
                  <a:srgbClr val="1A1A1A"/>
                </a:solidFill>
                <a:latin typeface="Arial"/>
              </a:rPr>
              <a:t>The minister who launches this work will not be the one who completes it.</a:t>
            </a:r>
          </a:p>
          <a:p>
            <a:pPr>
              <a:spcAft>
                <a:spcPts val="600"/>
              </a:spcAft>
            </a:pPr>
            <a:r>
              <a:rPr sz="1500" b="0" i="0">
                <a:solidFill>
                  <a:srgbClr val="595959"/>
                </a:solidFill>
                <a:latin typeface="Arial"/>
              </a:rPr>
              <a:t>A minister who hears that as a problem is sponsoring a deliverable, not an EA. A minister who hears it as a feature is the right minister.</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very different governments have committed to this</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Rwanda — small country, strong centre</a:t>
            </a:r>
          </a:p>
          <a:p>
            <a:pPr>
              <a:spcAft>
                <a:spcPts val="300"/>
              </a:spcAft>
            </a:pPr>
            <a:r>
              <a:rPr sz="1500" b="0" i="0">
                <a:solidFill>
                  <a:srgbClr val="595959"/>
                </a:solidFill>
                <a:latin typeface="Arial"/>
              </a:rPr>
              <a:t>Irembo as the one citizen-services platform; a national ID linked across services.</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Kenya — one-stop centres and a unifying identity programme</a:t>
            </a:r>
          </a:p>
          <a:p>
            <a:pPr>
              <a:spcAft>
                <a:spcPts val="300"/>
              </a:spcAft>
            </a:pPr>
            <a:r>
              <a:rPr sz="1500" b="0" i="0">
                <a:solidFill>
                  <a:srgbClr val="595959"/>
                </a:solidFill>
                <a:latin typeface="Arial"/>
              </a:rPr>
              <a:t>Huduma Centres and Huduma Namba. Results mixed and openly debated — which is what makes the obstacles useful to you.</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South Africa — federal</a:t>
            </a:r>
          </a:p>
          <a:p>
            <a:pPr>
              <a:spcAft>
                <a:spcPts val="300"/>
              </a:spcAft>
            </a:pPr>
            <a:r>
              <a:rPr sz="1500" b="0" i="0">
                <a:solidFill>
                  <a:srgbClr val="595959"/>
                </a:solidFill>
                <a:latin typeface="Arial"/>
              </a:rPr>
              <a:t>Coordinated through SITA and shared standards that agencies adopt, not a single architecture imposed from the top.</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Estonia — mature</a:t>
            </a:r>
          </a:p>
          <a:p>
            <a:pPr>
              <a:spcAft>
                <a:spcPts val="300"/>
              </a:spcAft>
            </a:pPr>
            <a:r>
              <a:rPr sz="1500" b="0" i="0">
                <a:solidFill>
                  <a:srgbClr val="595959"/>
                </a:solidFill>
                <a:latin typeface="Arial"/>
              </a:rPr>
              <a:t>Distributed registries on X-Road, the once-only principle, almost every service online. A polestar, not a template.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same four elements show in all four</a:t>
            </a:r>
          </a:p>
        </p:txBody>
      </p:sp>
      <p:sp>
        <p:nvSpPr>
          <p:cNvPr id="4" name="TextBox 3"/>
          <p:cNvSpPr txBox="1"/>
          <p:nvPr/>
        </p:nvSpPr>
        <p:spPr>
          <a:xfrm>
            <a:off x="658368" y="1417320"/>
            <a:ext cx="10984687" cy="1051560"/>
          </a:xfrm>
          <a:prstGeom prst="rect">
            <a:avLst/>
          </a:prstGeom>
          <a:noFill/>
        </p:spPr>
        <p:txBody>
          <a:bodyPr wrap="square">
            <a:spAutoFit/>
          </a:bodyPr>
          <a:lstStyle/>
          <a:p>
            <a:pPr>
              <a:spcAft>
                <a:spcPts val="300"/>
              </a:spcAft>
            </a:pPr>
            <a:r>
              <a:rPr sz="1900" b="1" i="0">
                <a:solidFill>
                  <a:srgbClr val="1A1A1A"/>
                </a:solidFill>
                <a:latin typeface="Arial"/>
              </a:rPr>
              <a:t>A small central team with real authority</a:t>
            </a:r>
          </a:p>
          <a:p>
            <a:pPr>
              <a:spcAft>
                <a:spcPts val="300"/>
              </a:spcAft>
            </a:pPr>
            <a:r>
              <a:rPr sz="1500" b="0" i="0">
                <a:solidFill>
                  <a:srgbClr val="595959"/>
                </a:solidFill>
                <a:latin typeface="Arial"/>
              </a:rPr>
              <a:t>Ask 1 — the small permanent EA team. Rwanda coordinates centrally; South Africa does it through SITA.</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51560"/>
          </a:xfrm>
          <a:prstGeom prst="rect">
            <a:avLst/>
          </a:prstGeom>
          <a:noFill/>
        </p:spPr>
        <p:txBody>
          <a:bodyPr wrap="square">
            <a:spAutoFit/>
          </a:bodyPr>
          <a:lstStyle/>
          <a:p>
            <a:pPr>
              <a:spcAft>
                <a:spcPts val="300"/>
              </a:spcAft>
            </a:pPr>
            <a:r>
              <a:rPr sz="1900" b="1" i="0">
                <a:solidFill>
                  <a:srgbClr val="1A1A1A"/>
                </a:solidFill>
                <a:latin typeface="Arial"/>
              </a:rPr>
              <a:t>Binding governance, not advisory</a:t>
            </a:r>
          </a:p>
          <a:p>
            <a:pPr>
              <a:spcAft>
                <a:spcPts val="300"/>
              </a:spcAft>
            </a:pPr>
            <a:r>
              <a:rPr sz="1500" b="0" i="0">
                <a:solidFill>
                  <a:srgbClr val="595959"/>
                </a:solidFill>
                <a:latin typeface="Arial"/>
              </a:rPr>
              <a:t>Ask 2 — an EA Board whose decisions hold. Where authority cannot be imposed, it is agreed and then binding.</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80"/>
            <a:ext cx="10984687" cy="1051560"/>
          </a:xfrm>
          <a:prstGeom prst="rect">
            <a:avLst/>
          </a:prstGeom>
          <a:noFill/>
        </p:spPr>
        <p:txBody>
          <a:bodyPr wrap="square">
            <a:spAutoFit/>
          </a:bodyPr>
          <a:lstStyle/>
          <a:p>
            <a:pPr>
              <a:spcAft>
                <a:spcPts val="300"/>
              </a:spcAft>
            </a:pPr>
            <a:r>
              <a:rPr sz="1900" b="1" i="0">
                <a:solidFill>
                  <a:srgbClr val="1A1A1A"/>
                </a:solidFill>
                <a:latin typeface="Arial"/>
              </a:rPr>
              <a:t>A published framework other agencies adopt</a:t>
            </a:r>
          </a:p>
          <a:p>
            <a:pPr>
              <a:spcAft>
                <a:spcPts val="300"/>
              </a:spcAft>
            </a:pPr>
            <a:r>
              <a:rPr sz="1500" b="0" i="0">
                <a:solidFill>
                  <a:srgbClr val="595959"/>
                </a:solidFill>
                <a:latin typeface="Arial"/>
              </a:rPr>
              <a:t>Ask 3 — the sustained envelope. A framework stays adopted only while someone is funded to maintain it.</a:t>
            </a:r>
          </a:p>
        </p:txBody>
      </p:sp>
      <p:sp>
        <p:nvSpPr>
          <p:cNvPr id="9" name="Rectangle 8"/>
          <p:cNvSpPr/>
          <p:nvPr/>
        </p:nvSpPr>
        <p:spPr>
          <a:xfrm>
            <a:off x="621792" y="4668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709159"/>
            <a:ext cx="10984687" cy="1051560"/>
          </a:xfrm>
          <a:prstGeom prst="rect">
            <a:avLst/>
          </a:prstGeom>
          <a:noFill/>
        </p:spPr>
        <p:txBody>
          <a:bodyPr wrap="square">
            <a:spAutoFit/>
          </a:bodyPr>
          <a:lstStyle/>
          <a:p>
            <a:pPr>
              <a:spcAft>
                <a:spcPts val="300"/>
              </a:spcAft>
            </a:pPr>
            <a:r>
              <a:rPr sz="1900" b="1" i="0">
                <a:solidFill>
                  <a:srgbClr val="1A1A1A"/>
                </a:solidFill>
                <a:latin typeface="Arial"/>
              </a:rPr>
              <a:t>A multi-year horizon, results visible in months</a:t>
            </a:r>
          </a:p>
          <a:p>
            <a:pPr>
              <a:spcAft>
                <a:spcPts val="300"/>
              </a:spcAft>
            </a:pPr>
            <a:r>
              <a:rPr sz="1500" b="0" i="0">
                <a:solidFill>
                  <a:srgbClr val="595959"/>
                </a:solidFill>
                <a:latin typeface="Arial"/>
              </a:rPr>
              <a:t>Ask 4 — the promise. Estonia took two decades; Rwanda showed results inside months. Both protected the team.</a:t>
            </a:r>
          </a:p>
        </p:txBody>
      </p:sp>
      <p:sp>
        <p:nvSpPr>
          <p:cNvPr id="11" name="TextBox 10"/>
          <p:cNvSpPr txBox="1"/>
          <p:nvPr/>
        </p:nvSpPr>
        <p:spPr>
          <a:xfrm>
            <a:off x="658368" y="5852160"/>
            <a:ext cx="10881360" cy="457200"/>
          </a:xfrm>
          <a:prstGeom prst="rect">
            <a:avLst/>
          </a:prstGeom>
          <a:noFill/>
        </p:spPr>
        <p:txBody>
          <a:bodyPr wrap="square">
            <a:spAutoFit/>
          </a:bodyPr>
          <a:lstStyle/>
          <a:p>
            <a:r>
              <a:rPr sz="1450" b="0" i="0">
                <a:solidFill>
                  <a:srgbClr val="595959"/>
                </a:solidFill>
                <a:latin typeface="Arial"/>
              </a:rPr>
              <a:t>Different sizes, different constitutions — the same four elements, which are the four asks in four real governments.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team. A Board. A budget envelope. A promise. Put them on one page — and ask for all four together.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a Terms of Reference for your EA Governance Board.</a:t>
            </a:r>
          </a:p>
          <a:p>
            <a:pPr algn="l">
              <a:spcAft>
                <a:spcPts val="400"/>
              </a:spcAft>
            </a:pPr>
            <a:r>
              <a:rPr sz="1800" b="0" i="0">
                <a:solidFill>
                  <a:srgbClr val="595959"/>
                </a:solidFill>
                <a:latin typeface="Arial"/>
              </a:rPr>
              <a:t>The prompt in the companion material gives you a structured ToR document.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Rwanda — Irembo (irembo.gov.rw); Kenya — Huduma Kenya (huduma.go.ke)</a:t>
            </a:r>
          </a:p>
          <a:p>
            <a:pPr>
              <a:spcAft>
                <a:spcPts val="1200"/>
              </a:spcAft>
            </a:pPr>
            <a:r>
              <a:rPr sz="1700" b="0" i="0">
                <a:solidFill>
                  <a:srgbClr val="1A1A1A"/>
                </a:solidFill>
                <a:latin typeface="Arial"/>
              </a:rPr>
              <a:t>•  South Africa — SITA (sita.co.za); Estonia — e-Estonia.com, RIA (ria.ee)</a:t>
            </a:r>
          </a:p>
          <a:p>
            <a:pPr>
              <a:spcAft>
                <a:spcPts val="1200"/>
              </a:spcAft>
            </a:pPr>
            <a:r>
              <a:rPr sz="1700" b="0" i="0">
                <a:solidFill>
                  <a:srgbClr val="1A1A1A"/>
                </a:solidFill>
                <a:latin typeface="Arial"/>
              </a:rPr>
              <a:t>•  PAERA v1.0 — §4.2.1 Management; §4.2.2 Architecture</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