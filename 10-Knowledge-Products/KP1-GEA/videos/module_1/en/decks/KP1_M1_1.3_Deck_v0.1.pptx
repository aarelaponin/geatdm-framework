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08" r:id="rId30"/>
    <p:sldId id="2709" r:id="rId31"/>
    <p:sldId id="2710" r:id="rId32"/>
    <p:sldId id="2711" r:id="rId33"/>
    <p:sldId id="2712" r:id="rId34"/>
    <p:sldId id="2713" r:id="rId35"/>
    <p:sldId id="2714"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You may be thinking: my country already requires this. Every new digital project must specify open APIs. Every new contract must require interoperability. The national digital strategy is signed by cabinet. So why does the citizen still fill the same form five times? Why do new programmes still build their own version of identity and payments? The answer is uncomfortable. Procurement rules can require behaviour. They cannot make that behaviour the cheapest choice for the project doing the work.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Inside any new programme, the team is rational. They have a contract, a budget, a deadline. Re-using another ministry's identity system means learning that system, negotiating with that ministry's team, accepting their delays. Building your own version is faster. So the team builds their own. That is not a failure of discipline. That is the project doing exactly what it was funded to do.</a:t>
            </a:r>
          </a:p>
          <a:p/>
          <a:p>
            <a:r>
              <a:t>Tone: the math, not the morality — no blame on project teams.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Re-use becomes rational only when you can see across the whole government. From that view, the math changes. The first ministry pays to build the identity system. The second ministry does not — it consumes the first one. The third does not. The fourth does not. Over five years, the country saves a meaningful share of its sectoral digital spend.</a:t>
            </a:r>
          </a:p>
          <a:p/>
          <a:p>
            <a:r>
              <a:t>But this view does not exist inside any single project. It exists only at the level of your country's whole digital portfolio. That is the view an EA gives you, and it is the view your minister needs to make funding decisions that look different from project-level cost choices.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There are two more things projects do not deliver. The first is sustainability. A project ships on time and moves on. Twelve years later, the original vendor is gone... The second is complexity reduction. A project says yes to most feature requests... Each yes has accumulated. Saying no requires authority the project does not have.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Reference architectures answer the questions projects do not. Other countries have built these systems for decades. They learned what survives technology change and what does not. They learned which architectural decisions still hold up after twenty years and which decisions cost them dearly. A reference architecture is that learning, written down. PAERA is one such reference. Adopting it means starting with their lessons, instead of paying for the same lessons yourself over the next twenty years.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when you make the case for an EA, the case is this. The four-part picture is the artefact. Planning is the function. Re-use, sustainability and complexity reduction — three things every digital ministry says it wants — none of these come from projects alone. All of them come from the planning view that an EA gives, and from the reference architectures that EA practice connects you to. That is why projects cannot fix this themselves. That is why an EA is work your minister must commission, separately, deliberately, with sustained funding.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1.3. Content slides are identical to the corresponding section of the combined deck KP1_M1_Deck_v0.1.pptx;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800" b="1" i="0">
                <a:solidFill>
                  <a:srgbClr val="1A1A1A"/>
                </a:solidFill>
                <a:latin typeface="Arial"/>
              </a:rPr>
              <a:t>1.3 — Why projects can't do this themselves</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600"/>
              </a:spcAft>
              <a:buNone/>
            </a:pPr>
            <a:r>
              <a:rPr sz="1300" b="1" i="0">
                <a:solidFill>
                  <a:srgbClr val="006E96"/>
                </a:solidFill>
                <a:latin typeface="Arial"/>
              </a:rPr>
              <a:t>KP1 · Government Enterprise Architecture · Module 1 · Video 1.3</a:t>
            </a:r>
          </a:p>
          <a:p>
            <a:r>
              <a:rPr sz="1200" b="0" i="1">
                <a:solidFill>
                  <a:srgbClr val="595959"/>
                </a:solidFill>
                <a:latin typeface="Arial"/>
              </a:rPr>
              <a:t>Procurement rules can require interoperability. They cannot deliver it. Only planning at the level of the whole government, supported by reference architectures, can.</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400"/>
              </a:spcAft>
              <a:buNone/>
            </a:pPr>
            <a:r>
              <a:rPr sz="1400" b="1" i="0">
                <a:solidFill>
                  <a:srgbClr val="1A1A1A"/>
                </a:solidFill>
                <a:latin typeface="Arial"/>
              </a:rPr>
              <a:t>Length: </a:t>
            </a:r>
            <a:r>
              <a:rPr sz="1400" b="0" i="0">
                <a:solidFill>
                  <a:srgbClr val="1A1A1A"/>
                </a:solidFill>
                <a:latin typeface="Arial"/>
              </a:rPr>
              <a:t>~5 mins</a:t>
            </a:r>
          </a:p>
          <a:p>
            <a:r>
              <a:rPr sz="1400" b="1" i="0">
                <a:solidFill>
                  <a:srgbClr val="1A1A1A"/>
                </a:solidFill>
                <a:latin typeface="Arial"/>
              </a:rPr>
              <a:t>Target audience: </a:t>
            </a:r>
            <a:r>
              <a:rPr sz="1400" b="0" i="0">
                <a:solidFill>
                  <a:srgbClr val="1A1A1A"/>
                </a:solidFill>
                <a:latin typeface="Arial"/>
              </a:rPr>
              <a:t>CDO · Director-General · sector minister</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LIFECYCLE THIS MODULE TEACHES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Discover</a:t>
            </a:r>
          </a:p>
        </p:txBody>
      </p:sp>
      <p:sp>
        <p:nvSpPr>
          <p:cNvPr id="21" name="Diamond 20"/>
          <p:cNvSpPr/>
          <p:nvPr/>
        </p:nvSpPr>
        <p:spPr>
          <a:xfrm>
            <a:off x="7333488" y="1677924"/>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Assess</a:t>
            </a:r>
          </a:p>
        </p:txBody>
      </p:sp>
      <p:sp>
        <p:nvSpPr>
          <p:cNvPr id="23" name="Diamond 22"/>
          <p:cNvSpPr/>
          <p:nvPr/>
        </p:nvSpPr>
        <p:spPr>
          <a:xfrm>
            <a:off x="7333488" y="2610612"/>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Adapt</a:t>
            </a:r>
          </a:p>
        </p:txBody>
      </p:sp>
      <p:sp>
        <p:nvSpPr>
          <p:cNvPr id="25" name="Diamond 24"/>
          <p:cNvSpPr/>
          <p:nvPr/>
        </p:nvSpPr>
        <p:spPr>
          <a:xfrm>
            <a:off x="7333488" y="3543300"/>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Plan</a:t>
            </a:r>
          </a:p>
        </p:txBody>
      </p:sp>
      <p:sp>
        <p:nvSpPr>
          <p:cNvPr id="27" name="Diamond 26"/>
          <p:cNvSpPr/>
          <p:nvPr/>
        </p:nvSpPr>
        <p:spPr>
          <a:xfrm>
            <a:off x="7333488" y="4475988"/>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Execute &amp; Govern</a:t>
            </a:r>
          </a:p>
        </p:txBody>
      </p:sp>
      <p:sp>
        <p:nvSpPr>
          <p:cNvPr id="29" name="TextBox 28"/>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sign-offs · 6 months to a roadmap · then ongoing</a:t>
            </a:r>
          </a:p>
        </p:txBody>
      </p:sp>
    </p:spTree>
    <p:extLst>
      <p:ext uri="{BB962C8B-B14F-4D97-AF65-F5344CB8AC3E}">
        <p14:creationId xmlns:p14="http://schemas.microsoft.com/office/powerpoint/2010/main" val="1196800265"/>
      </p:ext>
    </p:extLst>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1 · VIDEO 1.3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Why projects can't do this themselves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Procurement rules can require interoperability. They cannot deliver it. Only planning at the level of the whole government, supported by reference architectures, can.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Each project is rational — and builds its own</a:t>
            </a:r>
          </a:p>
        </p:txBody>
      </p:sp>
      <p:sp>
        <p:nvSpPr>
          <p:cNvPr id="4" name="TextBox 3"/>
          <p:cNvSpPr txBox="1"/>
          <p:nvPr/>
        </p:nvSpPr>
        <p:spPr>
          <a:xfrm>
            <a:off x="658368" y="1417320"/>
            <a:ext cx="10984687" cy="1569720"/>
          </a:xfrm>
          <a:prstGeom prst="rect">
            <a:avLst/>
          </a:prstGeom>
          <a:noFill/>
        </p:spPr>
        <p:txBody>
          <a:bodyPr wrap="square">
            <a:spAutoFit/>
          </a:bodyPr>
          <a:lstStyle/>
          <a:p>
            <a:pPr>
              <a:spcAft>
                <a:spcPts val="300"/>
              </a:spcAft>
            </a:pPr>
            <a:r>
              <a:rPr sz="2000" b="1" i="0">
                <a:solidFill>
                  <a:srgbClr val="1A1A1A"/>
                </a:solidFill>
                <a:latin typeface="Arial"/>
              </a:rPr>
              <a:t>The question every project asks</a:t>
            </a:r>
          </a:p>
          <a:p>
            <a:pPr>
              <a:spcAft>
                <a:spcPts val="300"/>
              </a:spcAft>
            </a:pPr>
            <a:r>
              <a:rPr sz="1600" b="0" i="0">
                <a:solidFill>
                  <a:srgbClr val="595959"/>
                </a:solidFill>
                <a:latin typeface="Arial"/>
              </a:rPr>
              <a:t>“How do we ship on time and on budget?”</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69720"/>
          </a:xfrm>
          <a:prstGeom prst="rect">
            <a:avLst/>
          </a:prstGeom>
          <a:noFill/>
        </p:spPr>
        <p:txBody>
          <a:bodyPr wrap="square">
            <a:spAutoFit/>
          </a:bodyPr>
          <a:lstStyle/>
          <a:p>
            <a:pPr>
              <a:spcAft>
                <a:spcPts val="300"/>
              </a:spcAft>
            </a:pPr>
            <a:r>
              <a:rPr sz="2000" b="1" i="0">
                <a:solidFill>
                  <a:srgbClr val="1A1A1A"/>
                </a:solidFill>
                <a:latin typeface="Arial"/>
              </a:rPr>
              <a:t>What re-use costs the project</a:t>
            </a:r>
          </a:p>
          <a:p>
            <a:pPr>
              <a:spcAft>
                <a:spcPts val="300"/>
              </a:spcAft>
            </a:pPr>
            <a:r>
              <a:rPr sz="1600" b="0" i="0">
                <a:solidFill>
                  <a:srgbClr val="595959"/>
                </a:solidFill>
                <a:latin typeface="Arial"/>
              </a:rPr>
              <a:t>Learn another ministry’s system. Negotiate with their team. Accept their delays.</a:t>
            </a:r>
          </a:p>
        </p:txBody>
      </p:sp>
      <p:sp>
        <p:nvSpPr>
          <p:cNvPr id="7" name="Rectangle 6"/>
          <p:cNvSpPr/>
          <p:nvPr/>
        </p:nvSpPr>
        <p:spPr>
          <a:xfrm>
            <a:off x="621792" y="4607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48200"/>
            <a:ext cx="10984687" cy="1569720"/>
          </a:xfrm>
          <a:prstGeom prst="rect">
            <a:avLst/>
          </a:prstGeom>
          <a:noFill/>
        </p:spPr>
        <p:txBody>
          <a:bodyPr wrap="square">
            <a:spAutoFit/>
          </a:bodyPr>
          <a:lstStyle/>
          <a:p>
            <a:pPr>
              <a:spcAft>
                <a:spcPts val="300"/>
              </a:spcAft>
            </a:pPr>
            <a:r>
              <a:rPr sz="2000" b="1" i="0">
                <a:solidFill>
                  <a:srgbClr val="1A1A1A"/>
                </a:solidFill>
                <a:latin typeface="Arial"/>
              </a:rPr>
              <a:t>So the team builds its own — and that is not a failure of discipline</a:t>
            </a:r>
          </a:p>
          <a:p>
            <a:pPr>
              <a:spcAft>
                <a:spcPts val="300"/>
              </a:spcAft>
            </a:pPr>
            <a:r>
              <a:rPr sz="1600" b="0" i="0">
                <a:solidFill>
                  <a:srgbClr val="595959"/>
                </a:solidFill>
                <a:latin typeface="Arial"/>
              </a:rPr>
              <a:t>Building your own version is faster and simpler. The project is doing exactly what it was funded to do.</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Why projects can't do this themselves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math changes only at whole-of-government level</a:t>
            </a:r>
          </a:p>
        </p:txBody>
      </p:sp>
      <p:sp>
        <p:nvSpPr>
          <p:cNvPr id="4" name="Rounded Rectangle 3"/>
          <p:cNvSpPr/>
          <p:nvPr/>
        </p:nvSpPr>
        <p:spPr>
          <a:xfrm>
            <a:off x="658368" y="1645920"/>
            <a:ext cx="2606040" cy="15544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792224"/>
            <a:ext cx="2276856" cy="1280160"/>
          </a:xfrm>
          <a:prstGeom prst="rect">
            <a:avLst/>
          </a:prstGeom>
          <a:noFill/>
        </p:spPr>
        <p:txBody>
          <a:bodyPr wrap="square">
            <a:spAutoFit/>
          </a:bodyPr>
          <a:lstStyle/>
          <a:p>
            <a:pPr>
              <a:spcAft>
                <a:spcPts val="700"/>
              </a:spcAft>
            </a:pPr>
            <a:r>
              <a:rPr sz="1600" b="1" i="0">
                <a:solidFill>
                  <a:srgbClr val="FFFFFF"/>
                </a:solidFill>
                <a:latin typeface="Arial"/>
              </a:rPr>
              <a:t>Ministry 1</a:t>
            </a:r>
          </a:p>
          <a:p>
            <a:pPr>
              <a:spcAft>
                <a:spcPts val="700"/>
              </a:spcAft>
            </a:pPr>
            <a:r>
              <a:rPr sz="1300" b="0" i="0">
                <a:solidFill>
                  <a:srgbClr val="FFFFFF"/>
                </a:solidFill>
                <a:latin typeface="Arial"/>
              </a:rPr>
              <a:t>pays to build the identity system</a:t>
            </a:r>
          </a:p>
        </p:txBody>
      </p:sp>
      <p:sp>
        <p:nvSpPr>
          <p:cNvPr id="6" name="Rounded Rectangle 5"/>
          <p:cNvSpPr/>
          <p:nvPr/>
        </p:nvSpPr>
        <p:spPr>
          <a:xfrm>
            <a:off x="3401568" y="1645920"/>
            <a:ext cx="2606040" cy="15544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6160" y="1792224"/>
            <a:ext cx="2276856" cy="1280160"/>
          </a:xfrm>
          <a:prstGeom prst="rect">
            <a:avLst/>
          </a:prstGeom>
          <a:noFill/>
        </p:spPr>
        <p:txBody>
          <a:bodyPr wrap="square">
            <a:spAutoFit/>
          </a:bodyPr>
          <a:lstStyle/>
          <a:p>
            <a:pPr>
              <a:spcAft>
                <a:spcPts val="700"/>
              </a:spcAft>
            </a:pPr>
            <a:r>
              <a:rPr sz="1600" b="1" i="0">
                <a:solidFill>
                  <a:srgbClr val="1A1A1A"/>
                </a:solidFill>
                <a:latin typeface="Arial"/>
              </a:rPr>
              <a:t>Ministry 2</a:t>
            </a:r>
          </a:p>
          <a:p>
            <a:pPr>
              <a:spcAft>
                <a:spcPts val="700"/>
              </a:spcAft>
            </a:pPr>
            <a:r>
              <a:rPr sz="1300" b="0" i="0">
                <a:solidFill>
                  <a:srgbClr val="595959"/>
                </a:solidFill>
                <a:latin typeface="Arial"/>
              </a:rPr>
              <a:t>does not — it consumes the first</a:t>
            </a:r>
          </a:p>
        </p:txBody>
      </p:sp>
      <p:sp>
        <p:nvSpPr>
          <p:cNvPr id="8" name="Rounded Rectangle 7"/>
          <p:cNvSpPr/>
          <p:nvPr/>
        </p:nvSpPr>
        <p:spPr>
          <a:xfrm>
            <a:off x="6144768" y="1645920"/>
            <a:ext cx="2606040" cy="15544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59" y="1792224"/>
            <a:ext cx="2276856" cy="1280160"/>
          </a:xfrm>
          <a:prstGeom prst="rect">
            <a:avLst/>
          </a:prstGeom>
          <a:noFill/>
        </p:spPr>
        <p:txBody>
          <a:bodyPr wrap="square">
            <a:spAutoFit/>
          </a:bodyPr>
          <a:lstStyle/>
          <a:p>
            <a:pPr>
              <a:spcAft>
                <a:spcPts val="700"/>
              </a:spcAft>
            </a:pPr>
            <a:r>
              <a:rPr sz="1600" b="1" i="0">
                <a:solidFill>
                  <a:srgbClr val="1A1A1A"/>
                </a:solidFill>
                <a:latin typeface="Arial"/>
              </a:rPr>
              <a:t>Ministry 3</a:t>
            </a:r>
          </a:p>
          <a:p>
            <a:pPr>
              <a:spcAft>
                <a:spcPts val="700"/>
              </a:spcAft>
            </a:pPr>
            <a:r>
              <a:rPr sz="1300" b="0" i="0">
                <a:solidFill>
                  <a:srgbClr val="595959"/>
                </a:solidFill>
                <a:latin typeface="Arial"/>
              </a:rPr>
              <a:t>does not — it consumes the same</a:t>
            </a:r>
          </a:p>
        </p:txBody>
      </p:sp>
      <p:sp>
        <p:nvSpPr>
          <p:cNvPr id="10" name="Rounded Rectangle 9"/>
          <p:cNvSpPr/>
          <p:nvPr/>
        </p:nvSpPr>
        <p:spPr>
          <a:xfrm>
            <a:off x="8887968" y="1645920"/>
            <a:ext cx="2606040" cy="15544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52560" y="1792224"/>
            <a:ext cx="2276856" cy="1280160"/>
          </a:xfrm>
          <a:prstGeom prst="rect">
            <a:avLst/>
          </a:prstGeom>
          <a:noFill/>
        </p:spPr>
        <p:txBody>
          <a:bodyPr wrap="square">
            <a:spAutoFit/>
          </a:bodyPr>
          <a:lstStyle/>
          <a:p>
            <a:pPr>
              <a:spcAft>
                <a:spcPts val="700"/>
              </a:spcAft>
            </a:pPr>
            <a:r>
              <a:rPr sz="1600" b="1" i="0">
                <a:solidFill>
                  <a:srgbClr val="1A1A1A"/>
                </a:solidFill>
                <a:latin typeface="Arial"/>
              </a:rPr>
              <a:t>Ministry 4</a:t>
            </a:r>
          </a:p>
          <a:p>
            <a:pPr>
              <a:spcAft>
                <a:spcPts val="700"/>
              </a:spcAft>
            </a:pPr>
            <a:r>
              <a:rPr sz="1300" b="0" i="0">
                <a:solidFill>
                  <a:srgbClr val="595959"/>
                </a:solidFill>
                <a:latin typeface="Arial"/>
              </a:rPr>
              <a:t>does not — it consumes the same</a:t>
            </a:r>
          </a:p>
        </p:txBody>
      </p:sp>
      <p:sp>
        <p:nvSpPr>
          <p:cNvPr id="12" name="TextBox 11"/>
          <p:cNvSpPr txBox="1"/>
          <p:nvPr/>
        </p:nvSpPr>
        <p:spPr>
          <a:xfrm>
            <a:off x="658368" y="3657600"/>
            <a:ext cx="10789920" cy="1005840"/>
          </a:xfrm>
          <a:prstGeom prst="rect">
            <a:avLst/>
          </a:prstGeom>
          <a:noFill/>
        </p:spPr>
        <p:txBody>
          <a:bodyPr wrap="square">
            <a:spAutoFit/>
          </a:bodyPr>
          <a:lstStyle/>
          <a:p>
            <a:r>
              <a:rPr sz="2000" b="1" i="0">
                <a:solidFill>
                  <a:srgbClr val="1A1A1A"/>
                </a:solidFill>
                <a:latin typeface="Arial"/>
              </a:rPr>
              <a:t>Over five years, the country saves a meaningful share of its sectoral digital spend.</a:t>
            </a:r>
          </a:p>
        </p:txBody>
      </p:sp>
      <p:sp>
        <p:nvSpPr>
          <p:cNvPr id="13" name="TextBox 12"/>
          <p:cNvSpPr txBox="1"/>
          <p:nvPr/>
        </p:nvSpPr>
        <p:spPr>
          <a:xfrm>
            <a:off x="658368" y="4709160"/>
            <a:ext cx="10789920" cy="1463040"/>
          </a:xfrm>
          <a:prstGeom prst="rect">
            <a:avLst/>
          </a:prstGeom>
          <a:noFill/>
        </p:spPr>
        <p:txBody>
          <a:bodyPr wrap="square">
            <a:spAutoFit/>
          </a:bodyPr>
          <a:lstStyle/>
          <a:p>
            <a:r>
              <a:rPr sz="1600" b="0" i="0">
                <a:solidFill>
                  <a:srgbClr val="595959"/>
                </a:solidFill>
                <a:latin typeface="Arial"/>
              </a:rPr>
              <a:t>But this view does not exist inside any single project. It exists only at the level of your country’s whole digital portfolio — the view an EA gives you, and the view your minister needs to make funding decisions.</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Why projects can't do this themselves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more things projects cannot deliver</a:t>
            </a:r>
          </a:p>
        </p:txBody>
      </p:sp>
      <p:sp>
        <p:nvSpPr>
          <p:cNvPr id="4" name="Rounded Rectangle 3"/>
          <p:cNvSpPr/>
          <p:nvPr/>
        </p:nvSpPr>
        <p:spPr>
          <a:xfrm>
            <a:off x="658368" y="1554480"/>
            <a:ext cx="5394960" cy="42062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931920"/>
          </a:xfrm>
          <a:prstGeom prst="rect">
            <a:avLst/>
          </a:prstGeom>
          <a:noFill/>
        </p:spPr>
        <p:txBody>
          <a:bodyPr wrap="square">
            <a:spAutoFit/>
          </a:bodyPr>
          <a:lstStyle/>
          <a:p>
            <a:pPr>
              <a:spcAft>
                <a:spcPts val="700"/>
              </a:spcAft>
            </a:pPr>
            <a:r>
              <a:rPr sz="2000" b="1" i="0">
                <a:solidFill>
                  <a:srgbClr val="006E96"/>
                </a:solidFill>
                <a:latin typeface="Arial"/>
              </a:rPr>
              <a:t>Sustainability</a:t>
            </a:r>
          </a:p>
          <a:p>
            <a:pPr>
              <a:spcAft>
                <a:spcPts val="700"/>
              </a:spcAft>
            </a:pPr>
            <a:r>
              <a:rPr sz="1600" b="0" i="0">
                <a:solidFill>
                  <a:srgbClr val="1A1A1A"/>
                </a:solidFill>
                <a:latin typeface="Arial"/>
              </a:rPr>
              <a:t>Twelve years from now, the original vendor is gone. The open-source library has forked. The technology has moved on. The system is still in service — and nobody fully understands it.</a:t>
            </a:r>
          </a:p>
          <a:p>
            <a:pPr>
              <a:spcAft>
                <a:spcPts val="700"/>
              </a:spcAft>
            </a:pPr>
            <a:r>
              <a:rPr sz="1600" b="1" i="0">
                <a:solidFill>
                  <a:srgbClr val="1A1A1A"/>
                </a:solidFill>
                <a:latin typeface="Arial"/>
              </a:rPr>
              <a:t>Projects are not incentivised to plan for that moment. They are incentivised to ship.</a:t>
            </a:r>
          </a:p>
        </p:txBody>
      </p:sp>
      <p:sp>
        <p:nvSpPr>
          <p:cNvPr id="6" name="Rounded Rectangle 5"/>
          <p:cNvSpPr/>
          <p:nvPr/>
        </p:nvSpPr>
        <p:spPr>
          <a:xfrm>
            <a:off x="6281928" y="1554480"/>
            <a:ext cx="5394960" cy="42062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3096" y="1700784"/>
            <a:ext cx="4992624" cy="3931920"/>
          </a:xfrm>
          <a:prstGeom prst="rect">
            <a:avLst/>
          </a:prstGeom>
          <a:noFill/>
        </p:spPr>
        <p:txBody>
          <a:bodyPr wrap="square">
            <a:spAutoFit/>
          </a:bodyPr>
          <a:lstStyle/>
          <a:p>
            <a:pPr>
              <a:spcAft>
                <a:spcPts val="700"/>
              </a:spcAft>
            </a:pPr>
            <a:r>
              <a:rPr sz="2000" b="1" i="0">
                <a:solidFill>
                  <a:srgbClr val="006E96"/>
                </a:solidFill>
                <a:latin typeface="Arial"/>
              </a:rPr>
              <a:t>Complexity reduction</a:t>
            </a:r>
          </a:p>
          <a:p>
            <a:pPr>
              <a:spcAft>
                <a:spcPts val="700"/>
              </a:spcAft>
            </a:pPr>
            <a:r>
              <a:rPr sz="1600" b="0" i="0">
                <a:solidFill>
                  <a:srgbClr val="1A1A1A"/>
                </a:solidFill>
                <a:latin typeface="Arial"/>
              </a:rPr>
              <a:t>A project says yes to most feature requests, because requests come from people the project must please. Five years later, the system is too complex to maintain or change.</a:t>
            </a:r>
          </a:p>
          <a:p>
            <a:pPr>
              <a:spcAft>
                <a:spcPts val="700"/>
              </a:spcAft>
            </a:pPr>
            <a:r>
              <a:rPr sz="1600" b="1" i="0">
                <a:solidFill>
                  <a:srgbClr val="1A1A1A"/>
                </a:solidFill>
                <a:latin typeface="Arial"/>
              </a:rPr>
              <a:t>Saying no requires authority the project does not have.</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Why projects can't do this themselves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reference architecture is other countries' learning, written down</a:t>
            </a:r>
          </a:p>
        </p:txBody>
      </p:sp>
      <p:sp>
        <p:nvSpPr>
          <p:cNvPr id="4" name="TextBox 3"/>
          <p:cNvSpPr txBox="1"/>
          <p:nvPr/>
        </p:nvSpPr>
        <p:spPr>
          <a:xfrm>
            <a:off x="658368" y="1417320"/>
            <a:ext cx="10984687" cy="1569720"/>
          </a:xfrm>
          <a:prstGeom prst="rect">
            <a:avLst/>
          </a:prstGeom>
          <a:noFill/>
        </p:spPr>
        <p:txBody>
          <a:bodyPr wrap="square">
            <a:spAutoFit/>
          </a:bodyPr>
          <a:lstStyle/>
          <a:p>
            <a:pPr>
              <a:spcAft>
                <a:spcPts val="300"/>
              </a:spcAft>
            </a:pPr>
            <a:r>
              <a:rPr sz="2100" b="1" i="0">
                <a:solidFill>
                  <a:srgbClr val="1A1A1A"/>
                </a:solidFill>
                <a:latin typeface="Arial"/>
              </a:rPr>
              <a:t>Other countries have built these systems for decades</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69720"/>
          </a:xfrm>
          <a:prstGeom prst="rect">
            <a:avLst/>
          </a:prstGeom>
          <a:noFill/>
        </p:spPr>
        <p:txBody>
          <a:bodyPr wrap="square">
            <a:spAutoFit/>
          </a:bodyPr>
          <a:lstStyle/>
          <a:p>
            <a:pPr>
              <a:spcAft>
                <a:spcPts val="300"/>
              </a:spcAft>
            </a:pPr>
            <a:r>
              <a:rPr sz="2100" b="1" i="0">
                <a:solidFill>
                  <a:srgbClr val="1A1A1A"/>
                </a:solidFill>
                <a:latin typeface="Arial"/>
              </a:rPr>
              <a:t>They learned what survives technology change — and what cost them dearly</a:t>
            </a:r>
          </a:p>
        </p:txBody>
      </p:sp>
      <p:sp>
        <p:nvSpPr>
          <p:cNvPr id="7" name="Rectangle 6"/>
          <p:cNvSpPr/>
          <p:nvPr/>
        </p:nvSpPr>
        <p:spPr>
          <a:xfrm>
            <a:off x="621792" y="4607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48200"/>
            <a:ext cx="10984687" cy="1569720"/>
          </a:xfrm>
          <a:prstGeom prst="rect">
            <a:avLst/>
          </a:prstGeom>
          <a:noFill/>
        </p:spPr>
        <p:txBody>
          <a:bodyPr wrap="square">
            <a:spAutoFit/>
          </a:bodyPr>
          <a:lstStyle/>
          <a:p>
            <a:pPr>
              <a:spcAft>
                <a:spcPts val="300"/>
              </a:spcAft>
            </a:pPr>
            <a:r>
              <a:rPr sz="2100" b="1" i="0">
                <a:solidFill>
                  <a:srgbClr val="1A1A1A"/>
                </a:solidFill>
                <a:latin typeface="Arial"/>
              </a:rPr>
              <a:t>A reference architecture is that learning, written down. PAERA is one such reference.</a:t>
            </a:r>
          </a:p>
          <a:p>
            <a:pPr>
              <a:spcAft>
                <a:spcPts val="300"/>
              </a:spcAft>
            </a:pPr>
            <a:r>
              <a:rPr sz="1600" b="0" i="0">
                <a:solidFill>
                  <a:srgbClr val="595959"/>
                </a:solidFill>
                <a:latin typeface="Arial"/>
              </a:rPr>
              <a:t>Adopting it means starting with their lessons, instead of paying for the same lessons yourself over the next twenty years.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Why projects can't do this themselves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Re-use, sustainability, complexity reduction — none of these come from projects. All of them come from planning.</a:t>
            </a:r>
          </a:p>
        </p:txBody>
      </p:sp>
      <p:sp>
        <p:nvSpPr>
          <p:cNvPr id="3" name="TextBox 2"/>
          <p:cNvSpPr txBox="1"/>
          <p:nvPr/>
        </p:nvSpPr>
        <p:spPr>
          <a:xfrm>
            <a:off x="1005840" y="4663440"/>
            <a:ext cx="10149840" cy="914400"/>
          </a:xfrm>
          <a:prstGeom prst="rect">
            <a:avLst/>
          </a:prstGeom>
          <a:noFill/>
        </p:spPr>
        <p:txBody>
          <a:bodyPr wrap="square">
            <a:spAutoFit/>
          </a:bodyPr>
          <a:lstStyle/>
          <a:p>
            <a:r>
              <a:rPr sz="1600" b="0" i="1">
                <a:solidFill>
                  <a:srgbClr val="595959"/>
                </a:solidFill>
                <a:latin typeface="Arial"/>
              </a:rPr>
              <a:t>The four-part picture is the artefact. Planning is the function. That is why your minister must commission an EA separately, deliberately, with sustained funding.</a:t>
            </a:r>
          </a:p>
        </p:txBody>
      </p:sp>
      <p:sp>
        <p:nvSpPr>
          <p:cNvPr id="4" name="TextBox 3"/>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Why projects can't do this themselves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§1.3 GovStack Vision</a:t>
            </a:r>
          </a:p>
          <a:p>
            <a:pPr>
              <a:spcAft>
                <a:spcPts val="1200"/>
              </a:spcAft>
            </a:pPr>
            <a:r>
              <a:rPr sz="1700" b="0" i="0">
                <a:solidFill>
                  <a:srgbClr val="1A1A1A"/>
                </a:solidFill>
                <a:latin typeface="Arial"/>
              </a:rPr>
              <a:t>•  PAERA v1.0 — §3.3 Digital Infrastructure principles</a:t>
            </a:r>
          </a:p>
          <a:p>
            <a:pPr>
              <a:spcAft>
                <a:spcPts val="1200"/>
              </a:spcAft>
            </a:pPr>
            <a:r>
              <a:rPr sz="1700" b="0" i="0">
                <a:solidFill>
                  <a:srgbClr val="1A1A1A"/>
                </a:solidFill>
                <a:latin typeface="Arial"/>
              </a:rPr>
              <a:t>•  PAERA v1.0 — §5.2 Principles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Why projects can't do this themselves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