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Reference architectures answer the questions projects do not. Other countries have built these systems for decades. They learned what survives technology change and what does not. They learned which architectural decisions still hold up after twenty years and which decisions cost them dearly. A reference architecture is that learning, written down. PAERA is one such reference. Adopting it means starting with their lessons, instead of paying for the same lessons yourself over the next twenty years.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are two more things projects do not deliver. The first is sustainability. A project ships on time and moves on. Twelve years later, the original vendor is gone. The open-source library has forked. The technology has moved on. The system you are still running has nobody who fully understands it. Projects are not incentivised to plan for that moment — they are incentivised to ship.</a:t>
            </a:r>
          </a:p>
          <a:p/>
          <a:p>
            <a:r>
              <a:t>VO: The second is complexity reduction. A project says yes to most feature requests, because feature requests come from people the project must please. Five years later, your system is too complex to maintain or to change. Each yes has accumulated. Saying no requires authority the project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probably seen this pattern. One programme builds a system to register citizens. Another builds another, for a different service. A third builds a third. Each takes years, funded separately. And your citizen still fills the same form five times, at five different counters.</a:t>
            </a:r>
          </a:p>
          <a:p/>
          <a:p>
            <a:r>
              <a:t>VO: 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a:t>
            </a:r>
          </a:p>
          <a:p/>
          <a:p>
            <a:r>
              <a:t>VO: Sign one. Your ministry has more than one register of the same people. The school list has one. The national ID register has another. The social register has a third. Each has its own list. None of them agree.</a:t>
            </a:r>
          </a:p>
          <a:p/>
          <a:p>
            <a:r>
              <a:t>VO: Sign two. Every time two systems need to share data, you build a new connection from zero. Last year your team connected the tax office to the business register. This year you are doing the same work for the health ministry. The connection is built again, from scratch.</a:t>
            </a:r>
          </a:p>
          <a:p/>
          <a:p>
            <a:r>
              <a:t>VO: Sign three. A vendor built one of your systems ten years ago. To change anything in it, you must call that vendor and pay what they ask. Nobody else knows how it works. The vendor knows this, and prices accordingly.</a:t>
            </a:r>
          </a:p>
          <a:p/>
          <a:p>
            <a:r>
              <a:t>VO: Sign four. Each ministry has its own digital systems, and they do not connect across ministries. The citizen who gave her ID number to the health ministry must give it again, on paper, when she enrols her child in school.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is a set of documents and diagrams. Together, they describe how your government works. What services it delivers, and to whom. What data it holds, and who owns it. What software supports those services. What infrastructure runs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bundle folds this comparison onto the video's opening slide; in the deck it keeps its own slide, because the section slide is the standalone video's title card.</a:t>
            </a:r>
          </a:p>
          <a:p/>
          <a:p>
            <a:r>
              <a:t>VO: An EA is not software. It is not a vendor product. It is not a tool you buy. It is the agreed picture.</a:t>
            </a:r>
          </a:p>
          <a:p/>
          <a:p>
            <a:r>
              <a:t>VO: Why does it matter that everyone has the same picture? Because every important conversation in your ministry breaks down on this point.</a:t>
            </a:r>
          </a:p>
          <a:p/>
          <a:p>
            <a:r>
              <a:t>This slide is the Strategist's first line of defence against vendor pitches — when a vendor says 'our product gives you an EA', this is the slide that says no,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uses the picture to brief cabinet. They cannot describe what the country's digital spend is buying if there is no agreed picture of what your government's systems are. The donor uses the picture before they fund the next programme. They want to see how their investment fits with the others. The vendor uses the picture when they propose a system. They must match what is already there. And you, the middle manager, use the picture to keep all three aligned — so the donor funds what the country needs, the vendor builds what fits, and the minister tells a coherent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build top to bottom, cumulative. Order is deliberate — BDAT with data before applications, reflecting data-first architecture.</a:t>
            </a:r>
          </a:p>
          <a:p/>
          <a:p>
            <a:r>
              <a:t>VO: Every EA looks at your government in four parts. Services — what your government does, and for whom. This is the layer your minister talks about most, because it is the layer the public sees. Data — the information your government holds, who owns it, where the authoritative copy lives. Data is the longest-lived part of any government. Applications come and go. Technology cycles every decade. Data outlasts them all. Applications — the software that uses that data to deliver those services. This is what gets bought, built, integrated, replaced. Technology — the infrastructure underneath. Networks, hosting, identity, security. The basics that must be running for anything else to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write down all four parts, your government's digital landscape stops being a list of unrelated projects. It starts looking like a system. A system you can change deliberately. A system you can plan investments against. A system you can talk about across ministries, with donors and with vendors, without re-explaining the basics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what an Enterprise Architecture is. Not software. Not a tool. The agreed picture of your government — and the tool that lets you, instead of the vendor or the donor, lead the conversation about what comes next.</a:t>
            </a:r>
          </a:p>
          <a:p/>
          <a:p>
            <a:r>
              <a:t>Screenshot-ready summary; Strategists reuse this line in their own briefings.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may be thinking: my country already requires this. Every new digital project must specify open APIs; every contract must require interoperability. So why does the citizen still fill the same form five times? Procurement rules can require behaviour. They cannot make it the cheapest choice.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Inside any new programme, the team is rational. They have a contract, a budget, a deadline. Re-using another ministry's identity system means learning that system, negotiating with that ministry's team, accepting their delays. Building your own version is faster. So the team builds their own. That is not a failure of discipline. That is the project doing exactly what it was funded to do.</a:t>
            </a:r>
          </a:p>
          <a:p/>
          <a:p>
            <a:r>
              <a:t>Tone: the math, not the morality — no blame on project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Re-use becomes rational only when you can see across the whole government. From that view, the math changes. The first ministry pays to build the identity system. The second ministry does not — it consumes the first one. The third does not. The fourth does not. Over five years, the country saves a meaningful share of its sectoral digital spend.</a:t>
            </a:r>
          </a:p>
          <a:p/>
          <a:p>
            <a:r>
              <a:t>VO: But this view does not exist inside any single project. It exists only at the level of your country's whole digital portfolio. That is the view an EA gives you, and it is the view your minister needs to make funding decisions that look different from project-level cost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1 deck. Each subtopic section that follows is one standalone ~4-5 minute video. The right panel previews the module's centrepiece: the five-phase, four-sign-off lifecycle taught in video 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themselves ship standalone on YouTube. Videos 1.1-1.4 make the case for an EA, 1.5-1.6 make the case for PAERA and show the method, 1.7 turns conviction into the four commitments — and closes on the four governments that made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for an EA, the case is this. The four-part picture is the artefact. Planning is the function. Re-use, sustainability and complexity reduction — three things every digital ministry says it wants — none of these come from projects alone. All of them come from the planning view that an EA gives, and from the reference architectures that EA practice connects you to. That is why projects cannot fix this themselves. That is why an EA is work your minister must commission, separately, deliberately, with sustained funding.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a long time, digital transformation in government meant one thing: take a paper process and put it online. The form becomes a web form, the queue an online appointment, the certificate a PDF. The ministry still does the same work —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In the era of digitising paper, an EA was useful. In the era of redesigning how the ministry works, an EA is necessary — because without it, business and IT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is the agreed picture of your government. Which framework do you use to draw it? You have two paths — design one for your country from scratch, or anchor on one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 new terms, new principles, a new method. Twelve to eighteen months before any architect has drawn a single picture of any ministry. You have paid for groundwork, not for architecture. The second path: anchor on a framework that already exists, built for the public-sector use case, with the groundwork done, so your team starts on day one.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a:t>
            </a:r>
          </a:p>
          <a:p/>
          <a:p>
            <a:r>
              <a:t>VO: First, a way to organise ministries and authorities. Every government body in your country fits one of three types — a policy unit, a regulatory agency, a service-delivery authority — with a small set of supporting elements like state registries. Your architects do not spend three months arguing about which type each ministry is. The classification is published.</a:t>
            </a:r>
          </a:p>
          <a:p/>
          <a:p>
            <a:r>
              <a:t>VO: Second, plain words for the basic terms. Capability. Service. Application. Data domain. Each one defined, in plain language. Day one, your architects are using the vocabulary, not designing it.</a:t>
            </a:r>
          </a:p>
          <a:p/>
          <a:p>
            <a:r>
              <a:t>VO: Third, a library of common building blocks. Identity. Payments. Information sharing. Registries. Each one is a published specification with working examples. When your team needs to design a national identity system, they reach for the pattern. They do not invent it from scratch.</a:t>
            </a:r>
          </a:p>
          <a:p/>
          <a:p>
            <a:r>
              <a:t>VO: Fourth, a set of architectural principles. Ten of them — from rule of law, through security and privacy, to user-centred design. Already debated across many countries. You extend them for your country's context. You do not draft them.</a:t>
            </a:r>
          </a:p>
          <a:p/>
          <a:p>
            <a:r>
              <a:t>VO: Fifth, a way to run the work. The lifecycle — Discover, Assess, Adapt, Plan, Execute and Govern — already exists, with roles, decisions and sign-off points defined per phase. We walk it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PAERA is not a vendor choice. It is the choice to start with the work other countries have already done — so your team spends their time on what is specific to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you take one picture away from this knowledge product, take this one: the EA lifecycle on a single page.</a:t>
            </a:r>
          </a:p>
          <a:p/>
          <a:p>
            <a:r>
              <a:t>RETRIEVAL MOMENT: before showing the phase table, ask the viewer to guess — from a standing start, how long until a roadmap your minister can take to cabinet? Answer comes on the timeline: six months.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Five phases, four sign-offs. The first four take about six months; the fifth is ongoing — your country's permanent way of working.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 — the whole lifecycle stays visible while each phase is narrated. In v0.1 of the deck each phase had its own slide; the v0.3 script collapses them onto this one page.</a:t>
            </a:r>
          </a:p>
          <a:p/>
          <a:p>
            <a:r>
              <a:t>VO: Phase one, Discover. What exists today? Your architects map the current landscape — the strategies in force, the systems, the sector plans, the legal framework — and produce a Discovery brief with no recommendations yet. Sign-off: the picture is accurate enough to build on. Three to four weeks.</a:t>
            </a:r>
          </a:p>
          <a:p/>
          <a:p>
            <a:r>
              <a:t>VO: Phase two, Assess. What is the gap? Architects compare what they found against PAERA-anchored standards, write the current state in the four parts of an EA, score maturity, and write the gap analysis. Sign-off: it names the right problems in the right order. Six to eight weeks.</a:t>
            </a:r>
          </a:p>
          <a:p/>
          <a:p>
            <a:r>
              <a:t>VO: Phase three, Adapt. What fits our country? PAERA is a starting point, not a constraint, so architects shape it with sector CIOs and your EA Board — your principles, your sector priorities, and for each building block a build, buy, share or sandbox call. Four to six weeks.</a:t>
            </a:r>
          </a:p>
          <a:p/>
          <a:p>
            <a:r>
              <a:t>VO: Phase four, Plan. How do we get there? Architects describe the target state and sequence the work into a roadmap with investment estimates. Sign-off: roadmap approved, budget committed. This is the deliverable your minister takes to cabinet. Six to eight weeks.</a:t>
            </a:r>
          </a:p>
          <a:p/>
          <a:p>
            <a:r>
              <a:t>VO: Phase five, Execute and Govern. How do we sustain this? The approved roadmap becomes a project pipeline, and a small permanent team of two to four senior architects turns the EA from a one-time delivery into a living repository. The Board reviews new projects against the architecture. Quarterly,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dependency rule had its own slide in v0.2; the v0.3 script folds it into the sign-off rhythm.</a:t>
            </a:r>
          </a:p>
          <a:p/>
          <a:p>
            <a:r>
              <a:t>VO: Notice the rhythm. Four sign-offs in six months. Your minister does not review every diagram; they review at four moments, each tied to a defined deliverable. Between sign-offs the architects work, and the minister's job is to remove the political obstacles. And the phases depend on each other, in order: discover before you measure, measure before you adapt, adapt before you plan, plan before you execute, govern always.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Six months from Discovery to an approved roadmap. Then your country in permanent EA-governed mode. That is what 'months not years' actually means. It is not a slogan. It is the consequence of sequencing five phases — each with a clear question, a clear deliverable, a clear sign-off — and committing to the practice that runs after.</a:t>
            </a:r>
          </a:p>
          <a:p/>
          <a:p>
            <a:r>
              <a:t>(This answers the prediction question posed at the start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have made the case and your minister is convinced. Now the harder part: agreeing the four specific things the minister must commit to. Each one is necessary; without any one of them the EA programme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Without binding authority the EA becomes documentation nobody reads;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about ten to fifteen senior person-months; the permanent practice, your two to four architects; and the governance overhead of Board time and occasional external review. As a share of your digital-government budget the whole thing is typically about two per cent. What you want is a five-year envelope, not an annual line that disappears when ministerial priorities shift.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put honestly. Six months to an approved roadmap. Eighteen to twenty-four months to a fully operating practice. Five years to mature governance. The minister who launches this work will not be the one who completes it — and a minister who hears that as a feature is the right one to commission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Kenya's contested experience is a feature of this example, not a defect.</a:t>
            </a:r>
          </a:p>
          <a:p/>
          <a:p>
            <a:r>
              <a:t>VO: One more thing to take into the meeting. Four very different governments have already made these commitments. Rwanda, small with a strong centre, one citizen-services platform and a national identity linked across services. Kenya, with one-stop centres and an identity programme whose results are mixed and openly debated. South Africa, federal, coordinating through a central agency and shared standards rather than imposing them. And Estonia, mature, with distributed registries and the once-only principle.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contexts, one pattern. A small central team with real authority. A published framework other agencies adopt. Binding governance rather than advisory. And a multi-year horizon with results visible inside months. Different sizes, different constitutions, the same four elements — which are the four asks, in four real governments.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Four asks. A team. A Board. A budget envelope. A promise. Put them on a single page and ask for all four together — not in pieces. With all four committed, you have what you need.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a PAERA-anchored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600" b="1" i="0">
                <a:solidFill>
                  <a:srgbClr val="006E96"/>
                </a:solidFill>
                <a:latin typeface="Arial"/>
              </a:rPr>
              <a:t>KP1 · Government Enterprise Architecture · Module 1</a:t>
            </a:r>
          </a:p>
          <a:p>
            <a:pPr>
              <a:spcAft>
                <a:spcPts val="600"/>
              </a:spcAft>
            </a:pPr>
            <a:r>
              <a:rPr sz="1400" b="0" i="0">
                <a:solidFill>
                  <a:srgbClr val="595959"/>
                </a:solidFill>
                <a:latin typeface="Arial"/>
              </a:rPr>
              <a:t>Seven standalone videos: why your country needs a national EA, what it is, why projects cannot fix it, why now, why PAERA, the lifecycle, and the four asks to put to your minister.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Seven videos: </a:t>
            </a:r>
            <a:r>
              <a:rPr sz="1400" b="0" i="0">
                <a:solidFill>
                  <a:srgbClr val="1A1A1A"/>
                </a:solidFill>
                <a:latin typeface="Arial"/>
              </a:rPr>
              <a:t>1.1 – 1.7</a:t>
            </a:r>
          </a:p>
          <a:p>
            <a:pPr>
              <a:spcAft>
                <a:spcPts val="400"/>
              </a:spcAft>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wrap="square"/>
          <a:lstStyle/>
          <a:p>
            <a:r>
              <a:rPr sz="1400" b="1" i="0">
                <a:solidFill>
                  <a:srgbClr val="595959"/>
                </a:solidFill>
                <a:latin typeface="Arial"/>
              </a:rPr>
              <a:t>Module 1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wrap="square"/>
          <a:lstStyle/>
          <a:p>
            <a:pPr algn="l">
              <a:spcAft>
                <a:spcPts val="900"/>
              </a:spcAft>
            </a:pPr>
            <a:r>
              <a:rPr sz="1500" b="1" i="0">
                <a:solidFill>
                  <a:srgbClr val="1A1A1A"/>
                </a:solidFill>
                <a:latin typeface="Arial"/>
              </a:rPr>
              <a:t>1.1  Why your country needs a national EA</a:t>
            </a:r>
            <a:r>
              <a:rPr sz="1200" b="0" i="0">
                <a:solidFill>
                  <a:srgbClr val="595959"/>
                </a:solidFill>
                <a:latin typeface="Arial"/>
              </a:rPr>
              <a:t>   ~4 min</a:t>
            </a:r>
          </a:p>
          <a:p>
            <a:pPr algn="l">
              <a:spcAft>
                <a:spcPts val="900"/>
              </a:spcAft>
            </a:pPr>
            <a:r>
              <a:rPr sz="1500" b="1" i="0">
                <a:solidFill>
                  <a:srgbClr val="1A1A1A"/>
                </a:solidFill>
                <a:latin typeface="Arial"/>
              </a:rPr>
              <a:t>1.2  What an EA actually is</a:t>
            </a:r>
            <a:r>
              <a:rPr sz="1200" b="0" i="0">
                <a:solidFill>
                  <a:srgbClr val="595959"/>
                </a:solidFill>
                <a:latin typeface="Arial"/>
              </a:rPr>
              <a:t>   ~3 min</a:t>
            </a:r>
          </a:p>
          <a:p>
            <a:pPr algn="l">
              <a:spcAft>
                <a:spcPts val="900"/>
              </a:spcAft>
            </a:pPr>
            <a:r>
              <a:rPr sz="1500" b="1" i="0">
                <a:solidFill>
                  <a:srgbClr val="1A1A1A"/>
                </a:solidFill>
                <a:latin typeface="Arial"/>
              </a:rPr>
              <a:t>1.3  Why projects can't do this themselves</a:t>
            </a:r>
            <a:r>
              <a:rPr sz="1200" b="0" i="0">
                <a:solidFill>
                  <a:srgbClr val="595959"/>
                </a:solidFill>
                <a:latin typeface="Arial"/>
              </a:rPr>
              <a:t>   ~4 min</a:t>
            </a:r>
          </a:p>
          <a:p>
            <a:pPr algn="l">
              <a:spcAft>
                <a:spcPts val="900"/>
              </a:spcAft>
            </a:pPr>
            <a:r>
              <a:rPr sz="1500" b="1" i="0">
                <a:solidFill>
                  <a:srgbClr val="1A1A1A"/>
                </a:solidFill>
                <a:latin typeface="Arial"/>
              </a:rPr>
              <a:t>1.4  Why an EA matters more now</a:t>
            </a:r>
            <a:r>
              <a:rPr sz="1200" b="0" i="0">
                <a:solidFill>
                  <a:srgbClr val="595959"/>
                </a:solidFill>
                <a:latin typeface="Arial"/>
              </a:rPr>
              <a:t>   ~4 min</a:t>
            </a:r>
          </a:p>
          <a:p>
            <a:pPr algn="l">
              <a:spcAft>
                <a:spcPts val="900"/>
              </a:spcAft>
            </a:pPr>
            <a:r>
              <a:rPr sz="1500" b="1" i="0">
                <a:solidFill>
                  <a:srgbClr val="1A1A1A"/>
                </a:solidFill>
                <a:latin typeface="Arial"/>
              </a:rPr>
              <a:t>1.5  Why PAERA-anchored</a:t>
            </a:r>
            <a:r>
              <a:rPr sz="1200" b="0" i="0">
                <a:solidFill>
                  <a:srgbClr val="595959"/>
                </a:solidFill>
                <a:latin typeface="Arial"/>
              </a:rPr>
              <a:t>   ~4 min</a:t>
            </a:r>
          </a:p>
          <a:p>
            <a:pPr algn="l">
              <a:spcAft>
                <a:spcPts val="900"/>
              </a:spcAft>
            </a:pPr>
            <a:r>
              <a:rPr sz="1500" b="1" i="0">
                <a:solidFill>
                  <a:srgbClr val="1A1A1A"/>
                </a:solidFill>
                <a:latin typeface="Arial"/>
              </a:rPr>
              <a:t>1.6  The lifecycle on one page</a:t>
            </a:r>
            <a:r>
              <a:rPr sz="1200" b="0" i="0">
                <a:solidFill>
                  <a:srgbClr val="595959"/>
                </a:solidFill>
                <a:latin typeface="Arial"/>
              </a:rPr>
              <a:t>   ~4 min</a:t>
            </a:r>
          </a:p>
          <a:p>
            <a:pPr algn="l">
              <a:spcAft>
                <a:spcPts val="900"/>
              </a:spcAft>
            </a:pPr>
            <a:r>
              <a:rPr sz="1500" b="1" i="0">
                <a:solidFill>
                  <a:srgbClr val="1A1A1A"/>
                </a:solidFill>
                <a:latin typeface="Arial"/>
              </a:rPr>
              <a:t>1.7  What you will need from your minister</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wrap="square"/>
          <a:lstStyle/>
          <a:p>
            <a:pPr>
              <a:spcAft>
                <a:spcPts val="1000"/>
              </a:spcAft>
            </a:pPr>
            <a:r>
              <a:rPr sz="1900" b="0" i="1">
                <a:solidFill>
                  <a:srgbClr val="1A1A1A"/>
                </a:solidFill>
                <a:latin typeface="Arial"/>
              </a:rPr>
              <a:t>Without a shared plan, every new programme rebuilds what others have already built. </a:t>
            </a:r>
          </a:p>
          <a:p>
            <a:pPr>
              <a:spcAft>
                <a:spcPts val="1000"/>
              </a:spcAft>
            </a:pPr>
            <a:r>
              <a:rPr sz="1900" b="0" i="1">
                <a:solidFill>
                  <a:srgbClr val="1A1A1A"/>
                </a:solidFill>
                <a:latin typeface="Arial"/>
              </a:rPr>
              <a:t>This module makes the case for a PAERA-anchored national EA — and names the four commitments your minister must make.</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One citizen. Five counters. The same form, five times.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programme builds a system to register citizens. Another builds another. A third builds a third.</a:t>
            </a:r>
          </a:p>
          <a:p>
            <a:pPr>
              <a:spcAft>
                <a:spcPts val="800"/>
              </a:spcAft>
            </a:pPr>
            <a:r>
              <a:rPr sz="1700" b="0" i="0">
                <a:solidFill>
                  <a:srgbClr val="595959"/>
                </a:solidFill>
                <a:latin typeface="Arial"/>
              </a:rPr>
              <a:t>Each takes years, funded separately.</a:t>
            </a:r>
          </a:p>
          <a:p>
            <a:pPr>
              <a:spcAft>
                <a:spcPts val="800"/>
              </a:spcAft>
            </a:pPr>
            <a:r>
              <a:rPr sz="1700" b="0" i="0">
                <a:solidFill>
                  <a:srgbClr val="595959"/>
                </a:solidFill>
                <a:latin typeface="Arial"/>
              </a:rPr>
              <a:t>You cannot fix this inside any one programme — each is doing exactly what it was funded to do.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600200"/>
            <a:ext cx="10789920" cy="16916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3337560"/>
            <a:ext cx="10789920" cy="11430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29584"/>
            <a:ext cx="10387584" cy="86868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Rounded Rectangle 6"/>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your country's fragmentation symptoms.</a:t>
            </a:r>
          </a:p>
          <a:p>
            <a:pPr algn="l">
              <a:spcAft>
                <a:spcPts val="400"/>
              </a:spcAft>
            </a:pPr>
            <a:r>
              <a:rPr sz="1800" b="0" i="0">
                <a:solidFill>
                  <a:srgbClr val="595959"/>
                </a:solidFill>
                <a:latin typeface="Arial"/>
              </a:rPr>
              <a:t>The prompt in the companion material gives you a 4-row markdown table plus a 3-bullet summary. Before the next video.</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an EA actually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is the picture everyone agrees describes your government — minister, ministry CIO, donor, vendor. With it, you can lead the conversation. Without it, others lead it for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An Enterprise Architecture is a set of documents and diagrams.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What services your government delivers, and to whom.</a:t>
            </a:r>
          </a:p>
          <a:p>
            <a:pPr>
              <a:spcAft>
                <a:spcPts val="800"/>
              </a:spcAft>
            </a:pPr>
            <a:r>
              <a:rPr sz="1700" b="0" i="0">
                <a:solidFill>
                  <a:srgbClr val="595959"/>
                </a:solidFill>
                <a:latin typeface="Arial"/>
              </a:rPr>
              <a:t>What data it holds, and who owns it.</a:t>
            </a:r>
          </a:p>
          <a:p>
            <a:pPr>
              <a:spcAft>
                <a:spcPts val="800"/>
              </a:spcAft>
            </a:pPr>
            <a:r>
              <a:rPr sz="1700" b="0" i="0">
                <a:solidFill>
                  <a:srgbClr val="595959"/>
                </a:solidFill>
                <a:latin typeface="Arial"/>
              </a:rPr>
              <a:t>What software supports those services. What infrastructure runs underneath.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is the agreed picture — not software you buy</a:t>
            </a:r>
          </a:p>
        </p:txBody>
      </p:sp>
      <p:sp>
        <p:nvSpPr>
          <p:cNvPr id="4" name="Rounded Rectangle 3"/>
          <p:cNvSpPr/>
          <p:nvPr/>
        </p:nvSpPr>
        <p:spPr>
          <a:xfrm>
            <a:off x="658368" y="1600200"/>
            <a:ext cx="5394960" cy="4297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46504"/>
            <a:ext cx="4992624" cy="4023360"/>
          </a:xfrm>
          <a:prstGeom prst="rect">
            <a:avLst/>
          </a:prstGeom>
          <a:noFill/>
        </p:spPr>
        <p:txBody>
          <a:bodyPr wrap="square">
            <a:spAutoFit/>
          </a:bodyPr>
          <a:lstStyle/>
          <a:p>
            <a:pPr>
              <a:spcAft>
                <a:spcPts val="700"/>
              </a:spcAft>
            </a:pPr>
            <a:r>
              <a:rPr sz="2000" b="1" i="0">
                <a:solidFill>
                  <a:srgbClr val="006E96"/>
                </a:solidFill>
                <a:latin typeface="Arial"/>
              </a:rPr>
              <a:t>An EA is</a:t>
            </a:r>
          </a:p>
          <a:p>
            <a:pPr>
              <a:spcAft>
                <a:spcPts val="700"/>
              </a:spcAft>
            </a:pPr>
            <a:r>
              <a:rPr sz="1700" b="0" i="0">
                <a:solidFill>
                  <a:srgbClr val="1A1A1A"/>
                </a:solidFill>
                <a:latin typeface="Arial"/>
              </a:rPr>
              <a:t>the agreed picture of your government</a:t>
            </a:r>
          </a:p>
          <a:p>
            <a:pPr>
              <a:spcAft>
                <a:spcPts val="700"/>
              </a:spcAft>
            </a:pPr>
            <a:r>
              <a:rPr sz="1700" b="0" i="0">
                <a:solidFill>
                  <a:srgbClr val="1A1A1A"/>
                </a:solidFill>
                <a:latin typeface="Arial"/>
              </a:rPr>
              <a:t>a set of documents and diagrams</a:t>
            </a:r>
          </a:p>
          <a:p>
            <a:pPr>
              <a:spcAft>
                <a:spcPts val="700"/>
              </a:spcAft>
            </a:pPr>
            <a:r>
              <a:rPr sz="1700" b="0" i="0">
                <a:solidFill>
                  <a:srgbClr val="1A1A1A"/>
                </a:solidFill>
                <a:latin typeface="Arial"/>
              </a:rPr>
              <a:t>the same description everyone uses — minister, CIO, donor, vendor</a:t>
            </a:r>
          </a:p>
        </p:txBody>
      </p:sp>
      <p:sp>
        <p:nvSpPr>
          <p:cNvPr id="6" name="Rounded Rectangle 5"/>
          <p:cNvSpPr/>
          <p:nvPr/>
        </p:nvSpPr>
        <p:spPr>
          <a:xfrm>
            <a:off x="6281928" y="1600200"/>
            <a:ext cx="5394960" cy="42976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46504"/>
            <a:ext cx="4992624" cy="4023360"/>
          </a:xfrm>
          <a:prstGeom prst="rect">
            <a:avLst/>
          </a:prstGeom>
          <a:noFill/>
        </p:spPr>
        <p:txBody>
          <a:bodyPr wrap="square">
            <a:spAutoFit/>
          </a:bodyPr>
          <a:lstStyle/>
          <a:p>
            <a:pPr>
              <a:spcAft>
                <a:spcPts val="700"/>
              </a:spcAft>
            </a:pPr>
            <a:r>
              <a:rPr sz="2000" b="1" i="0">
                <a:solidFill>
                  <a:srgbClr val="595959"/>
                </a:solidFill>
                <a:latin typeface="Arial"/>
              </a:rPr>
              <a:t>An EA is not</a:t>
            </a:r>
          </a:p>
          <a:p>
            <a:pPr>
              <a:spcAft>
                <a:spcPts val="700"/>
              </a:spcAft>
            </a:pPr>
            <a:r>
              <a:rPr sz="1700" b="0" i="0">
                <a:solidFill>
                  <a:srgbClr val="1A1A1A"/>
                </a:solidFill>
                <a:latin typeface="Arial"/>
              </a:rPr>
              <a:t>software</a:t>
            </a:r>
          </a:p>
          <a:p>
            <a:pPr>
              <a:spcAft>
                <a:spcPts val="700"/>
              </a:spcAft>
            </a:pPr>
            <a:r>
              <a:rPr sz="1700" b="0" i="0">
                <a:solidFill>
                  <a:srgbClr val="1A1A1A"/>
                </a:solidFill>
                <a:latin typeface="Arial"/>
              </a:rPr>
              <a:t>a vendor product</a:t>
            </a:r>
          </a:p>
          <a:p>
            <a:pPr>
              <a:spcAft>
                <a:spcPts val="700"/>
              </a:spcAft>
            </a:pPr>
            <a:r>
              <a:rPr sz="1700" b="0" i="0">
                <a:solidFill>
                  <a:srgbClr val="1A1A1A"/>
                </a:solidFill>
                <a:latin typeface="Arial"/>
              </a:rPr>
              <a:t>a tool you procure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 donor, vendor — all use the same picture</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Your minister — to brief cabinet</a:t>
            </a:r>
          </a:p>
          <a:p>
            <a:pPr>
              <a:spcAft>
                <a:spcPts val="300"/>
              </a:spcAft>
            </a:pPr>
            <a:r>
              <a:rPr sz="1550" b="0" i="0">
                <a:solidFill>
                  <a:srgbClr val="595959"/>
                </a:solidFill>
                <a:latin typeface="Arial"/>
              </a:rPr>
              <a:t>They cannot describe what the country’s digital spend is buying without an agreed picture of what the systems are.</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The donor — before funding the next programme</a:t>
            </a:r>
          </a:p>
          <a:p>
            <a:pPr>
              <a:spcAft>
                <a:spcPts val="300"/>
              </a:spcAft>
            </a:pPr>
            <a:r>
              <a:rPr sz="1550" b="0" i="0">
                <a:solidFill>
                  <a:srgbClr val="595959"/>
                </a:solidFill>
                <a:latin typeface="Arial"/>
              </a:rPr>
              <a:t>They want to see how their investment fits with the others.</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The vendor — to match what they propose</a:t>
            </a:r>
          </a:p>
          <a:p>
            <a:pPr>
              <a:spcAft>
                <a:spcPts val="300"/>
              </a:spcAft>
            </a:pPr>
            <a:r>
              <a:rPr sz="1550" b="0" i="0">
                <a:solidFill>
                  <a:srgbClr val="595959"/>
                </a:solidFill>
                <a:latin typeface="Arial"/>
              </a:rPr>
              <a:t>What they build must fit what is already there.</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You — to keep all three aligned</a:t>
            </a:r>
          </a:p>
          <a:p>
            <a:pPr>
              <a:spcAft>
                <a:spcPts val="300"/>
              </a:spcAft>
            </a:pPr>
            <a:r>
              <a:rPr sz="1550" b="0" i="0">
                <a:solidFill>
                  <a:srgbClr val="595959"/>
                </a:solidFill>
                <a:latin typeface="Arial"/>
              </a:rPr>
              <a:t>So the donor funds what the country needs, the vendor builds what fits, and the minister tells a coherent story.</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picture has four parts</a:t>
            </a:r>
          </a:p>
        </p:txBody>
      </p:sp>
      <p:sp>
        <p:nvSpPr>
          <p:cNvPr id="4" name="Rounded Rectangle 3"/>
          <p:cNvSpPr/>
          <p:nvPr/>
        </p:nvSpPr>
        <p:spPr>
          <a:xfrm>
            <a:off x="658368" y="146304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09344"/>
            <a:ext cx="8321040" cy="841247"/>
          </a:xfrm>
          <a:prstGeom prst="rect">
            <a:avLst/>
          </a:prstGeom>
          <a:noFill/>
        </p:spPr>
        <p:txBody>
          <a:bodyPr wrap="square">
            <a:spAutoFit/>
          </a:bodyPr>
          <a:lstStyle/>
          <a:p>
            <a:pPr>
              <a:spcAft>
                <a:spcPts val="700"/>
              </a:spcAft>
            </a:pPr>
            <a:r>
              <a:rPr sz="1800" b="1" i="0">
                <a:solidFill>
                  <a:srgbClr val="1A1A1A"/>
                </a:solidFill>
                <a:latin typeface="Arial"/>
              </a:rPr>
              <a:t>Services</a:t>
            </a:r>
            <a:r>
              <a:rPr sz="1400" b="0" i="0">
                <a:solidFill>
                  <a:srgbClr val="595959"/>
                </a:solidFill>
                <a:latin typeface="Arial"/>
              </a:rPr>
              <a:t>   What your government does, and for whom. The layer your minister talks about — the layer the public sees.</a:t>
            </a:r>
          </a:p>
        </p:txBody>
      </p:sp>
      <p:sp>
        <p:nvSpPr>
          <p:cNvPr id="6" name="Rounded Rectangle 5"/>
          <p:cNvSpPr/>
          <p:nvPr/>
        </p:nvSpPr>
        <p:spPr>
          <a:xfrm>
            <a:off x="658368" y="2651760"/>
            <a:ext cx="8778240" cy="1115568"/>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798064"/>
            <a:ext cx="8321040" cy="841247"/>
          </a:xfrm>
          <a:prstGeom prst="rect">
            <a:avLst/>
          </a:prstGeom>
          <a:noFill/>
        </p:spPr>
        <p:txBody>
          <a:bodyPr wrap="square">
            <a:spAutoFit/>
          </a:bodyPr>
          <a:lstStyle/>
          <a:p>
            <a:pPr>
              <a:spcAft>
                <a:spcPts val="700"/>
              </a:spcAft>
            </a:pPr>
            <a:r>
              <a:rPr sz="1800" b="1" i="0">
                <a:solidFill>
                  <a:srgbClr val="FFFFFF"/>
                </a:solidFill>
                <a:latin typeface="Arial"/>
              </a:rPr>
              <a:t>Data</a:t>
            </a:r>
            <a:r>
              <a:rPr sz="1400" b="0" i="0">
                <a:solidFill>
                  <a:srgbClr val="FFFFFF"/>
                </a:solidFill>
                <a:latin typeface="Arial"/>
              </a:rPr>
              <a:t>   The information your government holds, who owns it, where the authoritative copy lives.</a:t>
            </a:r>
          </a:p>
        </p:txBody>
      </p:sp>
      <p:sp>
        <p:nvSpPr>
          <p:cNvPr id="8" name="Rounded Rectangle 7"/>
          <p:cNvSpPr/>
          <p:nvPr/>
        </p:nvSpPr>
        <p:spPr>
          <a:xfrm>
            <a:off x="658368" y="384048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3986784"/>
            <a:ext cx="8321040" cy="841247"/>
          </a:xfrm>
          <a:prstGeom prst="rect">
            <a:avLst/>
          </a:prstGeom>
          <a:noFill/>
        </p:spPr>
        <p:txBody>
          <a:bodyPr wrap="square">
            <a:spAutoFit/>
          </a:bodyPr>
          <a:lstStyle/>
          <a:p>
            <a:pPr>
              <a:spcAft>
                <a:spcPts val="700"/>
              </a:spcAft>
            </a:pPr>
            <a:r>
              <a:rPr sz="1800" b="1" i="0">
                <a:solidFill>
                  <a:srgbClr val="1A1A1A"/>
                </a:solidFill>
                <a:latin typeface="Arial"/>
              </a:rPr>
              <a:t>Applications</a:t>
            </a:r>
            <a:r>
              <a:rPr sz="1400" b="0" i="0">
                <a:solidFill>
                  <a:srgbClr val="595959"/>
                </a:solidFill>
                <a:latin typeface="Arial"/>
              </a:rPr>
              <a:t>   The software that uses the data to deliver the services. What gets bought, built, integrated, replaced.</a:t>
            </a:r>
          </a:p>
        </p:txBody>
      </p:sp>
      <p:sp>
        <p:nvSpPr>
          <p:cNvPr id="10" name="Rounded Rectangle 9"/>
          <p:cNvSpPr/>
          <p:nvPr/>
        </p:nvSpPr>
        <p:spPr>
          <a:xfrm>
            <a:off x="658368" y="5029200"/>
            <a:ext cx="8778240" cy="11155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175504"/>
            <a:ext cx="8321040" cy="841247"/>
          </a:xfrm>
          <a:prstGeom prst="rect">
            <a:avLst/>
          </a:prstGeom>
          <a:noFill/>
        </p:spPr>
        <p:txBody>
          <a:bodyPr wrap="square">
            <a:spAutoFit/>
          </a:bodyPr>
          <a:lstStyle/>
          <a:p>
            <a:pPr>
              <a:spcAft>
                <a:spcPts val="700"/>
              </a:spcAft>
            </a:pPr>
            <a:r>
              <a:rPr sz="1800" b="1" i="0">
                <a:solidFill>
                  <a:srgbClr val="1A1A1A"/>
                </a:solidFill>
                <a:latin typeface="Arial"/>
              </a:rPr>
              <a:t>Technology</a:t>
            </a:r>
            <a:r>
              <a:rPr sz="1400" b="0" i="0">
                <a:solidFill>
                  <a:srgbClr val="595959"/>
                </a:solidFill>
                <a:latin typeface="Arial"/>
              </a:rPr>
              <a:t>   The infrastructure underneath — networks, hosting, identity, security.</a:t>
            </a:r>
          </a:p>
        </p:txBody>
      </p:sp>
      <p:sp>
        <p:nvSpPr>
          <p:cNvPr id="12" name="TextBox 11"/>
          <p:cNvSpPr txBox="1"/>
          <p:nvPr/>
        </p:nvSpPr>
        <p:spPr>
          <a:xfrm>
            <a:off x="9646920" y="2331720"/>
            <a:ext cx="2103120" cy="2011680"/>
          </a:xfrm>
          <a:prstGeom prst="rect">
            <a:avLst/>
          </a:prstGeom>
          <a:noFill/>
        </p:spPr>
        <p:txBody>
          <a:bodyPr wrap="square">
            <a:spAutoFit/>
          </a:bodyPr>
          <a:lstStyle/>
          <a:p>
            <a:pPr>
              <a:spcAft>
                <a:spcPts val="800"/>
              </a:spcAft>
            </a:pPr>
            <a:r>
              <a:rPr sz="1300" b="0" i="1">
                <a:solidFill>
                  <a:srgbClr val="595959"/>
                </a:solidFill>
                <a:latin typeface="Arial"/>
              </a:rPr>
              <a:t>Applications come and go. Technology cycles every decade.</a:t>
            </a:r>
          </a:p>
          <a:p>
            <a:pPr>
              <a:spcAft>
                <a:spcPts val="800"/>
              </a:spcAft>
            </a:pPr>
            <a:r>
              <a:rPr sz="1500" b="1" i="0">
                <a:solidFill>
                  <a:srgbClr val="006E96"/>
                </a:solidFill>
                <a:latin typeface="Arial"/>
              </a:rPr>
              <a:t>Data outlasts them all.</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Written down, a list of projects becomes a system</a:t>
            </a:r>
          </a:p>
        </p:txBody>
      </p:sp>
      <p:sp>
        <p:nvSpPr>
          <p:cNvPr id="4" name="TextBox 3"/>
          <p:cNvSpPr txBox="1"/>
          <p:nvPr/>
        </p:nvSpPr>
        <p:spPr>
          <a:xfrm>
            <a:off x="658368" y="1737360"/>
            <a:ext cx="10789920" cy="4114800"/>
          </a:xfrm>
          <a:prstGeom prst="rect">
            <a:avLst/>
          </a:prstGeom>
          <a:noFill/>
        </p:spPr>
        <p:txBody>
          <a:bodyPr wrap="square">
            <a:spAutoFit/>
          </a:bodyPr>
          <a:lstStyle/>
          <a:p>
            <a:pPr>
              <a:spcAft>
                <a:spcPts val="1400"/>
              </a:spcAft>
            </a:pPr>
            <a:r>
              <a:rPr sz="2200" b="0" i="0">
                <a:solidFill>
                  <a:srgbClr val="1A1A1A"/>
                </a:solidFill>
                <a:latin typeface="Arial"/>
              </a:rPr>
              <a:t>When you write down all four parts, your digital landscape stops being a list of unrelated projects. It starts looking like a system —</a:t>
            </a:r>
          </a:p>
          <a:p>
            <a:pPr>
              <a:spcAft>
                <a:spcPts val="1400"/>
              </a:spcAft>
            </a:pPr>
            <a:r>
              <a:rPr sz="2200" b="0" i="0">
                <a:solidFill>
                  <a:srgbClr val="1A1A1A"/>
                </a:solidFill>
                <a:latin typeface="Arial"/>
              </a:rPr>
              <a:t>a system you can change deliberately,</a:t>
            </a:r>
          </a:p>
          <a:p>
            <a:pPr>
              <a:spcAft>
                <a:spcPts val="1400"/>
              </a:spcAft>
            </a:pPr>
            <a:r>
              <a:rPr sz="2200" b="0" i="0">
                <a:solidFill>
                  <a:srgbClr val="1A1A1A"/>
                </a:solidFill>
                <a:latin typeface="Arial"/>
              </a:rPr>
              <a:t>a system you can plan investments against,</a:t>
            </a:r>
          </a:p>
          <a:p>
            <a:pPr>
              <a:spcAft>
                <a:spcPts val="1400"/>
              </a:spcAft>
            </a:pPr>
            <a:r>
              <a:rPr sz="2200" b="0" i="0">
                <a:solidFill>
                  <a:srgbClr val="1A1A1A"/>
                </a:solidFill>
                <a:latin typeface="Arial"/>
              </a:rPr>
              <a:t>a system you can talk about across ministries, with donors and vendors, without re-explaining the basics every time.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is the agreed picture of your government — and the tool that lets you lead the conversation about what comes next.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one-slide 'what is EA' explainer for ministers.</a:t>
            </a:r>
          </a:p>
          <a:p>
            <a:pPr algn="l">
              <a:spcAft>
                <a:spcPts val="400"/>
              </a:spcAft>
            </a:pPr>
            <a:r>
              <a:rPr sz="1800" b="0" i="0">
                <a:solidFill>
                  <a:srgbClr val="595959"/>
                </a:solidFill>
                <a:latin typeface="Arial"/>
              </a:rPr>
              <a:t>The prompt in the companion material gives you a one-slide structure ready to paste into the country's slide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TOGAF — BDAT layering reference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What an EA actually 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projects can't do this themselves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They cannot deliver it. Only planning at the level of the whole government, supported by reference architectures, can.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already require interoperability. So why does the citizen still fill the form five times?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new project must specify open APIs. Every contract must require interoperability.</a:t>
            </a:r>
          </a:p>
          <a:p>
            <a:pPr>
              <a:spcAft>
                <a:spcPts val="800"/>
              </a:spcAft>
            </a:pPr>
            <a:r>
              <a:rPr sz="1700" b="0" i="0">
                <a:solidFill>
                  <a:srgbClr val="595959"/>
                </a:solidFill>
                <a:latin typeface="Arial"/>
              </a:rPr>
              <a:t>Procurement rules can require behaviour.</a:t>
            </a:r>
          </a:p>
          <a:p>
            <a:pPr>
              <a:spcAft>
                <a:spcPts val="800"/>
              </a:spcAft>
            </a:pPr>
            <a:r>
              <a:rPr sz="1700" b="0" i="0">
                <a:solidFill>
                  <a:srgbClr val="595959"/>
                </a:solidFill>
                <a:latin typeface="Arial"/>
              </a:rPr>
              <a:t>They cannot make it the cheapest choice.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project is rational — and builds its own</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000" b="1" i="0">
                <a:solidFill>
                  <a:srgbClr val="1A1A1A"/>
                </a:solidFill>
                <a:latin typeface="Arial"/>
              </a:rPr>
              <a:t>The question every project asks</a:t>
            </a:r>
          </a:p>
          <a:p>
            <a:pPr>
              <a:spcAft>
                <a:spcPts val="300"/>
              </a:spcAft>
            </a:pPr>
            <a:r>
              <a:rPr sz="1600" b="0" i="0">
                <a:solidFill>
                  <a:srgbClr val="595959"/>
                </a:solidFill>
                <a:latin typeface="Arial"/>
              </a:rPr>
              <a:t>“How do we ship on time and on budget?”</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000" b="1" i="0">
                <a:solidFill>
                  <a:srgbClr val="1A1A1A"/>
                </a:solidFill>
                <a:latin typeface="Arial"/>
              </a:rPr>
              <a:t>What re-use costs the project</a:t>
            </a:r>
          </a:p>
          <a:p>
            <a:pPr>
              <a:spcAft>
                <a:spcPts val="300"/>
              </a:spcAft>
            </a:pPr>
            <a:r>
              <a:rPr sz="1600" b="0" i="0">
                <a:solidFill>
                  <a:srgbClr val="595959"/>
                </a:solidFill>
                <a:latin typeface="Arial"/>
              </a:rPr>
              <a:t>Learn another ministry’s system. Negotiate with their team. Accept their delays.</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000" b="1" i="0">
                <a:solidFill>
                  <a:srgbClr val="1A1A1A"/>
                </a:solidFill>
                <a:latin typeface="Arial"/>
              </a:rPr>
              <a:t>So the team builds its own — and that is not a failure of discipline</a:t>
            </a:r>
          </a:p>
          <a:p>
            <a:pPr>
              <a:spcAft>
                <a:spcPts val="300"/>
              </a:spcAft>
            </a:pPr>
            <a:r>
              <a:rPr sz="1600" b="0" i="0">
                <a:solidFill>
                  <a:srgbClr val="595959"/>
                </a:solidFill>
                <a:latin typeface="Arial"/>
              </a:rPr>
              <a:t>Building your own version is faster and simpler. The project is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math changes only at whole-of-government level</a:t>
            </a:r>
          </a:p>
        </p:txBody>
      </p:sp>
      <p:sp>
        <p:nvSpPr>
          <p:cNvPr id="4" name="Rounded Rectangle 3"/>
          <p:cNvSpPr/>
          <p:nvPr/>
        </p:nvSpPr>
        <p:spPr>
          <a:xfrm>
            <a:off x="658368" y="1645920"/>
            <a:ext cx="2606040" cy="15544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92224"/>
            <a:ext cx="2276856" cy="1280160"/>
          </a:xfrm>
          <a:prstGeom prst="rect">
            <a:avLst/>
          </a:prstGeom>
          <a:noFill/>
        </p:spPr>
        <p:txBody>
          <a:bodyPr wrap="square">
            <a:spAutoFit/>
          </a:bodyPr>
          <a:lstStyle/>
          <a:p>
            <a:pPr>
              <a:spcAft>
                <a:spcPts val="700"/>
              </a:spcAft>
            </a:pPr>
            <a:r>
              <a:rPr sz="1600" b="1" i="0">
                <a:solidFill>
                  <a:srgbClr val="FFFFFF"/>
                </a:solidFill>
                <a:latin typeface="Arial"/>
              </a:rPr>
              <a:t>Ministry 1</a:t>
            </a:r>
          </a:p>
          <a:p>
            <a:pPr>
              <a:spcAft>
                <a:spcPts val="700"/>
              </a:spcAft>
            </a:pPr>
            <a:r>
              <a:rPr sz="1300" b="0" i="0">
                <a:solidFill>
                  <a:srgbClr val="FFFFFF"/>
                </a:solidFill>
                <a:latin typeface="Arial"/>
              </a:rPr>
              <a:t>pays to build the identity system</a:t>
            </a:r>
          </a:p>
        </p:txBody>
      </p:sp>
      <p:sp>
        <p:nvSpPr>
          <p:cNvPr id="6" name="Rounded Rectangle 5"/>
          <p:cNvSpPr/>
          <p:nvPr/>
        </p:nvSpPr>
        <p:spPr>
          <a:xfrm>
            <a:off x="34015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2</a:t>
            </a:r>
          </a:p>
          <a:p>
            <a:pPr>
              <a:spcAft>
                <a:spcPts val="700"/>
              </a:spcAft>
            </a:pPr>
            <a:r>
              <a:rPr sz="1300" b="0" i="0">
                <a:solidFill>
                  <a:srgbClr val="595959"/>
                </a:solidFill>
                <a:latin typeface="Arial"/>
              </a:rPr>
              <a:t>does not — it consumes the first</a:t>
            </a:r>
          </a:p>
        </p:txBody>
      </p:sp>
      <p:sp>
        <p:nvSpPr>
          <p:cNvPr id="8" name="Rounded Rectangle 7"/>
          <p:cNvSpPr/>
          <p:nvPr/>
        </p:nvSpPr>
        <p:spPr>
          <a:xfrm>
            <a:off x="61447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3</a:t>
            </a:r>
          </a:p>
          <a:p>
            <a:pPr>
              <a:spcAft>
                <a:spcPts val="700"/>
              </a:spcAft>
            </a:pPr>
            <a:r>
              <a:rPr sz="1300" b="0" i="0">
                <a:solidFill>
                  <a:srgbClr val="595959"/>
                </a:solidFill>
                <a:latin typeface="Arial"/>
              </a:rPr>
              <a:t>does not — it consumes the same</a:t>
            </a:r>
          </a:p>
        </p:txBody>
      </p:sp>
      <p:sp>
        <p:nvSpPr>
          <p:cNvPr id="10" name="Rounded Rectangle 9"/>
          <p:cNvSpPr/>
          <p:nvPr/>
        </p:nvSpPr>
        <p:spPr>
          <a:xfrm>
            <a:off x="8887968" y="1645920"/>
            <a:ext cx="2606040" cy="15544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792224"/>
            <a:ext cx="2276856" cy="1280160"/>
          </a:xfrm>
          <a:prstGeom prst="rect">
            <a:avLst/>
          </a:prstGeom>
          <a:noFill/>
        </p:spPr>
        <p:txBody>
          <a:bodyPr wrap="square">
            <a:spAutoFit/>
          </a:bodyPr>
          <a:lstStyle/>
          <a:p>
            <a:pPr>
              <a:spcAft>
                <a:spcPts val="700"/>
              </a:spcAft>
            </a:pPr>
            <a:r>
              <a:rPr sz="1600" b="1" i="0">
                <a:solidFill>
                  <a:srgbClr val="1A1A1A"/>
                </a:solidFill>
                <a:latin typeface="Arial"/>
              </a:rPr>
              <a:t>Ministry 4</a:t>
            </a:r>
          </a:p>
          <a:p>
            <a:pPr>
              <a:spcAft>
                <a:spcPts val="700"/>
              </a:spcAft>
            </a:pPr>
            <a:r>
              <a:rPr sz="1300" b="0" i="0">
                <a:solidFill>
                  <a:srgbClr val="595959"/>
                </a:solidFill>
                <a:latin typeface="Arial"/>
              </a:rPr>
              <a:t>does not — it consumes the same</a:t>
            </a:r>
          </a:p>
        </p:txBody>
      </p:sp>
      <p:sp>
        <p:nvSpPr>
          <p:cNvPr id="12" name="TextBox 11"/>
          <p:cNvSpPr txBox="1"/>
          <p:nvPr/>
        </p:nvSpPr>
        <p:spPr>
          <a:xfrm>
            <a:off x="658368" y="3657600"/>
            <a:ext cx="10789920" cy="1005840"/>
          </a:xfrm>
          <a:prstGeom prst="rect">
            <a:avLst/>
          </a:prstGeom>
          <a:noFill/>
        </p:spPr>
        <p:txBody>
          <a:bodyPr wrap="square">
            <a:spAutoFit/>
          </a:bodyPr>
          <a:lstStyle/>
          <a:p>
            <a:r>
              <a:rPr sz="2000" b="1" i="0">
                <a:solidFill>
                  <a:srgbClr val="1A1A1A"/>
                </a:solidFill>
                <a:latin typeface="Arial"/>
              </a:rPr>
              <a:t>Over five years, the country saves a meaningful share of its sectoral digital spend.</a:t>
            </a:r>
          </a:p>
        </p:txBody>
      </p:sp>
      <p:sp>
        <p:nvSpPr>
          <p:cNvPr id="13" name="TextBox 12"/>
          <p:cNvSpPr txBox="1"/>
          <p:nvPr/>
        </p:nvSpPr>
        <p:spPr>
          <a:xfrm>
            <a:off x="658368" y="4709160"/>
            <a:ext cx="10789920" cy="1463040"/>
          </a:xfrm>
          <a:prstGeom prst="rect">
            <a:avLst/>
          </a:prstGeom>
          <a:noFill/>
        </p:spPr>
        <p:txBody>
          <a:bodyPr wrap="square">
            <a:spAutoFit/>
          </a:bodyPr>
          <a:lstStyle/>
          <a:p>
            <a:r>
              <a:rPr sz="1600" b="0" i="0">
                <a:solidFill>
                  <a:srgbClr val="595959"/>
                </a:solidFill>
                <a:latin typeface="Arial"/>
              </a:rPr>
              <a:t>But this view does not exist inside any single project. It exists only at the level of your country’s whole digital portfolio — the view an EA gives you, and the view your minister needs to make funding decisions.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more things projects cannot deliver</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Sustainability</a:t>
            </a:r>
          </a:p>
          <a:p>
            <a:pPr>
              <a:spcAft>
                <a:spcPts val="700"/>
              </a:spcAft>
            </a:pPr>
            <a:r>
              <a:rPr sz="1600" b="0" i="0">
                <a:solidFill>
                  <a:srgbClr val="1A1A1A"/>
                </a:solidFill>
                <a:latin typeface="Arial"/>
              </a:rPr>
              <a:t>Twelve years from now, the original vendor is gone. The open-source library has forked. The technology has moved on. The system is still in service — and nobody fully understands it.</a:t>
            </a:r>
          </a:p>
          <a:p>
            <a:pPr>
              <a:spcAft>
                <a:spcPts val="700"/>
              </a:spcAft>
            </a:pPr>
            <a:r>
              <a:rPr sz="1600" b="1" i="0">
                <a:solidFill>
                  <a:srgbClr val="1A1A1A"/>
                </a:solidFill>
                <a:latin typeface="Arial"/>
              </a:rPr>
              <a:t>Projects are not incentivised to plan for that moment. They are incentivised to ship.</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2000" b="1" i="0">
                <a:solidFill>
                  <a:srgbClr val="006E96"/>
                </a:solidFill>
                <a:latin typeface="Arial"/>
              </a:rPr>
              <a:t>Complexity reduction</a:t>
            </a:r>
          </a:p>
          <a:p>
            <a:pPr>
              <a:spcAft>
                <a:spcPts val="700"/>
              </a:spcAft>
            </a:pPr>
            <a:r>
              <a:rPr sz="1600" b="0" i="0">
                <a:solidFill>
                  <a:srgbClr val="1A1A1A"/>
                </a:solidFill>
                <a:latin typeface="Arial"/>
              </a:rPr>
              <a:t>A project says yes to most feature requests, because requests come from people the project must please. Five years later, the system is too complex to maintain or change.</a:t>
            </a:r>
          </a:p>
          <a:p>
            <a:pPr>
              <a:spcAft>
                <a:spcPts val="700"/>
              </a:spcAft>
            </a:pPr>
            <a:r>
              <a:rPr sz="1600" b="1" i="0">
                <a:solidFill>
                  <a:srgbClr val="1A1A1A"/>
                </a:solidFill>
                <a:latin typeface="Arial"/>
              </a:rPr>
              <a:t>Saying no requires authority the project does not have.</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reference architecture is other countries' learning</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Other countries have built these systems for decades</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They learned what survives technology change — and what cost them dearly</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A reference architecture is that learning, written down. PAERA is one such reference.</a:t>
            </a:r>
          </a:p>
          <a:p>
            <a:pPr>
              <a:spcAft>
                <a:spcPts val="300"/>
              </a:spcAft>
            </a:pPr>
            <a:r>
              <a:rPr sz="1600" b="0" i="0">
                <a:solidFill>
                  <a:srgbClr val="595959"/>
                </a:solidFill>
                <a:latin typeface="Arial"/>
              </a:rPr>
              <a:t>Adopting it means starting with their lessons, instead of paying for the same lessons yourself over the next twenty years.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Re-use, sustainability, complexity reduction — none of these come from projects. All of them come from planning.</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The four-part picture is the artefact. Planning is the function. That is why your minister must commission an EA separately, deliberately, with sustained funding.</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whole-of-government business case for building-block re-use.</a:t>
            </a:r>
          </a:p>
          <a:p>
            <a:pPr algn="l">
              <a:spcAft>
                <a:spcPts val="400"/>
              </a:spcAft>
            </a:pPr>
            <a:r>
              <a:rPr sz="1800" b="0" i="0">
                <a:solidFill>
                  <a:srgbClr val="595959"/>
                </a:solidFill>
                <a:latin typeface="Arial"/>
              </a:rPr>
              <a:t>The prompt in the companion material gives you a per-programme cost table plus a country-level 5-year saving estimate.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Why projects can't do this themselves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Putting paper online was the work. It is not any more.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form became a web form, the queue an online appointment, the certificate a PDF.</a:t>
            </a:r>
          </a:p>
          <a:p>
            <a:pPr>
              <a:spcAft>
                <a:spcPts val="800"/>
              </a:spcAft>
            </a:pPr>
            <a:r>
              <a:rPr sz="1700" b="0" i="0">
                <a:solidFill>
                  <a:srgbClr val="595959"/>
                </a:solidFill>
                <a:latin typeface="Arial"/>
              </a:rPr>
              <a:t>The ministry still did the same work — only the medium changed.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Translate an operating-model question into a business-IT joint agenda.</a:t>
            </a:r>
          </a:p>
          <a:p>
            <a:pPr algn="l">
              <a:spcAft>
                <a:spcPts val="400"/>
              </a:spcAft>
            </a:pPr>
            <a:r>
              <a:rPr sz="1800" b="0" i="0">
                <a:solidFill>
                  <a:srgbClr val="595959"/>
                </a:solidFill>
                <a:latin typeface="Arial"/>
              </a:rPr>
              <a:t>The prompt in the companion material gives you a 3-column decomposition plus a meeting agenda.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Which framework do you use to draw the picture?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Design one for your country from scratch —</a:t>
            </a:r>
          </a:p>
          <a:p>
            <a:pPr>
              <a:spcAft>
                <a:spcPts val="800"/>
              </a:spcAft>
            </a:pPr>
            <a:r>
              <a:rPr sz="1700" b="0" i="0">
                <a:solidFill>
                  <a:srgbClr val="595959"/>
                </a:solidFill>
                <a:latin typeface="Arial"/>
              </a:rPr>
              <a:t>or anchor on one that already exists.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country's existing initiatives against PAERA's five foundations.</a:t>
            </a:r>
          </a:p>
          <a:p>
            <a:pPr algn="l">
              <a:spcAft>
                <a:spcPts val="400"/>
              </a:spcAft>
            </a:pPr>
            <a:r>
              <a:rPr sz="1800" b="0" i="0">
                <a:solidFill>
                  <a:srgbClr val="595959"/>
                </a:solidFill>
                <a:latin typeface="Arial"/>
              </a:rPr>
              <a:t>The prompt in the companion material gives you a per-initiative coverage table plus a coverage summary.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lifecycle on one page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Six months from start to a roadmap your minister can take to cabinet. Then ongoing governance. Five phases. Four sign-offs. One continuous practice.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If you take one picture away from this knowledge product, take this one.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EA lifecycle on a single page.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Four sign-offs. Six months to a roadmap.</a:t>
            </a:r>
          </a:p>
        </p:txBody>
      </p:sp>
      <p:sp>
        <p:nvSpPr>
          <p:cNvPr id="4" name="Rounded Rectangle 3"/>
          <p:cNvSpPr/>
          <p:nvPr/>
        </p:nvSpPr>
        <p:spPr>
          <a:xfrm>
            <a:off x="548640"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Discover</a:t>
            </a:r>
          </a:p>
          <a:p>
            <a:pPr algn="ctr"/>
            <a:r>
              <a:rPr sz="1200" b="0" i="1">
                <a:solidFill>
                  <a:srgbClr val="595959"/>
                </a:solidFill>
                <a:latin typeface="Arial"/>
              </a:rPr>
              <a:t>What exists today?</a:t>
            </a:r>
          </a:p>
        </p:txBody>
      </p:sp>
      <p:sp>
        <p:nvSpPr>
          <p:cNvPr id="5" name="TextBox 4"/>
          <p:cNvSpPr txBox="1"/>
          <p:nvPr/>
        </p:nvSpPr>
        <p:spPr>
          <a:xfrm>
            <a:off x="548640" y="3493008"/>
            <a:ext cx="2084831" cy="365760"/>
          </a:xfrm>
          <a:prstGeom prst="rect">
            <a:avLst/>
          </a:prstGeom>
          <a:noFill/>
        </p:spPr>
        <p:txBody>
          <a:bodyPr wrap="square">
            <a:spAutoFit/>
          </a:bodyPr>
          <a:lstStyle/>
          <a:p>
            <a:pPr algn="ctr"/>
            <a:r>
              <a:rPr sz="1300" b="1" i="0">
                <a:solidFill>
                  <a:srgbClr val="006E96"/>
                </a:solidFill>
                <a:latin typeface="Arial"/>
              </a:rPr>
              <a:t>3–4 wks</a:t>
            </a:r>
          </a:p>
        </p:txBody>
      </p:sp>
      <p:sp>
        <p:nvSpPr>
          <p:cNvPr id="6" name="Diamond 5"/>
          <p:cNvSpPr/>
          <p:nvPr/>
        </p:nvSpPr>
        <p:spPr>
          <a:xfrm>
            <a:off x="2628899"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Assess</a:t>
            </a:r>
          </a:p>
          <a:p>
            <a:pPr algn="ctr"/>
            <a:r>
              <a:rPr sz="1200" b="0" i="1">
                <a:solidFill>
                  <a:srgbClr val="595959"/>
                </a:solidFill>
                <a:latin typeface="Arial"/>
              </a:rPr>
              <a:t>What is the gap?</a:t>
            </a:r>
          </a:p>
        </p:txBody>
      </p:sp>
      <p:sp>
        <p:nvSpPr>
          <p:cNvPr id="8" name="TextBox 7"/>
          <p:cNvSpPr txBox="1"/>
          <p:nvPr/>
        </p:nvSpPr>
        <p:spPr>
          <a:xfrm>
            <a:off x="2807208"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9" name="Diamond 8"/>
          <p:cNvSpPr/>
          <p:nvPr/>
        </p:nvSpPr>
        <p:spPr>
          <a:xfrm>
            <a:off x="4887468"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Adapt</a:t>
            </a:r>
          </a:p>
          <a:p>
            <a:pPr algn="ctr"/>
            <a:r>
              <a:rPr sz="1200" b="0" i="1">
                <a:solidFill>
                  <a:srgbClr val="595959"/>
                </a:solidFill>
                <a:latin typeface="Arial"/>
              </a:rPr>
              <a:t>What fits our country?</a:t>
            </a:r>
          </a:p>
        </p:txBody>
      </p:sp>
      <p:sp>
        <p:nvSpPr>
          <p:cNvPr id="11" name="TextBox 10"/>
          <p:cNvSpPr txBox="1"/>
          <p:nvPr/>
        </p:nvSpPr>
        <p:spPr>
          <a:xfrm>
            <a:off x="5065775" y="3493008"/>
            <a:ext cx="2084831" cy="365760"/>
          </a:xfrm>
          <a:prstGeom prst="rect">
            <a:avLst/>
          </a:prstGeom>
          <a:noFill/>
        </p:spPr>
        <p:txBody>
          <a:bodyPr wrap="square">
            <a:spAutoFit/>
          </a:bodyPr>
          <a:lstStyle/>
          <a:p>
            <a:pPr algn="ctr"/>
            <a:r>
              <a:rPr sz="1300" b="1" i="0">
                <a:solidFill>
                  <a:srgbClr val="006E96"/>
                </a:solidFill>
                <a:latin typeface="Arial"/>
              </a:rPr>
              <a:t>4–6 wks</a:t>
            </a:r>
          </a:p>
        </p:txBody>
      </p:sp>
      <p:sp>
        <p:nvSpPr>
          <p:cNvPr id="12" name="Diamond 11"/>
          <p:cNvSpPr/>
          <p:nvPr/>
        </p:nvSpPr>
        <p:spPr>
          <a:xfrm>
            <a:off x="7146036"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1965960"/>
            <a:ext cx="2084831"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1A1A1A"/>
                </a:solidFill>
                <a:latin typeface="Arial"/>
              </a:rPr>
              <a:t>Plan</a:t>
            </a:r>
          </a:p>
          <a:p>
            <a:pPr algn="ctr"/>
            <a:r>
              <a:rPr sz="1200" b="0" i="1">
                <a:solidFill>
                  <a:srgbClr val="595959"/>
                </a:solidFill>
                <a:latin typeface="Arial"/>
              </a:rPr>
              <a:t>How do we get there?</a:t>
            </a:r>
          </a:p>
        </p:txBody>
      </p:sp>
      <p:sp>
        <p:nvSpPr>
          <p:cNvPr id="14" name="TextBox 13"/>
          <p:cNvSpPr txBox="1"/>
          <p:nvPr/>
        </p:nvSpPr>
        <p:spPr>
          <a:xfrm>
            <a:off x="7324344" y="3493008"/>
            <a:ext cx="2084831" cy="365760"/>
          </a:xfrm>
          <a:prstGeom prst="rect">
            <a:avLst/>
          </a:prstGeom>
          <a:noFill/>
        </p:spPr>
        <p:txBody>
          <a:bodyPr wrap="square">
            <a:spAutoFit/>
          </a:bodyPr>
          <a:lstStyle/>
          <a:p>
            <a:pPr algn="ctr"/>
            <a:r>
              <a:rPr sz="1300" b="1" i="0">
                <a:solidFill>
                  <a:srgbClr val="006E96"/>
                </a:solidFill>
                <a:latin typeface="Arial"/>
              </a:rPr>
              <a:t>6–8 wks</a:t>
            </a:r>
          </a:p>
        </p:txBody>
      </p:sp>
      <p:sp>
        <p:nvSpPr>
          <p:cNvPr id="15" name="Diamond 14"/>
          <p:cNvSpPr/>
          <p:nvPr/>
        </p:nvSpPr>
        <p:spPr>
          <a:xfrm>
            <a:off x="9404603" y="2583179"/>
            <a:ext cx="182880" cy="18288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1965960"/>
            <a:ext cx="2084831"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600" b="1" i="0">
                <a:solidFill>
                  <a:srgbClr val="FFFFFF"/>
                </a:solidFill>
                <a:latin typeface="Arial"/>
              </a:rPr>
              <a:t>Execute &amp; Govern</a:t>
            </a:r>
          </a:p>
          <a:p>
            <a:pPr algn="ctr"/>
            <a:r>
              <a:rPr sz="1200" b="0" i="1">
                <a:solidFill>
                  <a:srgbClr val="FFFFFF"/>
                </a:solidFill>
                <a:latin typeface="Arial"/>
              </a:rPr>
              <a:t>How do we sustain this?</a:t>
            </a:r>
          </a:p>
        </p:txBody>
      </p:sp>
      <p:sp>
        <p:nvSpPr>
          <p:cNvPr id="17" name="TextBox 16"/>
          <p:cNvSpPr txBox="1"/>
          <p:nvPr/>
        </p:nvSpPr>
        <p:spPr>
          <a:xfrm>
            <a:off x="9582911" y="3493008"/>
            <a:ext cx="2084831" cy="365760"/>
          </a:xfrm>
          <a:prstGeom prst="rect">
            <a:avLst/>
          </a:prstGeom>
          <a:noFill/>
        </p:spPr>
        <p:txBody>
          <a:bodyPr wrap="square">
            <a:spAutoFit/>
          </a:bodyPr>
          <a:lstStyle/>
          <a:p>
            <a:pPr algn="ctr"/>
            <a:r>
              <a:rPr sz="1300" b="1" i="0">
                <a:solidFill>
                  <a:srgbClr val="595959"/>
                </a:solidFill>
                <a:latin typeface="Arial"/>
              </a:rPr>
              <a:t>Ongoing</a:t>
            </a:r>
          </a:p>
        </p:txBody>
      </p:sp>
      <p:sp>
        <p:nvSpPr>
          <p:cNvPr id="18" name="TextBox 17"/>
          <p:cNvSpPr txBox="1"/>
          <p:nvPr/>
        </p:nvSpPr>
        <p:spPr>
          <a:xfrm>
            <a:off x="548640" y="4160520"/>
            <a:ext cx="11064240" cy="457200"/>
          </a:xfrm>
          <a:prstGeom prst="rect">
            <a:avLst/>
          </a:prstGeom>
          <a:noFill/>
        </p:spPr>
        <p:txBody>
          <a:bodyPr wrap="square">
            <a:spAutoFit/>
          </a:bodyPr>
          <a:lstStyle/>
          <a:p>
            <a:r>
              <a:rPr sz="1350" b="0" i="0">
                <a:solidFill>
                  <a:srgbClr val="595959"/>
                </a:solidFill>
                <a:latin typeface="Arial"/>
              </a:rPr>
              <a:t>◆ = sign-off by the senior decision-maker. Each phase answers one question and produces one deliverable.</a:t>
            </a:r>
          </a:p>
        </p:txBody>
      </p:sp>
      <p:sp>
        <p:nvSpPr>
          <p:cNvPr id="19" name="Rounded Rectangle 18"/>
          <p:cNvSpPr/>
          <p:nvPr/>
        </p:nvSpPr>
        <p:spPr>
          <a:xfrm>
            <a:off x="548640" y="4800600"/>
            <a:ext cx="8823960" cy="50292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595959"/>
                </a:solidFill>
                <a:latin typeface="Arial"/>
              </a:rPr>
              <a:t>Phases 1–4: about six months, four sign-offs</a:t>
            </a:r>
          </a:p>
        </p:txBody>
      </p:sp>
      <p:sp>
        <p:nvSpPr>
          <p:cNvPr id="20" name="Rounded Rectangle 19"/>
          <p:cNvSpPr/>
          <p:nvPr/>
        </p:nvSpPr>
        <p:spPr>
          <a:xfrm>
            <a:off x="9555480" y="4800600"/>
            <a:ext cx="2084831" cy="5029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Arial"/>
              </a:rPr>
              <a:t>permanent practice</a:t>
            </a:r>
          </a:p>
        </p:txBody>
      </p:sp>
      <p:sp>
        <p:nvSpPr>
          <p:cNvPr id="21" name="TextBox 20"/>
          <p:cNvSpPr txBox="1"/>
          <p:nvPr/>
        </p:nvSpPr>
        <p:spPr>
          <a:xfrm>
            <a:off x="548640" y="5577840"/>
            <a:ext cx="11064240" cy="548640"/>
          </a:xfrm>
          <a:prstGeom prst="rect">
            <a:avLst/>
          </a:prstGeom>
          <a:noFill/>
        </p:spPr>
        <p:txBody>
          <a:bodyPr wrap="square">
            <a:spAutoFit/>
          </a:bodyPr>
          <a:lstStyle/>
          <a:p>
            <a:r>
              <a:rPr sz="1300" b="0" i="1">
                <a:solidFill>
                  <a:srgbClr val="595959"/>
                </a:solidFill>
                <a:latin typeface="Arial"/>
              </a:rPr>
              <a:t>Screenshot this page for your EA Board room wall.</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phase: one question, one deliverable, one sign-off</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41832"/>
          </a:xfrm>
          <a:prstGeom prst="rect">
            <a:avLst/>
          </a:prstGeom>
          <a:noFill/>
        </p:spPr>
        <p:txBody>
          <a:bodyPr wrap="square">
            <a:spAutoFit/>
          </a:bodyPr>
          <a:lstStyle/>
          <a:p>
            <a:pPr>
              <a:spcAft>
                <a:spcPts val="300"/>
              </a:spcAft>
            </a:pPr>
            <a:r>
              <a:rPr sz="1800" b="1" i="0">
                <a:solidFill>
                  <a:srgbClr val="1A1A1A"/>
                </a:solidFill>
                <a:latin typeface="Arial"/>
              </a:rPr>
              <a:t>Discover · 3–4 weeks</a:t>
            </a:r>
          </a:p>
          <a:p>
            <a:pPr>
              <a:spcAft>
                <a:spcPts val="300"/>
              </a:spcAft>
            </a:pPr>
            <a:r>
              <a:rPr sz="1500" b="0" i="0">
                <a:solidFill>
                  <a:srgbClr val="595959"/>
                </a:solidFill>
                <a:latin typeface="Arial"/>
              </a:rPr>
              <a:t>What exists today? → a Discovery brief, no recommendations yet. Sign-off: the picture is accurate.</a:t>
            </a:r>
          </a:p>
        </p:txBody>
      </p:sp>
      <p:sp>
        <p:nvSpPr>
          <p:cNvPr id="6" name="Rectangle 5"/>
          <p:cNvSpPr/>
          <p:nvPr/>
        </p:nvSpPr>
        <p:spPr>
          <a:xfrm>
            <a:off x="621792" y="231800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0487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59152"/>
            <a:ext cx="10527487" cy="941832"/>
          </a:xfrm>
          <a:prstGeom prst="rect">
            <a:avLst/>
          </a:prstGeom>
          <a:noFill/>
        </p:spPr>
        <p:txBody>
          <a:bodyPr wrap="square">
            <a:spAutoFit/>
          </a:bodyPr>
          <a:lstStyle/>
          <a:p>
            <a:pPr>
              <a:spcAft>
                <a:spcPts val="300"/>
              </a:spcAft>
            </a:pPr>
            <a:r>
              <a:rPr sz="1800" b="1" i="0">
                <a:solidFill>
                  <a:srgbClr val="1A1A1A"/>
                </a:solidFill>
                <a:latin typeface="Arial"/>
              </a:rPr>
              <a:t>Assess · 6–8 weeks</a:t>
            </a:r>
          </a:p>
          <a:p>
            <a:pPr>
              <a:spcAft>
                <a:spcPts val="300"/>
              </a:spcAft>
            </a:pPr>
            <a:r>
              <a:rPr sz="1500" b="0" i="0">
                <a:solidFill>
                  <a:srgbClr val="595959"/>
                </a:solidFill>
                <a:latin typeface="Arial"/>
              </a:rPr>
              <a:t>What is the gap? → the current state in the four parts of an EA, plus maturity scorecards. Sign-off: the gap analysis reflects ground truth.</a:t>
            </a:r>
          </a:p>
        </p:txBody>
      </p:sp>
      <p:sp>
        <p:nvSpPr>
          <p:cNvPr id="9" name="Rectangle 8"/>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924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10527487" cy="941832"/>
          </a:xfrm>
          <a:prstGeom prst="rect">
            <a:avLst/>
          </a:prstGeom>
          <a:noFill/>
        </p:spPr>
        <p:txBody>
          <a:bodyPr wrap="square">
            <a:spAutoFit/>
          </a:bodyPr>
          <a:lstStyle/>
          <a:p>
            <a:pPr>
              <a:spcAft>
                <a:spcPts val="300"/>
              </a:spcAft>
            </a:pPr>
            <a:r>
              <a:rPr sz="1800" b="1" i="0">
                <a:solidFill>
                  <a:srgbClr val="1A1A1A"/>
                </a:solidFill>
                <a:latin typeface="Arial"/>
              </a:rPr>
              <a:t>Adapt · 4–6 weeks</a:t>
            </a:r>
          </a:p>
          <a:p>
            <a:pPr>
              <a:spcAft>
                <a:spcPts val="300"/>
              </a:spcAft>
            </a:pPr>
            <a:r>
              <a:rPr sz="1500" b="0" i="0">
                <a:solidFill>
                  <a:srgbClr val="595959"/>
                </a:solidFill>
                <a:latin typeface="Arial"/>
              </a:rPr>
              <a:t>What fits our country? → a localised framework with sourcing decisions. Sign-off: the framework and the build / buy / share approach.</a:t>
            </a:r>
          </a:p>
        </p:txBody>
      </p:sp>
      <p:sp>
        <p:nvSpPr>
          <p:cNvPr id="12" name="Rectangle 11"/>
          <p:cNvSpPr/>
          <p:nvPr/>
        </p:nvSpPr>
        <p:spPr>
          <a:xfrm>
            <a:off x="621792" y="429310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7997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34256"/>
            <a:ext cx="10527487" cy="941832"/>
          </a:xfrm>
          <a:prstGeom prst="rect">
            <a:avLst/>
          </a:prstGeom>
          <a:noFill/>
        </p:spPr>
        <p:txBody>
          <a:bodyPr wrap="square">
            <a:spAutoFit/>
          </a:bodyPr>
          <a:lstStyle/>
          <a:p>
            <a:pPr>
              <a:spcAft>
                <a:spcPts val="300"/>
              </a:spcAft>
            </a:pPr>
            <a:r>
              <a:rPr sz="1800" b="1" i="0">
                <a:solidFill>
                  <a:srgbClr val="1A1A1A"/>
                </a:solidFill>
                <a:latin typeface="Arial"/>
              </a:rPr>
              <a:t>Plan · 6–8 weeks</a:t>
            </a:r>
          </a:p>
          <a:p>
            <a:pPr>
              <a:spcAft>
                <a:spcPts val="300"/>
              </a:spcAft>
            </a:pPr>
            <a:r>
              <a:rPr sz="1500" b="0" i="0">
                <a:solidFill>
                  <a:srgbClr val="595959"/>
                </a:solidFill>
                <a:latin typeface="Arial"/>
              </a:rPr>
              <a:t>How do we get there? → a roadmap and investment plan, the deliverable your minister takes to cabinet. Sign-off: roadmap approved, budget committed.</a:t>
            </a:r>
          </a:p>
        </p:txBody>
      </p:sp>
      <p:sp>
        <p:nvSpPr>
          <p:cNvPr id="15" name="Rectangle 14"/>
          <p:cNvSpPr/>
          <p:nvPr/>
        </p:nvSpPr>
        <p:spPr>
          <a:xfrm>
            <a:off x="621792" y="528066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36752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21808"/>
            <a:ext cx="10527487" cy="941832"/>
          </a:xfrm>
          <a:prstGeom prst="rect">
            <a:avLst/>
          </a:prstGeom>
          <a:noFill/>
        </p:spPr>
        <p:txBody>
          <a:bodyPr wrap="square">
            <a:spAutoFit/>
          </a:bodyPr>
          <a:lstStyle/>
          <a:p>
            <a:pPr>
              <a:spcAft>
                <a:spcPts val="300"/>
              </a:spcAft>
            </a:pPr>
            <a:r>
              <a:rPr sz="1800" b="1" i="0">
                <a:solidFill>
                  <a:srgbClr val="1A1A1A"/>
                </a:solidFill>
                <a:latin typeface="Arial"/>
              </a:rPr>
              <a:t>Execute &amp; Govern · ongoing</a:t>
            </a:r>
          </a:p>
          <a:p>
            <a:pPr>
              <a:spcAft>
                <a:spcPts val="300"/>
              </a:spcAft>
            </a:pPr>
            <a:r>
              <a:rPr sz="1500" b="0" i="0">
                <a:solidFill>
                  <a:srgbClr val="595959"/>
                </a:solidFill>
                <a:latin typeface="Arial"/>
              </a:rPr>
              <a:t>How do we sustain this? → a living, governed EA, repository plus practice. Cadence: quarterly Board reviews.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Your minister reviews four times — not every diagram</a:t>
            </a:r>
          </a:p>
        </p:txBody>
      </p:sp>
      <p:sp>
        <p:nvSpPr>
          <p:cNvPr id="4" name="Rectangle 3"/>
          <p:cNvSpPr/>
          <p:nvPr/>
        </p:nvSpPr>
        <p:spPr>
          <a:xfrm>
            <a:off x="822960" y="251460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iamond 4"/>
          <p:cNvSpPr/>
          <p:nvPr/>
        </p:nvSpPr>
        <p:spPr>
          <a:xfrm>
            <a:off x="137160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picture is accurate</a:t>
            </a:r>
          </a:p>
          <a:p>
            <a:pPr algn="ctr">
              <a:spcAft>
                <a:spcPts val="300"/>
              </a:spcAft>
            </a:pPr>
            <a:r>
              <a:rPr sz="1200" b="0" i="0">
                <a:solidFill>
                  <a:srgbClr val="595959"/>
                </a:solidFill>
                <a:latin typeface="Arial"/>
              </a:rPr>
              <a:t>end of Discover</a:t>
            </a:r>
          </a:p>
        </p:txBody>
      </p:sp>
      <p:sp>
        <p:nvSpPr>
          <p:cNvPr id="7" name="Diamond 6"/>
          <p:cNvSpPr/>
          <p:nvPr/>
        </p:nvSpPr>
        <p:spPr>
          <a:xfrm>
            <a:off x="406908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The gap reflects ground truth</a:t>
            </a:r>
          </a:p>
          <a:p>
            <a:pPr algn="ctr">
              <a:spcAft>
                <a:spcPts val="300"/>
              </a:spcAft>
            </a:pPr>
            <a:r>
              <a:rPr sz="1200" b="0" i="0">
                <a:solidFill>
                  <a:srgbClr val="595959"/>
                </a:solidFill>
                <a:latin typeface="Arial"/>
              </a:rPr>
              <a:t>end of Assess</a:t>
            </a:r>
          </a:p>
        </p:txBody>
      </p:sp>
      <p:sp>
        <p:nvSpPr>
          <p:cNvPr id="9" name="Diamond 8"/>
          <p:cNvSpPr/>
          <p:nvPr/>
        </p:nvSpPr>
        <p:spPr>
          <a:xfrm>
            <a:off x="676656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Framework + sourcing approach</a:t>
            </a:r>
          </a:p>
          <a:p>
            <a:pPr algn="ctr">
              <a:spcAft>
                <a:spcPts val="300"/>
              </a:spcAft>
            </a:pPr>
            <a:r>
              <a:rPr sz="1200" b="0" i="0">
                <a:solidFill>
                  <a:srgbClr val="595959"/>
                </a:solidFill>
                <a:latin typeface="Arial"/>
              </a:rPr>
              <a:t>end of Adapt</a:t>
            </a:r>
          </a:p>
        </p:txBody>
      </p:sp>
      <p:sp>
        <p:nvSpPr>
          <p:cNvPr id="11" name="Diamond 10"/>
          <p:cNvSpPr/>
          <p:nvPr/>
        </p:nvSpPr>
        <p:spPr>
          <a:xfrm>
            <a:off x="9464040" y="2395728"/>
            <a:ext cx="256032" cy="256032"/>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880360"/>
            <a:ext cx="2377440" cy="1188720"/>
          </a:xfrm>
          <a:prstGeom prst="rect">
            <a:avLst/>
          </a:prstGeom>
          <a:noFill/>
        </p:spPr>
        <p:txBody>
          <a:bodyPr wrap="square">
            <a:spAutoFit/>
          </a:bodyPr>
          <a:lstStyle/>
          <a:p>
            <a:pPr algn="ctr">
              <a:spcAft>
                <a:spcPts val="300"/>
              </a:spcAft>
            </a:pPr>
            <a:r>
              <a:rPr sz="1400" b="1" i="0">
                <a:solidFill>
                  <a:srgbClr val="1A1A1A"/>
                </a:solidFill>
                <a:latin typeface="Arial"/>
              </a:rPr>
              <a:t>Roadmap approved, budget committed</a:t>
            </a:r>
          </a:p>
          <a:p>
            <a:pPr algn="ctr">
              <a:spcAft>
                <a:spcPts val="300"/>
              </a:spcAft>
            </a:pPr>
            <a:r>
              <a:rPr sz="1200" b="0" i="0">
                <a:solidFill>
                  <a:srgbClr val="595959"/>
                </a:solidFill>
                <a:latin typeface="Arial"/>
              </a:rPr>
              <a:t>end of Plan</a:t>
            </a:r>
          </a:p>
        </p:txBody>
      </p:sp>
      <p:sp>
        <p:nvSpPr>
          <p:cNvPr id="13" name="TextBox 12"/>
          <p:cNvSpPr txBox="1"/>
          <p:nvPr/>
        </p:nvSpPr>
        <p:spPr>
          <a:xfrm>
            <a:off x="822960" y="4251960"/>
            <a:ext cx="10515600" cy="1051560"/>
          </a:xfrm>
          <a:prstGeom prst="rect">
            <a:avLst/>
          </a:prstGeom>
          <a:noFill/>
        </p:spPr>
        <p:txBody>
          <a:bodyPr wrap="square">
            <a:spAutoFit/>
          </a:bodyPr>
          <a:lstStyle/>
          <a:p>
            <a:pPr>
              <a:spcAft>
                <a:spcPts val="600"/>
              </a:spcAft>
            </a:pPr>
            <a:r>
              <a:rPr sz="1800" b="0" i="0">
                <a:solidFill>
                  <a:srgbClr val="1A1A1A"/>
                </a:solidFill>
                <a:latin typeface="Arial"/>
              </a:rPr>
              <a:t>Between sign-offs, the architects work.</a:t>
            </a:r>
          </a:p>
          <a:p>
            <a:pPr>
              <a:spcAft>
                <a:spcPts val="600"/>
              </a:spcAft>
            </a:pPr>
            <a:r>
              <a:rPr sz="1600" b="0" i="0">
                <a:solidFill>
                  <a:srgbClr val="595959"/>
                </a:solidFill>
                <a:latin typeface="Arial"/>
              </a:rPr>
              <a:t>The minister’s job in between is to remove obstacles — the political ones, mostly. The technical ones are why the architects were hired.</a:t>
            </a:r>
          </a:p>
        </p:txBody>
      </p:sp>
      <p:sp>
        <p:nvSpPr>
          <p:cNvPr id="14" name="Rounded Rectangle 13"/>
          <p:cNvSpPr/>
          <p:nvPr/>
        </p:nvSpPr>
        <p:spPr>
          <a:xfrm>
            <a:off x="822960" y="5440680"/>
            <a:ext cx="10515600" cy="6858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586984"/>
            <a:ext cx="10058400" cy="411480"/>
          </a:xfrm>
          <a:prstGeom prst="rect">
            <a:avLst/>
          </a:prstGeom>
          <a:noFill/>
        </p:spPr>
        <p:txBody>
          <a:bodyPr wrap="square">
            <a:spAutoFit/>
          </a:bodyPr>
          <a:lstStyle/>
          <a:p>
            <a:pPr>
              <a:spcAft>
                <a:spcPts val="700"/>
              </a:spcAft>
            </a:pPr>
            <a:r>
              <a:rPr sz="1500" b="1" i="0">
                <a:solidFill>
                  <a:srgbClr val="006E96"/>
                </a:solidFill>
                <a:latin typeface="Arial"/>
              </a:rPr>
              <a:t>Discover before you measure. Measure before you adapt. Adapt before you plan. Plan before you execute. Govern always.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Week 1 to week 26 — then forever</a:t>
            </a:r>
          </a:p>
        </p:txBody>
      </p:sp>
      <p:sp>
        <p:nvSpPr>
          <p:cNvPr id="4" name="Rectangle 3"/>
          <p:cNvSpPr/>
          <p:nvPr/>
        </p:nvSpPr>
        <p:spPr>
          <a:xfrm>
            <a:off x="822960" y="2788920"/>
            <a:ext cx="10515600" cy="3175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2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783080"/>
            <a:ext cx="2286000" cy="548640"/>
          </a:xfrm>
          <a:prstGeom prst="rect">
            <a:avLst/>
          </a:prstGeom>
          <a:noFill/>
        </p:spPr>
        <p:txBody>
          <a:bodyPr wrap="square">
            <a:spAutoFit/>
          </a:bodyPr>
          <a:lstStyle/>
          <a:p>
            <a:pPr algn="ctr"/>
            <a:r>
              <a:rPr sz="1800" b="1" i="0">
                <a:solidFill>
                  <a:srgbClr val="1A1A1A"/>
                </a:solidFill>
                <a:latin typeface="Arial"/>
              </a:rPr>
              <a:t>Week 1</a:t>
            </a:r>
          </a:p>
        </p:txBody>
      </p:sp>
      <p:sp>
        <p:nvSpPr>
          <p:cNvPr id="7" name="TextBox 6"/>
          <p:cNvSpPr txBox="1"/>
          <p:nvPr/>
        </p:nvSpPr>
        <p:spPr>
          <a:xfrm>
            <a:off x="45720" y="3246120"/>
            <a:ext cx="2743200" cy="914400"/>
          </a:xfrm>
          <a:prstGeom prst="rect">
            <a:avLst/>
          </a:prstGeom>
          <a:noFill/>
        </p:spPr>
        <p:txBody>
          <a:bodyPr wrap="square">
            <a:spAutoFit/>
          </a:bodyPr>
          <a:lstStyle/>
          <a:p>
            <a:pPr algn="ctr"/>
            <a:r>
              <a:rPr sz="1400" b="0" i="0">
                <a:solidFill>
                  <a:srgbClr val="595959"/>
                </a:solidFill>
                <a:latin typeface="Arial"/>
              </a:rPr>
              <a:t>Discovery begins</a:t>
            </a:r>
          </a:p>
        </p:txBody>
      </p:sp>
      <p:sp>
        <p:nvSpPr>
          <p:cNvPr id="8" name="Oval 7"/>
          <p:cNvSpPr/>
          <p:nvPr/>
        </p:nvSpPr>
        <p:spPr>
          <a:xfrm>
            <a:off x="548640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83080"/>
            <a:ext cx="2286000" cy="548640"/>
          </a:xfrm>
          <a:prstGeom prst="rect">
            <a:avLst/>
          </a:prstGeom>
          <a:noFill/>
        </p:spPr>
        <p:txBody>
          <a:bodyPr wrap="square">
            <a:spAutoFit/>
          </a:bodyPr>
          <a:lstStyle/>
          <a:p>
            <a:pPr algn="ctr"/>
            <a:r>
              <a:rPr sz="1800" b="1" i="0">
                <a:solidFill>
                  <a:srgbClr val="1A1A1A"/>
                </a:solidFill>
                <a:latin typeface="Arial"/>
              </a:rPr>
              <a:t>Week 26</a:t>
            </a:r>
          </a:p>
        </p:txBody>
      </p:sp>
      <p:sp>
        <p:nvSpPr>
          <p:cNvPr id="10" name="TextBox 9"/>
          <p:cNvSpPr txBox="1"/>
          <p:nvPr/>
        </p:nvSpPr>
        <p:spPr>
          <a:xfrm>
            <a:off x="4343400" y="3246120"/>
            <a:ext cx="2743200" cy="914400"/>
          </a:xfrm>
          <a:prstGeom prst="rect">
            <a:avLst/>
          </a:prstGeom>
          <a:noFill/>
        </p:spPr>
        <p:txBody>
          <a:bodyPr wrap="square">
            <a:spAutoFit/>
          </a:bodyPr>
          <a:lstStyle/>
          <a:p>
            <a:pPr algn="ctr"/>
            <a:r>
              <a:rPr sz="1400" b="0" i="0">
                <a:solidFill>
                  <a:srgbClr val="595959"/>
                </a:solidFill>
                <a:latin typeface="Arial"/>
              </a:rPr>
              <a:t>Approved roadmap — to cabinet</a:t>
            </a:r>
          </a:p>
        </p:txBody>
      </p:sp>
      <p:sp>
        <p:nvSpPr>
          <p:cNvPr id="11" name="Oval 10"/>
          <p:cNvSpPr/>
          <p:nvPr/>
        </p:nvSpPr>
        <p:spPr>
          <a:xfrm>
            <a:off x="9692640" y="2624328"/>
            <a:ext cx="365760" cy="36576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0" y="1783080"/>
            <a:ext cx="2286000" cy="548640"/>
          </a:xfrm>
          <a:prstGeom prst="rect">
            <a:avLst/>
          </a:prstGeom>
          <a:noFill/>
        </p:spPr>
        <p:txBody>
          <a:bodyPr wrap="square">
            <a:spAutoFit/>
          </a:bodyPr>
          <a:lstStyle/>
          <a:p>
            <a:pPr algn="ctr"/>
            <a:r>
              <a:rPr sz="1800" b="1" i="0">
                <a:solidFill>
                  <a:srgbClr val="1A1A1A"/>
                </a:solidFill>
                <a:latin typeface="Arial"/>
              </a:rPr>
              <a:t>Ongoing</a:t>
            </a:r>
          </a:p>
        </p:txBody>
      </p:sp>
      <p:sp>
        <p:nvSpPr>
          <p:cNvPr id="13" name="TextBox 12"/>
          <p:cNvSpPr txBox="1"/>
          <p:nvPr/>
        </p:nvSpPr>
        <p:spPr>
          <a:xfrm>
            <a:off x="8549640" y="3246120"/>
            <a:ext cx="2743200" cy="914400"/>
          </a:xfrm>
          <a:prstGeom prst="rect">
            <a:avLst/>
          </a:prstGeom>
          <a:noFill/>
        </p:spPr>
        <p:txBody>
          <a:bodyPr wrap="square">
            <a:spAutoFit/>
          </a:bodyPr>
          <a:lstStyle/>
          <a:p>
            <a:pPr algn="ctr"/>
            <a:r>
              <a:rPr sz="1400" b="0" i="0">
                <a:solidFill>
                  <a:srgbClr val="595959"/>
                </a:solidFill>
                <a:latin typeface="Arial"/>
              </a:rPr>
              <a:t>Governed EA — permanent practice</a:t>
            </a:r>
          </a:p>
        </p:txBody>
      </p:sp>
      <p:sp>
        <p:nvSpPr>
          <p:cNvPr id="14" name="TextBox 13"/>
          <p:cNvSpPr txBox="1"/>
          <p:nvPr/>
        </p:nvSpPr>
        <p:spPr>
          <a:xfrm>
            <a:off x="822960" y="4023360"/>
            <a:ext cx="10515600" cy="594360"/>
          </a:xfrm>
          <a:prstGeom prst="rect">
            <a:avLst/>
          </a:prstGeom>
          <a:noFill/>
        </p:spPr>
        <p:txBody>
          <a:bodyPr wrap="square">
            <a:spAutoFit/>
          </a:bodyPr>
          <a:lstStyle/>
          <a:p>
            <a:r>
              <a:rPr sz="1700" b="0" i="0">
                <a:solidFill>
                  <a:srgbClr val="1A1A1A"/>
                </a:solidFill>
                <a:latin typeface="Arial"/>
              </a:rPr>
              <a:t>“Months, not years” is not a slogan. It is the consequence of five phases, each with a clear question, a clear deliverable, and a clear sign-off.</a:t>
            </a:r>
          </a:p>
        </p:txBody>
      </p:sp>
      <p:sp>
        <p:nvSpPr>
          <p:cNvPr id="15" name="Rounded Rectangle 1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phase-by-phase RACI for your country's EA programme.</a:t>
            </a:r>
          </a:p>
          <a:p>
            <a:pPr algn="l">
              <a:spcAft>
                <a:spcPts val="400"/>
              </a:spcAft>
            </a:pPr>
            <a:r>
              <a:rPr sz="1800" b="0" i="0">
                <a:solidFill>
                  <a:srgbClr val="595959"/>
                </a:solidFill>
                <a:latin typeface="Arial"/>
              </a:rPr>
              <a:t>The prompt in the companion material gives you a per-phase RACI matrix plus a list of role gaps to resolve. Before the next video.</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The lifecycle on one page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Your minister is convinced. Now the harder part.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Four specific things the minister must commit to.</a:t>
            </a:r>
          </a:p>
          <a:p>
            <a:pPr>
              <a:spcAft>
                <a:spcPts val="800"/>
              </a:spcAft>
            </a:pPr>
            <a:r>
              <a:rPr sz="1700" b="0" i="0">
                <a:solidFill>
                  <a:srgbClr val="595959"/>
                </a:solidFill>
                <a:latin typeface="Arial"/>
              </a:rPr>
              <a:t>Each one is necessary — without any one of them the EA programme will struggle.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governments have committed to this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Rwanda — small country, strong centre</a:t>
            </a:r>
          </a:p>
          <a:p>
            <a:pPr>
              <a:spcAft>
                <a:spcPts val="300"/>
              </a:spcAft>
            </a:pPr>
            <a:r>
              <a:rPr sz="1500" b="0" i="0">
                <a:solidFill>
                  <a:srgbClr val="595959"/>
                </a:solidFill>
                <a:latin typeface="Arial"/>
              </a:rPr>
              <a:t>Irembo as the one citizen-services platform; a national ID linked across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Kenya — one-stop centres and a unifying identity programme</a:t>
            </a:r>
          </a:p>
          <a:p>
            <a:pPr>
              <a:spcAft>
                <a:spcPts val="300"/>
              </a:spcAft>
            </a:pPr>
            <a:r>
              <a:rPr sz="1500" b="0" i="0">
                <a:solidFill>
                  <a:srgbClr val="595959"/>
                </a:solidFill>
                <a:latin typeface="Arial"/>
              </a:rPr>
              <a:t>Huduma Centres and Huduma Namba. Results mixed and openly debated — which is what makes the obstacles useful to you.</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South Africa — federal</a:t>
            </a:r>
          </a:p>
          <a:p>
            <a:pPr>
              <a:spcAft>
                <a:spcPts val="300"/>
              </a:spcAft>
            </a:pPr>
            <a:r>
              <a:rPr sz="1500" b="0" i="0">
                <a:solidFill>
                  <a:srgbClr val="595959"/>
                </a:solidFill>
                <a:latin typeface="Arial"/>
              </a:rPr>
              <a:t>Coordinated through SITA and shared standards that agencies adopt, not a single architecture imposed from the top.</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Estonia — mature</a:t>
            </a:r>
          </a:p>
          <a:p>
            <a:pPr>
              <a:spcAft>
                <a:spcPts val="300"/>
              </a:spcAft>
            </a:pPr>
            <a:r>
              <a:rPr sz="1500" b="0" i="0">
                <a:solidFill>
                  <a:srgbClr val="595959"/>
                </a:solidFill>
                <a:latin typeface="Arial"/>
              </a:rPr>
              <a:t>Distributed registries on X-Road, the once-only principle, almost every service online. A polestar, not a template.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all four</a:t>
            </a:r>
          </a:p>
        </p:txBody>
      </p:sp>
      <p:sp>
        <p:nvSpPr>
          <p:cNvPr id="4" name="TextBox 3"/>
          <p:cNvSpPr txBox="1"/>
          <p:nvPr/>
        </p:nvSpPr>
        <p:spPr>
          <a:xfrm>
            <a:off x="658368" y="1417320"/>
            <a:ext cx="10984687" cy="1051560"/>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00" b="0" i="0">
                <a:solidFill>
                  <a:srgbClr val="595959"/>
                </a:solidFill>
                <a:latin typeface="Arial"/>
              </a:rPr>
              <a:t>Ask 1 — the small permanent EA team. Rwanda coordinates centrally; South Africa does it through SITA.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51560"/>
          </a:xfrm>
          <a:prstGeom prst="rect">
            <a:avLst/>
          </a:prstGeom>
          <a:noFill/>
        </p:spPr>
        <p:txBody>
          <a:bodyPr wrap="square">
            <a:spAutoFit/>
          </a:bodyPr>
          <a:lstStyle/>
          <a:p>
            <a:pPr>
              <a:spcAft>
                <a:spcPts val="300"/>
              </a:spcAft>
            </a:pPr>
            <a:r>
              <a:rPr sz="1900" b="1" i="0">
                <a:solidFill>
                  <a:srgbClr val="1A1A1A"/>
                </a:solidFill>
                <a:latin typeface="Arial"/>
              </a:rPr>
              <a:t>Binding governance, not advisory</a:t>
            </a:r>
          </a:p>
          <a:p>
            <a:pPr>
              <a:spcAft>
                <a:spcPts val="300"/>
              </a:spcAft>
            </a:pPr>
            <a:r>
              <a:rPr sz="1500" b="0" i="0">
                <a:solidFill>
                  <a:srgbClr val="595959"/>
                </a:solidFill>
                <a:latin typeface="Arial"/>
              </a:rPr>
              <a:t>Ask 2 — an EA Board whose decisions hold. Where authority cannot be imposed, it is agreed and then binding.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80"/>
            <a:ext cx="10984687" cy="1051560"/>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00" b="0" i="0">
                <a:solidFill>
                  <a:srgbClr val="595959"/>
                </a:solidFill>
                <a:latin typeface="Arial"/>
              </a:rPr>
              <a:t>Ask 3 — the sustained envelope. A framework stays adopted only while someone is funded to maintain it.</a:t>
            </a:r>
          </a:p>
        </p:txBody>
      </p:sp>
      <p:sp>
        <p:nvSpPr>
          <p:cNvPr id="9" name="Rectangle 8"/>
          <p:cNvSpPr/>
          <p:nvPr/>
        </p:nvSpPr>
        <p:spPr>
          <a:xfrm>
            <a:off x="621792" y="4668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709159"/>
            <a:ext cx="10984687" cy="1051560"/>
          </a:xfrm>
          <a:prstGeom prst="rect">
            <a:avLst/>
          </a:prstGeom>
          <a:noFill/>
        </p:spPr>
        <p:txBody>
          <a:bodyPr wrap="square">
            <a:spAutoFit/>
          </a:bodyPr>
          <a:lstStyle/>
          <a:p>
            <a:pPr>
              <a:spcAft>
                <a:spcPts val="300"/>
              </a:spcAft>
            </a:pPr>
            <a:r>
              <a:rPr sz="1900" b="1" i="0">
                <a:solidFill>
                  <a:srgbClr val="1A1A1A"/>
                </a:solidFill>
                <a:latin typeface="Arial"/>
              </a:rPr>
              <a:t>A multi-year horizon, results visible in months</a:t>
            </a:r>
          </a:p>
          <a:p>
            <a:pPr>
              <a:spcAft>
                <a:spcPts val="300"/>
              </a:spcAft>
            </a:pPr>
            <a:r>
              <a:rPr sz="1500" b="0" i="0">
                <a:solidFill>
                  <a:srgbClr val="595959"/>
                </a:solidFill>
                <a:latin typeface="Arial"/>
              </a:rPr>
              <a:t>Ask 4 — the promise. Estonia took two decades; Rwanda showed results inside months. Both protected the team.</a:t>
            </a:r>
          </a:p>
        </p:txBody>
      </p:sp>
      <p:sp>
        <p:nvSpPr>
          <p:cNvPr id="11" name="TextBox 10"/>
          <p:cNvSpPr txBox="1"/>
          <p:nvPr/>
        </p:nvSpPr>
        <p:spPr>
          <a:xfrm>
            <a:off x="658368" y="5852160"/>
            <a:ext cx="10881360" cy="457200"/>
          </a:xfrm>
          <a:prstGeom prst="rect">
            <a:avLst/>
          </a:prstGeom>
          <a:noFill/>
        </p:spPr>
        <p:txBody>
          <a:bodyPr wrap="square">
            <a:spAutoFit/>
          </a:bodyPr>
          <a:lstStyle/>
          <a:p>
            <a:r>
              <a:rPr sz="1450" b="0" i="0">
                <a:solidFill>
                  <a:srgbClr val="595959"/>
                </a:solidFill>
                <a:latin typeface="Arial"/>
              </a:rPr>
              <a:t>Different sizes, different constitutions — the same four elements, which are the four asks in four real governments.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Terms of Reference for your EA Governance Board.</a:t>
            </a:r>
          </a:p>
          <a:p>
            <a:pPr algn="l">
              <a:spcAft>
                <a:spcPts val="400"/>
              </a:spcAft>
            </a:pPr>
            <a:r>
              <a:rPr sz="1800" b="0" i="0">
                <a:solidFill>
                  <a:srgbClr val="595959"/>
                </a:solidFill>
                <a:latin typeface="Arial"/>
              </a:rPr>
              <a:t>The prompt in the companion material gives you a structured ToR document.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Kenya — Huduma Kenya (huduma.go.ke)</a:t>
            </a:r>
          </a:p>
          <a:p>
            <a:pPr>
              <a:spcAft>
                <a:spcPts val="1200"/>
              </a:spcAft>
            </a:pPr>
            <a:r>
              <a:rPr sz="1700" b="0" i="0">
                <a:solidFill>
                  <a:srgbClr val="1A1A1A"/>
                </a:solidFill>
                <a:latin typeface="Arial"/>
              </a:rPr>
              <a:t>•  South Africa — SITA (sita.co.za); Estonia — e-Estonia.com, RIA (ria.ee)</a:t>
            </a:r>
          </a:p>
          <a:p>
            <a:pPr>
              <a:spcAft>
                <a:spcPts val="1200"/>
              </a:spcAft>
            </a:pPr>
            <a:r>
              <a:rPr sz="1700" b="0" i="0">
                <a:solidFill>
                  <a:srgbClr val="1A1A1A"/>
                </a:solidFill>
                <a:latin typeface="Arial"/>
              </a:rPr>
              <a:t>•  PAERA v1.0 — §4.2.1 Management;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