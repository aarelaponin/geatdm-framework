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Reference architectures answer the questions projects do not. Other countries have built these systems for decades. They learned what survives technology change and what does not. They learned which architectural decisions still hold up after twenty years and which decisions cost them dearly. A reference architecture is that learning, written down. PAERA is one such reference. Adopting it means starting with their lessons, instead of paying for the same lessons yourself over the next twenty years.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are two more things projects do not deliver. The first is sustainability. A project ships on time and moves on. Twelve years later, the original vendor is gone. The open-source library has forked. The technology has moved on. The system you are still running has nobody who fully understands it. Projects are not incentivised to plan for that moment — they are incentivised to ship.</a:t>
            </a:r>
          </a:p>
          <a:p/>
          <a:p>
            <a:r>
              <a:t>VO: The second is complexity reduction. A project says yes to most feature requests, because feature requests come from people the project must please. Five years later, your system is too complex to maintain or to change. Each yes has accumulated. Saying no requires authority the project does not have.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have probably seen this pattern. One programme builds a system to register citizens. Another builds another, for a different service. A third builds a third. Each takes years, funded separately. And your citizen still fills the same form five times, at five different counters.</a:t>
            </a:r>
          </a:p>
          <a:p/>
          <a:p>
            <a:r>
              <a:t>VO: You cannot fix this inside any one programme. Each programme is doing exactly what it was funded to 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cumulative.</a:t>
            </a:r>
          </a:p>
          <a:p/>
          <a:p>
            <a:r>
              <a:t>RETRIEVAL MOMENT (before revealing row 1): ask the viewer — how many separate registers of the same citizens does your government keep? Hold two seconds, then reveal.</a:t>
            </a:r>
          </a:p>
          <a:p/>
          <a:p>
            <a:r>
              <a:t>VO: There are four signs that this pattern is happening in your government.</a:t>
            </a:r>
          </a:p>
          <a:p/>
          <a:p>
            <a:r>
              <a:t>VO: Sign one. Your ministry has more than one register of the same people. The school list has one. The national ID register has another. The social register has a third. Each has its own list. None of them agree.</a:t>
            </a:r>
          </a:p>
          <a:p/>
          <a:p>
            <a:r>
              <a:t>VO: Sign two. Every time two systems need to share data, you build a new connection from zero. Last year your team connected the tax office to the business register. This year you are doing the same work for the health ministry. The connection is built again, from scratch.</a:t>
            </a:r>
          </a:p>
          <a:p/>
          <a:p>
            <a:r>
              <a:t>VO: Sign three. A vendor built one of your systems ten years ago. To change anything in it, you must call that vendor and pay what they ask. Nobody else knows how it works. The vendor knows this, and prices accordingly.</a:t>
            </a:r>
          </a:p>
          <a:p/>
          <a:p>
            <a:r>
              <a:t>VO: Sign four. Each ministry has its own digital systems, and they do not connect across ministries. The citizen who gave her ID number to the health ministry must give it again, on paper, when she enrols her child in school. The pledge to ask each citizen for information only once exists on paper. In practice, it is impossible.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cost of this pattern runs in four directions at once. You pay more, because you build the same things many times. The country moves more slowly, because every new programme waits for cross-system work that nobody planned for. Your citizens carry the burden, because they fill the same form in five places. And your minister cannot deliver a flagship cross-ministry programme, because the systems will not talk to each other.</a:t>
            </a:r>
          </a:p>
          <a:p/>
          <a:p>
            <a:r>
              <a:t>The minister cell is the one to land hardest with a Strategist audience — it is highlighted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All four signs come from one root cause. There is no shared plan. No one has written down what your government's digital systems are, who owns them, and how they should fit together. That shared plan is what a national Enterprise Architecture provides. The rest of this knowledge product shows you how to commission one, what it will deliver, and what you will need from your minister to make it work.</a:t>
            </a:r>
          </a:p>
          <a:p/>
          <a:p>
            <a:r>
              <a:t>This is the most important slide of video 1.1 —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Enterprise Architecture is a set of documents and diagrams. Together, they describe how your government works. What services it delivers, and to whom. What data it holds, and who owns it. What software supports those services. What infrastructure runs underneath.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bundle folds this comparison onto the video's opening slide; in the deck it keeps its own slide, because the section slide is the standalone video's title card.</a:t>
            </a:r>
          </a:p>
          <a:p/>
          <a:p>
            <a:r>
              <a:t>VO: An EA is not software. It is not a vendor product. It is not a tool you buy. It is the agreed picture.</a:t>
            </a:r>
          </a:p>
          <a:p/>
          <a:p>
            <a:r>
              <a:t>VO: Why does it matter that everyone has the same picture? Because every important conversation in your ministry breaks down on this point.</a:t>
            </a:r>
          </a:p>
          <a:p/>
          <a:p>
            <a:r>
              <a:t>This slide is the Strategist's first line of defence against vendor pitches — when a vendor says 'our product gives you an EA', this is the slide that says no,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minister uses the picture to brief cabinet. They cannot describe what the country's digital spend is buying if there is no agreed picture of what your government's systems are. The donor uses the picture before they fund the next programme. They want to see how their investment fits with the others. The vendor uses the picture when they propose a system. They must match what is already there. And you, the middle manager, use the picture to keep all three aligned — so the donor funds what the country needs, the vendor builds what fits, and the minister tells a coherent story.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build top to bottom, cumulative. Order is deliberate — BDAT with data before applications, reflecting data-first architecture.</a:t>
            </a:r>
          </a:p>
          <a:p/>
          <a:p>
            <a:r>
              <a:t>VO: Every EA looks at your government in four parts. Services — what your government does, and for whom. This is the layer your minister talks about most, because it is the layer the public sees. Data — the information your government holds, who owns it, where the authoritative copy lives. Data is the longest-lived part of any government. Applications come and go. Technology cycles every decade. Data outlasts them all. Applications — the software that uses that data to deliver those services. This is what gets bought, built, integrated, replaced. Technology — the infrastructure underneath. Networks, hosting, identity, security. The basics that must be running for anything else to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write down all four parts, your government's digital landscape stops being a list of unrelated projects. It starts looking like a system. A system you can change deliberately. A system you can plan investments against. A system you can talk about across ministries, with donors and with vendors, without re-explaining the basics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what an Enterprise Architecture is. Not software. Not a tool. The agreed picture of your government — and the tool that lets you, instead of the vendor or the donor, lead the conversation about what comes next.</a:t>
            </a:r>
          </a:p>
          <a:p/>
          <a:p>
            <a:r>
              <a:t>Screenshot-ready summary; Strategists reuse this line in their own briefings.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may be thinking: my country already requires this. Every new digital project must specify open APIs; every contract must require interoperability. So why does the citizen still fill the same form five times? Procurement rules can require behaviour. They cannot make it the cheapest choice.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any new programme, the team is rational. They have a contract, a budget, a deadline. Re-using another ministry's identity system means learning that system, negotiating with that ministry's team, accepting their delays. Building your own version is faster. So the team builds their own. That is not a failure of discipline. That is the project doing exactly what it was funded to do.</a:t>
            </a:r>
          </a:p>
          <a:p/>
          <a:p>
            <a:r>
              <a:t>Tone: the math, not the morality — no blame on project teams.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Re-use becomes rational only when you can see across the whole government. From that view, the math changes. The first ministry pays to build the identity system. The second ministry does not — it consumes the first one. The third does not. The fourth does not. Over five years, the country saves a meaningful share of its sectoral digital spend.</a:t>
            </a:r>
          </a:p>
          <a:p/>
          <a:p>
            <a:r>
              <a:t>VO: But this view does not exist inside any single project. It exists only at the level of your country's whole digital portfolio. That is the view an EA gives you, and it is the view your minister needs to make funding decisions that look different from project-level cost choices.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1 deck. Each subtopic section that follows is one standalone ~4-5 minute video. The right panel previews the module's centrepiece: the five-phase, four-sign-off lifecycle taught in video 1.6.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themselves ship standalone on YouTube. Videos 1.1-1.4 make the case for an EA, 1.5-1.6 make the case for PAERA and show the method, 1.7 turns conviction into the four commitments — and closes on the four governments that made them.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make the case for an EA, the case is this. The four-part picture is the artefact. Planning is the function. Re-use, sustainability and complexity reduction — three things every digital ministry says it wants — none of these come from projects alone. All of them come from the planning view that an EA gives, and from the reference architectures that EA practice connects you to. That is why projects cannot fix this themselves. That is why an EA is work your minister must commission, separately, deliberately, with sustained funding.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a long time, digital transformation in government meant one thing: take a paper process and put it online. The form becomes a web form, the queue an online appointment, the certificate a PDF. The ministry still does the same work — only the medium changes.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work is still important. But it is no longer the most important work your ministry is being asked to do. The countries — and the ministries — that are delivering real citizen results today are not just digitising forms. They are redesigning how citizens are served.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at what the new work actually looks like. One farmer registry, used by the agriculture ministry, the cooperative bank, the input subsidy programme and the climate-resilience programme — the same farmer, recognised the same way, by all of them. One national identity that lets a citizen prove who they are at any service, without paper. One learner record that follows the child from primary school to university. None of these is 'put it online.' Each of them is a redesign of how the ministry works.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 new work comes with a new problem. When you redesign how the ministry works, two groups must decide together. The business side: your minister, your director-general, your head of policy. The IT side: your architects, your engineers. In the old work, they did not need to talk much. Business decided what; IT delivered how. In the new work, they decide together. About the same questions. With the same level of seriousness.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they do not share a language. Your minister talks about citizen services and policy goals. Your chief architect talks about systems, APIs and data. They sit in the same meeting and miss each other. The decision does not get made well — or it does not get made at all. And the ministry stays in the old work, even though the new work is what is needed.</a:t>
            </a:r>
          </a:p>
          <a:p/>
          <a:p>
            <a:r>
              <a:t>This is the Strategist's recognition moment — they have lived this meeting.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second job an Enterprise Architecture does. It gives both sides a shared language for the new work. The agreed picture — something both sides can point at. Plain words for the basic terms — service, capability, data domain — that mean the same thing to both sides. And a regular forum — the EA Board — where they sit together and decide. With these in place, the conversation about redesigning how the ministry works finally happens. Without them,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In the era of digitising paper, an EA was useful. In the era of redesigning how the ministry works, an EA is necessary — because without it, business and IT cannot have the conversation the redesign requires.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Enterprise Architecture is the agreed picture of your government. Which framework do you use to draw it? You have two paths — design one for your country from scratch, or anchor on one that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 length is the visual: the long grey bar is the time you spend before architecture work starts; the short blue bar is PAERA. Do not label the top bar pejoratively — the lengths do the work.</a:t>
            </a:r>
          </a:p>
          <a:p/>
          <a:p>
            <a:r>
              <a:t>VO: The first path: hire consultants to design an EA framework specifically for your country — new terms, new principles, a new method. Twelve to eighteen months before any architect has drawn a single picture of any ministry. You have paid for groundwork, not for architecture. The second path: anchor on a framework that already exists, built for the public-sector use case, with the groundwork done, so your team starts on day one. PAERA is that framework — the Public Administration Ecosystem Reference Architecture, published in 2024 under GovStack.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This is the substantive payload of video 1.5.</a:t>
            </a:r>
          </a:p>
          <a:p/>
          <a:p>
            <a:r>
              <a:t>VO: Five things PAERA gives your team on day one. Five things you do not pay to invent.</a:t>
            </a:r>
          </a:p>
          <a:p/>
          <a:p>
            <a:r>
              <a:t>VO: First, a way to organise ministries and authorities. Every government body in your country fits one of three types — a policy unit, a regulatory agency, a service-delivery authority — with a small set of supporting elements like state registries. Your architects do not spend three months arguing about which type each ministry is. The classification is published.</a:t>
            </a:r>
          </a:p>
          <a:p/>
          <a:p>
            <a:r>
              <a:t>VO: Second, plain words for the basic terms. Capability. Service. Application. Data domain. Each one defined, in plain language. Day one, your architects are using the vocabulary, not designing it.</a:t>
            </a:r>
          </a:p>
          <a:p/>
          <a:p>
            <a:r>
              <a:t>VO: Third, a library of common building blocks. Identity. Payments. Information sharing. Registries. Each one is a published specification with working examples. When your team needs to design a national identity system, they reach for the pattern. They do not invent it from scratch.</a:t>
            </a:r>
          </a:p>
          <a:p/>
          <a:p>
            <a:r>
              <a:t>VO: Fourth, a set of architectural principles. Ten of them — from rule of law, through security and privacy, to user-centred design. Already debated across many countries. You extend them for your country's context. You do not draft them.</a:t>
            </a:r>
          </a:p>
          <a:p/>
          <a:p>
            <a:r>
              <a:t>VO: Fifth, a way to run the work. The lifecycle — Discover, Assess, Adapt, Plan, Execute and Govern — already exists, with roles, decisions and sign-off points defined per phase. We walk it in the next video.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works across sectors. The same framework applies to education, to health, to social protection, to agriculture. Once your country builds the EA muscle for one sector, every next sector reuses the same investment. The framework does not get re-bought, re-trained, re-customised. The second sector is cheaper than the first. The third is cheaper still.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factual, not promotional — these are real assets a country gets access to, not buzzwords.</a:t>
            </a:r>
          </a:p>
          <a:p/>
          <a:p>
            <a:r>
              <a:t>VO: PAERA is not a standalone document. It connects to a working network — building block specifications, a marketplace of vendor-built implementations that have been checked for compliance, a certification programme, a sandbox you can test in, a shared knowledge base. Adopting PAERA means joining a network of countries and partners actively building these resources together.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PAERA is not a vendor choice. It is the choice to start with the work other countries have already done — so your team spends their time on what is specific to your country.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you take one picture away from this knowledge product, take this one: the EA lifecycle on a single page.</a:t>
            </a:r>
          </a:p>
          <a:p/>
          <a:p>
            <a:r>
              <a:t>RETRIEVAL MOMENT: before showing the phase table, ask the viewer to guess — from a standing start, how long until a roadmap your minister can take to cabinet? Answer comes on the timeline: six months.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Five phases, four sign-offs. The first four take about six months; the fifth is ongoing — your country's permanent way of working.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cumulative — the whole lifecycle stays visible while each phase is narrated. In v0.1 of the deck each phase had its own slide; the v0.3 script collapses them onto this one page.</a:t>
            </a:r>
          </a:p>
          <a:p/>
          <a:p>
            <a:r>
              <a:t>VO: Phase one, Discover. What exists today? Your architects map the current landscape — the strategies in force, the systems, the sector plans, the legal framework — and produce a Discovery brief with no recommendations yet. Sign-off: the picture is accurate enough to build on. Three to four weeks.</a:t>
            </a:r>
          </a:p>
          <a:p/>
          <a:p>
            <a:r>
              <a:t>VO: Phase two, Assess. What is the gap? Architects compare what they found against PAERA-anchored standards, write the current state in the four parts of an EA, score maturity, and write the gap analysis. Sign-off: it names the right problems in the right order. Six to eight weeks.</a:t>
            </a:r>
          </a:p>
          <a:p/>
          <a:p>
            <a:r>
              <a:t>VO: Phase three, Adapt. What fits our country? PAERA is a starting point, not a constraint, so architects shape it with sector CIOs and your EA Board — your principles, your sector priorities, and for each building block a build, buy, share or sandbox call. Four to six weeks.</a:t>
            </a:r>
          </a:p>
          <a:p/>
          <a:p>
            <a:r>
              <a:t>VO: Phase four, Plan. How do we get there? Architects describe the target state and sequence the work into a roadmap with investment estimates. Sign-off: roadmap approved, budget committed. This is the deliverable your minister takes to cabinet. Six to eight weeks.</a:t>
            </a:r>
          </a:p>
          <a:p/>
          <a:p>
            <a:r>
              <a:t>VO: Phase five, Execute and Govern. How do we sustain this? The approved roadmap becomes a project pipeline, and a small permanent team of two to four senior architects turns the EA from a one-time delivery into a living repository. The Board reviews new projects against the architecture. Quarterly, indefinitely.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dependency rule had its own slide in v0.2; the v0.3 script folds it into the sign-off rhythm.</a:t>
            </a:r>
          </a:p>
          <a:p/>
          <a:p>
            <a:r>
              <a:t>VO: Notice the rhythm. Four sign-offs in six months. Your minister does not review every diagram; they review at four moments, each tied to a defined deliverable. Between sign-offs the architects work, and the minister's job is to remove the political obstacles. And the phases depend on each other, in order: discover before you measure, measure before you adapt, adapt before you plan, plan before you execute, govern always.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Six months from Discovery to an approved roadmap. Then your country in permanent EA-governed mode. That is what 'months not years' actually means. It is not a slogan. It is the consequence of sequencing five phases — each with a clear question, a clear deliverable, a clear sign-off — and committing to the practice that runs after.</a:t>
            </a:r>
          </a:p>
          <a:p/>
          <a:p>
            <a:r>
              <a:t>(This answers the prediction question posed at the start of the video.)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Suppose you have made the case and your minister is convinced. Now the harder part: agreeing the four specific things the minister must commit to. Each one is necessary; without any one of them the EA programme will struggle.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ask. A small permanent EA team. Two to four senior architects. Permanent. Reporting to your CDO or its equivalent. Not project consultants who arrive and leave. Not a temporary unit. The institutional home of architecture work in your country. Tell your minister: this team will exist whether or not any single programme is running. That is the point. It is your country's permanent muscle for cross-cutting digital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ask. An EA Board with real authority. Chaired by your CDO, or by the minister directly. Members: sector ministry CIOs, owners of the major state registers, and where useful an external advisor. Cadence: quarterly meetings, with ad-hoc sessions for urgent decisions. The hardest part: the mandate must be binding, not advisory. Without binding authority the EA becomes documentation nobody reads; with it, the EA becomes the place every digital decision passes through.</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ask. A sustained budget envelope. Three parts: the initial six-month engagement that runs the first four phases, about ten to fifteen senior person-months; the permanent practice, your two to four architects; and the governance overhead of Board time and occasional external review. As a share of your digital-government budget the whole thing is typically about two per cent. What you want is a five-year envelope, not an annual line that disappears when ministerial priorities shift.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ask. One promise. The EA team will not be pulled onto the urgent project of the week. Not by you. Not by the minister. Not by anyone in cabinet. Get this in writing if you can. The most common way EA programmes quietly die is in their second year, when the team is moved onto a flagship delivery and the architecture work stops. The promise to protect the team must be explicit, must be visible, and must be recommitted whenever the minister changes.</a:t>
            </a:r>
          </a:p>
          <a:p/>
          <a:p>
            <a:r>
              <a:t>This is the emotional peak of video 1.7 — the one slide in the module with a full-colour block.</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one note on time horizon, put honestly. Six months to an approved roadmap. Eighteen to twenty-four months to a fully operating practice. Five years to mature governance. The minister who launches this work will not be the one who completes it — and a minister who hears that as a feature is the right one to commission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Honesty about Kenya's contested experience is a feature of this example, not a defect.</a:t>
            </a:r>
          </a:p>
          <a:p/>
          <a:p>
            <a:r>
              <a:t>VO: One more thing to take into the meeting. Four very different governments have already made these commitments. Rwanda, small with a strong centre, one citizen-services platform and a national identity linked across services. Kenya, with one-stop centres and an identity programme whose results are mixed and openly debated. South Africa, federal, coordinating through a central agency and shared standards rather than imposing them. And Estonia, mature, with distributed registries and the once-only principle.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contexts, one pattern. A small central team with real authority. A published framework other agencies adopt. Binding governance rather than advisory. And a multi-year horizon with results visible inside months. Different sizes, different constitutions, the same four elements — which are the four asks, in four real governments.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Four asks. A team. A Board. A budget envelope. A promise. Put them on a single page and ask for all four together — not in pieces. With all four committed, you have what you need.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Why a PAERA-anchored
Enterprise Architecture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600" b="1" i="0">
                <a:solidFill>
                  <a:srgbClr val="006E96"/>
                </a:solidFill>
                <a:latin typeface="Arial"/>
              </a:rPr>
              <a:t>KP1 · Government Enterprise Architecture · Module 1</a:t>
            </a:r>
          </a:p>
          <a:p>
            <a:pPr>
              <a:spcAft>
                <a:spcPts val="600"/>
              </a:spcAft>
            </a:pPr>
            <a:r>
              <a:rPr sz="1400" b="0" i="0">
                <a:solidFill>
                  <a:srgbClr val="595959"/>
                </a:solidFill>
                <a:latin typeface="Arial"/>
              </a:rPr>
              <a:t>Seven standalone videos: why your country needs a national EA, what it is, why projects cannot fix it, why now, why PAERA, the lifecycle, and the four asks to put to your minister.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Seven videos: </a:t>
            </a:r>
            <a:r>
              <a:rPr sz="1400" b="0" i="0">
                <a:solidFill>
                  <a:srgbClr val="1A1A1A"/>
                </a:solidFill>
                <a:latin typeface="Arial"/>
              </a:rPr>
              <a:t>1.1 – 1.7</a:t>
            </a:r>
          </a:p>
          <a:p>
            <a:pPr>
              <a:spcAft>
                <a:spcPts val="400"/>
              </a:spcAft>
            </a:pPr>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wrap="square"/>
          <a:lstStyle/>
          <a:p>
            <a:r>
              <a:rPr sz="1400" b="1" i="0">
                <a:solidFill>
                  <a:srgbClr val="595959"/>
                </a:solidFill>
                <a:latin typeface="Arial"/>
              </a:rPr>
              <a:t>Module 1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wrap="square"/>
          <a:lstStyle/>
          <a:p>
            <a:pPr algn="l">
              <a:spcAft>
                <a:spcPts val="900"/>
              </a:spcAft>
            </a:pPr>
            <a:r>
              <a:rPr sz="1500" b="1" i="0">
                <a:solidFill>
                  <a:srgbClr val="1A1A1A"/>
                </a:solidFill>
                <a:latin typeface="Arial"/>
              </a:rPr>
              <a:t>1.1  Why your country needs a national EA</a:t>
            </a:r>
            <a:r>
              <a:rPr sz="1200" b="0" i="0">
                <a:solidFill>
                  <a:srgbClr val="595959"/>
                </a:solidFill>
                <a:latin typeface="Arial"/>
              </a:rPr>
              <a:t>   ~4 min</a:t>
            </a:r>
          </a:p>
          <a:p>
            <a:pPr algn="l">
              <a:spcAft>
                <a:spcPts val="900"/>
              </a:spcAft>
            </a:pPr>
            <a:r>
              <a:rPr sz="1500" b="1" i="0">
                <a:solidFill>
                  <a:srgbClr val="1A1A1A"/>
                </a:solidFill>
                <a:latin typeface="Arial"/>
              </a:rPr>
              <a:t>1.2  What an EA actually is</a:t>
            </a:r>
            <a:r>
              <a:rPr sz="1200" b="0" i="0">
                <a:solidFill>
                  <a:srgbClr val="595959"/>
                </a:solidFill>
                <a:latin typeface="Arial"/>
              </a:rPr>
              <a:t>   ~3 min</a:t>
            </a:r>
          </a:p>
          <a:p>
            <a:pPr algn="l">
              <a:spcAft>
                <a:spcPts val="900"/>
              </a:spcAft>
            </a:pPr>
            <a:r>
              <a:rPr sz="1500" b="1" i="0">
                <a:solidFill>
                  <a:srgbClr val="1A1A1A"/>
                </a:solidFill>
                <a:latin typeface="Arial"/>
              </a:rPr>
              <a:t>1.3  Why projects can't do this themselves</a:t>
            </a:r>
            <a:r>
              <a:rPr sz="1200" b="0" i="0">
                <a:solidFill>
                  <a:srgbClr val="595959"/>
                </a:solidFill>
                <a:latin typeface="Arial"/>
              </a:rPr>
              <a:t>   ~4 min</a:t>
            </a:r>
          </a:p>
          <a:p>
            <a:pPr algn="l">
              <a:spcAft>
                <a:spcPts val="900"/>
              </a:spcAft>
            </a:pPr>
            <a:r>
              <a:rPr sz="1500" b="1" i="0">
                <a:solidFill>
                  <a:srgbClr val="1A1A1A"/>
                </a:solidFill>
                <a:latin typeface="Arial"/>
              </a:rPr>
              <a:t>1.4  Why an EA matters more now</a:t>
            </a:r>
            <a:r>
              <a:rPr sz="1200" b="0" i="0">
                <a:solidFill>
                  <a:srgbClr val="595959"/>
                </a:solidFill>
                <a:latin typeface="Arial"/>
              </a:rPr>
              <a:t>   ~4 min</a:t>
            </a:r>
          </a:p>
          <a:p>
            <a:pPr algn="l">
              <a:spcAft>
                <a:spcPts val="900"/>
              </a:spcAft>
            </a:pPr>
            <a:r>
              <a:rPr sz="1500" b="1" i="0">
                <a:solidFill>
                  <a:srgbClr val="1A1A1A"/>
                </a:solidFill>
                <a:latin typeface="Arial"/>
              </a:rPr>
              <a:t>1.5  Why PAERA-anchored</a:t>
            </a:r>
            <a:r>
              <a:rPr sz="1200" b="0" i="0">
                <a:solidFill>
                  <a:srgbClr val="595959"/>
                </a:solidFill>
                <a:latin typeface="Arial"/>
              </a:rPr>
              <a:t>   ~4 min</a:t>
            </a:r>
          </a:p>
          <a:p>
            <a:pPr algn="l">
              <a:spcAft>
                <a:spcPts val="900"/>
              </a:spcAft>
            </a:pPr>
            <a:r>
              <a:rPr sz="1500" b="1" i="0">
                <a:solidFill>
                  <a:srgbClr val="1A1A1A"/>
                </a:solidFill>
                <a:latin typeface="Arial"/>
              </a:rPr>
              <a:t>1.6  The lifecycle on one page</a:t>
            </a:r>
            <a:r>
              <a:rPr sz="1200" b="0" i="0">
                <a:solidFill>
                  <a:srgbClr val="595959"/>
                </a:solidFill>
                <a:latin typeface="Arial"/>
              </a:rPr>
              <a:t>   ~4 min</a:t>
            </a:r>
          </a:p>
          <a:p>
            <a:pPr algn="l">
              <a:spcAft>
                <a:spcPts val="900"/>
              </a:spcAft>
            </a:pPr>
            <a:r>
              <a:rPr sz="1500" b="1" i="0">
                <a:solidFill>
                  <a:srgbClr val="1A1A1A"/>
                </a:solidFill>
                <a:latin typeface="Arial"/>
              </a:rPr>
              <a:t>1.7  What you will need from your minister</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wrap="square"/>
          <a:lstStyle/>
          <a:p>
            <a:pPr>
              <a:spcAft>
                <a:spcPts val="1000"/>
              </a:spcAft>
            </a:pPr>
            <a:r>
              <a:rPr sz="1900" b="0" i="1">
                <a:solidFill>
                  <a:srgbClr val="1A1A1A"/>
                </a:solidFill>
                <a:latin typeface="Arial"/>
              </a:rPr>
              <a:t>Without a shared plan, every new programme rebuilds what others have already built. </a:t>
            </a:r>
          </a:p>
          <a:p>
            <a:pPr>
              <a:spcAft>
                <a:spcPts val="1000"/>
              </a:spcAft>
            </a:pPr>
            <a:r>
              <a:rPr sz="1900" b="0" i="1">
                <a:solidFill>
                  <a:srgbClr val="1A1A1A"/>
                </a:solidFill>
                <a:latin typeface="Arial"/>
              </a:rPr>
              <a:t>This module makes the case for a PAERA-anchored national EA — and names the four commitments your minister must make.</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your country needs a national EA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Without a shared plan for your government’s digital systems, every new programme rebuilds what others have already built. The country pays. The citizen pays. Your minister cannot deliver what they promised.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One citizen. Five counters. The same form, five times.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One programme builds a system to register citizens. Another builds another. A third builds a third.</a:t>
            </a:r>
          </a:p>
          <a:p>
            <a:pPr>
              <a:spcAft>
                <a:spcPts val="800"/>
              </a:spcAft>
            </a:pPr>
            <a:r>
              <a:rPr sz="1700" b="0" i="0">
                <a:solidFill>
                  <a:srgbClr val="595959"/>
                </a:solidFill>
                <a:latin typeface="Arial"/>
              </a:rPr>
              <a:t>Each takes years, funded separately.</a:t>
            </a:r>
          </a:p>
          <a:p>
            <a:pPr>
              <a:spcAft>
                <a:spcPts val="800"/>
              </a:spcAft>
            </a:pPr>
            <a:r>
              <a:rPr sz="1700" b="0" i="0">
                <a:solidFill>
                  <a:srgbClr val="595959"/>
                </a:solidFill>
                <a:latin typeface="Arial"/>
              </a:rPr>
              <a:t>You cannot fix this inside any one programme — each is doing exactly what it was funded to do.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signs your government has no shared plan</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More than one register of the same people</a:t>
            </a:r>
          </a:p>
          <a:p>
            <a:pPr>
              <a:spcAft>
                <a:spcPts val="300"/>
              </a:spcAft>
            </a:pPr>
            <a:r>
              <a:rPr sz="1550" b="0" i="0">
                <a:solidFill>
                  <a:srgbClr val="595959"/>
                </a:solidFill>
                <a:latin typeface="Arial"/>
              </a:rPr>
              <a:t>The school list has one. The national ID register has another. The social register has a third. None of them agree.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Every system-to-system link built from scratch</a:t>
            </a:r>
          </a:p>
          <a:p>
            <a:pPr>
              <a:spcAft>
                <a:spcPts val="300"/>
              </a:spcAft>
            </a:pPr>
            <a:r>
              <a:rPr sz="1550" b="0" i="0">
                <a:solidFill>
                  <a:srgbClr val="595959"/>
                </a:solidFill>
                <a:latin typeface="Arial"/>
              </a:rPr>
              <a:t>Last year your team connected the tax office to the business register. This year, the same work again — for the health ministry.</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Vendor lock-in on systems built years ago</a:t>
            </a:r>
          </a:p>
          <a:p>
            <a:pPr>
              <a:spcAft>
                <a:spcPts val="300"/>
              </a:spcAft>
            </a:pPr>
            <a:r>
              <a:rPr sz="1550" b="0" i="0">
                <a:solidFill>
                  <a:srgbClr val="595959"/>
                </a:solidFill>
                <a:latin typeface="Arial"/>
              </a:rPr>
              <a:t>One vendor built it ten years ago. To change anything, you call that vendor and pay what they ask. The vendor knows this, and prices accordingly.</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Ministries that do not connect across each other</a:t>
            </a:r>
          </a:p>
          <a:p>
            <a:pPr>
              <a:spcAft>
                <a:spcPts val="300"/>
              </a:spcAft>
            </a:pPr>
            <a:r>
              <a:rPr sz="1550" b="0" i="0">
                <a:solidFill>
                  <a:srgbClr val="595959"/>
                </a:solidFill>
                <a:latin typeface="Arial"/>
              </a:rPr>
              <a:t>The citizen who gave her ID number to the health ministry gives it again, on paper, when she enrols her child in school. “Ask once” exists on paper only.</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country pays in four directions at once</a:t>
            </a:r>
          </a:p>
        </p:txBody>
      </p:sp>
      <p:sp>
        <p:nvSpPr>
          <p:cNvPr id="4" name="Rounded Rectangle 3"/>
          <p:cNvSpPr/>
          <p:nvPr/>
        </p:nvSpPr>
        <p:spPr>
          <a:xfrm>
            <a:off x="65836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55063"/>
            <a:ext cx="4992624" cy="1965960"/>
          </a:xfrm>
          <a:prstGeom prst="rect">
            <a:avLst/>
          </a:prstGeom>
          <a:noFill/>
        </p:spPr>
        <p:txBody>
          <a:bodyPr wrap="square">
            <a:spAutoFit/>
          </a:bodyPr>
          <a:lstStyle/>
          <a:p>
            <a:pPr>
              <a:spcAft>
                <a:spcPts val="700"/>
              </a:spcAft>
            </a:pPr>
            <a:r>
              <a:rPr sz="2000" b="1" i="0">
                <a:solidFill>
                  <a:srgbClr val="1A1A1A"/>
                </a:solidFill>
                <a:latin typeface="Arial"/>
              </a:rPr>
              <a:t>Money</a:t>
            </a:r>
          </a:p>
          <a:p>
            <a:pPr>
              <a:spcAft>
                <a:spcPts val="700"/>
              </a:spcAft>
            </a:pPr>
            <a:r>
              <a:rPr sz="1500" b="0" i="0">
                <a:solidFill>
                  <a:srgbClr val="595959"/>
                </a:solidFill>
                <a:latin typeface="Arial"/>
              </a:rPr>
              <a:t>The same systems built many times over.</a:t>
            </a:r>
          </a:p>
        </p:txBody>
      </p:sp>
      <p:sp>
        <p:nvSpPr>
          <p:cNvPr id="6" name="Rounded Rectangle 5"/>
          <p:cNvSpPr/>
          <p:nvPr/>
        </p:nvSpPr>
        <p:spPr>
          <a:xfrm>
            <a:off x="628192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655063"/>
            <a:ext cx="4992624" cy="1965960"/>
          </a:xfrm>
          <a:prstGeom prst="rect">
            <a:avLst/>
          </a:prstGeom>
          <a:noFill/>
        </p:spPr>
        <p:txBody>
          <a:bodyPr wrap="square">
            <a:spAutoFit/>
          </a:bodyPr>
          <a:lstStyle/>
          <a:p>
            <a:pPr>
              <a:spcAft>
                <a:spcPts val="700"/>
              </a:spcAft>
            </a:pPr>
            <a:r>
              <a:rPr sz="2000" b="1" i="0">
                <a:solidFill>
                  <a:srgbClr val="1A1A1A"/>
                </a:solidFill>
                <a:latin typeface="Arial"/>
              </a:rPr>
              <a:t>Time</a:t>
            </a:r>
          </a:p>
          <a:p>
            <a:pPr>
              <a:spcAft>
                <a:spcPts val="700"/>
              </a:spcAft>
            </a:pPr>
            <a:r>
              <a:rPr sz="1500" b="0" i="0">
                <a:solidFill>
                  <a:srgbClr val="595959"/>
                </a:solidFill>
                <a:latin typeface="Arial"/>
              </a:rPr>
              <a:t>Every new programme waits for cross-system work nobody planned for.</a:t>
            </a:r>
          </a:p>
        </p:txBody>
      </p:sp>
      <p:sp>
        <p:nvSpPr>
          <p:cNvPr id="8" name="Rounded Rectangle 7"/>
          <p:cNvSpPr/>
          <p:nvPr/>
        </p:nvSpPr>
        <p:spPr>
          <a:xfrm>
            <a:off x="658368" y="3977639"/>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123944"/>
            <a:ext cx="4992624" cy="1965960"/>
          </a:xfrm>
          <a:prstGeom prst="rect">
            <a:avLst/>
          </a:prstGeom>
          <a:noFill/>
        </p:spPr>
        <p:txBody>
          <a:bodyPr wrap="square">
            <a:spAutoFit/>
          </a:bodyPr>
          <a:lstStyle/>
          <a:p>
            <a:pPr>
              <a:spcAft>
                <a:spcPts val="700"/>
              </a:spcAft>
            </a:pPr>
            <a:r>
              <a:rPr sz="2000" b="1" i="0">
                <a:solidFill>
                  <a:srgbClr val="1A1A1A"/>
                </a:solidFill>
                <a:latin typeface="Arial"/>
              </a:rPr>
              <a:t>Citizens</a:t>
            </a:r>
          </a:p>
          <a:p>
            <a:pPr>
              <a:spcAft>
                <a:spcPts val="700"/>
              </a:spcAft>
            </a:pPr>
            <a:r>
              <a:rPr sz="1500" b="0" i="0">
                <a:solidFill>
                  <a:srgbClr val="595959"/>
                </a:solidFill>
                <a:latin typeface="Arial"/>
              </a:rPr>
              <a:t>The same form, filled in five places.</a:t>
            </a:r>
          </a:p>
        </p:txBody>
      </p:sp>
      <p:sp>
        <p:nvSpPr>
          <p:cNvPr id="10" name="Rounded Rectangle 9"/>
          <p:cNvSpPr/>
          <p:nvPr/>
        </p:nvSpPr>
        <p:spPr>
          <a:xfrm>
            <a:off x="6281928" y="3977639"/>
            <a:ext cx="5394960" cy="22402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4123944"/>
            <a:ext cx="4992624" cy="1965960"/>
          </a:xfrm>
          <a:prstGeom prst="rect">
            <a:avLst/>
          </a:prstGeom>
          <a:noFill/>
        </p:spPr>
        <p:txBody>
          <a:bodyPr wrap="square">
            <a:spAutoFit/>
          </a:bodyPr>
          <a:lstStyle/>
          <a:p>
            <a:pPr>
              <a:spcAft>
                <a:spcPts val="700"/>
              </a:spcAft>
            </a:pPr>
            <a:r>
              <a:rPr sz="2000" b="1" i="0">
                <a:solidFill>
                  <a:srgbClr val="FFFFFF"/>
                </a:solidFill>
                <a:latin typeface="Arial"/>
              </a:rPr>
              <a:t>Your minister</a:t>
            </a:r>
          </a:p>
          <a:p>
            <a:pPr>
              <a:spcAft>
                <a:spcPts val="700"/>
              </a:spcAft>
            </a:pPr>
            <a:r>
              <a:rPr sz="1500" b="0" i="0">
                <a:solidFill>
                  <a:srgbClr val="FFFFFF"/>
                </a:solidFill>
                <a:latin typeface="Arial"/>
              </a:rPr>
              <a:t>Flagship cross-ministry programmes cannot land — the systems will not talk.</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root cause: there is no shared plan</a:t>
            </a:r>
          </a:p>
        </p:txBody>
      </p:sp>
      <p:sp>
        <p:nvSpPr>
          <p:cNvPr id="4" name="TextBox 3"/>
          <p:cNvSpPr txBox="1"/>
          <p:nvPr/>
        </p:nvSpPr>
        <p:spPr>
          <a:xfrm>
            <a:off x="658368" y="1600200"/>
            <a:ext cx="10789920" cy="1691640"/>
          </a:xfrm>
          <a:prstGeom prst="rect">
            <a:avLst/>
          </a:prstGeom>
          <a:noFill/>
        </p:spPr>
        <p:txBody>
          <a:bodyPr wrap="square">
            <a:spAutoFit/>
          </a:bodyPr>
          <a:lstStyle/>
          <a:p>
            <a:pPr>
              <a:spcAft>
                <a:spcPts val="1000"/>
              </a:spcAft>
            </a:pPr>
            <a:r>
              <a:rPr sz="2200" b="0" i="0">
                <a:solidFill>
                  <a:srgbClr val="1A1A1A"/>
                </a:solidFill>
                <a:latin typeface="Arial"/>
              </a:rPr>
              <a:t>No one has written down what your government’s digital systems are, who owns them, and how they should fit together.</a:t>
            </a:r>
          </a:p>
        </p:txBody>
      </p:sp>
      <p:sp>
        <p:nvSpPr>
          <p:cNvPr id="5" name="Rounded Rectangle 4"/>
          <p:cNvSpPr/>
          <p:nvPr/>
        </p:nvSpPr>
        <p:spPr>
          <a:xfrm>
            <a:off x="658368" y="3337560"/>
            <a:ext cx="10789920" cy="11430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529584"/>
            <a:ext cx="10387584" cy="868680"/>
          </a:xfrm>
          <a:prstGeom prst="rect">
            <a:avLst/>
          </a:prstGeom>
          <a:noFill/>
        </p:spPr>
        <p:txBody>
          <a:bodyPr wrap="square">
            <a:spAutoFit/>
          </a:bodyPr>
          <a:lstStyle/>
          <a:p>
            <a:pPr>
              <a:spcAft>
                <a:spcPts val="700"/>
              </a:spcAft>
            </a:pPr>
            <a:r>
              <a:rPr sz="2600" b="1" i="0">
                <a:solidFill>
                  <a:srgbClr val="006E96"/>
                </a:solidFill>
                <a:latin typeface="Arial"/>
              </a:rPr>
              <a:t>A national Enterprise Architecture is that plan.</a:t>
            </a:r>
          </a:p>
        </p:txBody>
      </p:sp>
      <p:sp>
        <p:nvSpPr>
          <p:cNvPr id="7" name="Rounded Rectangle 6"/>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Diagnose your country's fragmentation symptoms.</a:t>
            </a:r>
          </a:p>
          <a:p>
            <a:pPr algn="l">
              <a:spcAft>
                <a:spcPts val="400"/>
              </a:spcAft>
            </a:pPr>
            <a:r>
              <a:rPr sz="1800" b="0" i="0">
                <a:solidFill>
                  <a:srgbClr val="595959"/>
                </a:solidFill>
                <a:latin typeface="Arial"/>
              </a:rPr>
              <a:t>The prompt in the companion material gives you a 4-row markdown table plus a 3-bullet summary. Before the next video.</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Problem statement (paera.govstack.global)</a:t>
            </a:r>
          </a:p>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EU European Interoperability Framework — Once-Only principle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an EA actually is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is the picture everyone agrees describes your government — minister, ministry CIO, donor, vendor. With it, you can lead the conversation. Without it, others lead it for you.</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Enterprise Architecture is a set of documents and diagrams.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What services your government delivers, and to whom.</a:t>
            </a:r>
          </a:p>
          <a:p>
            <a:pPr>
              <a:spcAft>
                <a:spcPts val="800"/>
              </a:spcAft>
            </a:pPr>
            <a:r>
              <a:rPr sz="1700" b="0" i="0">
                <a:solidFill>
                  <a:srgbClr val="595959"/>
                </a:solidFill>
                <a:latin typeface="Arial"/>
              </a:rPr>
              <a:t>What data it holds, and who owns it.</a:t>
            </a:r>
          </a:p>
          <a:p>
            <a:pPr>
              <a:spcAft>
                <a:spcPts val="800"/>
              </a:spcAft>
            </a:pPr>
            <a:r>
              <a:rPr sz="1700" b="0" i="0">
                <a:solidFill>
                  <a:srgbClr val="595959"/>
                </a:solidFill>
                <a:latin typeface="Arial"/>
              </a:rPr>
              <a:t>What software supports those services. What infrastructure runs underneath.</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is the agreed picture — not software you buy</a:t>
            </a:r>
          </a:p>
        </p:txBody>
      </p:sp>
      <p:sp>
        <p:nvSpPr>
          <p:cNvPr id="4" name="Rounded Rectangle 3"/>
          <p:cNvSpPr/>
          <p:nvPr/>
        </p:nvSpPr>
        <p:spPr>
          <a:xfrm>
            <a:off x="658368" y="1600200"/>
            <a:ext cx="5394960" cy="4297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46504"/>
            <a:ext cx="4992624" cy="4023360"/>
          </a:xfrm>
          <a:prstGeom prst="rect">
            <a:avLst/>
          </a:prstGeom>
          <a:noFill/>
        </p:spPr>
        <p:txBody>
          <a:bodyPr wrap="square">
            <a:spAutoFit/>
          </a:bodyPr>
          <a:lstStyle/>
          <a:p>
            <a:pPr>
              <a:spcAft>
                <a:spcPts val="700"/>
              </a:spcAft>
            </a:pPr>
            <a:r>
              <a:rPr sz="2000" b="1" i="0">
                <a:solidFill>
                  <a:srgbClr val="006E96"/>
                </a:solidFill>
                <a:latin typeface="Arial"/>
              </a:rPr>
              <a:t>An EA is</a:t>
            </a:r>
          </a:p>
          <a:p>
            <a:pPr>
              <a:spcAft>
                <a:spcPts val="700"/>
              </a:spcAft>
            </a:pPr>
            <a:r>
              <a:rPr sz="1700" b="0" i="0">
                <a:solidFill>
                  <a:srgbClr val="1A1A1A"/>
                </a:solidFill>
                <a:latin typeface="Arial"/>
              </a:rPr>
              <a:t>the agreed picture of your government</a:t>
            </a:r>
          </a:p>
          <a:p>
            <a:pPr>
              <a:spcAft>
                <a:spcPts val="700"/>
              </a:spcAft>
            </a:pPr>
            <a:r>
              <a:rPr sz="1700" b="0" i="0">
                <a:solidFill>
                  <a:srgbClr val="1A1A1A"/>
                </a:solidFill>
                <a:latin typeface="Arial"/>
              </a:rPr>
              <a:t>a set of documents and diagrams</a:t>
            </a:r>
          </a:p>
          <a:p>
            <a:pPr>
              <a:spcAft>
                <a:spcPts val="700"/>
              </a:spcAft>
            </a:pPr>
            <a:r>
              <a:rPr sz="1700" b="0" i="0">
                <a:solidFill>
                  <a:srgbClr val="1A1A1A"/>
                </a:solidFill>
                <a:latin typeface="Arial"/>
              </a:rPr>
              <a:t>the same description everyone uses — minister, CIO, donor, vendor</a:t>
            </a:r>
          </a:p>
        </p:txBody>
      </p:sp>
      <p:sp>
        <p:nvSpPr>
          <p:cNvPr id="6" name="Rounded Rectangle 5"/>
          <p:cNvSpPr/>
          <p:nvPr/>
        </p:nvSpPr>
        <p:spPr>
          <a:xfrm>
            <a:off x="6281928" y="1600200"/>
            <a:ext cx="5394960" cy="42976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46504"/>
            <a:ext cx="4992624" cy="4023360"/>
          </a:xfrm>
          <a:prstGeom prst="rect">
            <a:avLst/>
          </a:prstGeom>
          <a:noFill/>
        </p:spPr>
        <p:txBody>
          <a:bodyPr wrap="square">
            <a:spAutoFit/>
          </a:bodyPr>
          <a:lstStyle/>
          <a:p>
            <a:pPr>
              <a:spcAft>
                <a:spcPts val="700"/>
              </a:spcAft>
            </a:pPr>
            <a:r>
              <a:rPr sz="2000" b="1" i="0">
                <a:solidFill>
                  <a:srgbClr val="595959"/>
                </a:solidFill>
                <a:latin typeface="Arial"/>
              </a:rPr>
              <a:t>An EA is not</a:t>
            </a:r>
          </a:p>
          <a:p>
            <a:pPr>
              <a:spcAft>
                <a:spcPts val="700"/>
              </a:spcAft>
            </a:pPr>
            <a:r>
              <a:rPr sz="1700" b="0" i="0">
                <a:solidFill>
                  <a:srgbClr val="1A1A1A"/>
                </a:solidFill>
                <a:latin typeface="Arial"/>
              </a:rPr>
              <a:t>software</a:t>
            </a:r>
          </a:p>
          <a:p>
            <a:pPr>
              <a:spcAft>
                <a:spcPts val="700"/>
              </a:spcAft>
            </a:pPr>
            <a:r>
              <a:rPr sz="1700" b="0" i="0">
                <a:solidFill>
                  <a:srgbClr val="1A1A1A"/>
                </a:solidFill>
                <a:latin typeface="Arial"/>
              </a:rPr>
              <a:t>a vendor product</a:t>
            </a:r>
          </a:p>
          <a:p>
            <a:pPr>
              <a:spcAft>
                <a:spcPts val="700"/>
              </a:spcAft>
            </a:pPr>
            <a:r>
              <a:rPr sz="1700" b="0" i="0">
                <a:solidFill>
                  <a:srgbClr val="1A1A1A"/>
                </a:solidFill>
                <a:latin typeface="Arial"/>
              </a:rPr>
              <a:t>a tool you procure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Minister, donor, vendor — all use the same picture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900" b="1" i="0">
                <a:solidFill>
                  <a:srgbClr val="1A1A1A"/>
                </a:solidFill>
                <a:latin typeface="Arial"/>
              </a:rPr>
              <a:t>Your minister — to brief cabinet</a:t>
            </a:r>
          </a:p>
          <a:p>
            <a:pPr>
              <a:spcAft>
                <a:spcPts val="300"/>
              </a:spcAft>
            </a:pPr>
            <a:r>
              <a:rPr sz="1550" b="0" i="0">
                <a:solidFill>
                  <a:srgbClr val="595959"/>
                </a:solidFill>
                <a:latin typeface="Arial"/>
              </a:rPr>
              <a:t>They cannot describe what the country’s digital spend is buying without an agreed picture of what the systems are.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900" b="1" i="0">
                <a:solidFill>
                  <a:srgbClr val="1A1A1A"/>
                </a:solidFill>
                <a:latin typeface="Arial"/>
              </a:rPr>
              <a:t>The donor — before funding the next programme</a:t>
            </a:r>
          </a:p>
          <a:p>
            <a:pPr>
              <a:spcAft>
                <a:spcPts val="300"/>
              </a:spcAft>
            </a:pPr>
            <a:r>
              <a:rPr sz="1550" b="0" i="0">
                <a:solidFill>
                  <a:srgbClr val="595959"/>
                </a:solidFill>
                <a:latin typeface="Arial"/>
              </a:rPr>
              <a:t>They want to see how their investment fits with the others.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900" b="1" i="0">
                <a:solidFill>
                  <a:srgbClr val="1A1A1A"/>
                </a:solidFill>
                <a:latin typeface="Arial"/>
              </a:rPr>
              <a:t>The vendor — to match what they propose</a:t>
            </a:r>
          </a:p>
          <a:p>
            <a:pPr>
              <a:spcAft>
                <a:spcPts val="300"/>
              </a:spcAft>
            </a:pPr>
            <a:r>
              <a:rPr sz="1550" b="0" i="0">
                <a:solidFill>
                  <a:srgbClr val="595959"/>
                </a:solidFill>
                <a:latin typeface="Arial"/>
              </a:rPr>
              <a:t>What they build must fit what is already there.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900" b="1" i="0">
                <a:solidFill>
                  <a:srgbClr val="1A1A1A"/>
                </a:solidFill>
                <a:latin typeface="Arial"/>
              </a:rPr>
              <a:t>You — to keep all three aligned</a:t>
            </a:r>
          </a:p>
          <a:p>
            <a:pPr>
              <a:spcAft>
                <a:spcPts val="300"/>
              </a:spcAft>
            </a:pPr>
            <a:r>
              <a:rPr sz="1550" b="0" i="0">
                <a:solidFill>
                  <a:srgbClr val="595959"/>
                </a:solidFill>
                <a:latin typeface="Arial"/>
              </a:rPr>
              <a:t>So the donor funds what the country needs, the vendor builds what fits, and the minister tells a coherent story.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picture has four parts</a:t>
            </a:r>
          </a:p>
        </p:txBody>
      </p:sp>
      <p:sp>
        <p:nvSpPr>
          <p:cNvPr id="4" name="Rounded Rectangle 3"/>
          <p:cNvSpPr/>
          <p:nvPr/>
        </p:nvSpPr>
        <p:spPr>
          <a:xfrm>
            <a:off x="658368" y="146304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09344"/>
            <a:ext cx="8321040" cy="841247"/>
          </a:xfrm>
          <a:prstGeom prst="rect">
            <a:avLst/>
          </a:prstGeom>
          <a:noFill/>
        </p:spPr>
        <p:txBody>
          <a:bodyPr wrap="square">
            <a:spAutoFit/>
          </a:bodyPr>
          <a:lstStyle/>
          <a:p>
            <a:pPr>
              <a:spcAft>
                <a:spcPts val="700"/>
              </a:spcAft>
            </a:pPr>
            <a:r>
              <a:rPr sz="1800" b="1" i="0">
                <a:solidFill>
                  <a:srgbClr val="1A1A1A"/>
                </a:solidFill>
                <a:latin typeface="Arial"/>
              </a:rPr>
              <a:t>Services</a:t>
            </a:r>
            <a:r>
              <a:rPr sz="1400" b="0" i="0">
                <a:solidFill>
                  <a:srgbClr val="595959"/>
                </a:solidFill>
                <a:latin typeface="Arial"/>
              </a:rPr>
              <a:t>   What your government does, and for whom. The layer your minister talks about — the layer the public sees.</a:t>
            </a:r>
          </a:p>
        </p:txBody>
      </p:sp>
      <p:sp>
        <p:nvSpPr>
          <p:cNvPr id="6" name="Rounded Rectangle 5"/>
          <p:cNvSpPr/>
          <p:nvPr/>
        </p:nvSpPr>
        <p:spPr>
          <a:xfrm>
            <a:off x="658368" y="2651760"/>
            <a:ext cx="8778240" cy="1115568"/>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798064"/>
            <a:ext cx="8321040" cy="841247"/>
          </a:xfrm>
          <a:prstGeom prst="rect">
            <a:avLst/>
          </a:prstGeom>
          <a:noFill/>
        </p:spPr>
        <p:txBody>
          <a:bodyPr wrap="square">
            <a:spAutoFit/>
          </a:bodyPr>
          <a:lstStyle/>
          <a:p>
            <a:pPr>
              <a:spcAft>
                <a:spcPts val="700"/>
              </a:spcAft>
            </a:pPr>
            <a:r>
              <a:rPr sz="1800" b="1" i="0">
                <a:solidFill>
                  <a:srgbClr val="FFFFFF"/>
                </a:solidFill>
                <a:latin typeface="Arial"/>
              </a:rPr>
              <a:t>Data</a:t>
            </a:r>
            <a:r>
              <a:rPr sz="1400" b="0" i="0">
                <a:solidFill>
                  <a:srgbClr val="FFFFFF"/>
                </a:solidFill>
                <a:latin typeface="Arial"/>
              </a:rPr>
              <a:t>   The information your government holds, who owns it, where the authoritative copy lives.</a:t>
            </a:r>
          </a:p>
        </p:txBody>
      </p:sp>
      <p:sp>
        <p:nvSpPr>
          <p:cNvPr id="8" name="Rounded Rectangle 7"/>
          <p:cNvSpPr/>
          <p:nvPr/>
        </p:nvSpPr>
        <p:spPr>
          <a:xfrm>
            <a:off x="658368" y="384048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986784"/>
            <a:ext cx="8321040" cy="841247"/>
          </a:xfrm>
          <a:prstGeom prst="rect">
            <a:avLst/>
          </a:prstGeom>
          <a:noFill/>
        </p:spPr>
        <p:txBody>
          <a:bodyPr wrap="square">
            <a:spAutoFit/>
          </a:bodyPr>
          <a:lstStyle/>
          <a:p>
            <a:pPr>
              <a:spcAft>
                <a:spcPts val="700"/>
              </a:spcAft>
            </a:pPr>
            <a:r>
              <a:rPr sz="1800" b="1" i="0">
                <a:solidFill>
                  <a:srgbClr val="1A1A1A"/>
                </a:solidFill>
                <a:latin typeface="Arial"/>
              </a:rPr>
              <a:t>Applications</a:t>
            </a:r>
            <a:r>
              <a:rPr sz="1400" b="0" i="0">
                <a:solidFill>
                  <a:srgbClr val="595959"/>
                </a:solidFill>
                <a:latin typeface="Arial"/>
              </a:rPr>
              <a:t>   The software that uses the data to deliver the services. What gets bought, built, integrated, replaced.</a:t>
            </a:r>
          </a:p>
        </p:txBody>
      </p:sp>
      <p:sp>
        <p:nvSpPr>
          <p:cNvPr id="10" name="Rounded Rectangle 9"/>
          <p:cNvSpPr/>
          <p:nvPr/>
        </p:nvSpPr>
        <p:spPr>
          <a:xfrm>
            <a:off x="658368" y="502920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5175504"/>
            <a:ext cx="8321040" cy="841247"/>
          </a:xfrm>
          <a:prstGeom prst="rect">
            <a:avLst/>
          </a:prstGeom>
          <a:noFill/>
        </p:spPr>
        <p:txBody>
          <a:bodyPr wrap="square">
            <a:spAutoFit/>
          </a:bodyPr>
          <a:lstStyle/>
          <a:p>
            <a:pPr>
              <a:spcAft>
                <a:spcPts val="700"/>
              </a:spcAft>
            </a:pPr>
            <a:r>
              <a:rPr sz="1800" b="1" i="0">
                <a:solidFill>
                  <a:srgbClr val="1A1A1A"/>
                </a:solidFill>
                <a:latin typeface="Arial"/>
              </a:rPr>
              <a:t>Technology</a:t>
            </a:r>
            <a:r>
              <a:rPr sz="1400" b="0" i="0">
                <a:solidFill>
                  <a:srgbClr val="595959"/>
                </a:solidFill>
                <a:latin typeface="Arial"/>
              </a:rPr>
              <a:t>   The infrastructure underneath — networks, hosting, identity, security.</a:t>
            </a:r>
          </a:p>
        </p:txBody>
      </p:sp>
      <p:sp>
        <p:nvSpPr>
          <p:cNvPr id="12" name="TextBox 11"/>
          <p:cNvSpPr txBox="1"/>
          <p:nvPr/>
        </p:nvSpPr>
        <p:spPr>
          <a:xfrm>
            <a:off x="9646920" y="2331720"/>
            <a:ext cx="2103120" cy="2011680"/>
          </a:xfrm>
          <a:prstGeom prst="rect">
            <a:avLst/>
          </a:prstGeom>
          <a:noFill/>
        </p:spPr>
        <p:txBody>
          <a:bodyPr wrap="square">
            <a:spAutoFit/>
          </a:bodyPr>
          <a:lstStyle/>
          <a:p>
            <a:pPr>
              <a:spcAft>
                <a:spcPts val="800"/>
              </a:spcAft>
            </a:pPr>
            <a:r>
              <a:rPr sz="1300" b="0" i="1">
                <a:solidFill>
                  <a:srgbClr val="595959"/>
                </a:solidFill>
                <a:latin typeface="Arial"/>
              </a:rPr>
              <a:t>Applications come and go. Technology cycles every decade.</a:t>
            </a:r>
          </a:p>
          <a:p>
            <a:pPr>
              <a:spcAft>
                <a:spcPts val="800"/>
              </a:spcAft>
            </a:pPr>
            <a:r>
              <a:rPr sz="1500" b="1" i="0">
                <a:solidFill>
                  <a:srgbClr val="006E96"/>
                </a:solidFill>
                <a:latin typeface="Arial"/>
              </a:rPr>
              <a:t>Data outlasts them all.</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Written down, a list of projects becomes a system</a:t>
            </a:r>
          </a:p>
        </p:txBody>
      </p:sp>
      <p:sp>
        <p:nvSpPr>
          <p:cNvPr id="4" name="TextBox 3"/>
          <p:cNvSpPr txBox="1"/>
          <p:nvPr/>
        </p:nvSpPr>
        <p:spPr>
          <a:xfrm>
            <a:off x="658368" y="1737360"/>
            <a:ext cx="10789920" cy="4114800"/>
          </a:xfrm>
          <a:prstGeom prst="rect">
            <a:avLst/>
          </a:prstGeom>
          <a:noFill/>
        </p:spPr>
        <p:txBody>
          <a:bodyPr wrap="square">
            <a:spAutoFit/>
          </a:bodyPr>
          <a:lstStyle/>
          <a:p>
            <a:pPr>
              <a:spcAft>
                <a:spcPts val="1400"/>
              </a:spcAft>
            </a:pPr>
            <a:r>
              <a:rPr sz="2200" b="0" i="0">
                <a:solidFill>
                  <a:srgbClr val="1A1A1A"/>
                </a:solidFill>
                <a:latin typeface="Arial"/>
              </a:rPr>
              <a:t>When you write down all four parts, your digital landscape stops being a list of unrelated projects. It starts looking like a system —</a:t>
            </a:r>
          </a:p>
          <a:p>
            <a:pPr>
              <a:spcAft>
                <a:spcPts val="1400"/>
              </a:spcAft>
            </a:pPr>
            <a:r>
              <a:rPr sz="2200" b="0" i="0">
                <a:solidFill>
                  <a:srgbClr val="1A1A1A"/>
                </a:solidFill>
                <a:latin typeface="Arial"/>
              </a:rPr>
              <a:t>a system you can change deliberately,</a:t>
            </a:r>
          </a:p>
          <a:p>
            <a:pPr>
              <a:spcAft>
                <a:spcPts val="1400"/>
              </a:spcAft>
            </a:pPr>
            <a:r>
              <a:rPr sz="2200" b="0" i="0">
                <a:solidFill>
                  <a:srgbClr val="1A1A1A"/>
                </a:solidFill>
                <a:latin typeface="Arial"/>
              </a:rPr>
              <a:t>a system you can plan investments against,</a:t>
            </a:r>
          </a:p>
          <a:p>
            <a:pPr>
              <a:spcAft>
                <a:spcPts val="1400"/>
              </a:spcAft>
            </a:pPr>
            <a:r>
              <a:rPr sz="2200" b="0" i="0">
                <a:solidFill>
                  <a:srgbClr val="1A1A1A"/>
                </a:solidFill>
                <a:latin typeface="Arial"/>
              </a:rPr>
              <a:t>a system you can talk about across ministries, with donors and vendors, without re-explaining the basics every time.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is the agreed picture of your government — and the tool that lets you lead the conversation about what comes next.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a one-slide 'what is EA' explainer for ministers.</a:t>
            </a:r>
          </a:p>
          <a:p>
            <a:pPr algn="l">
              <a:spcAft>
                <a:spcPts val="400"/>
              </a:spcAft>
            </a:pPr>
            <a:r>
              <a:rPr sz="1800" b="0" i="0">
                <a:solidFill>
                  <a:srgbClr val="595959"/>
                </a:solidFill>
                <a:latin typeface="Arial"/>
              </a:rPr>
              <a:t>The prompt in the companion material gives you a one-slide structure ready to paste into the country's slide template.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TOGAF — BDAT layering reference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projects can't do this themselves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Procurement rules can require interoperability. They cannot deliver it. Only planning at the level of the whole government, supported by reference architectures, can.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 already require interoperability. So why does the citizen still fill the form five times?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new project must specify open APIs. Every contract must require interoperability.</a:t>
            </a:r>
          </a:p>
          <a:p>
            <a:pPr>
              <a:spcAft>
                <a:spcPts val="800"/>
              </a:spcAft>
            </a:pPr>
            <a:r>
              <a:rPr sz="1700" b="0" i="0">
                <a:solidFill>
                  <a:srgbClr val="595959"/>
                </a:solidFill>
                <a:latin typeface="Arial"/>
              </a:rPr>
              <a:t>Procurement rules can require behaviour.</a:t>
            </a:r>
          </a:p>
          <a:p>
            <a:pPr>
              <a:spcAft>
                <a:spcPts val="800"/>
              </a:spcAft>
            </a:pPr>
            <a:r>
              <a:rPr sz="1700" b="0" i="0">
                <a:solidFill>
                  <a:srgbClr val="595959"/>
                </a:solidFill>
                <a:latin typeface="Arial"/>
              </a:rPr>
              <a:t>They cannot make it the cheapest choice.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project is rational — and builds its own</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000" b="1" i="0">
                <a:solidFill>
                  <a:srgbClr val="1A1A1A"/>
                </a:solidFill>
                <a:latin typeface="Arial"/>
              </a:rPr>
              <a:t>The question every project asks</a:t>
            </a:r>
          </a:p>
          <a:p>
            <a:pPr>
              <a:spcAft>
                <a:spcPts val="300"/>
              </a:spcAft>
            </a:pPr>
            <a:r>
              <a:rPr sz="1600" b="0" i="0">
                <a:solidFill>
                  <a:srgbClr val="595959"/>
                </a:solidFill>
                <a:latin typeface="Arial"/>
              </a:rPr>
              <a:t>“How do we ship on time and on budget?”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000" b="1" i="0">
                <a:solidFill>
                  <a:srgbClr val="1A1A1A"/>
                </a:solidFill>
                <a:latin typeface="Arial"/>
              </a:rPr>
              <a:t>What re-use costs the project</a:t>
            </a:r>
          </a:p>
          <a:p>
            <a:pPr>
              <a:spcAft>
                <a:spcPts val="300"/>
              </a:spcAft>
            </a:pPr>
            <a:r>
              <a:rPr sz="1600" b="0" i="0">
                <a:solidFill>
                  <a:srgbClr val="595959"/>
                </a:solidFill>
                <a:latin typeface="Arial"/>
              </a:rPr>
              <a:t>Learn another ministry’s system. Negotiate with their team. Accept their delays.</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000" b="1" i="0">
                <a:solidFill>
                  <a:srgbClr val="1A1A1A"/>
                </a:solidFill>
                <a:latin typeface="Arial"/>
              </a:rPr>
              <a:t>So the team builds its own — and that is not a failure of discipline</a:t>
            </a:r>
          </a:p>
          <a:p>
            <a:pPr>
              <a:spcAft>
                <a:spcPts val="300"/>
              </a:spcAft>
            </a:pPr>
            <a:r>
              <a:rPr sz="1600" b="0" i="0">
                <a:solidFill>
                  <a:srgbClr val="595959"/>
                </a:solidFill>
                <a:latin typeface="Arial"/>
              </a:rPr>
              <a:t>Building your own version is faster and simpler. The project is doing exactly what it was funded to do.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math changes only at whole-of-government level</a:t>
            </a:r>
          </a:p>
        </p:txBody>
      </p:sp>
      <p:sp>
        <p:nvSpPr>
          <p:cNvPr id="4" name="Rounded Rectangle 3"/>
          <p:cNvSpPr/>
          <p:nvPr/>
        </p:nvSpPr>
        <p:spPr>
          <a:xfrm>
            <a:off x="658368" y="1645920"/>
            <a:ext cx="2606040" cy="15544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92224"/>
            <a:ext cx="2276856" cy="1280160"/>
          </a:xfrm>
          <a:prstGeom prst="rect">
            <a:avLst/>
          </a:prstGeom>
          <a:noFill/>
        </p:spPr>
        <p:txBody>
          <a:bodyPr wrap="square">
            <a:spAutoFit/>
          </a:bodyPr>
          <a:lstStyle/>
          <a:p>
            <a:pPr>
              <a:spcAft>
                <a:spcPts val="700"/>
              </a:spcAft>
            </a:pPr>
            <a:r>
              <a:rPr sz="1600" b="1" i="0">
                <a:solidFill>
                  <a:srgbClr val="FFFFFF"/>
                </a:solidFill>
                <a:latin typeface="Arial"/>
              </a:rPr>
              <a:t>Ministry 1</a:t>
            </a:r>
          </a:p>
          <a:p>
            <a:pPr>
              <a:spcAft>
                <a:spcPts val="700"/>
              </a:spcAft>
            </a:pPr>
            <a:r>
              <a:rPr sz="1300" b="0" i="0">
                <a:solidFill>
                  <a:srgbClr val="FFFFFF"/>
                </a:solidFill>
                <a:latin typeface="Arial"/>
              </a:rPr>
              <a:t>pays to build the identity system</a:t>
            </a:r>
          </a:p>
        </p:txBody>
      </p:sp>
      <p:sp>
        <p:nvSpPr>
          <p:cNvPr id="6" name="Rounded Rectangle 5"/>
          <p:cNvSpPr/>
          <p:nvPr/>
        </p:nvSpPr>
        <p:spPr>
          <a:xfrm>
            <a:off x="34015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2</a:t>
            </a:r>
          </a:p>
          <a:p>
            <a:pPr>
              <a:spcAft>
                <a:spcPts val="700"/>
              </a:spcAft>
            </a:pPr>
            <a:r>
              <a:rPr sz="1300" b="0" i="0">
                <a:solidFill>
                  <a:srgbClr val="595959"/>
                </a:solidFill>
                <a:latin typeface="Arial"/>
              </a:rPr>
              <a:t>does not — it consumes the first</a:t>
            </a:r>
          </a:p>
        </p:txBody>
      </p:sp>
      <p:sp>
        <p:nvSpPr>
          <p:cNvPr id="8" name="Rounded Rectangle 7"/>
          <p:cNvSpPr/>
          <p:nvPr/>
        </p:nvSpPr>
        <p:spPr>
          <a:xfrm>
            <a:off x="61447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59"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3</a:t>
            </a:r>
          </a:p>
          <a:p>
            <a:pPr>
              <a:spcAft>
                <a:spcPts val="700"/>
              </a:spcAft>
            </a:pPr>
            <a:r>
              <a:rPr sz="1300" b="0" i="0">
                <a:solidFill>
                  <a:srgbClr val="595959"/>
                </a:solidFill>
                <a:latin typeface="Arial"/>
              </a:rPr>
              <a:t>does not — it consumes the same</a:t>
            </a:r>
          </a:p>
        </p:txBody>
      </p:sp>
      <p:sp>
        <p:nvSpPr>
          <p:cNvPr id="10" name="Rounded Rectangle 9"/>
          <p:cNvSpPr/>
          <p:nvPr/>
        </p:nvSpPr>
        <p:spPr>
          <a:xfrm>
            <a:off x="88879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4</a:t>
            </a:r>
          </a:p>
          <a:p>
            <a:pPr>
              <a:spcAft>
                <a:spcPts val="700"/>
              </a:spcAft>
            </a:pPr>
            <a:r>
              <a:rPr sz="1300" b="0" i="0">
                <a:solidFill>
                  <a:srgbClr val="595959"/>
                </a:solidFill>
                <a:latin typeface="Arial"/>
              </a:rPr>
              <a:t>does not — it consumes the same</a:t>
            </a:r>
          </a:p>
        </p:txBody>
      </p:sp>
      <p:sp>
        <p:nvSpPr>
          <p:cNvPr id="12" name="TextBox 11"/>
          <p:cNvSpPr txBox="1"/>
          <p:nvPr/>
        </p:nvSpPr>
        <p:spPr>
          <a:xfrm>
            <a:off x="658368" y="3657600"/>
            <a:ext cx="10789920" cy="1005840"/>
          </a:xfrm>
          <a:prstGeom prst="rect">
            <a:avLst/>
          </a:prstGeom>
          <a:noFill/>
        </p:spPr>
        <p:txBody>
          <a:bodyPr wrap="square">
            <a:spAutoFit/>
          </a:bodyPr>
          <a:lstStyle/>
          <a:p>
            <a:r>
              <a:rPr sz="2000" b="1" i="0">
                <a:solidFill>
                  <a:srgbClr val="1A1A1A"/>
                </a:solidFill>
                <a:latin typeface="Arial"/>
              </a:rPr>
              <a:t>Over five years, the country saves a meaningful share of its sectoral digital spend.</a:t>
            </a:r>
          </a:p>
        </p:txBody>
      </p:sp>
      <p:sp>
        <p:nvSpPr>
          <p:cNvPr id="13" name="TextBox 12"/>
          <p:cNvSpPr txBox="1"/>
          <p:nvPr/>
        </p:nvSpPr>
        <p:spPr>
          <a:xfrm>
            <a:off x="658368" y="4709160"/>
            <a:ext cx="10789920" cy="1463040"/>
          </a:xfrm>
          <a:prstGeom prst="rect">
            <a:avLst/>
          </a:prstGeom>
          <a:noFill/>
        </p:spPr>
        <p:txBody>
          <a:bodyPr wrap="square">
            <a:spAutoFit/>
          </a:bodyPr>
          <a:lstStyle/>
          <a:p>
            <a:r>
              <a:rPr sz="1600" b="0" i="0">
                <a:solidFill>
                  <a:srgbClr val="595959"/>
                </a:solidFill>
                <a:latin typeface="Arial"/>
              </a:rPr>
              <a:t>But this view does not exist inside any single project. It exists only at the level of your country’s whole digital portfolio — the view an EA gives you, and the view your minister needs to make funding decisions.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more things projects cannot deliver</a:t>
            </a:r>
          </a:p>
        </p:txBody>
      </p:sp>
      <p:sp>
        <p:nvSpPr>
          <p:cNvPr id="4" name="Rounded Rectangle 3"/>
          <p:cNvSpPr/>
          <p:nvPr/>
        </p:nvSpPr>
        <p:spPr>
          <a:xfrm>
            <a:off x="65836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Sustainability</a:t>
            </a:r>
          </a:p>
          <a:p>
            <a:pPr>
              <a:spcAft>
                <a:spcPts val="700"/>
              </a:spcAft>
            </a:pPr>
            <a:r>
              <a:rPr sz="1600" b="0" i="0">
                <a:solidFill>
                  <a:srgbClr val="1A1A1A"/>
                </a:solidFill>
                <a:latin typeface="Arial"/>
              </a:rPr>
              <a:t>Twelve years from now, the original vendor is gone. The open-source library has forked. The technology has moved on. The system is still in service — and nobody fully understands it.</a:t>
            </a:r>
          </a:p>
          <a:p>
            <a:pPr>
              <a:spcAft>
                <a:spcPts val="700"/>
              </a:spcAft>
            </a:pPr>
            <a:r>
              <a:rPr sz="1600" b="1" i="0">
                <a:solidFill>
                  <a:srgbClr val="1A1A1A"/>
                </a:solidFill>
                <a:latin typeface="Arial"/>
              </a:rPr>
              <a:t>Projects are not incentivised to plan for that moment. They are incentivised to ship.</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Complexity reduction</a:t>
            </a:r>
          </a:p>
          <a:p>
            <a:pPr>
              <a:spcAft>
                <a:spcPts val="700"/>
              </a:spcAft>
            </a:pPr>
            <a:r>
              <a:rPr sz="1600" b="0" i="0">
                <a:solidFill>
                  <a:srgbClr val="1A1A1A"/>
                </a:solidFill>
                <a:latin typeface="Arial"/>
              </a:rPr>
              <a:t>A project says yes to most feature requests, because requests come from people the project must please. Five years later, the system is too complex to maintain or change.</a:t>
            </a:r>
          </a:p>
          <a:p>
            <a:pPr>
              <a:spcAft>
                <a:spcPts val="700"/>
              </a:spcAft>
            </a:pPr>
            <a:r>
              <a:rPr sz="1600" b="1" i="0">
                <a:solidFill>
                  <a:srgbClr val="1A1A1A"/>
                </a:solidFill>
                <a:latin typeface="Arial"/>
              </a:rPr>
              <a:t>Saying no requires authority the project does not have.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reference architecture is other countries' learning</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Other countries have built these systems for decades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They learned what survives technology change — and what cost them dearly</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A reference architecture is that learning, written down. PAERA is one such reference.</a:t>
            </a:r>
          </a:p>
          <a:p>
            <a:pPr>
              <a:spcAft>
                <a:spcPts val="300"/>
              </a:spcAft>
            </a:pPr>
            <a:r>
              <a:rPr sz="1600" b="0" i="0">
                <a:solidFill>
                  <a:srgbClr val="595959"/>
                </a:solidFill>
                <a:latin typeface="Arial"/>
              </a:rPr>
              <a:t>Adopting it means starting with their lessons, instead of paying for the same lessons yourself over the next twenty years.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783080"/>
            <a:ext cx="10149840" cy="2377440"/>
          </a:xfrm>
          <a:prstGeom prst="rect">
            <a:avLst/>
          </a:prstGeom>
          <a:noFill/>
        </p:spPr>
        <p:txBody>
          <a:bodyPr wrap="square">
            <a:spAutoFit/>
          </a:bodyPr>
          <a:lstStyle/>
          <a:p>
            <a:r>
              <a:rPr sz="3000" b="1" i="0">
                <a:solidFill>
                  <a:srgbClr val="1A1A1A"/>
                </a:solidFill>
                <a:latin typeface="Arial"/>
              </a:rPr>
              <a:t>Re-use, sustainability, complexity reduction — none of these come from projects. All of them come from planning.</a:t>
            </a:r>
          </a:p>
        </p:txBody>
      </p:sp>
      <p:sp>
        <p:nvSpPr>
          <p:cNvPr id="3" name="TextBox 2"/>
          <p:cNvSpPr txBox="1"/>
          <p:nvPr/>
        </p:nvSpPr>
        <p:spPr>
          <a:xfrm>
            <a:off x="1005840" y="3840480"/>
            <a:ext cx="10149840" cy="731520"/>
          </a:xfrm>
          <a:prstGeom prst="rect">
            <a:avLst/>
          </a:prstGeom>
          <a:noFill/>
        </p:spPr>
        <p:txBody>
          <a:bodyPr wrap="square">
            <a:spAutoFit/>
          </a:bodyPr>
          <a:lstStyle/>
          <a:p>
            <a:r>
              <a:rPr sz="1600" b="0" i="1">
                <a:solidFill>
                  <a:srgbClr val="595959"/>
                </a:solidFill>
                <a:latin typeface="Arial"/>
              </a:rPr>
              <a:t>The four-part picture is the artefact. Planning is the function. That is why your minister must commission an EA separately, deliberately, with sustained funding.</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Rounded Rectangle 4"/>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the whole-of-government business case for building-block re-use.</a:t>
            </a:r>
          </a:p>
          <a:p>
            <a:pPr algn="l">
              <a:spcAft>
                <a:spcPts val="400"/>
              </a:spcAft>
            </a:pPr>
            <a:r>
              <a:rPr sz="1800" b="0" i="0">
                <a:solidFill>
                  <a:srgbClr val="595959"/>
                </a:solidFill>
                <a:latin typeface="Arial"/>
              </a:rPr>
              <a:t>The prompt in the companion material gives you a per-programme cost table plus a country-level 5-year saving estimate. Before the next video.</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
        <p:nvSpPr>
          <p:cNvPr id="7" name="TextBox 6"/>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PAERA v1.0 — §3.3 Digital Infrastructure principles</a:t>
            </a:r>
          </a:p>
          <a:p>
            <a:pPr>
              <a:spcAft>
                <a:spcPts val="1200"/>
              </a:spcAft>
            </a:pPr>
            <a:r>
              <a:rPr sz="1700" b="0" i="0">
                <a:solidFill>
                  <a:srgbClr val="1A1A1A"/>
                </a:solidFill>
                <a:latin typeface="Arial"/>
              </a:rPr>
              <a:t>•  PAERA v1.0 — §5.2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an EA matters more now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For thirty years, digital work meant putting paper online. That era is ending. The work now is to redesign how your ministry serves citizens — and that work needs business and IT in the same room, using the same words.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Putting paper online was the work. It is not any more.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form became a web form, the queue an online appointment, the certificate a PDF.</a:t>
            </a:r>
          </a:p>
          <a:p>
            <a:pPr>
              <a:spcAft>
                <a:spcPts val="800"/>
              </a:spcAft>
            </a:pPr>
            <a:r>
              <a:rPr sz="1700" b="0" i="0">
                <a:solidFill>
                  <a:srgbClr val="595959"/>
                </a:solidFill>
                <a:latin typeface="Arial"/>
              </a:rPr>
              <a:t>The ministry still did the same work — only the medium changed.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Putting paper online is no longer the main work</a:t>
            </a:r>
          </a:p>
        </p:txBody>
      </p:sp>
      <p:sp>
        <p:nvSpPr>
          <p:cNvPr id="4" name="Rounded Rectangle 3"/>
          <p:cNvSpPr/>
          <p:nvPr/>
        </p:nvSpPr>
        <p:spPr>
          <a:xfrm>
            <a:off x="658368" y="1554480"/>
            <a:ext cx="5394960" cy="42062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1900" b="1" i="0">
                <a:solidFill>
                  <a:srgbClr val="595959"/>
                </a:solidFill>
                <a:latin typeface="Arial"/>
              </a:rPr>
              <a:t>The old work</a:t>
            </a:r>
          </a:p>
          <a:p>
            <a:pPr>
              <a:spcAft>
                <a:spcPts val="700"/>
              </a:spcAft>
            </a:pPr>
            <a:r>
              <a:rPr sz="1600" b="0" i="0">
                <a:solidFill>
                  <a:srgbClr val="1A1A1A"/>
                </a:solidFill>
                <a:latin typeface="Arial"/>
              </a:rPr>
              <a:t>Take a paper process and put it online</a:t>
            </a:r>
          </a:p>
          <a:p>
            <a:pPr>
              <a:spcAft>
                <a:spcPts val="700"/>
              </a:spcAft>
            </a:pPr>
            <a:r>
              <a:rPr sz="1600" b="0" i="0">
                <a:solidFill>
                  <a:srgbClr val="1A1A1A"/>
                </a:solidFill>
                <a:latin typeface="Arial"/>
              </a:rPr>
              <a:t>The ministry’s operating model stays the same</a:t>
            </a:r>
          </a:p>
          <a:p>
            <a:pPr>
              <a:spcAft>
                <a:spcPts val="700"/>
              </a:spcAft>
            </a:pPr>
            <a:r>
              <a:rPr sz="1600" b="0" i="0">
                <a:solidFill>
                  <a:srgbClr val="1A1A1A"/>
                </a:solidFill>
                <a:latin typeface="Arial"/>
              </a:rPr>
              <a:t>Business decides what; IT delivers how</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1900" b="1" i="0">
                <a:solidFill>
                  <a:srgbClr val="006E96"/>
                </a:solidFill>
                <a:latin typeface="Arial"/>
              </a:rPr>
              <a:t>The new work</a:t>
            </a:r>
          </a:p>
          <a:p>
            <a:pPr>
              <a:spcAft>
                <a:spcPts val="700"/>
              </a:spcAft>
            </a:pPr>
            <a:r>
              <a:rPr sz="1600" b="0" i="0">
                <a:solidFill>
                  <a:srgbClr val="1A1A1A"/>
                </a:solidFill>
                <a:latin typeface="Arial"/>
              </a:rPr>
              <a:t>Redesign how citizens are served</a:t>
            </a:r>
          </a:p>
          <a:p>
            <a:pPr>
              <a:spcAft>
                <a:spcPts val="700"/>
              </a:spcAft>
            </a:pPr>
            <a:r>
              <a:rPr sz="1600" b="0" i="0">
                <a:solidFill>
                  <a:srgbClr val="1A1A1A"/>
                </a:solidFill>
                <a:latin typeface="Arial"/>
              </a:rPr>
              <a:t>The ministry’s operating model changes</a:t>
            </a:r>
          </a:p>
          <a:p>
            <a:pPr>
              <a:spcAft>
                <a:spcPts val="700"/>
              </a:spcAft>
            </a:pPr>
            <a:r>
              <a:rPr sz="1600" b="1" i="0">
                <a:solidFill>
                  <a:srgbClr val="1A1A1A"/>
                </a:solidFill>
                <a:latin typeface="Arial"/>
              </a:rPr>
              <a:t>Business and IT decide together</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redesigns how citizens are served</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One farmer registry</a:t>
            </a:r>
          </a:p>
          <a:p>
            <a:pPr>
              <a:spcAft>
                <a:spcPts val="300"/>
              </a:spcAft>
            </a:pPr>
            <a:r>
              <a:rPr sz="1600" b="0" i="0">
                <a:solidFill>
                  <a:srgbClr val="595959"/>
                </a:solidFill>
                <a:latin typeface="Arial"/>
              </a:rPr>
              <a:t>Shared by the agriculture ministry, the cooperative bank, the input subsidy programme and the climate-resilience programme — the same farmer, recognised the same way, by all of them.</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One national identity</a:t>
            </a:r>
          </a:p>
          <a:p>
            <a:pPr>
              <a:spcAft>
                <a:spcPts val="300"/>
              </a:spcAft>
            </a:pPr>
            <a:r>
              <a:rPr sz="1600" b="0" i="0">
                <a:solidFill>
                  <a:srgbClr val="595959"/>
                </a:solidFill>
                <a:latin typeface="Arial"/>
              </a:rPr>
              <a:t>A citizen proves who they are at any service, without paper.</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One learner record</a:t>
            </a:r>
          </a:p>
          <a:p>
            <a:pPr>
              <a:spcAft>
                <a:spcPts val="300"/>
              </a:spcAft>
            </a:pPr>
            <a:r>
              <a:rPr sz="1600" b="0" i="0">
                <a:solidFill>
                  <a:srgbClr val="595959"/>
                </a:solidFill>
                <a:latin typeface="Arial"/>
              </a:rPr>
              <a:t>It follows the child from primary school to university.</a:t>
            </a:r>
          </a:p>
        </p:txBody>
      </p:sp>
      <p:sp>
        <p:nvSpPr>
          <p:cNvPr id="9" name="TextBox 8"/>
          <p:cNvSpPr txBox="1"/>
          <p:nvPr/>
        </p:nvSpPr>
        <p:spPr>
          <a:xfrm>
            <a:off x="658368" y="5623560"/>
            <a:ext cx="10789920" cy="640080"/>
          </a:xfrm>
          <a:prstGeom prst="rect">
            <a:avLst/>
          </a:prstGeom>
          <a:noFill/>
        </p:spPr>
        <p:txBody>
          <a:bodyPr wrap="square">
            <a:spAutoFit/>
          </a:bodyPr>
          <a:lstStyle/>
          <a:p>
            <a:r>
              <a:rPr sz="1700" b="1" i="0">
                <a:solidFill>
                  <a:srgbClr val="006E96"/>
                </a:solidFill>
                <a:latin typeface="Arial"/>
              </a:rPr>
              <a:t>None of these is “put it online.” Each is a redesign of how the ministry works.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needs business and IT to decide together</a:t>
            </a:r>
          </a:p>
        </p:txBody>
      </p:sp>
      <p:sp>
        <p:nvSpPr>
          <p:cNvPr id="4" name="TextBox 3"/>
          <p:cNvSpPr txBox="1"/>
          <p:nvPr/>
        </p:nvSpPr>
        <p:spPr>
          <a:xfrm>
            <a:off x="658368" y="1828800"/>
            <a:ext cx="10789920" cy="3931920"/>
          </a:xfrm>
          <a:prstGeom prst="rect">
            <a:avLst/>
          </a:prstGeom>
          <a:noFill/>
        </p:spPr>
        <p:txBody>
          <a:bodyPr wrap="square">
            <a:spAutoFit/>
          </a:bodyPr>
          <a:lstStyle/>
          <a:p>
            <a:pPr>
              <a:spcAft>
                <a:spcPts val="1600"/>
              </a:spcAft>
            </a:pPr>
            <a:r>
              <a:rPr sz="2200" b="0" i="0">
                <a:solidFill>
                  <a:srgbClr val="1A1A1A"/>
                </a:solidFill>
                <a:latin typeface="Arial"/>
              </a:rPr>
              <a:t>When you redesign how your ministry works, two groups must decide together.</a:t>
            </a:r>
          </a:p>
          <a:p>
            <a:pPr>
              <a:spcAft>
                <a:spcPts val="1600"/>
              </a:spcAft>
            </a:pPr>
            <a:r>
              <a:rPr sz="2000" b="1" i="0">
                <a:solidFill>
                  <a:srgbClr val="1A1A1A"/>
                </a:solidFill>
                <a:latin typeface="Arial"/>
              </a:rPr>
              <a:t>The business side: </a:t>
            </a:r>
            <a:r>
              <a:rPr sz="2000" b="0" i="0">
                <a:solidFill>
                  <a:srgbClr val="1A1A1A"/>
                </a:solidFill>
                <a:latin typeface="Arial"/>
              </a:rPr>
              <a:t>your minister, your director-general, your head of policy.</a:t>
            </a:r>
          </a:p>
          <a:p>
            <a:pPr>
              <a:spcAft>
                <a:spcPts val="1600"/>
              </a:spcAft>
            </a:pPr>
            <a:r>
              <a:rPr sz="2000" b="1" i="0">
                <a:solidFill>
                  <a:srgbClr val="1A1A1A"/>
                </a:solidFill>
                <a:latin typeface="Arial"/>
              </a:rPr>
              <a:t>The IT side: </a:t>
            </a:r>
            <a:r>
              <a:rPr sz="2000" b="0" i="0">
                <a:solidFill>
                  <a:srgbClr val="1A1A1A"/>
                </a:solidFill>
                <a:latin typeface="Arial"/>
              </a:rPr>
              <a:t>your architects, your engineers.</a:t>
            </a:r>
          </a:p>
          <a:p>
            <a:pPr>
              <a:spcAft>
                <a:spcPts val="1600"/>
              </a:spcAft>
            </a:pPr>
            <a:r>
              <a:rPr sz="2000" b="0" i="0">
                <a:solidFill>
                  <a:srgbClr val="595959"/>
                </a:solidFill>
                <a:latin typeface="Arial"/>
              </a:rPr>
              <a:t>In the old work, business decided what and IT delivered how. In the new work, they decide together — about the same questions, with the same seriousness.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They sit in the same meeting — and miss each other</a:t>
            </a:r>
          </a:p>
        </p:txBody>
      </p:sp>
      <p:sp>
        <p:nvSpPr>
          <p:cNvPr id="4" name="Rounded Rectangle 3"/>
          <p:cNvSpPr/>
          <p:nvPr/>
        </p:nvSpPr>
        <p:spPr>
          <a:xfrm>
            <a:off x="65836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minister talks about</a:t>
            </a:r>
          </a:p>
          <a:p>
            <a:pPr>
              <a:spcAft>
                <a:spcPts val="700"/>
              </a:spcAft>
            </a:pPr>
            <a:r>
              <a:rPr sz="2000" b="1" i="0">
                <a:solidFill>
                  <a:srgbClr val="1A1A1A"/>
                </a:solidFill>
                <a:latin typeface="Arial"/>
              </a:rPr>
              <a:t>citizen services and policy goals</a:t>
            </a:r>
          </a:p>
        </p:txBody>
      </p:sp>
      <p:sp>
        <p:nvSpPr>
          <p:cNvPr id="6" name="Rounded Rectangle 5"/>
          <p:cNvSpPr/>
          <p:nvPr/>
        </p:nvSpPr>
        <p:spPr>
          <a:xfrm>
            <a:off x="628192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chief architect talks about</a:t>
            </a:r>
          </a:p>
          <a:p>
            <a:pPr>
              <a:spcAft>
                <a:spcPts val="700"/>
              </a:spcAft>
            </a:pPr>
            <a:r>
              <a:rPr sz="2000" b="1" i="0">
                <a:solidFill>
                  <a:srgbClr val="1A1A1A"/>
                </a:solidFill>
                <a:latin typeface="Arial"/>
              </a:rPr>
              <a:t>systems, APIs and data</a:t>
            </a:r>
          </a:p>
        </p:txBody>
      </p:sp>
      <p:sp>
        <p:nvSpPr>
          <p:cNvPr id="8" name="TextBox 7"/>
          <p:cNvSpPr txBox="1"/>
          <p:nvPr/>
        </p:nvSpPr>
        <p:spPr>
          <a:xfrm>
            <a:off x="658368" y="4297680"/>
            <a:ext cx="10789920" cy="1645920"/>
          </a:xfrm>
          <a:prstGeom prst="rect">
            <a:avLst/>
          </a:prstGeom>
          <a:noFill/>
        </p:spPr>
        <p:txBody>
          <a:bodyPr wrap="square">
            <a:spAutoFit/>
          </a:bodyPr>
          <a:lstStyle/>
          <a:p>
            <a:pPr>
              <a:spcAft>
                <a:spcPts val="1000"/>
              </a:spcAft>
            </a:pPr>
            <a:r>
              <a:rPr sz="2100" b="1" i="0">
                <a:solidFill>
                  <a:srgbClr val="1A1A1A"/>
                </a:solidFill>
                <a:latin typeface="Arial"/>
              </a:rPr>
              <a:t>The decision does not get made well — or it does not get made at all.</a:t>
            </a:r>
          </a:p>
          <a:p>
            <a:pPr>
              <a:spcAft>
                <a:spcPts val="1000"/>
              </a:spcAft>
            </a:pPr>
            <a:r>
              <a:rPr sz="1700" b="0" i="0">
                <a:solidFill>
                  <a:srgbClr val="595959"/>
                </a:solidFill>
                <a:latin typeface="Arial"/>
              </a:rPr>
              <a:t>And the ministry stays in the old work, even though the new work is what is needed.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gives both sides one language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2100" b="1" i="0">
                <a:solidFill>
                  <a:srgbClr val="1A1A1A"/>
                </a:solidFill>
                <a:latin typeface="Arial"/>
              </a:rPr>
              <a:t>The agreed picture</a:t>
            </a:r>
          </a:p>
          <a:p>
            <a:pPr>
              <a:spcAft>
                <a:spcPts val="300"/>
              </a:spcAft>
            </a:pPr>
            <a:r>
              <a:rPr sz="1600" b="0" i="0">
                <a:solidFill>
                  <a:srgbClr val="595959"/>
                </a:solidFill>
                <a:latin typeface="Arial"/>
              </a:rPr>
              <a:t>Something both sides can point at.</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2100" b="1" i="0">
                <a:solidFill>
                  <a:srgbClr val="1A1A1A"/>
                </a:solidFill>
                <a:latin typeface="Arial"/>
              </a:rPr>
              <a:t>Plain words for the basic terms</a:t>
            </a:r>
          </a:p>
          <a:p>
            <a:pPr>
              <a:spcAft>
                <a:spcPts val="300"/>
              </a:spcAft>
            </a:pPr>
            <a:r>
              <a:rPr sz="1600" b="0" i="0">
                <a:solidFill>
                  <a:srgbClr val="595959"/>
                </a:solidFill>
                <a:latin typeface="Arial"/>
              </a:rPr>
              <a:t>Service, capability, data domain — meaning the same thing to both sides.</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2100" b="1" i="0">
                <a:solidFill>
                  <a:srgbClr val="1A1A1A"/>
                </a:solidFill>
                <a:latin typeface="Arial"/>
              </a:rPr>
              <a:t>A regular forum — the EA Board</a:t>
            </a:r>
          </a:p>
          <a:p>
            <a:pPr>
              <a:spcAft>
                <a:spcPts val="300"/>
              </a:spcAft>
            </a:pPr>
            <a:r>
              <a:rPr sz="1600" b="0" i="0">
                <a:solidFill>
                  <a:srgbClr val="595959"/>
                </a:solidFill>
                <a:latin typeface="Arial"/>
              </a:rPr>
              <a:t>Where business and IT sit together and decide.</a:t>
            </a:r>
          </a:p>
        </p:txBody>
      </p:sp>
      <p:sp>
        <p:nvSpPr>
          <p:cNvPr id="12" name="TextBox 11"/>
          <p:cNvSpPr txBox="1"/>
          <p:nvPr/>
        </p:nvSpPr>
        <p:spPr>
          <a:xfrm>
            <a:off x="658368" y="5669280"/>
            <a:ext cx="10789920" cy="640080"/>
          </a:xfrm>
          <a:prstGeom prst="rect">
            <a:avLst/>
          </a:prstGeom>
          <a:noFill/>
        </p:spPr>
        <p:txBody>
          <a:bodyPr wrap="square">
            <a:spAutoFit/>
          </a:bodyPr>
          <a:lstStyle/>
          <a:p>
            <a:r>
              <a:rPr sz="1600" b="0" i="1">
                <a:solidFill>
                  <a:srgbClr val="595959"/>
                </a:solidFill>
                <a:latin typeface="Arial"/>
              </a:rPr>
              <a:t>With these in place, the redesign conversation finally happens. Without them, it does not.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In the era of digitising paper, an EA was useful. In the era of redesigning how the ministry works, an EA is necessary.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Translate an operating-model question into a business-IT joint agenda.</a:t>
            </a:r>
          </a:p>
          <a:p>
            <a:pPr algn="l">
              <a:spcAft>
                <a:spcPts val="400"/>
              </a:spcAft>
            </a:pPr>
            <a:r>
              <a:rPr sz="1800" b="0" i="0">
                <a:solidFill>
                  <a:srgbClr val="595959"/>
                </a:solidFill>
                <a:latin typeface="Arial"/>
              </a:rPr>
              <a:t>The prompt in the companion material gives you a 3-column decomposition plus a meeting agenda.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PAERA-anchored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gives your team five years of head start. Adopt it, and the architecture work begins on day one. Do not adopt it, and your first year is spent inventing what others have already published.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Which framework do you use to draw the picture?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Design one for your country from scratch —</a:t>
            </a:r>
          </a:p>
          <a:p>
            <a:pPr>
              <a:spcAft>
                <a:spcPts val="800"/>
              </a:spcAft>
            </a:pPr>
            <a:r>
              <a:rPr sz="1700" b="0" i="0">
                <a:solidFill>
                  <a:srgbClr val="595959"/>
                </a:solidFill>
                <a:latin typeface="Arial"/>
              </a:rPr>
              <a:t>or anchor on one that already exists.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paths — one costs you a year before work begins</a:t>
            </a:r>
          </a:p>
        </p:txBody>
      </p:sp>
      <p:sp>
        <p:nvSpPr>
          <p:cNvPr id="4" name="Rounded Rectangle 3"/>
          <p:cNvSpPr/>
          <p:nvPr/>
        </p:nvSpPr>
        <p:spPr>
          <a:xfrm>
            <a:off x="658368" y="1920240"/>
            <a:ext cx="10881360" cy="13716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66544"/>
            <a:ext cx="10369296" cy="1097280"/>
          </a:xfrm>
          <a:prstGeom prst="rect">
            <a:avLst/>
          </a:prstGeom>
          <a:noFill/>
        </p:spPr>
        <p:txBody>
          <a:bodyPr wrap="square">
            <a:spAutoFit/>
          </a:bodyPr>
          <a:lstStyle/>
          <a:p>
            <a:pPr>
              <a:spcAft>
                <a:spcPts val="700"/>
              </a:spcAft>
            </a:pPr>
            <a:r>
              <a:rPr sz="1800" b="1" i="0">
                <a:solidFill>
                  <a:srgbClr val="1A1A1A"/>
                </a:solidFill>
                <a:latin typeface="Arial"/>
              </a:rPr>
              <a:t>Design your own framework</a:t>
            </a:r>
          </a:p>
          <a:p>
            <a:pPr>
              <a:spcAft>
                <a:spcPts val="700"/>
              </a:spcAft>
            </a:pPr>
            <a:r>
              <a:rPr sz="1500" b="0" i="0">
                <a:solidFill>
                  <a:srgbClr val="595959"/>
                </a:solidFill>
                <a:latin typeface="Arial"/>
              </a:rPr>
              <a:t>12 to 18 months of consultants and groundwork before any architect draws a single picture of any ministry</a:t>
            </a:r>
          </a:p>
        </p:txBody>
      </p:sp>
      <p:sp>
        <p:nvSpPr>
          <p:cNvPr id="6" name="Rounded Rectangle 5"/>
          <p:cNvSpPr/>
          <p:nvPr/>
        </p:nvSpPr>
        <p:spPr>
          <a:xfrm>
            <a:off x="658368" y="3749039"/>
            <a:ext cx="3291840" cy="13716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895344"/>
            <a:ext cx="2779776" cy="1097280"/>
          </a:xfrm>
          <a:prstGeom prst="rect">
            <a:avLst/>
          </a:prstGeom>
          <a:noFill/>
        </p:spPr>
        <p:txBody>
          <a:bodyPr wrap="square">
            <a:spAutoFit/>
          </a:bodyPr>
          <a:lstStyle/>
          <a:p>
            <a:pPr>
              <a:spcAft>
                <a:spcPts val="700"/>
              </a:spcAft>
            </a:pPr>
            <a:r>
              <a:rPr sz="1800" b="1" i="0">
                <a:solidFill>
                  <a:srgbClr val="FFFFFF"/>
                </a:solidFill>
                <a:latin typeface="Arial"/>
              </a:rPr>
              <a:t>Anchor on PAERA</a:t>
            </a:r>
          </a:p>
          <a:p>
            <a:pPr>
              <a:spcAft>
                <a:spcPts val="700"/>
              </a:spcAft>
            </a:pPr>
            <a:r>
              <a:rPr sz="1500" b="0" i="0">
                <a:solidFill>
                  <a:srgbClr val="FFFFFF"/>
                </a:solidFill>
                <a:latin typeface="Arial"/>
              </a:rPr>
              <a:t>work begins on day one</a:t>
            </a:r>
          </a:p>
        </p:txBody>
      </p:sp>
      <p:sp>
        <p:nvSpPr>
          <p:cNvPr id="8" name="TextBox 7"/>
          <p:cNvSpPr txBox="1"/>
          <p:nvPr/>
        </p:nvSpPr>
        <p:spPr>
          <a:xfrm>
            <a:off x="4206240" y="3977639"/>
            <a:ext cx="7315200" cy="1188720"/>
          </a:xfrm>
          <a:prstGeom prst="rect">
            <a:avLst/>
          </a:prstGeom>
          <a:noFill/>
        </p:spPr>
        <p:txBody>
          <a:bodyPr wrap="square">
            <a:spAutoFit/>
          </a:bodyPr>
          <a:lstStyle/>
          <a:p>
            <a:r>
              <a:rPr sz="1500" b="0" i="0">
                <a:solidFill>
                  <a:srgbClr val="595959"/>
                </a:solidFill>
                <a:latin typeface="Arial"/>
              </a:rPr>
              <a:t>The Public Administration Ecosystem Reference Architecture — published 2024 under GovStack, built for the public-sector use case, with the groundwork already done.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things you do not pay to invent</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organise ministries and authorities</a:t>
            </a:r>
          </a:p>
          <a:p>
            <a:pPr>
              <a:spcAft>
                <a:spcPts val="300"/>
              </a:spcAft>
            </a:pPr>
            <a:r>
              <a:rPr sz="1350" b="0" i="0">
                <a:solidFill>
                  <a:srgbClr val="595959"/>
                </a:solidFill>
                <a:latin typeface="Arial"/>
              </a:rPr>
              <a:t>Every body is a policy unit, a regulatory agency or a service-delivery authority — the classification is published, not argued over for three months.</a:t>
            </a:r>
          </a:p>
        </p:txBody>
      </p:sp>
      <p:sp>
        <p:nvSpPr>
          <p:cNvPr id="6" name="Rectangle 5"/>
          <p:cNvSpPr/>
          <p:nvPr/>
        </p:nvSpPr>
        <p:spPr>
          <a:xfrm>
            <a:off x="621792" y="2327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1401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68296"/>
            <a:ext cx="10527487" cy="950976"/>
          </a:xfrm>
          <a:prstGeom prst="rect">
            <a:avLst/>
          </a:prstGeom>
          <a:noFill/>
        </p:spPr>
        <p:txBody>
          <a:bodyPr wrap="square">
            <a:spAutoFit/>
          </a:bodyPr>
          <a:lstStyle/>
          <a:p>
            <a:pPr>
              <a:spcAft>
                <a:spcPts val="300"/>
              </a:spcAft>
            </a:pPr>
            <a:r>
              <a:rPr sz="1750" b="1" i="0">
                <a:solidFill>
                  <a:srgbClr val="1A1A1A"/>
                </a:solidFill>
                <a:latin typeface="Arial"/>
              </a:rPr>
              <a:t>Plain words for the basic terms</a:t>
            </a:r>
          </a:p>
          <a:p>
            <a:pPr>
              <a:spcAft>
                <a:spcPts val="300"/>
              </a:spcAft>
            </a:pPr>
            <a:r>
              <a:rPr sz="1350" b="0" i="0">
                <a:solidFill>
                  <a:srgbClr val="595959"/>
                </a:solidFill>
                <a:latin typeface="Arial"/>
              </a:rPr>
              <a:t>Capability. Service. Application. Data domain. Defined on day one.</a:t>
            </a:r>
          </a:p>
        </p:txBody>
      </p:sp>
      <p:sp>
        <p:nvSpPr>
          <p:cNvPr id="9" name="Rectangle 8"/>
          <p:cNvSpPr/>
          <p:nvPr/>
        </p:nvSpPr>
        <p:spPr>
          <a:xfrm>
            <a:off x="621792" y="33238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4107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64992"/>
            <a:ext cx="10527487" cy="950976"/>
          </a:xfrm>
          <a:prstGeom prst="rect">
            <a:avLst/>
          </a:prstGeom>
          <a:noFill/>
        </p:spPr>
        <p:txBody>
          <a:bodyPr wrap="square">
            <a:spAutoFit/>
          </a:bodyPr>
          <a:lstStyle/>
          <a:p>
            <a:pPr>
              <a:spcAft>
                <a:spcPts val="300"/>
              </a:spcAft>
            </a:pPr>
            <a:r>
              <a:rPr sz="1750" b="1" i="0">
                <a:solidFill>
                  <a:srgbClr val="1A1A1A"/>
                </a:solidFill>
                <a:latin typeface="Arial"/>
              </a:rPr>
              <a:t>A library of common building blocks</a:t>
            </a:r>
          </a:p>
          <a:p>
            <a:pPr>
              <a:spcAft>
                <a:spcPts val="300"/>
              </a:spcAft>
            </a:pPr>
            <a:r>
              <a:rPr sz="1350" b="0" i="0">
                <a:solidFill>
                  <a:srgbClr val="595959"/>
                </a:solidFill>
                <a:latin typeface="Arial"/>
              </a:rPr>
              <a:t>Identity, payments, information sharing, registries — published specifications with working examples.</a:t>
            </a:r>
          </a:p>
        </p:txBody>
      </p:sp>
      <p:sp>
        <p:nvSpPr>
          <p:cNvPr id="12" name="Rectangle 11"/>
          <p:cNvSpPr/>
          <p:nvPr/>
        </p:nvSpPr>
        <p:spPr>
          <a:xfrm>
            <a:off x="621792" y="4320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40740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361688"/>
            <a:ext cx="10527487" cy="950976"/>
          </a:xfrm>
          <a:prstGeom prst="rect">
            <a:avLst/>
          </a:prstGeom>
          <a:noFill/>
        </p:spPr>
        <p:txBody>
          <a:bodyPr wrap="square">
            <a:spAutoFit/>
          </a:bodyPr>
          <a:lstStyle/>
          <a:p>
            <a:pPr>
              <a:spcAft>
                <a:spcPts val="300"/>
              </a:spcAft>
            </a:pPr>
            <a:r>
              <a:rPr sz="1750" b="1" i="0">
                <a:solidFill>
                  <a:srgbClr val="1A1A1A"/>
                </a:solidFill>
                <a:latin typeface="Arial"/>
              </a:rPr>
              <a:t>Ten architectural principles</a:t>
            </a:r>
          </a:p>
          <a:p>
            <a:pPr>
              <a:spcAft>
                <a:spcPts val="300"/>
              </a:spcAft>
            </a:pPr>
            <a:r>
              <a:rPr sz="1350" b="0" i="0">
                <a:solidFill>
                  <a:srgbClr val="595959"/>
                </a:solidFill>
                <a:latin typeface="Arial"/>
              </a:rPr>
              <a:t>From rule of law to user-centred design — already debated across many countries. You extend them; you do not draft them.</a:t>
            </a:r>
          </a:p>
        </p:txBody>
      </p:sp>
      <p:sp>
        <p:nvSpPr>
          <p:cNvPr id="15" name="Rectangle 14"/>
          <p:cNvSpPr/>
          <p:nvPr/>
        </p:nvSpPr>
        <p:spPr>
          <a:xfrm>
            <a:off x="621792" y="53172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4041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358384"/>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run the work</a:t>
            </a:r>
          </a:p>
          <a:p>
            <a:pPr>
              <a:spcAft>
                <a:spcPts val="300"/>
              </a:spcAft>
            </a:pPr>
            <a:r>
              <a:rPr sz="1350" b="0" i="0">
                <a:solidFill>
                  <a:srgbClr val="595959"/>
                </a:solidFill>
                <a:latin typeface="Arial"/>
              </a:rPr>
              <a:t>The lifecycle — Discover, Assess, Adapt, Plan, Execute &amp; Govern — with roles, decisions and sign-offs per phase. Next video.</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framework — every sector reuses the investment</a:t>
            </a:r>
          </a:p>
        </p:txBody>
      </p:sp>
      <p:sp>
        <p:nvSpPr>
          <p:cNvPr id="4" name="Rounded Rectangle 3"/>
          <p:cNvSpPr/>
          <p:nvPr/>
        </p:nvSpPr>
        <p:spPr>
          <a:xfrm>
            <a:off x="82296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Education</a:t>
            </a:r>
          </a:p>
        </p:txBody>
      </p:sp>
      <p:sp>
        <p:nvSpPr>
          <p:cNvPr id="5" name="Rounded Rectangle 4"/>
          <p:cNvSpPr/>
          <p:nvPr/>
        </p:nvSpPr>
        <p:spPr>
          <a:xfrm>
            <a:off x="347472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Health</a:t>
            </a:r>
          </a:p>
        </p:txBody>
      </p:sp>
      <p:sp>
        <p:nvSpPr>
          <p:cNvPr id="6" name="Rounded Rectangle 5"/>
          <p:cNvSpPr/>
          <p:nvPr/>
        </p:nvSpPr>
        <p:spPr>
          <a:xfrm>
            <a:off x="612648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Social protection</a:t>
            </a:r>
          </a:p>
        </p:txBody>
      </p:sp>
      <p:sp>
        <p:nvSpPr>
          <p:cNvPr id="7" name="Rounded Rectangle 6"/>
          <p:cNvSpPr/>
          <p:nvPr/>
        </p:nvSpPr>
        <p:spPr>
          <a:xfrm>
            <a:off x="877824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Agriculture</a:t>
            </a:r>
          </a:p>
        </p:txBody>
      </p:sp>
      <p:sp>
        <p:nvSpPr>
          <p:cNvPr id="8" name="Rounded Rectangle 7"/>
          <p:cNvSpPr/>
          <p:nvPr/>
        </p:nvSpPr>
        <p:spPr>
          <a:xfrm>
            <a:off x="822960" y="3200400"/>
            <a:ext cx="10469880" cy="9144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Arial"/>
              </a:rPr>
              <a:t>PAERA — the same framework underneath</a:t>
            </a:r>
          </a:p>
        </p:txBody>
      </p:sp>
      <p:sp>
        <p:nvSpPr>
          <p:cNvPr id="9" name="TextBox 8"/>
          <p:cNvSpPr txBox="1"/>
          <p:nvPr/>
        </p:nvSpPr>
        <p:spPr>
          <a:xfrm>
            <a:off x="822960" y="4572000"/>
            <a:ext cx="10515600" cy="1280160"/>
          </a:xfrm>
          <a:prstGeom prst="rect">
            <a:avLst/>
          </a:prstGeom>
          <a:noFill/>
        </p:spPr>
        <p:txBody>
          <a:bodyPr wrap="square">
            <a:spAutoFit/>
          </a:bodyPr>
          <a:lstStyle/>
          <a:p>
            <a:pPr>
              <a:spcAft>
                <a:spcPts val="800"/>
              </a:spcAft>
            </a:pPr>
            <a:r>
              <a:rPr sz="1800" b="0" i="0">
                <a:solidFill>
                  <a:srgbClr val="1A1A1A"/>
                </a:solidFill>
                <a:latin typeface="Arial"/>
              </a:rPr>
              <a:t>Once your country builds the EA muscle for one sector, every next sector reuses the same investment.</a:t>
            </a:r>
          </a:p>
          <a:p>
            <a:pPr>
              <a:spcAft>
                <a:spcPts val="800"/>
              </a:spcAft>
            </a:pPr>
            <a:r>
              <a:rPr sz="1800" b="1" i="0">
                <a:solidFill>
                  <a:srgbClr val="006E96"/>
                </a:solidFill>
                <a:latin typeface="Arial"/>
              </a:rPr>
              <a:t>The second sector is cheaper than the first. The third is cheaper still.</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 connects your team to a working network</a:t>
            </a:r>
          </a:p>
        </p:txBody>
      </p:sp>
      <p:cxnSp>
        <p:nvCxnSpPr>
          <p:cNvPr id="4" name="Connector 3"/>
          <p:cNvCxnSpPr/>
          <p:nvPr/>
        </p:nvCxnSpPr>
        <p:spPr>
          <a:xfrm>
            <a:off x="2926079" y="2034540"/>
            <a:ext cx="3172969"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6099048" y="2034540"/>
            <a:ext cx="2953511"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2926079" y="3383280"/>
            <a:ext cx="3172969"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6099048" y="3383280"/>
            <a:ext cx="2953511"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6099048" y="3383280"/>
            <a:ext cx="27432" cy="244602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Building Block specifications</a:t>
            </a:r>
          </a:p>
        </p:txBody>
      </p:sp>
      <p:sp>
        <p:nvSpPr>
          <p:cNvPr id="10" name="Rounded Rectangle 9"/>
          <p:cNvSpPr/>
          <p:nvPr/>
        </p:nvSpPr>
        <p:spPr>
          <a:xfrm>
            <a:off x="694944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GovMarket — compliance-checked implementations</a:t>
            </a:r>
          </a:p>
        </p:txBody>
      </p:sp>
      <p:sp>
        <p:nvSpPr>
          <p:cNvPr id="11" name="Rounded Rectangle 10"/>
          <p:cNvSpPr/>
          <p:nvPr/>
        </p:nvSpPr>
        <p:spPr>
          <a:xfrm>
            <a:off x="82296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Certification programme</a:t>
            </a:r>
          </a:p>
        </p:txBody>
      </p:sp>
      <p:sp>
        <p:nvSpPr>
          <p:cNvPr id="12" name="Rounded Rectangle 11"/>
          <p:cNvSpPr/>
          <p:nvPr/>
        </p:nvSpPr>
        <p:spPr>
          <a:xfrm>
            <a:off x="694944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Sandbox for prototyping</a:t>
            </a:r>
          </a:p>
        </p:txBody>
      </p:sp>
      <p:sp>
        <p:nvSpPr>
          <p:cNvPr id="13" name="Rounded Rectangle 12"/>
          <p:cNvSpPr/>
          <p:nvPr/>
        </p:nvSpPr>
        <p:spPr>
          <a:xfrm>
            <a:off x="4023360" y="539496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Shared knowledge base</a:t>
            </a:r>
          </a:p>
        </p:txBody>
      </p:sp>
      <p:sp>
        <p:nvSpPr>
          <p:cNvPr id="14" name="Rounded Rectangle 13"/>
          <p:cNvSpPr/>
          <p:nvPr/>
        </p:nvSpPr>
        <p:spPr>
          <a:xfrm>
            <a:off x="4818888" y="2880360"/>
            <a:ext cx="2560320" cy="10058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Arial"/>
              </a:rPr>
              <a:t>PAERA</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783080"/>
            <a:ext cx="10149840" cy="2377440"/>
          </a:xfrm>
          <a:prstGeom prst="rect">
            <a:avLst/>
          </a:prstGeom>
          <a:noFill/>
        </p:spPr>
        <p:txBody>
          <a:bodyPr wrap="square">
            <a:spAutoFit/>
          </a:bodyPr>
          <a:lstStyle/>
          <a:p>
            <a:r>
              <a:rPr sz="3000" b="1" i="0">
                <a:solidFill>
                  <a:srgbClr val="1A1A1A"/>
                </a:solidFill>
                <a:latin typeface="Arial"/>
              </a:rPr>
              <a:t>PAERA is not a vendor choice. It is the choice to start with the work other countries have already done.</a:t>
            </a:r>
          </a:p>
        </p:txBody>
      </p:sp>
      <p:sp>
        <p:nvSpPr>
          <p:cNvPr id="3" name="TextBox 2"/>
          <p:cNvSpPr txBox="1"/>
          <p:nvPr/>
        </p:nvSpPr>
        <p:spPr>
          <a:xfrm>
            <a:off x="1005840" y="3840480"/>
            <a:ext cx="10149840" cy="731520"/>
          </a:xfrm>
          <a:prstGeom prst="rect">
            <a:avLst/>
          </a:prstGeom>
          <a:noFill/>
        </p:spPr>
        <p:txBody>
          <a:bodyPr wrap="square">
            <a:spAutoFit/>
          </a:bodyPr>
          <a:lstStyle/>
          <a:p>
            <a:r>
              <a:rPr sz="1600" b="0" i="1">
                <a:solidFill>
                  <a:srgbClr val="595959"/>
                </a:solidFill>
                <a:latin typeface="Arial"/>
              </a:rPr>
              <a:t>So your team spends its time on what is specific to your country.</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Rounded Rectangle 4"/>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country's existing initiatives against PAERA's five foundations.</a:t>
            </a:r>
          </a:p>
          <a:p>
            <a:pPr algn="l">
              <a:spcAft>
                <a:spcPts val="400"/>
              </a:spcAft>
            </a:pPr>
            <a:r>
              <a:rPr sz="1800" b="0" i="0">
                <a:solidFill>
                  <a:srgbClr val="595959"/>
                </a:solidFill>
                <a:latin typeface="Arial"/>
              </a:rPr>
              <a:t>The prompt in the companion material gives you a per-initiative coverage table plus a coverage summary. Before the next video.</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
        <p:nvSpPr>
          <p:cNvPr id="7" name="TextBox 6"/>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paera.govstack.global (§1.2 Motivation; §1.3 GovStack Vision)</a:t>
            </a:r>
          </a:p>
          <a:p>
            <a:pPr>
              <a:spcAft>
                <a:spcPts val="1200"/>
              </a:spcAft>
            </a:pPr>
            <a:r>
              <a:rPr sz="1700" b="0" i="0">
                <a:solidFill>
                  <a:srgbClr val="1A1A1A"/>
                </a:solidFill>
                <a:latin typeface="Arial"/>
              </a:rPr>
              <a:t>•  GovStack — govstack.global</a:t>
            </a:r>
          </a:p>
          <a:p>
            <a:pPr>
              <a:spcAft>
                <a:spcPts val="1200"/>
              </a:spcAft>
            </a:pPr>
            <a:r>
              <a:rPr sz="1700" b="0" i="0">
                <a:solidFill>
                  <a:srgbClr val="1A1A1A"/>
                </a:solidFill>
                <a:latin typeface="Arial"/>
              </a:rPr>
              <a:t>•  GovMarket — marketplace of compliance-checked implementations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lifecycle on one page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Six months from start to a roadmap your minister can take to cabinet. Then ongoing governance. Five phases. Four sign-offs. One continuous practice.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If you take one picture away from this knowledge product, take this 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EA lifecycle on a single page.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phases. Four sign-offs. Six months to a roadmap.</a:t>
            </a:r>
          </a:p>
        </p:txBody>
      </p:sp>
      <p:sp>
        <p:nvSpPr>
          <p:cNvPr id="4" name="Rounded Rectangle 3"/>
          <p:cNvSpPr/>
          <p:nvPr/>
        </p:nvSpPr>
        <p:spPr>
          <a:xfrm>
            <a:off x="548640"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Discover</a:t>
            </a:r>
          </a:p>
          <a:p>
            <a:pPr algn="ctr"/>
            <a:r>
              <a:rPr sz="1200" b="0" i="1">
                <a:solidFill>
                  <a:srgbClr val="595959"/>
                </a:solidFill>
                <a:latin typeface="Arial"/>
              </a:rPr>
              <a:t>What exists today?</a:t>
            </a:r>
          </a:p>
        </p:txBody>
      </p:sp>
      <p:sp>
        <p:nvSpPr>
          <p:cNvPr id="5" name="TextBox 4"/>
          <p:cNvSpPr txBox="1"/>
          <p:nvPr/>
        </p:nvSpPr>
        <p:spPr>
          <a:xfrm>
            <a:off x="548640" y="3493008"/>
            <a:ext cx="2084831" cy="365760"/>
          </a:xfrm>
          <a:prstGeom prst="rect">
            <a:avLst/>
          </a:prstGeom>
          <a:noFill/>
        </p:spPr>
        <p:txBody>
          <a:bodyPr wrap="square">
            <a:spAutoFit/>
          </a:bodyPr>
          <a:lstStyle/>
          <a:p>
            <a:pPr algn="ctr"/>
            <a:r>
              <a:rPr sz="1300" b="1" i="0">
                <a:solidFill>
                  <a:srgbClr val="006E96"/>
                </a:solidFill>
                <a:latin typeface="Arial"/>
              </a:rPr>
              <a:t>3–4 wks</a:t>
            </a:r>
          </a:p>
        </p:txBody>
      </p:sp>
      <p:sp>
        <p:nvSpPr>
          <p:cNvPr id="6" name="Diamond 5"/>
          <p:cNvSpPr/>
          <p:nvPr/>
        </p:nvSpPr>
        <p:spPr>
          <a:xfrm>
            <a:off x="2628899"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07208"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Assess</a:t>
            </a:r>
          </a:p>
          <a:p>
            <a:pPr algn="ctr"/>
            <a:r>
              <a:rPr sz="1200" b="0" i="1">
                <a:solidFill>
                  <a:srgbClr val="595959"/>
                </a:solidFill>
                <a:latin typeface="Arial"/>
              </a:rPr>
              <a:t>What is the gap?</a:t>
            </a:r>
          </a:p>
        </p:txBody>
      </p:sp>
      <p:sp>
        <p:nvSpPr>
          <p:cNvPr id="8" name="TextBox 7"/>
          <p:cNvSpPr txBox="1"/>
          <p:nvPr/>
        </p:nvSpPr>
        <p:spPr>
          <a:xfrm>
            <a:off x="2807208"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9" name="Diamond 8"/>
          <p:cNvSpPr/>
          <p:nvPr/>
        </p:nvSpPr>
        <p:spPr>
          <a:xfrm>
            <a:off x="4887468"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65775"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Adapt</a:t>
            </a:r>
          </a:p>
          <a:p>
            <a:pPr algn="ctr"/>
            <a:r>
              <a:rPr sz="1200" b="0" i="1">
                <a:solidFill>
                  <a:srgbClr val="595959"/>
                </a:solidFill>
                <a:latin typeface="Arial"/>
              </a:rPr>
              <a:t>What fits our country?</a:t>
            </a:r>
          </a:p>
        </p:txBody>
      </p:sp>
      <p:sp>
        <p:nvSpPr>
          <p:cNvPr id="11" name="TextBox 10"/>
          <p:cNvSpPr txBox="1"/>
          <p:nvPr/>
        </p:nvSpPr>
        <p:spPr>
          <a:xfrm>
            <a:off x="5065775" y="3493008"/>
            <a:ext cx="2084831" cy="365760"/>
          </a:xfrm>
          <a:prstGeom prst="rect">
            <a:avLst/>
          </a:prstGeom>
          <a:noFill/>
        </p:spPr>
        <p:txBody>
          <a:bodyPr wrap="square">
            <a:spAutoFit/>
          </a:bodyPr>
          <a:lstStyle/>
          <a:p>
            <a:pPr algn="ctr"/>
            <a:r>
              <a:rPr sz="1300" b="1" i="0">
                <a:solidFill>
                  <a:srgbClr val="006E96"/>
                </a:solidFill>
                <a:latin typeface="Arial"/>
              </a:rPr>
              <a:t>4–6 wks</a:t>
            </a:r>
          </a:p>
        </p:txBody>
      </p:sp>
      <p:sp>
        <p:nvSpPr>
          <p:cNvPr id="12" name="Diamond 11"/>
          <p:cNvSpPr/>
          <p:nvPr/>
        </p:nvSpPr>
        <p:spPr>
          <a:xfrm>
            <a:off x="7146036"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24344"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Plan</a:t>
            </a:r>
          </a:p>
          <a:p>
            <a:pPr algn="ctr"/>
            <a:r>
              <a:rPr sz="1200" b="0" i="1">
                <a:solidFill>
                  <a:srgbClr val="595959"/>
                </a:solidFill>
                <a:latin typeface="Arial"/>
              </a:rPr>
              <a:t>How do we get there?</a:t>
            </a:r>
          </a:p>
        </p:txBody>
      </p:sp>
      <p:sp>
        <p:nvSpPr>
          <p:cNvPr id="14" name="TextBox 13"/>
          <p:cNvSpPr txBox="1"/>
          <p:nvPr/>
        </p:nvSpPr>
        <p:spPr>
          <a:xfrm>
            <a:off x="7324344"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15" name="Diamond 14"/>
          <p:cNvSpPr/>
          <p:nvPr/>
        </p:nvSpPr>
        <p:spPr>
          <a:xfrm>
            <a:off x="9404603"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582911" y="1965960"/>
            <a:ext cx="2084831"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rial"/>
              </a:rPr>
              <a:t>Execute &amp; Govern</a:t>
            </a:r>
          </a:p>
          <a:p>
            <a:pPr algn="ctr"/>
            <a:r>
              <a:rPr sz="1200" b="0" i="1">
                <a:solidFill>
                  <a:srgbClr val="FFFFFF"/>
                </a:solidFill>
                <a:latin typeface="Arial"/>
              </a:rPr>
              <a:t>How do we sustain this?</a:t>
            </a:r>
          </a:p>
        </p:txBody>
      </p:sp>
      <p:sp>
        <p:nvSpPr>
          <p:cNvPr id="17" name="TextBox 16"/>
          <p:cNvSpPr txBox="1"/>
          <p:nvPr/>
        </p:nvSpPr>
        <p:spPr>
          <a:xfrm>
            <a:off x="9582911" y="3493008"/>
            <a:ext cx="2084831" cy="365760"/>
          </a:xfrm>
          <a:prstGeom prst="rect">
            <a:avLst/>
          </a:prstGeom>
          <a:noFill/>
        </p:spPr>
        <p:txBody>
          <a:bodyPr wrap="square">
            <a:spAutoFit/>
          </a:bodyPr>
          <a:lstStyle/>
          <a:p>
            <a:pPr algn="ctr"/>
            <a:r>
              <a:rPr sz="1300" b="1" i="0">
                <a:solidFill>
                  <a:srgbClr val="595959"/>
                </a:solidFill>
                <a:latin typeface="Arial"/>
              </a:rPr>
              <a:t>Ongoing</a:t>
            </a:r>
          </a:p>
        </p:txBody>
      </p:sp>
      <p:sp>
        <p:nvSpPr>
          <p:cNvPr id="18" name="TextBox 17"/>
          <p:cNvSpPr txBox="1"/>
          <p:nvPr/>
        </p:nvSpPr>
        <p:spPr>
          <a:xfrm>
            <a:off x="548640" y="4160520"/>
            <a:ext cx="11064240" cy="457200"/>
          </a:xfrm>
          <a:prstGeom prst="rect">
            <a:avLst/>
          </a:prstGeom>
          <a:noFill/>
        </p:spPr>
        <p:txBody>
          <a:bodyPr wrap="square">
            <a:spAutoFit/>
          </a:bodyPr>
          <a:lstStyle/>
          <a:p>
            <a:r>
              <a:rPr sz="1350" b="0" i="0">
                <a:solidFill>
                  <a:srgbClr val="595959"/>
                </a:solidFill>
                <a:latin typeface="Arial"/>
              </a:rPr>
              <a:t>◆ = sign-off by the senior decision-maker. Each phase answers one question and produces one deliverable.</a:t>
            </a:r>
          </a:p>
        </p:txBody>
      </p:sp>
      <p:sp>
        <p:nvSpPr>
          <p:cNvPr id="19" name="Rounded Rectangle 18"/>
          <p:cNvSpPr/>
          <p:nvPr/>
        </p:nvSpPr>
        <p:spPr>
          <a:xfrm>
            <a:off x="548640" y="4800600"/>
            <a:ext cx="8823960" cy="50292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595959"/>
                </a:solidFill>
                <a:latin typeface="Arial"/>
              </a:rPr>
              <a:t>Phases 1–4: about six months, four sign-offs</a:t>
            </a:r>
          </a:p>
        </p:txBody>
      </p:sp>
      <p:sp>
        <p:nvSpPr>
          <p:cNvPr id="20" name="Rounded Rectangle 19"/>
          <p:cNvSpPr/>
          <p:nvPr/>
        </p:nvSpPr>
        <p:spPr>
          <a:xfrm>
            <a:off x="9555480" y="4800600"/>
            <a:ext cx="2084831" cy="5029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permanent practice</a:t>
            </a:r>
          </a:p>
        </p:txBody>
      </p:sp>
      <p:sp>
        <p:nvSpPr>
          <p:cNvPr id="21" name="TextBox 20"/>
          <p:cNvSpPr txBox="1"/>
          <p:nvPr/>
        </p:nvSpPr>
        <p:spPr>
          <a:xfrm>
            <a:off x="548640" y="5577840"/>
            <a:ext cx="11064240" cy="548640"/>
          </a:xfrm>
          <a:prstGeom prst="rect">
            <a:avLst/>
          </a:prstGeom>
          <a:noFill/>
        </p:spPr>
        <p:txBody>
          <a:bodyPr wrap="square">
            <a:spAutoFit/>
          </a:bodyPr>
          <a:lstStyle/>
          <a:p>
            <a:r>
              <a:rPr sz="1300" b="0" i="1">
                <a:solidFill>
                  <a:srgbClr val="595959"/>
                </a:solidFill>
                <a:latin typeface="Arial"/>
              </a:rPr>
              <a:t>Screenshot this page for your EA Board room wall.</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phase: one question, one deliverable, one sign-off</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941832"/>
          </a:xfrm>
          <a:prstGeom prst="rect">
            <a:avLst/>
          </a:prstGeom>
          <a:noFill/>
        </p:spPr>
        <p:txBody>
          <a:bodyPr wrap="square">
            <a:spAutoFit/>
          </a:bodyPr>
          <a:lstStyle/>
          <a:p>
            <a:pPr>
              <a:spcAft>
                <a:spcPts val="300"/>
              </a:spcAft>
            </a:pPr>
            <a:r>
              <a:rPr sz="1800" b="1" i="0">
                <a:solidFill>
                  <a:srgbClr val="1A1A1A"/>
                </a:solidFill>
                <a:latin typeface="Arial"/>
              </a:rPr>
              <a:t>Discover · 3–4 weeks</a:t>
            </a:r>
          </a:p>
          <a:p>
            <a:pPr>
              <a:spcAft>
                <a:spcPts val="300"/>
              </a:spcAft>
            </a:pPr>
            <a:r>
              <a:rPr sz="1500" b="0" i="0">
                <a:solidFill>
                  <a:srgbClr val="595959"/>
                </a:solidFill>
                <a:latin typeface="Arial"/>
              </a:rPr>
              <a:t>What exists today? → a Discovery brief, no recommendations yet. Sign-off: the picture is accurate.</a:t>
            </a:r>
          </a:p>
        </p:txBody>
      </p:sp>
      <p:sp>
        <p:nvSpPr>
          <p:cNvPr id="6" name="Rectangle 5"/>
          <p:cNvSpPr/>
          <p:nvPr/>
        </p:nvSpPr>
        <p:spPr>
          <a:xfrm>
            <a:off x="621792" y="231800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0487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59152"/>
            <a:ext cx="10527487" cy="941832"/>
          </a:xfrm>
          <a:prstGeom prst="rect">
            <a:avLst/>
          </a:prstGeom>
          <a:noFill/>
        </p:spPr>
        <p:txBody>
          <a:bodyPr wrap="square">
            <a:spAutoFit/>
          </a:bodyPr>
          <a:lstStyle/>
          <a:p>
            <a:pPr>
              <a:spcAft>
                <a:spcPts val="300"/>
              </a:spcAft>
            </a:pPr>
            <a:r>
              <a:rPr sz="1800" b="1" i="0">
                <a:solidFill>
                  <a:srgbClr val="1A1A1A"/>
                </a:solidFill>
                <a:latin typeface="Arial"/>
              </a:rPr>
              <a:t>Assess · 6–8 weeks</a:t>
            </a:r>
          </a:p>
          <a:p>
            <a:pPr>
              <a:spcAft>
                <a:spcPts val="300"/>
              </a:spcAft>
            </a:pPr>
            <a:r>
              <a:rPr sz="1500" b="0" i="0">
                <a:solidFill>
                  <a:srgbClr val="595959"/>
                </a:solidFill>
                <a:latin typeface="Arial"/>
              </a:rPr>
              <a:t>What is the gap? → the current state in the four parts of an EA, plus maturity scorecards. Sign-off: the gap analysis reflects ground truth.</a:t>
            </a:r>
          </a:p>
        </p:txBody>
      </p:sp>
      <p:sp>
        <p:nvSpPr>
          <p:cNvPr id="9" name="Rectangle 8"/>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3924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46704"/>
            <a:ext cx="10527487" cy="941832"/>
          </a:xfrm>
          <a:prstGeom prst="rect">
            <a:avLst/>
          </a:prstGeom>
          <a:noFill/>
        </p:spPr>
        <p:txBody>
          <a:bodyPr wrap="square">
            <a:spAutoFit/>
          </a:bodyPr>
          <a:lstStyle/>
          <a:p>
            <a:pPr>
              <a:spcAft>
                <a:spcPts val="300"/>
              </a:spcAft>
            </a:pPr>
            <a:r>
              <a:rPr sz="1800" b="1" i="0">
                <a:solidFill>
                  <a:srgbClr val="1A1A1A"/>
                </a:solidFill>
                <a:latin typeface="Arial"/>
              </a:rPr>
              <a:t>Adapt · 4–6 weeks</a:t>
            </a:r>
          </a:p>
          <a:p>
            <a:pPr>
              <a:spcAft>
                <a:spcPts val="300"/>
              </a:spcAft>
            </a:pPr>
            <a:r>
              <a:rPr sz="1500" b="0" i="0">
                <a:solidFill>
                  <a:srgbClr val="595959"/>
                </a:solidFill>
                <a:latin typeface="Arial"/>
              </a:rPr>
              <a:t>What fits our country? → a localised framework with sourcing decisions. Sign-off: the framework and the build / buy / share approach.</a:t>
            </a:r>
          </a:p>
        </p:txBody>
      </p:sp>
      <p:sp>
        <p:nvSpPr>
          <p:cNvPr id="12" name="Rectangle 11"/>
          <p:cNvSpPr/>
          <p:nvPr/>
        </p:nvSpPr>
        <p:spPr>
          <a:xfrm>
            <a:off x="621792" y="429310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37997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334256"/>
            <a:ext cx="10527487" cy="941832"/>
          </a:xfrm>
          <a:prstGeom prst="rect">
            <a:avLst/>
          </a:prstGeom>
          <a:noFill/>
        </p:spPr>
        <p:txBody>
          <a:bodyPr wrap="square">
            <a:spAutoFit/>
          </a:bodyPr>
          <a:lstStyle/>
          <a:p>
            <a:pPr>
              <a:spcAft>
                <a:spcPts val="300"/>
              </a:spcAft>
            </a:pPr>
            <a:r>
              <a:rPr sz="1800" b="1" i="0">
                <a:solidFill>
                  <a:srgbClr val="1A1A1A"/>
                </a:solidFill>
                <a:latin typeface="Arial"/>
              </a:rPr>
              <a:t>Plan · 6–8 weeks</a:t>
            </a:r>
          </a:p>
          <a:p>
            <a:pPr>
              <a:spcAft>
                <a:spcPts val="300"/>
              </a:spcAft>
            </a:pPr>
            <a:r>
              <a:rPr sz="1500" b="0" i="0">
                <a:solidFill>
                  <a:srgbClr val="595959"/>
                </a:solidFill>
                <a:latin typeface="Arial"/>
              </a:rPr>
              <a:t>How do we get there? → a roadmap and investment plan, the deliverable your minister takes to cabinet. Sign-off: roadmap approved, budget committed.</a:t>
            </a:r>
          </a:p>
        </p:txBody>
      </p:sp>
      <p:sp>
        <p:nvSpPr>
          <p:cNvPr id="15" name="Rectangle 14"/>
          <p:cNvSpPr/>
          <p:nvPr/>
        </p:nvSpPr>
        <p:spPr>
          <a:xfrm>
            <a:off x="621792" y="52806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36752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321808"/>
            <a:ext cx="10527487" cy="941832"/>
          </a:xfrm>
          <a:prstGeom prst="rect">
            <a:avLst/>
          </a:prstGeom>
          <a:noFill/>
        </p:spPr>
        <p:txBody>
          <a:bodyPr wrap="square">
            <a:spAutoFit/>
          </a:bodyPr>
          <a:lstStyle/>
          <a:p>
            <a:pPr>
              <a:spcAft>
                <a:spcPts val="300"/>
              </a:spcAft>
            </a:pPr>
            <a:r>
              <a:rPr sz="1800" b="1" i="0">
                <a:solidFill>
                  <a:srgbClr val="1A1A1A"/>
                </a:solidFill>
                <a:latin typeface="Arial"/>
              </a:rPr>
              <a:t>Execute &amp; Govern · ongoing</a:t>
            </a:r>
          </a:p>
          <a:p>
            <a:pPr>
              <a:spcAft>
                <a:spcPts val="300"/>
              </a:spcAft>
            </a:pPr>
            <a:r>
              <a:rPr sz="1500" b="0" i="0">
                <a:solidFill>
                  <a:srgbClr val="595959"/>
                </a:solidFill>
                <a:latin typeface="Arial"/>
              </a:rPr>
              <a:t>How do we sustain this? → a living, governed EA, repository plus practice. Cadence: quarterly Board reviews.</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Your minister reviews four times — not every diagram</a:t>
            </a:r>
          </a:p>
        </p:txBody>
      </p:sp>
      <p:sp>
        <p:nvSpPr>
          <p:cNvPr id="4" name="Rectangle 3"/>
          <p:cNvSpPr/>
          <p:nvPr/>
        </p:nvSpPr>
        <p:spPr>
          <a:xfrm>
            <a:off x="822960" y="251460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iamond 4"/>
          <p:cNvSpPr/>
          <p:nvPr/>
        </p:nvSpPr>
        <p:spPr>
          <a:xfrm>
            <a:off x="137160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picture is accurate</a:t>
            </a:r>
          </a:p>
          <a:p>
            <a:pPr algn="ctr">
              <a:spcAft>
                <a:spcPts val="300"/>
              </a:spcAft>
            </a:pPr>
            <a:r>
              <a:rPr sz="1200" b="0" i="0">
                <a:solidFill>
                  <a:srgbClr val="595959"/>
                </a:solidFill>
                <a:latin typeface="Arial"/>
              </a:rPr>
              <a:t>end of Discover</a:t>
            </a:r>
          </a:p>
        </p:txBody>
      </p:sp>
      <p:sp>
        <p:nvSpPr>
          <p:cNvPr id="7" name="Diamond 6"/>
          <p:cNvSpPr/>
          <p:nvPr/>
        </p:nvSpPr>
        <p:spPr>
          <a:xfrm>
            <a:off x="406908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gap reflects ground truth</a:t>
            </a:r>
          </a:p>
          <a:p>
            <a:pPr algn="ctr">
              <a:spcAft>
                <a:spcPts val="300"/>
              </a:spcAft>
            </a:pPr>
            <a:r>
              <a:rPr sz="1200" b="0" i="0">
                <a:solidFill>
                  <a:srgbClr val="595959"/>
                </a:solidFill>
                <a:latin typeface="Arial"/>
              </a:rPr>
              <a:t>end of Assess</a:t>
            </a:r>
          </a:p>
        </p:txBody>
      </p:sp>
      <p:sp>
        <p:nvSpPr>
          <p:cNvPr id="9" name="Diamond 8"/>
          <p:cNvSpPr/>
          <p:nvPr/>
        </p:nvSpPr>
        <p:spPr>
          <a:xfrm>
            <a:off x="676656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Framework + sourcing approach</a:t>
            </a:r>
          </a:p>
          <a:p>
            <a:pPr algn="ctr">
              <a:spcAft>
                <a:spcPts val="300"/>
              </a:spcAft>
            </a:pPr>
            <a:r>
              <a:rPr sz="1200" b="0" i="0">
                <a:solidFill>
                  <a:srgbClr val="595959"/>
                </a:solidFill>
                <a:latin typeface="Arial"/>
              </a:rPr>
              <a:t>end of Adapt</a:t>
            </a:r>
          </a:p>
        </p:txBody>
      </p:sp>
      <p:sp>
        <p:nvSpPr>
          <p:cNvPr id="11" name="Diamond 10"/>
          <p:cNvSpPr/>
          <p:nvPr/>
        </p:nvSpPr>
        <p:spPr>
          <a:xfrm>
            <a:off x="946404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Roadmap approved, budget committed</a:t>
            </a:r>
          </a:p>
          <a:p>
            <a:pPr algn="ctr">
              <a:spcAft>
                <a:spcPts val="300"/>
              </a:spcAft>
            </a:pPr>
            <a:r>
              <a:rPr sz="1200" b="0" i="0">
                <a:solidFill>
                  <a:srgbClr val="595959"/>
                </a:solidFill>
                <a:latin typeface="Arial"/>
              </a:rPr>
              <a:t>end of Plan</a:t>
            </a:r>
          </a:p>
        </p:txBody>
      </p:sp>
      <p:sp>
        <p:nvSpPr>
          <p:cNvPr id="13" name="TextBox 12"/>
          <p:cNvSpPr txBox="1"/>
          <p:nvPr/>
        </p:nvSpPr>
        <p:spPr>
          <a:xfrm>
            <a:off x="822960" y="4251960"/>
            <a:ext cx="10515600" cy="1051560"/>
          </a:xfrm>
          <a:prstGeom prst="rect">
            <a:avLst/>
          </a:prstGeom>
          <a:noFill/>
        </p:spPr>
        <p:txBody>
          <a:bodyPr wrap="square">
            <a:spAutoFit/>
          </a:bodyPr>
          <a:lstStyle/>
          <a:p>
            <a:pPr>
              <a:spcAft>
                <a:spcPts val="600"/>
              </a:spcAft>
            </a:pPr>
            <a:r>
              <a:rPr sz="1800" b="0" i="0">
                <a:solidFill>
                  <a:srgbClr val="1A1A1A"/>
                </a:solidFill>
                <a:latin typeface="Arial"/>
              </a:rPr>
              <a:t>Between sign-offs, the architects work.</a:t>
            </a:r>
          </a:p>
          <a:p>
            <a:pPr>
              <a:spcAft>
                <a:spcPts val="600"/>
              </a:spcAft>
            </a:pPr>
            <a:r>
              <a:rPr sz="1600" b="0" i="0">
                <a:solidFill>
                  <a:srgbClr val="595959"/>
                </a:solidFill>
                <a:latin typeface="Arial"/>
              </a:rPr>
              <a:t>The minister’s job in between is to remove obstacles — the political ones, mostly. The technical ones are why the architects were hired.</a:t>
            </a:r>
          </a:p>
        </p:txBody>
      </p:sp>
      <p:sp>
        <p:nvSpPr>
          <p:cNvPr id="14" name="Rounded Rectangle 13"/>
          <p:cNvSpPr/>
          <p:nvPr/>
        </p:nvSpPr>
        <p:spPr>
          <a:xfrm>
            <a:off x="822960" y="5440680"/>
            <a:ext cx="10515600" cy="6858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586984"/>
            <a:ext cx="10058400" cy="411480"/>
          </a:xfrm>
          <a:prstGeom prst="rect">
            <a:avLst/>
          </a:prstGeom>
          <a:noFill/>
        </p:spPr>
        <p:txBody>
          <a:bodyPr wrap="square">
            <a:spAutoFit/>
          </a:bodyPr>
          <a:lstStyle/>
          <a:p>
            <a:pPr>
              <a:spcAft>
                <a:spcPts val="700"/>
              </a:spcAft>
            </a:pPr>
            <a:r>
              <a:rPr sz="1500" b="1" i="0">
                <a:solidFill>
                  <a:srgbClr val="006E96"/>
                </a:solidFill>
                <a:latin typeface="Arial"/>
              </a:rPr>
              <a:t>Discover before you measure. Measure before you adapt. Adapt before you plan. Plan before you execute. Govern always.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Week 1 to week 26 — then forever</a:t>
            </a:r>
          </a:p>
        </p:txBody>
      </p:sp>
      <p:sp>
        <p:nvSpPr>
          <p:cNvPr id="4" name="Rectangle 3"/>
          <p:cNvSpPr/>
          <p:nvPr/>
        </p:nvSpPr>
        <p:spPr>
          <a:xfrm>
            <a:off x="822960" y="278892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26243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783080"/>
            <a:ext cx="2286000" cy="548640"/>
          </a:xfrm>
          <a:prstGeom prst="rect">
            <a:avLst/>
          </a:prstGeom>
          <a:noFill/>
        </p:spPr>
        <p:txBody>
          <a:bodyPr wrap="square">
            <a:spAutoFit/>
          </a:bodyPr>
          <a:lstStyle/>
          <a:p>
            <a:pPr algn="ctr"/>
            <a:r>
              <a:rPr sz="1800" b="1" i="0">
                <a:solidFill>
                  <a:srgbClr val="1A1A1A"/>
                </a:solidFill>
                <a:latin typeface="Arial"/>
              </a:rPr>
              <a:t>Week 1</a:t>
            </a:r>
          </a:p>
        </p:txBody>
      </p:sp>
      <p:sp>
        <p:nvSpPr>
          <p:cNvPr id="7" name="TextBox 6"/>
          <p:cNvSpPr txBox="1"/>
          <p:nvPr/>
        </p:nvSpPr>
        <p:spPr>
          <a:xfrm>
            <a:off x="45720" y="3246120"/>
            <a:ext cx="2743200" cy="914400"/>
          </a:xfrm>
          <a:prstGeom prst="rect">
            <a:avLst/>
          </a:prstGeom>
          <a:noFill/>
        </p:spPr>
        <p:txBody>
          <a:bodyPr wrap="square">
            <a:spAutoFit/>
          </a:bodyPr>
          <a:lstStyle/>
          <a:p>
            <a:pPr algn="ctr"/>
            <a:r>
              <a:rPr sz="1400" b="0" i="0">
                <a:solidFill>
                  <a:srgbClr val="595959"/>
                </a:solidFill>
                <a:latin typeface="Arial"/>
              </a:rPr>
              <a:t>Discovery begins</a:t>
            </a:r>
          </a:p>
        </p:txBody>
      </p:sp>
      <p:sp>
        <p:nvSpPr>
          <p:cNvPr id="8" name="Oval 7"/>
          <p:cNvSpPr/>
          <p:nvPr/>
        </p:nvSpPr>
        <p:spPr>
          <a:xfrm>
            <a:off x="5486400" y="26243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783080"/>
            <a:ext cx="2286000" cy="548640"/>
          </a:xfrm>
          <a:prstGeom prst="rect">
            <a:avLst/>
          </a:prstGeom>
          <a:noFill/>
        </p:spPr>
        <p:txBody>
          <a:bodyPr wrap="square">
            <a:spAutoFit/>
          </a:bodyPr>
          <a:lstStyle/>
          <a:p>
            <a:pPr algn="ctr"/>
            <a:r>
              <a:rPr sz="1800" b="1" i="0">
                <a:solidFill>
                  <a:srgbClr val="1A1A1A"/>
                </a:solidFill>
                <a:latin typeface="Arial"/>
              </a:rPr>
              <a:t>Week 26</a:t>
            </a:r>
          </a:p>
        </p:txBody>
      </p:sp>
      <p:sp>
        <p:nvSpPr>
          <p:cNvPr id="10" name="TextBox 9"/>
          <p:cNvSpPr txBox="1"/>
          <p:nvPr/>
        </p:nvSpPr>
        <p:spPr>
          <a:xfrm>
            <a:off x="4343400" y="3246120"/>
            <a:ext cx="2743200" cy="914400"/>
          </a:xfrm>
          <a:prstGeom prst="rect">
            <a:avLst/>
          </a:prstGeom>
          <a:noFill/>
        </p:spPr>
        <p:txBody>
          <a:bodyPr wrap="square">
            <a:spAutoFit/>
          </a:bodyPr>
          <a:lstStyle/>
          <a:p>
            <a:pPr algn="ctr"/>
            <a:r>
              <a:rPr sz="1400" b="0" i="0">
                <a:solidFill>
                  <a:srgbClr val="595959"/>
                </a:solidFill>
                <a:latin typeface="Arial"/>
              </a:rPr>
              <a:t>Approved roadmap — to cabinet</a:t>
            </a:r>
          </a:p>
        </p:txBody>
      </p:sp>
      <p:sp>
        <p:nvSpPr>
          <p:cNvPr id="11" name="Oval 10"/>
          <p:cNvSpPr/>
          <p:nvPr/>
        </p:nvSpPr>
        <p:spPr>
          <a:xfrm>
            <a:off x="9692640" y="26243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1783080"/>
            <a:ext cx="2286000" cy="548640"/>
          </a:xfrm>
          <a:prstGeom prst="rect">
            <a:avLst/>
          </a:prstGeom>
          <a:noFill/>
        </p:spPr>
        <p:txBody>
          <a:bodyPr wrap="square">
            <a:spAutoFit/>
          </a:bodyPr>
          <a:lstStyle/>
          <a:p>
            <a:pPr algn="ctr"/>
            <a:r>
              <a:rPr sz="1800" b="1" i="0">
                <a:solidFill>
                  <a:srgbClr val="1A1A1A"/>
                </a:solidFill>
                <a:latin typeface="Arial"/>
              </a:rPr>
              <a:t>Ongoing</a:t>
            </a:r>
          </a:p>
        </p:txBody>
      </p:sp>
      <p:sp>
        <p:nvSpPr>
          <p:cNvPr id="13" name="TextBox 12"/>
          <p:cNvSpPr txBox="1"/>
          <p:nvPr/>
        </p:nvSpPr>
        <p:spPr>
          <a:xfrm>
            <a:off x="8549640" y="3246120"/>
            <a:ext cx="2743200" cy="914400"/>
          </a:xfrm>
          <a:prstGeom prst="rect">
            <a:avLst/>
          </a:prstGeom>
          <a:noFill/>
        </p:spPr>
        <p:txBody>
          <a:bodyPr wrap="square">
            <a:spAutoFit/>
          </a:bodyPr>
          <a:lstStyle/>
          <a:p>
            <a:pPr algn="ctr"/>
            <a:r>
              <a:rPr sz="1400" b="0" i="0">
                <a:solidFill>
                  <a:srgbClr val="595959"/>
                </a:solidFill>
                <a:latin typeface="Arial"/>
              </a:rPr>
              <a:t>Governed EA — permanent practice</a:t>
            </a:r>
          </a:p>
        </p:txBody>
      </p:sp>
      <p:sp>
        <p:nvSpPr>
          <p:cNvPr id="14" name="TextBox 13"/>
          <p:cNvSpPr txBox="1"/>
          <p:nvPr/>
        </p:nvSpPr>
        <p:spPr>
          <a:xfrm>
            <a:off x="822960" y="4023360"/>
            <a:ext cx="10515600" cy="594360"/>
          </a:xfrm>
          <a:prstGeom prst="rect">
            <a:avLst/>
          </a:prstGeom>
          <a:noFill/>
        </p:spPr>
        <p:txBody>
          <a:bodyPr wrap="square">
            <a:spAutoFit/>
          </a:bodyPr>
          <a:lstStyle/>
          <a:p>
            <a:r>
              <a:rPr sz="1700" b="0" i="0">
                <a:solidFill>
                  <a:srgbClr val="1A1A1A"/>
                </a:solidFill>
                <a:latin typeface="Arial"/>
              </a:rPr>
              <a:t>“Months, not years” is not a slogan. It is the consequence of five phases, each with a clear question, a clear deliverable, and a clear sign-off.</a:t>
            </a:r>
          </a:p>
        </p:txBody>
      </p:sp>
      <p:sp>
        <p:nvSpPr>
          <p:cNvPr id="15" name="Rounded Rectangle 14"/>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a phase-by-phase RACI for your country's EA programme.</a:t>
            </a:r>
          </a:p>
          <a:p>
            <a:pPr algn="l">
              <a:spcAft>
                <a:spcPts val="400"/>
              </a:spcAft>
            </a:pPr>
            <a:r>
              <a:rPr sz="1800" b="0" i="0">
                <a:solidFill>
                  <a:srgbClr val="595959"/>
                </a:solidFill>
                <a:latin typeface="Arial"/>
              </a:rPr>
              <a:t>The prompt in the companion material gives you a per-phase RACI matrix plus a list of role gaps to resolve. Before the next video.</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you will need from your minister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Four asks. A small permanent EA team. An EA Board with real authority. About two per cent of digital budget, sustained for five years. And one promise — that the team will not be pulled onto the urgent project of the week.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Your minister is convinced. Now the harder part.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Four specific things the minister must commit to.</a:t>
            </a:r>
          </a:p>
          <a:p>
            <a:pPr>
              <a:spcAft>
                <a:spcPts val="800"/>
              </a:spcAft>
            </a:pPr>
            <a:r>
              <a:rPr sz="1700" b="0" i="0">
                <a:solidFill>
                  <a:srgbClr val="595959"/>
                </a:solidFill>
                <a:latin typeface="Arial"/>
              </a:rPr>
              <a:t>Each one is necessary — without any one of them the EA programme will struggle.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1 — A small permanent EA team</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SIZE</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2 to 4 senior architects — permanent, reporting to your CDO or equivalent</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TYPICALLY</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A chief architect, domain architects, a methodology lead. Smaller countries: 2 people, each carrying several domains.</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NOT</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Consultants. Not a temporary unit.</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POINT</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The institutional home of architecture — it exists whether or not any single programme is running.</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2 — An EA Board with binding authority</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CHAIR</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Your CDO — or the minister directly</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MEMBERS</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Sector ministry CIOs, owners of the major state registers, optionally an external advisor</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CADENCE</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Quarterly main meetings; ad-hoc for urgent decisions</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MANDATE</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BINDING — not advisory. Without binding authority, the EA becomes documentation nobody reads.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3 — About 2% of digital budget, for five years</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INITIAL ENGAGEMENT</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The first four phases — about 10 to 15 senior person-months over six months</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PERMANENT PRACTICE</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Your 2 to 4 architects, ongoing</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GOVERNANCE OVERHEAD</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Board time, occasional external review</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FRAMING</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A five-year envelope, not an annual line that disappears when priorities shift. Every other digital programme runs more efficiently when this 2% is in place.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4 — One promise: the team stays protected</a:t>
            </a:r>
          </a:p>
        </p:txBody>
      </p:sp>
      <p:sp>
        <p:nvSpPr>
          <p:cNvPr id="4" name="Rounded Rectangle 3"/>
          <p:cNvSpPr/>
          <p:nvPr/>
        </p:nvSpPr>
        <p:spPr>
          <a:xfrm>
            <a:off x="658368" y="1645920"/>
            <a:ext cx="10881360" cy="23774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7" y="1883664"/>
            <a:ext cx="10241280" cy="2103120"/>
          </a:xfrm>
          <a:prstGeom prst="rect">
            <a:avLst/>
          </a:prstGeom>
          <a:noFill/>
        </p:spPr>
        <p:txBody>
          <a:bodyPr wrap="square">
            <a:spAutoFit/>
          </a:bodyPr>
          <a:lstStyle/>
          <a:p>
            <a:pPr>
              <a:spcAft>
                <a:spcPts val="700"/>
              </a:spcAft>
            </a:pPr>
            <a:r>
              <a:rPr sz="2400" b="1" i="0">
                <a:solidFill>
                  <a:srgbClr val="FFFFFF"/>
                </a:solidFill>
                <a:latin typeface="Arial"/>
              </a:rPr>
              <a:t>The EA team will not be pulled onto the urgent project of the week.</a:t>
            </a:r>
          </a:p>
          <a:p>
            <a:pPr>
              <a:spcAft>
                <a:spcPts val="700"/>
              </a:spcAft>
            </a:pPr>
            <a:r>
              <a:rPr sz="1800" b="0" i="0">
                <a:solidFill>
                  <a:srgbClr val="FFFFFF"/>
                </a:solidFill>
                <a:latin typeface="Arial"/>
              </a:rPr>
              <a:t>Not by you. Not by the minister. Not by anyone in cabinet.</a:t>
            </a:r>
          </a:p>
        </p:txBody>
      </p:sp>
      <p:sp>
        <p:nvSpPr>
          <p:cNvPr id="6" name="TextBox 5"/>
          <p:cNvSpPr txBox="1"/>
          <p:nvPr/>
        </p:nvSpPr>
        <p:spPr>
          <a:xfrm>
            <a:off x="658368" y="4389120"/>
            <a:ext cx="10881360" cy="1554480"/>
          </a:xfrm>
          <a:prstGeom prst="rect">
            <a:avLst/>
          </a:prstGeom>
          <a:noFill/>
        </p:spPr>
        <p:txBody>
          <a:bodyPr wrap="square">
            <a:spAutoFit/>
          </a:bodyPr>
          <a:lstStyle/>
          <a:p>
            <a:pPr>
              <a:spcAft>
                <a:spcPts val="800"/>
              </a:spcAft>
            </a:pPr>
            <a:r>
              <a:rPr sz="1800" b="1" i="0">
                <a:solidFill>
                  <a:srgbClr val="1A1A1A"/>
                </a:solidFill>
                <a:latin typeface="Arial"/>
              </a:rPr>
              <a:t>This is the most commonly broken promise — and the one that quietly kills EA programmes in their second year.</a:t>
            </a:r>
          </a:p>
          <a:p>
            <a:pPr>
              <a:spcAft>
                <a:spcPts val="800"/>
              </a:spcAft>
            </a:pPr>
            <a:r>
              <a:rPr sz="1600" b="0" i="0">
                <a:solidFill>
                  <a:srgbClr val="595959"/>
                </a:solidFill>
                <a:latin typeface="Arial"/>
              </a:rPr>
              <a:t>Get it in writing if you can. Recommit it whenever the minister changes.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 honest about the time horizon</a:t>
            </a:r>
          </a:p>
        </p:txBody>
      </p:sp>
      <p:sp>
        <p:nvSpPr>
          <p:cNvPr id="4" name="TextBox 3"/>
          <p:cNvSpPr txBox="1"/>
          <p:nvPr/>
        </p:nvSpPr>
        <p:spPr>
          <a:xfrm>
            <a:off x="658368" y="1463040"/>
            <a:ext cx="10984687" cy="1082039"/>
          </a:xfrm>
          <a:prstGeom prst="rect">
            <a:avLst/>
          </a:prstGeom>
          <a:noFill/>
        </p:spPr>
        <p:txBody>
          <a:bodyPr wrap="square">
            <a:spAutoFit/>
          </a:bodyPr>
          <a:lstStyle/>
          <a:p>
            <a:pPr>
              <a:spcAft>
                <a:spcPts val="300"/>
              </a:spcAft>
            </a:pPr>
            <a:r>
              <a:rPr sz="2400" b="1" i="0">
                <a:solidFill>
                  <a:srgbClr val="1A1A1A"/>
                </a:solidFill>
                <a:latin typeface="Arial"/>
              </a:rPr>
              <a:t>6 months</a:t>
            </a:r>
          </a:p>
          <a:p>
            <a:pPr>
              <a:spcAft>
                <a:spcPts val="300"/>
              </a:spcAft>
            </a:pPr>
            <a:r>
              <a:rPr sz="1700" b="0" i="0">
                <a:solidFill>
                  <a:srgbClr val="595959"/>
                </a:solidFill>
                <a:latin typeface="Arial"/>
              </a:rPr>
              <a:t>to an approved roadmap</a:t>
            </a:r>
          </a:p>
        </p:txBody>
      </p:sp>
      <p:sp>
        <p:nvSpPr>
          <p:cNvPr id="5" name="Rectangle 4"/>
          <p:cNvSpPr/>
          <p:nvPr/>
        </p:nvSpPr>
        <p:spPr>
          <a:xfrm>
            <a:off x="621792" y="25496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90799"/>
            <a:ext cx="10984687" cy="1082039"/>
          </a:xfrm>
          <a:prstGeom prst="rect">
            <a:avLst/>
          </a:prstGeom>
          <a:noFill/>
        </p:spPr>
        <p:txBody>
          <a:bodyPr wrap="square">
            <a:spAutoFit/>
          </a:bodyPr>
          <a:lstStyle/>
          <a:p>
            <a:pPr>
              <a:spcAft>
                <a:spcPts val="300"/>
              </a:spcAft>
            </a:pPr>
            <a:r>
              <a:rPr sz="2400" b="1" i="0">
                <a:solidFill>
                  <a:srgbClr val="1A1A1A"/>
                </a:solidFill>
                <a:latin typeface="Arial"/>
              </a:rPr>
              <a:t>18 to 24 months</a:t>
            </a:r>
          </a:p>
          <a:p>
            <a:pPr>
              <a:spcAft>
                <a:spcPts val="300"/>
              </a:spcAft>
            </a:pPr>
            <a:r>
              <a:rPr sz="1700" b="0" i="0">
                <a:solidFill>
                  <a:srgbClr val="595959"/>
                </a:solidFill>
                <a:latin typeface="Arial"/>
              </a:rPr>
              <a:t>to a fully operating practice</a:t>
            </a:r>
          </a:p>
        </p:txBody>
      </p:sp>
      <p:sp>
        <p:nvSpPr>
          <p:cNvPr id="7" name="Rectangle 6"/>
          <p:cNvSpPr/>
          <p:nvPr/>
        </p:nvSpPr>
        <p:spPr>
          <a:xfrm>
            <a:off x="621792" y="3677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718560"/>
            <a:ext cx="10984687" cy="1082039"/>
          </a:xfrm>
          <a:prstGeom prst="rect">
            <a:avLst/>
          </a:prstGeom>
          <a:noFill/>
        </p:spPr>
        <p:txBody>
          <a:bodyPr wrap="square">
            <a:spAutoFit/>
          </a:bodyPr>
          <a:lstStyle/>
          <a:p>
            <a:pPr>
              <a:spcAft>
                <a:spcPts val="300"/>
              </a:spcAft>
            </a:pPr>
            <a:r>
              <a:rPr sz="2400" b="1" i="0">
                <a:solidFill>
                  <a:srgbClr val="1A1A1A"/>
                </a:solidFill>
                <a:latin typeface="Arial"/>
              </a:rPr>
              <a:t>5+ years</a:t>
            </a:r>
          </a:p>
          <a:p>
            <a:pPr>
              <a:spcAft>
                <a:spcPts val="300"/>
              </a:spcAft>
            </a:pPr>
            <a:r>
              <a:rPr sz="1700" b="0" i="0">
                <a:solidFill>
                  <a:srgbClr val="595959"/>
                </a:solidFill>
                <a:latin typeface="Arial"/>
              </a:rPr>
              <a:t>to mature governance</a:t>
            </a:r>
          </a:p>
        </p:txBody>
      </p:sp>
      <p:sp>
        <p:nvSpPr>
          <p:cNvPr id="9" name="TextBox 8"/>
          <p:cNvSpPr txBox="1"/>
          <p:nvPr/>
        </p:nvSpPr>
        <p:spPr>
          <a:xfrm>
            <a:off x="658368" y="5029200"/>
            <a:ext cx="10881360" cy="1188720"/>
          </a:xfrm>
          <a:prstGeom prst="rect">
            <a:avLst/>
          </a:prstGeom>
          <a:noFill/>
        </p:spPr>
        <p:txBody>
          <a:bodyPr wrap="square">
            <a:spAutoFit/>
          </a:bodyPr>
          <a:lstStyle/>
          <a:p>
            <a:pPr>
              <a:spcAft>
                <a:spcPts val="600"/>
              </a:spcAft>
            </a:pPr>
            <a:r>
              <a:rPr sz="1900" b="1" i="0">
                <a:solidFill>
                  <a:srgbClr val="1A1A1A"/>
                </a:solidFill>
                <a:latin typeface="Arial"/>
              </a:rPr>
              <a:t>The minister who launches this work will not be the one who completes it.</a:t>
            </a:r>
          </a:p>
          <a:p>
            <a:pPr>
              <a:spcAft>
                <a:spcPts val="600"/>
              </a:spcAft>
            </a:pPr>
            <a:r>
              <a:rPr sz="1500" b="0" i="0">
                <a:solidFill>
                  <a:srgbClr val="595959"/>
                </a:solidFill>
                <a:latin typeface="Arial"/>
              </a:rPr>
              <a:t>A minister who hears that as a problem is sponsoring a deliverable, not an EA. A minister who hears it as a feature is the right minister.</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very different governments have committed to this</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Rwanda — small country, strong centre</a:t>
            </a:r>
          </a:p>
          <a:p>
            <a:pPr>
              <a:spcAft>
                <a:spcPts val="300"/>
              </a:spcAft>
            </a:pPr>
            <a:r>
              <a:rPr sz="1500" b="0" i="0">
                <a:solidFill>
                  <a:srgbClr val="595959"/>
                </a:solidFill>
                <a:latin typeface="Arial"/>
              </a:rPr>
              <a:t>Irembo as the one citizen-services platform; a national ID linked across services.</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Kenya — one-stop centres and a unifying identity programme</a:t>
            </a:r>
          </a:p>
          <a:p>
            <a:pPr>
              <a:spcAft>
                <a:spcPts val="300"/>
              </a:spcAft>
            </a:pPr>
            <a:r>
              <a:rPr sz="1500" b="0" i="0">
                <a:solidFill>
                  <a:srgbClr val="595959"/>
                </a:solidFill>
                <a:latin typeface="Arial"/>
              </a:rPr>
              <a:t>Huduma Centres and Huduma Namba. Results mixed and openly debated — which is what makes the obstacles useful to you.</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South Africa — federal</a:t>
            </a:r>
          </a:p>
          <a:p>
            <a:pPr>
              <a:spcAft>
                <a:spcPts val="300"/>
              </a:spcAft>
            </a:pPr>
            <a:r>
              <a:rPr sz="1500" b="0" i="0">
                <a:solidFill>
                  <a:srgbClr val="595959"/>
                </a:solidFill>
                <a:latin typeface="Arial"/>
              </a:rPr>
              <a:t>Coordinated through SITA and shared standards that agencies adopt, not a single architecture imposed from the top.</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Estonia — mature</a:t>
            </a:r>
          </a:p>
          <a:p>
            <a:pPr>
              <a:spcAft>
                <a:spcPts val="300"/>
              </a:spcAft>
            </a:pPr>
            <a:r>
              <a:rPr sz="1500" b="0" i="0">
                <a:solidFill>
                  <a:srgbClr val="595959"/>
                </a:solidFill>
                <a:latin typeface="Arial"/>
              </a:rPr>
              <a:t>Distributed registries on X-Road, the once-only principle, almost every service online. A polestar, not a template.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four elements show in all four</a:t>
            </a:r>
          </a:p>
        </p:txBody>
      </p:sp>
      <p:sp>
        <p:nvSpPr>
          <p:cNvPr id="4" name="TextBox 3"/>
          <p:cNvSpPr txBox="1"/>
          <p:nvPr/>
        </p:nvSpPr>
        <p:spPr>
          <a:xfrm>
            <a:off x="658368" y="1417320"/>
            <a:ext cx="10984687" cy="1051560"/>
          </a:xfrm>
          <a:prstGeom prst="rect">
            <a:avLst/>
          </a:prstGeom>
          <a:noFill/>
        </p:spPr>
        <p:txBody>
          <a:bodyPr wrap="square">
            <a:spAutoFit/>
          </a:bodyPr>
          <a:lstStyle/>
          <a:p>
            <a:pPr>
              <a:spcAft>
                <a:spcPts val="300"/>
              </a:spcAft>
            </a:pPr>
            <a:r>
              <a:rPr sz="1900" b="1" i="0">
                <a:solidFill>
                  <a:srgbClr val="1A1A1A"/>
                </a:solidFill>
                <a:latin typeface="Arial"/>
              </a:rPr>
              <a:t>A small central team with real authority</a:t>
            </a:r>
          </a:p>
          <a:p>
            <a:pPr>
              <a:spcAft>
                <a:spcPts val="300"/>
              </a:spcAft>
            </a:pPr>
            <a:r>
              <a:rPr sz="1500" b="0" i="0">
                <a:solidFill>
                  <a:srgbClr val="595959"/>
                </a:solidFill>
                <a:latin typeface="Arial"/>
              </a:rPr>
              <a:t>Ask 1 — the small permanent EA team. Rwanda coordinates centrally; South Africa does it through SITA.</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51560"/>
          </a:xfrm>
          <a:prstGeom prst="rect">
            <a:avLst/>
          </a:prstGeom>
          <a:noFill/>
        </p:spPr>
        <p:txBody>
          <a:bodyPr wrap="square">
            <a:spAutoFit/>
          </a:bodyPr>
          <a:lstStyle/>
          <a:p>
            <a:pPr>
              <a:spcAft>
                <a:spcPts val="300"/>
              </a:spcAft>
            </a:pPr>
            <a:r>
              <a:rPr sz="1900" b="1" i="0">
                <a:solidFill>
                  <a:srgbClr val="1A1A1A"/>
                </a:solidFill>
                <a:latin typeface="Arial"/>
              </a:rPr>
              <a:t>Binding governance, not advisory</a:t>
            </a:r>
          </a:p>
          <a:p>
            <a:pPr>
              <a:spcAft>
                <a:spcPts val="300"/>
              </a:spcAft>
            </a:pPr>
            <a:r>
              <a:rPr sz="1500" b="0" i="0">
                <a:solidFill>
                  <a:srgbClr val="595959"/>
                </a:solidFill>
                <a:latin typeface="Arial"/>
              </a:rPr>
              <a:t>Ask 2 — an EA Board whose decisions hold. Where authority cannot be imposed, it is agreed and then binding.</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80"/>
            <a:ext cx="10984687" cy="1051560"/>
          </a:xfrm>
          <a:prstGeom prst="rect">
            <a:avLst/>
          </a:prstGeom>
          <a:noFill/>
        </p:spPr>
        <p:txBody>
          <a:bodyPr wrap="square">
            <a:spAutoFit/>
          </a:bodyPr>
          <a:lstStyle/>
          <a:p>
            <a:pPr>
              <a:spcAft>
                <a:spcPts val="300"/>
              </a:spcAft>
            </a:pPr>
            <a:r>
              <a:rPr sz="1900" b="1" i="0">
                <a:solidFill>
                  <a:srgbClr val="1A1A1A"/>
                </a:solidFill>
                <a:latin typeface="Arial"/>
              </a:rPr>
              <a:t>A published framework other agencies adopt</a:t>
            </a:r>
          </a:p>
          <a:p>
            <a:pPr>
              <a:spcAft>
                <a:spcPts val="300"/>
              </a:spcAft>
            </a:pPr>
            <a:r>
              <a:rPr sz="1500" b="0" i="0">
                <a:solidFill>
                  <a:srgbClr val="595959"/>
                </a:solidFill>
                <a:latin typeface="Arial"/>
              </a:rPr>
              <a:t>Ask 3 — the sustained envelope. A framework stays adopted only while someone is funded to maintain it.</a:t>
            </a:r>
          </a:p>
        </p:txBody>
      </p:sp>
      <p:sp>
        <p:nvSpPr>
          <p:cNvPr id="9" name="Rectangle 8"/>
          <p:cNvSpPr/>
          <p:nvPr/>
        </p:nvSpPr>
        <p:spPr>
          <a:xfrm>
            <a:off x="621792" y="4668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709159"/>
            <a:ext cx="10984687" cy="1051560"/>
          </a:xfrm>
          <a:prstGeom prst="rect">
            <a:avLst/>
          </a:prstGeom>
          <a:noFill/>
        </p:spPr>
        <p:txBody>
          <a:bodyPr wrap="square">
            <a:spAutoFit/>
          </a:bodyPr>
          <a:lstStyle/>
          <a:p>
            <a:pPr>
              <a:spcAft>
                <a:spcPts val="300"/>
              </a:spcAft>
            </a:pPr>
            <a:r>
              <a:rPr sz="1900" b="1" i="0">
                <a:solidFill>
                  <a:srgbClr val="1A1A1A"/>
                </a:solidFill>
                <a:latin typeface="Arial"/>
              </a:rPr>
              <a:t>A multi-year horizon, results visible in months</a:t>
            </a:r>
          </a:p>
          <a:p>
            <a:pPr>
              <a:spcAft>
                <a:spcPts val="300"/>
              </a:spcAft>
            </a:pPr>
            <a:r>
              <a:rPr sz="1500" b="0" i="0">
                <a:solidFill>
                  <a:srgbClr val="595959"/>
                </a:solidFill>
                <a:latin typeface="Arial"/>
              </a:rPr>
              <a:t>Ask 4 — the promise. Estonia took two decades; Rwanda showed results inside months. Both protected the team.</a:t>
            </a:r>
          </a:p>
        </p:txBody>
      </p:sp>
      <p:sp>
        <p:nvSpPr>
          <p:cNvPr id="11" name="TextBox 10"/>
          <p:cNvSpPr txBox="1"/>
          <p:nvPr/>
        </p:nvSpPr>
        <p:spPr>
          <a:xfrm>
            <a:off x="658368" y="5852160"/>
            <a:ext cx="10881360" cy="457200"/>
          </a:xfrm>
          <a:prstGeom prst="rect">
            <a:avLst/>
          </a:prstGeom>
          <a:noFill/>
        </p:spPr>
        <p:txBody>
          <a:bodyPr wrap="square">
            <a:spAutoFit/>
          </a:bodyPr>
          <a:lstStyle/>
          <a:p>
            <a:r>
              <a:rPr sz="1450" b="0" i="0">
                <a:solidFill>
                  <a:srgbClr val="595959"/>
                </a:solidFill>
                <a:latin typeface="Arial"/>
              </a:rPr>
              <a:t>Different sizes, different constitutions — the same four elements, which are the four asks in four real governments.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team. A Board. A budget envelope. A promise. Put them on one page — and ask for all four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a Terms of Reference for your EA Governance Board.</a:t>
            </a:r>
          </a:p>
          <a:p>
            <a:pPr algn="l">
              <a:spcAft>
                <a:spcPts val="400"/>
              </a:spcAft>
            </a:pPr>
            <a:r>
              <a:rPr sz="1800" b="0" i="0">
                <a:solidFill>
                  <a:srgbClr val="595959"/>
                </a:solidFill>
                <a:latin typeface="Arial"/>
              </a:rPr>
              <a:t>The prompt in the companion material gives you a structured ToR document.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 Kenya — Huduma Kenya (huduma.go.ke)</a:t>
            </a:r>
          </a:p>
          <a:p>
            <a:pPr>
              <a:spcAft>
                <a:spcPts val="1200"/>
              </a:spcAft>
            </a:pPr>
            <a:r>
              <a:rPr sz="1700" b="0" i="0">
                <a:solidFill>
                  <a:srgbClr val="1A1A1A"/>
                </a:solidFill>
                <a:latin typeface="Arial"/>
              </a:rPr>
              <a:t>•  South Africa — SITA (sita.co.za); Estonia — e-Estonia.com, RIA (ria.ee)</a:t>
            </a:r>
          </a:p>
          <a:p>
            <a:pPr>
              <a:spcAft>
                <a:spcPts val="1200"/>
              </a:spcAft>
            </a:pPr>
            <a:r>
              <a:rPr sz="1700" b="0" i="0">
                <a:solidFill>
                  <a:srgbClr val="1A1A1A"/>
                </a:solidFill>
                <a:latin typeface="Arial"/>
              </a:rPr>
              <a:t>•  PAERA v1.0 — §4.2.1 Management;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