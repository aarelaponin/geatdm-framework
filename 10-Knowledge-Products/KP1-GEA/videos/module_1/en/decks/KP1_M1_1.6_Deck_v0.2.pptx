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21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681" r:id="rId8"/>
    <p:sldId id="2730" r:id="rId11"/>
    <p:sldId id="2731" r:id="rId10"/>
    <p:sldId id="2732" r:id="rId54"/>
    <p:sldId id="2733" r:id="rId55"/>
    <p:sldId id="2734" r:id="rId56"/>
    <p:sldId id="2735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10" Type="http://schemas.openxmlformats.org/officeDocument/2006/relationships/slide" Target="slides/slide38.xml"/><Relationship Id="rId11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for standalone video 1.6. Content slides are identical to the corresponding section of the combined deck KP1_M1_Deck_v0.2.pptx; voice-over is in each slide’s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VO, slide 1: If you take one picture away from this knowledge product, take this one: the EA lifecycle on a single page.</a:t>
            </a:r>
          </a:p>
          <a:p/>
          <a:p>
            <a:r>
              <a:t>RETRIEVAL MOMENT: before showing the phase table, ask the viewer to guess — from a standing start, how long until a roadmap your minister can take to cabinet? Answer comes on the timeline: six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Five phases, four sign-offs. The first four take about six months; the fifth is ongoing — your country's permanent way of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Rows reveal one at a time, cumulative — the whole lifecycle stays visible while each phase is narrated. In v0.1 of the deck each phase had its own slide; the v0.3 script collapses them onto this one page.</a:t>
            </a:r>
          </a:p>
          <a:p/>
          <a:p>
            <a:r>
              <a:t>VO: Phase one, Discover. What exists today? Your architects map the current landscape — the strategies in force, the systems, the sector plans, the legal framework — and produce a Discovery brief with no recommendations yet. Sign-off: the picture is accurate enough to build on. Three to four weeks.</a:t>
            </a:r>
          </a:p>
          <a:p/>
          <a:p>
            <a:r>
              <a:t>VO: Phase two, Assess. What is the gap? Architects compare what they found against PAERA-anchored standards, write the current state in the four parts of an EA, score maturity, and write the gap analysis. Sign-off: it names the right problems in the right order. Six to eight weeks.</a:t>
            </a:r>
          </a:p>
          <a:p/>
          <a:p>
            <a:r>
              <a:t>VO: Phase three, Adapt. What fits our country? PAERA is a starting point, not a constraint, so architects shape it with sector CIOs and your EA Board — your principles, your sector priorities, and for each building block a build, buy, share or sandbox call. Four to six weeks.</a:t>
            </a:r>
          </a:p>
          <a:p/>
          <a:p>
            <a:r>
              <a:t>VO: Phase four, Plan. How do we get there? Architects describe the target state and sequence the work into a roadmap with investment estimates. Sign-off: roadmap approved, budget committed. This is the deliverable your minister takes to cabinet. Six to eight weeks.</a:t>
            </a:r>
          </a:p>
          <a:p/>
          <a:p>
            <a:r>
              <a:t>VO: Phase five, Execute and Govern. How do we sustain this? The approved roadmap becomes a project pipeline, and a small permanent team of two to four senior architects turns the EA from a one-time delivery into a living repository. The Board reviews new projects against the architecture. Quarterly, indefinitely.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dependency rule had its own slide in v0.2; the v0.3 script folds it into the sign-off rhythm.</a:t>
            </a:r>
          </a:p>
          <a:p/>
          <a:p>
            <a:r>
              <a:t>VO: Notice the rhythm. Four sign-offs in six months. Your minister does not review every diagram; they review at four moments, each tied to a defined deliverable. Between sign-offs the architects work, and the minister's job is to remove the political obstacles. And the phases depend on each other, in order: discover before you measure, measure before you adapt, adapt before you plan, plan before you execute, govern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Six months from Discovery to an approved roadmap. Then your country in permanent EA-governed mode. That is what 'months not years' actually means. It is not a slogan. It is the consequence of sequencing five phases — each with a clear question, a clear deliverable, a clear sign-off — and committing to the practice that runs after.</a:t>
            </a:r>
          </a:p>
          <a:p/>
          <a:p>
            <a:r>
              <a:t>(This answers the prediction question posed at the start of the video.)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svg"/><Relationship Id="rId5" Type="http://schemas.openxmlformats.org/officeDocument/2006/relationships/notesSlide" Target="../notesSlides/notesSlide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AD66F2-F7C0-4D03-9150-D28F17AC561D}"/>
              </a:ext>
            </a:extLst>
          </p:cNvPr>
          <p:cNvCxnSpPr>
            <a:cxnSpLocks/>
          </p:cNvCxnSpPr>
          <p:nvPr/>
        </p:nvCxnSpPr>
        <p:spPr>
          <a:xfrm>
            <a:off x="373021" y="2198718"/>
            <a:ext cx="6843567" cy="0"/>
          </a:xfrm>
          <a:prstGeom prst="line">
            <a:avLst/>
          </a:prstGeom>
          <a:ln w="12700">
            <a:solidFill>
              <a:srgbClr val="009C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9">
            <a:extLst>
              <a:ext uri="{FF2B5EF4-FFF2-40B4-BE49-F238E27FC236}">
                <a16:creationId xmlns:a16="http://schemas.microsoft.com/office/drawing/2014/main" id="{EEB08032-CE0E-4986-AEDF-A41026C0E8B9}"/>
              </a:ext>
            </a:extLst>
          </p:cNvPr>
          <p:cNvSpPr txBox="1">
            <a:spLocks/>
          </p:cNvSpPr>
          <p:nvPr/>
        </p:nvSpPr>
        <p:spPr>
          <a:xfrm>
            <a:off x="237734" y="702833"/>
            <a:ext cx="6432007" cy="1218817"/>
          </a:xfrm>
          <a:prstGeom prst="rect">
            <a:avLst/>
          </a:prstGeom>
        </p:spPr>
        <p:txBody>
          <a:bodyPr anchor="b" wrap="square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sz="2800" b="1" i="0">
                <a:solidFill>
                  <a:srgbClr val="1A1A1A"/>
                </a:solidFill>
                <a:latin typeface="Arial"/>
              </a:rPr>
              <a:t>1.6 — The lifecycle on one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066351-C569-4C4C-A096-308777FCD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19" b="14729"/>
          <a:stretch>
            <a:fillRect/>
          </a:stretch>
        </p:blipFill>
        <p:spPr>
          <a:xfrm>
            <a:off x="0" y="5620871"/>
            <a:ext cx="1323975" cy="1218816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B5087B80-3EE4-1881-0130-ED58CA625092}"/>
              </a:ext>
            </a:extLst>
          </p:cNvPr>
          <p:cNvSpPr txBox="1">
            <a:spLocks/>
          </p:cNvSpPr>
          <p:nvPr/>
        </p:nvSpPr>
        <p:spPr>
          <a:xfrm>
            <a:off x="284452" y="2475786"/>
            <a:ext cx="6382893" cy="953213"/>
          </a:xfrm>
          <a:prstGeom prst="rect">
            <a:avLst/>
          </a:prstGeom>
        </p:spPr>
        <p:txBody>
          <a:bodyPr anchor="t" wrap="square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006E96"/>
                </a:solidFill>
                <a:latin typeface="Arial"/>
              </a:rPr>
              <a:t>KP1 · Government Enterprise Architecture · Module 1 · Video 1.6</a:t>
            </a:r>
          </a:p>
          <a:p>
            <a:r>
              <a:rPr sz="1200" b="0" i="1">
                <a:solidFill>
                  <a:srgbClr val="595959"/>
                </a:solidFill>
                <a:latin typeface="Arial"/>
              </a:rPr>
              <a:t>Six months from start to a roadmap your minister can take to cabinet. Then ongoing governance. Five phases. Four sign-offs. One continuous practice.</a:t>
            </a:r>
          </a:p>
        </p:txBody>
      </p:sp>
      <p:sp>
        <p:nvSpPr>
          <p:cNvPr id="17" name="Title 9">
            <a:extLst>
              <a:ext uri="{FF2B5EF4-FFF2-40B4-BE49-F238E27FC236}">
                <a16:creationId xmlns:a16="http://schemas.microsoft.com/office/drawing/2014/main" id="{5E8796F7-DD26-D250-5E97-B38B22298E72}"/>
              </a:ext>
            </a:extLst>
          </p:cNvPr>
          <p:cNvSpPr txBox="1">
            <a:spLocks/>
          </p:cNvSpPr>
          <p:nvPr/>
        </p:nvSpPr>
        <p:spPr>
          <a:xfrm>
            <a:off x="284452" y="4363897"/>
            <a:ext cx="6382893" cy="953213"/>
          </a:xfrm>
          <a:prstGeom prst="rect">
            <a:avLst/>
          </a:prstGeom>
        </p:spPr>
        <p:txBody>
          <a:bodyPr anchor="t" wrap="square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4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Arial"/>
              </a:rPr>
              <a:t>Target audience: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CDO · Director-General · sector minister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2592" y="0"/>
            <a:ext cx="5169103" cy="6858000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457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5F5FB"/>
                </a:solidFill>
                <a:latin typeface="Arial"/>
              </a:rPr>
              <a:t>THE LIFECYCLE THIS MODULE TEACHES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960120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Discover</a:t>
            </a:r>
          </a:p>
        </p:txBody>
      </p:sp>
      <p:sp>
        <p:nvSpPr>
          <p:cNvPr id="21" name="Diamond 20"/>
          <p:cNvSpPr/>
          <p:nvPr/>
        </p:nvSpPr>
        <p:spPr>
          <a:xfrm>
            <a:off x="7333488" y="1677924"/>
            <a:ext cx="128016" cy="128016"/>
          </a:xfrm>
          <a:prstGeom prst="diamond">
            <a:avLst/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52360" y="1892808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Assess</a:t>
            </a:r>
          </a:p>
        </p:txBody>
      </p:sp>
      <p:sp>
        <p:nvSpPr>
          <p:cNvPr id="23" name="Diamond 22"/>
          <p:cNvSpPr/>
          <p:nvPr/>
        </p:nvSpPr>
        <p:spPr>
          <a:xfrm>
            <a:off x="7333488" y="2610612"/>
            <a:ext cx="128016" cy="128016"/>
          </a:xfrm>
          <a:prstGeom prst="diamond">
            <a:avLst/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452360" y="2825496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Adapt</a:t>
            </a:r>
          </a:p>
        </p:txBody>
      </p:sp>
      <p:sp>
        <p:nvSpPr>
          <p:cNvPr id="25" name="Diamond 24"/>
          <p:cNvSpPr/>
          <p:nvPr/>
        </p:nvSpPr>
        <p:spPr>
          <a:xfrm>
            <a:off x="7333488" y="3543300"/>
            <a:ext cx="128016" cy="128016"/>
          </a:xfrm>
          <a:prstGeom prst="diamond">
            <a:avLst/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52360" y="3758184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Plan</a:t>
            </a:r>
          </a:p>
        </p:txBody>
      </p:sp>
      <p:sp>
        <p:nvSpPr>
          <p:cNvPr id="27" name="Diamond 26"/>
          <p:cNvSpPr/>
          <p:nvPr/>
        </p:nvSpPr>
        <p:spPr>
          <a:xfrm>
            <a:off x="7333488" y="4475988"/>
            <a:ext cx="128016" cy="128016"/>
          </a:xfrm>
          <a:prstGeom prst="diamond">
            <a:avLst/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52360" y="4690872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Execute &amp; Govern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60" y="58064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FFFFFF"/>
                </a:solidFill>
                <a:latin typeface="Arial"/>
              </a:rPr>
              <a:t>4 sign-offs · 6 months to a roadmap · then ongoing</a:t>
            </a:r>
          </a:p>
        </p:txBody>
      </p:sp>
    </p:spTree>
    <p:extLst>
      <p:ext uri="{BB962C8B-B14F-4D97-AF65-F5344CB8AC3E}">
        <p14:creationId xmlns:p14="http://schemas.microsoft.com/office/powerpoint/2010/main" val="1196800265"/>
      </p:ext>
    </p:extLst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1 · VIDEO 1.6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1.6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The lifecycle on one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Six months from start to a roadmap your minister can take to cabinet. Then ongoing governance. Five phases. Four sign-offs. One continuous practice.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standalone video · voice-over on text slides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Five phases. Four sign-offs. Six months to a roadmap.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2084831" cy="141732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Discover</a:t>
            </a:r>
          </a:p>
          <a:p>
            <a:pPr algn="ctr"/>
            <a:r>
              <a:rPr sz="1200" b="0" i="1">
                <a:solidFill>
                  <a:srgbClr val="595959"/>
                </a:solidFill>
                <a:latin typeface="Arial"/>
              </a:rPr>
              <a:t>What exists today?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93008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E96"/>
                </a:solidFill>
                <a:latin typeface="Arial"/>
              </a:rPr>
              <a:t>3–4 wks</a:t>
            </a:r>
          </a:p>
        </p:txBody>
      </p:sp>
      <p:sp>
        <p:nvSpPr>
          <p:cNvPr id="6" name="Diamond 5"/>
          <p:cNvSpPr/>
          <p:nvPr/>
        </p:nvSpPr>
        <p:spPr>
          <a:xfrm>
            <a:off x="2628899" y="2583179"/>
            <a:ext cx="182880" cy="182880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07208" y="1965960"/>
            <a:ext cx="2084831" cy="141732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Assess</a:t>
            </a:r>
          </a:p>
          <a:p>
            <a:pPr algn="ctr"/>
            <a:r>
              <a:rPr sz="1200" b="0" i="1">
                <a:solidFill>
                  <a:srgbClr val="595959"/>
                </a:solidFill>
                <a:latin typeface="Arial"/>
              </a:rPr>
              <a:t>What is the gap?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07208" y="3493008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E96"/>
                </a:solidFill>
                <a:latin typeface="Arial"/>
              </a:rPr>
              <a:t>6–8 wks</a:t>
            </a:r>
          </a:p>
        </p:txBody>
      </p:sp>
      <p:sp>
        <p:nvSpPr>
          <p:cNvPr id="9" name="Diamond 8"/>
          <p:cNvSpPr/>
          <p:nvPr/>
        </p:nvSpPr>
        <p:spPr>
          <a:xfrm>
            <a:off x="4887468" y="2583179"/>
            <a:ext cx="182880" cy="182880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65775" y="1965960"/>
            <a:ext cx="2084831" cy="141732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Adapt</a:t>
            </a:r>
          </a:p>
          <a:p>
            <a:pPr algn="ctr"/>
            <a:r>
              <a:rPr sz="1200" b="0" i="1">
                <a:solidFill>
                  <a:srgbClr val="595959"/>
                </a:solidFill>
                <a:latin typeface="Arial"/>
              </a:rPr>
              <a:t>What fits our country?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5775" y="3493008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E96"/>
                </a:solidFill>
                <a:latin typeface="Arial"/>
              </a:rPr>
              <a:t>4–6 wks</a:t>
            </a:r>
          </a:p>
        </p:txBody>
      </p:sp>
      <p:sp>
        <p:nvSpPr>
          <p:cNvPr id="12" name="Diamond 11"/>
          <p:cNvSpPr/>
          <p:nvPr/>
        </p:nvSpPr>
        <p:spPr>
          <a:xfrm>
            <a:off x="7146036" y="2583179"/>
            <a:ext cx="182880" cy="182880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24344" y="1965960"/>
            <a:ext cx="2084831" cy="141732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Plan</a:t>
            </a:r>
          </a:p>
          <a:p>
            <a:pPr algn="ctr"/>
            <a:r>
              <a:rPr sz="1200" b="0" i="1">
                <a:solidFill>
                  <a:srgbClr val="595959"/>
                </a:solidFill>
                <a:latin typeface="Arial"/>
              </a:rPr>
              <a:t>How do we get there?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344" y="3493008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6E96"/>
                </a:solidFill>
                <a:latin typeface="Arial"/>
              </a:rPr>
              <a:t>6–8 wks</a:t>
            </a:r>
          </a:p>
        </p:txBody>
      </p:sp>
      <p:sp>
        <p:nvSpPr>
          <p:cNvPr id="15" name="Diamond 14"/>
          <p:cNvSpPr/>
          <p:nvPr/>
        </p:nvSpPr>
        <p:spPr>
          <a:xfrm>
            <a:off x="9404603" y="2583179"/>
            <a:ext cx="182880" cy="182880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582911" y="1965960"/>
            <a:ext cx="2084831" cy="1417320"/>
          </a:xfrm>
          <a:prstGeom prst="roundRect">
            <a:avLst>
              <a:gd name="adj" fmla="val 45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Execute &amp; Govern</a:t>
            </a:r>
          </a:p>
          <a:p>
            <a:pPr algn="ctr"/>
            <a:r>
              <a:rPr sz="1200" b="0" i="1">
                <a:solidFill>
                  <a:srgbClr val="FFFFFF"/>
                </a:solidFill>
                <a:latin typeface="Arial"/>
              </a:rPr>
              <a:t>How do we sustain this?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82911" y="3493008"/>
            <a:ext cx="20848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95959"/>
                </a:solidFill>
                <a:latin typeface="Arial"/>
              </a:rPr>
              <a:t>Ongoing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605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0" i="0">
                <a:solidFill>
                  <a:srgbClr val="595959"/>
                </a:solidFill>
                <a:latin typeface="Arial"/>
              </a:rPr>
              <a:t>◆ = sign-off by the senior decision-maker. Each phase answers one question and produces one deliverable.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00600"/>
            <a:ext cx="8823960" cy="50292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595959"/>
                </a:solidFill>
                <a:latin typeface="Arial"/>
              </a:rPr>
              <a:t>Phases 1–4: about six months, four sign-offs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4800600"/>
            <a:ext cx="2084831" cy="502920"/>
          </a:xfrm>
          <a:prstGeom prst="roundRect">
            <a:avLst>
              <a:gd name="adj" fmla="val 4500"/>
            </a:avLst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permanent practice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95959"/>
                </a:solidFill>
                <a:latin typeface="Arial"/>
              </a:rPr>
              <a:t>Screenshot this page for your EA Board room wall.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1.6 · The lifecycle on one page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Each phase: one question, one deliverable, one sign-off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4173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371600"/>
            <a:ext cx="10527487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Discover · 3–4 weeks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What exists today? → a Discovery brief, no recommendations yet. Sign-off: the picture is accurate.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318004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404872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359152"/>
            <a:ext cx="10527487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Assess · 6–8 weeks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What is the gap? → the current state in the four parts of an EA, plus maturity scorecards. Sign-off: the gap analysis reflects ground truth.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305556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392424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346704"/>
            <a:ext cx="10527487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Adapt · 4–6 weeks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What fits our country? → a localised framework with sourcing decisions. Sign-off: the framework and the build / buy / share approach.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4293108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4379976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334256"/>
            <a:ext cx="10527487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Plan · 6–8 weeks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How do we get there? → a roadmap and investment plan, the deliverable your minister takes to cabinet. Sign-off: roadmap approved, budget committed.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5280660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5367528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5321808"/>
            <a:ext cx="10527487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Execute &amp; Govern · ongoing</a:t>
            </a:r>
          </a:p>
          <a:p>
            <a:pPr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Arial"/>
              </a:rPr>
              <a:t>How do we sustain this? → a living, governed EA, repository plus practice. Cadence: quarterly Board reviews.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1.6 · The lifecycle on one page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Your minister reviews four times — not every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514600"/>
            <a:ext cx="10515600" cy="3175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1371600" y="2395728"/>
            <a:ext cx="256032" cy="256032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288036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The picture is accurate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end of Discover</a:t>
            </a:r>
          </a:p>
        </p:txBody>
      </p:sp>
      <p:sp>
        <p:nvSpPr>
          <p:cNvPr id="7" name="Diamond 6"/>
          <p:cNvSpPr/>
          <p:nvPr/>
        </p:nvSpPr>
        <p:spPr>
          <a:xfrm>
            <a:off x="4069080" y="2395728"/>
            <a:ext cx="256032" cy="256032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288036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The gap reflects ground truth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end of Assess</a:t>
            </a:r>
          </a:p>
        </p:txBody>
      </p:sp>
      <p:sp>
        <p:nvSpPr>
          <p:cNvPr id="9" name="Diamond 8"/>
          <p:cNvSpPr/>
          <p:nvPr/>
        </p:nvSpPr>
        <p:spPr>
          <a:xfrm>
            <a:off x="6766560" y="2395728"/>
            <a:ext cx="256032" cy="256032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0" y="288036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Framework + sourcing approach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end of Adapt</a:t>
            </a:r>
          </a:p>
        </p:txBody>
      </p:sp>
      <p:sp>
        <p:nvSpPr>
          <p:cNvPr id="11" name="Diamond 10"/>
          <p:cNvSpPr/>
          <p:nvPr/>
        </p:nvSpPr>
        <p:spPr>
          <a:xfrm>
            <a:off x="9464040" y="2395728"/>
            <a:ext cx="256032" cy="256032"/>
          </a:xfrm>
          <a:prstGeom prst="diamond">
            <a:avLst/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88036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Roadmap approved, budget committed</a:t>
            </a:r>
          </a:p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end of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51960"/>
            <a:ext cx="10515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Between sign-offs, the architects work.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The minister’s job in between is to remove obstacles — the political ones, mostly. The technical ones are why the architects were hired.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440680"/>
            <a:ext cx="10515600" cy="68580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58698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006E96"/>
                </a:solidFill>
                <a:latin typeface="Arial"/>
              </a:rPr>
              <a:t>Discover before you measure. Measure before you adapt. Adapt before you plan. Plan before you execute. Govern always.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1.6 · The lifecycle on one page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Week 1 to week 26 — then forever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515600" cy="3175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8720" y="2624328"/>
            <a:ext cx="365760" cy="365760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7830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1A"/>
                </a:solidFill>
                <a:latin typeface="Arial"/>
              </a:rPr>
              <a:t>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32461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Discovery begins</a:t>
            </a:r>
          </a:p>
        </p:txBody>
      </p:sp>
      <p:sp>
        <p:nvSpPr>
          <p:cNvPr id="8" name="Oval 7"/>
          <p:cNvSpPr/>
          <p:nvPr/>
        </p:nvSpPr>
        <p:spPr>
          <a:xfrm>
            <a:off x="5486400" y="2624328"/>
            <a:ext cx="365760" cy="365760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830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1A"/>
                </a:solidFill>
                <a:latin typeface="Arial"/>
              </a:rPr>
              <a:t>Week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2461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Approved roadmap — to cabinet</a:t>
            </a:r>
          </a:p>
        </p:txBody>
      </p:sp>
      <p:sp>
        <p:nvSpPr>
          <p:cNvPr id="11" name="Oval 10"/>
          <p:cNvSpPr/>
          <p:nvPr/>
        </p:nvSpPr>
        <p:spPr>
          <a:xfrm>
            <a:off x="9692640" y="2624328"/>
            <a:ext cx="365760" cy="365760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17830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1A"/>
                </a:solidFill>
                <a:latin typeface="Arial"/>
              </a:rPr>
              <a:t>Ongoing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32461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95959"/>
                </a:solidFill>
                <a:latin typeface="Arial"/>
              </a:rPr>
              <a:t>Governed EA — permanent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23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1A1A1A"/>
                </a:solidFill>
                <a:latin typeface="Arial"/>
              </a:rPr>
              <a:t>“Months, not years” is not a slogan. It is the consequence of five phases, each with a clear question, a clear deliverable, and a clear sign-off.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Draft a phase-by-phase RACI for your country's EA programme.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per-phase RACI matrix plus a list of role gaps to resolve. Before the next video.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1.6 · The lifecycle on one page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§3.1.3 Readiness Assessment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Organisational Assessment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1.6 · The lifecycle on one page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