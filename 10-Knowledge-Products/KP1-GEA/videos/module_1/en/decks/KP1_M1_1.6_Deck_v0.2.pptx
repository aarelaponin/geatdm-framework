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35" r:id="rId57"/>
    <p:sldId id="2736" r:id="rId58"/>
    <p:sldId id="2737" r:id="rId59"/>
    <p:sldId id="2738" r:id="rId60"/>
    <p:sldId id="2739" r:id="rId61"/>
    <p:sldId id="2740" r:id="rId62"/>
    <p:sldId id="2741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Relationship Id="rId57" Type="http://schemas.openxmlformats.org/officeDocument/2006/relationships/slide" Target="slides/slide42.xml"/><Relationship Id="rId58" Type="http://schemas.openxmlformats.org/officeDocument/2006/relationships/slide" Target="slides/slide43.xml"/><Relationship Id="rId59" Type="http://schemas.openxmlformats.org/officeDocument/2006/relationships/slide" Target="slides/slide44.xml"/><Relationship Id="rId60" Type="http://schemas.openxmlformats.org/officeDocument/2006/relationships/slide" Target="slides/slide45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If you take one picture away from this knowledge product, take this one: the EA lifecycle on a single page.</a:t>
            </a:r>
          </a:p>
          <a:p/>
          <a:p>
            <a:r>
              <a:t>RETRIEVAL MOMENT: before showing the phase table, ask the viewer to guess — from a standing start, how long until a roadmap your minister can take to cabinet? Answer comes on the timeline: six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Five phases, four sign-offs. The first four take about six months; the fifth is ongoing — your country's permanent way of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Rows reveal one at a time, cumulative — the whole lifecycle stays visible while each phase is narrated. In v0.1 of the deck each phase had its own slide; the v0.3 script collapses them onto this one page.</a:t>
            </a:r>
          </a:p>
          <a:p/>
          <a:p>
            <a:r>
              <a:t>VO: Phase one, Discover. What exists today? Your architects map the current landscape — the strategies in force, the systems, the sector plans, the legal framework — and produce a Discovery brief with no recommendations yet. Sign-off: the picture is accurate enough to build on. Three to four weeks.</a:t>
            </a:r>
          </a:p>
          <a:p/>
          <a:p>
            <a:r>
              <a:t>VO: Phase two, Assess. What is the gap? Architects compare what they found against PAERA-anchored standards, write the current state in the four parts of an EA, score maturity, and write the gap analysis. Sign-off: it names the right problems in the right order. Six to eight weeks.</a:t>
            </a:r>
          </a:p>
          <a:p/>
          <a:p>
            <a:r>
              <a:t>VO: Phase three, Adapt. What fits our country? PAERA is a starting point, not a constraint, so architects shape it with sector CIOs and your EA Board — your principles, your sector priorities, and for each building block a build, buy, share or sandbox call. Four to six weeks.</a:t>
            </a:r>
          </a:p>
          <a:p/>
          <a:p>
            <a:r>
              <a:t>VO: Phase four, Plan. How do we get there? Architects describe the target state and sequence the work into a roadmap with investment estimates. Sign-off: roadmap approved, budget committed. This is the deliverable your minister takes to cabinet. Six to eight weeks.</a:t>
            </a:r>
          </a:p>
          <a:p/>
          <a:p>
            <a:r>
              <a:t>VO: Phase five, Execute and Govern. How do we sustain this? The approved roadmap becomes a project pipeline, and a small permanent team of two to four senior architects turns the EA from a one-time delivery into a living repository. The Board reviews new projects against the architecture. Quarterly, indefinitely.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dependency rule had its own slide in v0.2; the v0.3 script folds it into the sign-off rhythm.</a:t>
            </a:r>
          </a:p>
          <a:p/>
          <a:p>
            <a:r>
              <a:t>VO: Notice the rhythm. Four sign-offs in six months. Your minister does not review every diagram; they review at four moments, each tied to a defined deliverable. Between sign-offs the architects work, and the minister's job is to remove the political obstacles. And the phases depend on each other, in order: discover before you measure, measure before you adapt, adapt before you plan, plan before you execute, govern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Six months from Discovery to an approved roadmap. Then your country in permanent EA-governed mode. That is what 'months not years' actually means. It is not a slogan. It is the consequence of sequencing five phases — each with a clear question, a clear deliverable, a clear sign-off — and committing to the practice that runs after.</a:t>
            </a:r>
          </a:p>
          <a:p/>
          <a:p>
            <a:r>
              <a:t>(This answers the prediction question posed at the start of the video.)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1 · VIDEO 1.6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The lifecycle on one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Six months from start to a roadmap your minister can take to cabinet. Then ongoing governance. Five phases. Four sign-offs. One continuous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If you take one picture away from this knowledge product, take this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 EA lifecycle on a single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1.6 · The lifecycle on one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Five phases. Four sign-offs. Six months to a roadmap.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2084831" cy="141732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Discover</a:t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Arial"/>
              </a:rPr>
              <a:t>What exists today?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93008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E96"/>
                </a:solidFill>
                <a:latin typeface="Arial"/>
              </a:rPr>
              <a:t>3–4 wks</a:t>
            </a:r>
          </a:p>
        </p:txBody>
      </p:sp>
      <p:sp>
        <p:nvSpPr>
          <p:cNvPr id="6" name="Diamond 5"/>
          <p:cNvSpPr/>
          <p:nvPr/>
        </p:nvSpPr>
        <p:spPr>
          <a:xfrm>
            <a:off x="2628899" y="2583179"/>
            <a:ext cx="182880" cy="182880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7208" y="1965960"/>
            <a:ext cx="2084831" cy="141732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Assess</a:t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Arial"/>
              </a:rPr>
              <a:t>What is the gap?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7208" y="3493008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E96"/>
                </a:solidFill>
                <a:latin typeface="Arial"/>
              </a:rPr>
              <a:t>6–8 wks</a:t>
            </a:r>
          </a:p>
        </p:txBody>
      </p:sp>
      <p:sp>
        <p:nvSpPr>
          <p:cNvPr id="9" name="Diamond 8"/>
          <p:cNvSpPr/>
          <p:nvPr/>
        </p:nvSpPr>
        <p:spPr>
          <a:xfrm>
            <a:off x="4887468" y="2583179"/>
            <a:ext cx="182880" cy="182880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65775" y="1965960"/>
            <a:ext cx="2084831" cy="141732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Adapt</a:t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Arial"/>
              </a:rPr>
              <a:t>What fits our country?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5" y="3493008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E96"/>
                </a:solidFill>
                <a:latin typeface="Arial"/>
              </a:rPr>
              <a:t>4–6 wks</a:t>
            </a:r>
          </a:p>
        </p:txBody>
      </p:sp>
      <p:sp>
        <p:nvSpPr>
          <p:cNvPr id="12" name="Diamond 11"/>
          <p:cNvSpPr/>
          <p:nvPr/>
        </p:nvSpPr>
        <p:spPr>
          <a:xfrm>
            <a:off x="7146036" y="2583179"/>
            <a:ext cx="182880" cy="182880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24344" y="1965960"/>
            <a:ext cx="2084831" cy="141732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Plan</a:t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Arial"/>
              </a:rPr>
              <a:t>How do we get there?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4344" y="3493008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E96"/>
                </a:solidFill>
                <a:latin typeface="Arial"/>
              </a:rPr>
              <a:t>6–8 wks</a:t>
            </a:r>
          </a:p>
        </p:txBody>
      </p:sp>
      <p:sp>
        <p:nvSpPr>
          <p:cNvPr id="15" name="Diamond 14"/>
          <p:cNvSpPr/>
          <p:nvPr/>
        </p:nvSpPr>
        <p:spPr>
          <a:xfrm>
            <a:off x="9404603" y="2583179"/>
            <a:ext cx="182880" cy="182880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82911" y="1965960"/>
            <a:ext cx="2084831" cy="1417320"/>
          </a:xfrm>
          <a:prstGeom prst="roundRect">
            <a:avLst>
              <a:gd name="adj" fmla="val 45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Execute &amp; Govern</a:t>
            </a:r>
          </a:p>
          <a:p>
            <a:pPr algn="ctr"/>
            <a:r>
              <a:rPr sz="1200" b="0" i="1">
                <a:solidFill>
                  <a:srgbClr val="FFFFFF"/>
                </a:solidFill>
                <a:latin typeface="Arial"/>
              </a:rPr>
              <a:t>How do we sustain this?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2911" y="3493008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Arial"/>
              </a:rPr>
              <a:t>Ongoing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95959"/>
                </a:solidFill>
                <a:latin typeface="Arial"/>
              </a:rPr>
              <a:t>◆ = sign-off by the senior decision-maker. Each phase answers one question and produces one deliverable.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00600"/>
            <a:ext cx="8823960" cy="50292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595959"/>
                </a:solidFill>
                <a:latin typeface="Arial"/>
              </a:rPr>
              <a:t>Phases 1–4: about six months, four sign-offs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800600"/>
            <a:ext cx="2084831" cy="502920"/>
          </a:xfrm>
          <a:prstGeom prst="roundRect">
            <a:avLst>
              <a:gd name="adj" fmla="val 45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permanent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95959"/>
                </a:solidFill>
                <a:latin typeface="Arial"/>
              </a:rPr>
              <a:t>Screenshot this page for your EA Board room wall.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1.6 · The lifecycle on one page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Each phase: one question, one deliverable, one sign-off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41732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371600"/>
            <a:ext cx="10527487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Discover · 3–4 weeks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What exists today? → a Discovery brief, no recommendations yet. Sign-off: the picture is accurate.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318004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404872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359152"/>
            <a:ext cx="10527487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Assess · 6–8 weeks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What is the gap? → the current state in the four parts of an EA, plus maturity scorecards. Sign-off: the gap analysis reflects ground truth.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305556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3392424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346704"/>
            <a:ext cx="10527487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Adapt · 4–6 weeks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What fits our country? → a localised framework with sourcing decisions. Sign-off: the framework and the build / buy / share approach.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4293108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4379976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334256"/>
            <a:ext cx="10527487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Plan · 6–8 weeks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How do we get there? → a roadmap and investment plan, the deliverable your minister takes to cabinet. Sign-off: roadmap approved, budget committed.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280660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" y="536752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5321808"/>
            <a:ext cx="10527487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Execute &amp; Govern · ongoing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How do we sustain this? → a living, governed EA, repository plus practice. Cadence: quarterly Board reviews.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1.6 · The lifecycle on one page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Your minister reviews four times — not every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14600"/>
            <a:ext cx="10515600" cy="317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371600" y="2395728"/>
            <a:ext cx="256032" cy="256032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880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The picture is accurate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end of Discover</a:t>
            </a:r>
          </a:p>
        </p:txBody>
      </p:sp>
      <p:sp>
        <p:nvSpPr>
          <p:cNvPr id="7" name="Diamond 6"/>
          <p:cNvSpPr/>
          <p:nvPr/>
        </p:nvSpPr>
        <p:spPr>
          <a:xfrm>
            <a:off x="4069080" y="2395728"/>
            <a:ext cx="256032" cy="256032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880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The gap reflects ground truth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end of Assess</a:t>
            </a:r>
          </a:p>
        </p:txBody>
      </p:sp>
      <p:sp>
        <p:nvSpPr>
          <p:cNvPr id="9" name="Diamond 8"/>
          <p:cNvSpPr/>
          <p:nvPr/>
        </p:nvSpPr>
        <p:spPr>
          <a:xfrm>
            <a:off x="6766560" y="2395728"/>
            <a:ext cx="256032" cy="256032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2880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Framework + sourcing approach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end of Adapt</a:t>
            </a:r>
          </a:p>
        </p:txBody>
      </p:sp>
      <p:sp>
        <p:nvSpPr>
          <p:cNvPr id="11" name="Diamond 10"/>
          <p:cNvSpPr/>
          <p:nvPr/>
        </p:nvSpPr>
        <p:spPr>
          <a:xfrm>
            <a:off x="9464040" y="2395728"/>
            <a:ext cx="256032" cy="256032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880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Roadmap approved, budget committed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end of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10515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Between sign-offs, the architects work.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The minister’s job in between is to remove obstacles — the political ones, mostly. The technical ones are why the architects were hired.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40680"/>
            <a:ext cx="10515600" cy="68580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58698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006E96"/>
                </a:solidFill>
                <a:latin typeface="Arial"/>
              </a:rPr>
              <a:t>Discover before you measure. Measure before you adapt. Adapt before you plan. Plan before you execute. Govern always.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1.6 · The lifecycle on one page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Week 1 to week 26 — then forever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515600" cy="317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2624328"/>
            <a:ext cx="365760" cy="365760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783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Arial"/>
              </a:rP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" y="3246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Discovery begins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2624328"/>
            <a:ext cx="365760" cy="365760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Arial"/>
              </a:rPr>
              <a:t>Week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246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Approved roadmap — to cabinet</a:t>
            </a:r>
          </a:p>
        </p:txBody>
      </p:sp>
      <p:sp>
        <p:nvSpPr>
          <p:cNvPr id="11" name="Oval 10"/>
          <p:cNvSpPr/>
          <p:nvPr/>
        </p:nvSpPr>
        <p:spPr>
          <a:xfrm>
            <a:off x="9692640" y="2624328"/>
            <a:ext cx="365760" cy="365760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783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Arial"/>
              </a:rPr>
              <a:t>Ongoing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246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Governed EA — permanent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Arial"/>
              </a:rPr>
              <a:t>“Months, not years” is not a slogan. It is the consequence of five phases, each with a clear question, a clear deliverable, and a clear sign-off.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Draft a phase-by-phase RACI for your country's EA programme.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 per-phase RACI matrix plus a list of role gaps to resolve. Before the next video.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1.6 · The lifecycle on one page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§3.1.3 Readiness Assessment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§5.4 Organisational Assessment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1.6 · The lifecycle on one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