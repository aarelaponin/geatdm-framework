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8" r:id="rId40"/>
    <p:sldId id="2719" r:id="rId41"/>
    <p:sldId id="2720" r:id="rId42"/>
    <p:sldId id="2721" r:id="rId43"/>
    <p:sldId id="2722" r:id="rId44"/>
    <p:sldId id="2723" r:id="rId45"/>
    <p:sldId id="2724" r:id="rId17"/>
    <p:sldId id="2725" r:id="rId16"/>
    <p:sldId id="272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a long time, digital transformation in government meant one thing: take a paper process and put it online. The form becomes a web form, the queue an online appointment, the certificate a PDF. The ministry still does the same work — only the medium changes.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work is still important. But it is no longer the most important work your ministry is being asked to do. The countries — and the ministries — that are delivering real citizen results today are not just digitising forms. They are redesigning how citizens are served.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what the new work actually looks like. One farmer registry, used by the agriculture ministry, the cooperative bank, the input subsidy programme and the climate-resilience programme — the same farmer, recognised the same way, by all of them. One national identity that lets a citizen prove who they are at any service, without paper. One learner record that follows the child from primary school to university. None of these is 'put it online.' Each of them is a redesign of how the ministry works.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new work comes with a new problem. When you redesign how the ministry works, two groups must decide together. The business side: your minister, your director-general, your head of policy. The IT side: your architects, your engineers. In the old work, they did not need to talk much. Business decided what; IT delivered how. In the new work, they decide together. About the same questions. With the same level of seriousness.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they do not share a language. Your minister talks about citizen services and policy goals. Your chief architect talks about systems, APIs and data. They sit in the same meeting and miss each other. The decision does not get made well — or it does not get made at all. And the ministry stays in the old work, even though the new work is what is needed.</a:t>
            </a:r>
          </a:p>
          <a:p/>
          <a:p>
            <a:r>
              <a:t>This is the Strategist's recognition moment — they have lived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job an Enterprise Architecture does. It gives both sides a shared language for the new work. The agreed picture — something both sides can point at. Plain words for the basic terms — service, capability, data domain — that mean the same thing to both sides. And a regular forum — the EA Board — where they sit together and decide. With these in place, the conversation about redesigning how the ministry works finally happens. Without them,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In the era of digitising paper, an EA was useful. In the era of redesigning how the ministry works, an EA is necessary — because without it, business and IT cannot have the conversation the redesign requires.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an EA matters more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thirty years, digital work meant putting paper online. That era is ending. The work now is to redesign how your ministry serves citizens — and that work needs business and IT in the same room, using the same words.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Putting paper online was the work. It is not any more.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form became a web form, the queue an online appointment, the certificate a PDF.</a:t>
            </a:r>
          </a:p>
          <a:p>
            <a:pPr>
              <a:spcAft>
                <a:spcPts val="800"/>
              </a:spcAft>
            </a:pPr>
            <a:r>
              <a:rPr sz="1700" b="0" i="0">
                <a:solidFill>
                  <a:srgbClr val="595959"/>
                </a:solidFill>
                <a:latin typeface="Arial"/>
              </a:rPr>
              <a:t>The ministry still did the same work — only the medium changed.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Putting paper online is no longer the main work</a:t>
            </a:r>
          </a:p>
        </p:txBody>
      </p:sp>
      <p:sp>
        <p:nvSpPr>
          <p:cNvPr id="4" name="Rounded Rectangle 3"/>
          <p:cNvSpPr/>
          <p:nvPr/>
        </p:nvSpPr>
        <p:spPr>
          <a:xfrm>
            <a:off x="658368"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595959"/>
                </a:solidFill>
                <a:latin typeface="Arial"/>
              </a:rPr>
              <a:t>The old work</a:t>
            </a:r>
          </a:p>
          <a:p>
            <a:pPr>
              <a:spcAft>
                <a:spcPts val="700"/>
              </a:spcAft>
            </a:pPr>
            <a:r>
              <a:rPr sz="1600" b="0" i="0">
                <a:solidFill>
                  <a:srgbClr val="1A1A1A"/>
                </a:solidFill>
                <a:latin typeface="Arial"/>
              </a:rPr>
              <a:t>Take a paper process and put it online</a:t>
            </a:r>
          </a:p>
          <a:p>
            <a:pPr>
              <a:spcAft>
                <a:spcPts val="700"/>
              </a:spcAft>
            </a:pPr>
            <a:r>
              <a:rPr sz="1600" b="0" i="0">
                <a:solidFill>
                  <a:srgbClr val="1A1A1A"/>
                </a:solidFill>
                <a:latin typeface="Arial"/>
              </a:rPr>
              <a:t>The ministry’s operating model stays the same</a:t>
            </a:r>
          </a:p>
          <a:p>
            <a:pPr>
              <a:spcAft>
                <a:spcPts val="700"/>
              </a:spcAft>
            </a:pPr>
            <a:r>
              <a:rPr sz="1600" b="0" i="0">
                <a:solidFill>
                  <a:srgbClr val="1A1A1A"/>
                </a:solidFill>
                <a:latin typeface="Arial"/>
              </a:rPr>
              <a:t>Business decides what; IT delivers how</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The new work</a:t>
            </a:r>
          </a:p>
          <a:p>
            <a:pPr>
              <a:spcAft>
                <a:spcPts val="700"/>
              </a:spcAft>
            </a:pPr>
            <a:r>
              <a:rPr sz="1600" b="0" i="0">
                <a:solidFill>
                  <a:srgbClr val="1A1A1A"/>
                </a:solidFill>
                <a:latin typeface="Arial"/>
              </a:rPr>
              <a:t>Redesign how citizens are served</a:t>
            </a:r>
          </a:p>
          <a:p>
            <a:pPr>
              <a:spcAft>
                <a:spcPts val="700"/>
              </a:spcAft>
            </a:pPr>
            <a:r>
              <a:rPr sz="1600" b="0" i="0">
                <a:solidFill>
                  <a:srgbClr val="1A1A1A"/>
                </a:solidFill>
                <a:latin typeface="Arial"/>
              </a:rPr>
              <a:t>The ministry’s operating model changes</a:t>
            </a:r>
          </a:p>
          <a:p>
            <a:pPr>
              <a:spcAft>
                <a:spcPts val="700"/>
              </a:spcAft>
            </a:pPr>
            <a:r>
              <a:rPr sz="1600" b="1" i="0">
                <a:solidFill>
                  <a:srgbClr val="1A1A1A"/>
                </a:solidFill>
                <a:latin typeface="Arial"/>
              </a:rPr>
              <a:t>Business and IT decide together</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redesigns how citizens are served</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One farmer registry</a:t>
            </a:r>
          </a:p>
          <a:p>
            <a:pPr>
              <a:spcAft>
                <a:spcPts val="300"/>
              </a:spcAft>
            </a:pPr>
            <a:r>
              <a:rPr sz="1600" b="0" i="0">
                <a:solidFill>
                  <a:srgbClr val="595959"/>
                </a:solidFill>
                <a:latin typeface="Arial"/>
              </a:rPr>
              <a:t>Shared by the agriculture ministry, the cooperative bank, the input subsidy programme and the climate-resilience programme — the same farmer, recognised the same way, by all of them.</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One national identity</a:t>
            </a:r>
          </a:p>
          <a:p>
            <a:pPr>
              <a:spcAft>
                <a:spcPts val="300"/>
              </a:spcAft>
            </a:pPr>
            <a:r>
              <a:rPr sz="1600" b="0" i="0">
                <a:solidFill>
                  <a:srgbClr val="595959"/>
                </a:solidFill>
                <a:latin typeface="Arial"/>
              </a:rPr>
              <a:t>A citizen proves who they are at any service, without paper.</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One learner record</a:t>
            </a:r>
          </a:p>
          <a:p>
            <a:pPr>
              <a:spcAft>
                <a:spcPts val="300"/>
              </a:spcAft>
            </a:pPr>
            <a:r>
              <a:rPr sz="1600" b="0" i="0">
                <a:solidFill>
                  <a:srgbClr val="595959"/>
                </a:solidFill>
                <a:latin typeface="Arial"/>
              </a:rPr>
              <a:t>It follows the child from primary school to university.</a:t>
            </a:r>
          </a:p>
        </p:txBody>
      </p:sp>
      <p:sp>
        <p:nvSpPr>
          <p:cNvPr id="9" name="TextBox 8"/>
          <p:cNvSpPr txBox="1"/>
          <p:nvPr/>
        </p:nvSpPr>
        <p:spPr>
          <a:xfrm>
            <a:off x="658368" y="5623560"/>
            <a:ext cx="10789920" cy="640080"/>
          </a:xfrm>
          <a:prstGeom prst="rect">
            <a:avLst/>
          </a:prstGeom>
          <a:noFill/>
        </p:spPr>
        <p:txBody>
          <a:bodyPr wrap="square">
            <a:spAutoFit/>
          </a:bodyPr>
          <a:lstStyle/>
          <a:p>
            <a:r>
              <a:rPr sz="1700" b="1" i="0">
                <a:solidFill>
                  <a:srgbClr val="006E96"/>
                </a:solidFill>
                <a:latin typeface="Arial"/>
              </a:rPr>
              <a:t>None of these is “put it online.” Each is a redesign of how the ministry works.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new work needs business and IT to decide together</a:t>
            </a:r>
          </a:p>
        </p:txBody>
      </p:sp>
      <p:sp>
        <p:nvSpPr>
          <p:cNvPr id="4" name="TextBox 3"/>
          <p:cNvSpPr txBox="1"/>
          <p:nvPr/>
        </p:nvSpPr>
        <p:spPr>
          <a:xfrm>
            <a:off x="658368" y="1828800"/>
            <a:ext cx="10789920" cy="3931920"/>
          </a:xfrm>
          <a:prstGeom prst="rect">
            <a:avLst/>
          </a:prstGeom>
          <a:noFill/>
        </p:spPr>
        <p:txBody>
          <a:bodyPr wrap="square">
            <a:spAutoFit/>
          </a:bodyPr>
          <a:lstStyle/>
          <a:p>
            <a:pPr>
              <a:spcAft>
                <a:spcPts val="1600"/>
              </a:spcAft>
            </a:pPr>
            <a:r>
              <a:rPr sz="2200" b="0" i="0">
                <a:solidFill>
                  <a:srgbClr val="1A1A1A"/>
                </a:solidFill>
                <a:latin typeface="Arial"/>
              </a:rPr>
              <a:t>When you redesign how your ministry works, two groups must decide together.</a:t>
            </a:r>
          </a:p>
          <a:p>
            <a:pPr>
              <a:spcAft>
                <a:spcPts val="1600"/>
              </a:spcAft>
            </a:pPr>
            <a:r>
              <a:rPr sz="2000" b="1" i="0">
                <a:solidFill>
                  <a:srgbClr val="1A1A1A"/>
                </a:solidFill>
                <a:latin typeface="Arial"/>
              </a:rPr>
              <a:t>The business side: </a:t>
            </a:r>
            <a:r>
              <a:rPr sz="2000" b="0" i="0">
                <a:solidFill>
                  <a:srgbClr val="1A1A1A"/>
                </a:solidFill>
                <a:latin typeface="Arial"/>
              </a:rPr>
              <a:t>your minister, your director-general, your head of policy.</a:t>
            </a:r>
          </a:p>
          <a:p>
            <a:pPr>
              <a:spcAft>
                <a:spcPts val="1600"/>
              </a:spcAft>
            </a:pPr>
            <a:r>
              <a:rPr sz="2000" b="1" i="0">
                <a:solidFill>
                  <a:srgbClr val="1A1A1A"/>
                </a:solidFill>
                <a:latin typeface="Arial"/>
              </a:rPr>
              <a:t>The IT side: </a:t>
            </a:r>
            <a:r>
              <a:rPr sz="2000" b="0" i="0">
                <a:solidFill>
                  <a:srgbClr val="1A1A1A"/>
                </a:solidFill>
                <a:latin typeface="Arial"/>
              </a:rPr>
              <a:t>your architects, your engineers.</a:t>
            </a:r>
          </a:p>
          <a:p>
            <a:pPr>
              <a:spcAft>
                <a:spcPts val="1600"/>
              </a:spcAft>
            </a:pPr>
            <a:r>
              <a:rPr sz="2000" b="0" i="0">
                <a:solidFill>
                  <a:srgbClr val="595959"/>
                </a:solidFill>
                <a:latin typeface="Arial"/>
              </a:rPr>
              <a:t>In the old work, business decided what and IT delivered how. In the new work, they decide together — about the same questions, with the same seriousness.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They sit in the same meeting — and miss each other</a:t>
            </a:r>
          </a:p>
        </p:txBody>
      </p:sp>
      <p:sp>
        <p:nvSpPr>
          <p:cNvPr id="4" name="Rounded Rectangle 3"/>
          <p:cNvSpPr/>
          <p:nvPr/>
        </p:nvSpPr>
        <p:spPr>
          <a:xfrm>
            <a:off x="65836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minister talks about</a:t>
            </a:r>
          </a:p>
          <a:p>
            <a:pPr>
              <a:spcAft>
                <a:spcPts val="700"/>
              </a:spcAft>
            </a:pPr>
            <a:r>
              <a:rPr sz="2000" b="1" i="0">
                <a:solidFill>
                  <a:srgbClr val="1A1A1A"/>
                </a:solidFill>
                <a:latin typeface="Arial"/>
              </a:rPr>
              <a:t>citizen services and policy goals</a:t>
            </a:r>
          </a:p>
        </p:txBody>
      </p:sp>
      <p:sp>
        <p:nvSpPr>
          <p:cNvPr id="6" name="Rounded Rectangle 5"/>
          <p:cNvSpPr/>
          <p:nvPr/>
        </p:nvSpPr>
        <p:spPr>
          <a:xfrm>
            <a:off x="6281928" y="164592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92224"/>
            <a:ext cx="4992624" cy="1920240"/>
          </a:xfrm>
          <a:prstGeom prst="rect">
            <a:avLst/>
          </a:prstGeom>
          <a:noFill/>
        </p:spPr>
        <p:txBody>
          <a:bodyPr wrap="square">
            <a:spAutoFit/>
          </a:bodyPr>
          <a:lstStyle/>
          <a:p>
            <a:pPr>
              <a:spcAft>
                <a:spcPts val="700"/>
              </a:spcAft>
            </a:pPr>
            <a:r>
              <a:rPr sz="1500" b="0" i="0">
                <a:solidFill>
                  <a:srgbClr val="595959"/>
                </a:solidFill>
                <a:latin typeface="Arial"/>
              </a:rPr>
              <a:t>Your chief architect talks about</a:t>
            </a:r>
          </a:p>
          <a:p>
            <a:pPr>
              <a:spcAft>
                <a:spcPts val="700"/>
              </a:spcAft>
            </a:pPr>
            <a:r>
              <a:rPr sz="2000" b="1" i="0">
                <a:solidFill>
                  <a:srgbClr val="1A1A1A"/>
                </a:solidFill>
                <a:latin typeface="Arial"/>
              </a:rPr>
              <a:t>systems, APIs and data</a:t>
            </a:r>
          </a:p>
        </p:txBody>
      </p:sp>
      <p:sp>
        <p:nvSpPr>
          <p:cNvPr id="8" name="TextBox 7"/>
          <p:cNvSpPr txBox="1"/>
          <p:nvPr/>
        </p:nvSpPr>
        <p:spPr>
          <a:xfrm>
            <a:off x="658368" y="4297680"/>
            <a:ext cx="10789920" cy="1645920"/>
          </a:xfrm>
          <a:prstGeom prst="rect">
            <a:avLst/>
          </a:prstGeom>
          <a:noFill/>
        </p:spPr>
        <p:txBody>
          <a:bodyPr wrap="square">
            <a:spAutoFit/>
          </a:bodyPr>
          <a:lstStyle/>
          <a:p>
            <a:pPr>
              <a:spcAft>
                <a:spcPts val="1000"/>
              </a:spcAft>
            </a:pPr>
            <a:r>
              <a:rPr sz="2100" b="1" i="0">
                <a:solidFill>
                  <a:srgbClr val="1A1A1A"/>
                </a:solidFill>
                <a:latin typeface="Arial"/>
              </a:rPr>
              <a:t>The decision does not get made well — or it does not get made at all.</a:t>
            </a:r>
          </a:p>
          <a:p>
            <a:pPr>
              <a:spcAft>
                <a:spcPts val="1000"/>
              </a:spcAft>
            </a:pPr>
            <a:r>
              <a:rPr sz="1700" b="0" i="0">
                <a:solidFill>
                  <a:srgbClr val="595959"/>
                </a:solidFill>
                <a:latin typeface="Arial"/>
              </a:rPr>
              <a:t>And the ministry stays in the old work, even though the new work is what is needed.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gives both sides one language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2100" b="1" i="0">
                <a:solidFill>
                  <a:srgbClr val="1A1A1A"/>
                </a:solidFill>
                <a:latin typeface="Arial"/>
              </a:rPr>
              <a:t>The agreed picture</a:t>
            </a:r>
          </a:p>
          <a:p>
            <a:pPr>
              <a:spcAft>
                <a:spcPts val="300"/>
              </a:spcAft>
            </a:pPr>
            <a:r>
              <a:rPr sz="1600" b="0" i="0">
                <a:solidFill>
                  <a:srgbClr val="595959"/>
                </a:solidFill>
                <a:latin typeface="Arial"/>
              </a:rPr>
              <a:t>Something both sides can point at.</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2100" b="1" i="0">
                <a:solidFill>
                  <a:srgbClr val="1A1A1A"/>
                </a:solidFill>
                <a:latin typeface="Arial"/>
              </a:rPr>
              <a:t>Plain words for the basic terms</a:t>
            </a:r>
          </a:p>
          <a:p>
            <a:pPr>
              <a:spcAft>
                <a:spcPts val="300"/>
              </a:spcAft>
            </a:pPr>
            <a:r>
              <a:rPr sz="1600" b="0" i="0">
                <a:solidFill>
                  <a:srgbClr val="595959"/>
                </a:solidFill>
                <a:latin typeface="Arial"/>
              </a:rPr>
              <a:t>Service, capability, data domain — meaning the same thing to both sides.</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2100" b="1" i="0">
                <a:solidFill>
                  <a:srgbClr val="1A1A1A"/>
                </a:solidFill>
                <a:latin typeface="Arial"/>
              </a:rPr>
              <a:t>A regular forum — the EA Board</a:t>
            </a:r>
          </a:p>
          <a:p>
            <a:pPr>
              <a:spcAft>
                <a:spcPts val="300"/>
              </a:spcAft>
            </a:pPr>
            <a:r>
              <a:rPr sz="1600" b="0" i="0">
                <a:solidFill>
                  <a:srgbClr val="595959"/>
                </a:solidFill>
                <a:latin typeface="Arial"/>
              </a:rPr>
              <a:t>Where business and IT sit together and decide.</a:t>
            </a:r>
          </a:p>
        </p:txBody>
      </p:sp>
      <p:sp>
        <p:nvSpPr>
          <p:cNvPr id="12" name="TextBox 11"/>
          <p:cNvSpPr txBox="1"/>
          <p:nvPr/>
        </p:nvSpPr>
        <p:spPr>
          <a:xfrm>
            <a:off x="658368" y="5669280"/>
            <a:ext cx="10789920" cy="640080"/>
          </a:xfrm>
          <a:prstGeom prst="rect">
            <a:avLst/>
          </a:prstGeom>
          <a:noFill/>
        </p:spPr>
        <p:txBody>
          <a:bodyPr wrap="square">
            <a:spAutoFit/>
          </a:bodyPr>
          <a:lstStyle/>
          <a:p>
            <a:r>
              <a:rPr sz="1600" b="0" i="1">
                <a:solidFill>
                  <a:srgbClr val="595959"/>
                </a:solidFill>
                <a:latin typeface="Arial"/>
              </a:rPr>
              <a:t>With these in place, the redesign conversation finally happens. Without them, it does not.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 the era of digitising paper, an EA was useful. In the era of redesigning how the ministry works, an EA is necessary.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Translate an operating-model question into a business-IT joint agenda.</a:t>
            </a:r>
          </a:p>
          <a:p>
            <a:pPr algn="l">
              <a:spcAft>
                <a:spcPts val="400"/>
              </a:spcAft>
            </a:pPr>
            <a:r>
              <a:rPr sz="1800" b="0" i="0">
                <a:solidFill>
                  <a:srgbClr val="595959"/>
                </a:solidFill>
                <a:latin typeface="Arial"/>
              </a:rPr>
              <a:t>The prompt in the companion material gives you a 3-column decomposition plus a meeting agenda.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Why an EA matters more now</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