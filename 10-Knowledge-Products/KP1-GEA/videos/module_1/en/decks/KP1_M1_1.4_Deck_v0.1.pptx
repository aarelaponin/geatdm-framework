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media/image3.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1.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4"/>
    <p:sldMasterId id="2147483709" r:id="rId5"/>
    <p:sldMasterId id="2147483713" r:id="rId6"/>
    <p:sldMasterId id="2147483691" r:id="rId7"/>
  </p:sldMasterIdLst>
  <p:notesMasterIdLst>
    <p:notesMasterId r:id="rId46"/>
  </p:notesMasterIdLst>
  <p:handoutMasterIdLst>
    <p:handoutMasterId r:id="rId47"/>
  </p:handoutMasterIdLst>
  <p:sldIdLst>
    <p:sldId id="2681" r:id="rId8"/>
    <p:sldId id="2715" r:id="rId37"/>
    <p:sldId id="2716" r:id="rId38"/>
    <p:sldId id="2717" r:id="rId39"/>
    <p:sldId id="2718" r:id="rId40"/>
    <p:sldId id="2719" r:id="rId41"/>
    <p:sldId id="2720" r:id="rId42"/>
    <p:sldId id="2721" r:id="rId43"/>
    <p:sldId id="2722" r:id="rId4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6A6A6"/>
    <a:srgbClr val="0083B3"/>
    <a:srgbClr val="9D26FF"/>
    <a:srgbClr val="0076A1"/>
    <a:srgbClr val="FFFFFF"/>
    <a:srgbClr val="009CD6"/>
    <a:srgbClr val="A5A5A5"/>
    <a:srgbClr val="757070"/>
    <a:srgbClr val="6F6F6E"/>
    <a:srgbClr val="F5FA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CBC4942-2EA4-48B8-A075-B5F2ABFFFDF6}" v="10" dt="2026-07-22T19:37:31.02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71" d="100"/>
          <a:sy n="71" d="100"/>
        </p:scale>
        <p:origin x="412" y="44"/>
      </p:cViewPr>
      <p:guideLst>
        <p:guide orient="horz" pos="2160"/>
        <p:guide pos="3840"/>
      </p:guideLst>
    </p:cSldViewPr>
  </p:slideViewPr>
  <p:notesTextViewPr>
    <p:cViewPr>
      <p:scale>
        <a:sx n="1" d="1"/>
        <a:sy n="1" d="1"/>
      </p:scale>
      <p:origin x="0" y="0"/>
    </p:cViewPr>
  </p:notesTextViewPr>
  <p:notesViewPr>
    <p:cSldViewPr snapToGrid="0">
      <p:cViewPr varScale="1">
        <p:scale>
          <a:sx n="124" d="100"/>
          <a:sy n="124" d="100"/>
        </p:scale>
        <p:origin x="4188" y="8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slide" Target="slides/slide1.xml"/><Relationship Id="rId37" Type="http://schemas.openxmlformats.org/officeDocument/2006/relationships/slide" Target="slides/slide22.xml"/><Relationship Id="rId38" Type="http://schemas.openxmlformats.org/officeDocument/2006/relationships/slide" Target="slides/slide23.xml"/><Relationship Id="rId39" Type="http://schemas.openxmlformats.org/officeDocument/2006/relationships/slide" Target="slides/slide24.xml"/><Relationship Id="rId40" Type="http://schemas.openxmlformats.org/officeDocument/2006/relationships/slide" Target="slides/slide25.xml"/><Relationship Id="rId41" Type="http://schemas.openxmlformats.org/officeDocument/2006/relationships/slide" Target="slides/slide26.xml"/><Relationship Id="rId42" Type="http://schemas.openxmlformats.org/officeDocument/2006/relationships/slide" Target="slides/slide27.xml"/><Relationship Id="rId43" Type="http://schemas.openxmlformats.org/officeDocument/2006/relationships/slide" Target="slides/slide28.xml"/><Relationship Id="rId44" Type="http://schemas.openxmlformats.org/officeDocument/2006/relationships/slide" Target="slides/slide29.xml"/><Relationship Id="rId46" Type="http://schemas.openxmlformats.org/officeDocument/2006/relationships/notesMaster" Target="notesMasters/notesMaster1.xml"/><Relationship Id="rId47" Type="http://schemas.openxmlformats.org/officeDocument/2006/relationships/handoutMaster" Target="handoutMasters/handout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microsoft.com/office/2016/11/relationships/changesInfo" Target="changesInfos/changesInfo1.xml"/><Relationship Id="rId53"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selmino, Carolina" userId="5c3f6dd0-fb53-498d-9f5e-392bc2a3ffc7" providerId="ADAL" clId="{E38CDB5B-0F14-49C4-839B-AE81B7033013}"/>
    <pc:docChg chg="undo custSel addSld delSld modSld">
      <pc:chgData name="Anselmino, Carolina" userId="5c3f6dd0-fb53-498d-9f5e-392bc2a3ffc7" providerId="ADAL" clId="{E38CDB5B-0F14-49C4-839B-AE81B7033013}" dt="2026-07-22T19:37:31.024" v="702" actId="164"/>
      <pc:docMkLst>
        <pc:docMk/>
      </pc:docMkLst>
      <pc:sldChg chg="modSp mod">
        <pc:chgData name="Anselmino, Carolina" userId="5c3f6dd0-fb53-498d-9f5e-392bc2a3ffc7" providerId="ADAL" clId="{E38CDB5B-0F14-49C4-839B-AE81B7033013}" dt="2026-07-22T11:43:29.600" v="14" actId="1076"/>
        <pc:sldMkLst>
          <pc:docMk/>
          <pc:sldMk cId="1405143857" sldId="280"/>
        </pc:sldMkLst>
        <pc:spChg chg="mod">
          <ac:chgData name="Anselmino, Carolina" userId="5c3f6dd0-fb53-498d-9f5e-392bc2a3ffc7" providerId="ADAL" clId="{E38CDB5B-0F14-49C4-839B-AE81B7033013}" dt="2026-07-22T11:43:19.760" v="12" actId="1076"/>
          <ac:spMkLst>
            <pc:docMk/>
            <pc:sldMk cId="1405143857" sldId="280"/>
            <ac:spMk id="45" creationId="{1FF21F3A-03EB-4BF7-B952-9FA7182F69DE}"/>
          </ac:spMkLst>
        </pc:spChg>
        <pc:grpChg chg="mod">
          <ac:chgData name="Anselmino, Carolina" userId="5c3f6dd0-fb53-498d-9f5e-392bc2a3ffc7" providerId="ADAL" clId="{E38CDB5B-0F14-49C4-839B-AE81B7033013}" dt="2026-07-22T11:43:29.600" v="14" actId="1076"/>
          <ac:grpSpMkLst>
            <pc:docMk/>
            <pc:sldMk cId="1405143857" sldId="280"/>
            <ac:grpSpMk id="44" creationId="{B8FF808C-B389-4C00-87CD-F61A6779EE7C}"/>
          </ac:grpSpMkLst>
        </pc:grpChg>
      </pc:sldChg>
      <pc:sldChg chg="addSp delSp modSp mod">
        <pc:chgData name="Anselmino, Carolina" userId="5c3f6dd0-fb53-498d-9f5e-392bc2a3ffc7" providerId="ADAL" clId="{E38CDB5B-0F14-49C4-839B-AE81B7033013}" dt="2026-07-22T19:37:31.024" v="702" actId="164"/>
        <pc:sldMkLst>
          <pc:docMk/>
          <pc:sldMk cId="1196800265" sldId="2681"/>
        </pc:sldMkLst>
        <pc:spChg chg="mod">
          <ac:chgData name="Anselmino, Carolina" userId="5c3f6dd0-fb53-498d-9f5e-392bc2a3ffc7" providerId="ADAL" clId="{E38CDB5B-0F14-49C4-839B-AE81B7033013}" dt="2026-07-22T11:44:01.404" v="22" actId="12788"/>
          <ac:spMkLst>
            <pc:docMk/>
            <pc:sldMk cId="1196800265" sldId="2681"/>
            <ac:spMk id="9" creationId="{A74A033E-F2C4-63F1-935E-B0E00C34458D}"/>
          </ac:spMkLst>
        </pc:spChg>
        <pc:spChg chg="mod">
          <ac:chgData name="Anselmino, Carolina" userId="5c3f6dd0-fb53-498d-9f5e-392bc2a3ffc7" providerId="ADAL" clId="{E38CDB5B-0F14-49C4-839B-AE81B7033013}" dt="2026-07-22T11:46:41.299" v="210" actId="20577"/>
          <ac:spMkLst>
            <pc:docMk/>
            <pc:sldMk cId="1196800265" sldId="2681"/>
            <ac:spMk id="12" creationId="{EEB08032-CE0E-4986-AEDF-A41026C0E8B9}"/>
          </ac:spMkLst>
        </pc:spChg>
        <pc:spChg chg="add mod">
          <ac:chgData name="Anselmino, Carolina" userId="5c3f6dd0-fb53-498d-9f5e-392bc2a3ffc7" providerId="ADAL" clId="{E38CDB5B-0F14-49C4-839B-AE81B7033013}" dt="2026-07-22T11:46:31.178" v="195" actId="20577"/>
          <ac:spMkLst>
            <pc:docMk/>
            <pc:sldMk cId="1196800265" sldId="2681"/>
            <ac:spMk id="14" creationId="{B5087B80-3EE4-1881-0130-ED58CA625092}"/>
          </ac:spMkLst>
        </pc:spChg>
        <pc:spChg chg="add mod">
          <ac:chgData name="Anselmino, Carolina" userId="5c3f6dd0-fb53-498d-9f5e-392bc2a3ffc7" providerId="ADAL" clId="{E38CDB5B-0F14-49C4-839B-AE81B7033013}" dt="2026-07-22T11:51:15.375" v="432" actId="20577"/>
          <ac:spMkLst>
            <pc:docMk/>
            <pc:sldMk cId="1196800265" sldId="2681"/>
            <ac:spMk id="17" creationId="{5E8796F7-DD26-D250-5E97-B38B22298E72}"/>
          </ac:spMkLst>
        </pc:spChg>
        <pc:spChg chg="add mod">
          <ac:chgData name="Anselmino, Carolina" userId="5c3f6dd0-fb53-498d-9f5e-392bc2a3ffc7" providerId="ADAL" clId="{E38CDB5B-0F14-49C4-839B-AE81B7033013}" dt="2026-07-22T19:37:31.024" v="702" actId="164"/>
          <ac:spMkLst>
            <pc:docMk/>
            <pc:sldMk cId="1196800265" sldId="2681"/>
            <ac:spMk id="19" creationId="{352ECD8B-4B24-AB9F-BF07-5E33A295F52D}"/>
          </ac:spMkLst>
        </pc:spChg>
        <pc:grpChg chg="add mod">
          <ac:chgData name="Anselmino, Carolina" userId="5c3f6dd0-fb53-498d-9f5e-392bc2a3ffc7" providerId="ADAL" clId="{E38CDB5B-0F14-49C4-839B-AE81B7033013}" dt="2026-07-22T19:37:31.024" v="702" actId="164"/>
          <ac:grpSpMkLst>
            <pc:docMk/>
            <pc:sldMk cId="1196800265" sldId="2681"/>
            <ac:grpSpMk id="8" creationId="{759E7638-035C-C837-D321-A8C06D48B5DC}"/>
          </ac:grpSpMkLst>
        </pc:grpChg>
        <pc:grpChg chg="add mod">
          <ac:chgData name="Anselmino, Carolina" userId="5c3f6dd0-fb53-498d-9f5e-392bc2a3ffc7" providerId="ADAL" clId="{E38CDB5B-0F14-49C4-839B-AE81B7033013}" dt="2026-07-22T19:37:31.024" v="702" actId="164"/>
          <ac:grpSpMkLst>
            <pc:docMk/>
            <pc:sldMk cId="1196800265" sldId="2681"/>
            <ac:grpSpMk id="20" creationId="{0D0761BD-2F2F-6D79-B3EF-A531E092890D}"/>
          </ac:grpSpMkLst>
        </pc:grpChg>
        <pc:picChg chg="add del">
          <ac:chgData name="Anselmino, Carolina" userId="5c3f6dd0-fb53-498d-9f5e-392bc2a3ffc7" providerId="ADAL" clId="{E38CDB5B-0F14-49C4-839B-AE81B7033013}" dt="2026-07-22T11:42:32.545" v="4" actId="478"/>
          <ac:picMkLst>
            <pc:docMk/>
            <pc:sldMk cId="1196800265" sldId="2681"/>
            <ac:picMk id="3" creationId="{49CB780D-15A3-48FD-506A-45097B8C84EF}"/>
          </ac:picMkLst>
        </pc:picChg>
        <pc:picChg chg="add mod">
          <ac:chgData name="Anselmino, Carolina" userId="5c3f6dd0-fb53-498d-9f5e-392bc2a3ffc7" providerId="ADAL" clId="{E38CDB5B-0F14-49C4-839B-AE81B7033013}" dt="2026-07-22T11:42:43.855" v="6" actId="1076"/>
          <ac:picMkLst>
            <pc:docMk/>
            <pc:sldMk cId="1196800265" sldId="2681"/>
            <ac:picMk id="4" creationId="{69007BE6-4165-6B9F-CABD-19BC8B326D8F}"/>
          </ac:picMkLst>
        </pc:picChg>
        <pc:picChg chg="add del mod">
          <ac:chgData name="Anselmino, Carolina" userId="5c3f6dd0-fb53-498d-9f5e-392bc2a3ffc7" providerId="ADAL" clId="{E38CDB5B-0F14-49C4-839B-AE81B7033013}" dt="2026-07-22T11:43:03.472" v="10" actId="478"/>
          <ac:picMkLst>
            <pc:docMk/>
            <pc:sldMk cId="1196800265" sldId="2681"/>
            <ac:picMk id="6" creationId="{7BDA84B0-A315-5710-DC3F-3108F335D58B}"/>
          </ac:picMkLst>
        </pc:picChg>
        <pc:picChg chg="mod modCrop">
          <ac:chgData name="Anselmino, Carolina" userId="5c3f6dd0-fb53-498d-9f5e-392bc2a3ffc7" providerId="ADAL" clId="{E38CDB5B-0F14-49C4-839B-AE81B7033013}" dt="2026-07-22T11:36:58.998" v="2" actId="732"/>
          <ac:picMkLst>
            <pc:docMk/>
            <pc:sldMk cId="1196800265" sldId="2681"/>
            <ac:picMk id="7" creationId="{A2066351-C569-4C4C-A096-308777FCDC32}"/>
          </ac:picMkLst>
        </pc:picChg>
        <pc:picChg chg="mod">
          <ac:chgData name="Anselmino, Carolina" userId="5c3f6dd0-fb53-498d-9f5e-392bc2a3ffc7" providerId="ADAL" clId="{E38CDB5B-0F14-49C4-839B-AE81B7033013}" dt="2026-07-22T11:44:01.404" v="22" actId="12788"/>
          <ac:picMkLst>
            <pc:docMk/>
            <pc:sldMk cId="1196800265" sldId="2681"/>
            <ac:picMk id="10" creationId="{D4EAC1CC-FDEC-CB2B-4814-426FB9337D67}"/>
          </ac:picMkLst>
        </pc:picChg>
        <pc:cxnChg chg="mod">
          <ac:chgData name="Anselmino, Carolina" userId="5c3f6dd0-fb53-498d-9f5e-392bc2a3ffc7" providerId="ADAL" clId="{E38CDB5B-0F14-49C4-839B-AE81B7033013}" dt="2026-07-22T11:46:16.310" v="179" actId="14100"/>
          <ac:cxnSpMkLst>
            <pc:docMk/>
            <pc:sldMk cId="1196800265" sldId="2681"/>
            <ac:cxnSpMk id="11" creationId="{D9AD66F2-F7C0-4D03-9150-D28F17AC561D}"/>
          </ac:cxnSpMkLst>
        </pc:cxnChg>
      </pc:sldChg>
      <pc:sldChg chg="del">
        <pc:chgData name="Anselmino, Carolina" userId="5c3f6dd0-fb53-498d-9f5e-392bc2a3ffc7" providerId="ADAL" clId="{E38CDB5B-0F14-49C4-839B-AE81B7033013}" dt="2026-07-22T19:26:38.574" v="665" actId="47"/>
        <pc:sldMkLst>
          <pc:docMk/>
          <pc:sldMk cId="1763900471" sldId="2682"/>
        </pc:sldMkLst>
      </pc:sldChg>
      <pc:sldChg chg="del">
        <pc:chgData name="Anselmino, Carolina" userId="5c3f6dd0-fb53-498d-9f5e-392bc2a3ffc7" providerId="ADAL" clId="{E38CDB5B-0F14-49C4-839B-AE81B7033013}" dt="2026-07-22T19:26:35.304" v="664" actId="47"/>
        <pc:sldMkLst>
          <pc:docMk/>
          <pc:sldMk cId="1891845127" sldId="2685"/>
        </pc:sldMkLst>
      </pc:sldChg>
      <pc:sldChg chg="add del">
        <pc:chgData name="Anselmino, Carolina" userId="5c3f6dd0-fb53-498d-9f5e-392bc2a3ffc7" providerId="ADAL" clId="{E38CDB5B-0F14-49C4-839B-AE81B7033013}" dt="2026-07-22T15:50:00.267" v="434" actId="47"/>
        <pc:sldMkLst>
          <pc:docMk/>
          <pc:sldMk cId="2459501262" sldId="2695"/>
        </pc:sldMkLst>
      </pc:sldChg>
      <pc:sldChg chg="modSp add mod">
        <pc:chgData name="Anselmino, Carolina" userId="5c3f6dd0-fb53-498d-9f5e-392bc2a3ffc7" providerId="ADAL" clId="{E38CDB5B-0F14-49C4-839B-AE81B7033013}" dt="2026-07-22T19:17:50.009" v="663" actId="14100"/>
        <pc:sldMkLst>
          <pc:docMk/>
          <pc:sldMk cId="2895905977" sldId="2695"/>
        </pc:sldMkLst>
        <pc:spChg chg="mod">
          <ac:chgData name="Anselmino, Carolina" userId="5c3f6dd0-fb53-498d-9f5e-392bc2a3ffc7" providerId="ADAL" clId="{E38CDB5B-0F14-49C4-839B-AE81B7033013}" dt="2026-07-22T15:51:46.203" v="494" actId="20577"/>
          <ac:spMkLst>
            <pc:docMk/>
            <pc:sldMk cId="2895905977" sldId="2695"/>
            <ac:spMk id="5" creationId="{05ECEA81-427F-77E6-3A96-077D430CC49C}"/>
          </ac:spMkLst>
        </pc:spChg>
        <pc:spChg chg="mod">
          <ac:chgData name="Anselmino, Carolina" userId="5c3f6dd0-fb53-498d-9f5e-392bc2a3ffc7" providerId="ADAL" clId="{E38CDB5B-0F14-49C4-839B-AE81B7033013}" dt="2026-07-22T19:17:50.009" v="663" actId="14100"/>
          <ac:spMkLst>
            <pc:docMk/>
            <pc:sldMk cId="2895905977" sldId="2695"/>
            <ac:spMk id="6" creationId="{F5AB7147-07E3-D061-CD69-902D615A346F}"/>
          </ac:spMkLst>
        </pc:spChg>
        <pc:spChg chg="mod">
          <ac:chgData name="Anselmino, Carolina" userId="5c3f6dd0-fb53-498d-9f5e-392bc2a3ffc7" providerId="ADAL" clId="{E38CDB5B-0F14-49C4-839B-AE81B7033013}" dt="2026-07-22T15:52:40.119" v="519" actId="14100"/>
          <ac:spMkLst>
            <pc:docMk/>
            <pc:sldMk cId="2895905977" sldId="2695"/>
            <ac:spMk id="7" creationId="{645C8C6B-29A8-B1C0-3772-5822CAB07F1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BE192EA-4FB5-417A-96F6-B3058A54ABC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75D5479-0008-4BFD-BE18-7442B169130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72114D-3A05-4B20-822E-8261653B33D2}" type="datetimeFigureOut">
              <a:rPr lang="en-US" smtClean="0"/>
              <a:t>7/22/2026</a:t>
            </a:fld>
            <a:endParaRPr lang="en-US"/>
          </a:p>
        </p:txBody>
      </p:sp>
      <p:sp>
        <p:nvSpPr>
          <p:cNvPr id="4" name="Footer Placeholder 3">
            <a:extLst>
              <a:ext uri="{FF2B5EF4-FFF2-40B4-BE49-F238E27FC236}">
                <a16:creationId xmlns:a16="http://schemas.microsoft.com/office/drawing/2014/main" id="{EABD4BE7-9FD8-4D10-87DD-2B2BC23B46E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10342B2-B657-4BF5-B0C4-8D3FD65073D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1E5079B-D1F0-49DB-8DFB-E06CD09EC17E}" type="slidenum">
              <a:rPr lang="en-US" smtClean="0"/>
              <a:t>‹#›</a:t>
            </a:fld>
            <a:endParaRPr lang="en-US"/>
          </a:p>
        </p:txBody>
      </p:sp>
    </p:spTree>
    <p:extLst>
      <p:ext uri="{BB962C8B-B14F-4D97-AF65-F5344CB8AC3E}">
        <p14:creationId xmlns:p14="http://schemas.microsoft.com/office/powerpoint/2010/main" val="42005472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4F008D2-43B4-45EB-8E80-36DCF9CD046D}" type="datetimeFigureOut">
              <a:rPr lang="en-US" smtClean="0"/>
              <a:t>7/22/2026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6A8591F-50F3-4C40-9DA2-D793276CC051}" type="slidenum">
              <a:rPr lang="en-US" smtClean="0"/>
              <a:t>‹#›</a:t>
            </a:fld>
            <a:endParaRPr lang="en-US"/>
          </a:p>
        </p:txBody>
      </p:sp>
    </p:spTree>
    <p:extLst>
      <p:ext uri="{BB962C8B-B14F-4D97-AF65-F5344CB8AC3E}">
        <p14:creationId xmlns:p14="http://schemas.microsoft.com/office/powerpoint/2010/main" val="779994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slide 1: For a long time, digital transformation in government meant one thing. Take a paper process and put it online. The application form becomes a web form. The queue becomes an online appointment. The certificate becomes a PDF. The ministry still does the same work, in the same order, with the same roles. Only the medium changes.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for standalone video 1.4. Content slides are identical to the corresponding section of the combined deck KP1_M1_Deck_v0.1.pptx; voice-over is in each slide’s notes.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That work is still important. But it is no longer the most important work your ministry is being asked to do. The countries — and the ministries — that are delivering real citizen results today are not just digitising forms. They are redesigning how citizens are served.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Look at what the new work actually looks like. One farmer registry, used by the agriculture ministry, the cooperative bank, the input subsidy programme and the climate-resilience programme — the same farmer, recognised the same way, by all of them. One national identity that lets a citizen prove who they are at any service, without paper. One learner record that follows the child from primary school to university. None of these is 'put it online.' Each of them is a redesign of how the ministry works.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But the new work comes with a new problem. When you redesign how the ministry works, two groups must decide together. The business side: your minister, your director-general, your head of policy. The IT side: your architects, your engineers. In the old work, they did not need to talk much. Business decided what; IT delivered how. In the new work, they decide together. About the same questions. With the same level of seriousness.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But they do not share a language. Your minister talks about citizen services and policy goals. Your chief architect talks about systems, APIs and data. They sit in the same meeting and miss each other. The decision does not get made well — or it does not get made at all. And the ministry stays in the old work, even though the new work is what is needed.</a:t>
            </a:r>
          </a:p>
          <a:p/>
          <a:p>
            <a:r>
              <a:t>This is the Strategist's recognition moment — they have lived this meeting.</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This is the second job an Enterprise Architecture does. It gives both sides a shared language for the new work. The agreed picture — something both sides can point at. Plain words for the basic terms — service, capability, data domain — that mean the same thing to both sides. And a regular forum — the EA Board — where they sit together and decide. With these in place, the conversation about redesigning how the ministry works finally happens. Without them, it does not.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When you make the case to your minister, this is the second half of the case. Planning is one half. Shared language is the other. In the era of digitising paper, an EA was useful. In the era of redesigning how the ministry works, an EA is necessary — because without it, the business side and the IT side cannot have the conversation the redesign requires.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Grey margin-Content with Caption (White 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28691" y="1959151"/>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3" name="Text Placeholder 3">
            <a:extLst>
              <a:ext uri="{FF2B5EF4-FFF2-40B4-BE49-F238E27FC236}">
                <a16:creationId xmlns:a16="http://schemas.microsoft.com/office/drawing/2014/main" id="{3E0F6D26-4165-4298-B9DF-69A0CA57C654}"/>
              </a:ext>
            </a:extLst>
          </p:cNvPr>
          <p:cNvSpPr>
            <a:spLocks noGrp="1"/>
          </p:cNvSpPr>
          <p:nvPr>
            <p:ph type="body" sz="half" idx="14" hasCustomPrompt="1"/>
          </p:nvPr>
        </p:nvSpPr>
        <p:spPr>
          <a:xfrm>
            <a:off x="5018432" y="1959150"/>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7" name="Title 1">
            <a:extLst>
              <a:ext uri="{FF2B5EF4-FFF2-40B4-BE49-F238E27FC236}">
                <a16:creationId xmlns:a16="http://schemas.microsoft.com/office/drawing/2014/main" id="{CED336FC-6E45-4A2D-A5AB-BE24E693E093}"/>
              </a:ext>
            </a:extLst>
          </p:cNvPr>
          <p:cNvSpPr>
            <a:spLocks noGrp="1"/>
          </p:cNvSpPr>
          <p:nvPr>
            <p:ph type="title" hasCustomPrompt="1"/>
          </p:nvPr>
        </p:nvSpPr>
        <p:spPr>
          <a:xfrm>
            <a:off x="728691" y="1265849"/>
            <a:ext cx="9051731" cy="502882"/>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20EB37B9-0614-41D6-8AFE-EB91B451A9F5}"/>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E8CDBB-5A4D-4444-85CC-7578EF050F69}"/>
              </a:ext>
            </a:extLst>
          </p:cNvPr>
          <p:cNvSpPr>
            <a:spLocks noGrp="1"/>
          </p:cNvSpPr>
          <p:nvPr>
            <p:ph type="body" sz="quarter" idx="12"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71817602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lumn - Title colum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8D6A0DE-A965-4E02-8A8B-981E2FDE590E}"/>
              </a:ext>
            </a:extLst>
          </p:cNvPr>
          <p:cNvSpPr>
            <a:spLocks noGrp="1"/>
          </p:cNvSpPr>
          <p:nvPr>
            <p:ph type="body" idx="1"/>
          </p:nvPr>
        </p:nvSpPr>
        <p:spPr>
          <a:xfrm>
            <a:off x="728687" y="1994663"/>
            <a:ext cx="4860830"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B820F59-7539-405E-B005-C5C92782E908}"/>
              </a:ext>
            </a:extLst>
          </p:cNvPr>
          <p:cNvSpPr>
            <a:spLocks noGrp="1"/>
          </p:cNvSpPr>
          <p:nvPr>
            <p:ph sz="half" idx="2" hasCustomPrompt="1"/>
          </p:nvPr>
        </p:nvSpPr>
        <p:spPr>
          <a:xfrm>
            <a:off x="728687" y="2490758"/>
            <a:ext cx="4860830"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7" name="Text Placeholder 2">
            <a:extLst>
              <a:ext uri="{FF2B5EF4-FFF2-40B4-BE49-F238E27FC236}">
                <a16:creationId xmlns:a16="http://schemas.microsoft.com/office/drawing/2014/main" id="{9AE6D208-1F00-412A-86E9-1A7081F56572}"/>
              </a:ext>
            </a:extLst>
          </p:cNvPr>
          <p:cNvSpPr>
            <a:spLocks noGrp="1"/>
          </p:cNvSpPr>
          <p:nvPr>
            <p:ph type="body" idx="10"/>
          </p:nvPr>
        </p:nvSpPr>
        <p:spPr>
          <a:xfrm>
            <a:off x="5892510" y="1994663"/>
            <a:ext cx="4751106"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8" name="Content Placeholder 3">
            <a:extLst>
              <a:ext uri="{FF2B5EF4-FFF2-40B4-BE49-F238E27FC236}">
                <a16:creationId xmlns:a16="http://schemas.microsoft.com/office/drawing/2014/main" id="{B8B83478-806A-4C07-A7A7-0CDF7E621EB5}"/>
              </a:ext>
            </a:extLst>
          </p:cNvPr>
          <p:cNvSpPr>
            <a:spLocks noGrp="1"/>
          </p:cNvSpPr>
          <p:nvPr>
            <p:ph sz="half" idx="11" hasCustomPrompt="1"/>
          </p:nvPr>
        </p:nvSpPr>
        <p:spPr>
          <a:xfrm>
            <a:off x="5892510" y="2490758"/>
            <a:ext cx="4751106"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3" name="Title 1">
            <a:extLst>
              <a:ext uri="{FF2B5EF4-FFF2-40B4-BE49-F238E27FC236}">
                <a16:creationId xmlns:a16="http://schemas.microsoft.com/office/drawing/2014/main" id="{20A48B77-BCF1-4349-8EF0-B33A1789375A}"/>
              </a:ext>
            </a:extLst>
          </p:cNvPr>
          <p:cNvSpPr>
            <a:spLocks noGrp="1"/>
          </p:cNvSpPr>
          <p:nvPr>
            <p:ph type="title" hasCustomPrompt="1"/>
          </p:nvPr>
        </p:nvSpPr>
        <p:spPr>
          <a:xfrm>
            <a:off x="728687" y="1238515"/>
            <a:ext cx="9914929" cy="635902"/>
          </a:xfrm>
          <a:prstGeom prst="rect">
            <a:avLst/>
          </a:prstGeom>
        </p:spPr>
        <p:txBody>
          <a:bodyPr>
            <a:noAutofit/>
          </a:bodyPr>
          <a:lstStyle>
            <a:lvl1pPr>
              <a:defRPr sz="2800"/>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CCE4054A-3251-41A6-8BA5-67C64EF3E610}"/>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2" name="Text Placeholder 3">
            <a:extLst>
              <a:ext uri="{FF2B5EF4-FFF2-40B4-BE49-F238E27FC236}">
                <a16:creationId xmlns:a16="http://schemas.microsoft.com/office/drawing/2014/main" id="{F8E1AD81-2712-4CFB-B585-60CDC561D6F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8803887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bullet lis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C078E5A-AB76-4634-8AD9-64C991C6FC02}"/>
              </a:ext>
            </a:extLst>
          </p:cNvPr>
          <p:cNvSpPr>
            <a:spLocks noGrp="1"/>
          </p:cNvSpPr>
          <p:nvPr>
            <p:ph sz="half" idx="1" hasCustomPrompt="1"/>
          </p:nvPr>
        </p:nvSpPr>
        <p:spPr>
          <a:xfrm>
            <a:off x="721372" y="2040524"/>
            <a:ext cx="4393315" cy="4125355"/>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4" name="Content Placeholder 3">
            <a:extLst>
              <a:ext uri="{FF2B5EF4-FFF2-40B4-BE49-F238E27FC236}">
                <a16:creationId xmlns:a16="http://schemas.microsoft.com/office/drawing/2014/main" id="{4198F227-A22B-432C-84DE-6E0A3BE38D63}"/>
              </a:ext>
            </a:extLst>
          </p:cNvPr>
          <p:cNvSpPr>
            <a:spLocks noGrp="1"/>
          </p:cNvSpPr>
          <p:nvPr>
            <p:ph sz="half" idx="2" hasCustomPrompt="1"/>
          </p:nvPr>
        </p:nvSpPr>
        <p:spPr>
          <a:xfrm>
            <a:off x="5460255" y="2040523"/>
            <a:ext cx="4393316" cy="4126191"/>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10" name="Title 1">
            <a:extLst>
              <a:ext uri="{FF2B5EF4-FFF2-40B4-BE49-F238E27FC236}">
                <a16:creationId xmlns:a16="http://schemas.microsoft.com/office/drawing/2014/main" id="{D346557F-F9B0-433A-9FC1-56C38B19DE9B}"/>
              </a:ext>
            </a:extLst>
          </p:cNvPr>
          <p:cNvSpPr>
            <a:spLocks noGrp="1"/>
          </p:cNvSpPr>
          <p:nvPr>
            <p:ph type="title" hasCustomPrompt="1"/>
          </p:nvPr>
        </p:nvSpPr>
        <p:spPr>
          <a:xfrm>
            <a:off x="721373" y="1251017"/>
            <a:ext cx="9132198" cy="565079"/>
          </a:xfrm>
          <a:prstGeom prst="rect">
            <a:avLst/>
          </a:prstGeom>
        </p:spPr>
        <p:txBody>
          <a:bodyPr>
            <a:noAutofit/>
          </a:bodyPr>
          <a:lstStyle>
            <a:lvl1pPr>
              <a:defRPr sz="2800"/>
            </a:lvl1pPr>
          </a:lstStyle>
          <a:p>
            <a:pPr lvl="0"/>
            <a:r>
              <a:rPr lang="en-US" dirty="0"/>
              <a:t>Click to edit Master text styles</a:t>
            </a:r>
          </a:p>
        </p:txBody>
      </p:sp>
      <p:cxnSp>
        <p:nvCxnSpPr>
          <p:cNvPr id="12" name="Straight Connector 11">
            <a:extLst>
              <a:ext uri="{FF2B5EF4-FFF2-40B4-BE49-F238E27FC236}">
                <a16:creationId xmlns:a16="http://schemas.microsoft.com/office/drawing/2014/main" id="{56157FF2-E1F2-41A6-A3CB-3DE59785DD4D}"/>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3" name="Text Placeholder 3">
            <a:extLst>
              <a:ext uri="{FF2B5EF4-FFF2-40B4-BE49-F238E27FC236}">
                <a16:creationId xmlns:a16="http://schemas.microsoft.com/office/drawing/2014/main" id="{E8A78C8E-6713-4582-84CE-8C8A0FE572A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513749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ne column 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37226" y="1975104"/>
            <a:ext cx="6256106" cy="4210543"/>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0" name="Title 1">
            <a:extLst>
              <a:ext uri="{FF2B5EF4-FFF2-40B4-BE49-F238E27FC236}">
                <a16:creationId xmlns:a16="http://schemas.microsoft.com/office/drawing/2014/main" id="{3F01D386-9240-4F38-9F1C-4325351B05E1}"/>
              </a:ext>
            </a:extLst>
          </p:cNvPr>
          <p:cNvSpPr>
            <a:spLocks noGrp="1"/>
          </p:cNvSpPr>
          <p:nvPr>
            <p:ph type="title" hasCustomPrompt="1"/>
          </p:nvPr>
        </p:nvSpPr>
        <p:spPr>
          <a:xfrm>
            <a:off x="737225" y="1261501"/>
            <a:ext cx="7177821" cy="542146"/>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015B0268-1877-4B50-85FE-85F64126C828}"/>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716C6763-4EEE-47FB-A7AD-A329AC03860D}"/>
              </a:ext>
            </a:extLst>
          </p:cNvPr>
          <p:cNvSpPr>
            <a:spLocks noGrp="1"/>
          </p:cNvSpPr>
          <p:nvPr>
            <p:ph type="body" sz="quarter" idx="10" hasCustomPrompt="1"/>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1443472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Large ima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AA9A3B-CF71-48AC-B4B0-550E5EC772C1}"/>
              </a:ext>
            </a:extLst>
          </p:cNvPr>
          <p:cNvSpPr>
            <a:spLocks noGrp="1"/>
          </p:cNvSpPr>
          <p:nvPr>
            <p:ph type="title"/>
          </p:nvPr>
        </p:nvSpPr>
        <p:spPr>
          <a:xfrm>
            <a:off x="716483" y="1234865"/>
            <a:ext cx="10313024" cy="635902"/>
          </a:xfrm>
          <a:prstGeom prst="rect">
            <a:avLst/>
          </a:prstGeom>
        </p:spPr>
        <p:txBody>
          <a:bodyPr anchor="t"/>
          <a:lstStyle>
            <a:lvl1pPr>
              <a:defRPr sz="2800"/>
            </a:lvl1pPr>
          </a:lstStyle>
          <a:p>
            <a:r>
              <a:rPr lang="en-US"/>
              <a:t>Click to edit Master title style</a:t>
            </a:r>
            <a:endParaRPr lang="en-US" dirty="0"/>
          </a:p>
        </p:txBody>
      </p:sp>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33313" y="1927476"/>
            <a:ext cx="10700345" cy="4218130"/>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9B8B0405-4014-43E6-B303-902A4F998E13}"/>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7" name="Text Placeholder 3">
            <a:extLst>
              <a:ext uri="{FF2B5EF4-FFF2-40B4-BE49-F238E27FC236}">
                <a16:creationId xmlns:a16="http://schemas.microsoft.com/office/drawing/2014/main" id="{B69F8470-F06D-4D52-9A69-30EBD8DA6096}"/>
              </a:ext>
            </a:extLst>
          </p:cNvPr>
          <p:cNvSpPr>
            <a:spLocks noGrp="1"/>
          </p:cNvSpPr>
          <p:nvPr>
            <p:ph type="body" sz="quarter" idx="10"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1391014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eft image - S">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5593557"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500046"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500046"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5593546"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527703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ef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656173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46823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46823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656173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2550041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eft image - L">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0"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740457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740457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73533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735337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2536392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ight image - S ">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02635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692373"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98862"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98862"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692362"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823145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Righ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609600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70957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160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1607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70957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86411331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Left image-L (White bg)">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5194302"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65264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65264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60144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60144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27806611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 Footer (white bg) ">
    <p:spTree>
      <p:nvGrpSpPr>
        <p:cNvPr id="1" name=""/>
        <p:cNvGrpSpPr/>
        <p:nvPr/>
      </p:nvGrpSpPr>
      <p:grpSpPr>
        <a:xfrm>
          <a:off x="0" y="0"/>
          <a:ext cx="0" cy="0"/>
          <a:chOff x="0" y="0"/>
          <a:chExt cx="0" cy="0"/>
        </a:xfrm>
      </p:grpSpPr>
    </p:spTree>
    <p:extLst>
      <p:ext uri="{BB962C8B-B14F-4D97-AF65-F5344CB8AC3E}">
        <p14:creationId xmlns:p14="http://schemas.microsoft.com/office/powerpoint/2010/main" val="94355432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21608253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blu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B0641AD-3AD5-4F67-A775-821CB3080BD2}"/>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14180227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Thank you Slide">
    <p:bg>
      <p:bgPr>
        <a:solidFill>
          <a:srgbClr val="F5FAFC"/>
        </a:solid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3F35E03-ED1F-4BA6-A9DB-BAA193266DF0}"/>
              </a:ext>
            </a:extLst>
          </p:cNvPr>
          <p:cNvSpPr txBox="1"/>
          <p:nvPr userDrawn="1"/>
        </p:nvSpPr>
        <p:spPr>
          <a:xfrm>
            <a:off x="3457462" y="2905780"/>
            <a:ext cx="5246914" cy="584775"/>
          </a:xfrm>
          <a:prstGeom prst="rect">
            <a:avLst/>
          </a:prstGeom>
          <a:noFill/>
        </p:spPr>
        <p:txBody>
          <a:bodyPr wrap="square" rtlCol="0">
            <a:spAutoFit/>
          </a:bodyPr>
          <a:lstStyle/>
          <a:p>
            <a:pPr algn="ctr"/>
            <a:r>
              <a:rPr lang="en-US" sz="3200" b="1" dirty="0">
                <a:solidFill>
                  <a:schemeClr val="tx1"/>
                </a:solidFill>
                <a:cs typeface="Arial" panose="020B0604020202020204" pitchFamily="34" charset="0"/>
              </a:rPr>
              <a:t>Thank you!</a:t>
            </a:r>
          </a:p>
        </p:txBody>
      </p:sp>
      <p:sp>
        <p:nvSpPr>
          <p:cNvPr id="7" name="Rectangle 6">
            <a:extLst>
              <a:ext uri="{FF2B5EF4-FFF2-40B4-BE49-F238E27FC236}">
                <a16:creationId xmlns:a16="http://schemas.microsoft.com/office/drawing/2014/main" id="{D95BEDD7-9550-46FC-AAD4-3BCDC60161D9}"/>
              </a:ext>
            </a:extLst>
          </p:cNvPr>
          <p:cNvSpPr/>
          <p:nvPr userDrawn="1"/>
        </p:nvSpPr>
        <p:spPr>
          <a:xfrm>
            <a:off x="0" y="6115986"/>
            <a:ext cx="12192000" cy="742013"/>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009CD6"/>
              </a:solidFill>
            </a:endParaRPr>
          </a:p>
        </p:txBody>
      </p:sp>
    </p:spTree>
    <p:extLst>
      <p:ext uri="{BB962C8B-B14F-4D97-AF65-F5344CB8AC3E}">
        <p14:creationId xmlns:p14="http://schemas.microsoft.com/office/powerpoint/2010/main" val="6976078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CD000AF-B921-43E9-B432-355A07B6E46E}"/>
              </a:ext>
            </a:extLst>
          </p:cNvPr>
          <p:cNvSpPr/>
          <p:nvPr userDrawn="1"/>
        </p:nvSpPr>
        <p:spPr>
          <a:xfrm>
            <a:off x="0" y="6115986"/>
            <a:ext cx="10028420" cy="742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895364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2445084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ig text two column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8999926" cy="4067251"/>
          </a:xfrm>
        </p:spPr>
        <p:txBody>
          <a:bodyPr numCol="2"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a:p>
            <a:pPr lvl="0"/>
            <a:r>
              <a:rPr lang="en-US" dirty="0" err="1"/>
              <a:t>Nulla</a:t>
            </a:r>
            <a:r>
              <a:rPr lang="en-US" dirty="0"/>
              <a:t> </a:t>
            </a:r>
            <a:r>
              <a:rPr lang="en-US" dirty="0" err="1"/>
              <a:t>consequat</a:t>
            </a:r>
            <a:r>
              <a:rPr lang="en-US" dirty="0"/>
              <a:t> </a:t>
            </a:r>
            <a:r>
              <a:rPr lang="en-US" dirty="0" err="1"/>
              <a:t>massa</a:t>
            </a:r>
            <a:r>
              <a:rPr lang="en-US" dirty="0"/>
              <a:t> </a:t>
            </a:r>
            <a:r>
              <a:rPr lang="en-US" dirty="0" err="1"/>
              <a:t>quis</a:t>
            </a:r>
            <a:r>
              <a:rPr lang="en-US" dirty="0"/>
              <a:t> </a:t>
            </a:r>
            <a:r>
              <a:rPr lang="en-US" dirty="0" err="1"/>
              <a:t>enim</a:t>
            </a:r>
            <a:r>
              <a:rPr lang="en-US" dirty="0"/>
              <a:t>. Donec </a:t>
            </a:r>
            <a:r>
              <a:rPr lang="en-US" dirty="0" err="1"/>
              <a:t>pede</a:t>
            </a:r>
            <a:r>
              <a:rPr lang="en-US" dirty="0"/>
              <a:t> </a:t>
            </a:r>
            <a:r>
              <a:rPr lang="en-US" dirty="0" err="1"/>
              <a:t>justo</a:t>
            </a:r>
            <a:r>
              <a:rPr lang="en-US" dirty="0"/>
              <a:t>, </a:t>
            </a:r>
            <a:r>
              <a:rPr lang="en-US" dirty="0" err="1"/>
              <a:t>fringilla</a:t>
            </a:r>
            <a:r>
              <a:rPr lang="en-US" dirty="0"/>
              <a:t> vel, </a:t>
            </a:r>
            <a:r>
              <a:rPr lang="en-US" dirty="0" err="1"/>
              <a:t>aliquet</a:t>
            </a:r>
            <a:r>
              <a:rPr lang="en-US" dirty="0"/>
              <a:t> </a:t>
            </a:r>
            <a:r>
              <a:rPr lang="en-US" dirty="0" err="1"/>
              <a:t>nec</a:t>
            </a:r>
            <a:r>
              <a:rPr lang="en-US" dirty="0"/>
              <a:t>.</a:t>
            </a:r>
          </a:p>
          <a:p>
            <a:pPr marL="91440" marR="0" lvl="0" indent="0" algn="l" defTabSz="914400" rtl="0" eaLnBrk="1" fontAlgn="auto" latinLnBrk="0" hangingPunct="1">
              <a:lnSpc>
                <a:spcPct val="100000"/>
              </a:lnSpc>
              <a:spcBef>
                <a:spcPts val="1000"/>
              </a:spcBef>
              <a:spcAft>
                <a:spcPts val="0"/>
              </a:spcAft>
              <a:buClr>
                <a:srgbClr val="009CD6"/>
              </a:buClr>
              <a:buSzPct val="110000"/>
              <a:buFontTx/>
              <a:buNone/>
              <a:tabLst/>
              <a:defRPr/>
            </a:pPr>
            <a:r>
              <a:rPr lang="en-US" dirty="0"/>
              <a:t>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50670260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ig text 1 colum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6297178" cy="4067251"/>
          </a:xfrm>
        </p:spPr>
        <p:txBody>
          <a:bodyPr numCol="1"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56407432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3463376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Quote with big quote mark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336800"/>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8795915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Quote with photo">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658534"/>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
        <p:nvSpPr>
          <p:cNvPr id="6" name="Picture Placeholder 5">
            <a:extLst>
              <a:ext uri="{FF2B5EF4-FFF2-40B4-BE49-F238E27FC236}">
                <a16:creationId xmlns:a16="http://schemas.microsoft.com/office/drawing/2014/main" id="{BE0DB947-B9BF-4F5D-BCB3-A4E551A7C958}"/>
              </a:ext>
            </a:extLst>
          </p:cNvPr>
          <p:cNvSpPr>
            <a:spLocks noGrp="1"/>
          </p:cNvSpPr>
          <p:nvPr>
            <p:ph type="pic" sz="quarter" idx="11" hasCustomPrompt="1"/>
          </p:nvPr>
        </p:nvSpPr>
        <p:spPr>
          <a:xfrm>
            <a:off x="5473700" y="1215232"/>
            <a:ext cx="1244600" cy="1244600"/>
          </a:xfrm>
          <a:prstGeom prst="flowChartConnector">
            <a:avLst/>
          </a:prstGeom>
          <a:solidFill>
            <a:schemeClr val="bg1">
              <a:lumMod val="85000"/>
            </a:schemeClr>
          </a:solidFill>
        </p:spPr>
        <p:txBody>
          <a:bodyPr anchor="ctr"/>
          <a:lstStyle>
            <a:lvl1pPr>
              <a:defRPr sz="1400" b="0"/>
            </a:lvl1pPr>
          </a:lstStyle>
          <a:p>
            <a:r>
              <a:rPr lang="en-US" dirty="0"/>
              <a:t>Insert</a:t>
            </a:r>
            <a:br>
              <a:rPr lang="en-US" dirty="0"/>
            </a:br>
            <a:r>
              <a:rPr lang="en-US" dirty="0"/>
              <a:t>Photo</a:t>
            </a:r>
          </a:p>
        </p:txBody>
      </p:sp>
    </p:spTree>
    <p:extLst>
      <p:ext uri="{BB962C8B-B14F-4D97-AF65-F5344CB8AC3E}">
        <p14:creationId xmlns:p14="http://schemas.microsoft.com/office/powerpoint/2010/main" val="10683193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 large image (light blue bg) 2">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698526" y="1881427"/>
            <a:ext cx="10976290" cy="3985973"/>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E7FA0E66-7846-4BCB-AE09-F966602C759F}"/>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0B2556-6FCF-4306-988D-12A70352A48D}"/>
              </a:ext>
            </a:extLst>
          </p:cNvPr>
          <p:cNvSpPr>
            <a:spLocks noGrp="1"/>
          </p:cNvSpPr>
          <p:nvPr>
            <p:ph type="body" sz="quarter" idx="10"/>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Master text styles</a:t>
            </a:r>
          </a:p>
        </p:txBody>
      </p:sp>
      <p:sp>
        <p:nvSpPr>
          <p:cNvPr id="10" name="Title Placeholder 1">
            <a:extLst>
              <a:ext uri="{FF2B5EF4-FFF2-40B4-BE49-F238E27FC236}">
                <a16:creationId xmlns:a16="http://schemas.microsoft.com/office/drawing/2014/main" id="{B0DA0626-8521-4B9A-A854-E817A6A1230B}"/>
              </a:ext>
            </a:extLst>
          </p:cNvPr>
          <p:cNvSpPr>
            <a:spLocks noGrp="1"/>
          </p:cNvSpPr>
          <p:nvPr>
            <p:ph type="title"/>
          </p:nvPr>
        </p:nvSpPr>
        <p:spPr>
          <a:xfrm>
            <a:off x="688392" y="1231105"/>
            <a:ext cx="10515600" cy="568434"/>
          </a:xfrm>
          <a:prstGeom prst="rect">
            <a:avLst/>
          </a:prstGeom>
        </p:spPr>
        <p:txBody>
          <a:bodyPr vert="horz" lIns="91440" tIns="45720" rIns="91440" bIns="45720" rtlCol="0" anchor="t">
            <a:noAutofit/>
          </a:bodyPr>
          <a:lstStyle/>
          <a:p>
            <a:r>
              <a:rPr lang="en-US" dirty="0"/>
              <a:t>Click to edit Master title style</a:t>
            </a:r>
          </a:p>
        </p:txBody>
      </p:sp>
    </p:spTree>
    <p:extLst>
      <p:ext uri="{BB962C8B-B14F-4D97-AF65-F5344CB8AC3E}">
        <p14:creationId xmlns:p14="http://schemas.microsoft.com/office/powerpoint/2010/main" val="236208159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light blu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55F4467-8115-4C34-B39A-8E571F625EA9}"/>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06718066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Avenir Next LT Pro" panose="020B0504020202020204" pitchFamily="34" charset="0"/>
              </a:rPr>
              <a:t> </a:t>
            </a:r>
          </a:p>
        </p:txBody>
      </p:sp>
    </p:spTree>
    <p:extLst>
      <p:ext uri="{BB962C8B-B14F-4D97-AF65-F5344CB8AC3E}">
        <p14:creationId xmlns:p14="http://schemas.microsoft.com/office/powerpoint/2010/main" val="10503565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slideLayout" Target="../slideLayouts/slideLayout22.xml"/><Relationship Id="rId3"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8" name="TextBox 7">
            <a:extLst>
              <a:ext uri="{FF2B5EF4-FFF2-40B4-BE49-F238E27FC236}">
                <a16:creationId xmlns:a16="http://schemas.microsoft.com/office/drawing/2014/main" id="{69A5A063-7EAA-4705-81BD-73270FF5BA28}"/>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F4ED357C-3FA0-42D4-850C-879BB0BE1875}"/>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3452108936"/>
      </p:ext>
    </p:extLst>
  </p:cSld>
  <p:clrMap bg1="lt1" tx1="dk1" bg2="lt2" tx2="dk2" accent1="accent1" accent2="accent2" accent3="accent3" accent4="accent4" accent5="accent5" accent6="accent6" hlink="hlink" folHlink="folHlink"/>
  <p:sldLayoutIdLst>
    <p:sldLayoutId id="2147483656" r:id="rId1"/>
    <p:sldLayoutId id="2147483653" r:id="rId2"/>
    <p:sldLayoutId id="2147483652" r:id="rId3"/>
    <p:sldLayoutId id="2147483675" r:id="rId4"/>
    <p:sldLayoutId id="2147483676" r:id="rId5"/>
    <p:sldLayoutId id="2147483674" r:id="rId6"/>
    <p:sldLayoutId id="2147483672" r:id="rId7"/>
    <p:sldLayoutId id="2147483657" r:id="rId8"/>
    <p:sldLayoutId id="2147483717" r:id="rId9"/>
    <p:sldLayoutId id="2147483718" r:id="rId10"/>
    <p:sldLayoutId id="2147483719" r:id="rId11"/>
    <p:sldLayoutId id="2147483670" r:id="rId12"/>
    <p:sldLayoutId id="2147483660" r:id="rId13"/>
    <p:sldLayoutId id="2147483687" r:id="rId14"/>
    <p:sldLayoutId id="2147483707" r:id="rId15"/>
    <p:sldLayoutId id="2147483712" r:id="rId16"/>
    <p:sldLayoutId id="2147483721" r:id="rId17"/>
  </p:sldLayoutIdLst>
  <p:hf hdr="0" ftr="0" dt="0"/>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ts val="2200"/>
        </a:lnSpc>
        <a:spcBef>
          <a:spcPts val="10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6" name="TextBox 5">
            <a:extLst>
              <a:ext uri="{FF2B5EF4-FFF2-40B4-BE49-F238E27FC236}">
                <a16:creationId xmlns:a16="http://schemas.microsoft.com/office/drawing/2014/main" id="{693ABCAB-1B02-4C7B-89B1-A5BB0E479D06}"/>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7" name="TextBox 6">
            <a:extLst>
              <a:ext uri="{FF2B5EF4-FFF2-40B4-BE49-F238E27FC236}">
                <a16:creationId xmlns:a16="http://schemas.microsoft.com/office/drawing/2014/main" id="{77662A7B-D8AC-460A-9C3E-1872390023D8}"/>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497039940"/>
      </p:ext>
    </p:extLst>
  </p:cSld>
  <p:clrMap bg1="lt1" tx1="dk1" bg2="lt2" tx2="dk2" accent1="accent1" accent2="accent2" accent3="accent3" accent4="accent4" accent5="accent5" accent6="accent6" hlink="hlink" folHlink="folHlink"/>
  <p:sldLayoutIdLst>
    <p:sldLayoutId id="2147483710" r:id="rId1"/>
    <p:sldLayoutId id="2147483716" r:id="rId2"/>
    <p:sldLayoutId id="2147483711" r:id="rId3"/>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ct val="100000"/>
        </a:lnSpc>
        <a:spcBef>
          <a:spcPts val="10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1816313" y="2209801"/>
            <a:ext cx="8559373" cy="3793066"/>
          </a:xfrm>
          <a:prstGeom prst="rect">
            <a:avLst/>
          </a:prstGeom>
        </p:spPr>
        <p:txBody>
          <a:bodyPr vert="horz" lIns="91440" tIns="45720" rIns="91440" bIns="45720" rtlCol="0">
            <a:noAutofit/>
          </a:bodyPr>
          <a:lstStyle/>
          <a:p>
            <a:pPr algn="ctr"/>
            <a:r>
              <a:rPr lang="en-US" sz="2800" i="1" dirty="0">
                <a:latin typeface="Georgia" panose="02040502050405020303" pitchFamily="18" charset="0"/>
              </a:rPr>
              <a:t>We grew up with the internet. </a:t>
            </a:r>
            <a:br>
              <a:rPr lang="en-US" sz="2800" i="1" dirty="0">
                <a:latin typeface="Georgia" panose="02040502050405020303" pitchFamily="18" charset="0"/>
              </a:rPr>
            </a:br>
            <a:r>
              <a:rPr lang="en-US" sz="2800" i="1" dirty="0">
                <a:latin typeface="Georgia" panose="02040502050405020303" pitchFamily="18" charset="0"/>
              </a:rPr>
              <a:t>I mean, the internet has always been here with us. The grown-ups are like ‘Wow the internet appeared’, while it is perfectly normal for us.” </a:t>
            </a:r>
          </a:p>
        </p:txBody>
      </p:sp>
      <p:sp>
        <p:nvSpPr>
          <p:cNvPr id="8" name="TextBox 7">
            <a:extLst>
              <a:ext uri="{FF2B5EF4-FFF2-40B4-BE49-F238E27FC236}">
                <a16:creationId xmlns:a16="http://schemas.microsoft.com/office/drawing/2014/main" id="{43FB8933-3AE5-487A-8B03-0B68C8923CB0}"/>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CD9BF5BD-2163-4157-A2AF-C24DDF31C8DA}"/>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57613210"/>
      </p:ext>
    </p:extLst>
  </p:cSld>
  <p:clrMap bg1="lt1" tx1="dk1" bg2="lt2" tx2="dk2" accent1="accent1" accent2="accent2" accent3="accent3" accent4="accent4" accent5="accent5" accent6="accent6" hlink="hlink" folHlink="folHlink"/>
  <p:sldLayoutIdLst>
    <p:sldLayoutId id="2147483714" r:id="rId1"/>
    <p:sldLayoutId id="2147483715" r:id="rId2"/>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91440" indent="0" algn="ctr" defTabSz="914400" rtl="0" eaLnBrk="1" latinLnBrk="0" hangingPunct="1">
        <a:lnSpc>
          <a:spcPct val="100000"/>
        </a:lnSpc>
        <a:spcBef>
          <a:spcPts val="1000"/>
        </a:spcBef>
        <a:buClr>
          <a:srgbClr val="009CD6"/>
        </a:buClr>
        <a:buSzPct val="110000"/>
        <a:buFontTx/>
        <a:buNone/>
        <a:defRPr sz="3600" kern="1200" spc="0">
          <a:solidFill>
            <a:schemeClr val="tx1"/>
          </a:solidFill>
          <a:latin typeface="Arial" panose="020B0604020202020204" pitchFamily="34" charset="0"/>
          <a:ea typeface="+mn-ea"/>
          <a:cs typeface="Arial" panose="020B0604020202020204" pitchFamily="34" charset="0"/>
        </a:defRPr>
      </a:lvl1pPr>
      <a:lvl2pPr marL="548640" indent="0" algn="l" defTabSz="914400" rtl="0" eaLnBrk="1" latinLnBrk="0" hangingPunct="1">
        <a:lnSpc>
          <a:spcPct val="100000"/>
        </a:lnSpc>
        <a:spcBef>
          <a:spcPts val="500"/>
        </a:spcBef>
        <a:buClr>
          <a:srgbClr val="009CD6"/>
        </a:buClr>
        <a:buSzPct val="110000"/>
        <a:buFontTx/>
        <a:buNone/>
        <a:defRPr sz="2800" kern="1200" spc="0">
          <a:solidFill>
            <a:schemeClr val="tx1"/>
          </a:solidFill>
          <a:latin typeface="Arial" panose="020B0604020202020204" pitchFamily="34" charset="0"/>
          <a:ea typeface="+mn-ea"/>
          <a:cs typeface="Arial" panose="020B0604020202020204" pitchFamily="34" charset="0"/>
        </a:defRPr>
      </a:lvl2pPr>
      <a:lvl3pPr marL="10058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3pPr>
      <a:lvl4pPr marL="14630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5FAFC"/>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903303-232A-4935-AFB3-F7B88DD729A5}"/>
              </a:ext>
            </a:extLst>
          </p:cNvPr>
          <p:cNvSpPr>
            <a:spLocks noGrp="1"/>
          </p:cNvSpPr>
          <p:nvPr>
            <p:ph type="title"/>
          </p:nvPr>
        </p:nvSpPr>
        <p:spPr>
          <a:xfrm>
            <a:off x="685893"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C8383453-70D1-44FB-B9C3-2EEFC15545D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marL="228600" marR="0" lvl="0" indent="-137160" algn="l" defTabSz="914400" rtl="0" eaLnBrk="1" fontAlgn="auto" latinLnBrk="0" hangingPunct="1">
              <a:lnSpc>
                <a:spcPts val="2200"/>
              </a:lnSpc>
              <a:spcBef>
                <a:spcPts val="10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Second level</a:t>
            </a:r>
          </a:p>
          <a:p>
            <a:pPr marL="685800" marR="0" lvl="1"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Third level</a:t>
            </a:r>
          </a:p>
          <a:p>
            <a:pPr marL="1143000" marR="0" lvl="2"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Fourth level</a:t>
            </a:r>
          </a:p>
          <a:p>
            <a:pPr marL="1600200" marR="0" lvl="3"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Fifth level</a:t>
            </a:r>
          </a:p>
        </p:txBody>
      </p:sp>
      <p:sp>
        <p:nvSpPr>
          <p:cNvPr id="7" name="TextBox 6">
            <a:extLst>
              <a:ext uri="{FF2B5EF4-FFF2-40B4-BE49-F238E27FC236}">
                <a16:creationId xmlns:a16="http://schemas.microsoft.com/office/drawing/2014/main" id="{E9BFC052-984C-4106-B990-03A1EB3873C1}"/>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8" name="TextBox 7">
            <a:extLst>
              <a:ext uri="{FF2B5EF4-FFF2-40B4-BE49-F238E27FC236}">
                <a16:creationId xmlns:a16="http://schemas.microsoft.com/office/drawing/2014/main" id="{DB202A0A-9127-4C98-B796-7DD30E32B3B1}"/>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86103942"/>
      </p:ext>
    </p:extLst>
  </p:cSld>
  <p:clrMap bg1="lt1" tx1="dk1" bg2="lt2" tx2="dk2" accent1="accent1" accent2="accent2" accent3="accent3" accent4="accent4" accent5="accent5" accent6="accent6" hlink="hlink" folHlink="folHlink"/>
  <p:sldLayoutIdLst>
    <p:sldLayoutId id="2147483696" r:id="rId1"/>
    <p:sldLayoutId id="2147483678" r:id="rId2"/>
    <p:sldLayoutId id="2147483720" r:id="rId3"/>
  </p:sldLayoutIdLst>
  <p:txStyles>
    <p:titleStyle>
      <a:lvl1pPr algn="l" defTabSz="914400" rtl="0" eaLnBrk="1" latinLnBrk="0" hangingPunct="1">
        <a:lnSpc>
          <a:spcPct val="9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png"/><Relationship Id="rId3" Type="http://schemas.openxmlformats.org/officeDocument/2006/relationships/image" Target="../media/image2.jpeg"/><Relationship Id="rId4" Type="http://schemas.openxmlformats.org/officeDocument/2006/relationships/image" Target="../media/image3.svg"/><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1" name="Straight Connector 10">
            <a:extLst>
              <a:ext uri="{FF2B5EF4-FFF2-40B4-BE49-F238E27FC236}">
                <a16:creationId xmlns:a16="http://schemas.microsoft.com/office/drawing/2014/main" id="{D9AD66F2-F7C0-4D03-9150-D28F17AC561D}"/>
              </a:ext>
            </a:extLst>
          </p:cNvPr>
          <p:cNvCxnSpPr>
            <a:cxnSpLocks/>
          </p:cNvCxnSpPr>
          <p:nvPr/>
        </p:nvCxnSpPr>
        <p:spPr>
          <a:xfrm>
            <a:off x="373021" y="2198718"/>
            <a:ext cx="6843567" cy="0"/>
          </a:xfrm>
          <a:prstGeom prst="line">
            <a:avLst/>
          </a:prstGeom>
          <a:ln w="12700">
            <a:solidFill>
              <a:srgbClr val="009CD6"/>
            </a:solidFill>
          </a:ln>
        </p:spPr>
        <p:style>
          <a:lnRef idx="1">
            <a:schemeClr val="accent1"/>
          </a:lnRef>
          <a:fillRef idx="0">
            <a:schemeClr val="accent1"/>
          </a:fillRef>
          <a:effectRef idx="0">
            <a:schemeClr val="accent1"/>
          </a:effectRef>
          <a:fontRef idx="minor">
            <a:schemeClr val="tx1"/>
          </a:fontRef>
        </p:style>
      </p:cxnSp>
      <p:sp>
        <p:nvSpPr>
          <p:cNvPr id="12" name="Title 9">
            <a:extLst>
              <a:ext uri="{FF2B5EF4-FFF2-40B4-BE49-F238E27FC236}">
                <a16:creationId xmlns:a16="http://schemas.microsoft.com/office/drawing/2014/main" id="{EEB08032-CE0E-4986-AEDF-A41026C0E8B9}"/>
              </a:ext>
            </a:extLst>
          </p:cNvPr>
          <p:cNvSpPr txBox="1">
            <a:spLocks/>
          </p:cNvSpPr>
          <p:nvPr/>
        </p:nvSpPr>
        <p:spPr>
          <a:xfrm>
            <a:off x="237734" y="702833"/>
            <a:ext cx="6432007" cy="1218817"/>
          </a:xfrm>
          <a:prstGeom prst="rect">
            <a:avLst/>
          </a:prstGeom>
        </p:spPr>
        <p:txBody>
          <a:bodyPr anchor="b" wrap="square">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r>
              <a:rPr sz="2800" b="1" i="0">
                <a:solidFill>
                  <a:srgbClr val="1A1A1A"/>
                </a:solidFill>
                <a:latin typeface="Arial"/>
              </a:rPr>
              <a:t>1.4 — Why an EA matters more now</a:t>
            </a:r>
          </a:p>
        </p:txBody>
      </p:sp>
      <p:pic>
        <p:nvPicPr>
          <p:cNvPr id="7" name="Picture 6">
            <a:extLst>
              <a:ext uri="{FF2B5EF4-FFF2-40B4-BE49-F238E27FC236}">
                <a16:creationId xmlns:a16="http://schemas.microsoft.com/office/drawing/2014/main" id="{A2066351-C569-4C4C-A096-308777FCDC32}"/>
              </a:ext>
            </a:extLst>
          </p:cNvPr>
          <p:cNvPicPr>
            <a:picLocks noChangeAspect="1"/>
          </p:cNvPicPr>
          <p:nvPr/>
        </p:nvPicPr>
        <p:blipFill>
          <a:blip r:embed="rId2">
            <a:extLst>
              <a:ext uri="{28A0092B-C50C-407E-A947-70E740481C1C}">
                <a14:useLocalDpi xmlns:a14="http://schemas.microsoft.com/office/drawing/2010/main" val="0"/>
              </a:ext>
            </a:extLst>
          </a:blip>
          <a:srcRect t="20219" b="14729"/>
          <a:stretch>
            <a:fillRect/>
          </a:stretch>
        </p:blipFill>
        <p:spPr>
          <a:xfrm>
            <a:off x="0" y="5620871"/>
            <a:ext cx="1323975" cy="1218816"/>
          </a:xfrm>
          <a:prstGeom prst="rect">
            <a:avLst/>
          </a:prstGeom>
        </p:spPr>
      </p:pic>
      <p:sp>
        <p:nvSpPr>
          <p:cNvPr id="14" name="Title 9">
            <a:extLst>
              <a:ext uri="{FF2B5EF4-FFF2-40B4-BE49-F238E27FC236}">
                <a16:creationId xmlns:a16="http://schemas.microsoft.com/office/drawing/2014/main" id="{B5087B80-3EE4-1881-0130-ED58CA625092}"/>
              </a:ext>
            </a:extLst>
          </p:cNvPr>
          <p:cNvSpPr txBox="1">
            <a:spLocks/>
          </p:cNvSpPr>
          <p:nvPr/>
        </p:nvSpPr>
        <p:spPr>
          <a:xfrm>
            <a:off x="284452" y="2475786"/>
            <a:ext cx="6382893" cy="953213"/>
          </a:xfrm>
          <a:prstGeom prst="rect">
            <a:avLst/>
          </a:prstGeom>
        </p:spPr>
        <p:txBody>
          <a:bodyPr anchor="t" wrap="square">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pPr marL="0" marR="0" lvl="0" indent="0" rtl="0">
              <a:spcBef>
                <a:spcPts val="600"/>
              </a:spcBef>
              <a:spcAft>
                <a:spcPts val="600"/>
              </a:spcAft>
              <a:buNone/>
            </a:pPr>
            <a:r>
              <a:rPr sz="1300" b="1" i="0">
                <a:solidFill>
                  <a:srgbClr val="006E96"/>
                </a:solidFill>
                <a:latin typeface="Arial"/>
              </a:rPr>
              <a:t>KP1 · Government Enterprise Architecture · Module 1 · Video 1.4</a:t>
            </a:r>
          </a:p>
          <a:p>
            <a:r>
              <a:rPr sz="1200" b="0" i="1">
                <a:solidFill>
                  <a:srgbClr val="595959"/>
                </a:solidFill>
                <a:latin typeface="Arial"/>
              </a:rPr>
              <a:t>For thirty years, digital work meant putting paper online. That era is ending. The work now is to redesign how your ministry serves citizens — and that work needs business and IT in the same room, using the same words.</a:t>
            </a:r>
          </a:p>
        </p:txBody>
      </p:sp>
      <p:sp>
        <p:nvSpPr>
          <p:cNvPr id="17" name="Title 9">
            <a:extLst>
              <a:ext uri="{FF2B5EF4-FFF2-40B4-BE49-F238E27FC236}">
                <a16:creationId xmlns:a16="http://schemas.microsoft.com/office/drawing/2014/main" id="{5E8796F7-DD26-D250-5E97-B38B22298E72}"/>
              </a:ext>
            </a:extLst>
          </p:cNvPr>
          <p:cNvSpPr txBox="1">
            <a:spLocks/>
          </p:cNvSpPr>
          <p:nvPr/>
        </p:nvSpPr>
        <p:spPr>
          <a:xfrm>
            <a:off x="284452" y="4363897"/>
            <a:ext cx="6382893" cy="953213"/>
          </a:xfrm>
          <a:prstGeom prst="rect">
            <a:avLst/>
          </a:prstGeom>
        </p:spPr>
        <p:txBody>
          <a:bodyPr anchor="t" wrap="square">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pPr marL="0" marR="0" lvl="0" indent="0" rtl="0">
              <a:spcBef>
                <a:spcPts val="600"/>
              </a:spcBef>
              <a:spcAft>
                <a:spcPts val="400"/>
              </a:spcAft>
              <a:buNone/>
            </a:pPr>
            <a:r>
              <a:rPr sz="1400" b="1" i="0">
                <a:solidFill>
                  <a:srgbClr val="1A1A1A"/>
                </a:solidFill>
                <a:latin typeface="Arial"/>
              </a:rPr>
              <a:t>Length: </a:t>
            </a:r>
            <a:r>
              <a:rPr sz="1400" b="0" i="0">
                <a:solidFill>
                  <a:srgbClr val="1A1A1A"/>
                </a:solidFill>
                <a:latin typeface="Arial"/>
              </a:rPr>
              <a:t>~5 mins</a:t>
            </a:r>
          </a:p>
          <a:p>
            <a:r>
              <a:rPr sz="1400" b="1" i="0">
                <a:solidFill>
                  <a:srgbClr val="1A1A1A"/>
                </a:solidFill>
                <a:latin typeface="Arial"/>
              </a:rPr>
              <a:t>Target audience: </a:t>
            </a:r>
            <a:r>
              <a:rPr sz="1400" b="0" i="0">
                <a:solidFill>
                  <a:srgbClr val="1A1A1A"/>
                </a:solidFill>
                <a:latin typeface="Arial"/>
              </a:rPr>
              <a:t>CDO · Director-General · sector minister</a:t>
            </a:r>
          </a:p>
        </p:txBody>
      </p:sp>
      <p:sp>
        <p:nvSpPr>
          <p:cNvPr id="18" name="Rectangle 17"/>
          <p:cNvSpPr/>
          <p:nvPr/>
        </p:nvSpPr>
        <p:spPr>
          <a:xfrm>
            <a:off x="7022592" y="0"/>
            <a:ext cx="5169103" cy="6858000"/>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52360" y="457200"/>
            <a:ext cx="4297680" cy="457200"/>
          </a:xfrm>
          <a:prstGeom prst="rect">
            <a:avLst/>
          </a:prstGeom>
          <a:noFill/>
        </p:spPr>
        <p:txBody>
          <a:bodyPr wrap="square">
            <a:spAutoFit/>
          </a:bodyPr>
          <a:lstStyle/>
          <a:p>
            <a:r>
              <a:rPr sz="1100" b="1" i="0">
                <a:solidFill>
                  <a:srgbClr val="E5F5FB"/>
                </a:solidFill>
                <a:latin typeface="Arial"/>
              </a:rPr>
              <a:t>THE LIFECYCLE THIS MODULE TEACHES</a:t>
            </a:r>
          </a:p>
        </p:txBody>
      </p:sp>
      <p:sp>
        <p:nvSpPr>
          <p:cNvPr id="20" name="Rounded Rectangle 19"/>
          <p:cNvSpPr/>
          <p:nvPr/>
        </p:nvSpPr>
        <p:spPr>
          <a:xfrm>
            <a:off x="7452360" y="960120"/>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Discover</a:t>
            </a:r>
          </a:p>
        </p:txBody>
      </p:sp>
      <p:sp>
        <p:nvSpPr>
          <p:cNvPr id="21" name="Diamond 20"/>
          <p:cNvSpPr/>
          <p:nvPr/>
        </p:nvSpPr>
        <p:spPr>
          <a:xfrm>
            <a:off x="7333488" y="1677924"/>
            <a:ext cx="128016" cy="128016"/>
          </a:xfrm>
          <a:prstGeom prst="diamond">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7452360" y="1892808"/>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Assess</a:t>
            </a:r>
          </a:p>
        </p:txBody>
      </p:sp>
      <p:sp>
        <p:nvSpPr>
          <p:cNvPr id="23" name="Diamond 22"/>
          <p:cNvSpPr/>
          <p:nvPr/>
        </p:nvSpPr>
        <p:spPr>
          <a:xfrm>
            <a:off x="7333488" y="2610612"/>
            <a:ext cx="128016" cy="128016"/>
          </a:xfrm>
          <a:prstGeom prst="diamond">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7452360" y="2825496"/>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Adapt</a:t>
            </a:r>
          </a:p>
        </p:txBody>
      </p:sp>
      <p:sp>
        <p:nvSpPr>
          <p:cNvPr id="25" name="Diamond 24"/>
          <p:cNvSpPr/>
          <p:nvPr/>
        </p:nvSpPr>
        <p:spPr>
          <a:xfrm>
            <a:off x="7333488" y="3543300"/>
            <a:ext cx="128016" cy="128016"/>
          </a:xfrm>
          <a:prstGeom prst="diamond">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7452360" y="3758184"/>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Plan</a:t>
            </a:r>
          </a:p>
        </p:txBody>
      </p:sp>
      <p:sp>
        <p:nvSpPr>
          <p:cNvPr id="27" name="Diamond 26"/>
          <p:cNvSpPr/>
          <p:nvPr/>
        </p:nvSpPr>
        <p:spPr>
          <a:xfrm>
            <a:off x="7333488" y="4475988"/>
            <a:ext cx="128016" cy="128016"/>
          </a:xfrm>
          <a:prstGeom prst="diamond">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7452360" y="4690872"/>
            <a:ext cx="3840480" cy="658368"/>
          </a:xfrm>
          <a:prstGeom prst="roundRect">
            <a:avLst>
              <a:gd name="adj" fmla="val 14000"/>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FFFFFF"/>
                </a:solidFill>
                <a:latin typeface="Arial"/>
              </a:rPr>
              <a:t>Execute &amp; Govern</a:t>
            </a:r>
          </a:p>
        </p:txBody>
      </p:sp>
      <p:sp>
        <p:nvSpPr>
          <p:cNvPr id="29" name="TextBox 28"/>
          <p:cNvSpPr txBox="1"/>
          <p:nvPr/>
        </p:nvSpPr>
        <p:spPr>
          <a:xfrm>
            <a:off x="7452360" y="5806440"/>
            <a:ext cx="4297680" cy="731520"/>
          </a:xfrm>
          <a:prstGeom prst="rect">
            <a:avLst/>
          </a:prstGeom>
          <a:noFill/>
        </p:spPr>
        <p:txBody>
          <a:bodyPr wrap="square">
            <a:spAutoFit/>
          </a:bodyPr>
          <a:lstStyle/>
          <a:p>
            <a:r>
              <a:rPr sz="1200" b="0" i="0">
                <a:solidFill>
                  <a:srgbClr val="FFFFFF"/>
                </a:solidFill>
                <a:latin typeface="Arial"/>
              </a:rPr>
              <a:t>4 sign-offs · 6 months to a roadmap · then ongoing</a:t>
            </a:r>
          </a:p>
        </p:txBody>
      </p:sp>
    </p:spTree>
    <p:extLst>
      <p:ext uri="{BB962C8B-B14F-4D97-AF65-F5344CB8AC3E}">
        <p14:creationId xmlns:p14="http://schemas.microsoft.com/office/powerpoint/2010/main" val="1196800265"/>
      </p:ext>
    </p:extLst>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1 · VIDEO 1.4</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1.4</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Why an EA matters more now</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For thirty years, digital work meant putting paper online. That era is ending. The work now is to redesign how your ministry serves citizens — and that work needs business and IT in the same room, using the same words.</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~5 minutes · standalone video · voice-over on text slides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Putting paper online is no longer the main work</a:t>
            </a:r>
          </a:p>
        </p:txBody>
      </p:sp>
      <p:sp>
        <p:nvSpPr>
          <p:cNvPr id="4" name="Rounded Rectangle 3"/>
          <p:cNvSpPr/>
          <p:nvPr/>
        </p:nvSpPr>
        <p:spPr>
          <a:xfrm>
            <a:off x="658368" y="1554480"/>
            <a:ext cx="5394960" cy="4206240"/>
          </a:xfrm>
          <a:prstGeom prst="roundRect">
            <a:avLst>
              <a:gd name="adj" fmla="val 45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700784"/>
            <a:ext cx="4992624" cy="3931920"/>
          </a:xfrm>
          <a:prstGeom prst="rect">
            <a:avLst/>
          </a:prstGeom>
          <a:noFill/>
        </p:spPr>
        <p:txBody>
          <a:bodyPr wrap="square">
            <a:spAutoFit/>
          </a:bodyPr>
          <a:lstStyle/>
          <a:p>
            <a:pPr>
              <a:spcAft>
                <a:spcPts val="700"/>
              </a:spcAft>
            </a:pPr>
            <a:r>
              <a:rPr sz="1900" b="1" i="0">
                <a:solidFill>
                  <a:srgbClr val="595959"/>
                </a:solidFill>
                <a:latin typeface="Arial"/>
              </a:rPr>
              <a:t>The old work</a:t>
            </a:r>
          </a:p>
          <a:p>
            <a:pPr>
              <a:spcAft>
                <a:spcPts val="700"/>
              </a:spcAft>
            </a:pPr>
            <a:r>
              <a:rPr sz="1600" b="0" i="0">
                <a:solidFill>
                  <a:srgbClr val="1A1A1A"/>
                </a:solidFill>
                <a:latin typeface="Arial"/>
              </a:rPr>
              <a:t>Take a paper process and put it online</a:t>
            </a:r>
          </a:p>
          <a:p>
            <a:pPr>
              <a:spcAft>
                <a:spcPts val="700"/>
              </a:spcAft>
            </a:pPr>
            <a:r>
              <a:rPr sz="1600" b="0" i="0">
                <a:solidFill>
                  <a:srgbClr val="1A1A1A"/>
                </a:solidFill>
                <a:latin typeface="Arial"/>
              </a:rPr>
              <a:t>The ministry’s operating model stays the same</a:t>
            </a:r>
          </a:p>
          <a:p>
            <a:pPr>
              <a:spcAft>
                <a:spcPts val="700"/>
              </a:spcAft>
            </a:pPr>
            <a:r>
              <a:rPr sz="1600" b="0" i="0">
                <a:solidFill>
                  <a:srgbClr val="1A1A1A"/>
                </a:solidFill>
                <a:latin typeface="Arial"/>
              </a:rPr>
              <a:t>Business decides what; IT delivers how</a:t>
            </a:r>
          </a:p>
        </p:txBody>
      </p:sp>
      <p:sp>
        <p:nvSpPr>
          <p:cNvPr id="6" name="Rounded Rectangle 5"/>
          <p:cNvSpPr/>
          <p:nvPr/>
        </p:nvSpPr>
        <p:spPr>
          <a:xfrm>
            <a:off x="6281928" y="1554480"/>
            <a:ext cx="5394960" cy="420624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83096" y="1700784"/>
            <a:ext cx="4992624" cy="3931920"/>
          </a:xfrm>
          <a:prstGeom prst="rect">
            <a:avLst/>
          </a:prstGeom>
          <a:noFill/>
        </p:spPr>
        <p:txBody>
          <a:bodyPr wrap="square">
            <a:spAutoFit/>
          </a:bodyPr>
          <a:lstStyle/>
          <a:p>
            <a:pPr>
              <a:spcAft>
                <a:spcPts val="700"/>
              </a:spcAft>
            </a:pPr>
            <a:r>
              <a:rPr sz="1900" b="1" i="0">
                <a:solidFill>
                  <a:srgbClr val="006E96"/>
                </a:solidFill>
                <a:latin typeface="Arial"/>
              </a:rPr>
              <a:t>The new work</a:t>
            </a:r>
          </a:p>
          <a:p>
            <a:pPr>
              <a:spcAft>
                <a:spcPts val="700"/>
              </a:spcAft>
            </a:pPr>
            <a:r>
              <a:rPr sz="1600" b="0" i="0">
                <a:solidFill>
                  <a:srgbClr val="1A1A1A"/>
                </a:solidFill>
                <a:latin typeface="Arial"/>
              </a:rPr>
              <a:t>Redesign how citizens are served</a:t>
            </a:r>
          </a:p>
          <a:p>
            <a:pPr>
              <a:spcAft>
                <a:spcPts val="700"/>
              </a:spcAft>
            </a:pPr>
            <a:r>
              <a:rPr sz="1600" b="0" i="0">
                <a:solidFill>
                  <a:srgbClr val="1A1A1A"/>
                </a:solidFill>
                <a:latin typeface="Arial"/>
              </a:rPr>
              <a:t>The ministry’s operating model changes</a:t>
            </a:r>
          </a:p>
          <a:p>
            <a:pPr>
              <a:spcAft>
                <a:spcPts val="700"/>
              </a:spcAft>
            </a:pPr>
            <a:r>
              <a:rPr sz="1600" b="1" i="0">
                <a:solidFill>
                  <a:srgbClr val="1A1A1A"/>
                </a:solidFill>
                <a:latin typeface="Arial"/>
              </a:rPr>
              <a:t>Business and IT decide together</a:t>
            </a:r>
          </a:p>
        </p:txBody>
      </p:sp>
      <p:sp>
        <p:nvSpPr>
          <p:cNvPr id="8" name="TextBox 7"/>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1.4 · Why an EA matters more now</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new work redesigns how citizens are served</a:t>
            </a:r>
          </a:p>
        </p:txBody>
      </p:sp>
      <p:sp>
        <p:nvSpPr>
          <p:cNvPr id="4" name="TextBox 3"/>
          <p:cNvSpPr txBox="1"/>
          <p:nvPr/>
        </p:nvSpPr>
        <p:spPr>
          <a:xfrm>
            <a:off x="658368" y="1417320"/>
            <a:ext cx="10984687" cy="1569720"/>
          </a:xfrm>
          <a:prstGeom prst="rect">
            <a:avLst/>
          </a:prstGeom>
          <a:noFill/>
        </p:spPr>
        <p:txBody>
          <a:bodyPr wrap="square">
            <a:spAutoFit/>
          </a:bodyPr>
          <a:lstStyle/>
          <a:p>
            <a:pPr>
              <a:spcAft>
                <a:spcPts val="300"/>
              </a:spcAft>
            </a:pPr>
            <a:r>
              <a:rPr sz="2100" b="1" i="0">
                <a:solidFill>
                  <a:srgbClr val="1A1A1A"/>
                </a:solidFill>
                <a:latin typeface="Arial"/>
              </a:rPr>
              <a:t>One farmer registry</a:t>
            </a:r>
          </a:p>
          <a:p>
            <a:pPr>
              <a:spcAft>
                <a:spcPts val="300"/>
              </a:spcAft>
            </a:pPr>
            <a:r>
              <a:rPr sz="1600" b="0" i="0">
                <a:solidFill>
                  <a:srgbClr val="595959"/>
                </a:solidFill>
                <a:latin typeface="Arial"/>
              </a:rPr>
              <a:t>Shared by the agriculture ministry, the cooperative bank, the input subsidy programme and the climate-resilience programme — the same farmer, recognised the same way, by all of them.</a:t>
            </a:r>
          </a:p>
        </p:txBody>
      </p:sp>
      <p:sp>
        <p:nvSpPr>
          <p:cNvPr id="5" name="Rectangle 4"/>
          <p:cNvSpPr/>
          <p:nvPr/>
        </p:nvSpPr>
        <p:spPr>
          <a:xfrm>
            <a:off x="621792" y="29916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3032760"/>
            <a:ext cx="10984687" cy="1569720"/>
          </a:xfrm>
          <a:prstGeom prst="rect">
            <a:avLst/>
          </a:prstGeom>
          <a:noFill/>
        </p:spPr>
        <p:txBody>
          <a:bodyPr wrap="square">
            <a:spAutoFit/>
          </a:bodyPr>
          <a:lstStyle/>
          <a:p>
            <a:pPr>
              <a:spcAft>
                <a:spcPts val="300"/>
              </a:spcAft>
            </a:pPr>
            <a:r>
              <a:rPr sz="2100" b="1" i="0">
                <a:solidFill>
                  <a:srgbClr val="1A1A1A"/>
                </a:solidFill>
                <a:latin typeface="Arial"/>
              </a:rPr>
              <a:t>One national identity</a:t>
            </a:r>
          </a:p>
          <a:p>
            <a:pPr>
              <a:spcAft>
                <a:spcPts val="300"/>
              </a:spcAft>
            </a:pPr>
            <a:r>
              <a:rPr sz="1600" b="0" i="0">
                <a:solidFill>
                  <a:srgbClr val="595959"/>
                </a:solidFill>
                <a:latin typeface="Arial"/>
              </a:rPr>
              <a:t>A citizen proves who they are at any service, without paper.</a:t>
            </a:r>
          </a:p>
        </p:txBody>
      </p:sp>
      <p:sp>
        <p:nvSpPr>
          <p:cNvPr id="7" name="Rectangle 6"/>
          <p:cNvSpPr/>
          <p:nvPr/>
        </p:nvSpPr>
        <p:spPr>
          <a:xfrm>
            <a:off x="621792" y="46070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4648200"/>
            <a:ext cx="10984687" cy="1569720"/>
          </a:xfrm>
          <a:prstGeom prst="rect">
            <a:avLst/>
          </a:prstGeom>
          <a:noFill/>
        </p:spPr>
        <p:txBody>
          <a:bodyPr wrap="square">
            <a:spAutoFit/>
          </a:bodyPr>
          <a:lstStyle/>
          <a:p>
            <a:pPr>
              <a:spcAft>
                <a:spcPts val="300"/>
              </a:spcAft>
            </a:pPr>
            <a:r>
              <a:rPr sz="2100" b="1" i="0">
                <a:solidFill>
                  <a:srgbClr val="1A1A1A"/>
                </a:solidFill>
                <a:latin typeface="Arial"/>
              </a:rPr>
              <a:t>One learner record</a:t>
            </a:r>
          </a:p>
          <a:p>
            <a:pPr>
              <a:spcAft>
                <a:spcPts val="300"/>
              </a:spcAft>
            </a:pPr>
            <a:r>
              <a:rPr sz="1600" b="0" i="0">
                <a:solidFill>
                  <a:srgbClr val="595959"/>
                </a:solidFill>
                <a:latin typeface="Arial"/>
              </a:rPr>
              <a:t>It follows the child from primary school to university.</a:t>
            </a:r>
          </a:p>
        </p:txBody>
      </p:sp>
      <p:sp>
        <p:nvSpPr>
          <p:cNvPr id="9" name="TextBox 8"/>
          <p:cNvSpPr txBox="1"/>
          <p:nvPr/>
        </p:nvSpPr>
        <p:spPr>
          <a:xfrm>
            <a:off x="658368" y="5623560"/>
            <a:ext cx="10789920" cy="640080"/>
          </a:xfrm>
          <a:prstGeom prst="rect">
            <a:avLst/>
          </a:prstGeom>
          <a:noFill/>
        </p:spPr>
        <p:txBody>
          <a:bodyPr wrap="square">
            <a:spAutoFit/>
          </a:bodyPr>
          <a:lstStyle/>
          <a:p>
            <a:r>
              <a:rPr sz="1700" b="1" i="0">
                <a:solidFill>
                  <a:srgbClr val="006E96"/>
                </a:solidFill>
                <a:latin typeface="Arial"/>
              </a:rPr>
              <a:t>None of these is “put it online.” Each is a redesign of how the ministry works.</a:t>
            </a:r>
          </a:p>
        </p:txBody>
      </p:sp>
      <p:sp>
        <p:nvSpPr>
          <p:cNvPr id="10" name="TextBox 9"/>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1.4 · Why an EA matters more now</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new work needs business and IT to decide together</a:t>
            </a:r>
          </a:p>
        </p:txBody>
      </p:sp>
      <p:sp>
        <p:nvSpPr>
          <p:cNvPr id="4" name="TextBox 3"/>
          <p:cNvSpPr txBox="1"/>
          <p:nvPr/>
        </p:nvSpPr>
        <p:spPr>
          <a:xfrm>
            <a:off x="658368" y="1828800"/>
            <a:ext cx="10789920" cy="3931920"/>
          </a:xfrm>
          <a:prstGeom prst="rect">
            <a:avLst/>
          </a:prstGeom>
          <a:noFill/>
        </p:spPr>
        <p:txBody>
          <a:bodyPr wrap="square">
            <a:spAutoFit/>
          </a:bodyPr>
          <a:lstStyle/>
          <a:p>
            <a:pPr>
              <a:spcAft>
                <a:spcPts val="1600"/>
              </a:spcAft>
            </a:pPr>
            <a:r>
              <a:rPr sz="2200" b="0" i="0">
                <a:solidFill>
                  <a:srgbClr val="1A1A1A"/>
                </a:solidFill>
                <a:latin typeface="Arial"/>
              </a:rPr>
              <a:t>When you redesign how your ministry works, two groups must decide together.</a:t>
            </a:r>
          </a:p>
          <a:p>
            <a:pPr>
              <a:spcAft>
                <a:spcPts val="1600"/>
              </a:spcAft>
            </a:pPr>
            <a:r>
              <a:rPr sz="2000" b="1" i="0">
                <a:solidFill>
                  <a:srgbClr val="1A1A1A"/>
                </a:solidFill>
                <a:latin typeface="Arial"/>
              </a:rPr>
              <a:t>The business side: </a:t>
            </a:r>
            <a:r>
              <a:rPr sz="2000" b="0" i="0">
                <a:solidFill>
                  <a:srgbClr val="1A1A1A"/>
                </a:solidFill>
                <a:latin typeface="Arial"/>
              </a:rPr>
              <a:t>your minister, your director-general, your head of policy.</a:t>
            </a:r>
          </a:p>
          <a:p>
            <a:pPr>
              <a:spcAft>
                <a:spcPts val="1600"/>
              </a:spcAft>
            </a:pPr>
            <a:r>
              <a:rPr sz="2000" b="1" i="0">
                <a:solidFill>
                  <a:srgbClr val="1A1A1A"/>
                </a:solidFill>
                <a:latin typeface="Arial"/>
              </a:rPr>
              <a:t>The IT side: </a:t>
            </a:r>
            <a:r>
              <a:rPr sz="2000" b="0" i="0">
                <a:solidFill>
                  <a:srgbClr val="1A1A1A"/>
                </a:solidFill>
                <a:latin typeface="Arial"/>
              </a:rPr>
              <a:t>your architects, your engineers.</a:t>
            </a:r>
          </a:p>
          <a:p>
            <a:pPr>
              <a:spcAft>
                <a:spcPts val="1600"/>
              </a:spcAft>
            </a:pPr>
            <a:r>
              <a:rPr sz="2000" b="0" i="0">
                <a:solidFill>
                  <a:srgbClr val="595959"/>
                </a:solidFill>
                <a:latin typeface="Arial"/>
              </a:rPr>
              <a:t>In the old work, business decided what and IT delivered how. In the new work, they decide together — about the same questions, with the same seriousness.</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1.4 · Why an EA matters more now</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They sit in the same meeting — and miss each other</a:t>
            </a:r>
          </a:p>
        </p:txBody>
      </p:sp>
      <p:sp>
        <p:nvSpPr>
          <p:cNvPr id="4" name="Rounded Rectangle 3"/>
          <p:cNvSpPr/>
          <p:nvPr/>
        </p:nvSpPr>
        <p:spPr>
          <a:xfrm>
            <a:off x="658368" y="1645920"/>
            <a:ext cx="5394960" cy="219456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792224"/>
            <a:ext cx="4992624" cy="1920240"/>
          </a:xfrm>
          <a:prstGeom prst="rect">
            <a:avLst/>
          </a:prstGeom>
          <a:noFill/>
        </p:spPr>
        <p:txBody>
          <a:bodyPr wrap="square">
            <a:spAutoFit/>
          </a:bodyPr>
          <a:lstStyle/>
          <a:p>
            <a:pPr>
              <a:spcAft>
                <a:spcPts val="700"/>
              </a:spcAft>
            </a:pPr>
            <a:r>
              <a:rPr sz="1500" b="0" i="0">
                <a:solidFill>
                  <a:srgbClr val="595959"/>
                </a:solidFill>
                <a:latin typeface="Arial"/>
              </a:rPr>
              <a:t>Your minister talks about</a:t>
            </a:r>
          </a:p>
          <a:p>
            <a:pPr>
              <a:spcAft>
                <a:spcPts val="700"/>
              </a:spcAft>
            </a:pPr>
            <a:r>
              <a:rPr sz="2000" b="1" i="0">
                <a:solidFill>
                  <a:srgbClr val="1A1A1A"/>
                </a:solidFill>
                <a:latin typeface="Arial"/>
              </a:rPr>
              <a:t>citizen services and policy goals</a:t>
            </a:r>
          </a:p>
        </p:txBody>
      </p:sp>
      <p:sp>
        <p:nvSpPr>
          <p:cNvPr id="6" name="Rounded Rectangle 5"/>
          <p:cNvSpPr/>
          <p:nvPr/>
        </p:nvSpPr>
        <p:spPr>
          <a:xfrm>
            <a:off x="6281928" y="1645920"/>
            <a:ext cx="5394960" cy="219456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83096" y="1792224"/>
            <a:ext cx="4992624" cy="1920240"/>
          </a:xfrm>
          <a:prstGeom prst="rect">
            <a:avLst/>
          </a:prstGeom>
          <a:noFill/>
        </p:spPr>
        <p:txBody>
          <a:bodyPr wrap="square">
            <a:spAutoFit/>
          </a:bodyPr>
          <a:lstStyle/>
          <a:p>
            <a:pPr>
              <a:spcAft>
                <a:spcPts val="700"/>
              </a:spcAft>
            </a:pPr>
            <a:r>
              <a:rPr sz="1500" b="0" i="0">
                <a:solidFill>
                  <a:srgbClr val="595959"/>
                </a:solidFill>
                <a:latin typeface="Arial"/>
              </a:rPr>
              <a:t>Your chief architect talks about</a:t>
            </a:r>
          </a:p>
          <a:p>
            <a:pPr>
              <a:spcAft>
                <a:spcPts val="700"/>
              </a:spcAft>
            </a:pPr>
            <a:r>
              <a:rPr sz="2000" b="1" i="0">
                <a:solidFill>
                  <a:srgbClr val="1A1A1A"/>
                </a:solidFill>
                <a:latin typeface="Arial"/>
              </a:rPr>
              <a:t>systems, APIs and data</a:t>
            </a:r>
          </a:p>
        </p:txBody>
      </p:sp>
      <p:sp>
        <p:nvSpPr>
          <p:cNvPr id="8" name="TextBox 7"/>
          <p:cNvSpPr txBox="1"/>
          <p:nvPr/>
        </p:nvSpPr>
        <p:spPr>
          <a:xfrm>
            <a:off x="658368" y="4297680"/>
            <a:ext cx="10789920" cy="1645920"/>
          </a:xfrm>
          <a:prstGeom prst="rect">
            <a:avLst/>
          </a:prstGeom>
          <a:noFill/>
        </p:spPr>
        <p:txBody>
          <a:bodyPr wrap="square">
            <a:spAutoFit/>
          </a:bodyPr>
          <a:lstStyle/>
          <a:p>
            <a:pPr>
              <a:spcAft>
                <a:spcPts val="1000"/>
              </a:spcAft>
            </a:pPr>
            <a:r>
              <a:rPr sz="2100" b="1" i="0">
                <a:solidFill>
                  <a:srgbClr val="1A1A1A"/>
                </a:solidFill>
                <a:latin typeface="Arial"/>
              </a:rPr>
              <a:t>The decision does not get made well — or it does not get made at all.</a:t>
            </a:r>
          </a:p>
          <a:p>
            <a:pPr>
              <a:spcAft>
                <a:spcPts val="1000"/>
              </a:spcAft>
            </a:pPr>
            <a:r>
              <a:rPr sz="1700" b="0" i="0">
                <a:solidFill>
                  <a:srgbClr val="595959"/>
                </a:solidFill>
                <a:latin typeface="Arial"/>
              </a:rPr>
              <a:t>And the ministry stays in the old work, even though the new work is what is needed.</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1.4 · Why an EA matters more now</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An EA gives both sides one language</a:t>
            </a:r>
          </a:p>
        </p:txBody>
      </p:sp>
      <p:sp>
        <p:nvSpPr>
          <p:cNvPr id="4" name="Oval 3"/>
          <p:cNvSpPr/>
          <p:nvPr/>
        </p:nvSpPr>
        <p:spPr>
          <a:xfrm>
            <a:off x="621792" y="146304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17320"/>
            <a:ext cx="10527487" cy="1569720"/>
          </a:xfrm>
          <a:prstGeom prst="rect">
            <a:avLst/>
          </a:prstGeom>
          <a:noFill/>
        </p:spPr>
        <p:txBody>
          <a:bodyPr wrap="square">
            <a:spAutoFit/>
          </a:bodyPr>
          <a:lstStyle/>
          <a:p>
            <a:pPr>
              <a:spcAft>
                <a:spcPts val="300"/>
              </a:spcAft>
            </a:pPr>
            <a:r>
              <a:rPr sz="2100" b="1" i="0">
                <a:solidFill>
                  <a:srgbClr val="1A1A1A"/>
                </a:solidFill>
                <a:latin typeface="Arial"/>
              </a:rPr>
              <a:t>The agreed picture</a:t>
            </a:r>
          </a:p>
          <a:p>
            <a:pPr>
              <a:spcAft>
                <a:spcPts val="300"/>
              </a:spcAft>
            </a:pPr>
            <a:r>
              <a:rPr sz="1600" b="0" i="0">
                <a:solidFill>
                  <a:srgbClr val="595959"/>
                </a:solidFill>
                <a:latin typeface="Arial"/>
              </a:rPr>
              <a:t>Something both sides can point at.</a:t>
            </a:r>
          </a:p>
        </p:txBody>
      </p:sp>
      <p:sp>
        <p:nvSpPr>
          <p:cNvPr id="6" name="Rectangle 5"/>
          <p:cNvSpPr/>
          <p:nvPr/>
        </p:nvSpPr>
        <p:spPr>
          <a:xfrm>
            <a:off x="621792" y="29916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30784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3032760"/>
            <a:ext cx="10527487" cy="1569720"/>
          </a:xfrm>
          <a:prstGeom prst="rect">
            <a:avLst/>
          </a:prstGeom>
          <a:noFill/>
        </p:spPr>
        <p:txBody>
          <a:bodyPr wrap="square">
            <a:spAutoFit/>
          </a:bodyPr>
          <a:lstStyle/>
          <a:p>
            <a:pPr>
              <a:spcAft>
                <a:spcPts val="300"/>
              </a:spcAft>
            </a:pPr>
            <a:r>
              <a:rPr sz="2100" b="1" i="0">
                <a:solidFill>
                  <a:srgbClr val="1A1A1A"/>
                </a:solidFill>
                <a:latin typeface="Arial"/>
              </a:rPr>
              <a:t>Plain words for the basic terms</a:t>
            </a:r>
          </a:p>
          <a:p>
            <a:pPr>
              <a:spcAft>
                <a:spcPts val="300"/>
              </a:spcAft>
            </a:pPr>
            <a:r>
              <a:rPr sz="1600" b="0" i="0">
                <a:solidFill>
                  <a:srgbClr val="595959"/>
                </a:solidFill>
                <a:latin typeface="Arial"/>
              </a:rPr>
              <a:t>Service, capability, data domain — meaning the same thing to both sides.</a:t>
            </a:r>
          </a:p>
        </p:txBody>
      </p:sp>
      <p:sp>
        <p:nvSpPr>
          <p:cNvPr id="9" name="Rectangle 8"/>
          <p:cNvSpPr/>
          <p:nvPr/>
        </p:nvSpPr>
        <p:spPr>
          <a:xfrm>
            <a:off x="621792" y="46070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469392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4648200"/>
            <a:ext cx="10527487" cy="1569720"/>
          </a:xfrm>
          <a:prstGeom prst="rect">
            <a:avLst/>
          </a:prstGeom>
          <a:noFill/>
        </p:spPr>
        <p:txBody>
          <a:bodyPr wrap="square">
            <a:spAutoFit/>
          </a:bodyPr>
          <a:lstStyle/>
          <a:p>
            <a:pPr>
              <a:spcAft>
                <a:spcPts val="300"/>
              </a:spcAft>
            </a:pPr>
            <a:r>
              <a:rPr sz="2100" b="1" i="0">
                <a:solidFill>
                  <a:srgbClr val="1A1A1A"/>
                </a:solidFill>
                <a:latin typeface="Arial"/>
              </a:rPr>
              <a:t>A regular forum — the EA Board</a:t>
            </a:r>
          </a:p>
          <a:p>
            <a:pPr>
              <a:spcAft>
                <a:spcPts val="300"/>
              </a:spcAft>
            </a:pPr>
            <a:r>
              <a:rPr sz="1600" b="0" i="0">
                <a:solidFill>
                  <a:srgbClr val="595959"/>
                </a:solidFill>
                <a:latin typeface="Arial"/>
              </a:rPr>
              <a:t>Where business and IT sit together and decide.</a:t>
            </a:r>
          </a:p>
        </p:txBody>
      </p:sp>
      <p:sp>
        <p:nvSpPr>
          <p:cNvPr id="12" name="TextBox 11"/>
          <p:cNvSpPr txBox="1"/>
          <p:nvPr/>
        </p:nvSpPr>
        <p:spPr>
          <a:xfrm>
            <a:off x="658368" y="5669280"/>
            <a:ext cx="10789920" cy="640080"/>
          </a:xfrm>
          <a:prstGeom prst="rect">
            <a:avLst/>
          </a:prstGeom>
          <a:noFill/>
        </p:spPr>
        <p:txBody>
          <a:bodyPr wrap="square">
            <a:spAutoFit/>
          </a:bodyPr>
          <a:lstStyle/>
          <a:p>
            <a:r>
              <a:rPr sz="1600" b="0" i="1">
                <a:solidFill>
                  <a:srgbClr val="595959"/>
                </a:solidFill>
                <a:latin typeface="Arial"/>
              </a:rPr>
              <a:t>With these in place, the redesign conversation finally happens. Without them, it does not.</a:t>
            </a:r>
          </a:p>
        </p:txBody>
      </p:sp>
      <p:sp>
        <p:nvSpPr>
          <p:cNvPr id="13" name="TextBox 12"/>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1.4 · Why an EA matters more now</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In the era of digitising paper, an EA was useful. In the era of redesigning how the ministry works, an EA is necessary.</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TextBox 3"/>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1.4 · Why an EA matters more now</a:t>
            </a:r>
          </a:p>
        </p:txBody>
      </p:sp>
      <p:sp>
        <p:nvSpPr>
          <p:cNvPr id="5" name="TextBox 4"/>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§2.3 Role of Enterprise Architecture</a:t>
            </a:r>
          </a:p>
          <a:p>
            <a:pPr>
              <a:spcAft>
                <a:spcPts val="1200"/>
              </a:spcAft>
            </a:pPr>
            <a:r>
              <a:rPr sz="1700" b="0" i="0">
                <a:solidFill>
                  <a:srgbClr val="1A1A1A"/>
                </a:solidFill>
                <a:latin typeface="Arial"/>
              </a:rPr>
              <a:t>•  PAERA v1.0 — §4.5 Digital Co-creation</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1.4 · Why an EA matters more now</a:t>
            </a:r>
          </a:p>
        </p:txBody>
      </p:sp>
    </p:spTree>
  </p:cSld>
  <p:clrMapOvr>
    <a:masterClrMapping/>
  </p:clrMapOvr>
</p:sld>
</file>

<file path=ppt/theme/theme1.xml><?xml version="1.0" encoding="utf-8"?>
<a:theme xmlns:a="http://schemas.openxmlformats.org/drawingml/2006/main" name="ITU Theme - Whit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0000"/>
      </a:hlink>
      <a:folHlink>
        <a:srgbClr val="757070"/>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A0500DBE-3369-4A4A-B28D-9AE5003E2570}"/>
    </a:ext>
  </a:extLst>
</a:theme>
</file>

<file path=ppt/theme/theme2.xml><?xml version="1.0" encoding="utf-8"?>
<a:theme xmlns:a="http://schemas.openxmlformats.org/drawingml/2006/main" name="Big text">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EA5A528F-177A-4F34-B410-08836428AF20}"/>
    </a:ext>
  </a:extLst>
</a:theme>
</file>

<file path=ppt/theme/theme3.xml><?xml version="1.0" encoding="utf-8"?>
<a:theme xmlns:a="http://schemas.openxmlformats.org/drawingml/2006/main" name="Quote Slide">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B0771621-B97B-4C13-9C8D-7F1D735791AC}"/>
    </a:ext>
  </a:extLst>
</a:theme>
</file>

<file path=ppt/theme/theme4.xml><?xml version="1.0" encoding="utf-8"?>
<a:theme xmlns:a="http://schemas.openxmlformats.org/drawingml/2006/main" name="ITU Theme light blu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D1ECFA71-5D53-4A3F-BEBD-1C69573B5224}"/>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ed7f0f61-51dd-499b-8f04-7c837a526382">
      <Terms xmlns="http://schemas.microsoft.com/office/infopath/2007/PartnerControls"/>
    </lcf76f155ced4ddcb4097134ff3c332f>
    <TaxCatchAll xmlns="ab90e5c9-10d8-4476-84ba-6005a25f4984"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53A3A08329EEE04EB33D96A577905A26" ma:contentTypeVersion="19" ma:contentTypeDescription="Create a new document." ma:contentTypeScope="" ma:versionID="a8087e2cbe64624dcde6ca4894bfb0b6">
  <xsd:schema xmlns:xsd="http://www.w3.org/2001/XMLSchema" xmlns:xs="http://www.w3.org/2001/XMLSchema" xmlns:p="http://schemas.microsoft.com/office/2006/metadata/properties" xmlns:ns2="ed7f0f61-51dd-499b-8f04-7c837a526382" xmlns:ns3="ab90e5c9-10d8-4476-84ba-6005a25f4984" targetNamespace="http://schemas.microsoft.com/office/2006/metadata/properties" ma:root="true" ma:fieldsID="2701f39123c6a01fbf026076f5c6add9" ns2:_="" ns3:_="">
    <xsd:import namespace="ed7f0f61-51dd-499b-8f04-7c837a526382"/>
    <xsd:import namespace="ab90e5c9-10d8-4476-84ba-6005a25f4984"/>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DateTaken" minOccurs="0"/>
                <xsd:element ref="ns2:MediaLengthInSeconds" minOccurs="0"/>
                <xsd:element ref="ns2:MediaServiceAutoTags" minOccurs="0"/>
                <xsd:element ref="ns2:MediaServiceOCR" minOccurs="0"/>
                <xsd:element ref="ns2:MediaServiceGenerationTime" minOccurs="0"/>
                <xsd:element ref="ns2:MediaServiceEventHashCode" minOccurs="0"/>
                <xsd:element ref="ns2:lcf76f155ced4ddcb4097134ff3c332f" minOccurs="0"/>
                <xsd:element ref="ns3:TaxCatchAll" minOccurs="0"/>
                <xsd:element ref="ns2:MediaServiceLocation"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7f0f61-51dd-499b-8f04-7c837a52638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MediaServiceAutoTags" ma:index="16" nillable="true" ma:displayName="Tags" ma:internalName="MediaServiceAutoTags"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0e895586-ec57-4162-862b-45953123501e" ma:termSetId="09814cd3-568e-fe90-9814-8d621ff8fb84" ma:anchorId="fba54fb3-c3e1-fe81-a776-ca4b69148c4d" ma:open="true" ma:isKeyword="false">
      <xsd:complexType>
        <xsd:sequence>
          <xsd:element ref="pc:Terms" minOccurs="0" maxOccurs="1"/>
        </xsd:sequence>
      </xsd:complexType>
    </xsd:element>
    <xsd:element name="MediaServiceLocation" ma:index="23" nillable="true" ma:displayName="Location" ma:indexed="true" ma:internalName="MediaServiceLocation" ma:readOnly="true">
      <xsd:simpleType>
        <xsd:restriction base="dms:Text"/>
      </xsd:simple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ab90e5c9-10d8-4476-84ba-6005a25f4984"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22" nillable="true" ma:displayName="Taxonomy Catch All Column" ma:hidden="true" ma:list="{f45fae84-f8a8-4d35-b240-8a5cf95bb259}" ma:internalName="TaxCatchAll" ma:showField="CatchAllData" ma:web="ab90e5c9-10d8-4476-84ba-6005a25f498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F615F30-55BC-4400-8171-49B6C1A1BF75}">
  <ds:schemaRefs>
    <ds:schemaRef ds:uri="http://schemas.microsoft.com/office/2006/metadata/properties"/>
    <ds:schemaRef ds:uri="http://schemas.microsoft.com/office/infopath/2007/PartnerControls"/>
    <ds:schemaRef ds:uri="http://schemas.microsoft.com/sharepoint/v3"/>
    <ds:schemaRef ds:uri="ed7f0f61-51dd-499b-8f04-7c837a526382"/>
    <ds:schemaRef ds:uri="ab90e5c9-10d8-4476-84ba-6005a25f4984"/>
  </ds:schemaRefs>
</ds:datastoreItem>
</file>

<file path=customXml/itemProps2.xml><?xml version="1.0" encoding="utf-8"?>
<ds:datastoreItem xmlns:ds="http://schemas.openxmlformats.org/officeDocument/2006/customXml" ds:itemID="{A48191B6-3A4E-47E8-99A3-94A5982E1B43}">
  <ds:schemaRefs>
    <ds:schemaRef ds:uri="http://schemas.microsoft.com/sharepoint/v3/contenttype/forms"/>
  </ds:schemaRefs>
</ds:datastoreItem>
</file>

<file path=customXml/itemProps3.xml><?xml version="1.0" encoding="utf-8"?>
<ds:datastoreItem xmlns:ds="http://schemas.openxmlformats.org/officeDocument/2006/customXml" ds:itemID="{68C4513F-118C-4668-805A-58D1CE3FDA8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7f0f61-51dd-499b-8f04-7c837a526382"/>
    <ds:schemaRef ds:uri="ab90e5c9-10d8-4476-84ba-6005a25f498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ITU_Powerpoint_standard_template_16x9__July_2022</Template>
  <TotalTime>462</TotalTime>
  <Words>2240</Words>
  <Application>Microsoft Office PowerPoint</Application>
  <PresentationFormat>Widescreen</PresentationFormat>
  <Paragraphs>473</Paragraphs>
  <Slides>38</Slides>
  <Notes>20</Notes>
  <HiddenSlides>0</HiddenSlides>
  <MMClips>0</MMClips>
  <ScaleCrop>false</ScaleCrop>
  <HeadingPairs>
    <vt:vector size="6" baseType="variant">
      <vt:variant>
        <vt:lpstr>Fonts Used</vt:lpstr>
      </vt:variant>
      <vt:variant>
        <vt:i4>6</vt:i4>
      </vt:variant>
      <vt:variant>
        <vt:lpstr>Theme</vt:lpstr>
      </vt:variant>
      <vt:variant>
        <vt:i4>4</vt:i4>
      </vt:variant>
      <vt:variant>
        <vt:lpstr>Slide Titles</vt:lpstr>
      </vt:variant>
      <vt:variant>
        <vt:i4>38</vt:i4>
      </vt:variant>
    </vt:vector>
  </HeadingPairs>
  <TitlesOfParts>
    <vt:vector size="48" baseType="lpstr">
      <vt:lpstr>Arial</vt:lpstr>
      <vt:lpstr>Avenir Next LT Pro</vt:lpstr>
      <vt:lpstr>Calibri</vt:lpstr>
      <vt:lpstr>Georgia</vt:lpstr>
      <vt:lpstr>Lato Light</vt:lpstr>
      <vt:lpstr>Roboto</vt:lpstr>
      <vt:lpstr>ITU Theme - White bg</vt:lpstr>
      <vt:lpstr>Big text</vt:lpstr>
      <vt:lpstr>Quote Slide</vt:lpstr>
      <vt:lpstr>ITU Theme light blue bg</vt:lpstr>
      <vt:lpstr>PowerPoint Presentation</vt:lpstr>
      <vt:lpstr>PowerPoint Presentation</vt:lpstr>
      <vt:lpstr>Slide title text Arial Bold 28pt</vt:lpstr>
      <vt:lpstr>PowerPoint Presentation</vt:lpstr>
      <vt:lpstr>Long slide title  goes here second line here</vt:lpstr>
      <vt:lpstr>Slide title goes here second line of slide title goes here </vt:lpstr>
      <vt:lpstr>Long slide title goes here second line here</vt:lpstr>
      <vt:lpstr>Long slide title goes here second line of slide title here third line goes here</vt:lpstr>
      <vt:lpstr>Long slide title goes here second line of slide title here third line goes here</vt:lpstr>
      <vt:lpstr>Slide title goes here</vt:lpstr>
      <vt:lpstr>PowerPoint Presentation</vt:lpstr>
      <vt:lpstr>Click to add slide title here  </vt:lpstr>
      <vt:lpstr>Click to add slide title here </vt:lpstr>
      <vt:lpstr>PowerPoint Presentation</vt:lpstr>
      <vt:lpstr>PowerPoint Presentation</vt:lpstr>
      <vt:lpstr>PowerPoint Presentation</vt:lpstr>
      <vt:lpstr>PowerPoint Presentation</vt:lpstr>
      <vt:lpstr>Placeholder text for slide title</vt:lpstr>
      <vt:lpstr>Simple table</vt:lpstr>
      <vt:lpstr>PowerPoint Presentation</vt:lpstr>
      <vt:lpstr>Figure 1: Figure title</vt:lpstr>
      <vt:lpstr>Graphics</vt:lpstr>
      <vt:lpstr>PowerPoint Presentation</vt:lpstr>
      <vt:lpstr>PowerPoint Presentation</vt:lpstr>
      <vt:lpstr>PowerPoint Presentation</vt:lpstr>
      <vt:lpstr>PowerPoint Presentation</vt:lpstr>
      <vt:lpstr>PowerPoint Presentation</vt:lpstr>
      <vt:lpstr>Figure Title</vt:lpstr>
      <vt:lpstr>Figure Title</vt:lpstr>
      <vt:lpstr>Figure Title</vt:lpstr>
      <vt:lpstr>Key figures</vt:lpstr>
      <vt:lpstr>PowerPoint Presentation</vt:lpstr>
      <vt:lpstr>Timeline title</vt:lpstr>
      <vt:lpstr>Timeline title</vt:lpstr>
      <vt:lpstr>Timeline title</vt:lpstr>
      <vt:lpstr>PowerPoint Presentation</vt:lpstr>
      <vt:lpstr>ITU Blue</vt:lpstr>
      <vt:lpstr>PowerPoint Presentation</vt:lpstr>
    </vt:vector>
  </TitlesOfParts>
  <Company>ITU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CHIMA HERNANDEZ, Maria Fernanda</dc:creator>
  <cp:lastModifiedBy>Anselmino, Carolina</cp:lastModifiedBy>
  <cp:revision>1</cp:revision>
  <dcterms:created xsi:type="dcterms:W3CDTF">2026-05-08T11:19:41Z</dcterms:created>
  <dcterms:modified xsi:type="dcterms:W3CDTF">2026-07-22T19:37:40Z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0x01010053A3A08329EEE04EB33D96A577905A26</vt:lpwstr>
  </property>
  <property fmtid="{D5CDD505-2E9C-101B-9397-08002B2CF9AE}" pid="3" name="MediaServiceImageTags">
    <vt:lpwstr/>
  </property>
</Properties>
</file>