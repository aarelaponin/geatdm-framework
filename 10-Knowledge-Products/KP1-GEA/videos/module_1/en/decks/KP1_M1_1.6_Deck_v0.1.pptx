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media/image3.svg" ContentType="image/svg+xml"/>
  <Override PartName="/ppt/notesMasters/notesMaster1.xml" ContentType="application/vnd.openxmlformats-officedocument.presentationml.notesMaster+xml"/>
  <Override PartName="/ppt/notesSlides/notesSlide21.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681" r:id="rId8"/>
    <p:sldId id="2730" r:id="rId11"/>
    <p:sldId id="2731" r:id="rId10"/>
    <p:sldId id="2732" r:id="rId54"/>
    <p:sldId id="2733" r:id="rId55"/>
    <p:sldId id="2734" r:id="rId56"/>
    <p:sldId id="2735" r:id="rId57"/>
    <p:sldId id="2736" r:id="rId58"/>
    <p:sldId id="2737" r:id="rId59"/>
    <p:sldId id="2738" r:id="rId60"/>
    <p:sldId id="2739" r:id="rId61"/>
    <p:sldId id="2740" r:id="rId6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 Target="slides/slide1.xml"/><Relationship Id="rId10" Type="http://schemas.openxmlformats.org/officeDocument/2006/relationships/slide" Target="slides/slide38.xml"/><Relationship Id="rId11" Type="http://schemas.openxmlformats.org/officeDocument/2006/relationships/slide" Target="slides/slide37.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 Id="rId54" Type="http://schemas.openxmlformats.org/officeDocument/2006/relationships/slide" Target="slides/slide39.xml"/><Relationship Id="rId55" Type="http://schemas.openxmlformats.org/officeDocument/2006/relationships/slide" Target="slides/slide40.xml"/><Relationship Id="rId56" Type="http://schemas.openxmlformats.org/officeDocument/2006/relationships/slide" Target="slides/slide41.xml"/><Relationship Id="rId57" Type="http://schemas.openxmlformats.org/officeDocument/2006/relationships/slide" Target="slides/slide42.xml"/><Relationship Id="rId58" Type="http://schemas.openxmlformats.org/officeDocument/2006/relationships/slide" Target="slides/slide43.xml"/><Relationship Id="rId59" Type="http://schemas.openxmlformats.org/officeDocument/2006/relationships/slide" Target="slides/slide44.xml"/><Relationship Id="rId60" Type="http://schemas.openxmlformats.org/officeDocument/2006/relationships/slide" Target="slides/slide45.xml"/><Relationship Id="rId61" Type="http://schemas.openxmlformats.org/officeDocument/2006/relationships/slide" Target="slides/slide46.xml"/><Relationship Id="rId62" Type="http://schemas.openxmlformats.org/officeDocument/2006/relationships/slide" Target="slides/slide4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for standalone video 1.6. Content slides are identical to the corresponding section of the combined deck KP1_M1_Deck_v0.1.pptx; voice-over is in each slide’s notes.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slide 1: If you take one picture away from this knowledge product, take this one. The EA lifecycle on a single page. The picture that goes on the wall of the EA Board room. The picture your minister puts in every cabinet briefing. The picture your team points at when they explain where the work is.</a:t>
            </a:r>
          </a:p>
          <a:p/>
          <a:p>
            <a:r>
              <a:t>RETRIEVAL MOMENT: before showing the next slide, ask the viewer to guess — from a standing start, how long until a roadmap your minister can take to cabinet? Answer comes on the timeline: six months.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Five phases. Each one answers a single question. Each produces a single deliverable. Each ends with a sign-off by the senior decision-maker. The first four phases together take about six months. The fifth phase is ongoing — your country's permanent way of working.</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Phase one. Discover. The question: what exists today? Your architects map the current digital landscape — the strategies in force, the systems that exist, the sector plans, the stakeholders, the legal framework. The deliverable is a Discovery brief: the picture of where your country is, with no recommendations yet. The sign-off: the senior decision-maker confirms the picture is accurate enough to build on. Three to four weeks.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Phase two. Assess. The question: what is the gap? Architects compare what they found in Discovery against PAERA-anchored standards. They write the current-state picture in the four parts of an EA. They produce maturity scorecards. They write the gap analysis. The sign-off: the gap analysis reflects ground truth. Six to eight weeks.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Phase three. Adapt. The question: what fits our country? PAERA is a starting point, not a constraint. Architects work with sector CIOs and your EA Board to shape the framework to your country. For each building block, the question is: do we build it, do we buy it from the marketplace, do we share another country's, or do we test in a sandbox first? Four to six weeks.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Phase four. Plan. The question: how do we get there? Architects describe the target state and sequence the work into a roadmap with investment estimates. The senior decision-maker and the EA Board approve the roadmap and commit budget. This is the deliverable your minister can take to cabinet. Six to eight weeks.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Notice the rhythm. Four sign-offs in six months. Your minister does not review every diagram. They review at four moments, each tied to a defined deliverable. Between sign-offs, the architects work. The minister's job in between is to remove obstacles — the political ones, mostly. The technical ones are why the architects were hired.</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Phase five. Execute and Govern. The question: how do we sustain this? The approved roadmap becomes a project pipeline. The small permanent EA team — two to four senior architects — turns the EA from a one-time delivery into a living repository. The EA Board reviews new projects against the architecture, approves cross-ministry decisions, enforces boundaries between domains. Quarterly reviews. Indefinitely.</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phases depend on each other, in order. Discover before you measure. Measure before you adapt. Adapt before you plan. Plan before you execute. Govern always. You can skip a phase, but you will pay for it later — usually several times what skipping appeared to save.</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Six months from Discovery to an approved roadmap. Then your country in permanent EA-governed mode. That is what 'months not years' actually means. It is not a slogan. It is the consequence of sequencing five phases — each with a clear question, a clear deliverable, a clear sign-off — and committing to the practice that runs after.</a:t>
            </a:r>
          </a:p>
          <a:p/>
          <a:p>
            <a:r>
              <a:t>(This answers the prediction question posed at the start of the video.)</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png"/><Relationship Id="rId3" Type="http://schemas.openxmlformats.org/officeDocument/2006/relationships/image" Target="../media/image2.jpeg"/><Relationship Id="rId4" Type="http://schemas.openxmlformats.org/officeDocument/2006/relationships/image" Target="../media/image3.svg"/><Relationship Id="rId5" Type="http://schemas.openxmlformats.org/officeDocument/2006/relationships/notesSlide" Target="../notesSlides/notesSlide2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D9AD66F2-F7C0-4D03-9150-D28F17AC561D}"/>
              </a:ext>
            </a:extLst>
          </p:cNvPr>
          <p:cNvCxnSpPr>
            <a:cxnSpLocks/>
          </p:cNvCxnSpPr>
          <p:nvPr/>
        </p:nvCxnSpPr>
        <p:spPr>
          <a:xfrm>
            <a:off x="373021" y="2198718"/>
            <a:ext cx="6843567" cy="0"/>
          </a:xfrm>
          <a:prstGeom prst="line">
            <a:avLst/>
          </a:prstGeom>
          <a:ln w="12700">
            <a:solidFill>
              <a:srgbClr val="009CD6"/>
            </a:solidFill>
          </a:ln>
        </p:spPr>
        <p:style>
          <a:lnRef idx="1">
            <a:schemeClr val="accent1"/>
          </a:lnRef>
          <a:fillRef idx="0">
            <a:schemeClr val="accent1"/>
          </a:fillRef>
          <a:effectRef idx="0">
            <a:schemeClr val="accent1"/>
          </a:effectRef>
          <a:fontRef idx="minor">
            <a:schemeClr val="tx1"/>
          </a:fontRef>
        </p:style>
      </p:cxnSp>
      <p:sp>
        <p:nvSpPr>
          <p:cNvPr id="12" name="Title 9">
            <a:extLst>
              <a:ext uri="{FF2B5EF4-FFF2-40B4-BE49-F238E27FC236}">
                <a16:creationId xmlns:a16="http://schemas.microsoft.com/office/drawing/2014/main" id="{EEB08032-CE0E-4986-AEDF-A41026C0E8B9}"/>
              </a:ext>
            </a:extLst>
          </p:cNvPr>
          <p:cNvSpPr txBox="1">
            <a:spLocks/>
          </p:cNvSpPr>
          <p:nvPr/>
        </p:nvSpPr>
        <p:spPr>
          <a:xfrm>
            <a:off x="237734" y="702833"/>
            <a:ext cx="6432007" cy="1218817"/>
          </a:xfrm>
          <a:prstGeom prst="rect">
            <a:avLst/>
          </a:prstGeom>
        </p:spPr>
        <p:txBody>
          <a:bodyPr anchor="b" wrap="square">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r>
              <a:rPr sz="2800" b="1" i="0">
                <a:solidFill>
                  <a:srgbClr val="1A1A1A"/>
                </a:solidFill>
                <a:latin typeface="Arial"/>
              </a:rPr>
              <a:t>1.6 — The lifecycle on one page</a:t>
            </a:r>
          </a:p>
        </p:txBody>
      </p:sp>
      <p:pic>
        <p:nvPicPr>
          <p:cNvPr id="7" name="Picture 6">
            <a:extLst>
              <a:ext uri="{FF2B5EF4-FFF2-40B4-BE49-F238E27FC236}">
                <a16:creationId xmlns:a16="http://schemas.microsoft.com/office/drawing/2014/main" id="{A2066351-C569-4C4C-A096-308777FCDC32}"/>
              </a:ext>
            </a:extLst>
          </p:cNvPr>
          <p:cNvPicPr>
            <a:picLocks noChangeAspect="1"/>
          </p:cNvPicPr>
          <p:nvPr/>
        </p:nvPicPr>
        <p:blipFill>
          <a:blip r:embed="rId2">
            <a:extLst>
              <a:ext uri="{28A0092B-C50C-407E-A947-70E740481C1C}">
                <a14:useLocalDpi xmlns:a14="http://schemas.microsoft.com/office/drawing/2010/main" val="0"/>
              </a:ext>
            </a:extLst>
          </a:blip>
          <a:srcRect t="20219" b="14729"/>
          <a:stretch>
            <a:fillRect/>
          </a:stretch>
        </p:blipFill>
        <p:spPr>
          <a:xfrm>
            <a:off x="0" y="5620871"/>
            <a:ext cx="1323975" cy="1218816"/>
          </a:xfrm>
          <a:prstGeom prst="rect">
            <a:avLst/>
          </a:prstGeom>
        </p:spPr>
      </p:pic>
      <p:sp>
        <p:nvSpPr>
          <p:cNvPr id="14" name="Title 9">
            <a:extLst>
              <a:ext uri="{FF2B5EF4-FFF2-40B4-BE49-F238E27FC236}">
                <a16:creationId xmlns:a16="http://schemas.microsoft.com/office/drawing/2014/main" id="{B5087B80-3EE4-1881-0130-ED58CA625092}"/>
              </a:ext>
            </a:extLst>
          </p:cNvPr>
          <p:cNvSpPr txBox="1">
            <a:spLocks/>
          </p:cNvSpPr>
          <p:nvPr/>
        </p:nvSpPr>
        <p:spPr>
          <a:xfrm>
            <a:off x="284452" y="2475786"/>
            <a:ext cx="6382893" cy="953213"/>
          </a:xfrm>
          <a:prstGeom prst="rect">
            <a:avLst/>
          </a:prstGeom>
        </p:spPr>
        <p:txBody>
          <a:bodyPr anchor="t" wrap="square">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600"/>
              </a:spcAft>
              <a:buNone/>
            </a:pPr>
            <a:r>
              <a:rPr sz="1300" b="1" i="0">
                <a:solidFill>
                  <a:srgbClr val="006E96"/>
                </a:solidFill>
                <a:latin typeface="Arial"/>
              </a:rPr>
              <a:t>KP1 · Government Enterprise Architecture · Module 1 · Video 1.6</a:t>
            </a:r>
          </a:p>
          <a:p>
            <a:r>
              <a:rPr sz="1200" b="0" i="1">
                <a:solidFill>
                  <a:srgbClr val="595959"/>
                </a:solidFill>
                <a:latin typeface="Arial"/>
              </a:rPr>
              <a:t>Six months from start to a roadmap your minister can take to cabinet. Then ongoing governance. Five phases. Four sign-offs. One continuous practice.</a:t>
            </a:r>
          </a:p>
        </p:txBody>
      </p:sp>
      <p:sp>
        <p:nvSpPr>
          <p:cNvPr id="17" name="Title 9">
            <a:extLst>
              <a:ext uri="{FF2B5EF4-FFF2-40B4-BE49-F238E27FC236}">
                <a16:creationId xmlns:a16="http://schemas.microsoft.com/office/drawing/2014/main" id="{5E8796F7-DD26-D250-5E97-B38B22298E72}"/>
              </a:ext>
            </a:extLst>
          </p:cNvPr>
          <p:cNvSpPr txBox="1">
            <a:spLocks/>
          </p:cNvSpPr>
          <p:nvPr/>
        </p:nvSpPr>
        <p:spPr>
          <a:xfrm>
            <a:off x="284452" y="4363897"/>
            <a:ext cx="6382893" cy="953213"/>
          </a:xfrm>
          <a:prstGeom prst="rect">
            <a:avLst/>
          </a:prstGeom>
        </p:spPr>
        <p:txBody>
          <a:bodyPr anchor="t" wrap="square">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400"/>
              </a:spcAft>
              <a:buNone/>
            </a:pPr>
            <a:r>
              <a:rPr sz="1400" b="1" i="0">
                <a:solidFill>
                  <a:srgbClr val="1A1A1A"/>
                </a:solidFill>
                <a:latin typeface="Arial"/>
              </a:rPr>
              <a:t>Length: </a:t>
            </a:r>
            <a:r>
              <a:rPr sz="1400" b="0" i="0">
                <a:solidFill>
                  <a:srgbClr val="1A1A1A"/>
                </a:solidFill>
                <a:latin typeface="Arial"/>
              </a:rPr>
              <a:t>~5 mins</a:t>
            </a:r>
          </a:p>
          <a:p>
            <a:r>
              <a:rPr sz="1400" b="1" i="0">
                <a:solidFill>
                  <a:srgbClr val="1A1A1A"/>
                </a:solidFill>
                <a:latin typeface="Arial"/>
              </a:rPr>
              <a:t>Target audience: </a:t>
            </a:r>
            <a:r>
              <a:rPr sz="1400" b="0" i="0">
                <a:solidFill>
                  <a:srgbClr val="1A1A1A"/>
                </a:solidFill>
                <a:latin typeface="Arial"/>
              </a:rPr>
              <a:t>CDO · Director-General · sector minister</a:t>
            </a:r>
          </a:p>
        </p:txBody>
      </p:sp>
      <p:sp>
        <p:nvSpPr>
          <p:cNvPr id="18" name="Rectangle 17"/>
          <p:cNvSpPr/>
          <p:nvPr/>
        </p:nvSpPr>
        <p:spPr>
          <a:xfrm>
            <a:off x="7022592" y="0"/>
            <a:ext cx="5169103" cy="6858000"/>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52360" y="457200"/>
            <a:ext cx="4297680" cy="457200"/>
          </a:xfrm>
          <a:prstGeom prst="rect">
            <a:avLst/>
          </a:prstGeom>
          <a:noFill/>
        </p:spPr>
        <p:txBody>
          <a:bodyPr wrap="square">
            <a:spAutoFit/>
          </a:bodyPr>
          <a:lstStyle/>
          <a:p>
            <a:r>
              <a:rPr sz="1100" b="1" i="0">
                <a:solidFill>
                  <a:srgbClr val="E5F5FB"/>
                </a:solidFill>
                <a:latin typeface="Arial"/>
              </a:rPr>
              <a:t>THE LIFECYCLE THIS MODULE TEACHES</a:t>
            </a:r>
          </a:p>
        </p:txBody>
      </p:sp>
      <p:sp>
        <p:nvSpPr>
          <p:cNvPr id="20" name="Rounded Rectangle 19"/>
          <p:cNvSpPr/>
          <p:nvPr/>
        </p:nvSpPr>
        <p:spPr>
          <a:xfrm>
            <a:off x="7452360" y="960120"/>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Discover</a:t>
            </a:r>
          </a:p>
        </p:txBody>
      </p:sp>
      <p:sp>
        <p:nvSpPr>
          <p:cNvPr id="21" name="Diamond 20"/>
          <p:cNvSpPr/>
          <p:nvPr/>
        </p:nvSpPr>
        <p:spPr>
          <a:xfrm>
            <a:off x="7333488" y="1677924"/>
            <a:ext cx="128016" cy="128016"/>
          </a:xfrm>
          <a:prstGeom prst="diamond">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452360" y="1892808"/>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Assess</a:t>
            </a:r>
          </a:p>
        </p:txBody>
      </p:sp>
      <p:sp>
        <p:nvSpPr>
          <p:cNvPr id="23" name="Diamond 22"/>
          <p:cNvSpPr/>
          <p:nvPr/>
        </p:nvSpPr>
        <p:spPr>
          <a:xfrm>
            <a:off x="7333488" y="2610612"/>
            <a:ext cx="128016" cy="128016"/>
          </a:xfrm>
          <a:prstGeom prst="diamond">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7452360" y="2825496"/>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Adapt</a:t>
            </a:r>
          </a:p>
        </p:txBody>
      </p:sp>
      <p:sp>
        <p:nvSpPr>
          <p:cNvPr id="25" name="Diamond 24"/>
          <p:cNvSpPr/>
          <p:nvPr/>
        </p:nvSpPr>
        <p:spPr>
          <a:xfrm>
            <a:off x="7333488" y="3543300"/>
            <a:ext cx="128016" cy="128016"/>
          </a:xfrm>
          <a:prstGeom prst="diamond">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7452360" y="3758184"/>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Plan</a:t>
            </a:r>
          </a:p>
        </p:txBody>
      </p:sp>
      <p:sp>
        <p:nvSpPr>
          <p:cNvPr id="27" name="Diamond 26"/>
          <p:cNvSpPr/>
          <p:nvPr/>
        </p:nvSpPr>
        <p:spPr>
          <a:xfrm>
            <a:off x="7333488" y="4475988"/>
            <a:ext cx="128016" cy="128016"/>
          </a:xfrm>
          <a:prstGeom prst="diamond">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7452360" y="4690872"/>
            <a:ext cx="3840480" cy="658368"/>
          </a:xfrm>
          <a:prstGeom prst="roundRect">
            <a:avLst>
              <a:gd name="adj" fmla="val 14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FFFFFF"/>
                </a:solidFill>
                <a:latin typeface="Arial"/>
              </a:rPr>
              <a:t>Execute &amp; Govern</a:t>
            </a:r>
          </a:p>
        </p:txBody>
      </p:sp>
      <p:sp>
        <p:nvSpPr>
          <p:cNvPr id="29" name="TextBox 28"/>
          <p:cNvSpPr txBox="1"/>
          <p:nvPr/>
        </p:nvSpPr>
        <p:spPr>
          <a:xfrm>
            <a:off x="7452360" y="5806440"/>
            <a:ext cx="4297680" cy="731520"/>
          </a:xfrm>
          <a:prstGeom prst="rect">
            <a:avLst/>
          </a:prstGeom>
          <a:noFill/>
        </p:spPr>
        <p:txBody>
          <a:bodyPr wrap="square">
            <a:spAutoFit/>
          </a:bodyPr>
          <a:lstStyle/>
          <a:p>
            <a:r>
              <a:rPr sz="1200" b="0" i="0">
                <a:solidFill>
                  <a:srgbClr val="FFFFFF"/>
                </a:solidFill>
                <a:latin typeface="Arial"/>
              </a:rPr>
              <a:t>4 sign-offs · 6 months to a roadmap · then ongoing</a:t>
            </a:r>
          </a:p>
        </p:txBody>
      </p:sp>
    </p:spTree>
    <p:extLst>
      <p:ext uri="{BB962C8B-B14F-4D97-AF65-F5344CB8AC3E}">
        <p14:creationId xmlns:p14="http://schemas.microsoft.com/office/powerpoint/2010/main" val="1196800265"/>
      </p:ext>
    </p:extLst>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KP1 · MODULE 1 · VIDEO 1.6</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1.6</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The lifecycle on one page</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Six months from start to a roadmap your minister can take to cabinet. Then ongoing governance. Five phases. Four sign-offs. One continuous practice.</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~5 minutes · standalone video · voice-over on text slides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Five phases. Four sign-offs. Six months to a roadmap.</a:t>
            </a:r>
          </a:p>
        </p:txBody>
      </p:sp>
      <p:sp>
        <p:nvSpPr>
          <p:cNvPr id="4" name="Rounded Rectangle 3"/>
          <p:cNvSpPr/>
          <p:nvPr/>
        </p:nvSpPr>
        <p:spPr>
          <a:xfrm>
            <a:off x="548640" y="1965960"/>
            <a:ext cx="2084831" cy="141732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1600" b="1" i="0">
                <a:solidFill>
                  <a:srgbClr val="1A1A1A"/>
                </a:solidFill>
                <a:latin typeface="Arial"/>
              </a:rPr>
              <a:t>Discover</a:t>
            </a:r>
          </a:p>
          <a:p>
            <a:pPr algn="ctr"/>
            <a:r>
              <a:rPr sz="1200" b="0" i="1">
                <a:solidFill>
                  <a:srgbClr val="595959"/>
                </a:solidFill>
                <a:latin typeface="Arial"/>
              </a:rPr>
              <a:t>What exists today?</a:t>
            </a:r>
          </a:p>
        </p:txBody>
      </p:sp>
      <p:sp>
        <p:nvSpPr>
          <p:cNvPr id="5" name="TextBox 4"/>
          <p:cNvSpPr txBox="1"/>
          <p:nvPr/>
        </p:nvSpPr>
        <p:spPr>
          <a:xfrm>
            <a:off x="548640" y="3493008"/>
            <a:ext cx="2084831" cy="365760"/>
          </a:xfrm>
          <a:prstGeom prst="rect">
            <a:avLst/>
          </a:prstGeom>
          <a:noFill/>
        </p:spPr>
        <p:txBody>
          <a:bodyPr wrap="square">
            <a:spAutoFit/>
          </a:bodyPr>
          <a:lstStyle/>
          <a:p>
            <a:pPr algn="ctr"/>
            <a:r>
              <a:rPr sz="1300" b="1" i="0">
                <a:solidFill>
                  <a:srgbClr val="006E96"/>
                </a:solidFill>
                <a:latin typeface="Arial"/>
              </a:rPr>
              <a:t>3–4 wks</a:t>
            </a:r>
          </a:p>
        </p:txBody>
      </p:sp>
      <p:sp>
        <p:nvSpPr>
          <p:cNvPr id="6" name="Diamond 5"/>
          <p:cNvSpPr/>
          <p:nvPr/>
        </p:nvSpPr>
        <p:spPr>
          <a:xfrm>
            <a:off x="2628899" y="2583179"/>
            <a:ext cx="182880" cy="182880"/>
          </a:xfrm>
          <a:prstGeom prst="diamond">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807208" y="1965960"/>
            <a:ext cx="2084831" cy="141732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1600" b="1" i="0">
                <a:solidFill>
                  <a:srgbClr val="1A1A1A"/>
                </a:solidFill>
                <a:latin typeface="Arial"/>
              </a:rPr>
              <a:t>Assess</a:t>
            </a:r>
          </a:p>
          <a:p>
            <a:pPr algn="ctr"/>
            <a:r>
              <a:rPr sz="1200" b="0" i="1">
                <a:solidFill>
                  <a:srgbClr val="595959"/>
                </a:solidFill>
                <a:latin typeface="Arial"/>
              </a:rPr>
              <a:t>What is the gap?</a:t>
            </a:r>
          </a:p>
        </p:txBody>
      </p:sp>
      <p:sp>
        <p:nvSpPr>
          <p:cNvPr id="8" name="TextBox 7"/>
          <p:cNvSpPr txBox="1"/>
          <p:nvPr/>
        </p:nvSpPr>
        <p:spPr>
          <a:xfrm>
            <a:off x="2807208" y="3493008"/>
            <a:ext cx="2084831" cy="365760"/>
          </a:xfrm>
          <a:prstGeom prst="rect">
            <a:avLst/>
          </a:prstGeom>
          <a:noFill/>
        </p:spPr>
        <p:txBody>
          <a:bodyPr wrap="square">
            <a:spAutoFit/>
          </a:bodyPr>
          <a:lstStyle/>
          <a:p>
            <a:pPr algn="ctr"/>
            <a:r>
              <a:rPr sz="1300" b="1" i="0">
                <a:solidFill>
                  <a:srgbClr val="006E96"/>
                </a:solidFill>
                <a:latin typeface="Arial"/>
              </a:rPr>
              <a:t>6–8 wks</a:t>
            </a:r>
          </a:p>
        </p:txBody>
      </p:sp>
      <p:sp>
        <p:nvSpPr>
          <p:cNvPr id="9" name="Diamond 8"/>
          <p:cNvSpPr/>
          <p:nvPr/>
        </p:nvSpPr>
        <p:spPr>
          <a:xfrm>
            <a:off x="4887468" y="2583179"/>
            <a:ext cx="182880" cy="182880"/>
          </a:xfrm>
          <a:prstGeom prst="diamond">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065775" y="1965960"/>
            <a:ext cx="2084831" cy="141732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1600" b="1" i="0">
                <a:solidFill>
                  <a:srgbClr val="1A1A1A"/>
                </a:solidFill>
                <a:latin typeface="Arial"/>
              </a:rPr>
              <a:t>Adapt</a:t>
            </a:r>
          </a:p>
          <a:p>
            <a:pPr algn="ctr"/>
            <a:r>
              <a:rPr sz="1200" b="0" i="1">
                <a:solidFill>
                  <a:srgbClr val="595959"/>
                </a:solidFill>
                <a:latin typeface="Arial"/>
              </a:rPr>
              <a:t>What fits our country?</a:t>
            </a:r>
          </a:p>
        </p:txBody>
      </p:sp>
      <p:sp>
        <p:nvSpPr>
          <p:cNvPr id="11" name="TextBox 10"/>
          <p:cNvSpPr txBox="1"/>
          <p:nvPr/>
        </p:nvSpPr>
        <p:spPr>
          <a:xfrm>
            <a:off x="5065775" y="3493008"/>
            <a:ext cx="2084831" cy="365760"/>
          </a:xfrm>
          <a:prstGeom prst="rect">
            <a:avLst/>
          </a:prstGeom>
          <a:noFill/>
        </p:spPr>
        <p:txBody>
          <a:bodyPr wrap="square">
            <a:spAutoFit/>
          </a:bodyPr>
          <a:lstStyle/>
          <a:p>
            <a:pPr algn="ctr"/>
            <a:r>
              <a:rPr sz="1300" b="1" i="0">
                <a:solidFill>
                  <a:srgbClr val="006E96"/>
                </a:solidFill>
                <a:latin typeface="Arial"/>
              </a:rPr>
              <a:t>4–6 wks</a:t>
            </a:r>
          </a:p>
        </p:txBody>
      </p:sp>
      <p:sp>
        <p:nvSpPr>
          <p:cNvPr id="12" name="Diamond 11"/>
          <p:cNvSpPr/>
          <p:nvPr/>
        </p:nvSpPr>
        <p:spPr>
          <a:xfrm>
            <a:off x="7146036" y="2583179"/>
            <a:ext cx="182880" cy="182880"/>
          </a:xfrm>
          <a:prstGeom prst="diamond">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324344" y="1965960"/>
            <a:ext cx="2084831" cy="141732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1600" b="1" i="0">
                <a:solidFill>
                  <a:srgbClr val="1A1A1A"/>
                </a:solidFill>
                <a:latin typeface="Arial"/>
              </a:rPr>
              <a:t>Plan</a:t>
            </a:r>
          </a:p>
          <a:p>
            <a:pPr algn="ctr"/>
            <a:r>
              <a:rPr sz="1200" b="0" i="1">
                <a:solidFill>
                  <a:srgbClr val="595959"/>
                </a:solidFill>
                <a:latin typeface="Arial"/>
              </a:rPr>
              <a:t>How do we get there?</a:t>
            </a:r>
          </a:p>
        </p:txBody>
      </p:sp>
      <p:sp>
        <p:nvSpPr>
          <p:cNvPr id="14" name="TextBox 13"/>
          <p:cNvSpPr txBox="1"/>
          <p:nvPr/>
        </p:nvSpPr>
        <p:spPr>
          <a:xfrm>
            <a:off x="7324344" y="3493008"/>
            <a:ext cx="2084831" cy="365760"/>
          </a:xfrm>
          <a:prstGeom prst="rect">
            <a:avLst/>
          </a:prstGeom>
          <a:noFill/>
        </p:spPr>
        <p:txBody>
          <a:bodyPr wrap="square">
            <a:spAutoFit/>
          </a:bodyPr>
          <a:lstStyle/>
          <a:p>
            <a:pPr algn="ctr"/>
            <a:r>
              <a:rPr sz="1300" b="1" i="0">
                <a:solidFill>
                  <a:srgbClr val="006E96"/>
                </a:solidFill>
                <a:latin typeface="Arial"/>
              </a:rPr>
              <a:t>6–8 wks</a:t>
            </a:r>
          </a:p>
        </p:txBody>
      </p:sp>
      <p:sp>
        <p:nvSpPr>
          <p:cNvPr id="15" name="Diamond 14"/>
          <p:cNvSpPr/>
          <p:nvPr/>
        </p:nvSpPr>
        <p:spPr>
          <a:xfrm>
            <a:off x="9404603" y="2583179"/>
            <a:ext cx="182880" cy="182880"/>
          </a:xfrm>
          <a:prstGeom prst="diamond">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582911" y="1965960"/>
            <a:ext cx="2084831" cy="141732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1600" b="1" i="0">
                <a:solidFill>
                  <a:srgbClr val="FFFFFF"/>
                </a:solidFill>
                <a:latin typeface="Arial"/>
              </a:rPr>
              <a:t>Execute &amp; Govern</a:t>
            </a:r>
          </a:p>
          <a:p>
            <a:pPr algn="ctr"/>
            <a:r>
              <a:rPr sz="1200" b="0" i="1">
                <a:solidFill>
                  <a:srgbClr val="FFFFFF"/>
                </a:solidFill>
                <a:latin typeface="Arial"/>
              </a:rPr>
              <a:t>How do we sustain this?</a:t>
            </a:r>
          </a:p>
        </p:txBody>
      </p:sp>
      <p:sp>
        <p:nvSpPr>
          <p:cNvPr id="17" name="TextBox 16"/>
          <p:cNvSpPr txBox="1"/>
          <p:nvPr/>
        </p:nvSpPr>
        <p:spPr>
          <a:xfrm>
            <a:off x="9582911" y="3493008"/>
            <a:ext cx="2084831" cy="365760"/>
          </a:xfrm>
          <a:prstGeom prst="rect">
            <a:avLst/>
          </a:prstGeom>
          <a:noFill/>
        </p:spPr>
        <p:txBody>
          <a:bodyPr wrap="square">
            <a:spAutoFit/>
          </a:bodyPr>
          <a:lstStyle/>
          <a:p>
            <a:pPr algn="ctr"/>
            <a:r>
              <a:rPr sz="1300" b="1" i="0">
                <a:solidFill>
                  <a:srgbClr val="595959"/>
                </a:solidFill>
                <a:latin typeface="Arial"/>
              </a:rPr>
              <a:t>Ongoing</a:t>
            </a:r>
          </a:p>
        </p:txBody>
      </p:sp>
      <p:sp>
        <p:nvSpPr>
          <p:cNvPr id="18" name="TextBox 17"/>
          <p:cNvSpPr txBox="1"/>
          <p:nvPr/>
        </p:nvSpPr>
        <p:spPr>
          <a:xfrm>
            <a:off x="548640" y="4160520"/>
            <a:ext cx="11064240" cy="457200"/>
          </a:xfrm>
          <a:prstGeom prst="rect">
            <a:avLst/>
          </a:prstGeom>
          <a:noFill/>
        </p:spPr>
        <p:txBody>
          <a:bodyPr wrap="square">
            <a:spAutoFit/>
          </a:bodyPr>
          <a:lstStyle/>
          <a:p>
            <a:r>
              <a:rPr sz="1350" b="0" i="0">
                <a:solidFill>
                  <a:srgbClr val="595959"/>
                </a:solidFill>
                <a:latin typeface="Arial"/>
              </a:rPr>
              <a:t>◆ = sign-off by the senior decision-maker. Each phase answers one question and produces one deliverable.</a:t>
            </a:r>
          </a:p>
        </p:txBody>
      </p:sp>
      <p:sp>
        <p:nvSpPr>
          <p:cNvPr id="19" name="Rounded Rectangle 18"/>
          <p:cNvSpPr/>
          <p:nvPr/>
        </p:nvSpPr>
        <p:spPr>
          <a:xfrm>
            <a:off x="548640" y="4800600"/>
            <a:ext cx="8823960" cy="502920"/>
          </a:xfrm>
          <a:prstGeom prst="roundRect">
            <a:avLst>
              <a:gd name="adj" fmla="val 45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i="0">
                <a:solidFill>
                  <a:srgbClr val="595959"/>
                </a:solidFill>
                <a:latin typeface="Arial"/>
              </a:rPr>
              <a:t>Phases 1–4: about six months, four sign-offs</a:t>
            </a:r>
          </a:p>
        </p:txBody>
      </p:sp>
      <p:sp>
        <p:nvSpPr>
          <p:cNvPr id="20" name="Rounded Rectangle 19"/>
          <p:cNvSpPr/>
          <p:nvPr/>
        </p:nvSpPr>
        <p:spPr>
          <a:xfrm>
            <a:off x="9555480" y="4800600"/>
            <a:ext cx="2084831" cy="50292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i="0">
                <a:solidFill>
                  <a:srgbClr val="FFFFFF"/>
                </a:solidFill>
                <a:latin typeface="Arial"/>
              </a:rPr>
              <a:t>permanent practice</a:t>
            </a:r>
          </a:p>
        </p:txBody>
      </p:sp>
      <p:sp>
        <p:nvSpPr>
          <p:cNvPr id="21" name="TextBox 20"/>
          <p:cNvSpPr txBox="1"/>
          <p:nvPr/>
        </p:nvSpPr>
        <p:spPr>
          <a:xfrm>
            <a:off x="548640" y="5577840"/>
            <a:ext cx="11064240" cy="548640"/>
          </a:xfrm>
          <a:prstGeom prst="rect">
            <a:avLst/>
          </a:prstGeom>
          <a:noFill/>
        </p:spPr>
        <p:txBody>
          <a:bodyPr wrap="square">
            <a:spAutoFit/>
          </a:bodyPr>
          <a:lstStyle/>
          <a:p>
            <a:r>
              <a:rPr sz="1300" b="0" i="1">
                <a:solidFill>
                  <a:srgbClr val="595959"/>
                </a:solidFill>
                <a:latin typeface="Arial"/>
              </a:rPr>
              <a:t>The centrepiece of Module 1 — designed to be screenshot and put on the EA Board room wall.</a:t>
            </a:r>
          </a:p>
        </p:txBody>
      </p:sp>
      <p:sp>
        <p:nvSpPr>
          <p:cNvPr id="22" name="TextBox 2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1.6 · The lifecycle on one page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Phase 1 — Discover</a:t>
            </a:r>
          </a:p>
        </p:txBody>
      </p:sp>
      <p:sp>
        <p:nvSpPr>
          <p:cNvPr id="4" name="Rounded Rectangle 3"/>
          <p:cNvSpPr/>
          <p:nvPr/>
        </p:nvSpPr>
        <p:spPr>
          <a:xfrm>
            <a:off x="7360920" y="384048"/>
            <a:ext cx="841248" cy="310896"/>
          </a:xfrm>
          <a:prstGeom prst="roundRect">
            <a:avLst>
              <a:gd name="adj" fmla="val 350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57032" y="38404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153144" y="38404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049256" y="38404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0945368" y="38404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1508760"/>
            <a:ext cx="2103120" cy="548640"/>
          </a:xfrm>
          <a:prstGeom prst="rect">
            <a:avLst/>
          </a:prstGeom>
          <a:noFill/>
        </p:spPr>
        <p:txBody>
          <a:bodyPr wrap="square">
            <a:spAutoFit/>
          </a:bodyPr>
          <a:lstStyle/>
          <a:p>
            <a:r>
              <a:rPr sz="1300" b="1" i="0">
                <a:solidFill>
                  <a:srgbClr val="006E96"/>
                </a:solidFill>
                <a:latin typeface="Arial"/>
              </a:rPr>
              <a:t>QUESTION</a:t>
            </a:r>
          </a:p>
        </p:txBody>
      </p:sp>
      <p:sp>
        <p:nvSpPr>
          <p:cNvPr id="10" name="TextBox 9"/>
          <p:cNvSpPr txBox="1"/>
          <p:nvPr/>
        </p:nvSpPr>
        <p:spPr>
          <a:xfrm>
            <a:off x="2834640" y="1490472"/>
            <a:ext cx="8595360" cy="914400"/>
          </a:xfrm>
          <a:prstGeom prst="rect">
            <a:avLst/>
          </a:prstGeom>
          <a:noFill/>
        </p:spPr>
        <p:txBody>
          <a:bodyPr wrap="square">
            <a:spAutoFit/>
          </a:bodyPr>
          <a:lstStyle/>
          <a:p>
            <a:r>
              <a:rPr sz="1800" b="0" i="0">
                <a:solidFill>
                  <a:srgbClr val="1A1A1A"/>
                </a:solidFill>
                <a:latin typeface="Arial"/>
              </a:rPr>
              <a:t>What exists today?</a:t>
            </a:r>
          </a:p>
        </p:txBody>
      </p:sp>
      <p:sp>
        <p:nvSpPr>
          <p:cNvPr id="11" name="TextBox 10"/>
          <p:cNvSpPr txBox="1"/>
          <p:nvPr/>
        </p:nvSpPr>
        <p:spPr>
          <a:xfrm>
            <a:off x="658368" y="2587752"/>
            <a:ext cx="2103120" cy="548640"/>
          </a:xfrm>
          <a:prstGeom prst="rect">
            <a:avLst/>
          </a:prstGeom>
          <a:noFill/>
        </p:spPr>
        <p:txBody>
          <a:bodyPr wrap="square">
            <a:spAutoFit/>
          </a:bodyPr>
          <a:lstStyle/>
          <a:p>
            <a:r>
              <a:rPr sz="1300" b="1" i="0">
                <a:solidFill>
                  <a:srgbClr val="006E96"/>
                </a:solidFill>
                <a:latin typeface="Arial"/>
              </a:rPr>
              <a:t>DELIVERABLE</a:t>
            </a:r>
          </a:p>
        </p:txBody>
      </p:sp>
      <p:sp>
        <p:nvSpPr>
          <p:cNvPr id="12" name="TextBox 11"/>
          <p:cNvSpPr txBox="1"/>
          <p:nvPr/>
        </p:nvSpPr>
        <p:spPr>
          <a:xfrm>
            <a:off x="2834640" y="2569464"/>
            <a:ext cx="8595360" cy="1417320"/>
          </a:xfrm>
          <a:prstGeom prst="rect">
            <a:avLst/>
          </a:prstGeom>
          <a:noFill/>
        </p:spPr>
        <p:txBody>
          <a:bodyPr wrap="square">
            <a:spAutoFit/>
          </a:bodyPr>
          <a:lstStyle/>
          <a:p>
            <a:r>
              <a:rPr sz="1800" b="1" i="0">
                <a:solidFill>
                  <a:srgbClr val="1A1A1A"/>
                </a:solidFill>
                <a:latin typeface="Arial"/>
              </a:rPr>
              <a:t>Discovery brief — the current picture: strategies in force, systems, sector plans, stakeholders, legal framework. No recommendations yet.</a:t>
            </a:r>
          </a:p>
        </p:txBody>
      </p:sp>
      <p:sp>
        <p:nvSpPr>
          <p:cNvPr id="13" name="TextBox 12"/>
          <p:cNvSpPr txBox="1"/>
          <p:nvPr/>
        </p:nvSpPr>
        <p:spPr>
          <a:xfrm>
            <a:off x="658368" y="4169664"/>
            <a:ext cx="2103120" cy="548640"/>
          </a:xfrm>
          <a:prstGeom prst="rect">
            <a:avLst/>
          </a:prstGeom>
          <a:noFill/>
        </p:spPr>
        <p:txBody>
          <a:bodyPr wrap="square">
            <a:spAutoFit/>
          </a:bodyPr>
          <a:lstStyle/>
          <a:p>
            <a:r>
              <a:rPr sz="1300" b="1" i="0">
                <a:solidFill>
                  <a:srgbClr val="006E96"/>
                </a:solidFill>
                <a:latin typeface="Arial"/>
              </a:rPr>
              <a:t>SIGN-OFF</a:t>
            </a:r>
          </a:p>
        </p:txBody>
      </p:sp>
      <p:sp>
        <p:nvSpPr>
          <p:cNvPr id="14" name="TextBox 13"/>
          <p:cNvSpPr txBox="1"/>
          <p:nvPr/>
        </p:nvSpPr>
        <p:spPr>
          <a:xfrm>
            <a:off x="2834640" y="4151376"/>
            <a:ext cx="8595360" cy="1325880"/>
          </a:xfrm>
          <a:prstGeom prst="rect">
            <a:avLst/>
          </a:prstGeom>
          <a:noFill/>
        </p:spPr>
        <p:txBody>
          <a:bodyPr wrap="square">
            <a:spAutoFit/>
          </a:bodyPr>
          <a:lstStyle/>
          <a:p>
            <a:r>
              <a:rPr sz="1800" b="1" i="0">
                <a:solidFill>
                  <a:srgbClr val="1A1A1A"/>
                </a:solidFill>
                <a:latin typeface="Arial"/>
              </a:rPr>
              <a:t>The senior decision-maker confirms the picture is accurate enough to build on.</a:t>
            </a:r>
          </a:p>
        </p:txBody>
      </p:sp>
      <p:sp>
        <p:nvSpPr>
          <p:cNvPr id="15" name="TextBox 14"/>
          <p:cNvSpPr txBox="1"/>
          <p:nvPr/>
        </p:nvSpPr>
        <p:spPr>
          <a:xfrm>
            <a:off x="658368" y="5660136"/>
            <a:ext cx="2103120" cy="548640"/>
          </a:xfrm>
          <a:prstGeom prst="rect">
            <a:avLst/>
          </a:prstGeom>
          <a:noFill/>
        </p:spPr>
        <p:txBody>
          <a:bodyPr wrap="square">
            <a:spAutoFit/>
          </a:bodyPr>
          <a:lstStyle/>
          <a:p>
            <a:r>
              <a:rPr sz="1300" b="1" i="0">
                <a:solidFill>
                  <a:srgbClr val="006E96"/>
                </a:solidFill>
                <a:latin typeface="Arial"/>
              </a:rPr>
              <a:t>DURATION</a:t>
            </a:r>
          </a:p>
        </p:txBody>
      </p:sp>
      <p:sp>
        <p:nvSpPr>
          <p:cNvPr id="16" name="TextBox 15"/>
          <p:cNvSpPr txBox="1"/>
          <p:nvPr/>
        </p:nvSpPr>
        <p:spPr>
          <a:xfrm>
            <a:off x="2834640" y="5641848"/>
            <a:ext cx="8595360" cy="777240"/>
          </a:xfrm>
          <a:prstGeom prst="rect">
            <a:avLst/>
          </a:prstGeom>
          <a:noFill/>
        </p:spPr>
        <p:txBody>
          <a:bodyPr wrap="square">
            <a:spAutoFit/>
          </a:bodyPr>
          <a:lstStyle/>
          <a:p>
            <a:r>
              <a:rPr sz="1800" b="0" i="0">
                <a:solidFill>
                  <a:srgbClr val="1A1A1A"/>
                </a:solidFill>
                <a:latin typeface="Arial"/>
              </a:rPr>
              <a:t>3 to 4 weeks</a:t>
            </a:r>
          </a:p>
        </p:txBody>
      </p:sp>
      <p:sp>
        <p:nvSpPr>
          <p:cNvPr id="17" name="TextBox 1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1.6 · The lifecycle on one page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Phase 2 — Assess</a:t>
            </a:r>
          </a:p>
        </p:txBody>
      </p:sp>
      <p:sp>
        <p:nvSpPr>
          <p:cNvPr id="4" name="Rounded Rectangle 3"/>
          <p:cNvSpPr/>
          <p:nvPr/>
        </p:nvSpPr>
        <p:spPr>
          <a:xfrm>
            <a:off x="7360920" y="38404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57032" y="384048"/>
            <a:ext cx="841248" cy="310896"/>
          </a:xfrm>
          <a:prstGeom prst="roundRect">
            <a:avLst>
              <a:gd name="adj" fmla="val 350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153144" y="38404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049256" y="38404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0945368" y="38404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1508760"/>
            <a:ext cx="2103120" cy="548640"/>
          </a:xfrm>
          <a:prstGeom prst="rect">
            <a:avLst/>
          </a:prstGeom>
          <a:noFill/>
        </p:spPr>
        <p:txBody>
          <a:bodyPr wrap="square">
            <a:spAutoFit/>
          </a:bodyPr>
          <a:lstStyle/>
          <a:p>
            <a:r>
              <a:rPr sz="1300" b="1" i="0">
                <a:solidFill>
                  <a:srgbClr val="006E96"/>
                </a:solidFill>
                <a:latin typeface="Arial"/>
              </a:rPr>
              <a:t>QUESTION</a:t>
            </a:r>
          </a:p>
        </p:txBody>
      </p:sp>
      <p:sp>
        <p:nvSpPr>
          <p:cNvPr id="10" name="TextBox 9"/>
          <p:cNvSpPr txBox="1"/>
          <p:nvPr/>
        </p:nvSpPr>
        <p:spPr>
          <a:xfrm>
            <a:off x="2834640" y="1490472"/>
            <a:ext cx="8595360" cy="914400"/>
          </a:xfrm>
          <a:prstGeom prst="rect">
            <a:avLst/>
          </a:prstGeom>
          <a:noFill/>
        </p:spPr>
        <p:txBody>
          <a:bodyPr wrap="square">
            <a:spAutoFit/>
          </a:bodyPr>
          <a:lstStyle/>
          <a:p>
            <a:r>
              <a:rPr sz="1800" b="0" i="0">
                <a:solidFill>
                  <a:srgbClr val="1A1A1A"/>
                </a:solidFill>
                <a:latin typeface="Arial"/>
              </a:rPr>
              <a:t>What is the gap?</a:t>
            </a:r>
          </a:p>
        </p:txBody>
      </p:sp>
      <p:sp>
        <p:nvSpPr>
          <p:cNvPr id="11" name="TextBox 10"/>
          <p:cNvSpPr txBox="1"/>
          <p:nvPr/>
        </p:nvSpPr>
        <p:spPr>
          <a:xfrm>
            <a:off x="658368" y="2587752"/>
            <a:ext cx="2103120" cy="548640"/>
          </a:xfrm>
          <a:prstGeom prst="rect">
            <a:avLst/>
          </a:prstGeom>
          <a:noFill/>
        </p:spPr>
        <p:txBody>
          <a:bodyPr wrap="square">
            <a:spAutoFit/>
          </a:bodyPr>
          <a:lstStyle/>
          <a:p>
            <a:r>
              <a:rPr sz="1300" b="1" i="0">
                <a:solidFill>
                  <a:srgbClr val="006E96"/>
                </a:solidFill>
                <a:latin typeface="Arial"/>
              </a:rPr>
              <a:t>DELIVERABLE</a:t>
            </a:r>
          </a:p>
        </p:txBody>
      </p:sp>
      <p:sp>
        <p:nvSpPr>
          <p:cNvPr id="12" name="TextBox 11"/>
          <p:cNvSpPr txBox="1"/>
          <p:nvPr/>
        </p:nvSpPr>
        <p:spPr>
          <a:xfrm>
            <a:off x="2834640" y="2569464"/>
            <a:ext cx="8595360" cy="1417320"/>
          </a:xfrm>
          <a:prstGeom prst="rect">
            <a:avLst/>
          </a:prstGeom>
          <a:noFill/>
        </p:spPr>
        <p:txBody>
          <a:bodyPr wrap="square">
            <a:spAutoFit/>
          </a:bodyPr>
          <a:lstStyle/>
          <a:p>
            <a:r>
              <a:rPr sz="1800" b="1" i="0">
                <a:solidFill>
                  <a:srgbClr val="1A1A1A"/>
                </a:solidFill>
                <a:latin typeface="Arial"/>
              </a:rPr>
              <a:t>Assessment report — current-state picture in the four parts of an EA, maturity scorecards, gap analysis against PAERA-anchored standards.</a:t>
            </a:r>
          </a:p>
        </p:txBody>
      </p:sp>
      <p:sp>
        <p:nvSpPr>
          <p:cNvPr id="13" name="TextBox 12"/>
          <p:cNvSpPr txBox="1"/>
          <p:nvPr/>
        </p:nvSpPr>
        <p:spPr>
          <a:xfrm>
            <a:off x="658368" y="4169664"/>
            <a:ext cx="2103120" cy="548640"/>
          </a:xfrm>
          <a:prstGeom prst="rect">
            <a:avLst/>
          </a:prstGeom>
          <a:noFill/>
        </p:spPr>
        <p:txBody>
          <a:bodyPr wrap="square">
            <a:spAutoFit/>
          </a:bodyPr>
          <a:lstStyle/>
          <a:p>
            <a:r>
              <a:rPr sz="1300" b="1" i="0">
                <a:solidFill>
                  <a:srgbClr val="006E96"/>
                </a:solidFill>
                <a:latin typeface="Arial"/>
              </a:rPr>
              <a:t>SIGN-OFF</a:t>
            </a:r>
          </a:p>
        </p:txBody>
      </p:sp>
      <p:sp>
        <p:nvSpPr>
          <p:cNvPr id="14" name="TextBox 13"/>
          <p:cNvSpPr txBox="1"/>
          <p:nvPr/>
        </p:nvSpPr>
        <p:spPr>
          <a:xfrm>
            <a:off x="2834640" y="4151376"/>
            <a:ext cx="8595360" cy="1325880"/>
          </a:xfrm>
          <a:prstGeom prst="rect">
            <a:avLst/>
          </a:prstGeom>
          <a:noFill/>
        </p:spPr>
        <p:txBody>
          <a:bodyPr wrap="square">
            <a:spAutoFit/>
          </a:bodyPr>
          <a:lstStyle/>
          <a:p>
            <a:r>
              <a:rPr sz="1800" b="1" i="0">
                <a:solidFill>
                  <a:srgbClr val="1A1A1A"/>
                </a:solidFill>
                <a:latin typeface="Arial"/>
              </a:rPr>
              <a:t>The gap analysis reflects ground truth — it names the right problems in the right priority.</a:t>
            </a:r>
          </a:p>
        </p:txBody>
      </p:sp>
      <p:sp>
        <p:nvSpPr>
          <p:cNvPr id="15" name="TextBox 14"/>
          <p:cNvSpPr txBox="1"/>
          <p:nvPr/>
        </p:nvSpPr>
        <p:spPr>
          <a:xfrm>
            <a:off x="658368" y="5660136"/>
            <a:ext cx="2103120" cy="548640"/>
          </a:xfrm>
          <a:prstGeom prst="rect">
            <a:avLst/>
          </a:prstGeom>
          <a:noFill/>
        </p:spPr>
        <p:txBody>
          <a:bodyPr wrap="square">
            <a:spAutoFit/>
          </a:bodyPr>
          <a:lstStyle/>
          <a:p>
            <a:r>
              <a:rPr sz="1300" b="1" i="0">
                <a:solidFill>
                  <a:srgbClr val="006E96"/>
                </a:solidFill>
                <a:latin typeface="Arial"/>
              </a:rPr>
              <a:t>DURATION</a:t>
            </a:r>
          </a:p>
        </p:txBody>
      </p:sp>
      <p:sp>
        <p:nvSpPr>
          <p:cNvPr id="16" name="TextBox 15"/>
          <p:cNvSpPr txBox="1"/>
          <p:nvPr/>
        </p:nvSpPr>
        <p:spPr>
          <a:xfrm>
            <a:off x="2834640" y="5641848"/>
            <a:ext cx="8595360" cy="777240"/>
          </a:xfrm>
          <a:prstGeom prst="rect">
            <a:avLst/>
          </a:prstGeom>
          <a:noFill/>
        </p:spPr>
        <p:txBody>
          <a:bodyPr wrap="square">
            <a:spAutoFit/>
          </a:bodyPr>
          <a:lstStyle/>
          <a:p>
            <a:r>
              <a:rPr sz="1800" b="0" i="0">
                <a:solidFill>
                  <a:srgbClr val="1A1A1A"/>
                </a:solidFill>
                <a:latin typeface="Arial"/>
              </a:rPr>
              <a:t>6 to 8 weeks</a:t>
            </a:r>
          </a:p>
        </p:txBody>
      </p:sp>
      <p:sp>
        <p:nvSpPr>
          <p:cNvPr id="17" name="TextBox 1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1.6 · The lifecycle on one page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Phase 3 — Adapt</a:t>
            </a:r>
          </a:p>
        </p:txBody>
      </p:sp>
      <p:sp>
        <p:nvSpPr>
          <p:cNvPr id="4" name="Rounded Rectangle 3"/>
          <p:cNvSpPr/>
          <p:nvPr/>
        </p:nvSpPr>
        <p:spPr>
          <a:xfrm>
            <a:off x="7360920" y="38404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57032" y="38404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153144" y="384048"/>
            <a:ext cx="841248" cy="310896"/>
          </a:xfrm>
          <a:prstGeom prst="roundRect">
            <a:avLst>
              <a:gd name="adj" fmla="val 350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049256" y="38404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0945368" y="38404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1508760"/>
            <a:ext cx="2103120" cy="548640"/>
          </a:xfrm>
          <a:prstGeom prst="rect">
            <a:avLst/>
          </a:prstGeom>
          <a:noFill/>
        </p:spPr>
        <p:txBody>
          <a:bodyPr wrap="square">
            <a:spAutoFit/>
          </a:bodyPr>
          <a:lstStyle/>
          <a:p>
            <a:r>
              <a:rPr sz="1300" b="1" i="0">
                <a:solidFill>
                  <a:srgbClr val="006E96"/>
                </a:solidFill>
                <a:latin typeface="Arial"/>
              </a:rPr>
              <a:t>QUESTION</a:t>
            </a:r>
          </a:p>
        </p:txBody>
      </p:sp>
      <p:sp>
        <p:nvSpPr>
          <p:cNvPr id="10" name="TextBox 9"/>
          <p:cNvSpPr txBox="1"/>
          <p:nvPr/>
        </p:nvSpPr>
        <p:spPr>
          <a:xfrm>
            <a:off x="2834640" y="1490472"/>
            <a:ext cx="8595360" cy="914400"/>
          </a:xfrm>
          <a:prstGeom prst="rect">
            <a:avLst/>
          </a:prstGeom>
          <a:noFill/>
        </p:spPr>
        <p:txBody>
          <a:bodyPr wrap="square">
            <a:spAutoFit/>
          </a:bodyPr>
          <a:lstStyle/>
          <a:p>
            <a:r>
              <a:rPr sz="1800" b="0" i="0">
                <a:solidFill>
                  <a:srgbClr val="1A1A1A"/>
                </a:solidFill>
                <a:latin typeface="Arial"/>
              </a:rPr>
              <a:t>What fits our country?</a:t>
            </a:r>
          </a:p>
        </p:txBody>
      </p:sp>
      <p:sp>
        <p:nvSpPr>
          <p:cNvPr id="11" name="TextBox 10"/>
          <p:cNvSpPr txBox="1"/>
          <p:nvPr/>
        </p:nvSpPr>
        <p:spPr>
          <a:xfrm>
            <a:off x="658368" y="2587752"/>
            <a:ext cx="2103120" cy="548640"/>
          </a:xfrm>
          <a:prstGeom prst="rect">
            <a:avLst/>
          </a:prstGeom>
          <a:noFill/>
        </p:spPr>
        <p:txBody>
          <a:bodyPr wrap="square">
            <a:spAutoFit/>
          </a:bodyPr>
          <a:lstStyle/>
          <a:p>
            <a:r>
              <a:rPr sz="1300" b="1" i="0">
                <a:solidFill>
                  <a:srgbClr val="006E96"/>
                </a:solidFill>
                <a:latin typeface="Arial"/>
              </a:rPr>
              <a:t>DELIVERABLE</a:t>
            </a:r>
          </a:p>
        </p:txBody>
      </p:sp>
      <p:sp>
        <p:nvSpPr>
          <p:cNvPr id="12" name="TextBox 11"/>
          <p:cNvSpPr txBox="1"/>
          <p:nvPr/>
        </p:nvSpPr>
        <p:spPr>
          <a:xfrm>
            <a:off x="2834640" y="2569464"/>
            <a:ext cx="8595360" cy="1417320"/>
          </a:xfrm>
          <a:prstGeom prst="rect">
            <a:avLst/>
          </a:prstGeom>
          <a:noFill/>
        </p:spPr>
        <p:txBody>
          <a:bodyPr wrap="square">
            <a:spAutoFit/>
          </a:bodyPr>
          <a:lstStyle/>
          <a:p>
            <a:r>
              <a:rPr sz="1800" b="1" i="0">
                <a:solidFill>
                  <a:srgbClr val="1A1A1A"/>
                </a:solidFill>
                <a:latin typeface="Arial"/>
              </a:rPr>
              <a:t>Localised framework with sourcing decisions — your principles, your sector priorities; per building block: build, buy, share, or sandbox first.</a:t>
            </a:r>
          </a:p>
        </p:txBody>
      </p:sp>
      <p:sp>
        <p:nvSpPr>
          <p:cNvPr id="13" name="TextBox 12"/>
          <p:cNvSpPr txBox="1"/>
          <p:nvPr/>
        </p:nvSpPr>
        <p:spPr>
          <a:xfrm>
            <a:off x="658368" y="4169664"/>
            <a:ext cx="2103120" cy="548640"/>
          </a:xfrm>
          <a:prstGeom prst="rect">
            <a:avLst/>
          </a:prstGeom>
          <a:noFill/>
        </p:spPr>
        <p:txBody>
          <a:bodyPr wrap="square">
            <a:spAutoFit/>
          </a:bodyPr>
          <a:lstStyle/>
          <a:p>
            <a:r>
              <a:rPr sz="1300" b="1" i="0">
                <a:solidFill>
                  <a:srgbClr val="006E96"/>
                </a:solidFill>
                <a:latin typeface="Arial"/>
              </a:rPr>
              <a:t>SIGN-OFF</a:t>
            </a:r>
          </a:p>
        </p:txBody>
      </p:sp>
      <p:sp>
        <p:nvSpPr>
          <p:cNvPr id="14" name="TextBox 13"/>
          <p:cNvSpPr txBox="1"/>
          <p:nvPr/>
        </p:nvSpPr>
        <p:spPr>
          <a:xfrm>
            <a:off x="2834640" y="4151376"/>
            <a:ext cx="8595360" cy="1325880"/>
          </a:xfrm>
          <a:prstGeom prst="rect">
            <a:avLst/>
          </a:prstGeom>
          <a:noFill/>
        </p:spPr>
        <p:txBody>
          <a:bodyPr wrap="square">
            <a:spAutoFit/>
          </a:bodyPr>
          <a:lstStyle/>
          <a:p>
            <a:r>
              <a:rPr sz="1800" b="1" i="0">
                <a:solidFill>
                  <a:srgbClr val="1A1A1A"/>
                </a:solidFill>
                <a:latin typeface="Arial"/>
              </a:rPr>
              <a:t>The framework and the build / buy / share approach.</a:t>
            </a:r>
          </a:p>
        </p:txBody>
      </p:sp>
      <p:sp>
        <p:nvSpPr>
          <p:cNvPr id="15" name="TextBox 14"/>
          <p:cNvSpPr txBox="1"/>
          <p:nvPr/>
        </p:nvSpPr>
        <p:spPr>
          <a:xfrm>
            <a:off x="658368" y="5660136"/>
            <a:ext cx="2103120" cy="548640"/>
          </a:xfrm>
          <a:prstGeom prst="rect">
            <a:avLst/>
          </a:prstGeom>
          <a:noFill/>
        </p:spPr>
        <p:txBody>
          <a:bodyPr wrap="square">
            <a:spAutoFit/>
          </a:bodyPr>
          <a:lstStyle/>
          <a:p>
            <a:r>
              <a:rPr sz="1300" b="1" i="0">
                <a:solidFill>
                  <a:srgbClr val="006E96"/>
                </a:solidFill>
                <a:latin typeface="Arial"/>
              </a:rPr>
              <a:t>DURATION</a:t>
            </a:r>
          </a:p>
        </p:txBody>
      </p:sp>
      <p:sp>
        <p:nvSpPr>
          <p:cNvPr id="16" name="TextBox 15"/>
          <p:cNvSpPr txBox="1"/>
          <p:nvPr/>
        </p:nvSpPr>
        <p:spPr>
          <a:xfrm>
            <a:off x="2834640" y="5641848"/>
            <a:ext cx="8595360" cy="777240"/>
          </a:xfrm>
          <a:prstGeom prst="rect">
            <a:avLst/>
          </a:prstGeom>
          <a:noFill/>
        </p:spPr>
        <p:txBody>
          <a:bodyPr wrap="square">
            <a:spAutoFit/>
          </a:bodyPr>
          <a:lstStyle/>
          <a:p>
            <a:r>
              <a:rPr sz="1800" b="0" i="0">
                <a:solidFill>
                  <a:srgbClr val="1A1A1A"/>
                </a:solidFill>
                <a:latin typeface="Arial"/>
              </a:rPr>
              <a:t>4 to 6 weeks</a:t>
            </a:r>
          </a:p>
        </p:txBody>
      </p:sp>
      <p:sp>
        <p:nvSpPr>
          <p:cNvPr id="17" name="TextBox 1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1.6 · The lifecycle on one page</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Phase 4 — Plan</a:t>
            </a:r>
          </a:p>
        </p:txBody>
      </p:sp>
      <p:sp>
        <p:nvSpPr>
          <p:cNvPr id="4" name="Rounded Rectangle 3"/>
          <p:cNvSpPr/>
          <p:nvPr/>
        </p:nvSpPr>
        <p:spPr>
          <a:xfrm>
            <a:off x="7360920" y="38404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57032" y="38404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153144" y="38404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049256" y="384048"/>
            <a:ext cx="841248" cy="310896"/>
          </a:xfrm>
          <a:prstGeom prst="roundRect">
            <a:avLst>
              <a:gd name="adj" fmla="val 350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0945368" y="38404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1508760"/>
            <a:ext cx="2103120" cy="548640"/>
          </a:xfrm>
          <a:prstGeom prst="rect">
            <a:avLst/>
          </a:prstGeom>
          <a:noFill/>
        </p:spPr>
        <p:txBody>
          <a:bodyPr wrap="square">
            <a:spAutoFit/>
          </a:bodyPr>
          <a:lstStyle/>
          <a:p>
            <a:r>
              <a:rPr sz="1300" b="1" i="0">
                <a:solidFill>
                  <a:srgbClr val="006E96"/>
                </a:solidFill>
                <a:latin typeface="Arial"/>
              </a:rPr>
              <a:t>QUESTION</a:t>
            </a:r>
          </a:p>
        </p:txBody>
      </p:sp>
      <p:sp>
        <p:nvSpPr>
          <p:cNvPr id="10" name="TextBox 9"/>
          <p:cNvSpPr txBox="1"/>
          <p:nvPr/>
        </p:nvSpPr>
        <p:spPr>
          <a:xfrm>
            <a:off x="2834640" y="1490472"/>
            <a:ext cx="8595360" cy="914400"/>
          </a:xfrm>
          <a:prstGeom prst="rect">
            <a:avLst/>
          </a:prstGeom>
          <a:noFill/>
        </p:spPr>
        <p:txBody>
          <a:bodyPr wrap="square">
            <a:spAutoFit/>
          </a:bodyPr>
          <a:lstStyle/>
          <a:p>
            <a:r>
              <a:rPr sz="1800" b="0" i="0">
                <a:solidFill>
                  <a:srgbClr val="1A1A1A"/>
                </a:solidFill>
                <a:latin typeface="Arial"/>
              </a:rPr>
              <a:t>How do we get there?</a:t>
            </a:r>
          </a:p>
        </p:txBody>
      </p:sp>
      <p:sp>
        <p:nvSpPr>
          <p:cNvPr id="11" name="TextBox 10"/>
          <p:cNvSpPr txBox="1"/>
          <p:nvPr/>
        </p:nvSpPr>
        <p:spPr>
          <a:xfrm>
            <a:off x="658368" y="2587752"/>
            <a:ext cx="2103120" cy="548640"/>
          </a:xfrm>
          <a:prstGeom prst="rect">
            <a:avLst/>
          </a:prstGeom>
          <a:noFill/>
        </p:spPr>
        <p:txBody>
          <a:bodyPr wrap="square">
            <a:spAutoFit/>
          </a:bodyPr>
          <a:lstStyle/>
          <a:p>
            <a:r>
              <a:rPr sz="1300" b="1" i="0">
                <a:solidFill>
                  <a:srgbClr val="006E96"/>
                </a:solidFill>
                <a:latin typeface="Arial"/>
              </a:rPr>
              <a:t>DELIVERABLE</a:t>
            </a:r>
          </a:p>
        </p:txBody>
      </p:sp>
      <p:sp>
        <p:nvSpPr>
          <p:cNvPr id="12" name="TextBox 11"/>
          <p:cNvSpPr txBox="1"/>
          <p:nvPr/>
        </p:nvSpPr>
        <p:spPr>
          <a:xfrm>
            <a:off x="2834640" y="2569464"/>
            <a:ext cx="8595360" cy="1417320"/>
          </a:xfrm>
          <a:prstGeom prst="rect">
            <a:avLst/>
          </a:prstGeom>
          <a:noFill/>
        </p:spPr>
        <p:txBody>
          <a:bodyPr wrap="square">
            <a:spAutoFit/>
          </a:bodyPr>
          <a:lstStyle/>
          <a:p>
            <a:r>
              <a:rPr sz="1800" b="1" i="0">
                <a:solidFill>
                  <a:srgbClr val="1A1A1A"/>
                </a:solidFill>
                <a:latin typeface="Arial"/>
              </a:rPr>
              <a:t>Roadmap and investment plan — target state, sequenced work, investment estimates. The deliverable your minister can take to cabinet.</a:t>
            </a:r>
          </a:p>
        </p:txBody>
      </p:sp>
      <p:sp>
        <p:nvSpPr>
          <p:cNvPr id="13" name="TextBox 12"/>
          <p:cNvSpPr txBox="1"/>
          <p:nvPr/>
        </p:nvSpPr>
        <p:spPr>
          <a:xfrm>
            <a:off x="658368" y="4169664"/>
            <a:ext cx="2103120" cy="548640"/>
          </a:xfrm>
          <a:prstGeom prst="rect">
            <a:avLst/>
          </a:prstGeom>
          <a:noFill/>
        </p:spPr>
        <p:txBody>
          <a:bodyPr wrap="square">
            <a:spAutoFit/>
          </a:bodyPr>
          <a:lstStyle/>
          <a:p>
            <a:r>
              <a:rPr sz="1300" b="1" i="0">
                <a:solidFill>
                  <a:srgbClr val="006E96"/>
                </a:solidFill>
                <a:latin typeface="Arial"/>
              </a:rPr>
              <a:t>SIGN-OFF</a:t>
            </a:r>
          </a:p>
        </p:txBody>
      </p:sp>
      <p:sp>
        <p:nvSpPr>
          <p:cNvPr id="14" name="TextBox 13"/>
          <p:cNvSpPr txBox="1"/>
          <p:nvPr/>
        </p:nvSpPr>
        <p:spPr>
          <a:xfrm>
            <a:off x="2834640" y="4151376"/>
            <a:ext cx="8595360" cy="1325880"/>
          </a:xfrm>
          <a:prstGeom prst="rect">
            <a:avLst/>
          </a:prstGeom>
          <a:noFill/>
        </p:spPr>
        <p:txBody>
          <a:bodyPr wrap="square">
            <a:spAutoFit/>
          </a:bodyPr>
          <a:lstStyle/>
          <a:p>
            <a:r>
              <a:rPr sz="1800" b="1" i="0">
                <a:solidFill>
                  <a:srgbClr val="1A1A1A"/>
                </a:solidFill>
                <a:latin typeface="Arial"/>
              </a:rPr>
              <a:t>Roadmap approved, budget committed — by the senior decision-maker and the EA Board.</a:t>
            </a:r>
          </a:p>
        </p:txBody>
      </p:sp>
      <p:sp>
        <p:nvSpPr>
          <p:cNvPr id="15" name="TextBox 14"/>
          <p:cNvSpPr txBox="1"/>
          <p:nvPr/>
        </p:nvSpPr>
        <p:spPr>
          <a:xfrm>
            <a:off x="658368" y="5660136"/>
            <a:ext cx="2103120" cy="548640"/>
          </a:xfrm>
          <a:prstGeom prst="rect">
            <a:avLst/>
          </a:prstGeom>
          <a:noFill/>
        </p:spPr>
        <p:txBody>
          <a:bodyPr wrap="square">
            <a:spAutoFit/>
          </a:bodyPr>
          <a:lstStyle/>
          <a:p>
            <a:r>
              <a:rPr sz="1300" b="1" i="0">
                <a:solidFill>
                  <a:srgbClr val="006E96"/>
                </a:solidFill>
                <a:latin typeface="Arial"/>
              </a:rPr>
              <a:t>DURATION</a:t>
            </a:r>
          </a:p>
        </p:txBody>
      </p:sp>
      <p:sp>
        <p:nvSpPr>
          <p:cNvPr id="16" name="TextBox 15"/>
          <p:cNvSpPr txBox="1"/>
          <p:nvPr/>
        </p:nvSpPr>
        <p:spPr>
          <a:xfrm>
            <a:off x="2834640" y="5641848"/>
            <a:ext cx="8595360" cy="777240"/>
          </a:xfrm>
          <a:prstGeom prst="rect">
            <a:avLst/>
          </a:prstGeom>
          <a:noFill/>
        </p:spPr>
        <p:txBody>
          <a:bodyPr wrap="square">
            <a:spAutoFit/>
          </a:bodyPr>
          <a:lstStyle/>
          <a:p>
            <a:r>
              <a:rPr sz="1800" b="0" i="0">
                <a:solidFill>
                  <a:srgbClr val="1A1A1A"/>
                </a:solidFill>
                <a:latin typeface="Arial"/>
              </a:rPr>
              <a:t>6 to 8 weeks</a:t>
            </a:r>
          </a:p>
        </p:txBody>
      </p:sp>
      <p:sp>
        <p:nvSpPr>
          <p:cNvPr id="17" name="TextBox 1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1.6 · The lifecycle on one page</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Your minister reviews four times — not every diagram</a:t>
            </a:r>
          </a:p>
        </p:txBody>
      </p:sp>
      <p:sp>
        <p:nvSpPr>
          <p:cNvPr id="4" name="Rectangle 3"/>
          <p:cNvSpPr/>
          <p:nvPr/>
        </p:nvSpPr>
        <p:spPr>
          <a:xfrm>
            <a:off x="822960" y="2514600"/>
            <a:ext cx="10515600" cy="31750"/>
          </a:xfrm>
          <a:prstGeom prst="rect">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Diamond 4"/>
          <p:cNvSpPr/>
          <p:nvPr/>
        </p:nvSpPr>
        <p:spPr>
          <a:xfrm>
            <a:off x="1371600" y="2395728"/>
            <a:ext cx="256032" cy="256032"/>
          </a:xfrm>
          <a:prstGeom prst="diamond">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2880360"/>
            <a:ext cx="2377440" cy="1188720"/>
          </a:xfrm>
          <a:prstGeom prst="rect">
            <a:avLst/>
          </a:prstGeom>
          <a:noFill/>
        </p:spPr>
        <p:txBody>
          <a:bodyPr wrap="square">
            <a:spAutoFit/>
          </a:bodyPr>
          <a:lstStyle/>
          <a:p>
            <a:pPr algn="ctr">
              <a:spcAft>
                <a:spcPts val="300"/>
              </a:spcAft>
            </a:pPr>
            <a:r>
              <a:rPr sz="1400" b="1" i="0">
                <a:solidFill>
                  <a:srgbClr val="1A1A1A"/>
                </a:solidFill>
                <a:latin typeface="Arial"/>
              </a:rPr>
              <a:t>The picture is accurate</a:t>
            </a:r>
          </a:p>
          <a:p>
            <a:pPr algn="ctr">
              <a:spcAft>
                <a:spcPts val="300"/>
              </a:spcAft>
            </a:pPr>
            <a:r>
              <a:rPr sz="1200" b="0" i="0">
                <a:solidFill>
                  <a:srgbClr val="595959"/>
                </a:solidFill>
                <a:latin typeface="Arial"/>
              </a:rPr>
              <a:t>end of Discover</a:t>
            </a:r>
          </a:p>
        </p:txBody>
      </p:sp>
      <p:sp>
        <p:nvSpPr>
          <p:cNvPr id="7" name="Diamond 6"/>
          <p:cNvSpPr/>
          <p:nvPr/>
        </p:nvSpPr>
        <p:spPr>
          <a:xfrm>
            <a:off x="4069080" y="2395728"/>
            <a:ext cx="256032" cy="256032"/>
          </a:xfrm>
          <a:prstGeom prst="diamond">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017520" y="2880360"/>
            <a:ext cx="2377440" cy="1188720"/>
          </a:xfrm>
          <a:prstGeom prst="rect">
            <a:avLst/>
          </a:prstGeom>
          <a:noFill/>
        </p:spPr>
        <p:txBody>
          <a:bodyPr wrap="square">
            <a:spAutoFit/>
          </a:bodyPr>
          <a:lstStyle/>
          <a:p>
            <a:pPr algn="ctr">
              <a:spcAft>
                <a:spcPts val="300"/>
              </a:spcAft>
            </a:pPr>
            <a:r>
              <a:rPr sz="1400" b="1" i="0">
                <a:solidFill>
                  <a:srgbClr val="1A1A1A"/>
                </a:solidFill>
                <a:latin typeface="Arial"/>
              </a:rPr>
              <a:t>The gap reflects ground truth</a:t>
            </a:r>
          </a:p>
          <a:p>
            <a:pPr algn="ctr">
              <a:spcAft>
                <a:spcPts val="300"/>
              </a:spcAft>
            </a:pPr>
            <a:r>
              <a:rPr sz="1200" b="0" i="0">
                <a:solidFill>
                  <a:srgbClr val="595959"/>
                </a:solidFill>
                <a:latin typeface="Arial"/>
              </a:rPr>
              <a:t>end of Assess</a:t>
            </a:r>
          </a:p>
        </p:txBody>
      </p:sp>
      <p:sp>
        <p:nvSpPr>
          <p:cNvPr id="9" name="Diamond 8"/>
          <p:cNvSpPr/>
          <p:nvPr/>
        </p:nvSpPr>
        <p:spPr>
          <a:xfrm>
            <a:off x="6766560" y="2395728"/>
            <a:ext cx="256032" cy="256032"/>
          </a:xfrm>
          <a:prstGeom prst="diamond">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715000" y="2880360"/>
            <a:ext cx="2377440" cy="1188720"/>
          </a:xfrm>
          <a:prstGeom prst="rect">
            <a:avLst/>
          </a:prstGeom>
          <a:noFill/>
        </p:spPr>
        <p:txBody>
          <a:bodyPr wrap="square">
            <a:spAutoFit/>
          </a:bodyPr>
          <a:lstStyle/>
          <a:p>
            <a:pPr algn="ctr">
              <a:spcAft>
                <a:spcPts val="300"/>
              </a:spcAft>
            </a:pPr>
            <a:r>
              <a:rPr sz="1400" b="1" i="0">
                <a:solidFill>
                  <a:srgbClr val="1A1A1A"/>
                </a:solidFill>
                <a:latin typeface="Arial"/>
              </a:rPr>
              <a:t>Framework + sourcing approach</a:t>
            </a:r>
          </a:p>
          <a:p>
            <a:pPr algn="ctr">
              <a:spcAft>
                <a:spcPts val="300"/>
              </a:spcAft>
            </a:pPr>
            <a:r>
              <a:rPr sz="1200" b="0" i="0">
                <a:solidFill>
                  <a:srgbClr val="595959"/>
                </a:solidFill>
                <a:latin typeface="Arial"/>
              </a:rPr>
              <a:t>end of Adapt</a:t>
            </a:r>
          </a:p>
        </p:txBody>
      </p:sp>
      <p:sp>
        <p:nvSpPr>
          <p:cNvPr id="11" name="Diamond 10"/>
          <p:cNvSpPr/>
          <p:nvPr/>
        </p:nvSpPr>
        <p:spPr>
          <a:xfrm>
            <a:off x="9464040" y="2395728"/>
            <a:ext cx="256032" cy="256032"/>
          </a:xfrm>
          <a:prstGeom prst="diamond">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80" y="2880360"/>
            <a:ext cx="2377440" cy="1188720"/>
          </a:xfrm>
          <a:prstGeom prst="rect">
            <a:avLst/>
          </a:prstGeom>
          <a:noFill/>
        </p:spPr>
        <p:txBody>
          <a:bodyPr wrap="square">
            <a:spAutoFit/>
          </a:bodyPr>
          <a:lstStyle/>
          <a:p>
            <a:pPr algn="ctr">
              <a:spcAft>
                <a:spcPts val="300"/>
              </a:spcAft>
            </a:pPr>
            <a:r>
              <a:rPr sz="1400" b="1" i="0">
                <a:solidFill>
                  <a:srgbClr val="1A1A1A"/>
                </a:solidFill>
                <a:latin typeface="Arial"/>
              </a:rPr>
              <a:t>Roadmap approved, budget committed</a:t>
            </a:r>
          </a:p>
          <a:p>
            <a:pPr algn="ctr">
              <a:spcAft>
                <a:spcPts val="300"/>
              </a:spcAft>
            </a:pPr>
            <a:r>
              <a:rPr sz="1200" b="0" i="0">
                <a:solidFill>
                  <a:srgbClr val="595959"/>
                </a:solidFill>
                <a:latin typeface="Arial"/>
              </a:rPr>
              <a:t>end of Plan</a:t>
            </a:r>
          </a:p>
        </p:txBody>
      </p:sp>
      <p:sp>
        <p:nvSpPr>
          <p:cNvPr id="13" name="TextBox 12"/>
          <p:cNvSpPr txBox="1"/>
          <p:nvPr/>
        </p:nvSpPr>
        <p:spPr>
          <a:xfrm>
            <a:off x="822960" y="4480560"/>
            <a:ext cx="10515600" cy="1463040"/>
          </a:xfrm>
          <a:prstGeom prst="rect">
            <a:avLst/>
          </a:prstGeom>
          <a:noFill/>
        </p:spPr>
        <p:txBody>
          <a:bodyPr wrap="square">
            <a:spAutoFit/>
          </a:bodyPr>
          <a:lstStyle/>
          <a:p>
            <a:pPr>
              <a:spcAft>
                <a:spcPts val="800"/>
              </a:spcAft>
            </a:pPr>
            <a:r>
              <a:rPr sz="1800" b="0" i="0">
                <a:solidFill>
                  <a:srgbClr val="1A1A1A"/>
                </a:solidFill>
                <a:latin typeface="Arial"/>
              </a:rPr>
              <a:t>Between sign-offs, the architects work.</a:t>
            </a:r>
          </a:p>
          <a:p>
            <a:pPr>
              <a:spcAft>
                <a:spcPts val="800"/>
              </a:spcAft>
            </a:pPr>
            <a:r>
              <a:rPr sz="1800" b="0" i="0">
                <a:solidFill>
                  <a:srgbClr val="595959"/>
                </a:solidFill>
                <a:latin typeface="Arial"/>
              </a:rPr>
              <a:t>The minister’s job in between is to remove obstacles — the political ones, mostly. The technical ones are why the architects were hired.</a:t>
            </a:r>
          </a:p>
        </p:txBody>
      </p:sp>
      <p:sp>
        <p:nvSpPr>
          <p:cNvPr id="14" name="TextBox 1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1.6 · The lifecycle on one page</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Phase 5 — Execute &amp; Govern</a:t>
            </a:r>
          </a:p>
        </p:txBody>
      </p:sp>
      <p:sp>
        <p:nvSpPr>
          <p:cNvPr id="4" name="Rounded Rectangle 3"/>
          <p:cNvSpPr/>
          <p:nvPr/>
        </p:nvSpPr>
        <p:spPr>
          <a:xfrm>
            <a:off x="7360920" y="38404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57032" y="38404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153144" y="38404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049256" y="38404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0945368" y="384048"/>
            <a:ext cx="841248" cy="310896"/>
          </a:xfrm>
          <a:prstGeom prst="roundRect">
            <a:avLst>
              <a:gd name="adj" fmla="val 350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1508760"/>
            <a:ext cx="2103120" cy="548640"/>
          </a:xfrm>
          <a:prstGeom prst="rect">
            <a:avLst/>
          </a:prstGeom>
          <a:noFill/>
        </p:spPr>
        <p:txBody>
          <a:bodyPr wrap="square">
            <a:spAutoFit/>
          </a:bodyPr>
          <a:lstStyle/>
          <a:p>
            <a:r>
              <a:rPr sz="1300" b="1" i="0">
                <a:solidFill>
                  <a:srgbClr val="006E96"/>
                </a:solidFill>
                <a:latin typeface="Arial"/>
              </a:rPr>
              <a:t>QUESTION</a:t>
            </a:r>
          </a:p>
        </p:txBody>
      </p:sp>
      <p:sp>
        <p:nvSpPr>
          <p:cNvPr id="10" name="TextBox 9"/>
          <p:cNvSpPr txBox="1"/>
          <p:nvPr/>
        </p:nvSpPr>
        <p:spPr>
          <a:xfrm>
            <a:off x="2834640" y="1490472"/>
            <a:ext cx="8595360" cy="914400"/>
          </a:xfrm>
          <a:prstGeom prst="rect">
            <a:avLst/>
          </a:prstGeom>
          <a:noFill/>
        </p:spPr>
        <p:txBody>
          <a:bodyPr wrap="square">
            <a:spAutoFit/>
          </a:bodyPr>
          <a:lstStyle/>
          <a:p>
            <a:r>
              <a:rPr sz="1800" b="0" i="0">
                <a:solidFill>
                  <a:srgbClr val="1A1A1A"/>
                </a:solidFill>
                <a:latin typeface="Arial"/>
              </a:rPr>
              <a:t>How do we sustain this?</a:t>
            </a:r>
          </a:p>
        </p:txBody>
      </p:sp>
      <p:sp>
        <p:nvSpPr>
          <p:cNvPr id="11" name="TextBox 10"/>
          <p:cNvSpPr txBox="1"/>
          <p:nvPr/>
        </p:nvSpPr>
        <p:spPr>
          <a:xfrm>
            <a:off x="658368" y="2587752"/>
            <a:ext cx="2103120" cy="548640"/>
          </a:xfrm>
          <a:prstGeom prst="rect">
            <a:avLst/>
          </a:prstGeom>
          <a:noFill/>
        </p:spPr>
        <p:txBody>
          <a:bodyPr wrap="square">
            <a:spAutoFit/>
          </a:bodyPr>
          <a:lstStyle/>
          <a:p>
            <a:r>
              <a:rPr sz="1300" b="1" i="0">
                <a:solidFill>
                  <a:srgbClr val="006E96"/>
                </a:solidFill>
                <a:latin typeface="Arial"/>
              </a:rPr>
              <a:t>DELIVERABLE</a:t>
            </a:r>
          </a:p>
        </p:txBody>
      </p:sp>
      <p:sp>
        <p:nvSpPr>
          <p:cNvPr id="12" name="TextBox 11"/>
          <p:cNvSpPr txBox="1"/>
          <p:nvPr/>
        </p:nvSpPr>
        <p:spPr>
          <a:xfrm>
            <a:off x="2834640" y="2569464"/>
            <a:ext cx="8595360" cy="1417320"/>
          </a:xfrm>
          <a:prstGeom prst="rect">
            <a:avLst/>
          </a:prstGeom>
          <a:noFill/>
        </p:spPr>
        <p:txBody>
          <a:bodyPr wrap="square">
            <a:spAutoFit/>
          </a:bodyPr>
          <a:lstStyle/>
          <a:p>
            <a:r>
              <a:rPr sz="1800" b="1" i="0">
                <a:solidFill>
                  <a:srgbClr val="1A1A1A"/>
                </a:solidFill>
                <a:latin typeface="Arial"/>
              </a:rPr>
              <a:t>A living, governed EA — repository plus practice. The 2–4 permanent architects keep it alive; the EA Board reviews projects against it.</a:t>
            </a:r>
          </a:p>
        </p:txBody>
      </p:sp>
      <p:sp>
        <p:nvSpPr>
          <p:cNvPr id="13" name="TextBox 12"/>
          <p:cNvSpPr txBox="1"/>
          <p:nvPr/>
        </p:nvSpPr>
        <p:spPr>
          <a:xfrm>
            <a:off x="658368" y="4169664"/>
            <a:ext cx="2103120" cy="548640"/>
          </a:xfrm>
          <a:prstGeom prst="rect">
            <a:avLst/>
          </a:prstGeom>
          <a:noFill/>
        </p:spPr>
        <p:txBody>
          <a:bodyPr wrap="square">
            <a:spAutoFit/>
          </a:bodyPr>
          <a:lstStyle/>
          <a:p>
            <a:r>
              <a:rPr sz="1300" b="1" i="0">
                <a:solidFill>
                  <a:srgbClr val="006E96"/>
                </a:solidFill>
                <a:latin typeface="Arial"/>
              </a:rPr>
              <a:t>CADENCE</a:t>
            </a:r>
          </a:p>
        </p:txBody>
      </p:sp>
      <p:sp>
        <p:nvSpPr>
          <p:cNvPr id="14" name="TextBox 13"/>
          <p:cNvSpPr txBox="1"/>
          <p:nvPr/>
        </p:nvSpPr>
        <p:spPr>
          <a:xfrm>
            <a:off x="2834640" y="4151376"/>
            <a:ext cx="8595360" cy="1325880"/>
          </a:xfrm>
          <a:prstGeom prst="rect">
            <a:avLst/>
          </a:prstGeom>
          <a:noFill/>
        </p:spPr>
        <p:txBody>
          <a:bodyPr wrap="square">
            <a:spAutoFit/>
          </a:bodyPr>
          <a:lstStyle/>
          <a:p>
            <a:r>
              <a:rPr sz="1800" b="1" i="0">
                <a:solidFill>
                  <a:srgbClr val="1A1A1A"/>
                </a:solidFill>
                <a:latin typeface="Arial"/>
              </a:rPr>
              <a:t>Quarterly Board reviews — indefinitely. New projects reviewed against the architecture; cross-ministry decisions approved; domain boundaries enforced.</a:t>
            </a:r>
          </a:p>
        </p:txBody>
      </p:sp>
      <p:sp>
        <p:nvSpPr>
          <p:cNvPr id="15" name="TextBox 14"/>
          <p:cNvSpPr txBox="1"/>
          <p:nvPr/>
        </p:nvSpPr>
        <p:spPr>
          <a:xfrm>
            <a:off x="658368" y="5660136"/>
            <a:ext cx="2103120" cy="548640"/>
          </a:xfrm>
          <a:prstGeom prst="rect">
            <a:avLst/>
          </a:prstGeom>
          <a:noFill/>
        </p:spPr>
        <p:txBody>
          <a:bodyPr wrap="square">
            <a:spAutoFit/>
          </a:bodyPr>
          <a:lstStyle/>
          <a:p>
            <a:r>
              <a:rPr sz="1300" b="1" i="0">
                <a:solidFill>
                  <a:srgbClr val="006E96"/>
                </a:solidFill>
                <a:latin typeface="Arial"/>
              </a:rPr>
              <a:t>DURATION</a:t>
            </a:r>
          </a:p>
        </p:txBody>
      </p:sp>
      <p:sp>
        <p:nvSpPr>
          <p:cNvPr id="16" name="TextBox 15"/>
          <p:cNvSpPr txBox="1"/>
          <p:nvPr/>
        </p:nvSpPr>
        <p:spPr>
          <a:xfrm>
            <a:off x="2834640" y="5641848"/>
            <a:ext cx="8595360" cy="777240"/>
          </a:xfrm>
          <a:prstGeom prst="rect">
            <a:avLst/>
          </a:prstGeom>
          <a:noFill/>
        </p:spPr>
        <p:txBody>
          <a:bodyPr wrap="square">
            <a:spAutoFit/>
          </a:bodyPr>
          <a:lstStyle/>
          <a:p>
            <a:r>
              <a:rPr sz="1800" b="0" i="0">
                <a:solidFill>
                  <a:srgbClr val="1A1A1A"/>
                </a:solidFill>
                <a:latin typeface="Arial"/>
              </a:rPr>
              <a:t>Ongoing — your country’s permanent way of working</a:t>
            </a:r>
          </a:p>
        </p:txBody>
      </p:sp>
      <p:sp>
        <p:nvSpPr>
          <p:cNvPr id="17" name="TextBox 1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1.6 · The lifecycle on one page</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You can skip a phase — and pay for it several times over</a:t>
            </a:r>
          </a:p>
        </p:txBody>
      </p:sp>
      <p:sp>
        <p:nvSpPr>
          <p:cNvPr id="4" name="TextBox 3"/>
          <p:cNvSpPr txBox="1"/>
          <p:nvPr/>
        </p:nvSpPr>
        <p:spPr>
          <a:xfrm>
            <a:off x="822960" y="1737360"/>
            <a:ext cx="10515600" cy="3108960"/>
          </a:xfrm>
          <a:prstGeom prst="rect">
            <a:avLst/>
          </a:prstGeom>
          <a:noFill/>
        </p:spPr>
        <p:txBody>
          <a:bodyPr wrap="square">
            <a:spAutoFit/>
          </a:bodyPr>
          <a:lstStyle/>
          <a:p>
            <a:pPr>
              <a:spcAft>
                <a:spcPts val="1000"/>
              </a:spcAft>
            </a:pPr>
            <a:r>
              <a:rPr sz="2400" b="1" i="0">
                <a:solidFill>
                  <a:srgbClr val="1A1A1A"/>
                </a:solidFill>
                <a:latin typeface="Arial"/>
              </a:rPr>
              <a:t>Discover before you measure.</a:t>
            </a:r>
          </a:p>
          <a:p>
            <a:pPr>
              <a:spcAft>
                <a:spcPts val="1000"/>
              </a:spcAft>
            </a:pPr>
            <a:r>
              <a:rPr sz="2400" b="1" i="0">
                <a:solidFill>
                  <a:srgbClr val="1A1A1A"/>
                </a:solidFill>
                <a:latin typeface="Arial"/>
              </a:rPr>
              <a:t>Measure before you adapt.</a:t>
            </a:r>
          </a:p>
          <a:p>
            <a:pPr>
              <a:spcAft>
                <a:spcPts val="1000"/>
              </a:spcAft>
            </a:pPr>
            <a:r>
              <a:rPr sz="2400" b="1" i="0">
                <a:solidFill>
                  <a:srgbClr val="1A1A1A"/>
                </a:solidFill>
                <a:latin typeface="Arial"/>
              </a:rPr>
              <a:t>Adapt before you plan.</a:t>
            </a:r>
          </a:p>
          <a:p>
            <a:pPr>
              <a:spcAft>
                <a:spcPts val="1000"/>
              </a:spcAft>
            </a:pPr>
            <a:r>
              <a:rPr sz="2400" b="1" i="0">
                <a:solidFill>
                  <a:srgbClr val="1A1A1A"/>
                </a:solidFill>
                <a:latin typeface="Arial"/>
              </a:rPr>
              <a:t>Plan before you execute.</a:t>
            </a:r>
          </a:p>
          <a:p>
            <a:pPr>
              <a:spcAft>
                <a:spcPts val="1000"/>
              </a:spcAft>
            </a:pPr>
            <a:r>
              <a:rPr sz="2400" b="1" i="0">
                <a:solidFill>
                  <a:srgbClr val="006E96"/>
                </a:solidFill>
                <a:latin typeface="Arial"/>
              </a:rPr>
              <a:t>Govern always.</a:t>
            </a:r>
          </a:p>
        </p:txBody>
      </p:sp>
      <p:sp>
        <p:nvSpPr>
          <p:cNvPr id="5" name="TextBox 4"/>
          <p:cNvSpPr txBox="1"/>
          <p:nvPr/>
        </p:nvSpPr>
        <p:spPr>
          <a:xfrm>
            <a:off x="822960" y="5120640"/>
            <a:ext cx="10515600" cy="822960"/>
          </a:xfrm>
          <a:prstGeom prst="rect">
            <a:avLst/>
          </a:prstGeom>
          <a:noFill/>
        </p:spPr>
        <p:txBody>
          <a:bodyPr wrap="square">
            <a:spAutoFit/>
          </a:bodyPr>
          <a:lstStyle/>
          <a:p>
            <a:r>
              <a:rPr sz="1700" b="0" i="1">
                <a:solidFill>
                  <a:srgbClr val="595959"/>
                </a:solidFill>
                <a:latin typeface="Arial"/>
              </a:rPr>
              <a:t>Skipping usually costs several times what it appeared to save.</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1.6 · The lifecycle on one page</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Week 1 to week 26 — then forever</a:t>
            </a:r>
          </a:p>
        </p:txBody>
      </p:sp>
      <p:sp>
        <p:nvSpPr>
          <p:cNvPr id="4" name="Rectangle 3"/>
          <p:cNvSpPr/>
          <p:nvPr/>
        </p:nvSpPr>
        <p:spPr>
          <a:xfrm>
            <a:off x="822960" y="3017520"/>
            <a:ext cx="10515600" cy="31750"/>
          </a:xfrm>
          <a:prstGeom prst="rect">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88720" y="2852928"/>
            <a:ext cx="365760" cy="365760"/>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2011680"/>
            <a:ext cx="2286000" cy="548640"/>
          </a:xfrm>
          <a:prstGeom prst="rect">
            <a:avLst/>
          </a:prstGeom>
          <a:noFill/>
        </p:spPr>
        <p:txBody>
          <a:bodyPr wrap="square">
            <a:spAutoFit/>
          </a:bodyPr>
          <a:lstStyle/>
          <a:p>
            <a:pPr algn="ctr"/>
            <a:r>
              <a:rPr sz="1800" b="1" i="0">
                <a:solidFill>
                  <a:srgbClr val="1A1A1A"/>
                </a:solidFill>
                <a:latin typeface="Arial"/>
              </a:rPr>
              <a:t>Week 1</a:t>
            </a:r>
          </a:p>
        </p:txBody>
      </p:sp>
      <p:sp>
        <p:nvSpPr>
          <p:cNvPr id="7" name="TextBox 6"/>
          <p:cNvSpPr txBox="1"/>
          <p:nvPr/>
        </p:nvSpPr>
        <p:spPr>
          <a:xfrm>
            <a:off x="45720" y="3474720"/>
            <a:ext cx="2743200" cy="914400"/>
          </a:xfrm>
          <a:prstGeom prst="rect">
            <a:avLst/>
          </a:prstGeom>
          <a:noFill/>
        </p:spPr>
        <p:txBody>
          <a:bodyPr wrap="square">
            <a:spAutoFit/>
          </a:bodyPr>
          <a:lstStyle/>
          <a:p>
            <a:pPr algn="ctr"/>
            <a:r>
              <a:rPr sz="1400" b="0" i="0">
                <a:solidFill>
                  <a:srgbClr val="595959"/>
                </a:solidFill>
                <a:latin typeface="Arial"/>
              </a:rPr>
              <a:t>Discovery begins</a:t>
            </a:r>
          </a:p>
        </p:txBody>
      </p:sp>
      <p:sp>
        <p:nvSpPr>
          <p:cNvPr id="8" name="Oval 7"/>
          <p:cNvSpPr/>
          <p:nvPr/>
        </p:nvSpPr>
        <p:spPr>
          <a:xfrm>
            <a:off x="5486400" y="2852928"/>
            <a:ext cx="365760" cy="365760"/>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2011680"/>
            <a:ext cx="2286000" cy="548640"/>
          </a:xfrm>
          <a:prstGeom prst="rect">
            <a:avLst/>
          </a:prstGeom>
          <a:noFill/>
        </p:spPr>
        <p:txBody>
          <a:bodyPr wrap="square">
            <a:spAutoFit/>
          </a:bodyPr>
          <a:lstStyle/>
          <a:p>
            <a:pPr algn="ctr"/>
            <a:r>
              <a:rPr sz="1800" b="1" i="0">
                <a:solidFill>
                  <a:srgbClr val="1A1A1A"/>
                </a:solidFill>
                <a:latin typeface="Arial"/>
              </a:rPr>
              <a:t>Week 26</a:t>
            </a:r>
          </a:p>
        </p:txBody>
      </p:sp>
      <p:sp>
        <p:nvSpPr>
          <p:cNvPr id="10" name="TextBox 9"/>
          <p:cNvSpPr txBox="1"/>
          <p:nvPr/>
        </p:nvSpPr>
        <p:spPr>
          <a:xfrm>
            <a:off x="4343400" y="3474720"/>
            <a:ext cx="2743200" cy="914400"/>
          </a:xfrm>
          <a:prstGeom prst="rect">
            <a:avLst/>
          </a:prstGeom>
          <a:noFill/>
        </p:spPr>
        <p:txBody>
          <a:bodyPr wrap="square">
            <a:spAutoFit/>
          </a:bodyPr>
          <a:lstStyle/>
          <a:p>
            <a:pPr algn="ctr"/>
            <a:r>
              <a:rPr sz="1400" b="0" i="0">
                <a:solidFill>
                  <a:srgbClr val="595959"/>
                </a:solidFill>
                <a:latin typeface="Arial"/>
              </a:rPr>
              <a:t>Approved roadmap — to cabinet</a:t>
            </a:r>
          </a:p>
        </p:txBody>
      </p:sp>
      <p:sp>
        <p:nvSpPr>
          <p:cNvPr id="11" name="Oval 10"/>
          <p:cNvSpPr/>
          <p:nvPr/>
        </p:nvSpPr>
        <p:spPr>
          <a:xfrm>
            <a:off x="9692640" y="2852928"/>
            <a:ext cx="365760" cy="365760"/>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78240" y="2011680"/>
            <a:ext cx="2286000" cy="548640"/>
          </a:xfrm>
          <a:prstGeom prst="rect">
            <a:avLst/>
          </a:prstGeom>
          <a:noFill/>
        </p:spPr>
        <p:txBody>
          <a:bodyPr wrap="square">
            <a:spAutoFit/>
          </a:bodyPr>
          <a:lstStyle/>
          <a:p>
            <a:pPr algn="ctr"/>
            <a:r>
              <a:rPr sz="1800" b="1" i="0">
                <a:solidFill>
                  <a:srgbClr val="1A1A1A"/>
                </a:solidFill>
                <a:latin typeface="Arial"/>
              </a:rPr>
              <a:t>Ongoing</a:t>
            </a:r>
          </a:p>
        </p:txBody>
      </p:sp>
      <p:sp>
        <p:nvSpPr>
          <p:cNvPr id="13" name="TextBox 12"/>
          <p:cNvSpPr txBox="1"/>
          <p:nvPr/>
        </p:nvSpPr>
        <p:spPr>
          <a:xfrm>
            <a:off x="8549640" y="3474720"/>
            <a:ext cx="2743200" cy="914400"/>
          </a:xfrm>
          <a:prstGeom prst="rect">
            <a:avLst/>
          </a:prstGeom>
          <a:noFill/>
        </p:spPr>
        <p:txBody>
          <a:bodyPr wrap="square">
            <a:spAutoFit/>
          </a:bodyPr>
          <a:lstStyle/>
          <a:p>
            <a:pPr algn="ctr"/>
            <a:r>
              <a:rPr sz="1400" b="0" i="0">
                <a:solidFill>
                  <a:srgbClr val="595959"/>
                </a:solidFill>
                <a:latin typeface="Arial"/>
              </a:rPr>
              <a:t>Governed EA — permanent practice</a:t>
            </a:r>
          </a:p>
        </p:txBody>
      </p:sp>
      <p:sp>
        <p:nvSpPr>
          <p:cNvPr id="14" name="TextBox 13"/>
          <p:cNvSpPr txBox="1"/>
          <p:nvPr/>
        </p:nvSpPr>
        <p:spPr>
          <a:xfrm>
            <a:off x="822960" y="4846320"/>
            <a:ext cx="10515600" cy="1188720"/>
          </a:xfrm>
          <a:prstGeom prst="rect">
            <a:avLst/>
          </a:prstGeom>
          <a:noFill/>
        </p:spPr>
        <p:txBody>
          <a:bodyPr wrap="square">
            <a:spAutoFit/>
          </a:bodyPr>
          <a:lstStyle/>
          <a:p>
            <a:r>
              <a:rPr sz="1700" b="0" i="0">
                <a:solidFill>
                  <a:srgbClr val="1A1A1A"/>
                </a:solidFill>
                <a:latin typeface="Arial"/>
              </a:rPr>
              <a:t>“Months, not years” is not a slogan. It is the consequence of five phases, each with a clear question, a clear deliverable, and a clear sign-off.</a:t>
            </a:r>
          </a:p>
        </p:txBody>
      </p:sp>
      <p:sp>
        <p:nvSpPr>
          <p:cNvPr id="15" name="TextBox 1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1.6 · The lifecycle on one page</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§3.1.3 Readiness Assessment</a:t>
            </a:r>
          </a:p>
          <a:p>
            <a:pPr>
              <a:spcAft>
                <a:spcPts val="1200"/>
              </a:spcAft>
            </a:pPr>
            <a:r>
              <a:rPr sz="1700" b="0" i="0">
                <a:solidFill>
                  <a:srgbClr val="1A1A1A"/>
                </a:solidFill>
                <a:latin typeface="Arial"/>
              </a:rPr>
              <a:t>•  PAERA v1.0 — §5.4 Organisational Assessment &amp; Roadmap</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1.6 · The lifecycle on one page</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