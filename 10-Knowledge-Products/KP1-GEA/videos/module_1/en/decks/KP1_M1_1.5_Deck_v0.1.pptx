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23" r:id="rId45"/>
    <p:sldId id="2724" r:id="rId17"/>
    <p:sldId id="2725" r:id="rId16"/>
    <p:sldId id="2726" r:id="rId15"/>
    <p:sldId id="2727" r:id="rId14"/>
    <p:sldId id="2728" r:id="rId13"/>
    <p:sldId id="272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1.5. Content slides are identical to the corresponding section of the combined deck KP1_M1_Deck_v0.1.pptx;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An Enterprise Architecture is the agreed picture of your government. The next question is: which framework do you use to draw that picture? You have two paths.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 length is the visual: the long grey bar is the time you spend before architecture work starts; the short blue bar is PAERA. Do not label the top bar pejoratively — the lengths do the work.</a:t>
            </a:r>
          </a:p>
          <a:p/>
          <a:p>
            <a:r>
              <a:t>VO: The first path: hire consultants to design an EA framework specifically for your country. A new way of organising ministries. A new set of terms. A new set of principles. A new method. This takes twelve to eighteen months, before any architect has drawn a single picture of any ministry. You have paid for groundwork, not for architecture.</a:t>
            </a:r>
          </a:p>
          <a:p/>
          <a:p>
            <a:r>
              <a:t>The second path: anchor on a framework that already exists... PAERA is that framework — the Public Administration Ecosystem Reference Architecture, published in 2024 under GovStack.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reveal one at a time. This is the substantive payload of video 1.5.</a:t>
            </a:r>
          </a:p>
          <a:p/>
          <a:p>
            <a:r>
              <a:t>VO: Five things PAERA gives your team on day one. Five things you do not pay to invent. First, a way to organise ministries and authorities... Second, plain words for the basic terms... Third, a library of common building blocks... Fourth, a set of architectural principles — ten of them... Fifth, a way to run the work. We walk the lifecycle in the next video.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works across sectors. The same framework applies to education, to health, to social protection, to agriculture. Once your country builds the EA muscle for one sector, every next sector reuses the same investment. The framework does not get re-bought, re-trained, re-customised. The second sector is cheaper than the first. The third is cheaper still.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factual, not promotional — these are real assets a country gets access to, not buzzwords.</a:t>
            </a:r>
          </a:p>
          <a:p/>
          <a:p>
            <a:r>
              <a:t>VO: PAERA is not a standalone document. It connects to a working network — building block specifications, a marketplace of vendor-built implementations that have been checked for compliance, a certification programme, a sandbox you can test in, a shared knowledge base. Adopting PAERA means joining a network of countries and partners actively building these resources together.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make the case for PAERA to your minister, this is the case. It is not a vendor choice. It is the choice to start with the work other countries have already done — so your team can spend their time on what is specific to your country. That is the head start. That is what your minister is being asked to commit to.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1.5 — Why PAERA-anchored</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1.5</a:t>
            </a:r>
          </a:p>
          <a:p>
            <a:r>
              <a:rPr sz="1200" b="0" i="1">
                <a:solidFill>
                  <a:srgbClr val="595959"/>
                </a:solidFill>
                <a:latin typeface="Arial"/>
              </a:rPr>
              <a:t>PAERA gives your team five years of head start. Adopt it, and the architecture work begins on day one. Do not adopt it, and your first year is spent inventing what others have already published.</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~4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PAERA-anchored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PAERA gives your team five years of head start. Adopt it, and the architecture work begins on day one. Do not adopt it, and your first year is spent inventing what others have already published.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paths — one costs you a year before work begins</a:t>
            </a:r>
          </a:p>
        </p:txBody>
      </p:sp>
      <p:sp>
        <p:nvSpPr>
          <p:cNvPr id="4" name="Rounded Rectangle 3"/>
          <p:cNvSpPr/>
          <p:nvPr/>
        </p:nvSpPr>
        <p:spPr>
          <a:xfrm>
            <a:off x="658368" y="1920240"/>
            <a:ext cx="10881360" cy="137160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66544"/>
            <a:ext cx="10369296" cy="1097280"/>
          </a:xfrm>
          <a:prstGeom prst="rect">
            <a:avLst/>
          </a:prstGeom>
          <a:noFill/>
        </p:spPr>
        <p:txBody>
          <a:bodyPr wrap="square">
            <a:spAutoFit/>
          </a:bodyPr>
          <a:lstStyle/>
          <a:p>
            <a:pPr>
              <a:spcAft>
                <a:spcPts val="700"/>
              </a:spcAft>
            </a:pPr>
            <a:r>
              <a:rPr sz="1800" b="1" i="0">
                <a:solidFill>
                  <a:srgbClr val="1A1A1A"/>
                </a:solidFill>
                <a:latin typeface="Arial"/>
              </a:rPr>
              <a:t>Design your own framework</a:t>
            </a:r>
          </a:p>
          <a:p>
            <a:pPr>
              <a:spcAft>
                <a:spcPts val="700"/>
              </a:spcAft>
            </a:pPr>
            <a:r>
              <a:rPr sz="1500" b="0" i="0">
                <a:solidFill>
                  <a:srgbClr val="595959"/>
                </a:solidFill>
                <a:latin typeface="Arial"/>
              </a:rPr>
              <a:t>12 to 18 months of consultants and groundwork before any architect draws a single picture of any ministry</a:t>
            </a:r>
          </a:p>
        </p:txBody>
      </p:sp>
      <p:sp>
        <p:nvSpPr>
          <p:cNvPr id="6" name="Rounded Rectangle 5"/>
          <p:cNvSpPr/>
          <p:nvPr/>
        </p:nvSpPr>
        <p:spPr>
          <a:xfrm>
            <a:off x="658368" y="3749039"/>
            <a:ext cx="3291840" cy="137160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895344"/>
            <a:ext cx="2779776" cy="1097280"/>
          </a:xfrm>
          <a:prstGeom prst="rect">
            <a:avLst/>
          </a:prstGeom>
          <a:noFill/>
        </p:spPr>
        <p:txBody>
          <a:bodyPr wrap="square">
            <a:spAutoFit/>
          </a:bodyPr>
          <a:lstStyle/>
          <a:p>
            <a:pPr>
              <a:spcAft>
                <a:spcPts val="700"/>
              </a:spcAft>
            </a:pPr>
            <a:r>
              <a:rPr sz="1800" b="1" i="0">
                <a:solidFill>
                  <a:srgbClr val="FFFFFF"/>
                </a:solidFill>
                <a:latin typeface="Arial"/>
              </a:rPr>
              <a:t>Anchor on PAERA</a:t>
            </a:r>
          </a:p>
          <a:p>
            <a:pPr>
              <a:spcAft>
                <a:spcPts val="700"/>
              </a:spcAft>
            </a:pPr>
            <a:r>
              <a:rPr sz="1500" b="0" i="0">
                <a:solidFill>
                  <a:srgbClr val="FFFFFF"/>
                </a:solidFill>
                <a:latin typeface="Arial"/>
              </a:rPr>
              <a:t>work begins on day one</a:t>
            </a:r>
          </a:p>
        </p:txBody>
      </p:sp>
      <p:sp>
        <p:nvSpPr>
          <p:cNvPr id="8" name="TextBox 7"/>
          <p:cNvSpPr txBox="1"/>
          <p:nvPr/>
        </p:nvSpPr>
        <p:spPr>
          <a:xfrm>
            <a:off x="4206240" y="3977639"/>
            <a:ext cx="7315200" cy="1188720"/>
          </a:xfrm>
          <a:prstGeom prst="rect">
            <a:avLst/>
          </a:prstGeom>
          <a:noFill/>
        </p:spPr>
        <p:txBody>
          <a:bodyPr wrap="square">
            <a:spAutoFit/>
          </a:bodyPr>
          <a:lstStyle/>
          <a:p>
            <a:r>
              <a:rPr sz="1500" b="0" i="0">
                <a:solidFill>
                  <a:srgbClr val="595959"/>
                </a:solidFill>
                <a:latin typeface="Arial"/>
              </a:rPr>
              <a:t>The Public Administration Ecosystem Reference Architecture — published 2024 under GovStack, built for the public-sector use case, with the groundwork already done.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things you do not pay to invent</a:t>
            </a:r>
          </a:p>
        </p:txBody>
      </p:sp>
      <p:sp>
        <p:nvSpPr>
          <p:cNvPr id="4" name="Oval 3"/>
          <p:cNvSpPr/>
          <p:nvPr/>
        </p:nvSpPr>
        <p:spPr>
          <a:xfrm>
            <a:off x="621792" y="1417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371600"/>
            <a:ext cx="10527487" cy="950976"/>
          </a:xfrm>
          <a:prstGeom prst="rect">
            <a:avLst/>
          </a:prstGeom>
          <a:noFill/>
        </p:spPr>
        <p:txBody>
          <a:bodyPr wrap="square">
            <a:spAutoFit/>
          </a:bodyPr>
          <a:lstStyle/>
          <a:p>
            <a:pPr>
              <a:spcAft>
                <a:spcPts val="300"/>
              </a:spcAft>
            </a:pPr>
            <a:r>
              <a:rPr sz="1750" b="1" i="0">
                <a:solidFill>
                  <a:srgbClr val="1A1A1A"/>
                </a:solidFill>
                <a:latin typeface="Arial"/>
              </a:rPr>
              <a:t>A way to organise ministries and authorities</a:t>
            </a:r>
          </a:p>
          <a:p>
            <a:pPr>
              <a:spcAft>
                <a:spcPts val="300"/>
              </a:spcAft>
            </a:pPr>
            <a:r>
              <a:rPr sz="1350" b="0" i="0">
                <a:solidFill>
                  <a:srgbClr val="595959"/>
                </a:solidFill>
                <a:latin typeface="Arial"/>
              </a:rPr>
              <a:t>Every body is a policy unit, a regulatory agency or a service-delivery authority — the classification is published, not argued over for three months.</a:t>
            </a:r>
          </a:p>
        </p:txBody>
      </p:sp>
      <p:sp>
        <p:nvSpPr>
          <p:cNvPr id="6" name="Rectangle 5"/>
          <p:cNvSpPr/>
          <p:nvPr/>
        </p:nvSpPr>
        <p:spPr>
          <a:xfrm>
            <a:off x="621792" y="23271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1401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68296"/>
            <a:ext cx="10527487" cy="950976"/>
          </a:xfrm>
          <a:prstGeom prst="rect">
            <a:avLst/>
          </a:prstGeom>
          <a:noFill/>
        </p:spPr>
        <p:txBody>
          <a:bodyPr wrap="square">
            <a:spAutoFit/>
          </a:bodyPr>
          <a:lstStyle/>
          <a:p>
            <a:pPr>
              <a:spcAft>
                <a:spcPts val="300"/>
              </a:spcAft>
            </a:pPr>
            <a:r>
              <a:rPr sz="1750" b="1" i="0">
                <a:solidFill>
                  <a:srgbClr val="1A1A1A"/>
                </a:solidFill>
                <a:latin typeface="Arial"/>
              </a:rPr>
              <a:t>Plain words for the basic terms</a:t>
            </a:r>
          </a:p>
          <a:p>
            <a:pPr>
              <a:spcAft>
                <a:spcPts val="300"/>
              </a:spcAft>
            </a:pPr>
            <a:r>
              <a:rPr sz="1350" b="0" i="0">
                <a:solidFill>
                  <a:srgbClr val="595959"/>
                </a:solidFill>
                <a:latin typeface="Arial"/>
              </a:rPr>
              <a:t>Capability. Service. Application. Data domain. Defined on day one.</a:t>
            </a:r>
          </a:p>
        </p:txBody>
      </p:sp>
      <p:sp>
        <p:nvSpPr>
          <p:cNvPr id="9" name="Rectangle 8"/>
          <p:cNvSpPr/>
          <p:nvPr/>
        </p:nvSpPr>
        <p:spPr>
          <a:xfrm>
            <a:off x="621792" y="33238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41071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64992"/>
            <a:ext cx="10527487" cy="950976"/>
          </a:xfrm>
          <a:prstGeom prst="rect">
            <a:avLst/>
          </a:prstGeom>
          <a:noFill/>
        </p:spPr>
        <p:txBody>
          <a:bodyPr wrap="square">
            <a:spAutoFit/>
          </a:bodyPr>
          <a:lstStyle/>
          <a:p>
            <a:pPr>
              <a:spcAft>
                <a:spcPts val="300"/>
              </a:spcAft>
            </a:pPr>
            <a:r>
              <a:rPr sz="1750" b="1" i="0">
                <a:solidFill>
                  <a:srgbClr val="1A1A1A"/>
                </a:solidFill>
                <a:latin typeface="Arial"/>
              </a:rPr>
              <a:t>A library of common building blocks</a:t>
            </a:r>
          </a:p>
          <a:p>
            <a:pPr>
              <a:spcAft>
                <a:spcPts val="300"/>
              </a:spcAft>
            </a:pPr>
            <a:r>
              <a:rPr sz="1350" b="0" i="0">
                <a:solidFill>
                  <a:srgbClr val="595959"/>
                </a:solidFill>
                <a:latin typeface="Arial"/>
              </a:rPr>
              <a:t>Identity, payments, information sharing, registries — published specifications with working examples.</a:t>
            </a:r>
          </a:p>
        </p:txBody>
      </p:sp>
      <p:sp>
        <p:nvSpPr>
          <p:cNvPr id="12" name="Rectangle 11"/>
          <p:cNvSpPr/>
          <p:nvPr/>
        </p:nvSpPr>
        <p:spPr>
          <a:xfrm>
            <a:off x="621792" y="43205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40740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361688"/>
            <a:ext cx="10527487" cy="950976"/>
          </a:xfrm>
          <a:prstGeom prst="rect">
            <a:avLst/>
          </a:prstGeom>
          <a:noFill/>
        </p:spPr>
        <p:txBody>
          <a:bodyPr wrap="square">
            <a:spAutoFit/>
          </a:bodyPr>
          <a:lstStyle/>
          <a:p>
            <a:pPr>
              <a:spcAft>
                <a:spcPts val="300"/>
              </a:spcAft>
            </a:pPr>
            <a:r>
              <a:rPr sz="1750" b="1" i="0">
                <a:solidFill>
                  <a:srgbClr val="1A1A1A"/>
                </a:solidFill>
                <a:latin typeface="Arial"/>
              </a:rPr>
              <a:t>Ten architectural principles</a:t>
            </a:r>
          </a:p>
          <a:p>
            <a:pPr>
              <a:spcAft>
                <a:spcPts val="300"/>
              </a:spcAft>
            </a:pPr>
            <a:r>
              <a:rPr sz="1350" b="0" i="0">
                <a:solidFill>
                  <a:srgbClr val="595959"/>
                </a:solidFill>
                <a:latin typeface="Arial"/>
              </a:rPr>
              <a:t>From rule of law to user-centred design — already debated across many countries. You extend them; you do not draft them.</a:t>
            </a:r>
          </a:p>
        </p:txBody>
      </p:sp>
      <p:sp>
        <p:nvSpPr>
          <p:cNvPr id="15" name="Rectangle 14"/>
          <p:cNvSpPr/>
          <p:nvPr/>
        </p:nvSpPr>
        <p:spPr>
          <a:xfrm>
            <a:off x="621792" y="53172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40410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358384"/>
            <a:ext cx="10527487" cy="950976"/>
          </a:xfrm>
          <a:prstGeom prst="rect">
            <a:avLst/>
          </a:prstGeom>
          <a:noFill/>
        </p:spPr>
        <p:txBody>
          <a:bodyPr wrap="square">
            <a:spAutoFit/>
          </a:bodyPr>
          <a:lstStyle/>
          <a:p>
            <a:pPr>
              <a:spcAft>
                <a:spcPts val="300"/>
              </a:spcAft>
            </a:pPr>
            <a:r>
              <a:rPr sz="1750" b="1" i="0">
                <a:solidFill>
                  <a:srgbClr val="1A1A1A"/>
                </a:solidFill>
                <a:latin typeface="Arial"/>
              </a:rPr>
              <a:t>A way to run the work</a:t>
            </a:r>
          </a:p>
          <a:p>
            <a:pPr>
              <a:spcAft>
                <a:spcPts val="300"/>
              </a:spcAft>
            </a:pPr>
            <a:r>
              <a:rPr sz="1350" b="0" i="0">
                <a:solidFill>
                  <a:srgbClr val="595959"/>
                </a:solidFill>
                <a:latin typeface="Arial"/>
              </a:rPr>
              <a:t>The lifecycle — Discover, Assess, Adapt, Plan, Execute &amp; Govern — with roles, decisions and sign-offs per phase. Next video.</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framework — every sector reuses the investment</a:t>
            </a:r>
          </a:p>
        </p:txBody>
      </p:sp>
      <p:sp>
        <p:nvSpPr>
          <p:cNvPr id="4" name="Rounded Rectangle 3"/>
          <p:cNvSpPr/>
          <p:nvPr/>
        </p:nvSpPr>
        <p:spPr>
          <a:xfrm>
            <a:off x="82296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Education</a:t>
            </a:r>
          </a:p>
        </p:txBody>
      </p:sp>
      <p:sp>
        <p:nvSpPr>
          <p:cNvPr id="5" name="Rounded Rectangle 4"/>
          <p:cNvSpPr/>
          <p:nvPr/>
        </p:nvSpPr>
        <p:spPr>
          <a:xfrm>
            <a:off x="347472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Health</a:t>
            </a:r>
          </a:p>
        </p:txBody>
      </p:sp>
      <p:sp>
        <p:nvSpPr>
          <p:cNvPr id="6" name="Rounded Rectangle 5"/>
          <p:cNvSpPr/>
          <p:nvPr/>
        </p:nvSpPr>
        <p:spPr>
          <a:xfrm>
            <a:off x="612648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Social protection</a:t>
            </a:r>
          </a:p>
        </p:txBody>
      </p:sp>
      <p:sp>
        <p:nvSpPr>
          <p:cNvPr id="7" name="Rounded Rectangle 6"/>
          <p:cNvSpPr/>
          <p:nvPr/>
        </p:nvSpPr>
        <p:spPr>
          <a:xfrm>
            <a:off x="877824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Agriculture</a:t>
            </a:r>
          </a:p>
        </p:txBody>
      </p:sp>
      <p:sp>
        <p:nvSpPr>
          <p:cNvPr id="8" name="Rounded Rectangle 7"/>
          <p:cNvSpPr/>
          <p:nvPr/>
        </p:nvSpPr>
        <p:spPr>
          <a:xfrm>
            <a:off x="822960" y="3200400"/>
            <a:ext cx="10469880" cy="91440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Arial"/>
              </a:rPr>
              <a:t>PAERA — the same framework underneath</a:t>
            </a:r>
          </a:p>
        </p:txBody>
      </p:sp>
      <p:sp>
        <p:nvSpPr>
          <p:cNvPr id="9" name="TextBox 8"/>
          <p:cNvSpPr txBox="1"/>
          <p:nvPr/>
        </p:nvSpPr>
        <p:spPr>
          <a:xfrm>
            <a:off x="822960" y="4572000"/>
            <a:ext cx="10515600" cy="1280160"/>
          </a:xfrm>
          <a:prstGeom prst="rect">
            <a:avLst/>
          </a:prstGeom>
          <a:noFill/>
        </p:spPr>
        <p:txBody>
          <a:bodyPr wrap="square">
            <a:spAutoFit/>
          </a:bodyPr>
          <a:lstStyle/>
          <a:p>
            <a:pPr>
              <a:spcAft>
                <a:spcPts val="800"/>
              </a:spcAft>
            </a:pPr>
            <a:r>
              <a:rPr sz="1800" b="0" i="0">
                <a:solidFill>
                  <a:srgbClr val="1A1A1A"/>
                </a:solidFill>
                <a:latin typeface="Arial"/>
              </a:rPr>
              <a:t>Once your country builds the EA muscle for one sector, every next sector reuses the same investment.</a:t>
            </a:r>
          </a:p>
          <a:p>
            <a:pPr>
              <a:spcAft>
                <a:spcPts val="800"/>
              </a:spcAft>
            </a:pPr>
            <a:r>
              <a:rPr sz="1800" b="1" i="0">
                <a:solidFill>
                  <a:srgbClr val="006E96"/>
                </a:solidFill>
                <a:latin typeface="Arial"/>
              </a:rPr>
              <a:t>The second sector is cheaper than the first. The third is cheaper still.</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PAERA connects your team to a working network</a:t>
            </a:r>
          </a:p>
        </p:txBody>
      </p:sp>
      <p:cxnSp>
        <p:nvCxnSpPr>
          <p:cNvPr id="4" name="Connector 3"/>
          <p:cNvCxnSpPr/>
          <p:nvPr/>
        </p:nvCxnSpPr>
        <p:spPr>
          <a:xfrm>
            <a:off x="2926079" y="2034540"/>
            <a:ext cx="3172969" cy="134874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6099048" y="2034540"/>
            <a:ext cx="2953511" cy="134874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2926079" y="3383280"/>
            <a:ext cx="3172969" cy="162306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6099048" y="3383280"/>
            <a:ext cx="2953511" cy="162306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6099048" y="3383280"/>
            <a:ext cx="27432" cy="244602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2960" y="16002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Building Block specifications</a:t>
            </a:r>
          </a:p>
        </p:txBody>
      </p:sp>
      <p:sp>
        <p:nvSpPr>
          <p:cNvPr id="10" name="Rounded Rectangle 9"/>
          <p:cNvSpPr/>
          <p:nvPr/>
        </p:nvSpPr>
        <p:spPr>
          <a:xfrm>
            <a:off x="6949440" y="16002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GovMarket — compliance-checked implementations</a:t>
            </a:r>
          </a:p>
        </p:txBody>
      </p:sp>
      <p:sp>
        <p:nvSpPr>
          <p:cNvPr id="11" name="Rounded Rectangle 10"/>
          <p:cNvSpPr/>
          <p:nvPr/>
        </p:nvSpPr>
        <p:spPr>
          <a:xfrm>
            <a:off x="822960" y="45720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Certification programme</a:t>
            </a:r>
          </a:p>
        </p:txBody>
      </p:sp>
      <p:sp>
        <p:nvSpPr>
          <p:cNvPr id="12" name="Rounded Rectangle 11"/>
          <p:cNvSpPr/>
          <p:nvPr/>
        </p:nvSpPr>
        <p:spPr>
          <a:xfrm>
            <a:off x="6949440" y="45720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Sandbox for prototyping</a:t>
            </a:r>
          </a:p>
        </p:txBody>
      </p:sp>
      <p:sp>
        <p:nvSpPr>
          <p:cNvPr id="13" name="Rounded Rectangle 12"/>
          <p:cNvSpPr/>
          <p:nvPr/>
        </p:nvSpPr>
        <p:spPr>
          <a:xfrm>
            <a:off x="4023360" y="539496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Shared knowledge base</a:t>
            </a:r>
          </a:p>
        </p:txBody>
      </p:sp>
      <p:sp>
        <p:nvSpPr>
          <p:cNvPr id="14" name="Rounded Rectangle 13"/>
          <p:cNvSpPr/>
          <p:nvPr/>
        </p:nvSpPr>
        <p:spPr>
          <a:xfrm>
            <a:off x="4818888" y="2880360"/>
            <a:ext cx="2560320" cy="10058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Arial"/>
              </a:rPr>
              <a:t>PAERA</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PAERA is not a vendor choice. It is the choice to start with the work other countries have already done.</a:t>
            </a:r>
          </a:p>
        </p:txBody>
      </p:sp>
      <p:sp>
        <p:nvSpPr>
          <p:cNvPr id="3" name="TextBox 2"/>
          <p:cNvSpPr txBox="1"/>
          <p:nvPr/>
        </p:nvSpPr>
        <p:spPr>
          <a:xfrm>
            <a:off x="1005840" y="4663440"/>
            <a:ext cx="10149840" cy="914400"/>
          </a:xfrm>
          <a:prstGeom prst="rect">
            <a:avLst/>
          </a:prstGeom>
          <a:noFill/>
        </p:spPr>
        <p:txBody>
          <a:bodyPr wrap="square">
            <a:spAutoFit/>
          </a:bodyPr>
          <a:lstStyle/>
          <a:p>
            <a:r>
              <a:rPr sz="1600" b="0" i="1">
                <a:solidFill>
                  <a:srgbClr val="595959"/>
                </a:solidFill>
                <a:latin typeface="Arial"/>
              </a:rPr>
              <a:t>So your team spends its time on what is specific to your country.</a:t>
            </a:r>
          </a:p>
        </p:txBody>
      </p:sp>
      <p:sp>
        <p:nvSpPr>
          <p:cNvPr id="4" name="TextBox 3"/>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paera.govstack.global (§1.2 Motivation; §1.3 GovStack Vision)</a:t>
            </a:r>
          </a:p>
          <a:p>
            <a:pPr>
              <a:spcAft>
                <a:spcPts val="1200"/>
              </a:spcAft>
            </a:pPr>
            <a:r>
              <a:rPr sz="1700" b="0" i="0">
                <a:solidFill>
                  <a:srgbClr val="1A1A1A"/>
                </a:solidFill>
                <a:latin typeface="Arial"/>
              </a:rPr>
              <a:t>•  GovStack — govstack.global</a:t>
            </a:r>
          </a:p>
          <a:p>
            <a:pPr>
              <a:spcAft>
                <a:spcPts val="1200"/>
              </a:spcAft>
            </a:pPr>
            <a:r>
              <a:rPr sz="1700" b="0" i="0">
                <a:solidFill>
                  <a:srgbClr val="1A1A1A"/>
                </a:solidFill>
                <a:latin typeface="Arial"/>
              </a:rPr>
              <a:t>•  GovMarket — marketplace of compliance-checked implementations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