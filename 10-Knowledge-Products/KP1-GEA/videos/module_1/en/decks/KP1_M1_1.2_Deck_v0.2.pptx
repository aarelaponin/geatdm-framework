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2" r:id="rId24"/>
    <p:sldId id="2703" r:id="rId25"/>
    <p:sldId id="2704" r:id="rId26"/>
    <p:sldId id="2705" r:id="rId27"/>
    <p:sldId id="2706" r:id="rId28"/>
    <p:sldId id="2707" r:id="rId29"/>
    <p:sldId id="2708" r:id="rId30"/>
    <p:sldId id="270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Enterprise Architecture is a set of documents and diagrams. Together, they describe how your government works. What services it delivers, and to whom. What data it holds, and who owns it. What software supports those services. What infrastructure runs underneath.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bundle folds this comparison onto the video's opening slide; in the deck it keeps its own slide, because the section slide is the standalone video's title card.</a:t>
            </a:r>
          </a:p>
          <a:p/>
          <a:p>
            <a:r>
              <a:t>VO: An EA is not software. It is not a vendor product. It is not a tool you buy. It is the agreed picture.</a:t>
            </a:r>
          </a:p>
          <a:p/>
          <a:p>
            <a:r>
              <a:t>VO: Why does it matter that everyone has the same picture? Because every important conversation in your ministry breaks down on this point.</a:t>
            </a:r>
          </a:p>
          <a:p/>
          <a:p>
            <a:r>
              <a:t>This slide is the Strategist's first line of defence against vendor pitches — when a vendor says 'our product gives you an EA', this is the slide that says no,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minister uses the picture to brief cabinet. They cannot describe what the country's digital spend is buying if there is no agreed picture of what your government's systems are. The donor uses the picture before they fund the next programme. They want to see how their investment fits with the others. The vendor uses the picture when they propose a system. They must match what is already there. And you, the middle manager, use the picture to keep all three aligned — so the donor funds what the country needs, the vendor builds what fits, and the minister tells a coherent story.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build top to bottom, cumulative. Order is deliberate — BDAT with data before applications, reflecting data-first architecture.</a:t>
            </a:r>
          </a:p>
          <a:p/>
          <a:p>
            <a:r>
              <a:t>VO: Every EA looks at your government in four parts. Services — what your government does, and for whom. This is the layer your minister talks about most, because it is the layer the public sees. Data — the information your government holds, who owns it, where the authoritative copy lives. Data is the longest-lived part of any government. Applications come and go. Technology cycles every decade. Data outlasts them all. Applications — the software that uses that data to deliver those services. This is what gets bought, built, integrated, replaced. Technology — the infrastructure underneath. Networks, hosting, identity, security. The basics that must be running for anything else to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write down all four parts, your government's digital landscape stops being a list of unrelated projects. It starts looking like a system. A system you can change deliberately. A system you can plan investments against. A system you can talk about across ministries, with donors and with vendors, without re-explaining the basics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what an Enterprise Architecture is. Not software. Not a tool. The agreed picture of your government — and the tool that lets you, instead of the vendor or the donor, lead the conversation about what comes next.</a:t>
            </a:r>
          </a:p>
          <a:p/>
          <a:p>
            <a:r>
              <a:t>Screenshot-ready summary; Strategists reuse this line in their own briefings.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an EA actually is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is the picture everyone agrees describes your government — minister, ministry CIO, donor, vendor. With it, you can lead the conversation. Without it, others lead it for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Enterprise Architecture is a set of documents and diagrams.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What services your government delivers, and to whom.</a:t>
            </a:r>
          </a:p>
          <a:p>
            <a:pPr>
              <a:spcAft>
                <a:spcPts val="800"/>
              </a:spcAft>
            </a:pPr>
            <a:r>
              <a:rPr sz="1700" b="0" i="0">
                <a:solidFill>
                  <a:srgbClr val="595959"/>
                </a:solidFill>
                <a:latin typeface="Arial"/>
              </a:rPr>
              <a:t>What data it holds, and who owns it.</a:t>
            </a:r>
          </a:p>
          <a:p>
            <a:pPr>
              <a:spcAft>
                <a:spcPts val="800"/>
              </a:spcAft>
            </a:pPr>
            <a:r>
              <a:rPr sz="1700" b="0" i="0">
                <a:solidFill>
                  <a:srgbClr val="595959"/>
                </a:solidFill>
                <a:latin typeface="Arial"/>
              </a:rPr>
              <a:t>What software supports those services. What infrastructure runs underneath.</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is the agreed picture — not software you buy</a:t>
            </a:r>
          </a:p>
        </p:txBody>
      </p:sp>
      <p:sp>
        <p:nvSpPr>
          <p:cNvPr id="4" name="Rounded Rectangle 3"/>
          <p:cNvSpPr/>
          <p:nvPr/>
        </p:nvSpPr>
        <p:spPr>
          <a:xfrm>
            <a:off x="658368" y="1600200"/>
            <a:ext cx="5394960" cy="4297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46504"/>
            <a:ext cx="4992624" cy="4023360"/>
          </a:xfrm>
          <a:prstGeom prst="rect">
            <a:avLst/>
          </a:prstGeom>
          <a:noFill/>
        </p:spPr>
        <p:txBody>
          <a:bodyPr wrap="square">
            <a:spAutoFit/>
          </a:bodyPr>
          <a:lstStyle/>
          <a:p>
            <a:pPr>
              <a:spcAft>
                <a:spcPts val="700"/>
              </a:spcAft>
            </a:pPr>
            <a:r>
              <a:rPr sz="2000" b="1" i="0">
                <a:solidFill>
                  <a:srgbClr val="006E96"/>
                </a:solidFill>
                <a:latin typeface="Arial"/>
              </a:rPr>
              <a:t>An EA is</a:t>
            </a:r>
          </a:p>
          <a:p>
            <a:pPr>
              <a:spcAft>
                <a:spcPts val="700"/>
              </a:spcAft>
            </a:pPr>
            <a:r>
              <a:rPr sz="1700" b="0" i="0">
                <a:solidFill>
                  <a:srgbClr val="1A1A1A"/>
                </a:solidFill>
                <a:latin typeface="Arial"/>
              </a:rPr>
              <a:t>the agreed picture of your government</a:t>
            </a:r>
          </a:p>
          <a:p>
            <a:pPr>
              <a:spcAft>
                <a:spcPts val="700"/>
              </a:spcAft>
            </a:pPr>
            <a:r>
              <a:rPr sz="1700" b="0" i="0">
                <a:solidFill>
                  <a:srgbClr val="1A1A1A"/>
                </a:solidFill>
                <a:latin typeface="Arial"/>
              </a:rPr>
              <a:t>a set of documents and diagrams</a:t>
            </a:r>
          </a:p>
          <a:p>
            <a:pPr>
              <a:spcAft>
                <a:spcPts val="700"/>
              </a:spcAft>
            </a:pPr>
            <a:r>
              <a:rPr sz="1700" b="0" i="0">
                <a:solidFill>
                  <a:srgbClr val="1A1A1A"/>
                </a:solidFill>
                <a:latin typeface="Arial"/>
              </a:rPr>
              <a:t>the same description everyone uses — minister, CIO, donor, vendor</a:t>
            </a:r>
          </a:p>
        </p:txBody>
      </p:sp>
      <p:sp>
        <p:nvSpPr>
          <p:cNvPr id="6" name="Rounded Rectangle 5"/>
          <p:cNvSpPr/>
          <p:nvPr/>
        </p:nvSpPr>
        <p:spPr>
          <a:xfrm>
            <a:off x="6281928" y="1600200"/>
            <a:ext cx="5394960" cy="42976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46504"/>
            <a:ext cx="4992624" cy="4023360"/>
          </a:xfrm>
          <a:prstGeom prst="rect">
            <a:avLst/>
          </a:prstGeom>
          <a:noFill/>
        </p:spPr>
        <p:txBody>
          <a:bodyPr wrap="square">
            <a:spAutoFit/>
          </a:bodyPr>
          <a:lstStyle/>
          <a:p>
            <a:pPr>
              <a:spcAft>
                <a:spcPts val="700"/>
              </a:spcAft>
            </a:pPr>
            <a:r>
              <a:rPr sz="2000" b="1" i="0">
                <a:solidFill>
                  <a:srgbClr val="595959"/>
                </a:solidFill>
                <a:latin typeface="Arial"/>
              </a:rPr>
              <a:t>An EA is not</a:t>
            </a:r>
          </a:p>
          <a:p>
            <a:pPr>
              <a:spcAft>
                <a:spcPts val="700"/>
              </a:spcAft>
            </a:pPr>
            <a:r>
              <a:rPr sz="1700" b="0" i="0">
                <a:solidFill>
                  <a:srgbClr val="1A1A1A"/>
                </a:solidFill>
                <a:latin typeface="Arial"/>
              </a:rPr>
              <a:t>software</a:t>
            </a:r>
          </a:p>
          <a:p>
            <a:pPr>
              <a:spcAft>
                <a:spcPts val="700"/>
              </a:spcAft>
            </a:pPr>
            <a:r>
              <a:rPr sz="1700" b="0" i="0">
                <a:solidFill>
                  <a:srgbClr val="1A1A1A"/>
                </a:solidFill>
                <a:latin typeface="Arial"/>
              </a:rPr>
              <a:t>a vendor product</a:t>
            </a:r>
          </a:p>
          <a:p>
            <a:pPr>
              <a:spcAft>
                <a:spcPts val="700"/>
              </a:spcAft>
            </a:pPr>
            <a:r>
              <a:rPr sz="1700" b="0" i="0">
                <a:solidFill>
                  <a:srgbClr val="1A1A1A"/>
                </a:solidFill>
                <a:latin typeface="Arial"/>
              </a:rPr>
              <a:t>a tool you procure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Minister, donor, vendor — all use the same picture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Your minister — to brief cabinet</a:t>
            </a:r>
          </a:p>
          <a:p>
            <a:pPr>
              <a:spcAft>
                <a:spcPts val="300"/>
              </a:spcAft>
            </a:pPr>
            <a:r>
              <a:rPr sz="1550" b="0" i="0">
                <a:solidFill>
                  <a:srgbClr val="595959"/>
                </a:solidFill>
                <a:latin typeface="Arial"/>
              </a:rPr>
              <a:t>They cannot describe what the country’s digital spend is buying without an agreed picture of what the systems are.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The donor — before funding the next programme</a:t>
            </a:r>
          </a:p>
          <a:p>
            <a:pPr>
              <a:spcAft>
                <a:spcPts val="300"/>
              </a:spcAft>
            </a:pPr>
            <a:r>
              <a:rPr sz="1550" b="0" i="0">
                <a:solidFill>
                  <a:srgbClr val="595959"/>
                </a:solidFill>
                <a:latin typeface="Arial"/>
              </a:rPr>
              <a:t>They want to see how their investment fits with the others.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The vendor — to match what they propose</a:t>
            </a:r>
          </a:p>
          <a:p>
            <a:pPr>
              <a:spcAft>
                <a:spcPts val="300"/>
              </a:spcAft>
            </a:pPr>
            <a:r>
              <a:rPr sz="1550" b="0" i="0">
                <a:solidFill>
                  <a:srgbClr val="595959"/>
                </a:solidFill>
                <a:latin typeface="Arial"/>
              </a:rPr>
              <a:t>What they build must fit what is already there.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You — to keep all three aligned</a:t>
            </a:r>
          </a:p>
          <a:p>
            <a:pPr>
              <a:spcAft>
                <a:spcPts val="300"/>
              </a:spcAft>
            </a:pPr>
            <a:r>
              <a:rPr sz="1550" b="0" i="0">
                <a:solidFill>
                  <a:srgbClr val="595959"/>
                </a:solidFill>
                <a:latin typeface="Arial"/>
              </a:rPr>
              <a:t>So the donor funds what the country needs, the vendor builds what fits, and the minister tells a coherent story.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picture has four parts</a:t>
            </a:r>
          </a:p>
        </p:txBody>
      </p:sp>
      <p:sp>
        <p:nvSpPr>
          <p:cNvPr id="4" name="Rounded Rectangle 3"/>
          <p:cNvSpPr/>
          <p:nvPr/>
        </p:nvSpPr>
        <p:spPr>
          <a:xfrm>
            <a:off x="658368" y="146304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09344"/>
            <a:ext cx="8321040" cy="841247"/>
          </a:xfrm>
          <a:prstGeom prst="rect">
            <a:avLst/>
          </a:prstGeom>
          <a:noFill/>
        </p:spPr>
        <p:txBody>
          <a:bodyPr wrap="square">
            <a:spAutoFit/>
          </a:bodyPr>
          <a:lstStyle/>
          <a:p>
            <a:pPr>
              <a:spcAft>
                <a:spcPts val="700"/>
              </a:spcAft>
            </a:pPr>
            <a:r>
              <a:rPr sz="1800" b="1" i="0">
                <a:solidFill>
                  <a:srgbClr val="1A1A1A"/>
                </a:solidFill>
                <a:latin typeface="Arial"/>
              </a:rPr>
              <a:t>Services</a:t>
            </a:r>
            <a:r>
              <a:rPr sz="1400" b="0" i="0">
                <a:solidFill>
                  <a:srgbClr val="595959"/>
                </a:solidFill>
                <a:latin typeface="Arial"/>
              </a:rPr>
              <a:t>   What your government does, and for whom. The layer your minister talks about — the layer the public sees.</a:t>
            </a:r>
          </a:p>
        </p:txBody>
      </p:sp>
      <p:sp>
        <p:nvSpPr>
          <p:cNvPr id="6" name="Rounded Rectangle 5"/>
          <p:cNvSpPr/>
          <p:nvPr/>
        </p:nvSpPr>
        <p:spPr>
          <a:xfrm>
            <a:off x="658368" y="2651760"/>
            <a:ext cx="8778240" cy="1115568"/>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798064"/>
            <a:ext cx="8321040" cy="841247"/>
          </a:xfrm>
          <a:prstGeom prst="rect">
            <a:avLst/>
          </a:prstGeom>
          <a:noFill/>
        </p:spPr>
        <p:txBody>
          <a:bodyPr wrap="square">
            <a:spAutoFit/>
          </a:bodyPr>
          <a:lstStyle/>
          <a:p>
            <a:pPr>
              <a:spcAft>
                <a:spcPts val="700"/>
              </a:spcAft>
            </a:pPr>
            <a:r>
              <a:rPr sz="1800" b="1" i="0">
                <a:solidFill>
                  <a:srgbClr val="FFFFFF"/>
                </a:solidFill>
                <a:latin typeface="Arial"/>
              </a:rPr>
              <a:t>Data</a:t>
            </a:r>
            <a:r>
              <a:rPr sz="1400" b="0" i="0">
                <a:solidFill>
                  <a:srgbClr val="FFFFFF"/>
                </a:solidFill>
                <a:latin typeface="Arial"/>
              </a:rPr>
              <a:t>   The information your government holds, who owns it, where the authoritative copy lives.</a:t>
            </a:r>
          </a:p>
        </p:txBody>
      </p:sp>
      <p:sp>
        <p:nvSpPr>
          <p:cNvPr id="8" name="Rounded Rectangle 7"/>
          <p:cNvSpPr/>
          <p:nvPr/>
        </p:nvSpPr>
        <p:spPr>
          <a:xfrm>
            <a:off x="658368" y="384048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986784"/>
            <a:ext cx="8321040" cy="841247"/>
          </a:xfrm>
          <a:prstGeom prst="rect">
            <a:avLst/>
          </a:prstGeom>
          <a:noFill/>
        </p:spPr>
        <p:txBody>
          <a:bodyPr wrap="square">
            <a:spAutoFit/>
          </a:bodyPr>
          <a:lstStyle/>
          <a:p>
            <a:pPr>
              <a:spcAft>
                <a:spcPts val="700"/>
              </a:spcAft>
            </a:pPr>
            <a:r>
              <a:rPr sz="1800" b="1" i="0">
                <a:solidFill>
                  <a:srgbClr val="1A1A1A"/>
                </a:solidFill>
                <a:latin typeface="Arial"/>
              </a:rPr>
              <a:t>Applications</a:t>
            </a:r>
            <a:r>
              <a:rPr sz="1400" b="0" i="0">
                <a:solidFill>
                  <a:srgbClr val="595959"/>
                </a:solidFill>
                <a:latin typeface="Arial"/>
              </a:rPr>
              <a:t>   The software that uses the data to deliver the services. What gets bought, built, integrated, replaced.</a:t>
            </a:r>
          </a:p>
        </p:txBody>
      </p:sp>
      <p:sp>
        <p:nvSpPr>
          <p:cNvPr id="10" name="Rounded Rectangle 9"/>
          <p:cNvSpPr/>
          <p:nvPr/>
        </p:nvSpPr>
        <p:spPr>
          <a:xfrm>
            <a:off x="658368" y="502920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5175504"/>
            <a:ext cx="8321040" cy="841247"/>
          </a:xfrm>
          <a:prstGeom prst="rect">
            <a:avLst/>
          </a:prstGeom>
          <a:noFill/>
        </p:spPr>
        <p:txBody>
          <a:bodyPr wrap="square">
            <a:spAutoFit/>
          </a:bodyPr>
          <a:lstStyle/>
          <a:p>
            <a:pPr>
              <a:spcAft>
                <a:spcPts val="700"/>
              </a:spcAft>
            </a:pPr>
            <a:r>
              <a:rPr sz="1800" b="1" i="0">
                <a:solidFill>
                  <a:srgbClr val="1A1A1A"/>
                </a:solidFill>
                <a:latin typeface="Arial"/>
              </a:rPr>
              <a:t>Technology</a:t>
            </a:r>
            <a:r>
              <a:rPr sz="1400" b="0" i="0">
                <a:solidFill>
                  <a:srgbClr val="595959"/>
                </a:solidFill>
                <a:latin typeface="Arial"/>
              </a:rPr>
              <a:t>   The infrastructure underneath — networks, hosting, identity, security.</a:t>
            </a:r>
          </a:p>
        </p:txBody>
      </p:sp>
      <p:sp>
        <p:nvSpPr>
          <p:cNvPr id="12" name="TextBox 11"/>
          <p:cNvSpPr txBox="1"/>
          <p:nvPr/>
        </p:nvSpPr>
        <p:spPr>
          <a:xfrm>
            <a:off x="9646920" y="2331720"/>
            <a:ext cx="2103120" cy="2011680"/>
          </a:xfrm>
          <a:prstGeom prst="rect">
            <a:avLst/>
          </a:prstGeom>
          <a:noFill/>
        </p:spPr>
        <p:txBody>
          <a:bodyPr wrap="square">
            <a:spAutoFit/>
          </a:bodyPr>
          <a:lstStyle/>
          <a:p>
            <a:pPr>
              <a:spcAft>
                <a:spcPts val="800"/>
              </a:spcAft>
            </a:pPr>
            <a:r>
              <a:rPr sz="1300" b="0" i="1">
                <a:solidFill>
                  <a:srgbClr val="595959"/>
                </a:solidFill>
                <a:latin typeface="Arial"/>
              </a:rPr>
              <a:t>Applications come and go. Technology cycles every decade.</a:t>
            </a:r>
          </a:p>
          <a:p>
            <a:pPr>
              <a:spcAft>
                <a:spcPts val="800"/>
              </a:spcAft>
            </a:pPr>
            <a:r>
              <a:rPr sz="1500" b="1" i="0">
                <a:solidFill>
                  <a:srgbClr val="006E96"/>
                </a:solidFill>
                <a:latin typeface="Arial"/>
              </a:rPr>
              <a:t>Data outlasts them all.</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Written down, a list of projects becomes a system</a:t>
            </a:r>
          </a:p>
        </p:txBody>
      </p:sp>
      <p:sp>
        <p:nvSpPr>
          <p:cNvPr id="4" name="TextBox 3"/>
          <p:cNvSpPr txBox="1"/>
          <p:nvPr/>
        </p:nvSpPr>
        <p:spPr>
          <a:xfrm>
            <a:off x="658368" y="1737360"/>
            <a:ext cx="10789920" cy="4114800"/>
          </a:xfrm>
          <a:prstGeom prst="rect">
            <a:avLst/>
          </a:prstGeom>
          <a:noFill/>
        </p:spPr>
        <p:txBody>
          <a:bodyPr wrap="square">
            <a:spAutoFit/>
          </a:bodyPr>
          <a:lstStyle/>
          <a:p>
            <a:pPr>
              <a:spcAft>
                <a:spcPts val="1400"/>
              </a:spcAft>
            </a:pPr>
            <a:r>
              <a:rPr sz="2200" b="0" i="0">
                <a:solidFill>
                  <a:srgbClr val="1A1A1A"/>
                </a:solidFill>
                <a:latin typeface="Arial"/>
              </a:rPr>
              <a:t>When you write down all four parts, your digital landscape stops being a list of unrelated projects. It starts looking like a system —</a:t>
            </a:r>
          </a:p>
          <a:p>
            <a:pPr>
              <a:spcAft>
                <a:spcPts val="1400"/>
              </a:spcAft>
            </a:pPr>
            <a:r>
              <a:rPr sz="2200" b="0" i="0">
                <a:solidFill>
                  <a:srgbClr val="1A1A1A"/>
                </a:solidFill>
                <a:latin typeface="Arial"/>
              </a:rPr>
              <a:t>a system you can change deliberately,</a:t>
            </a:r>
          </a:p>
          <a:p>
            <a:pPr>
              <a:spcAft>
                <a:spcPts val="1400"/>
              </a:spcAft>
            </a:pPr>
            <a:r>
              <a:rPr sz="2200" b="0" i="0">
                <a:solidFill>
                  <a:srgbClr val="1A1A1A"/>
                </a:solidFill>
                <a:latin typeface="Arial"/>
              </a:rPr>
              <a:t>a system you can plan investments against,</a:t>
            </a:r>
          </a:p>
          <a:p>
            <a:pPr>
              <a:spcAft>
                <a:spcPts val="1400"/>
              </a:spcAft>
            </a:pPr>
            <a:r>
              <a:rPr sz="2200" b="0" i="0">
                <a:solidFill>
                  <a:srgbClr val="1A1A1A"/>
                </a:solidFill>
                <a:latin typeface="Arial"/>
              </a:rPr>
              <a:t>a system you can talk about across ministries, with donors and vendors, without re-explaining the basics every time.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is the agreed picture of your government — and the tool that lets you lead the conversation about what comes next.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a one-slide 'what is EA' explainer for ministers.</a:t>
            </a:r>
          </a:p>
          <a:p>
            <a:pPr algn="l">
              <a:spcAft>
                <a:spcPts val="400"/>
              </a:spcAft>
            </a:pPr>
            <a:r>
              <a:rPr sz="1800" b="0" i="0">
                <a:solidFill>
                  <a:srgbClr val="595959"/>
                </a:solidFill>
                <a:latin typeface="Arial"/>
              </a:rPr>
              <a:t>The prompt in the companion material gives you a one-slide structure ready to paste into the country's slide template.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TOGAF — BDAT layering reference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