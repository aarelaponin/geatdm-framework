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1" r:id="rId63"/>
    <p:sldId id="2742" r:id="rId64"/>
    <p:sldId id="2743" r:id="rId65"/>
    <p:sldId id="2744" r:id="rId66"/>
    <p:sldId id="2745" r:id="rId67"/>
    <p:sldId id="2746" r:id="rId68"/>
    <p:sldId id="2747" r:id="rId69"/>
    <p:sldId id="2748"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63" Type="http://schemas.openxmlformats.org/officeDocument/2006/relationships/slide" Target="slides/slide48.xml"/><Relationship Id="rId64" Type="http://schemas.openxmlformats.org/officeDocument/2006/relationships/slide" Target="slides/slide49.xml"/><Relationship Id="rId65" Type="http://schemas.openxmlformats.org/officeDocument/2006/relationships/slide" Target="slides/slide50.xml"/><Relationship Id="rId66" Type="http://schemas.openxmlformats.org/officeDocument/2006/relationships/slide" Target="slides/slide51.xml"/><Relationship Id="rId67" Type="http://schemas.openxmlformats.org/officeDocument/2006/relationships/slide" Target="slides/slide52.xml"/><Relationship Id="rId68" Type="http://schemas.openxmlformats.org/officeDocument/2006/relationships/slide" Target="slides/slide53.xml"/><Relationship Id="rId69" Type="http://schemas.openxmlformats.org/officeDocument/2006/relationships/slide" Target="slides/slide54.xml"/><Relationship Id="rId70" Type="http://schemas.openxmlformats.org/officeDocument/2006/relationships/slide" Target="slides/slide5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1.7. Content slides are identical to the corresponding section of the combined deck KP1_M1_Deck_v0.1.pptx;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Suppose you have made the case. Your minister is convinced an EA is the right work. Now the harder part: agreeing the four specific things the minister must commit to. Each one is necessary. Without any one of them, the EA programme will struggle to deliver what it could.</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First ask. A small permanent EA team. Two to four senior architects. Permanent. Reporting to your CDO or its equivalent. Not project consultants who arrive and leave. Not a temporary unit. The institutional home of architecture work in your country. Tell your minister: this team will exist whether or not any single programme is running. That is the point. It is your country's permanent muscle for cross-cutting digital decisions.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Second ask. An EA Board with real authority. Chaired by your CDO, or by the minister directly. Members: sector ministry CIOs, owners of the major state registers, and where useful an external advisor. Cadence: quarterly meetings, with ad-hoc sessions for urgent decisions. The hardest part: the mandate must be binding, not advisory. The Board reviews new digital projects against the architecture, approves cross-ministry integrations, and enforces boundaries between architectural domains. With it, the EA becomes the place every digital decision passes through.</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Third ask. A sustained budget envelope. Three parts. The initial six-month engagement that runs the first four phases — about ten to fifteen senior person-months. The permanent practice — your two to four architects, ongoing. The governance overhead — Board time and occasional external review. As a share of your digital-government budget, the whole thing is typically about two per cent. What you want is a five-year envelope, not an annual budget line that disappears when ministerial priorities shift. Tell the minister: this is the leverage decision.</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Fourth ask. One promise. The EA team will not be pulled onto the urgent project of the week. Not by you. Not by the minister. Not by anyone in cabinet. Get this in writing if you can. The most common way EA programmes quietly die is in their second year, when the team is moved onto a flagship delivery and the architecture work stops. The promise to protect the team must be explicit, must be visible, and must be recommitted whenever the minister changes.</a:t>
            </a:r>
          </a:p>
          <a:p/>
          <a:p>
            <a:r>
              <a:t>This is the emotional peak of video 1.7 — the one slide in the module with a full-colour block.</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And one note on time horizon to put to your minister honestly. Six months to an approved roadmap. Eighteen to twenty-four months to a fully operating practice. Five years to mature governance. The minister who launches this work will not be the one who completes it. That is uncomfortable, but it is the truth — and a minister who hears it as a problem is sponsoring a deliverable, not an EA. A minister who hears it as a feature is the right minister to commission this work.</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asks. A team. A Board. A budget envelope. A promise. Put them on a single page. Bring them to the meeting. Ask for all four together — not in pieces. With all four committed, you have what you need. Without any one of them, the work will struggle.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800" b="1" i="0">
                <a:solidFill>
                  <a:srgbClr val="1A1A1A"/>
                </a:solidFill>
                <a:latin typeface="Arial"/>
              </a:rPr>
              <a:t>1.7 — What you will need from your minister</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1.7</a:t>
            </a:r>
          </a:p>
          <a:p>
            <a:r>
              <a:rPr sz="12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1.7</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1.7</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What you will need from your minister</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Four asks. A small permanent EA team. An EA Board with real authority. About two per cent of digital budget, sustained for five years. And one promise — that the team will not be pulled onto the urgent project of the week.</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1 — A small permanent EA team</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SIZE</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2 to 4 senior architects — permanent, reporting to your CDO or equivalent</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TYPICALLY</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A chief architect, domain architects, a methodology lead. Smaller countries: 2 people, each carrying several domains.</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NOT</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Consultants. Not a temporary unit.</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POINT</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The institutional home of architecture — it exists whether or not any single programme is running.</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2 — An EA Board with binding authority</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CHAIR</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Your CDO — or the minister directly</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MEMBERS</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Sector ministry CIOs, owners of the major state registers, optionally an external advisor</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CADENCE</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Quarterly main meetings; ad-hoc for urgent decisions</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MANDATE</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BINDING — not advisory. Without binding authority, the EA becomes documentation nobody reads.</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3 — About 2% of digital budget, for five years</a:t>
            </a:r>
          </a:p>
        </p:txBody>
      </p:sp>
      <p:sp>
        <p:nvSpPr>
          <p:cNvPr id="4" name="TextBox 3"/>
          <p:cNvSpPr txBox="1"/>
          <p:nvPr/>
        </p:nvSpPr>
        <p:spPr>
          <a:xfrm>
            <a:off x="658368" y="1645920"/>
            <a:ext cx="2286000" cy="548640"/>
          </a:xfrm>
          <a:prstGeom prst="rect">
            <a:avLst/>
          </a:prstGeom>
          <a:noFill/>
        </p:spPr>
        <p:txBody>
          <a:bodyPr wrap="square">
            <a:spAutoFit/>
          </a:bodyPr>
          <a:lstStyle/>
          <a:p>
            <a:r>
              <a:rPr sz="1300" b="1" i="0">
                <a:solidFill>
                  <a:srgbClr val="006E96"/>
                </a:solidFill>
                <a:latin typeface="Arial"/>
              </a:rPr>
              <a:t>INITIAL ENGAGEMENT</a:t>
            </a:r>
          </a:p>
        </p:txBody>
      </p:sp>
      <p:sp>
        <p:nvSpPr>
          <p:cNvPr id="5" name="TextBox 4"/>
          <p:cNvSpPr txBox="1"/>
          <p:nvPr/>
        </p:nvSpPr>
        <p:spPr>
          <a:xfrm>
            <a:off x="3017520" y="1627632"/>
            <a:ext cx="8412480" cy="1051560"/>
          </a:xfrm>
          <a:prstGeom prst="rect">
            <a:avLst/>
          </a:prstGeom>
          <a:noFill/>
        </p:spPr>
        <p:txBody>
          <a:bodyPr wrap="square">
            <a:spAutoFit/>
          </a:bodyPr>
          <a:lstStyle/>
          <a:p>
            <a:r>
              <a:rPr sz="1700" b="0" i="0">
                <a:solidFill>
                  <a:srgbClr val="1A1A1A"/>
                </a:solidFill>
                <a:latin typeface="Arial"/>
              </a:rPr>
              <a:t>The first four phases — about 10 to 15 senior person-months over six months</a:t>
            </a:r>
          </a:p>
        </p:txBody>
      </p:sp>
      <p:sp>
        <p:nvSpPr>
          <p:cNvPr id="6" name="TextBox 5"/>
          <p:cNvSpPr txBox="1"/>
          <p:nvPr/>
        </p:nvSpPr>
        <p:spPr>
          <a:xfrm>
            <a:off x="658368" y="2724912"/>
            <a:ext cx="2286000" cy="548640"/>
          </a:xfrm>
          <a:prstGeom prst="rect">
            <a:avLst/>
          </a:prstGeom>
          <a:noFill/>
        </p:spPr>
        <p:txBody>
          <a:bodyPr wrap="square">
            <a:spAutoFit/>
          </a:bodyPr>
          <a:lstStyle/>
          <a:p>
            <a:r>
              <a:rPr sz="1300" b="1" i="0">
                <a:solidFill>
                  <a:srgbClr val="006E96"/>
                </a:solidFill>
                <a:latin typeface="Arial"/>
              </a:rPr>
              <a:t>PERMANENT PRACTICE</a:t>
            </a:r>
          </a:p>
        </p:txBody>
      </p:sp>
      <p:sp>
        <p:nvSpPr>
          <p:cNvPr id="7" name="TextBox 6"/>
          <p:cNvSpPr txBox="1"/>
          <p:nvPr/>
        </p:nvSpPr>
        <p:spPr>
          <a:xfrm>
            <a:off x="3017520" y="2706624"/>
            <a:ext cx="8412480" cy="1051560"/>
          </a:xfrm>
          <a:prstGeom prst="rect">
            <a:avLst/>
          </a:prstGeom>
          <a:noFill/>
        </p:spPr>
        <p:txBody>
          <a:bodyPr wrap="square">
            <a:spAutoFit/>
          </a:bodyPr>
          <a:lstStyle/>
          <a:p>
            <a:r>
              <a:rPr sz="1700" b="0" i="0">
                <a:solidFill>
                  <a:srgbClr val="1A1A1A"/>
                </a:solidFill>
                <a:latin typeface="Arial"/>
              </a:rPr>
              <a:t>Your 2 to 4 architects, ongoing</a:t>
            </a:r>
          </a:p>
        </p:txBody>
      </p:sp>
      <p:sp>
        <p:nvSpPr>
          <p:cNvPr id="8" name="TextBox 7"/>
          <p:cNvSpPr txBox="1"/>
          <p:nvPr/>
        </p:nvSpPr>
        <p:spPr>
          <a:xfrm>
            <a:off x="658368" y="3803904"/>
            <a:ext cx="2286000" cy="548640"/>
          </a:xfrm>
          <a:prstGeom prst="rect">
            <a:avLst/>
          </a:prstGeom>
          <a:noFill/>
        </p:spPr>
        <p:txBody>
          <a:bodyPr wrap="square">
            <a:spAutoFit/>
          </a:bodyPr>
          <a:lstStyle/>
          <a:p>
            <a:r>
              <a:rPr sz="1300" b="1" i="0">
                <a:solidFill>
                  <a:srgbClr val="006E96"/>
                </a:solidFill>
                <a:latin typeface="Arial"/>
              </a:rPr>
              <a:t>GOVERNANCE OVERHEAD</a:t>
            </a:r>
          </a:p>
        </p:txBody>
      </p:sp>
      <p:sp>
        <p:nvSpPr>
          <p:cNvPr id="9" name="TextBox 8"/>
          <p:cNvSpPr txBox="1"/>
          <p:nvPr/>
        </p:nvSpPr>
        <p:spPr>
          <a:xfrm>
            <a:off x="3017520" y="3785616"/>
            <a:ext cx="8412480" cy="1051560"/>
          </a:xfrm>
          <a:prstGeom prst="rect">
            <a:avLst/>
          </a:prstGeom>
          <a:noFill/>
        </p:spPr>
        <p:txBody>
          <a:bodyPr wrap="square">
            <a:spAutoFit/>
          </a:bodyPr>
          <a:lstStyle/>
          <a:p>
            <a:r>
              <a:rPr sz="1700" b="0" i="0">
                <a:solidFill>
                  <a:srgbClr val="1A1A1A"/>
                </a:solidFill>
                <a:latin typeface="Arial"/>
              </a:rPr>
              <a:t>Board time, occasional external review</a:t>
            </a:r>
          </a:p>
        </p:txBody>
      </p:sp>
      <p:sp>
        <p:nvSpPr>
          <p:cNvPr id="10" name="TextBox 9"/>
          <p:cNvSpPr txBox="1"/>
          <p:nvPr/>
        </p:nvSpPr>
        <p:spPr>
          <a:xfrm>
            <a:off x="658368" y="4882896"/>
            <a:ext cx="2286000" cy="548640"/>
          </a:xfrm>
          <a:prstGeom prst="rect">
            <a:avLst/>
          </a:prstGeom>
          <a:noFill/>
        </p:spPr>
        <p:txBody>
          <a:bodyPr wrap="square">
            <a:spAutoFit/>
          </a:bodyPr>
          <a:lstStyle/>
          <a:p>
            <a:r>
              <a:rPr sz="1300" b="1" i="0">
                <a:solidFill>
                  <a:srgbClr val="006E96"/>
                </a:solidFill>
                <a:latin typeface="Arial"/>
              </a:rPr>
              <a:t>THE FRAMING</a:t>
            </a:r>
          </a:p>
        </p:txBody>
      </p:sp>
      <p:sp>
        <p:nvSpPr>
          <p:cNvPr id="11" name="TextBox 10"/>
          <p:cNvSpPr txBox="1"/>
          <p:nvPr/>
        </p:nvSpPr>
        <p:spPr>
          <a:xfrm>
            <a:off x="3017520" y="4864608"/>
            <a:ext cx="8412480" cy="1051560"/>
          </a:xfrm>
          <a:prstGeom prst="rect">
            <a:avLst/>
          </a:prstGeom>
          <a:noFill/>
        </p:spPr>
        <p:txBody>
          <a:bodyPr wrap="square">
            <a:spAutoFit/>
          </a:bodyPr>
          <a:lstStyle/>
          <a:p>
            <a:r>
              <a:rPr sz="1700" b="1" i="0">
                <a:solidFill>
                  <a:srgbClr val="1A1A1A"/>
                </a:solidFill>
                <a:latin typeface="Arial"/>
              </a:rPr>
              <a:t>A five-year envelope, not an annual line that disappears when priorities shift. Every other digital programme runs more efficiently when this 2% is in place.</a:t>
            </a:r>
          </a:p>
        </p:txBody>
      </p:sp>
      <p:sp>
        <p:nvSpPr>
          <p:cNvPr id="12" name="TextBox 11"/>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Ask 4 — One promise: the team stays protected</a:t>
            </a:r>
          </a:p>
        </p:txBody>
      </p:sp>
      <p:sp>
        <p:nvSpPr>
          <p:cNvPr id="4" name="Rounded Rectangle 3"/>
          <p:cNvSpPr/>
          <p:nvPr/>
        </p:nvSpPr>
        <p:spPr>
          <a:xfrm>
            <a:off x="658368" y="1645920"/>
            <a:ext cx="10881360" cy="2377440"/>
          </a:xfrm>
          <a:prstGeom prst="roundRect">
            <a:avLst>
              <a:gd name="adj" fmla="val 4500"/>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978407" y="1883664"/>
            <a:ext cx="10241280" cy="2103120"/>
          </a:xfrm>
          <a:prstGeom prst="rect">
            <a:avLst/>
          </a:prstGeom>
          <a:noFill/>
        </p:spPr>
        <p:txBody>
          <a:bodyPr wrap="square">
            <a:spAutoFit/>
          </a:bodyPr>
          <a:lstStyle/>
          <a:p>
            <a:pPr>
              <a:spcAft>
                <a:spcPts val="700"/>
              </a:spcAft>
            </a:pPr>
            <a:r>
              <a:rPr sz="2400" b="1" i="0">
                <a:solidFill>
                  <a:srgbClr val="FFFFFF"/>
                </a:solidFill>
                <a:latin typeface="Arial"/>
              </a:rPr>
              <a:t>The EA team will not be pulled onto the urgent project of the week.</a:t>
            </a:r>
          </a:p>
          <a:p>
            <a:pPr>
              <a:spcAft>
                <a:spcPts val="700"/>
              </a:spcAft>
            </a:pPr>
            <a:r>
              <a:rPr sz="1800" b="0" i="0">
                <a:solidFill>
                  <a:srgbClr val="FFFFFF"/>
                </a:solidFill>
                <a:latin typeface="Arial"/>
              </a:rPr>
              <a:t>Not by you. Not by the minister. Not by anyone in cabinet.</a:t>
            </a:r>
          </a:p>
        </p:txBody>
      </p:sp>
      <p:sp>
        <p:nvSpPr>
          <p:cNvPr id="6" name="TextBox 5"/>
          <p:cNvSpPr txBox="1"/>
          <p:nvPr/>
        </p:nvSpPr>
        <p:spPr>
          <a:xfrm>
            <a:off x="658368" y="4389120"/>
            <a:ext cx="10881360" cy="1554480"/>
          </a:xfrm>
          <a:prstGeom prst="rect">
            <a:avLst/>
          </a:prstGeom>
          <a:noFill/>
        </p:spPr>
        <p:txBody>
          <a:bodyPr wrap="square">
            <a:spAutoFit/>
          </a:bodyPr>
          <a:lstStyle/>
          <a:p>
            <a:pPr>
              <a:spcAft>
                <a:spcPts val="800"/>
              </a:spcAft>
            </a:pPr>
            <a:r>
              <a:rPr sz="1800" b="1" i="0">
                <a:solidFill>
                  <a:srgbClr val="1A1A1A"/>
                </a:solidFill>
                <a:latin typeface="Arial"/>
              </a:rPr>
              <a:t>This is the most commonly broken promise — and the one that quietly kills EA programmes in their second year.</a:t>
            </a:r>
          </a:p>
          <a:p>
            <a:pPr>
              <a:spcAft>
                <a:spcPts val="800"/>
              </a:spcAft>
            </a:pPr>
            <a:r>
              <a:rPr sz="1600" b="0" i="0">
                <a:solidFill>
                  <a:srgbClr val="595959"/>
                </a:solidFill>
                <a:latin typeface="Arial"/>
              </a:rPr>
              <a:t>Get it in writing if you can. Recommit it whenever the minister changes.</a:t>
            </a:r>
          </a:p>
        </p:txBody>
      </p:sp>
      <p:sp>
        <p:nvSpPr>
          <p:cNvPr id="7" name="TextBox 6"/>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Be honest about the time horizon</a:t>
            </a:r>
          </a:p>
        </p:txBody>
      </p:sp>
      <p:sp>
        <p:nvSpPr>
          <p:cNvPr id="4" name="TextBox 3"/>
          <p:cNvSpPr txBox="1"/>
          <p:nvPr/>
        </p:nvSpPr>
        <p:spPr>
          <a:xfrm>
            <a:off x="658368" y="1463040"/>
            <a:ext cx="10984687" cy="1082039"/>
          </a:xfrm>
          <a:prstGeom prst="rect">
            <a:avLst/>
          </a:prstGeom>
          <a:noFill/>
        </p:spPr>
        <p:txBody>
          <a:bodyPr wrap="square">
            <a:spAutoFit/>
          </a:bodyPr>
          <a:lstStyle/>
          <a:p>
            <a:pPr>
              <a:spcAft>
                <a:spcPts val="300"/>
              </a:spcAft>
            </a:pPr>
            <a:r>
              <a:rPr sz="2400" b="1" i="0">
                <a:solidFill>
                  <a:srgbClr val="1A1A1A"/>
                </a:solidFill>
                <a:latin typeface="Arial"/>
              </a:rPr>
              <a:t>6 months</a:t>
            </a:r>
          </a:p>
          <a:p>
            <a:pPr>
              <a:spcAft>
                <a:spcPts val="300"/>
              </a:spcAft>
            </a:pPr>
            <a:r>
              <a:rPr sz="1700" b="0" i="0">
                <a:solidFill>
                  <a:srgbClr val="595959"/>
                </a:solidFill>
                <a:latin typeface="Arial"/>
              </a:rPr>
              <a:t>to an approved roadmap</a:t>
            </a:r>
          </a:p>
        </p:txBody>
      </p:sp>
      <p:sp>
        <p:nvSpPr>
          <p:cNvPr id="5" name="Rectangle 4"/>
          <p:cNvSpPr/>
          <p:nvPr/>
        </p:nvSpPr>
        <p:spPr>
          <a:xfrm>
            <a:off x="621792" y="25496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590799"/>
            <a:ext cx="10984687" cy="1082039"/>
          </a:xfrm>
          <a:prstGeom prst="rect">
            <a:avLst/>
          </a:prstGeom>
          <a:noFill/>
        </p:spPr>
        <p:txBody>
          <a:bodyPr wrap="square">
            <a:spAutoFit/>
          </a:bodyPr>
          <a:lstStyle/>
          <a:p>
            <a:pPr>
              <a:spcAft>
                <a:spcPts val="300"/>
              </a:spcAft>
            </a:pPr>
            <a:r>
              <a:rPr sz="2400" b="1" i="0">
                <a:solidFill>
                  <a:srgbClr val="1A1A1A"/>
                </a:solidFill>
                <a:latin typeface="Arial"/>
              </a:rPr>
              <a:t>18 to 24 months</a:t>
            </a:r>
          </a:p>
          <a:p>
            <a:pPr>
              <a:spcAft>
                <a:spcPts val="300"/>
              </a:spcAft>
            </a:pPr>
            <a:r>
              <a:rPr sz="1700" b="0" i="0">
                <a:solidFill>
                  <a:srgbClr val="595959"/>
                </a:solidFill>
                <a:latin typeface="Arial"/>
              </a:rPr>
              <a:t>to a fully operating practice</a:t>
            </a:r>
          </a:p>
        </p:txBody>
      </p:sp>
      <p:sp>
        <p:nvSpPr>
          <p:cNvPr id="7" name="Rectangle 6"/>
          <p:cNvSpPr/>
          <p:nvPr/>
        </p:nvSpPr>
        <p:spPr>
          <a:xfrm>
            <a:off x="621792" y="36774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718560"/>
            <a:ext cx="10984687" cy="1082039"/>
          </a:xfrm>
          <a:prstGeom prst="rect">
            <a:avLst/>
          </a:prstGeom>
          <a:noFill/>
        </p:spPr>
        <p:txBody>
          <a:bodyPr wrap="square">
            <a:spAutoFit/>
          </a:bodyPr>
          <a:lstStyle/>
          <a:p>
            <a:pPr>
              <a:spcAft>
                <a:spcPts val="300"/>
              </a:spcAft>
            </a:pPr>
            <a:r>
              <a:rPr sz="2400" b="1" i="0">
                <a:solidFill>
                  <a:srgbClr val="1A1A1A"/>
                </a:solidFill>
                <a:latin typeface="Arial"/>
              </a:rPr>
              <a:t>5+ years</a:t>
            </a:r>
          </a:p>
          <a:p>
            <a:pPr>
              <a:spcAft>
                <a:spcPts val="300"/>
              </a:spcAft>
            </a:pPr>
            <a:r>
              <a:rPr sz="1700" b="0" i="0">
                <a:solidFill>
                  <a:srgbClr val="595959"/>
                </a:solidFill>
                <a:latin typeface="Arial"/>
              </a:rPr>
              <a:t>to mature governance</a:t>
            </a:r>
          </a:p>
        </p:txBody>
      </p:sp>
      <p:sp>
        <p:nvSpPr>
          <p:cNvPr id="9" name="TextBox 8"/>
          <p:cNvSpPr txBox="1"/>
          <p:nvPr/>
        </p:nvSpPr>
        <p:spPr>
          <a:xfrm>
            <a:off x="658368" y="5029200"/>
            <a:ext cx="10881360" cy="1188720"/>
          </a:xfrm>
          <a:prstGeom prst="rect">
            <a:avLst/>
          </a:prstGeom>
          <a:noFill/>
        </p:spPr>
        <p:txBody>
          <a:bodyPr wrap="square">
            <a:spAutoFit/>
          </a:bodyPr>
          <a:lstStyle/>
          <a:p>
            <a:pPr>
              <a:spcAft>
                <a:spcPts val="600"/>
              </a:spcAft>
            </a:pPr>
            <a:r>
              <a:rPr sz="1900" b="1" i="0">
                <a:solidFill>
                  <a:srgbClr val="1A1A1A"/>
                </a:solidFill>
                <a:latin typeface="Arial"/>
              </a:rPr>
              <a:t>The minister who launches this work will not be the one who completes it.</a:t>
            </a:r>
          </a:p>
          <a:p>
            <a:pPr>
              <a:spcAft>
                <a:spcPts val="600"/>
              </a:spcAft>
            </a:pPr>
            <a:r>
              <a:rPr sz="1500" b="0" i="0">
                <a:solidFill>
                  <a:srgbClr val="595959"/>
                </a:solidFill>
                <a:latin typeface="Arial"/>
              </a:rPr>
              <a:t>A minister who hears that as a problem is sponsoring a deliverable, not an EA. A minister who hears it as a feature is the right minister.</a:t>
            </a:r>
          </a:p>
        </p:txBody>
      </p:sp>
      <p:sp>
        <p:nvSpPr>
          <p:cNvPr id="10" name="TextBox 9"/>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A team. A Board. A budget envelope. A promise. Put them on one page — and ask for all four together.</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PAERA v1.0 — §4.2.1 Management</a:t>
            </a:r>
          </a:p>
          <a:p>
            <a:pPr>
              <a:spcAft>
                <a:spcPts val="1200"/>
              </a:spcAft>
            </a:pPr>
            <a:r>
              <a:rPr sz="1700" b="0" i="0">
                <a:solidFill>
                  <a:srgbClr val="1A1A1A"/>
                </a:solidFill>
                <a:latin typeface="Arial"/>
              </a:rPr>
              <a:t>•  PAERA v1.0 — §4.2.2 Architecture</a:t>
            </a:r>
          </a:p>
          <a:p>
            <a:pPr>
              <a:spcAft>
                <a:spcPts val="1200"/>
              </a:spcAft>
            </a:pPr>
            <a:r>
              <a:rPr sz="1700" b="0" i="0">
                <a:solidFill>
                  <a:srgbClr val="1A1A1A"/>
                </a:solidFill>
                <a:latin typeface="Arial"/>
              </a:rPr>
              <a:t>•  PAERA v1.0 — §5.4 Organisational Assessment &amp; Roadmap</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1.7 · What you will need from your minister</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