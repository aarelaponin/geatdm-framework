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 id="2757" r:id="rId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For a long time, digital transformation in government meant one thing. Take a paper process and put it online. The application form becomes a web form. The queue becomes an online appointment. The certificate becomes a PDF. The ministry still does the same work, in the same order, with the same roles. Only the medium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In your ministry, you have probably seen this pattern. One programme builds a system to register citizens. Another programme builds another system to register the same citizens — for a different service. A third programme builds a third. Each takes years. Each is funded separately — often by a different donor: the World Bank, the African Development Bank, a bilateral partner. None of them work together. And your citizen still fills the same form, five times, in five different counters.</a:t>
            </a:r>
          </a:p>
          <a:p/>
          <a:p>
            <a:r>
              <a:t>You cannot fix this inside any one programme. Each programme is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a:t>
            </a:r>
          </a:p>
          <a:p/>
          <a:p>
            <a:r>
              <a:t>RETRIEVAL MOMENT (before revealing row 1): ask the viewer — how many separate registers of the same citizens does your government keep? Hold two seconds, then reveal.</a:t>
            </a:r>
          </a:p>
          <a:p/>
          <a:p>
            <a:r>
              <a:t>VO: There are four signs that this pattern is happening in your government. Sign one — your ministry has more than one register of the same people... Sign two — every time two systems need to share data, you build a new connection from zero... Sign three — a vendor built one of your systems ten years ago; nobody else knows how it works... Sign four — each ministry has its own digital systems, and they do not connect across ministries. The pledge to ask each citizen for information only once exists on paper. In practice, it is impossible.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cost of this pattern runs in four directions at once. You pay more, because you build the same things many times. The country moves more slowly, because every new programme waits for cross-system work that nobody planned for. Your citizens carry the burden, because they fill the same form in five places. And your minister cannot deliver a flagship cross-ministry programme, because the systems will not talk to each other.</a:t>
            </a:r>
          </a:p>
          <a:p/>
          <a:p>
            <a:r>
              <a:t>The minister cell is the one to land hardest with a Strategist audience — it is highlighted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All four signs come from one root cause. There is no shared plan. No one has written down what your government's digital systems are, who owns them, and how they should fit together. That shared plan is what a national Enterprise Architecture provides. The rest of this knowledge product shows you how to commission one, what it will deliver, and what you will need from your minister to make it work.</a:t>
            </a:r>
          </a:p>
          <a:p/>
          <a:p>
            <a:r>
              <a:t>This is the most important slide of video 1.1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a set of documents and diagrams. Together, they describe how your government works. What services it delivers, and to whom. What data it holds, and who owns it. What software supports those services. What infrastructure runs underneath.</a:t>
            </a:r>
          </a:p>
          <a:p/>
          <a:p>
            <a:r>
              <a:t>An EA is not software. It is not a vendor product. It is not a tool you buy. It is the agreed picture.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EA is not software. It is not a vendor product. It is not a tool you buy. It is the agreed picture.</a:t>
            </a:r>
          </a:p>
          <a:p/>
          <a:p>
            <a:r>
              <a:t>Why does it matter that everyone has the same picture? Because every important conversation in your ministry breaks down on this point. This slide is the Strategist's first line of defence against vendor pitches — when a vendor says 'our product gives you an EA', this is the slide that says no,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uses the picture to brief cabinet... The donor uses the picture before they fund the next programme... The vendor uses the picture when they propose a system... And you, the middle manager, use the picture to keep all three aligned.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build top to bottom, cumulative. Order is deliberate — BDAT with data before applications, reflecting data-first architecture.</a:t>
            </a:r>
          </a:p>
          <a:p/>
          <a:p>
            <a:r>
              <a:t>VO: Every EA looks at your government in four parts. Services — what your government does, and for whom... Data — the information your government holds. Data is the longest-lived part of any government. Applications come and go. Technology cycles every decade. Data outlasts them all. Applications — the software that uses that data... Technology — the basics that must be running for anything else to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write down all four parts, your government's digital landscape stops being a list of unrelated projects. It starts looking like a system. A system you can change deliberately. A system you can plan investments against. A system you can talk about across ministries, with donors and with vendors, without re-explaining the basics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is what an Enterprise Architecture is. Not software. Not a tool. The agreed picture of your government — and the tool that lets you, instead of the vendor or the donor, lead the conversation about what comes next.</a:t>
            </a:r>
          </a:p>
          <a:p/>
          <a:p>
            <a:r>
              <a:t>Screenshot-ready summary; Strategists reuse this line in their own briefings.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may be thinking: my country already requires this. Every new digital project must specify open APIs. Every new contract must require interoperability. The national digital strategy is signed by cabinet. So why does the citizen still fill the same form five times? Why do new programmes still build their own version of identity and payments? The answer is uncomfortable. Procurement rules can require behaviour. They cannot make that behaviour the cheapest choice for the project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Inside any new programme, the team is rational. They have a contract, a budget, a deadline. Re-using another ministry's identity system means learning that system, negotiating with that ministry's team, accepting their delays. Building your own version is faster. So the team builds their own. That is not a failure of discipline. That is the project doing exactly what it was funded to do.</a:t>
            </a:r>
          </a:p>
          <a:p/>
          <a:p>
            <a:r>
              <a:t>Tone: the math, not the morality — no blame on project teams.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Re-use becomes rational only when you can see across the whole government. From that view, the math changes. The first ministry pays to build the identity system. The second ministry does not — it consumes the first one. The third does not. The fourth does not. Over five years, the country saves a meaningful share of its sectoral digital spend.</a:t>
            </a:r>
          </a:p>
          <a:p/>
          <a:p>
            <a:r>
              <a:t>But this view does not exist inside any single project. It exists only at the level of your country's whole digital portfolio. That is the view an EA gives you, and it is the view your minister needs to make funding decisions that look different from project-level cost choices.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are two more things projects do not deliver. The first is sustainability. A project ships on time and moves on. Twelve years later, the original vendor is gone... The second is complexity reduction. A project says yes to most feature requests... Each yes has accumulated. Saying no requires authority the project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Reference architectures answer the questions projects do not. Other countries have built these systems for decades. They learned what survives technology change and what does not. They learned which architectural decisions still hold up after twenty years and which decisions cost them dearly. A reference architecture is that learning, written down. PAERA is one such reference. Adopting it means starting with their lessons, instead of paying for the same lessons yourself over the next twenty years.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you make the case for an EA, the case is this. The four-part picture is the artefact. Planning is the function. Re-use, sustainability and complexity reduction — three things every digital ministry says it wants — none of these come from projects alone. All of them come from the planning view that an EA gives, and from the reference architectures that EA practice connects you to. That is why projects cannot fix this themselves. That is why an EA is work your minister must commission, separately, deliberately, with sustained funding.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Topic 1 deck. Each subtopic section that follows is one standalone ~4-5 minute video. The right panel previews the module's centrepiece: the five-phase, four-sign-off lifecycle taught in video 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themselves ship standalone on YouTube. Videos 1.1-1.4 make the case for an EA, 1.5-1.6 make the case for PAERA and show the method, 1.7-1.8 turn conviction into commitments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work is still important. But it is no longer the most important work your ministry is being asked to do. The countries — and the ministries — that are delivering real citizen results today are not just digitising forms. They are redesigning how citizens are served.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the new work actually looks like. One farmer registry, used by the agriculture ministry, the cooperative bank, the input subsidy programme and the climate-resilience programme — the same farmer, recognised the same way, by all of them. One national identity that lets a citizen prove who they are at any service, without paper. One learner record that follows the child from primary school to university. None of these is 'put it online.' Each of them is a redesign of how the ministry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new work comes with a new problem. When you redesign how the ministry works, two groups must decide together. The business side: your minister, your director-general, your head of policy. The IT side: your architects, your engineers. In the old work, they did not need to talk much. Business decided what; IT delivered how. In the new work, they decide together. About the same questions. With the same level of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they do not share a language. Your minister talks about citizen services and policy goals. Your chief architect talks about systems, APIs and data. They sit in the same meeting and miss each other. The decision does not get made well — or it does not get made at all. And the ministry stays in the old work, even though the new work is what is needed.</a:t>
            </a:r>
          </a:p>
          <a:p/>
          <a:p>
            <a:r>
              <a:t>This is the Strategist's recognition moment — they have lived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job an Enterprise Architecture does. It gives both sides a shared language for the new work. The agreed picture — something both sides can point at. Plain words for the basic terms — service, capability, data domain — that mean the same thing to both sides. And a regular forum — the EA Board — where they sit together and decide. With these in place, the conversation about redesigning how the ministry works finally happens. Without them,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make the case to your minister, this is the second half of the case. Planning is one half. Shared language is the other. In the era of digitising paper, an EA was useful. In the era of redesigning how the ministry works, an EA is necessary — because without it, the business side and the IT side cannot have the conversation the redesign requires.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the agreed picture of your government. The next question is: which framework do you use to draw that picture? You have two paths.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length is the visual: the long grey bar is the time you spend before architecture work starts; the short blue bar is PAERA. Do not label the top bar pejoratively — the lengths do the work.</a:t>
            </a:r>
          </a:p>
          <a:p/>
          <a:p>
            <a:r>
              <a:t>VO: The first path: hire consultants to design an EA framework specifically for your country. A new way of organising ministries. A new set of terms. A new set of principles. A new method. This takes twelve to eighteen months, before any architect has drawn a single picture of any ministry. You have paid for groundwork, not for architecture.</a:t>
            </a:r>
          </a:p>
          <a:p/>
          <a:p>
            <a:r>
              <a:t>The second path: anchor on a framework that already exists... PAERA is that framework — the Public Administration Ecosystem Reference Architecture, published in 2024 under GovStack.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This is the substantive payload of video 1.5.</a:t>
            </a:r>
          </a:p>
          <a:p/>
          <a:p>
            <a:r>
              <a:t>VO: Five things PAERA gives your team on day one. Five things you do not pay to invent. First, a way to organise ministries and authorities... Second, plain words for the basic terms... Third, a library of common building blocks... Fourth, a set of architectural principles — ten of them... Fifth, a way to run the work. We walk the lifecycle in the next video.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works across sectors. The same framework applies to education, to health, to social protection, to agriculture. Once your country builds the EA muscle for one sector, every next sector reuses the same investment. The framework does not get re-bought, re-trained, re-customised. The second sector is cheaper than the first. The third is cheaper still.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not promotional — these are real assets a country gets access to, not buzzwords.</a:t>
            </a:r>
          </a:p>
          <a:p/>
          <a:p>
            <a:r>
              <a:t>VO: PAERA is not a standalone document. It connects to a working network — building block specifications, a marketplace of vendor-built implementations that have been checked for compliance, a certification programme, a sandbox you can test in, a shared knowledge base. Adopting PAERA means joining a network of countries and partners actively building these resources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make the case for PAERA to your minister, this is the case. It is not a vendor choice. It is the choice to start with the work other countries have already done — so your team can spend their time on what is specific to your country. That is the head start. That is what your minister is being asked to commit 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you take one picture away from this knowledge product, take this one. The EA lifecycle on a single page. The picture that goes on the wall of the EA Board room. The picture your minister puts in every cabinet briefing. The picture your team points at when they explain where the work is.</a:t>
            </a:r>
          </a:p>
          <a:p/>
          <a:p>
            <a:r>
              <a:t>RETRIEVAL MOMENT: before showing the next slide, ask the viewer to guess — from a standing start, how long until a roadmap your minister can take to cabinet? Answer comes on the timeline: six months.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Five phases. Each one answers a single question. Each produces a single deliverable. Each ends with a sign-off by the senior decision-maker. The first four phases together take about six months. The fifth phase is ongoing — your country's permanent way of working.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one. Discover. The question: what exists today? Your architects map the current digital landscape — the strategies in force, the systems that exist, the sector plans, the stakeholders, the legal framework. The deliverable is a Discovery brief: the picture of where your country is, with no recommendations yet. The sign-off: the senior decision-maker confirms the picture is accurate enough to build on. Three to four weeks.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two. Assess. The question: what is the gap? Architects compare what they found in Discovery against PAERA-anchored standards. They write the current-state picture in the four parts of an EA. They produce maturity scorecards. They write the gap analysis. The sign-off: the gap analysis reflects ground truth.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three. Adapt. The question: what fits our country? PAERA is a starting point, not a constraint. Architects work with sector CIOs and your EA Board to shape the framework to your country. For each building block, the question is: do we build it, do we buy it from the marketplace, do we share another country's, or do we test in a sandbox first?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four. Plan. The question: how do we get there? Architects describe the target state and sequence the work into a roadmap with investment estimates. The senior decision-maker and the EA Board approve the roadmap and commit budget. This is the deliverable your minister can take to cabinet.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five. Execute and Govern. The question: how do we sustain this? The approved roadmap becomes a project pipeline. The small permanent EA team — two to four senior architects — turns the EA from a one-time delivery into a living repository. The EA Board reviews new projects against the architecture, approves cross-ministry decisions, enforces boundaries between domains. Quarterly reviews. Indefinitely.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the rhythm. Four sign-offs in six months. Your minister does not review every diagram. They review at four moments, each tied to a defined deliverable. Between sign-offs, the architects work. The minister's job in between is to remove obstacles — the political ones, mostly. The technical ones are why the architects were hired.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phases depend on each other, in order. Discover before you measure. Measure before you adapt. Adapt before you plan. Plan before you execute. Govern always. You can skip a phase, but you will pay for it later — usually several times what skipping appeared to save.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Six months from Discovery to an approved roadmap. Then your country in permanent EA-governed mode. That is what 'months not years' actually means. It is not a slogan. It is the consequence of sequencing five phases — each with a clear question, a clear deliverable, a clear sign-off — and committing to the practice that runs after.</a:t>
            </a:r>
          </a:p>
          <a:p/>
          <a:p>
            <a:r>
              <a:t>(This answers the prediction question posed at the start of the video.)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made the case. Your minister is convinced an EA is the right work. Now the harder part: agreeing the four specific things the minister must commit to. Each one is necessary. Without any one of them, the EA programme will struggle to deliver what it could.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ask. A small permanent EA team. Two to four senior architects. Permanent. Reporting to your CDO or its equivalent. Not project consultants who arrive and leave. Not a temporary unit. The institutional home of architecture work in your country. Tell your minister: this team will exist whether or not any single programme is running. That is the point. It is your country's permanent muscle for cross-cutting digital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ask. An EA Board with real authority. Chaired by your CDO, or by the minister directly. Members: sector ministry CIOs, owners of the major state registers, and where useful an external advisor. Cadence: quarterly meetings, with ad-hoc sessions for urgent decisions. The hardest part: the mandate must be binding, not advisory. The Board reviews new digital projects against the architecture, approves cross-ministry integrations, and enforces boundaries between architectural domains. With it, the EA becomes the place every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ask. A sustained budget envelope. Three parts. The initial six-month engagement that runs the first four phases — about ten to fifteen senior person-months. The permanent practice — your two to four architects, ongoing. The governance overhead — Board time and occasional external review. As a share of your digital-government budget, the whole thing is typically about two per cent. What you want is a five-year envelope, not an annual budget line that disappears when ministerial priorities shift. Tell the minister: this is the leverage decision.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ask. One promise. The EA team will not be pulled onto the urgent project of the week. Not by you. Not by the minister. Not by anyone in cabinet. Get this in writing if you can. The most common way EA programmes quietly die is in their second year, when the team is moved onto a flagship delivery and the architecture work stops. The promise to protect the team must be explicit, must be visible, and must be recommitted whenever the minister changes.</a:t>
            </a:r>
          </a:p>
          <a:p/>
          <a:p>
            <a:r>
              <a:t>This is the emotional peak of video 1.7 — the one slide in the module with a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one note on time horizon to put to your minister honestly. Six months to an approved roadmap. Eighteen to twenty-four months to a fully operating practice. Five years to mature governance. The minister who launches this work will not be the one who completes it. That is uncomfortable, but it is the truth — and a minister who hears it as a problem is sponsoring a deliverable, not an EA. A minister who hears it as a feature is the right minister to commission this work.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asks. A team. A Board. A budget envelope. A promise. Put them on a single page. Bring them to the meeting. Ask for all four together — not in pieces. With all four committed, you have what you need. Without any one of them, the work will struggle.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Four countries did the work. Three of them are in Africa. They differ in size, in resources, in governance type — and the EA pattern shows in all three. The fourth is Estonia, the most-cited international example, useful as a reference but with a very different starting context. Looking at the four together shows what the pattern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Rwanda. The Ministry of ICT and Innovation, with Irembo as the unifying citizen-services platform. Starting from a small base in the mid-2010s, Rwanda built one of the most ambitious digital-government programmes on the continent. A single citizen-service platform. A national ID linked across services. Strong central coordination. The institutional muscle is small but disciplined. The lesson for other countries: in a smaller country with political will, the lifecycle can be compressed, and the gains in the second and third sectors come faster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Kenya. The Huduma Centres and the Huduma Namba experience. Kenya took a different path — physical one-stop centres where citizens could access many government services in one place, with the Huduma Namba programme attempting to provide a unifying digital identity to underpin them. The results are mixed and openly debated in Kenya's public arena. The lesson is not 'Kenya solved this' — it is that Kenya tried, encountered concrete obstacles in courts, in parliament, and in implementation, and the debate is documented and useful. For countries thinking about similar moves, Kenya's experience tells you what to plan for.</a:t>
            </a:r>
          </a:p>
          <a:p/>
          <a:p>
            <a:r>
              <a:t>Honesty about the contested experience is a feature of this example, not a defect.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South Africa. State Information Technology Agency, known as SITA, and the federated digital-government model. South Africa is a federal democracy with strong provincial governments and constitutionally autonomous statutory bodies. You cannot impose a single architecture from the top. SITA acts as a coordinating body — shared standards, common procurement frameworks, a maintained reference architecture that agencies adopt rather than have imposed. The lesson: in any country where sub-national governments or autonomous statutory bodies carry real authority, the federated model — coordination without coercion — is the realistic pattern. Many African countries with strong provincial or county governments will recognise this shape.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Estonia. The Information System Authority, known as RIA. The most-cited international example of mature digital government. Starting in the late 1990s, Estonia built X-Road as the data-exchange backbone, distributed state registries owned by their accountable agencies, and the Once-Only principle — that the state never asks a citizen for the same information twice. Today, almost every public service in Estonia runs online. Estonia is a small unitary state with very different starting conditions from most African countries. Use it as a polestar — what fully mature digital government can look like — not as a template to copy directly. The pattern is the same. The path is your country's.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very different countries. The same architectural elements show in all four. A small central team with real authority. A published framework that other agencies adopt rather than fight. A governance mechanism that is binding, not advisory. A time horizon measured in years for full maturity, with intermediate results visible inside months. These are not outliers. They are what committing to the lifecycle and the team and the governance and the time horizon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pattern travels. Across small countries and large. Across unitary states and federations. Across countries with strong central authority and countries where authority is distributed. Your country can apply it too — once your minister commits to the four asks from the previous video. The rest of this knowledge product shows you how to do the work, using a fictional country called Progressa so every step is visible in detail.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Why a PAERA-anchored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600" b="1" i="0">
                <a:solidFill>
                  <a:srgbClr val="006E96"/>
                </a:solidFill>
                <a:latin typeface="Arial"/>
              </a:rPr>
              <a:t>KP1 · Government Enterprise Architecture · Module 1</a:t>
            </a:r>
          </a:p>
          <a:p>
            <a:pPr>
              <a:spcAft>
                <a:spcPts val="600"/>
              </a:spcAft>
            </a:pPr>
            <a:r>
              <a:rPr sz="1400" b="0" i="0">
                <a:solidFill>
                  <a:srgbClr val="595959"/>
                </a:solidFill>
                <a:latin typeface="Arial"/>
              </a:rPr>
              <a:t>Eight standalone videos: why your country needs a national EA, what it is, why PAERA, the lifecycle, the four asks — and four countries that did the work.</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Length: </a:t>
            </a:r>
            <a:r>
              <a:rPr sz="1400" b="0" i="0">
                <a:solidFill>
                  <a:srgbClr val="1A1A1A"/>
                </a:solidFill>
                <a:latin typeface="Arial"/>
              </a:rPr>
              <a:t>~34 mins across 8 videos (1.1 – 1.8)</a:t>
            </a:r>
          </a:p>
          <a:p>
            <a:pPr>
              <a:spcAft>
                <a:spcPts val="400"/>
              </a:spcAft>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wrap="square"/>
          <a:lstStyle/>
          <a:p>
            <a:r>
              <a:rPr sz="1400" b="1" i="0">
                <a:solidFill>
                  <a:srgbClr val="595959"/>
                </a:solidFill>
                <a:latin typeface="Arial"/>
              </a:rPr>
              <a:t>Module 1 — eight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wrap="square"/>
          <a:lstStyle/>
          <a:p>
            <a:pPr algn="l">
              <a:spcAft>
                <a:spcPts val="900"/>
              </a:spcAft>
            </a:pPr>
            <a:r>
              <a:rPr sz="1500" b="1" i="0">
                <a:solidFill>
                  <a:srgbClr val="1A1A1A"/>
                </a:solidFill>
                <a:latin typeface="Arial"/>
              </a:rPr>
              <a:t>1.1  Why your country needs a national EA</a:t>
            </a:r>
            <a:r>
              <a:rPr sz="1200" b="0" i="0">
                <a:solidFill>
                  <a:srgbClr val="595959"/>
                </a:solidFill>
                <a:latin typeface="Arial"/>
              </a:rPr>
              <a:t>   ~4 min</a:t>
            </a:r>
          </a:p>
          <a:p>
            <a:pPr algn="l">
              <a:spcAft>
                <a:spcPts val="900"/>
              </a:spcAft>
            </a:pPr>
            <a:r>
              <a:rPr sz="1500" b="1" i="0">
                <a:solidFill>
                  <a:srgbClr val="1A1A1A"/>
                </a:solidFill>
                <a:latin typeface="Arial"/>
              </a:rPr>
              <a:t>1.2  What an EA actually is</a:t>
            </a:r>
            <a:r>
              <a:rPr sz="1200" b="0" i="0">
                <a:solidFill>
                  <a:srgbClr val="595959"/>
                </a:solidFill>
                <a:latin typeface="Arial"/>
              </a:rPr>
              <a:t>   ~3 min</a:t>
            </a:r>
          </a:p>
          <a:p>
            <a:pPr algn="l">
              <a:spcAft>
                <a:spcPts val="900"/>
              </a:spcAft>
            </a:pPr>
            <a:r>
              <a:rPr sz="1500" b="1" i="0">
                <a:solidFill>
                  <a:srgbClr val="1A1A1A"/>
                </a:solidFill>
                <a:latin typeface="Arial"/>
              </a:rPr>
              <a:t>1.3  Why projects can't do this themselves</a:t>
            </a:r>
            <a:r>
              <a:rPr sz="1200" b="0" i="0">
                <a:solidFill>
                  <a:srgbClr val="595959"/>
                </a:solidFill>
                <a:latin typeface="Arial"/>
              </a:rPr>
              <a:t>   ~5 min</a:t>
            </a:r>
          </a:p>
          <a:p>
            <a:pPr algn="l">
              <a:spcAft>
                <a:spcPts val="900"/>
              </a:spcAft>
            </a:pPr>
            <a:r>
              <a:rPr sz="1500" b="1" i="0">
                <a:solidFill>
                  <a:srgbClr val="1A1A1A"/>
                </a:solidFill>
                <a:latin typeface="Arial"/>
              </a:rPr>
              <a:t>1.4  Why an EA matters more now</a:t>
            </a:r>
            <a:r>
              <a:rPr sz="1200" b="0" i="0">
                <a:solidFill>
                  <a:srgbClr val="595959"/>
                </a:solidFill>
                <a:latin typeface="Arial"/>
              </a:rPr>
              <a:t>   ~5 min</a:t>
            </a:r>
          </a:p>
          <a:p>
            <a:pPr algn="l">
              <a:spcAft>
                <a:spcPts val="900"/>
              </a:spcAft>
            </a:pPr>
            <a:r>
              <a:rPr sz="1500" b="1" i="0">
                <a:solidFill>
                  <a:srgbClr val="1A1A1A"/>
                </a:solidFill>
                <a:latin typeface="Arial"/>
              </a:rPr>
              <a:t>1.5  Why PAERA-anchored</a:t>
            </a:r>
            <a:r>
              <a:rPr sz="1200" b="0" i="0">
                <a:solidFill>
                  <a:srgbClr val="595959"/>
                </a:solidFill>
                <a:latin typeface="Arial"/>
              </a:rPr>
              <a:t>   ~4 min</a:t>
            </a:r>
          </a:p>
          <a:p>
            <a:pPr algn="l">
              <a:spcAft>
                <a:spcPts val="900"/>
              </a:spcAft>
            </a:pPr>
            <a:r>
              <a:rPr sz="1500" b="1" i="0">
                <a:solidFill>
                  <a:srgbClr val="1A1A1A"/>
                </a:solidFill>
                <a:latin typeface="Arial"/>
              </a:rPr>
              <a:t>1.6  The lifecycle on one page</a:t>
            </a:r>
            <a:r>
              <a:rPr sz="1200" b="0" i="0">
                <a:solidFill>
                  <a:srgbClr val="595959"/>
                </a:solidFill>
                <a:latin typeface="Arial"/>
              </a:rPr>
              <a:t>   ~5 min</a:t>
            </a:r>
          </a:p>
          <a:p>
            <a:pPr algn="l">
              <a:spcAft>
                <a:spcPts val="900"/>
              </a:spcAft>
            </a:pPr>
            <a:r>
              <a:rPr sz="1500" b="1" i="0">
                <a:solidFill>
                  <a:srgbClr val="1A1A1A"/>
                </a:solidFill>
                <a:latin typeface="Arial"/>
              </a:rPr>
              <a:t>1.7  What you will need from your minister</a:t>
            </a:r>
            <a:r>
              <a:rPr sz="1200" b="0" i="0">
                <a:solidFill>
                  <a:srgbClr val="595959"/>
                </a:solidFill>
                <a:latin typeface="Arial"/>
              </a:rPr>
              <a:t>   ~5 min</a:t>
            </a:r>
          </a:p>
          <a:p>
            <a:pPr algn="l">
              <a:spcAft>
                <a:spcPts val="900"/>
              </a:spcAft>
            </a:pPr>
            <a:r>
              <a:rPr sz="1500" b="1" i="0">
                <a:solidFill>
                  <a:srgbClr val="1A1A1A"/>
                </a:solidFill>
                <a:latin typeface="Arial"/>
              </a:rPr>
              <a:t>1.8  Four signposts — three African, one international</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wrap="square"/>
          <a:lstStyle/>
          <a:p>
            <a:pPr>
              <a:spcAft>
                <a:spcPts val="1000"/>
              </a:spcAft>
            </a:pPr>
            <a:r>
              <a:rPr sz="1900" b="0" i="1">
                <a:solidFill>
                  <a:srgbClr val="1A1A1A"/>
                </a:solidFill>
                <a:latin typeface="Arial"/>
              </a:rPr>
              <a:t>Without a shared plan, every new programme rebuilds what others have already built. </a:t>
            </a:r>
          </a:p>
          <a:p>
            <a:pPr>
              <a:spcAft>
                <a:spcPts val="1000"/>
              </a:spcAft>
            </a:pPr>
            <a:r>
              <a:rPr sz="1900" b="0" i="1">
                <a:solidFill>
                  <a:srgbClr val="1A1A1A"/>
                </a:solidFill>
                <a:latin typeface="Arial"/>
              </a:rPr>
              <a:t>This module makes the case for a PAERA-anchored national EA — and names the four commitments your minister must make.</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your country needs a national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signs your government has no shared plan</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More than one register of the same people</a:t>
            </a:r>
          </a:p>
          <a:p>
            <a:pPr>
              <a:spcAft>
                <a:spcPts val="300"/>
              </a:spcAft>
            </a:pPr>
            <a:r>
              <a:rPr sz="1550" b="0" i="0">
                <a:solidFill>
                  <a:srgbClr val="595959"/>
                </a:solidFill>
                <a:latin typeface="Arial"/>
              </a:rPr>
              <a:t>The school list has one. The national ID register has another. The social register has a third. None of them agree.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Every system-to-system link built from scratch</a:t>
            </a:r>
          </a:p>
          <a:p>
            <a:pPr>
              <a:spcAft>
                <a:spcPts val="300"/>
              </a:spcAft>
            </a:pPr>
            <a:r>
              <a:rPr sz="1550" b="0" i="0">
                <a:solidFill>
                  <a:srgbClr val="595959"/>
                </a:solidFill>
                <a:latin typeface="Arial"/>
              </a:rPr>
              <a:t>Last year your team connected the tax office to the business register. This year, the same work again — for the health ministry.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Vendor lock-in on systems built years ago</a:t>
            </a:r>
          </a:p>
          <a:p>
            <a:pPr>
              <a:spcAft>
                <a:spcPts val="300"/>
              </a:spcAft>
            </a:pPr>
            <a:r>
              <a:rPr sz="1550" b="0" i="0">
                <a:solidFill>
                  <a:srgbClr val="595959"/>
                </a:solidFill>
                <a:latin typeface="Arial"/>
              </a:rPr>
              <a:t>One vendor built it ten years ago. To change anything, you call that vendor and pay what they ask. The vendor knows this, and prices accordingly.</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Ministries that do not connect across each other</a:t>
            </a:r>
          </a:p>
          <a:p>
            <a:pPr>
              <a:spcAft>
                <a:spcPts val="300"/>
              </a:spcAft>
            </a:pPr>
            <a:r>
              <a:rPr sz="1550" b="0" i="0">
                <a:solidFill>
                  <a:srgbClr val="595959"/>
                </a:solidFill>
                <a:latin typeface="Arial"/>
              </a:rPr>
              <a:t>The citizen who gave her ID number to the health ministry gives it again, on paper, when she enrols her child in school. “Ask once” exists on paper only.</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country pays in four directions at once</a:t>
            </a:r>
          </a:p>
        </p:txBody>
      </p:sp>
      <p:sp>
        <p:nvSpPr>
          <p:cNvPr id="4" name="Rounded Rectangle 3"/>
          <p:cNvSpPr/>
          <p:nvPr/>
        </p:nvSpPr>
        <p:spPr>
          <a:xfrm>
            <a:off x="65836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Money</a:t>
            </a:r>
          </a:p>
          <a:p>
            <a:pPr>
              <a:spcAft>
                <a:spcPts val="700"/>
              </a:spcAft>
            </a:pPr>
            <a:r>
              <a:rPr sz="1500" b="0" i="0">
                <a:solidFill>
                  <a:srgbClr val="595959"/>
                </a:solidFill>
                <a:latin typeface="Arial"/>
              </a:rPr>
              <a:t>The same systems built many times over.</a:t>
            </a:r>
          </a:p>
        </p:txBody>
      </p:sp>
      <p:sp>
        <p:nvSpPr>
          <p:cNvPr id="6" name="Rounded Rectangle 5"/>
          <p:cNvSpPr/>
          <p:nvPr/>
        </p:nvSpPr>
        <p:spPr>
          <a:xfrm>
            <a:off x="628192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Time</a:t>
            </a:r>
          </a:p>
          <a:p>
            <a:pPr>
              <a:spcAft>
                <a:spcPts val="700"/>
              </a:spcAft>
            </a:pPr>
            <a:r>
              <a:rPr sz="1500" b="0" i="0">
                <a:solidFill>
                  <a:srgbClr val="595959"/>
                </a:solidFill>
                <a:latin typeface="Arial"/>
              </a:rPr>
              <a:t>Every new programme waits for cross-system work nobody planned for.</a:t>
            </a:r>
          </a:p>
        </p:txBody>
      </p:sp>
      <p:sp>
        <p:nvSpPr>
          <p:cNvPr id="8" name="Rounded Rectangle 7"/>
          <p:cNvSpPr/>
          <p:nvPr/>
        </p:nvSpPr>
        <p:spPr>
          <a:xfrm>
            <a:off x="658368" y="3977639"/>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123944"/>
            <a:ext cx="4992624" cy="1965960"/>
          </a:xfrm>
          <a:prstGeom prst="rect">
            <a:avLst/>
          </a:prstGeom>
          <a:noFill/>
        </p:spPr>
        <p:txBody>
          <a:bodyPr wrap="square">
            <a:spAutoFit/>
          </a:bodyPr>
          <a:lstStyle/>
          <a:p>
            <a:pPr>
              <a:spcAft>
                <a:spcPts val="700"/>
              </a:spcAft>
            </a:pPr>
            <a:r>
              <a:rPr sz="2000" b="1" i="0">
                <a:solidFill>
                  <a:srgbClr val="1A1A1A"/>
                </a:solidFill>
                <a:latin typeface="Arial"/>
              </a:rPr>
              <a:t>Citizens</a:t>
            </a:r>
          </a:p>
          <a:p>
            <a:pPr>
              <a:spcAft>
                <a:spcPts val="700"/>
              </a:spcAft>
            </a:pPr>
            <a:r>
              <a:rPr sz="1500" b="0" i="0">
                <a:solidFill>
                  <a:srgbClr val="595959"/>
                </a:solidFill>
                <a:latin typeface="Arial"/>
              </a:rPr>
              <a:t>The same form, filled in five places.</a:t>
            </a:r>
          </a:p>
        </p:txBody>
      </p:sp>
      <p:sp>
        <p:nvSpPr>
          <p:cNvPr id="10" name="Rounded Rectangle 9"/>
          <p:cNvSpPr/>
          <p:nvPr/>
        </p:nvSpPr>
        <p:spPr>
          <a:xfrm>
            <a:off x="6281928" y="3977639"/>
            <a:ext cx="5394960" cy="22402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4123944"/>
            <a:ext cx="4992624" cy="1965960"/>
          </a:xfrm>
          <a:prstGeom prst="rect">
            <a:avLst/>
          </a:prstGeom>
          <a:noFill/>
        </p:spPr>
        <p:txBody>
          <a:bodyPr wrap="square">
            <a:spAutoFit/>
          </a:bodyPr>
          <a:lstStyle/>
          <a:p>
            <a:pPr>
              <a:spcAft>
                <a:spcPts val="700"/>
              </a:spcAft>
            </a:pPr>
            <a:r>
              <a:rPr sz="2000" b="1" i="0">
                <a:solidFill>
                  <a:srgbClr val="FFFFFF"/>
                </a:solidFill>
                <a:latin typeface="Arial"/>
              </a:rPr>
              <a:t>Your minister</a:t>
            </a:r>
          </a:p>
          <a:p>
            <a:pPr>
              <a:spcAft>
                <a:spcPts val="700"/>
              </a:spcAft>
            </a:pPr>
            <a:r>
              <a:rPr sz="1500" b="0" i="0">
                <a:solidFill>
                  <a:srgbClr val="FFFFFF"/>
                </a:solidFill>
                <a:latin typeface="Arial"/>
              </a:rPr>
              <a:t>Flagship cross-ministry programmes cannot land — the systems will not talk.</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root cause: there is no shared plan</a:t>
            </a:r>
          </a:p>
        </p:txBody>
      </p:sp>
      <p:sp>
        <p:nvSpPr>
          <p:cNvPr id="4" name="TextBox 3"/>
          <p:cNvSpPr txBox="1"/>
          <p:nvPr/>
        </p:nvSpPr>
        <p:spPr>
          <a:xfrm>
            <a:off x="658368" y="1828800"/>
            <a:ext cx="10789920" cy="2377440"/>
          </a:xfrm>
          <a:prstGeom prst="rect">
            <a:avLst/>
          </a:prstGeom>
          <a:noFill/>
        </p:spPr>
        <p:txBody>
          <a:bodyPr wrap="square">
            <a:spAutoFit/>
          </a:bodyPr>
          <a:lstStyle/>
          <a:p>
            <a:pPr>
              <a:spcAft>
                <a:spcPts val="1000"/>
              </a:spcAft>
            </a:pPr>
            <a:r>
              <a:rPr sz="2200" b="0" i="0">
                <a:solidFill>
                  <a:srgbClr val="1A1A1A"/>
                </a:solidFill>
                <a:latin typeface="Arial"/>
              </a:rPr>
              <a:t>No one has written down what your government’s digital systems are, who owns them, and how they should fit together.</a:t>
            </a:r>
          </a:p>
        </p:txBody>
      </p:sp>
      <p:sp>
        <p:nvSpPr>
          <p:cNvPr id="5" name="Rounded Rectangle 4"/>
          <p:cNvSpPr/>
          <p:nvPr/>
        </p:nvSpPr>
        <p:spPr>
          <a:xfrm>
            <a:off x="658368" y="4023360"/>
            <a:ext cx="10789920" cy="14630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15384"/>
            <a:ext cx="10387584" cy="1188720"/>
          </a:xfrm>
          <a:prstGeom prst="rect">
            <a:avLst/>
          </a:prstGeom>
          <a:noFill/>
        </p:spPr>
        <p:txBody>
          <a:bodyPr wrap="square">
            <a:spAutoFit/>
          </a:bodyPr>
          <a:lstStyle/>
          <a:p>
            <a:pPr>
              <a:spcAft>
                <a:spcPts val="700"/>
              </a:spcAft>
            </a:pPr>
            <a:r>
              <a:rPr sz="2600" b="1" i="0">
                <a:solidFill>
                  <a:srgbClr val="006E96"/>
                </a:solidFill>
                <a:latin typeface="Arial"/>
              </a:rPr>
              <a:t>A national Enterprise Architecture is that plan.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 (paera.govstack.global)</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European Interoperability Framework — Once-Only principle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an EA actually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is the agreed picture — not software you buy</a:t>
            </a:r>
          </a:p>
        </p:txBody>
      </p:sp>
      <p:sp>
        <p:nvSpPr>
          <p:cNvPr id="4" name="Rounded Rectangle 3"/>
          <p:cNvSpPr/>
          <p:nvPr/>
        </p:nvSpPr>
        <p:spPr>
          <a:xfrm>
            <a:off x="658368" y="1600200"/>
            <a:ext cx="5394960" cy="4297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46504"/>
            <a:ext cx="4992624" cy="4023360"/>
          </a:xfrm>
          <a:prstGeom prst="rect">
            <a:avLst/>
          </a:prstGeom>
          <a:noFill/>
        </p:spPr>
        <p:txBody>
          <a:bodyPr wrap="square">
            <a:spAutoFit/>
          </a:bodyPr>
          <a:lstStyle/>
          <a:p>
            <a:pPr>
              <a:spcAft>
                <a:spcPts val="700"/>
              </a:spcAft>
            </a:pPr>
            <a:r>
              <a:rPr sz="2000" b="1" i="0">
                <a:solidFill>
                  <a:srgbClr val="006E96"/>
                </a:solidFill>
                <a:latin typeface="Arial"/>
              </a:rPr>
              <a:t>An EA is</a:t>
            </a:r>
          </a:p>
          <a:p>
            <a:pPr>
              <a:spcAft>
                <a:spcPts val="700"/>
              </a:spcAft>
            </a:pPr>
            <a:r>
              <a:rPr sz="1700" b="0" i="0">
                <a:solidFill>
                  <a:srgbClr val="1A1A1A"/>
                </a:solidFill>
                <a:latin typeface="Arial"/>
              </a:rPr>
              <a:t>the agreed picture of your government</a:t>
            </a:r>
          </a:p>
          <a:p>
            <a:pPr>
              <a:spcAft>
                <a:spcPts val="700"/>
              </a:spcAft>
            </a:pPr>
            <a:r>
              <a:rPr sz="1700" b="0" i="0">
                <a:solidFill>
                  <a:srgbClr val="1A1A1A"/>
                </a:solidFill>
                <a:latin typeface="Arial"/>
              </a:rPr>
              <a:t>a set of documents and diagrams</a:t>
            </a:r>
          </a:p>
          <a:p>
            <a:pPr>
              <a:spcAft>
                <a:spcPts val="700"/>
              </a:spcAft>
            </a:pPr>
            <a:r>
              <a:rPr sz="1700" b="0" i="0">
                <a:solidFill>
                  <a:srgbClr val="1A1A1A"/>
                </a:solidFill>
                <a:latin typeface="Arial"/>
              </a:rPr>
              <a:t>the same description everyone uses — minister, CIO, donor, vendor</a:t>
            </a:r>
          </a:p>
        </p:txBody>
      </p:sp>
      <p:sp>
        <p:nvSpPr>
          <p:cNvPr id="6" name="Rounded Rectangle 5"/>
          <p:cNvSpPr/>
          <p:nvPr/>
        </p:nvSpPr>
        <p:spPr>
          <a:xfrm>
            <a:off x="6281928" y="1600200"/>
            <a:ext cx="5394960" cy="42976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46504"/>
            <a:ext cx="4992624" cy="4023360"/>
          </a:xfrm>
          <a:prstGeom prst="rect">
            <a:avLst/>
          </a:prstGeom>
          <a:noFill/>
        </p:spPr>
        <p:txBody>
          <a:bodyPr wrap="square">
            <a:spAutoFit/>
          </a:bodyPr>
          <a:lstStyle/>
          <a:p>
            <a:pPr>
              <a:spcAft>
                <a:spcPts val="700"/>
              </a:spcAft>
            </a:pPr>
            <a:r>
              <a:rPr sz="2000" b="1" i="0">
                <a:solidFill>
                  <a:srgbClr val="595959"/>
                </a:solidFill>
                <a:latin typeface="Arial"/>
              </a:rPr>
              <a:t>An EA is not</a:t>
            </a:r>
          </a:p>
          <a:p>
            <a:pPr>
              <a:spcAft>
                <a:spcPts val="700"/>
              </a:spcAft>
            </a:pPr>
            <a:r>
              <a:rPr sz="1700" b="0" i="0">
                <a:solidFill>
                  <a:srgbClr val="1A1A1A"/>
                </a:solidFill>
                <a:latin typeface="Arial"/>
              </a:rPr>
              <a:t>software</a:t>
            </a:r>
          </a:p>
          <a:p>
            <a:pPr>
              <a:spcAft>
                <a:spcPts val="700"/>
              </a:spcAft>
            </a:pPr>
            <a:r>
              <a:rPr sz="1700" b="0" i="0">
                <a:solidFill>
                  <a:srgbClr val="1A1A1A"/>
                </a:solidFill>
                <a:latin typeface="Arial"/>
              </a:rPr>
              <a:t>a vendor product</a:t>
            </a:r>
          </a:p>
          <a:p>
            <a:pPr>
              <a:spcAft>
                <a:spcPts val="700"/>
              </a:spcAft>
            </a:pPr>
            <a:r>
              <a:rPr sz="1700" b="0" i="0">
                <a:solidFill>
                  <a:srgbClr val="1A1A1A"/>
                </a:solidFill>
                <a:latin typeface="Arial"/>
              </a:rPr>
              <a:t>a tool you procure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 donor, vendor — all use the same picture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Your minister — to brief cabinet</a:t>
            </a:r>
          </a:p>
          <a:p>
            <a:pPr>
              <a:spcAft>
                <a:spcPts val="300"/>
              </a:spcAft>
            </a:pPr>
            <a:r>
              <a:rPr sz="1550" b="0" i="0">
                <a:solidFill>
                  <a:srgbClr val="595959"/>
                </a:solidFill>
                <a:latin typeface="Arial"/>
              </a:rPr>
              <a:t>They cannot describe what the country’s digital spend is buying without an agreed picture of what the systems are.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The donor — before funding the next programme</a:t>
            </a:r>
          </a:p>
          <a:p>
            <a:pPr>
              <a:spcAft>
                <a:spcPts val="300"/>
              </a:spcAft>
            </a:pPr>
            <a:r>
              <a:rPr sz="1550" b="0" i="0">
                <a:solidFill>
                  <a:srgbClr val="595959"/>
                </a:solidFill>
                <a:latin typeface="Arial"/>
              </a:rPr>
              <a:t>They want to see how their investment fits with the others.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The vendor — to match what they propose</a:t>
            </a:r>
          </a:p>
          <a:p>
            <a:pPr>
              <a:spcAft>
                <a:spcPts val="300"/>
              </a:spcAft>
            </a:pPr>
            <a:r>
              <a:rPr sz="1550" b="0" i="0">
                <a:solidFill>
                  <a:srgbClr val="595959"/>
                </a:solidFill>
                <a:latin typeface="Arial"/>
              </a:rPr>
              <a:t>What they build must fit what is already there.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You — to keep all three aligned</a:t>
            </a:r>
          </a:p>
          <a:p>
            <a:pPr>
              <a:spcAft>
                <a:spcPts val="300"/>
              </a:spcAft>
            </a:pPr>
            <a:r>
              <a:rPr sz="1550" b="0" i="0">
                <a:solidFill>
                  <a:srgbClr val="595959"/>
                </a:solidFill>
                <a:latin typeface="Arial"/>
              </a:rPr>
              <a:t>So the donor funds what the country needs, the vendor builds what fits, and the minister tells a coherent story.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picture has four parts</a:t>
            </a:r>
          </a:p>
        </p:txBody>
      </p:sp>
      <p:sp>
        <p:nvSpPr>
          <p:cNvPr id="4" name="Rounded Rectangle 3"/>
          <p:cNvSpPr/>
          <p:nvPr/>
        </p:nvSpPr>
        <p:spPr>
          <a:xfrm>
            <a:off x="658368" y="146304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09344"/>
            <a:ext cx="8321040" cy="841247"/>
          </a:xfrm>
          <a:prstGeom prst="rect">
            <a:avLst/>
          </a:prstGeom>
          <a:noFill/>
        </p:spPr>
        <p:txBody>
          <a:bodyPr wrap="square">
            <a:spAutoFit/>
          </a:bodyPr>
          <a:lstStyle/>
          <a:p>
            <a:pPr>
              <a:spcAft>
                <a:spcPts val="700"/>
              </a:spcAft>
            </a:pPr>
            <a:r>
              <a:rPr sz="1800" b="1" i="0">
                <a:solidFill>
                  <a:srgbClr val="1A1A1A"/>
                </a:solidFill>
                <a:latin typeface="Arial"/>
              </a:rPr>
              <a:t>Services</a:t>
            </a:r>
            <a:r>
              <a:rPr sz="1400" b="0" i="0">
                <a:solidFill>
                  <a:srgbClr val="595959"/>
                </a:solidFill>
                <a:latin typeface="Arial"/>
              </a:rPr>
              <a:t>   What your government does, and for whom. The layer your minister talks about — the layer the public sees.</a:t>
            </a:r>
          </a:p>
        </p:txBody>
      </p:sp>
      <p:sp>
        <p:nvSpPr>
          <p:cNvPr id="6" name="Rounded Rectangle 5"/>
          <p:cNvSpPr/>
          <p:nvPr/>
        </p:nvSpPr>
        <p:spPr>
          <a:xfrm>
            <a:off x="658368" y="2651760"/>
            <a:ext cx="8778240" cy="1115568"/>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798064"/>
            <a:ext cx="8321040" cy="841247"/>
          </a:xfrm>
          <a:prstGeom prst="rect">
            <a:avLst/>
          </a:prstGeom>
          <a:noFill/>
        </p:spPr>
        <p:txBody>
          <a:bodyPr wrap="square">
            <a:spAutoFit/>
          </a:bodyPr>
          <a:lstStyle/>
          <a:p>
            <a:pPr>
              <a:spcAft>
                <a:spcPts val="700"/>
              </a:spcAft>
            </a:pPr>
            <a:r>
              <a:rPr sz="1800" b="1" i="0">
                <a:solidFill>
                  <a:srgbClr val="FFFFFF"/>
                </a:solidFill>
                <a:latin typeface="Arial"/>
              </a:rPr>
              <a:t>Data</a:t>
            </a:r>
            <a:r>
              <a:rPr sz="1400" b="0" i="0">
                <a:solidFill>
                  <a:srgbClr val="FFFFFF"/>
                </a:solidFill>
                <a:latin typeface="Arial"/>
              </a:rPr>
              <a:t>   The information your government holds, who owns it, where the authoritative copy lives.</a:t>
            </a:r>
          </a:p>
        </p:txBody>
      </p:sp>
      <p:sp>
        <p:nvSpPr>
          <p:cNvPr id="8" name="Rounded Rectangle 7"/>
          <p:cNvSpPr/>
          <p:nvPr/>
        </p:nvSpPr>
        <p:spPr>
          <a:xfrm>
            <a:off x="658368" y="384048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3986784"/>
            <a:ext cx="8321040" cy="841247"/>
          </a:xfrm>
          <a:prstGeom prst="rect">
            <a:avLst/>
          </a:prstGeom>
          <a:noFill/>
        </p:spPr>
        <p:txBody>
          <a:bodyPr wrap="square">
            <a:spAutoFit/>
          </a:bodyPr>
          <a:lstStyle/>
          <a:p>
            <a:pPr>
              <a:spcAft>
                <a:spcPts val="700"/>
              </a:spcAft>
            </a:pPr>
            <a:r>
              <a:rPr sz="1800" b="1" i="0">
                <a:solidFill>
                  <a:srgbClr val="1A1A1A"/>
                </a:solidFill>
                <a:latin typeface="Arial"/>
              </a:rPr>
              <a:t>Applications</a:t>
            </a:r>
            <a:r>
              <a:rPr sz="1400" b="0" i="0">
                <a:solidFill>
                  <a:srgbClr val="595959"/>
                </a:solidFill>
                <a:latin typeface="Arial"/>
              </a:rPr>
              <a:t>   The software that uses the data to deliver the services. What gets bought, built, integrated, replaced.</a:t>
            </a:r>
          </a:p>
        </p:txBody>
      </p:sp>
      <p:sp>
        <p:nvSpPr>
          <p:cNvPr id="10" name="Rounded Rectangle 9"/>
          <p:cNvSpPr/>
          <p:nvPr/>
        </p:nvSpPr>
        <p:spPr>
          <a:xfrm>
            <a:off x="658368" y="502920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5175504"/>
            <a:ext cx="8321040" cy="841247"/>
          </a:xfrm>
          <a:prstGeom prst="rect">
            <a:avLst/>
          </a:prstGeom>
          <a:noFill/>
        </p:spPr>
        <p:txBody>
          <a:bodyPr wrap="square">
            <a:spAutoFit/>
          </a:bodyPr>
          <a:lstStyle/>
          <a:p>
            <a:pPr>
              <a:spcAft>
                <a:spcPts val="700"/>
              </a:spcAft>
            </a:pPr>
            <a:r>
              <a:rPr sz="1800" b="1" i="0">
                <a:solidFill>
                  <a:srgbClr val="1A1A1A"/>
                </a:solidFill>
                <a:latin typeface="Arial"/>
              </a:rPr>
              <a:t>Technology</a:t>
            </a:r>
            <a:r>
              <a:rPr sz="1400" b="0" i="0">
                <a:solidFill>
                  <a:srgbClr val="595959"/>
                </a:solidFill>
                <a:latin typeface="Arial"/>
              </a:rPr>
              <a:t>   The infrastructure underneath — networks, hosting, identity, security.</a:t>
            </a:r>
          </a:p>
        </p:txBody>
      </p:sp>
      <p:sp>
        <p:nvSpPr>
          <p:cNvPr id="12" name="TextBox 11"/>
          <p:cNvSpPr txBox="1"/>
          <p:nvPr/>
        </p:nvSpPr>
        <p:spPr>
          <a:xfrm>
            <a:off x="9646920" y="2331720"/>
            <a:ext cx="2103120" cy="2011680"/>
          </a:xfrm>
          <a:prstGeom prst="rect">
            <a:avLst/>
          </a:prstGeom>
          <a:noFill/>
        </p:spPr>
        <p:txBody>
          <a:bodyPr wrap="square">
            <a:spAutoFit/>
          </a:bodyPr>
          <a:lstStyle/>
          <a:p>
            <a:pPr>
              <a:spcAft>
                <a:spcPts val="800"/>
              </a:spcAft>
            </a:pPr>
            <a:r>
              <a:rPr sz="1300" b="0" i="1">
                <a:solidFill>
                  <a:srgbClr val="595959"/>
                </a:solidFill>
                <a:latin typeface="Arial"/>
              </a:rPr>
              <a:t>Applications come and go. Technology cycles every decade.</a:t>
            </a:r>
          </a:p>
          <a:p>
            <a:pPr>
              <a:spcAft>
                <a:spcPts val="800"/>
              </a:spcAft>
            </a:pPr>
            <a:r>
              <a:rPr sz="1500" b="1" i="0">
                <a:solidFill>
                  <a:srgbClr val="006E96"/>
                </a:solidFill>
                <a:latin typeface="Arial"/>
              </a:rPr>
              <a:t>Data outlasts them all.</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down, a list of projects becomes a system</a:t>
            </a:r>
          </a:p>
        </p:txBody>
      </p:sp>
      <p:sp>
        <p:nvSpPr>
          <p:cNvPr id="4" name="TextBox 3"/>
          <p:cNvSpPr txBox="1"/>
          <p:nvPr/>
        </p:nvSpPr>
        <p:spPr>
          <a:xfrm>
            <a:off x="658368" y="1737360"/>
            <a:ext cx="10789920" cy="4114800"/>
          </a:xfrm>
          <a:prstGeom prst="rect">
            <a:avLst/>
          </a:prstGeom>
          <a:noFill/>
        </p:spPr>
        <p:txBody>
          <a:bodyPr wrap="square">
            <a:spAutoFit/>
          </a:bodyPr>
          <a:lstStyle/>
          <a:p>
            <a:pPr>
              <a:spcAft>
                <a:spcPts val="1400"/>
              </a:spcAft>
            </a:pPr>
            <a:r>
              <a:rPr sz="2200" b="0" i="0">
                <a:solidFill>
                  <a:srgbClr val="1A1A1A"/>
                </a:solidFill>
                <a:latin typeface="Arial"/>
              </a:rPr>
              <a:t>When you write down all four parts, your digital landscape stops being a list of unrelated projects. It starts looking like a system —</a:t>
            </a:r>
          </a:p>
          <a:p>
            <a:pPr>
              <a:spcAft>
                <a:spcPts val="1400"/>
              </a:spcAft>
            </a:pPr>
            <a:r>
              <a:rPr sz="2200" b="0" i="0">
                <a:solidFill>
                  <a:srgbClr val="1A1A1A"/>
                </a:solidFill>
                <a:latin typeface="Arial"/>
              </a:rPr>
              <a:t>a system you can change deliberately,</a:t>
            </a:r>
          </a:p>
          <a:p>
            <a:pPr>
              <a:spcAft>
                <a:spcPts val="1400"/>
              </a:spcAft>
            </a:pPr>
            <a:r>
              <a:rPr sz="2200" b="0" i="0">
                <a:solidFill>
                  <a:srgbClr val="1A1A1A"/>
                </a:solidFill>
                <a:latin typeface="Arial"/>
              </a:rPr>
              <a:t>a system you can plan investments against,</a:t>
            </a:r>
          </a:p>
          <a:p>
            <a:pPr>
              <a:spcAft>
                <a:spcPts val="1400"/>
              </a:spcAft>
            </a:pPr>
            <a:r>
              <a:rPr sz="2200" b="0" i="0">
                <a:solidFill>
                  <a:srgbClr val="1A1A1A"/>
                </a:solidFill>
                <a:latin typeface="Arial"/>
              </a:rPr>
              <a:t>a system you can talk about across ministries, with donors and vendors, without re-explaining the basics every time.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is the agreed picture of your government — and the tool that lets you lead the conversation about what comes next.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TOGAF — BDAT layering reference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projects can't do this themselves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They cannot deliver it. Only planning at the level of the whole government, supported by reference architectures, can.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project is rational — and builds its own</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000" b="1" i="0">
                <a:solidFill>
                  <a:srgbClr val="1A1A1A"/>
                </a:solidFill>
                <a:latin typeface="Arial"/>
              </a:rPr>
              <a:t>The question every project asks</a:t>
            </a:r>
          </a:p>
          <a:p>
            <a:pPr>
              <a:spcAft>
                <a:spcPts val="300"/>
              </a:spcAft>
            </a:pPr>
            <a:r>
              <a:rPr sz="1600" b="0" i="0">
                <a:solidFill>
                  <a:srgbClr val="595959"/>
                </a:solidFill>
                <a:latin typeface="Arial"/>
              </a:rPr>
              <a:t>“How do we ship on time and on budget?”</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000" b="1" i="0">
                <a:solidFill>
                  <a:srgbClr val="1A1A1A"/>
                </a:solidFill>
                <a:latin typeface="Arial"/>
              </a:rPr>
              <a:t>What re-use costs the project</a:t>
            </a:r>
          </a:p>
          <a:p>
            <a:pPr>
              <a:spcAft>
                <a:spcPts val="300"/>
              </a:spcAft>
            </a:pPr>
            <a:r>
              <a:rPr sz="1600" b="0" i="0">
                <a:solidFill>
                  <a:srgbClr val="595959"/>
                </a:solidFill>
                <a:latin typeface="Arial"/>
              </a:rPr>
              <a:t>Learn another ministry’s system. Negotiate with their team. Accept their delays.</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000" b="1" i="0">
                <a:solidFill>
                  <a:srgbClr val="1A1A1A"/>
                </a:solidFill>
                <a:latin typeface="Arial"/>
              </a:rPr>
              <a:t>So the team builds its own — and that is not a failure of discipline</a:t>
            </a:r>
          </a:p>
          <a:p>
            <a:pPr>
              <a:spcAft>
                <a:spcPts val="300"/>
              </a:spcAft>
            </a:pPr>
            <a:r>
              <a:rPr sz="1600" b="0" i="0">
                <a:solidFill>
                  <a:srgbClr val="595959"/>
                </a:solidFill>
                <a:latin typeface="Arial"/>
              </a:rPr>
              <a:t>Building your own version is faster and simpler. The project is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math changes only at whole-of-government level</a:t>
            </a:r>
          </a:p>
        </p:txBody>
      </p:sp>
      <p:sp>
        <p:nvSpPr>
          <p:cNvPr id="4" name="Rounded Rectangle 3"/>
          <p:cNvSpPr/>
          <p:nvPr/>
        </p:nvSpPr>
        <p:spPr>
          <a:xfrm>
            <a:off x="658368" y="1645920"/>
            <a:ext cx="2606040" cy="15544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92224"/>
            <a:ext cx="2276856" cy="1280160"/>
          </a:xfrm>
          <a:prstGeom prst="rect">
            <a:avLst/>
          </a:prstGeom>
          <a:noFill/>
        </p:spPr>
        <p:txBody>
          <a:bodyPr wrap="square">
            <a:spAutoFit/>
          </a:bodyPr>
          <a:lstStyle/>
          <a:p>
            <a:pPr>
              <a:spcAft>
                <a:spcPts val="700"/>
              </a:spcAft>
            </a:pPr>
            <a:r>
              <a:rPr sz="1600" b="1" i="0">
                <a:solidFill>
                  <a:srgbClr val="FFFFFF"/>
                </a:solidFill>
                <a:latin typeface="Arial"/>
              </a:rPr>
              <a:t>Ministry 1</a:t>
            </a:r>
          </a:p>
          <a:p>
            <a:pPr>
              <a:spcAft>
                <a:spcPts val="700"/>
              </a:spcAft>
            </a:pPr>
            <a:r>
              <a:rPr sz="1300" b="0" i="0">
                <a:solidFill>
                  <a:srgbClr val="FFFFFF"/>
                </a:solidFill>
                <a:latin typeface="Arial"/>
              </a:rPr>
              <a:t>pays to build the identity system</a:t>
            </a:r>
          </a:p>
        </p:txBody>
      </p:sp>
      <p:sp>
        <p:nvSpPr>
          <p:cNvPr id="6" name="Rounded Rectangle 5"/>
          <p:cNvSpPr/>
          <p:nvPr/>
        </p:nvSpPr>
        <p:spPr>
          <a:xfrm>
            <a:off x="34015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2</a:t>
            </a:r>
          </a:p>
          <a:p>
            <a:pPr>
              <a:spcAft>
                <a:spcPts val="700"/>
              </a:spcAft>
            </a:pPr>
            <a:r>
              <a:rPr sz="1300" b="0" i="0">
                <a:solidFill>
                  <a:srgbClr val="595959"/>
                </a:solidFill>
                <a:latin typeface="Arial"/>
              </a:rPr>
              <a:t>does not — it consumes the first</a:t>
            </a:r>
          </a:p>
        </p:txBody>
      </p:sp>
      <p:sp>
        <p:nvSpPr>
          <p:cNvPr id="8" name="Rounded Rectangle 7"/>
          <p:cNvSpPr/>
          <p:nvPr/>
        </p:nvSpPr>
        <p:spPr>
          <a:xfrm>
            <a:off x="61447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59"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3</a:t>
            </a:r>
          </a:p>
          <a:p>
            <a:pPr>
              <a:spcAft>
                <a:spcPts val="700"/>
              </a:spcAft>
            </a:pPr>
            <a:r>
              <a:rPr sz="1300" b="0" i="0">
                <a:solidFill>
                  <a:srgbClr val="595959"/>
                </a:solidFill>
                <a:latin typeface="Arial"/>
              </a:rPr>
              <a:t>does not — it consumes the same</a:t>
            </a:r>
          </a:p>
        </p:txBody>
      </p:sp>
      <p:sp>
        <p:nvSpPr>
          <p:cNvPr id="10" name="Rounded Rectangle 9"/>
          <p:cNvSpPr/>
          <p:nvPr/>
        </p:nvSpPr>
        <p:spPr>
          <a:xfrm>
            <a:off x="88879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4</a:t>
            </a:r>
          </a:p>
          <a:p>
            <a:pPr>
              <a:spcAft>
                <a:spcPts val="700"/>
              </a:spcAft>
            </a:pPr>
            <a:r>
              <a:rPr sz="1300" b="0" i="0">
                <a:solidFill>
                  <a:srgbClr val="595959"/>
                </a:solidFill>
                <a:latin typeface="Arial"/>
              </a:rPr>
              <a:t>does not — it consumes the same</a:t>
            </a:r>
          </a:p>
        </p:txBody>
      </p:sp>
      <p:sp>
        <p:nvSpPr>
          <p:cNvPr id="12" name="TextBox 11"/>
          <p:cNvSpPr txBox="1"/>
          <p:nvPr/>
        </p:nvSpPr>
        <p:spPr>
          <a:xfrm>
            <a:off x="658368" y="3657600"/>
            <a:ext cx="10789920" cy="1005840"/>
          </a:xfrm>
          <a:prstGeom prst="rect">
            <a:avLst/>
          </a:prstGeom>
          <a:noFill/>
        </p:spPr>
        <p:txBody>
          <a:bodyPr wrap="square">
            <a:spAutoFit/>
          </a:bodyPr>
          <a:lstStyle/>
          <a:p>
            <a:r>
              <a:rPr sz="2000" b="1" i="0">
                <a:solidFill>
                  <a:srgbClr val="1A1A1A"/>
                </a:solidFill>
                <a:latin typeface="Arial"/>
              </a:rPr>
              <a:t>Over five years, the country saves a meaningful share of its sectoral digital spend.</a:t>
            </a:r>
          </a:p>
        </p:txBody>
      </p:sp>
      <p:sp>
        <p:nvSpPr>
          <p:cNvPr id="13" name="TextBox 12"/>
          <p:cNvSpPr txBox="1"/>
          <p:nvPr/>
        </p:nvSpPr>
        <p:spPr>
          <a:xfrm>
            <a:off x="658368" y="4709160"/>
            <a:ext cx="10789920" cy="1463040"/>
          </a:xfrm>
          <a:prstGeom prst="rect">
            <a:avLst/>
          </a:prstGeom>
          <a:noFill/>
        </p:spPr>
        <p:txBody>
          <a:bodyPr wrap="square">
            <a:spAutoFit/>
          </a:bodyPr>
          <a:lstStyle/>
          <a:p>
            <a:r>
              <a:rPr sz="1600" b="0" i="0">
                <a:solidFill>
                  <a:srgbClr val="595959"/>
                </a:solidFill>
                <a:latin typeface="Arial"/>
              </a:rPr>
              <a:t>But this view does not exist inside any single project. It exists only at the level of your country’s whole digital portfolio — the view an EA gives you, and the view your minister needs to make funding decisions.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more things projects cannot deliver</a:t>
            </a:r>
          </a:p>
        </p:txBody>
      </p:sp>
      <p:sp>
        <p:nvSpPr>
          <p:cNvPr id="4" name="Rounded Rectangle 3"/>
          <p:cNvSpPr/>
          <p:nvPr/>
        </p:nvSpPr>
        <p:spPr>
          <a:xfrm>
            <a:off x="65836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Sustainability</a:t>
            </a:r>
          </a:p>
          <a:p>
            <a:pPr>
              <a:spcAft>
                <a:spcPts val="700"/>
              </a:spcAft>
            </a:pPr>
            <a:r>
              <a:rPr sz="1600" b="0" i="0">
                <a:solidFill>
                  <a:srgbClr val="1A1A1A"/>
                </a:solidFill>
                <a:latin typeface="Arial"/>
              </a:rPr>
              <a:t>Twelve years from now, the original vendor is gone. The open-source library has forked. The technology has moved on. The system is still in service — and nobody fully understands it.</a:t>
            </a:r>
          </a:p>
          <a:p>
            <a:pPr>
              <a:spcAft>
                <a:spcPts val="700"/>
              </a:spcAft>
            </a:pPr>
            <a:r>
              <a:rPr sz="1600" b="1" i="0">
                <a:solidFill>
                  <a:srgbClr val="1A1A1A"/>
                </a:solidFill>
                <a:latin typeface="Arial"/>
              </a:rPr>
              <a:t>Projects are not incentivised to plan for that moment. They are incentivised to ship.</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Complexity reduction</a:t>
            </a:r>
          </a:p>
          <a:p>
            <a:pPr>
              <a:spcAft>
                <a:spcPts val="700"/>
              </a:spcAft>
            </a:pPr>
            <a:r>
              <a:rPr sz="1600" b="0" i="0">
                <a:solidFill>
                  <a:srgbClr val="1A1A1A"/>
                </a:solidFill>
                <a:latin typeface="Arial"/>
              </a:rPr>
              <a:t>A project says yes to most feature requests, because requests come from people the project must please. Five years later, the system is too complex to maintain or change.</a:t>
            </a:r>
          </a:p>
          <a:p>
            <a:pPr>
              <a:spcAft>
                <a:spcPts val="700"/>
              </a:spcAft>
            </a:pPr>
            <a:r>
              <a:rPr sz="1600" b="1" i="0">
                <a:solidFill>
                  <a:srgbClr val="1A1A1A"/>
                </a:solidFill>
                <a:latin typeface="Arial"/>
              </a:rPr>
              <a:t>Saying no requires authority the project does not have.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reference architecture is other countries' learning, written down</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Other countries have built these systems for decades</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They learned what survives technology change — and what cost them dearly</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A reference architecture is that learning, written down. PAERA is one such reference.</a:t>
            </a:r>
          </a:p>
          <a:p>
            <a:pPr>
              <a:spcAft>
                <a:spcPts val="300"/>
              </a:spcAft>
            </a:pPr>
            <a:r>
              <a:rPr sz="1600" b="0" i="0">
                <a:solidFill>
                  <a:srgbClr val="595959"/>
                </a:solidFill>
                <a:latin typeface="Arial"/>
              </a:rPr>
              <a:t>Adopting it means starting with their lessons, instead of paying for the same lessons yourself over the next twenty years.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Re-use, sustainability, complexity reduction — none of these come from projects. All of them come from planning.</a:t>
            </a:r>
          </a:p>
        </p:txBody>
      </p:sp>
      <p:sp>
        <p:nvSpPr>
          <p:cNvPr id="3" name="TextBox 2"/>
          <p:cNvSpPr txBox="1"/>
          <p:nvPr/>
        </p:nvSpPr>
        <p:spPr>
          <a:xfrm>
            <a:off x="1005840" y="4663440"/>
            <a:ext cx="10149840" cy="914400"/>
          </a:xfrm>
          <a:prstGeom prst="rect">
            <a:avLst/>
          </a:prstGeom>
          <a:noFill/>
        </p:spPr>
        <p:txBody>
          <a:bodyPr wrap="square">
            <a:spAutoFit/>
          </a:bodyPr>
          <a:lstStyle/>
          <a:p>
            <a:r>
              <a:rPr sz="1600" b="0" i="1">
                <a:solidFill>
                  <a:srgbClr val="595959"/>
                </a:solidFill>
                <a:latin typeface="Arial"/>
              </a:rPr>
              <a:t>The four-part picture is the artefact. Planning is the function. That is why your minister must commission an EA separately, deliberately, with sustained funding.</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an EA matters more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Putting paper online is no longer the main work</a:t>
            </a:r>
          </a:p>
        </p:txBody>
      </p:sp>
      <p:sp>
        <p:nvSpPr>
          <p:cNvPr id="4" name="Rounded Rectangle 3"/>
          <p:cNvSpPr/>
          <p:nvPr/>
        </p:nvSpPr>
        <p:spPr>
          <a:xfrm>
            <a:off x="658368"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595959"/>
                </a:solidFill>
                <a:latin typeface="Arial"/>
              </a:rPr>
              <a:t>The old work</a:t>
            </a:r>
          </a:p>
          <a:p>
            <a:pPr>
              <a:spcAft>
                <a:spcPts val="700"/>
              </a:spcAft>
            </a:pPr>
            <a:r>
              <a:rPr sz="1600" b="0" i="0">
                <a:solidFill>
                  <a:srgbClr val="1A1A1A"/>
                </a:solidFill>
                <a:latin typeface="Arial"/>
              </a:rPr>
              <a:t>Take a paper process and put it online</a:t>
            </a:r>
          </a:p>
          <a:p>
            <a:pPr>
              <a:spcAft>
                <a:spcPts val="700"/>
              </a:spcAft>
            </a:pPr>
            <a:r>
              <a:rPr sz="1600" b="0" i="0">
                <a:solidFill>
                  <a:srgbClr val="1A1A1A"/>
                </a:solidFill>
                <a:latin typeface="Arial"/>
              </a:rPr>
              <a:t>The ministry’s operating model stays the same</a:t>
            </a:r>
          </a:p>
          <a:p>
            <a:pPr>
              <a:spcAft>
                <a:spcPts val="700"/>
              </a:spcAft>
            </a:pPr>
            <a:r>
              <a:rPr sz="1600" b="0" i="0">
                <a:solidFill>
                  <a:srgbClr val="1A1A1A"/>
                </a:solidFill>
                <a:latin typeface="Arial"/>
              </a:rPr>
              <a:t>Business decides what; IT delivers how</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The new work</a:t>
            </a:r>
          </a:p>
          <a:p>
            <a:pPr>
              <a:spcAft>
                <a:spcPts val="700"/>
              </a:spcAft>
            </a:pPr>
            <a:r>
              <a:rPr sz="1600" b="0" i="0">
                <a:solidFill>
                  <a:srgbClr val="1A1A1A"/>
                </a:solidFill>
                <a:latin typeface="Arial"/>
              </a:rPr>
              <a:t>Redesign how citizens are served</a:t>
            </a:r>
          </a:p>
          <a:p>
            <a:pPr>
              <a:spcAft>
                <a:spcPts val="700"/>
              </a:spcAft>
            </a:pPr>
            <a:r>
              <a:rPr sz="1600" b="0" i="0">
                <a:solidFill>
                  <a:srgbClr val="1A1A1A"/>
                </a:solidFill>
                <a:latin typeface="Arial"/>
              </a:rPr>
              <a:t>The ministry’s operating model changes</a:t>
            </a:r>
          </a:p>
          <a:p>
            <a:pPr>
              <a:spcAft>
                <a:spcPts val="700"/>
              </a:spcAft>
            </a:pPr>
            <a:r>
              <a:rPr sz="1600" b="1" i="0">
                <a:solidFill>
                  <a:srgbClr val="1A1A1A"/>
                </a:solidFill>
                <a:latin typeface="Arial"/>
              </a:rPr>
              <a:t>Business and IT decide together</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redesigns how citizens are served</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One farmer registry</a:t>
            </a:r>
          </a:p>
          <a:p>
            <a:pPr>
              <a:spcAft>
                <a:spcPts val="300"/>
              </a:spcAft>
            </a:pPr>
            <a:r>
              <a:rPr sz="1600" b="0" i="0">
                <a:solidFill>
                  <a:srgbClr val="595959"/>
                </a:solidFill>
                <a:latin typeface="Arial"/>
              </a:rPr>
              <a:t>Shared by the agriculture ministry, the cooperative bank, the input subsidy programme and the climate-resilience programme — the same farmer, recognised the same way, by all of them.</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One national identity</a:t>
            </a:r>
          </a:p>
          <a:p>
            <a:pPr>
              <a:spcAft>
                <a:spcPts val="300"/>
              </a:spcAft>
            </a:pPr>
            <a:r>
              <a:rPr sz="1600" b="0" i="0">
                <a:solidFill>
                  <a:srgbClr val="595959"/>
                </a:solidFill>
                <a:latin typeface="Arial"/>
              </a:rPr>
              <a:t>A citizen proves who they are at any service, without paper.</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One learner record</a:t>
            </a:r>
          </a:p>
          <a:p>
            <a:pPr>
              <a:spcAft>
                <a:spcPts val="300"/>
              </a:spcAft>
            </a:pPr>
            <a:r>
              <a:rPr sz="1600" b="0" i="0">
                <a:solidFill>
                  <a:srgbClr val="595959"/>
                </a:solidFill>
                <a:latin typeface="Arial"/>
              </a:rPr>
              <a:t>It follows the child from primary school to university.</a:t>
            </a:r>
          </a:p>
        </p:txBody>
      </p:sp>
      <p:sp>
        <p:nvSpPr>
          <p:cNvPr id="9" name="TextBox 8"/>
          <p:cNvSpPr txBox="1"/>
          <p:nvPr/>
        </p:nvSpPr>
        <p:spPr>
          <a:xfrm>
            <a:off x="658368" y="5623560"/>
            <a:ext cx="10789920" cy="640080"/>
          </a:xfrm>
          <a:prstGeom prst="rect">
            <a:avLst/>
          </a:prstGeom>
          <a:noFill/>
        </p:spPr>
        <p:txBody>
          <a:bodyPr wrap="square">
            <a:spAutoFit/>
          </a:bodyPr>
          <a:lstStyle/>
          <a:p>
            <a:r>
              <a:rPr sz="1700" b="1" i="0">
                <a:solidFill>
                  <a:srgbClr val="006E96"/>
                </a:solidFill>
                <a:latin typeface="Arial"/>
              </a:rPr>
              <a:t>None of these is “put it online.” Each is a redesign of how the ministry works.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needs business and IT to decide together</a:t>
            </a:r>
          </a:p>
        </p:txBody>
      </p:sp>
      <p:sp>
        <p:nvSpPr>
          <p:cNvPr id="4" name="TextBox 3"/>
          <p:cNvSpPr txBox="1"/>
          <p:nvPr/>
        </p:nvSpPr>
        <p:spPr>
          <a:xfrm>
            <a:off x="658368" y="1828800"/>
            <a:ext cx="10789920" cy="3931920"/>
          </a:xfrm>
          <a:prstGeom prst="rect">
            <a:avLst/>
          </a:prstGeom>
          <a:noFill/>
        </p:spPr>
        <p:txBody>
          <a:bodyPr wrap="square">
            <a:spAutoFit/>
          </a:bodyPr>
          <a:lstStyle/>
          <a:p>
            <a:pPr>
              <a:spcAft>
                <a:spcPts val="1600"/>
              </a:spcAft>
            </a:pPr>
            <a:r>
              <a:rPr sz="2200" b="0" i="0">
                <a:solidFill>
                  <a:srgbClr val="1A1A1A"/>
                </a:solidFill>
                <a:latin typeface="Arial"/>
              </a:rPr>
              <a:t>When you redesign how your ministry works, two groups must decide together.</a:t>
            </a:r>
          </a:p>
          <a:p>
            <a:pPr>
              <a:spcAft>
                <a:spcPts val="1600"/>
              </a:spcAft>
            </a:pPr>
            <a:r>
              <a:rPr sz="2000" b="1" i="0">
                <a:solidFill>
                  <a:srgbClr val="1A1A1A"/>
                </a:solidFill>
                <a:latin typeface="Arial"/>
              </a:rPr>
              <a:t>The business side: </a:t>
            </a:r>
            <a:r>
              <a:rPr sz="2000" b="0" i="0">
                <a:solidFill>
                  <a:srgbClr val="1A1A1A"/>
                </a:solidFill>
                <a:latin typeface="Arial"/>
              </a:rPr>
              <a:t>your minister, your director-general, your head of policy.</a:t>
            </a:r>
          </a:p>
          <a:p>
            <a:pPr>
              <a:spcAft>
                <a:spcPts val="1600"/>
              </a:spcAft>
            </a:pPr>
            <a:r>
              <a:rPr sz="2000" b="1" i="0">
                <a:solidFill>
                  <a:srgbClr val="1A1A1A"/>
                </a:solidFill>
                <a:latin typeface="Arial"/>
              </a:rPr>
              <a:t>The IT side: </a:t>
            </a:r>
            <a:r>
              <a:rPr sz="2000" b="0" i="0">
                <a:solidFill>
                  <a:srgbClr val="1A1A1A"/>
                </a:solidFill>
                <a:latin typeface="Arial"/>
              </a:rPr>
              <a:t>your architects, your engineers.</a:t>
            </a:r>
          </a:p>
          <a:p>
            <a:pPr>
              <a:spcAft>
                <a:spcPts val="1600"/>
              </a:spcAft>
            </a:pPr>
            <a:r>
              <a:rPr sz="2000" b="0" i="0">
                <a:solidFill>
                  <a:srgbClr val="595959"/>
                </a:solidFill>
                <a:latin typeface="Arial"/>
              </a:rPr>
              <a:t>In the old work, business decided what and IT delivered how. In the new work, they decide together — about the same questions, with the same seriousness.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They sit in the same meeting — and miss each other</a:t>
            </a:r>
          </a:p>
        </p:txBody>
      </p:sp>
      <p:sp>
        <p:nvSpPr>
          <p:cNvPr id="4" name="Rounded Rectangle 3"/>
          <p:cNvSpPr/>
          <p:nvPr/>
        </p:nvSpPr>
        <p:spPr>
          <a:xfrm>
            <a:off x="65836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minister talks about</a:t>
            </a:r>
          </a:p>
          <a:p>
            <a:pPr>
              <a:spcAft>
                <a:spcPts val="700"/>
              </a:spcAft>
            </a:pPr>
            <a:r>
              <a:rPr sz="2000" b="1" i="0">
                <a:solidFill>
                  <a:srgbClr val="1A1A1A"/>
                </a:solidFill>
                <a:latin typeface="Arial"/>
              </a:rPr>
              <a:t>citizen services and policy goals</a:t>
            </a:r>
          </a:p>
        </p:txBody>
      </p:sp>
      <p:sp>
        <p:nvSpPr>
          <p:cNvPr id="6" name="Rounded Rectangle 5"/>
          <p:cNvSpPr/>
          <p:nvPr/>
        </p:nvSpPr>
        <p:spPr>
          <a:xfrm>
            <a:off x="628192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chief architect talks about</a:t>
            </a:r>
          </a:p>
          <a:p>
            <a:pPr>
              <a:spcAft>
                <a:spcPts val="700"/>
              </a:spcAft>
            </a:pPr>
            <a:r>
              <a:rPr sz="2000" b="1" i="0">
                <a:solidFill>
                  <a:srgbClr val="1A1A1A"/>
                </a:solidFill>
                <a:latin typeface="Arial"/>
              </a:rPr>
              <a:t>systems, APIs and data</a:t>
            </a:r>
          </a:p>
        </p:txBody>
      </p:sp>
      <p:sp>
        <p:nvSpPr>
          <p:cNvPr id="8" name="TextBox 7"/>
          <p:cNvSpPr txBox="1"/>
          <p:nvPr/>
        </p:nvSpPr>
        <p:spPr>
          <a:xfrm>
            <a:off x="658368" y="4297680"/>
            <a:ext cx="10789920" cy="1645920"/>
          </a:xfrm>
          <a:prstGeom prst="rect">
            <a:avLst/>
          </a:prstGeom>
          <a:noFill/>
        </p:spPr>
        <p:txBody>
          <a:bodyPr wrap="square">
            <a:spAutoFit/>
          </a:bodyPr>
          <a:lstStyle/>
          <a:p>
            <a:pPr>
              <a:spcAft>
                <a:spcPts val="1000"/>
              </a:spcAft>
            </a:pPr>
            <a:r>
              <a:rPr sz="2100" b="1" i="0">
                <a:solidFill>
                  <a:srgbClr val="1A1A1A"/>
                </a:solidFill>
                <a:latin typeface="Arial"/>
              </a:rPr>
              <a:t>The decision does not get made well — or it does not get made at all.</a:t>
            </a:r>
          </a:p>
          <a:p>
            <a:pPr>
              <a:spcAft>
                <a:spcPts val="1000"/>
              </a:spcAft>
            </a:pPr>
            <a:r>
              <a:rPr sz="1700" b="0" i="0">
                <a:solidFill>
                  <a:srgbClr val="595959"/>
                </a:solidFill>
                <a:latin typeface="Arial"/>
              </a:rPr>
              <a:t>And the ministry stays in the old work, even though the new work is what is needed.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gives both sides one language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2100" b="1" i="0">
                <a:solidFill>
                  <a:srgbClr val="1A1A1A"/>
                </a:solidFill>
                <a:latin typeface="Arial"/>
              </a:rPr>
              <a:t>The agreed picture</a:t>
            </a:r>
          </a:p>
          <a:p>
            <a:pPr>
              <a:spcAft>
                <a:spcPts val="300"/>
              </a:spcAft>
            </a:pPr>
            <a:r>
              <a:rPr sz="1600" b="0" i="0">
                <a:solidFill>
                  <a:srgbClr val="595959"/>
                </a:solidFill>
                <a:latin typeface="Arial"/>
              </a:rPr>
              <a:t>Something both sides can point at.</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2100" b="1" i="0">
                <a:solidFill>
                  <a:srgbClr val="1A1A1A"/>
                </a:solidFill>
                <a:latin typeface="Arial"/>
              </a:rPr>
              <a:t>Plain words for the basic terms</a:t>
            </a:r>
          </a:p>
          <a:p>
            <a:pPr>
              <a:spcAft>
                <a:spcPts val="300"/>
              </a:spcAft>
            </a:pPr>
            <a:r>
              <a:rPr sz="1600" b="0" i="0">
                <a:solidFill>
                  <a:srgbClr val="595959"/>
                </a:solidFill>
                <a:latin typeface="Arial"/>
              </a:rPr>
              <a:t>Service, capability, data domain — meaning the same thing to both sides.</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2100" b="1" i="0">
                <a:solidFill>
                  <a:srgbClr val="1A1A1A"/>
                </a:solidFill>
                <a:latin typeface="Arial"/>
              </a:rPr>
              <a:t>A regular forum — the EA Board</a:t>
            </a:r>
          </a:p>
          <a:p>
            <a:pPr>
              <a:spcAft>
                <a:spcPts val="300"/>
              </a:spcAft>
            </a:pPr>
            <a:r>
              <a:rPr sz="1600" b="0" i="0">
                <a:solidFill>
                  <a:srgbClr val="595959"/>
                </a:solidFill>
                <a:latin typeface="Arial"/>
              </a:rPr>
              <a:t>Where business and IT sit together and decide.</a:t>
            </a:r>
          </a:p>
        </p:txBody>
      </p:sp>
      <p:sp>
        <p:nvSpPr>
          <p:cNvPr id="12" name="TextBox 11"/>
          <p:cNvSpPr txBox="1"/>
          <p:nvPr/>
        </p:nvSpPr>
        <p:spPr>
          <a:xfrm>
            <a:off x="658368" y="5669280"/>
            <a:ext cx="10789920" cy="640080"/>
          </a:xfrm>
          <a:prstGeom prst="rect">
            <a:avLst/>
          </a:prstGeom>
          <a:noFill/>
        </p:spPr>
        <p:txBody>
          <a:bodyPr wrap="square">
            <a:spAutoFit/>
          </a:bodyPr>
          <a:lstStyle/>
          <a:p>
            <a:r>
              <a:rPr sz="1600" b="0" i="1">
                <a:solidFill>
                  <a:srgbClr val="595959"/>
                </a:solidFill>
                <a:latin typeface="Arial"/>
              </a:rPr>
              <a:t>With these in place, the redesign conversation finally happens. Without them, it does not.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 the era of digitising paper, an EA was useful. In the era of redesigning how the ministry works, an EA is necessary.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PAERA-anchored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paths — one costs you a year before work begins</a:t>
            </a:r>
          </a:p>
        </p:txBody>
      </p:sp>
      <p:sp>
        <p:nvSpPr>
          <p:cNvPr id="4" name="Rounded Rectangle 3"/>
          <p:cNvSpPr/>
          <p:nvPr/>
        </p:nvSpPr>
        <p:spPr>
          <a:xfrm>
            <a:off x="658368" y="1920240"/>
            <a:ext cx="10881360" cy="137160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66544"/>
            <a:ext cx="10369296" cy="1097280"/>
          </a:xfrm>
          <a:prstGeom prst="rect">
            <a:avLst/>
          </a:prstGeom>
          <a:noFill/>
        </p:spPr>
        <p:txBody>
          <a:bodyPr wrap="square">
            <a:spAutoFit/>
          </a:bodyPr>
          <a:lstStyle/>
          <a:p>
            <a:pPr>
              <a:spcAft>
                <a:spcPts val="700"/>
              </a:spcAft>
            </a:pPr>
            <a:r>
              <a:rPr sz="1800" b="1" i="0">
                <a:solidFill>
                  <a:srgbClr val="1A1A1A"/>
                </a:solidFill>
                <a:latin typeface="Arial"/>
              </a:rPr>
              <a:t>Design your own framework</a:t>
            </a:r>
          </a:p>
          <a:p>
            <a:pPr>
              <a:spcAft>
                <a:spcPts val="700"/>
              </a:spcAft>
            </a:pPr>
            <a:r>
              <a:rPr sz="1500" b="0" i="0">
                <a:solidFill>
                  <a:srgbClr val="595959"/>
                </a:solidFill>
                <a:latin typeface="Arial"/>
              </a:rPr>
              <a:t>12 to 18 months of consultants and groundwork before any architect draws a single picture of any ministry</a:t>
            </a:r>
          </a:p>
        </p:txBody>
      </p:sp>
      <p:sp>
        <p:nvSpPr>
          <p:cNvPr id="6" name="Rounded Rectangle 5"/>
          <p:cNvSpPr/>
          <p:nvPr/>
        </p:nvSpPr>
        <p:spPr>
          <a:xfrm>
            <a:off x="658368" y="3749039"/>
            <a:ext cx="3291840" cy="13716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895344"/>
            <a:ext cx="2779776" cy="1097280"/>
          </a:xfrm>
          <a:prstGeom prst="rect">
            <a:avLst/>
          </a:prstGeom>
          <a:noFill/>
        </p:spPr>
        <p:txBody>
          <a:bodyPr wrap="square">
            <a:spAutoFit/>
          </a:bodyPr>
          <a:lstStyle/>
          <a:p>
            <a:pPr>
              <a:spcAft>
                <a:spcPts val="700"/>
              </a:spcAft>
            </a:pPr>
            <a:r>
              <a:rPr sz="1800" b="1" i="0">
                <a:solidFill>
                  <a:srgbClr val="FFFFFF"/>
                </a:solidFill>
                <a:latin typeface="Arial"/>
              </a:rPr>
              <a:t>Anchor on PAERA</a:t>
            </a:r>
          </a:p>
          <a:p>
            <a:pPr>
              <a:spcAft>
                <a:spcPts val="700"/>
              </a:spcAft>
            </a:pPr>
            <a:r>
              <a:rPr sz="1500" b="0" i="0">
                <a:solidFill>
                  <a:srgbClr val="FFFFFF"/>
                </a:solidFill>
                <a:latin typeface="Arial"/>
              </a:rPr>
              <a:t>work begins on day one</a:t>
            </a:r>
          </a:p>
        </p:txBody>
      </p:sp>
      <p:sp>
        <p:nvSpPr>
          <p:cNvPr id="8" name="TextBox 7"/>
          <p:cNvSpPr txBox="1"/>
          <p:nvPr/>
        </p:nvSpPr>
        <p:spPr>
          <a:xfrm>
            <a:off x="4206240" y="3977639"/>
            <a:ext cx="7315200" cy="1188720"/>
          </a:xfrm>
          <a:prstGeom prst="rect">
            <a:avLst/>
          </a:prstGeom>
          <a:noFill/>
        </p:spPr>
        <p:txBody>
          <a:bodyPr wrap="square">
            <a:spAutoFit/>
          </a:bodyPr>
          <a:lstStyle/>
          <a:p>
            <a:r>
              <a:rPr sz="1500" b="0" i="0">
                <a:solidFill>
                  <a:srgbClr val="595959"/>
                </a:solidFill>
                <a:latin typeface="Arial"/>
              </a:rPr>
              <a:t>The Public Administration Ecosystem Reference Architecture — published 2024 under GovStack, built for the public-sector use case, with the groundwork already done.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you do not pay to invent</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organise ministries and authorities</a:t>
            </a:r>
          </a:p>
          <a:p>
            <a:pPr>
              <a:spcAft>
                <a:spcPts val="300"/>
              </a:spcAft>
            </a:pPr>
            <a:r>
              <a:rPr sz="1350" b="0" i="0">
                <a:solidFill>
                  <a:srgbClr val="595959"/>
                </a:solidFill>
                <a:latin typeface="Arial"/>
              </a:rPr>
              <a:t>Every body is a policy unit, a regulatory agency or a service-delivery authority — the classification is published, not argued over for three months.</a:t>
            </a:r>
          </a:p>
        </p:txBody>
      </p:sp>
      <p:sp>
        <p:nvSpPr>
          <p:cNvPr id="6" name="Rectangle 5"/>
          <p:cNvSpPr/>
          <p:nvPr/>
        </p:nvSpPr>
        <p:spPr>
          <a:xfrm>
            <a:off x="621792" y="232714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1401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68296"/>
            <a:ext cx="10527487" cy="950976"/>
          </a:xfrm>
          <a:prstGeom prst="rect">
            <a:avLst/>
          </a:prstGeom>
          <a:noFill/>
        </p:spPr>
        <p:txBody>
          <a:bodyPr wrap="square">
            <a:spAutoFit/>
          </a:bodyPr>
          <a:lstStyle/>
          <a:p>
            <a:pPr>
              <a:spcAft>
                <a:spcPts val="300"/>
              </a:spcAft>
            </a:pPr>
            <a:r>
              <a:rPr sz="1750" b="1" i="0">
                <a:solidFill>
                  <a:srgbClr val="1A1A1A"/>
                </a:solidFill>
                <a:latin typeface="Arial"/>
              </a:rPr>
              <a:t>Plain words for the basic terms</a:t>
            </a:r>
          </a:p>
          <a:p>
            <a:pPr>
              <a:spcAft>
                <a:spcPts val="300"/>
              </a:spcAft>
            </a:pPr>
            <a:r>
              <a:rPr sz="1350" b="0" i="0">
                <a:solidFill>
                  <a:srgbClr val="595959"/>
                </a:solidFill>
                <a:latin typeface="Arial"/>
              </a:rPr>
              <a:t>Capability. Service. Application. Data domain. Defined on day one.</a:t>
            </a:r>
          </a:p>
        </p:txBody>
      </p:sp>
      <p:sp>
        <p:nvSpPr>
          <p:cNvPr id="9" name="Rectangle 8"/>
          <p:cNvSpPr/>
          <p:nvPr/>
        </p:nvSpPr>
        <p:spPr>
          <a:xfrm>
            <a:off x="621792" y="33238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4107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64992"/>
            <a:ext cx="10527487" cy="950976"/>
          </a:xfrm>
          <a:prstGeom prst="rect">
            <a:avLst/>
          </a:prstGeom>
          <a:noFill/>
        </p:spPr>
        <p:txBody>
          <a:bodyPr wrap="square">
            <a:spAutoFit/>
          </a:bodyPr>
          <a:lstStyle/>
          <a:p>
            <a:pPr>
              <a:spcAft>
                <a:spcPts val="300"/>
              </a:spcAft>
            </a:pPr>
            <a:r>
              <a:rPr sz="1750" b="1" i="0">
                <a:solidFill>
                  <a:srgbClr val="1A1A1A"/>
                </a:solidFill>
                <a:latin typeface="Arial"/>
              </a:rPr>
              <a:t>A library of common building blocks</a:t>
            </a:r>
          </a:p>
          <a:p>
            <a:pPr>
              <a:spcAft>
                <a:spcPts val="300"/>
              </a:spcAft>
            </a:pPr>
            <a:r>
              <a:rPr sz="1350" b="0" i="0">
                <a:solidFill>
                  <a:srgbClr val="595959"/>
                </a:solidFill>
                <a:latin typeface="Arial"/>
              </a:rPr>
              <a:t>Identity, payments, information sharing, registries — published specifications with working examples.</a:t>
            </a:r>
          </a:p>
        </p:txBody>
      </p:sp>
      <p:sp>
        <p:nvSpPr>
          <p:cNvPr id="12" name="Rectangle 11"/>
          <p:cNvSpPr/>
          <p:nvPr/>
        </p:nvSpPr>
        <p:spPr>
          <a:xfrm>
            <a:off x="621792" y="43205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4074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61688"/>
            <a:ext cx="10527487" cy="950976"/>
          </a:xfrm>
          <a:prstGeom prst="rect">
            <a:avLst/>
          </a:prstGeom>
          <a:noFill/>
        </p:spPr>
        <p:txBody>
          <a:bodyPr wrap="square">
            <a:spAutoFit/>
          </a:bodyPr>
          <a:lstStyle/>
          <a:p>
            <a:pPr>
              <a:spcAft>
                <a:spcPts val="300"/>
              </a:spcAft>
            </a:pPr>
            <a:r>
              <a:rPr sz="1750" b="1" i="0">
                <a:solidFill>
                  <a:srgbClr val="1A1A1A"/>
                </a:solidFill>
                <a:latin typeface="Arial"/>
              </a:rPr>
              <a:t>Ten architectural principles</a:t>
            </a:r>
          </a:p>
          <a:p>
            <a:pPr>
              <a:spcAft>
                <a:spcPts val="300"/>
              </a:spcAft>
            </a:pPr>
            <a:r>
              <a:rPr sz="1350" b="0" i="0">
                <a:solidFill>
                  <a:srgbClr val="595959"/>
                </a:solidFill>
                <a:latin typeface="Arial"/>
              </a:rPr>
              <a:t>From rule of law to user-centred design — already debated across many countries. You extend them; you do not draft them.</a:t>
            </a:r>
          </a:p>
        </p:txBody>
      </p:sp>
      <p:sp>
        <p:nvSpPr>
          <p:cNvPr id="15" name="Rectangle 14"/>
          <p:cNvSpPr/>
          <p:nvPr/>
        </p:nvSpPr>
        <p:spPr>
          <a:xfrm>
            <a:off x="621792" y="53172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40410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58384"/>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run the work</a:t>
            </a:r>
          </a:p>
          <a:p>
            <a:pPr>
              <a:spcAft>
                <a:spcPts val="300"/>
              </a:spcAft>
            </a:pPr>
            <a:r>
              <a:rPr sz="1350" b="0" i="0">
                <a:solidFill>
                  <a:srgbClr val="595959"/>
                </a:solidFill>
                <a:latin typeface="Arial"/>
              </a:rPr>
              <a:t>The lifecycle — Discover, Assess, Adapt, Plan, Execute &amp; Govern — with roles, decisions and sign-offs per phase. Next video.</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framework — every sector reuses the investment</a:t>
            </a:r>
          </a:p>
        </p:txBody>
      </p:sp>
      <p:sp>
        <p:nvSpPr>
          <p:cNvPr id="4" name="Rounded Rectangle 3"/>
          <p:cNvSpPr/>
          <p:nvPr/>
        </p:nvSpPr>
        <p:spPr>
          <a:xfrm>
            <a:off x="82296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Education</a:t>
            </a:r>
          </a:p>
        </p:txBody>
      </p:sp>
      <p:sp>
        <p:nvSpPr>
          <p:cNvPr id="5" name="Rounded Rectangle 4"/>
          <p:cNvSpPr/>
          <p:nvPr/>
        </p:nvSpPr>
        <p:spPr>
          <a:xfrm>
            <a:off x="347472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Health</a:t>
            </a:r>
          </a:p>
        </p:txBody>
      </p:sp>
      <p:sp>
        <p:nvSpPr>
          <p:cNvPr id="6" name="Rounded Rectangle 5"/>
          <p:cNvSpPr/>
          <p:nvPr/>
        </p:nvSpPr>
        <p:spPr>
          <a:xfrm>
            <a:off x="612648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Social protection</a:t>
            </a:r>
          </a:p>
        </p:txBody>
      </p:sp>
      <p:sp>
        <p:nvSpPr>
          <p:cNvPr id="7" name="Rounded Rectangle 6"/>
          <p:cNvSpPr/>
          <p:nvPr/>
        </p:nvSpPr>
        <p:spPr>
          <a:xfrm>
            <a:off x="877824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Agriculture</a:t>
            </a:r>
          </a:p>
        </p:txBody>
      </p:sp>
      <p:sp>
        <p:nvSpPr>
          <p:cNvPr id="8" name="Rounded Rectangle 7"/>
          <p:cNvSpPr/>
          <p:nvPr/>
        </p:nvSpPr>
        <p:spPr>
          <a:xfrm>
            <a:off x="822960" y="3200400"/>
            <a:ext cx="10469880" cy="9144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Arial"/>
              </a:rPr>
              <a:t>PAERA — the same framework underneath</a:t>
            </a:r>
          </a:p>
        </p:txBody>
      </p:sp>
      <p:sp>
        <p:nvSpPr>
          <p:cNvPr id="9" name="TextBox 8"/>
          <p:cNvSpPr txBox="1"/>
          <p:nvPr/>
        </p:nvSpPr>
        <p:spPr>
          <a:xfrm>
            <a:off x="822960" y="4572000"/>
            <a:ext cx="10515600" cy="1280160"/>
          </a:xfrm>
          <a:prstGeom prst="rect">
            <a:avLst/>
          </a:prstGeom>
          <a:noFill/>
        </p:spPr>
        <p:txBody>
          <a:bodyPr wrap="square">
            <a:spAutoFit/>
          </a:bodyPr>
          <a:lstStyle/>
          <a:p>
            <a:pPr>
              <a:spcAft>
                <a:spcPts val="800"/>
              </a:spcAft>
            </a:pPr>
            <a:r>
              <a:rPr sz="1800" b="0" i="0">
                <a:solidFill>
                  <a:srgbClr val="1A1A1A"/>
                </a:solidFill>
                <a:latin typeface="Arial"/>
              </a:rPr>
              <a:t>Once your country builds the EA muscle for one sector, every next sector reuses the same investment.</a:t>
            </a:r>
          </a:p>
          <a:p>
            <a:pPr>
              <a:spcAft>
                <a:spcPts val="800"/>
              </a:spcAft>
            </a:pPr>
            <a:r>
              <a:rPr sz="1800" b="1" i="0">
                <a:solidFill>
                  <a:srgbClr val="006E96"/>
                </a:solidFill>
                <a:latin typeface="Arial"/>
              </a:rPr>
              <a:t>The second sector is cheaper than the first. The third is cheaper still.</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connects your team to a working network</a:t>
            </a:r>
          </a:p>
        </p:txBody>
      </p:sp>
      <p:cxnSp>
        <p:nvCxnSpPr>
          <p:cNvPr id="4" name="Connector 3"/>
          <p:cNvCxnSpPr/>
          <p:nvPr/>
        </p:nvCxnSpPr>
        <p:spPr>
          <a:xfrm>
            <a:off x="2926079" y="2034540"/>
            <a:ext cx="3172969"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6099048" y="2034540"/>
            <a:ext cx="2953511"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2926079" y="3383280"/>
            <a:ext cx="3172969"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6099048" y="3383280"/>
            <a:ext cx="2953511"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6099048" y="3383280"/>
            <a:ext cx="27432" cy="244602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Building Block specifications</a:t>
            </a:r>
          </a:p>
        </p:txBody>
      </p:sp>
      <p:sp>
        <p:nvSpPr>
          <p:cNvPr id="10" name="Rounded Rectangle 9"/>
          <p:cNvSpPr/>
          <p:nvPr/>
        </p:nvSpPr>
        <p:spPr>
          <a:xfrm>
            <a:off x="694944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GovMarket — compliance-checked implementations</a:t>
            </a:r>
          </a:p>
        </p:txBody>
      </p:sp>
      <p:sp>
        <p:nvSpPr>
          <p:cNvPr id="11" name="Rounded Rectangle 10"/>
          <p:cNvSpPr/>
          <p:nvPr/>
        </p:nvSpPr>
        <p:spPr>
          <a:xfrm>
            <a:off x="82296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Certification programme</a:t>
            </a:r>
          </a:p>
        </p:txBody>
      </p:sp>
      <p:sp>
        <p:nvSpPr>
          <p:cNvPr id="12" name="Rounded Rectangle 11"/>
          <p:cNvSpPr/>
          <p:nvPr/>
        </p:nvSpPr>
        <p:spPr>
          <a:xfrm>
            <a:off x="694944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Sandbox for prototyping</a:t>
            </a:r>
          </a:p>
        </p:txBody>
      </p:sp>
      <p:sp>
        <p:nvSpPr>
          <p:cNvPr id="13" name="Rounded Rectangle 12"/>
          <p:cNvSpPr/>
          <p:nvPr/>
        </p:nvSpPr>
        <p:spPr>
          <a:xfrm>
            <a:off x="4023360" y="539496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Shared knowledge base</a:t>
            </a:r>
          </a:p>
        </p:txBody>
      </p:sp>
      <p:sp>
        <p:nvSpPr>
          <p:cNvPr id="14" name="Rounded Rectangle 13"/>
          <p:cNvSpPr/>
          <p:nvPr/>
        </p:nvSpPr>
        <p:spPr>
          <a:xfrm>
            <a:off x="4818888" y="2880360"/>
            <a:ext cx="2560320" cy="10058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Arial"/>
              </a:rPr>
              <a:t>PAERA</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PAERA is not a vendor choice. It is the choice to start with the work other countries have already done.</a:t>
            </a:r>
          </a:p>
        </p:txBody>
      </p:sp>
      <p:sp>
        <p:nvSpPr>
          <p:cNvPr id="3" name="TextBox 2"/>
          <p:cNvSpPr txBox="1"/>
          <p:nvPr/>
        </p:nvSpPr>
        <p:spPr>
          <a:xfrm>
            <a:off x="1005840" y="4663440"/>
            <a:ext cx="10149840" cy="914400"/>
          </a:xfrm>
          <a:prstGeom prst="rect">
            <a:avLst/>
          </a:prstGeom>
          <a:noFill/>
        </p:spPr>
        <p:txBody>
          <a:bodyPr wrap="square">
            <a:spAutoFit/>
          </a:bodyPr>
          <a:lstStyle/>
          <a:p>
            <a:r>
              <a:rPr sz="1600" b="0" i="1">
                <a:solidFill>
                  <a:srgbClr val="595959"/>
                </a:solidFill>
                <a:latin typeface="Arial"/>
              </a:rPr>
              <a:t>So your team spends its time on what is specific to your country.</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paera.govstack.global (§1.2 Motivation; §1.3 GovStack Vision)</a:t>
            </a:r>
          </a:p>
          <a:p>
            <a:pPr>
              <a:spcAft>
                <a:spcPts val="1200"/>
              </a:spcAft>
            </a:pPr>
            <a:r>
              <a:rPr sz="1700" b="0" i="0">
                <a:solidFill>
                  <a:srgbClr val="1A1A1A"/>
                </a:solidFill>
                <a:latin typeface="Arial"/>
              </a:rPr>
              <a:t>•  GovStack — govstack.global</a:t>
            </a:r>
          </a:p>
          <a:p>
            <a:pPr>
              <a:spcAft>
                <a:spcPts val="1200"/>
              </a:spcAft>
            </a:pPr>
            <a:r>
              <a:rPr sz="1700" b="0" i="0">
                <a:solidFill>
                  <a:srgbClr val="1A1A1A"/>
                </a:solidFill>
                <a:latin typeface="Arial"/>
              </a:rPr>
              <a:t>•  GovMarket — marketplace of compliance-checked implementations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lifecycle on one page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Six months from start to a roadmap your minister can take to cabinet. Then ongoing governance. Five phases. Four sign-offs. One continuous practice.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Four sign-offs. Six months to a roadmap.</a:t>
            </a:r>
          </a:p>
        </p:txBody>
      </p:sp>
      <p:sp>
        <p:nvSpPr>
          <p:cNvPr id="4" name="Rounded Rectangle 3"/>
          <p:cNvSpPr/>
          <p:nvPr/>
        </p:nvSpPr>
        <p:spPr>
          <a:xfrm>
            <a:off x="548640"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Discover</a:t>
            </a:r>
          </a:p>
          <a:p>
            <a:pPr algn="ctr"/>
            <a:r>
              <a:rPr sz="1200" b="0" i="1">
                <a:solidFill>
                  <a:srgbClr val="595959"/>
                </a:solidFill>
                <a:latin typeface="Arial"/>
              </a:rPr>
              <a:t>What exists today?</a:t>
            </a:r>
          </a:p>
        </p:txBody>
      </p:sp>
      <p:sp>
        <p:nvSpPr>
          <p:cNvPr id="5" name="TextBox 4"/>
          <p:cNvSpPr txBox="1"/>
          <p:nvPr/>
        </p:nvSpPr>
        <p:spPr>
          <a:xfrm>
            <a:off x="548640" y="3493008"/>
            <a:ext cx="2084831" cy="365760"/>
          </a:xfrm>
          <a:prstGeom prst="rect">
            <a:avLst/>
          </a:prstGeom>
          <a:noFill/>
        </p:spPr>
        <p:txBody>
          <a:bodyPr wrap="square">
            <a:spAutoFit/>
          </a:bodyPr>
          <a:lstStyle/>
          <a:p>
            <a:pPr algn="ctr"/>
            <a:r>
              <a:rPr sz="1300" b="1" i="0">
                <a:solidFill>
                  <a:srgbClr val="006E96"/>
                </a:solidFill>
                <a:latin typeface="Arial"/>
              </a:rPr>
              <a:t>3–4 wks</a:t>
            </a:r>
          </a:p>
        </p:txBody>
      </p:sp>
      <p:sp>
        <p:nvSpPr>
          <p:cNvPr id="6" name="Diamond 5"/>
          <p:cNvSpPr/>
          <p:nvPr/>
        </p:nvSpPr>
        <p:spPr>
          <a:xfrm>
            <a:off x="2628899"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07208"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Assess</a:t>
            </a:r>
          </a:p>
          <a:p>
            <a:pPr algn="ctr"/>
            <a:r>
              <a:rPr sz="1200" b="0" i="1">
                <a:solidFill>
                  <a:srgbClr val="595959"/>
                </a:solidFill>
                <a:latin typeface="Arial"/>
              </a:rPr>
              <a:t>What is the gap?</a:t>
            </a:r>
          </a:p>
        </p:txBody>
      </p:sp>
      <p:sp>
        <p:nvSpPr>
          <p:cNvPr id="8" name="TextBox 7"/>
          <p:cNvSpPr txBox="1"/>
          <p:nvPr/>
        </p:nvSpPr>
        <p:spPr>
          <a:xfrm>
            <a:off x="2807208" y="3493008"/>
            <a:ext cx="2084831" cy="365760"/>
          </a:xfrm>
          <a:prstGeom prst="rect">
            <a:avLst/>
          </a:prstGeom>
          <a:noFill/>
        </p:spPr>
        <p:txBody>
          <a:bodyPr wrap="square">
            <a:spAutoFit/>
          </a:bodyPr>
          <a:lstStyle/>
          <a:p>
            <a:pPr algn="ctr"/>
            <a:r>
              <a:rPr sz="1300" b="1" i="0">
                <a:solidFill>
                  <a:srgbClr val="006E96"/>
                </a:solidFill>
                <a:latin typeface="Arial"/>
              </a:rPr>
              <a:t>6–8 wks</a:t>
            </a:r>
          </a:p>
        </p:txBody>
      </p:sp>
      <p:sp>
        <p:nvSpPr>
          <p:cNvPr id="9" name="Diamond 8"/>
          <p:cNvSpPr/>
          <p:nvPr/>
        </p:nvSpPr>
        <p:spPr>
          <a:xfrm>
            <a:off x="4887468"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65775"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Adapt</a:t>
            </a:r>
          </a:p>
          <a:p>
            <a:pPr algn="ctr"/>
            <a:r>
              <a:rPr sz="1200" b="0" i="1">
                <a:solidFill>
                  <a:srgbClr val="595959"/>
                </a:solidFill>
                <a:latin typeface="Arial"/>
              </a:rPr>
              <a:t>What fits our country?</a:t>
            </a:r>
          </a:p>
        </p:txBody>
      </p:sp>
      <p:sp>
        <p:nvSpPr>
          <p:cNvPr id="11" name="TextBox 10"/>
          <p:cNvSpPr txBox="1"/>
          <p:nvPr/>
        </p:nvSpPr>
        <p:spPr>
          <a:xfrm>
            <a:off x="5065775" y="3493008"/>
            <a:ext cx="2084831" cy="365760"/>
          </a:xfrm>
          <a:prstGeom prst="rect">
            <a:avLst/>
          </a:prstGeom>
          <a:noFill/>
        </p:spPr>
        <p:txBody>
          <a:bodyPr wrap="square">
            <a:spAutoFit/>
          </a:bodyPr>
          <a:lstStyle/>
          <a:p>
            <a:pPr algn="ctr"/>
            <a:r>
              <a:rPr sz="1300" b="1" i="0">
                <a:solidFill>
                  <a:srgbClr val="006E96"/>
                </a:solidFill>
                <a:latin typeface="Arial"/>
              </a:rPr>
              <a:t>4–6 wks</a:t>
            </a:r>
          </a:p>
        </p:txBody>
      </p:sp>
      <p:sp>
        <p:nvSpPr>
          <p:cNvPr id="12" name="Diamond 11"/>
          <p:cNvSpPr/>
          <p:nvPr/>
        </p:nvSpPr>
        <p:spPr>
          <a:xfrm>
            <a:off x="7146036"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24344"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Plan</a:t>
            </a:r>
          </a:p>
          <a:p>
            <a:pPr algn="ctr"/>
            <a:r>
              <a:rPr sz="1200" b="0" i="1">
                <a:solidFill>
                  <a:srgbClr val="595959"/>
                </a:solidFill>
                <a:latin typeface="Arial"/>
              </a:rPr>
              <a:t>How do we get there?</a:t>
            </a:r>
          </a:p>
        </p:txBody>
      </p:sp>
      <p:sp>
        <p:nvSpPr>
          <p:cNvPr id="14" name="TextBox 13"/>
          <p:cNvSpPr txBox="1"/>
          <p:nvPr/>
        </p:nvSpPr>
        <p:spPr>
          <a:xfrm>
            <a:off x="7324344" y="3493008"/>
            <a:ext cx="2084831" cy="365760"/>
          </a:xfrm>
          <a:prstGeom prst="rect">
            <a:avLst/>
          </a:prstGeom>
          <a:noFill/>
        </p:spPr>
        <p:txBody>
          <a:bodyPr wrap="square">
            <a:spAutoFit/>
          </a:bodyPr>
          <a:lstStyle/>
          <a:p>
            <a:pPr algn="ctr"/>
            <a:r>
              <a:rPr sz="1300" b="1" i="0">
                <a:solidFill>
                  <a:srgbClr val="006E96"/>
                </a:solidFill>
                <a:latin typeface="Arial"/>
              </a:rPr>
              <a:t>6–8 wks</a:t>
            </a:r>
          </a:p>
        </p:txBody>
      </p:sp>
      <p:sp>
        <p:nvSpPr>
          <p:cNvPr id="15" name="Diamond 14"/>
          <p:cNvSpPr/>
          <p:nvPr/>
        </p:nvSpPr>
        <p:spPr>
          <a:xfrm>
            <a:off x="9404603"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82911" y="1965960"/>
            <a:ext cx="2084831"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FFFFFF"/>
                </a:solidFill>
                <a:latin typeface="Arial"/>
              </a:rPr>
              <a:t>Execute &amp; Govern</a:t>
            </a:r>
          </a:p>
          <a:p>
            <a:pPr algn="ctr"/>
            <a:r>
              <a:rPr sz="1200" b="0" i="1">
                <a:solidFill>
                  <a:srgbClr val="FFFFFF"/>
                </a:solidFill>
                <a:latin typeface="Arial"/>
              </a:rPr>
              <a:t>How do we sustain this?</a:t>
            </a:r>
          </a:p>
        </p:txBody>
      </p:sp>
      <p:sp>
        <p:nvSpPr>
          <p:cNvPr id="17" name="TextBox 16"/>
          <p:cNvSpPr txBox="1"/>
          <p:nvPr/>
        </p:nvSpPr>
        <p:spPr>
          <a:xfrm>
            <a:off x="9582911" y="3493008"/>
            <a:ext cx="2084831" cy="365760"/>
          </a:xfrm>
          <a:prstGeom prst="rect">
            <a:avLst/>
          </a:prstGeom>
          <a:noFill/>
        </p:spPr>
        <p:txBody>
          <a:bodyPr wrap="square">
            <a:spAutoFit/>
          </a:bodyPr>
          <a:lstStyle/>
          <a:p>
            <a:pPr algn="ctr"/>
            <a:r>
              <a:rPr sz="1300" b="1" i="0">
                <a:solidFill>
                  <a:srgbClr val="595959"/>
                </a:solidFill>
                <a:latin typeface="Arial"/>
              </a:rPr>
              <a:t>Ongoing</a:t>
            </a:r>
          </a:p>
        </p:txBody>
      </p:sp>
      <p:sp>
        <p:nvSpPr>
          <p:cNvPr id="18" name="TextBox 17"/>
          <p:cNvSpPr txBox="1"/>
          <p:nvPr/>
        </p:nvSpPr>
        <p:spPr>
          <a:xfrm>
            <a:off x="548640" y="4160520"/>
            <a:ext cx="11064240" cy="457200"/>
          </a:xfrm>
          <a:prstGeom prst="rect">
            <a:avLst/>
          </a:prstGeom>
          <a:noFill/>
        </p:spPr>
        <p:txBody>
          <a:bodyPr wrap="square">
            <a:spAutoFit/>
          </a:bodyPr>
          <a:lstStyle/>
          <a:p>
            <a:r>
              <a:rPr sz="1350" b="0" i="0">
                <a:solidFill>
                  <a:srgbClr val="595959"/>
                </a:solidFill>
                <a:latin typeface="Arial"/>
              </a:rPr>
              <a:t>◆ = sign-off by the senior decision-maker. Each phase answers one question and produces one deliverable.</a:t>
            </a:r>
          </a:p>
        </p:txBody>
      </p:sp>
      <p:sp>
        <p:nvSpPr>
          <p:cNvPr id="19" name="Rounded Rectangle 18"/>
          <p:cNvSpPr/>
          <p:nvPr/>
        </p:nvSpPr>
        <p:spPr>
          <a:xfrm>
            <a:off x="548640" y="4800600"/>
            <a:ext cx="8823960" cy="50292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595959"/>
                </a:solidFill>
                <a:latin typeface="Arial"/>
              </a:rPr>
              <a:t>Phases 1–4: about six months, four sign-offs</a:t>
            </a:r>
          </a:p>
        </p:txBody>
      </p:sp>
      <p:sp>
        <p:nvSpPr>
          <p:cNvPr id="20" name="Rounded Rectangle 19"/>
          <p:cNvSpPr/>
          <p:nvPr/>
        </p:nvSpPr>
        <p:spPr>
          <a:xfrm>
            <a:off x="9555480" y="4800600"/>
            <a:ext cx="2084831" cy="5029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Arial"/>
              </a:rPr>
              <a:t>permanent practice</a:t>
            </a:r>
          </a:p>
        </p:txBody>
      </p:sp>
      <p:sp>
        <p:nvSpPr>
          <p:cNvPr id="21" name="TextBox 20"/>
          <p:cNvSpPr txBox="1"/>
          <p:nvPr/>
        </p:nvSpPr>
        <p:spPr>
          <a:xfrm>
            <a:off x="548640" y="5577840"/>
            <a:ext cx="11064240" cy="548640"/>
          </a:xfrm>
          <a:prstGeom prst="rect">
            <a:avLst/>
          </a:prstGeom>
          <a:noFill/>
        </p:spPr>
        <p:txBody>
          <a:bodyPr wrap="square">
            <a:spAutoFit/>
          </a:bodyPr>
          <a:lstStyle/>
          <a:p>
            <a:r>
              <a:rPr sz="1300" b="0" i="1">
                <a:solidFill>
                  <a:srgbClr val="595959"/>
                </a:solidFill>
                <a:latin typeface="Arial"/>
              </a:rPr>
              <a:t>The centrepiece of Module 1 — designed to be screenshot and put on the EA Board room wall.</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Phase 1 — Discover</a:t>
            </a:r>
          </a:p>
        </p:txBody>
      </p:sp>
      <p:sp>
        <p:nvSpPr>
          <p:cNvPr id="4" name="Rounded Rectangle 3"/>
          <p:cNvSpPr/>
          <p:nvPr/>
        </p:nvSpPr>
        <p:spPr>
          <a:xfrm>
            <a:off x="7360920" y="38404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945368"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508760"/>
            <a:ext cx="2103120" cy="548640"/>
          </a:xfrm>
          <a:prstGeom prst="rect">
            <a:avLst/>
          </a:prstGeom>
          <a:noFill/>
        </p:spPr>
        <p:txBody>
          <a:bodyPr wrap="square">
            <a:spAutoFit/>
          </a:bodyPr>
          <a:lstStyle/>
          <a:p>
            <a:r>
              <a:rPr sz="1300" b="1" i="0">
                <a:solidFill>
                  <a:srgbClr val="006E96"/>
                </a:solidFill>
                <a:latin typeface="Arial"/>
              </a:rPr>
              <a:t>QUESTION</a:t>
            </a:r>
          </a:p>
        </p:txBody>
      </p:sp>
      <p:sp>
        <p:nvSpPr>
          <p:cNvPr id="10" name="TextBox 9"/>
          <p:cNvSpPr txBox="1"/>
          <p:nvPr/>
        </p:nvSpPr>
        <p:spPr>
          <a:xfrm>
            <a:off x="2834640" y="1490472"/>
            <a:ext cx="8595360" cy="914400"/>
          </a:xfrm>
          <a:prstGeom prst="rect">
            <a:avLst/>
          </a:prstGeom>
          <a:noFill/>
        </p:spPr>
        <p:txBody>
          <a:bodyPr wrap="square">
            <a:spAutoFit/>
          </a:bodyPr>
          <a:lstStyle/>
          <a:p>
            <a:r>
              <a:rPr sz="1800" b="0" i="0">
                <a:solidFill>
                  <a:srgbClr val="1A1A1A"/>
                </a:solidFill>
                <a:latin typeface="Arial"/>
              </a:rPr>
              <a:t>What exists today?</a:t>
            </a:r>
          </a:p>
        </p:txBody>
      </p:sp>
      <p:sp>
        <p:nvSpPr>
          <p:cNvPr id="11" name="TextBox 10"/>
          <p:cNvSpPr txBox="1"/>
          <p:nvPr/>
        </p:nvSpPr>
        <p:spPr>
          <a:xfrm>
            <a:off x="658368" y="2587752"/>
            <a:ext cx="2103120" cy="548640"/>
          </a:xfrm>
          <a:prstGeom prst="rect">
            <a:avLst/>
          </a:prstGeom>
          <a:noFill/>
        </p:spPr>
        <p:txBody>
          <a:bodyPr wrap="square">
            <a:spAutoFit/>
          </a:bodyPr>
          <a:lstStyle/>
          <a:p>
            <a:r>
              <a:rPr sz="1300" b="1" i="0">
                <a:solidFill>
                  <a:srgbClr val="006E96"/>
                </a:solidFill>
                <a:latin typeface="Arial"/>
              </a:rPr>
              <a:t>DELIVERABLE</a:t>
            </a:r>
          </a:p>
        </p:txBody>
      </p:sp>
      <p:sp>
        <p:nvSpPr>
          <p:cNvPr id="12" name="TextBox 11"/>
          <p:cNvSpPr txBox="1"/>
          <p:nvPr/>
        </p:nvSpPr>
        <p:spPr>
          <a:xfrm>
            <a:off x="2834640" y="2569464"/>
            <a:ext cx="8595360" cy="1417320"/>
          </a:xfrm>
          <a:prstGeom prst="rect">
            <a:avLst/>
          </a:prstGeom>
          <a:noFill/>
        </p:spPr>
        <p:txBody>
          <a:bodyPr wrap="square">
            <a:spAutoFit/>
          </a:bodyPr>
          <a:lstStyle/>
          <a:p>
            <a:r>
              <a:rPr sz="1800" b="1" i="0">
                <a:solidFill>
                  <a:srgbClr val="1A1A1A"/>
                </a:solidFill>
                <a:latin typeface="Arial"/>
              </a:rPr>
              <a:t>Discovery brief — the current picture: strategies in force, systems, sector plans, stakeholders, legal framework. No recommendations yet.</a:t>
            </a:r>
          </a:p>
        </p:txBody>
      </p:sp>
      <p:sp>
        <p:nvSpPr>
          <p:cNvPr id="13" name="TextBox 12"/>
          <p:cNvSpPr txBox="1"/>
          <p:nvPr/>
        </p:nvSpPr>
        <p:spPr>
          <a:xfrm>
            <a:off x="658368" y="4169664"/>
            <a:ext cx="2103120" cy="548640"/>
          </a:xfrm>
          <a:prstGeom prst="rect">
            <a:avLst/>
          </a:prstGeom>
          <a:noFill/>
        </p:spPr>
        <p:txBody>
          <a:bodyPr wrap="square">
            <a:spAutoFit/>
          </a:bodyPr>
          <a:lstStyle/>
          <a:p>
            <a:r>
              <a:rPr sz="1300" b="1" i="0">
                <a:solidFill>
                  <a:srgbClr val="006E96"/>
                </a:solidFill>
                <a:latin typeface="Arial"/>
              </a:rPr>
              <a:t>SIGN-OFF</a:t>
            </a:r>
          </a:p>
        </p:txBody>
      </p:sp>
      <p:sp>
        <p:nvSpPr>
          <p:cNvPr id="14" name="TextBox 13"/>
          <p:cNvSpPr txBox="1"/>
          <p:nvPr/>
        </p:nvSpPr>
        <p:spPr>
          <a:xfrm>
            <a:off x="2834640" y="4151376"/>
            <a:ext cx="8595360" cy="1325880"/>
          </a:xfrm>
          <a:prstGeom prst="rect">
            <a:avLst/>
          </a:prstGeom>
          <a:noFill/>
        </p:spPr>
        <p:txBody>
          <a:bodyPr wrap="square">
            <a:spAutoFit/>
          </a:bodyPr>
          <a:lstStyle/>
          <a:p>
            <a:r>
              <a:rPr sz="1800" b="1" i="0">
                <a:solidFill>
                  <a:srgbClr val="1A1A1A"/>
                </a:solidFill>
                <a:latin typeface="Arial"/>
              </a:rPr>
              <a:t>The senior decision-maker confirms the picture is accurate enough to build on.</a:t>
            </a:r>
          </a:p>
        </p:txBody>
      </p:sp>
      <p:sp>
        <p:nvSpPr>
          <p:cNvPr id="15" name="TextBox 14"/>
          <p:cNvSpPr txBox="1"/>
          <p:nvPr/>
        </p:nvSpPr>
        <p:spPr>
          <a:xfrm>
            <a:off x="658368" y="5660136"/>
            <a:ext cx="2103120" cy="548640"/>
          </a:xfrm>
          <a:prstGeom prst="rect">
            <a:avLst/>
          </a:prstGeom>
          <a:noFill/>
        </p:spPr>
        <p:txBody>
          <a:bodyPr wrap="square">
            <a:spAutoFit/>
          </a:bodyPr>
          <a:lstStyle/>
          <a:p>
            <a:r>
              <a:rPr sz="1300" b="1" i="0">
                <a:solidFill>
                  <a:srgbClr val="006E96"/>
                </a:solidFill>
                <a:latin typeface="Arial"/>
              </a:rPr>
              <a:t>DURATION</a:t>
            </a:r>
          </a:p>
        </p:txBody>
      </p:sp>
      <p:sp>
        <p:nvSpPr>
          <p:cNvPr id="16" name="TextBox 15"/>
          <p:cNvSpPr txBox="1"/>
          <p:nvPr/>
        </p:nvSpPr>
        <p:spPr>
          <a:xfrm>
            <a:off x="2834640" y="5641848"/>
            <a:ext cx="8595360" cy="777240"/>
          </a:xfrm>
          <a:prstGeom prst="rect">
            <a:avLst/>
          </a:prstGeom>
          <a:noFill/>
        </p:spPr>
        <p:txBody>
          <a:bodyPr wrap="square">
            <a:spAutoFit/>
          </a:bodyPr>
          <a:lstStyle/>
          <a:p>
            <a:r>
              <a:rPr sz="1800" b="0" i="0">
                <a:solidFill>
                  <a:srgbClr val="1A1A1A"/>
                </a:solidFill>
                <a:latin typeface="Arial"/>
              </a:rPr>
              <a:t>3 to 4 weeks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Phase 2 — Assess</a:t>
            </a:r>
          </a:p>
        </p:txBody>
      </p:sp>
      <p:sp>
        <p:nvSpPr>
          <p:cNvPr id="4" name="Rounded Rectangle 3"/>
          <p:cNvSpPr/>
          <p:nvPr/>
        </p:nvSpPr>
        <p:spPr>
          <a:xfrm>
            <a:off x="7360920"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38404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945368"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508760"/>
            <a:ext cx="2103120" cy="548640"/>
          </a:xfrm>
          <a:prstGeom prst="rect">
            <a:avLst/>
          </a:prstGeom>
          <a:noFill/>
        </p:spPr>
        <p:txBody>
          <a:bodyPr wrap="square">
            <a:spAutoFit/>
          </a:bodyPr>
          <a:lstStyle/>
          <a:p>
            <a:r>
              <a:rPr sz="1300" b="1" i="0">
                <a:solidFill>
                  <a:srgbClr val="006E96"/>
                </a:solidFill>
                <a:latin typeface="Arial"/>
              </a:rPr>
              <a:t>QUESTION</a:t>
            </a:r>
          </a:p>
        </p:txBody>
      </p:sp>
      <p:sp>
        <p:nvSpPr>
          <p:cNvPr id="10" name="TextBox 9"/>
          <p:cNvSpPr txBox="1"/>
          <p:nvPr/>
        </p:nvSpPr>
        <p:spPr>
          <a:xfrm>
            <a:off x="2834640" y="1490472"/>
            <a:ext cx="8595360" cy="914400"/>
          </a:xfrm>
          <a:prstGeom prst="rect">
            <a:avLst/>
          </a:prstGeom>
          <a:noFill/>
        </p:spPr>
        <p:txBody>
          <a:bodyPr wrap="square">
            <a:spAutoFit/>
          </a:bodyPr>
          <a:lstStyle/>
          <a:p>
            <a:r>
              <a:rPr sz="1800" b="0" i="0">
                <a:solidFill>
                  <a:srgbClr val="1A1A1A"/>
                </a:solidFill>
                <a:latin typeface="Arial"/>
              </a:rPr>
              <a:t>What is the gap?</a:t>
            </a:r>
          </a:p>
        </p:txBody>
      </p:sp>
      <p:sp>
        <p:nvSpPr>
          <p:cNvPr id="11" name="TextBox 10"/>
          <p:cNvSpPr txBox="1"/>
          <p:nvPr/>
        </p:nvSpPr>
        <p:spPr>
          <a:xfrm>
            <a:off x="658368" y="2587752"/>
            <a:ext cx="2103120" cy="548640"/>
          </a:xfrm>
          <a:prstGeom prst="rect">
            <a:avLst/>
          </a:prstGeom>
          <a:noFill/>
        </p:spPr>
        <p:txBody>
          <a:bodyPr wrap="square">
            <a:spAutoFit/>
          </a:bodyPr>
          <a:lstStyle/>
          <a:p>
            <a:r>
              <a:rPr sz="1300" b="1" i="0">
                <a:solidFill>
                  <a:srgbClr val="006E96"/>
                </a:solidFill>
                <a:latin typeface="Arial"/>
              </a:rPr>
              <a:t>DELIVERABLE</a:t>
            </a:r>
          </a:p>
        </p:txBody>
      </p:sp>
      <p:sp>
        <p:nvSpPr>
          <p:cNvPr id="12" name="TextBox 11"/>
          <p:cNvSpPr txBox="1"/>
          <p:nvPr/>
        </p:nvSpPr>
        <p:spPr>
          <a:xfrm>
            <a:off x="2834640" y="2569464"/>
            <a:ext cx="8595360" cy="1417320"/>
          </a:xfrm>
          <a:prstGeom prst="rect">
            <a:avLst/>
          </a:prstGeom>
          <a:noFill/>
        </p:spPr>
        <p:txBody>
          <a:bodyPr wrap="square">
            <a:spAutoFit/>
          </a:bodyPr>
          <a:lstStyle/>
          <a:p>
            <a:r>
              <a:rPr sz="1800" b="1" i="0">
                <a:solidFill>
                  <a:srgbClr val="1A1A1A"/>
                </a:solidFill>
                <a:latin typeface="Arial"/>
              </a:rPr>
              <a:t>Assessment report — current-state picture in the four parts of an EA, maturity scorecards, gap analysis against PAERA-anchored standards.</a:t>
            </a:r>
          </a:p>
        </p:txBody>
      </p:sp>
      <p:sp>
        <p:nvSpPr>
          <p:cNvPr id="13" name="TextBox 12"/>
          <p:cNvSpPr txBox="1"/>
          <p:nvPr/>
        </p:nvSpPr>
        <p:spPr>
          <a:xfrm>
            <a:off x="658368" y="4169664"/>
            <a:ext cx="2103120" cy="548640"/>
          </a:xfrm>
          <a:prstGeom prst="rect">
            <a:avLst/>
          </a:prstGeom>
          <a:noFill/>
        </p:spPr>
        <p:txBody>
          <a:bodyPr wrap="square">
            <a:spAutoFit/>
          </a:bodyPr>
          <a:lstStyle/>
          <a:p>
            <a:r>
              <a:rPr sz="1300" b="1" i="0">
                <a:solidFill>
                  <a:srgbClr val="006E96"/>
                </a:solidFill>
                <a:latin typeface="Arial"/>
              </a:rPr>
              <a:t>SIGN-OFF</a:t>
            </a:r>
          </a:p>
        </p:txBody>
      </p:sp>
      <p:sp>
        <p:nvSpPr>
          <p:cNvPr id="14" name="TextBox 13"/>
          <p:cNvSpPr txBox="1"/>
          <p:nvPr/>
        </p:nvSpPr>
        <p:spPr>
          <a:xfrm>
            <a:off x="2834640" y="4151376"/>
            <a:ext cx="8595360" cy="1325880"/>
          </a:xfrm>
          <a:prstGeom prst="rect">
            <a:avLst/>
          </a:prstGeom>
          <a:noFill/>
        </p:spPr>
        <p:txBody>
          <a:bodyPr wrap="square">
            <a:spAutoFit/>
          </a:bodyPr>
          <a:lstStyle/>
          <a:p>
            <a:r>
              <a:rPr sz="1800" b="1" i="0">
                <a:solidFill>
                  <a:srgbClr val="1A1A1A"/>
                </a:solidFill>
                <a:latin typeface="Arial"/>
              </a:rPr>
              <a:t>The gap analysis reflects ground truth — it names the right problems in the right priority.</a:t>
            </a:r>
          </a:p>
        </p:txBody>
      </p:sp>
      <p:sp>
        <p:nvSpPr>
          <p:cNvPr id="15" name="TextBox 14"/>
          <p:cNvSpPr txBox="1"/>
          <p:nvPr/>
        </p:nvSpPr>
        <p:spPr>
          <a:xfrm>
            <a:off x="658368" y="5660136"/>
            <a:ext cx="2103120" cy="548640"/>
          </a:xfrm>
          <a:prstGeom prst="rect">
            <a:avLst/>
          </a:prstGeom>
          <a:noFill/>
        </p:spPr>
        <p:txBody>
          <a:bodyPr wrap="square">
            <a:spAutoFit/>
          </a:bodyPr>
          <a:lstStyle/>
          <a:p>
            <a:r>
              <a:rPr sz="1300" b="1" i="0">
                <a:solidFill>
                  <a:srgbClr val="006E96"/>
                </a:solidFill>
                <a:latin typeface="Arial"/>
              </a:rPr>
              <a:t>DURATION</a:t>
            </a:r>
          </a:p>
        </p:txBody>
      </p:sp>
      <p:sp>
        <p:nvSpPr>
          <p:cNvPr id="16" name="TextBox 15"/>
          <p:cNvSpPr txBox="1"/>
          <p:nvPr/>
        </p:nvSpPr>
        <p:spPr>
          <a:xfrm>
            <a:off x="2834640" y="5641848"/>
            <a:ext cx="8595360" cy="777240"/>
          </a:xfrm>
          <a:prstGeom prst="rect">
            <a:avLst/>
          </a:prstGeom>
          <a:noFill/>
        </p:spPr>
        <p:txBody>
          <a:bodyPr wrap="square">
            <a:spAutoFit/>
          </a:bodyPr>
          <a:lstStyle/>
          <a:p>
            <a:r>
              <a:rPr sz="1800" b="0" i="0">
                <a:solidFill>
                  <a:srgbClr val="1A1A1A"/>
                </a:solidFill>
                <a:latin typeface="Arial"/>
              </a:rPr>
              <a:t>6 to 8 weeks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Phase 3 — Adapt</a:t>
            </a:r>
          </a:p>
        </p:txBody>
      </p:sp>
      <p:sp>
        <p:nvSpPr>
          <p:cNvPr id="4" name="Rounded Rectangle 3"/>
          <p:cNvSpPr/>
          <p:nvPr/>
        </p:nvSpPr>
        <p:spPr>
          <a:xfrm>
            <a:off x="7360920"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38404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945368"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508760"/>
            <a:ext cx="2103120" cy="548640"/>
          </a:xfrm>
          <a:prstGeom prst="rect">
            <a:avLst/>
          </a:prstGeom>
          <a:noFill/>
        </p:spPr>
        <p:txBody>
          <a:bodyPr wrap="square">
            <a:spAutoFit/>
          </a:bodyPr>
          <a:lstStyle/>
          <a:p>
            <a:r>
              <a:rPr sz="1300" b="1" i="0">
                <a:solidFill>
                  <a:srgbClr val="006E96"/>
                </a:solidFill>
                <a:latin typeface="Arial"/>
              </a:rPr>
              <a:t>QUESTION</a:t>
            </a:r>
          </a:p>
        </p:txBody>
      </p:sp>
      <p:sp>
        <p:nvSpPr>
          <p:cNvPr id="10" name="TextBox 9"/>
          <p:cNvSpPr txBox="1"/>
          <p:nvPr/>
        </p:nvSpPr>
        <p:spPr>
          <a:xfrm>
            <a:off x="2834640" y="1490472"/>
            <a:ext cx="8595360" cy="914400"/>
          </a:xfrm>
          <a:prstGeom prst="rect">
            <a:avLst/>
          </a:prstGeom>
          <a:noFill/>
        </p:spPr>
        <p:txBody>
          <a:bodyPr wrap="square">
            <a:spAutoFit/>
          </a:bodyPr>
          <a:lstStyle/>
          <a:p>
            <a:r>
              <a:rPr sz="1800" b="0" i="0">
                <a:solidFill>
                  <a:srgbClr val="1A1A1A"/>
                </a:solidFill>
                <a:latin typeface="Arial"/>
              </a:rPr>
              <a:t>What fits our country?</a:t>
            </a:r>
          </a:p>
        </p:txBody>
      </p:sp>
      <p:sp>
        <p:nvSpPr>
          <p:cNvPr id="11" name="TextBox 10"/>
          <p:cNvSpPr txBox="1"/>
          <p:nvPr/>
        </p:nvSpPr>
        <p:spPr>
          <a:xfrm>
            <a:off x="658368" y="2587752"/>
            <a:ext cx="2103120" cy="548640"/>
          </a:xfrm>
          <a:prstGeom prst="rect">
            <a:avLst/>
          </a:prstGeom>
          <a:noFill/>
        </p:spPr>
        <p:txBody>
          <a:bodyPr wrap="square">
            <a:spAutoFit/>
          </a:bodyPr>
          <a:lstStyle/>
          <a:p>
            <a:r>
              <a:rPr sz="1300" b="1" i="0">
                <a:solidFill>
                  <a:srgbClr val="006E96"/>
                </a:solidFill>
                <a:latin typeface="Arial"/>
              </a:rPr>
              <a:t>DELIVERABLE</a:t>
            </a:r>
          </a:p>
        </p:txBody>
      </p:sp>
      <p:sp>
        <p:nvSpPr>
          <p:cNvPr id="12" name="TextBox 11"/>
          <p:cNvSpPr txBox="1"/>
          <p:nvPr/>
        </p:nvSpPr>
        <p:spPr>
          <a:xfrm>
            <a:off x="2834640" y="2569464"/>
            <a:ext cx="8595360" cy="1417320"/>
          </a:xfrm>
          <a:prstGeom prst="rect">
            <a:avLst/>
          </a:prstGeom>
          <a:noFill/>
        </p:spPr>
        <p:txBody>
          <a:bodyPr wrap="square">
            <a:spAutoFit/>
          </a:bodyPr>
          <a:lstStyle/>
          <a:p>
            <a:r>
              <a:rPr sz="1800" b="1" i="0">
                <a:solidFill>
                  <a:srgbClr val="1A1A1A"/>
                </a:solidFill>
                <a:latin typeface="Arial"/>
              </a:rPr>
              <a:t>Localised framework with sourcing decisions — your principles, your sector priorities; per building block: build, buy, share, or sandbox first.</a:t>
            </a:r>
          </a:p>
        </p:txBody>
      </p:sp>
      <p:sp>
        <p:nvSpPr>
          <p:cNvPr id="13" name="TextBox 12"/>
          <p:cNvSpPr txBox="1"/>
          <p:nvPr/>
        </p:nvSpPr>
        <p:spPr>
          <a:xfrm>
            <a:off x="658368" y="4169664"/>
            <a:ext cx="2103120" cy="548640"/>
          </a:xfrm>
          <a:prstGeom prst="rect">
            <a:avLst/>
          </a:prstGeom>
          <a:noFill/>
        </p:spPr>
        <p:txBody>
          <a:bodyPr wrap="square">
            <a:spAutoFit/>
          </a:bodyPr>
          <a:lstStyle/>
          <a:p>
            <a:r>
              <a:rPr sz="1300" b="1" i="0">
                <a:solidFill>
                  <a:srgbClr val="006E96"/>
                </a:solidFill>
                <a:latin typeface="Arial"/>
              </a:rPr>
              <a:t>SIGN-OFF</a:t>
            </a:r>
          </a:p>
        </p:txBody>
      </p:sp>
      <p:sp>
        <p:nvSpPr>
          <p:cNvPr id="14" name="TextBox 13"/>
          <p:cNvSpPr txBox="1"/>
          <p:nvPr/>
        </p:nvSpPr>
        <p:spPr>
          <a:xfrm>
            <a:off x="2834640" y="4151376"/>
            <a:ext cx="8595360" cy="1325880"/>
          </a:xfrm>
          <a:prstGeom prst="rect">
            <a:avLst/>
          </a:prstGeom>
          <a:noFill/>
        </p:spPr>
        <p:txBody>
          <a:bodyPr wrap="square">
            <a:spAutoFit/>
          </a:bodyPr>
          <a:lstStyle/>
          <a:p>
            <a:r>
              <a:rPr sz="1800" b="1" i="0">
                <a:solidFill>
                  <a:srgbClr val="1A1A1A"/>
                </a:solidFill>
                <a:latin typeface="Arial"/>
              </a:rPr>
              <a:t>The framework and the build / buy / share approach.</a:t>
            </a:r>
          </a:p>
        </p:txBody>
      </p:sp>
      <p:sp>
        <p:nvSpPr>
          <p:cNvPr id="15" name="TextBox 14"/>
          <p:cNvSpPr txBox="1"/>
          <p:nvPr/>
        </p:nvSpPr>
        <p:spPr>
          <a:xfrm>
            <a:off x="658368" y="5660136"/>
            <a:ext cx="2103120" cy="548640"/>
          </a:xfrm>
          <a:prstGeom prst="rect">
            <a:avLst/>
          </a:prstGeom>
          <a:noFill/>
        </p:spPr>
        <p:txBody>
          <a:bodyPr wrap="square">
            <a:spAutoFit/>
          </a:bodyPr>
          <a:lstStyle/>
          <a:p>
            <a:r>
              <a:rPr sz="1300" b="1" i="0">
                <a:solidFill>
                  <a:srgbClr val="006E96"/>
                </a:solidFill>
                <a:latin typeface="Arial"/>
              </a:rPr>
              <a:t>DURATION</a:t>
            </a:r>
          </a:p>
        </p:txBody>
      </p:sp>
      <p:sp>
        <p:nvSpPr>
          <p:cNvPr id="16" name="TextBox 15"/>
          <p:cNvSpPr txBox="1"/>
          <p:nvPr/>
        </p:nvSpPr>
        <p:spPr>
          <a:xfrm>
            <a:off x="2834640" y="5641848"/>
            <a:ext cx="8595360" cy="777240"/>
          </a:xfrm>
          <a:prstGeom prst="rect">
            <a:avLst/>
          </a:prstGeom>
          <a:noFill/>
        </p:spPr>
        <p:txBody>
          <a:bodyPr wrap="square">
            <a:spAutoFit/>
          </a:bodyPr>
          <a:lstStyle/>
          <a:p>
            <a:r>
              <a:rPr sz="1800" b="0" i="0">
                <a:solidFill>
                  <a:srgbClr val="1A1A1A"/>
                </a:solidFill>
                <a:latin typeface="Arial"/>
              </a:rPr>
              <a:t>4 to 6 weeks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Phase 4 — Plan</a:t>
            </a:r>
          </a:p>
        </p:txBody>
      </p:sp>
      <p:sp>
        <p:nvSpPr>
          <p:cNvPr id="4" name="Rounded Rectangle 3"/>
          <p:cNvSpPr/>
          <p:nvPr/>
        </p:nvSpPr>
        <p:spPr>
          <a:xfrm>
            <a:off x="7360920"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38404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945368"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508760"/>
            <a:ext cx="2103120" cy="548640"/>
          </a:xfrm>
          <a:prstGeom prst="rect">
            <a:avLst/>
          </a:prstGeom>
          <a:noFill/>
        </p:spPr>
        <p:txBody>
          <a:bodyPr wrap="square">
            <a:spAutoFit/>
          </a:bodyPr>
          <a:lstStyle/>
          <a:p>
            <a:r>
              <a:rPr sz="1300" b="1" i="0">
                <a:solidFill>
                  <a:srgbClr val="006E96"/>
                </a:solidFill>
                <a:latin typeface="Arial"/>
              </a:rPr>
              <a:t>QUESTION</a:t>
            </a:r>
          </a:p>
        </p:txBody>
      </p:sp>
      <p:sp>
        <p:nvSpPr>
          <p:cNvPr id="10" name="TextBox 9"/>
          <p:cNvSpPr txBox="1"/>
          <p:nvPr/>
        </p:nvSpPr>
        <p:spPr>
          <a:xfrm>
            <a:off x="2834640" y="1490472"/>
            <a:ext cx="8595360" cy="914400"/>
          </a:xfrm>
          <a:prstGeom prst="rect">
            <a:avLst/>
          </a:prstGeom>
          <a:noFill/>
        </p:spPr>
        <p:txBody>
          <a:bodyPr wrap="square">
            <a:spAutoFit/>
          </a:bodyPr>
          <a:lstStyle/>
          <a:p>
            <a:r>
              <a:rPr sz="1800" b="0" i="0">
                <a:solidFill>
                  <a:srgbClr val="1A1A1A"/>
                </a:solidFill>
                <a:latin typeface="Arial"/>
              </a:rPr>
              <a:t>How do we get there?</a:t>
            </a:r>
          </a:p>
        </p:txBody>
      </p:sp>
      <p:sp>
        <p:nvSpPr>
          <p:cNvPr id="11" name="TextBox 10"/>
          <p:cNvSpPr txBox="1"/>
          <p:nvPr/>
        </p:nvSpPr>
        <p:spPr>
          <a:xfrm>
            <a:off x="658368" y="2587752"/>
            <a:ext cx="2103120" cy="548640"/>
          </a:xfrm>
          <a:prstGeom prst="rect">
            <a:avLst/>
          </a:prstGeom>
          <a:noFill/>
        </p:spPr>
        <p:txBody>
          <a:bodyPr wrap="square">
            <a:spAutoFit/>
          </a:bodyPr>
          <a:lstStyle/>
          <a:p>
            <a:r>
              <a:rPr sz="1300" b="1" i="0">
                <a:solidFill>
                  <a:srgbClr val="006E96"/>
                </a:solidFill>
                <a:latin typeface="Arial"/>
              </a:rPr>
              <a:t>DELIVERABLE</a:t>
            </a:r>
          </a:p>
        </p:txBody>
      </p:sp>
      <p:sp>
        <p:nvSpPr>
          <p:cNvPr id="12" name="TextBox 11"/>
          <p:cNvSpPr txBox="1"/>
          <p:nvPr/>
        </p:nvSpPr>
        <p:spPr>
          <a:xfrm>
            <a:off x="2834640" y="2569464"/>
            <a:ext cx="8595360" cy="1417320"/>
          </a:xfrm>
          <a:prstGeom prst="rect">
            <a:avLst/>
          </a:prstGeom>
          <a:noFill/>
        </p:spPr>
        <p:txBody>
          <a:bodyPr wrap="square">
            <a:spAutoFit/>
          </a:bodyPr>
          <a:lstStyle/>
          <a:p>
            <a:r>
              <a:rPr sz="1800" b="1" i="0">
                <a:solidFill>
                  <a:srgbClr val="1A1A1A"/>
                </a:solidFill>
                <a:latin typeface="Arial"/>
              </a:rPr>
              <a:t>Roadmap and investment plan — target state, sequenced work, investment estimates. The deliverable your minister can take to cabinet.</a:t>
            </a:r>
          </a:p>
        </p:txBody>
      </p:sp>
      <p:sp>
        <p:nvSpPr>
          <p:cNvPr id="13" name="TextBox 12"/>
          <p:cNvSpPr txBox="1"/>
          <p:nvPr/>
        </p:nvSpPr>
        <p:spPr>
          <a:xfrm>
            <a:off x="658368" y="4169664"/>
            <a:ext cx="2103120" cy="548640"/>
          </a:xfrm>
          <a:prstGeom prst="rect">
            <a:avLst/>
          </a:prstGeom>
          <a:noFill/>
        </p:spPr>
        <p:txBody>
          <a:bodyPr wrap="square">
            <a:spAutoFit/>
          </a:bodyPr>
          <a:lstStyle/>
          <a:p>
            <a:r>
              <a:rPr sz="1300" b="1" i="0">
                <a:solidFill>
                  <a:srgbClr val="006E96"/>
                </a:solidFill>
                <a:latin typeface="Arial"/>
              </a:rPr>
              <a:t>SIGN-OFF</a:t>
            </a:r>
          </a:p>
        </p:txBody>
      </p:sp>
      <p:sp>
        <p:nvSpPr>
          <p:cNvPr id="14" name="TextBox 13"/>
          <p:cNvSpPr txBox="1"/>
          <p:nvPr/>
        </p:nvSpPr>
        <p:spPr>
          <a:xfrm>
            <a:off x="2834640" y="4151376"/>
            <a:ext cx="8595360" cy="1325880"/>
          </a:xfrm>
          <a:prstGeom prst="rect">
            <a:avLst/>
          </a:prstGeom>
          <a:noFill/>
        </p:spPr>
        <p:txBody>
          <a:bodyPr wrap="square">
            <a:spAutoFit/>
          </a:bodyPr>
          <a:lstStyle/>
          <a:p>
            <a:r>
              <a:rPr sz="1800" b="1" i="0">
                <a:solidFill>
                  <a:srgbClr val="1A1A1A"/>
                </a:solidFill>
                <a:latin typeface="Arial"/>
              </a:rPr>
              <a:t>Roadmap approved, budget committed — by the senior decision-maker and the EA Board.</a:t>
            </a:r>
          </a:p>
        </p:txBody>
      </p:sp>
      <p:sp>
        <p:nvSpPr>
          <p:cNvPr id="15" name="TextBox 14"/>
          <p:cNvSpPr txBox="1"/>
          <p:nvPr/>
        </p:nvSpPr>
        <p:spPr>
          <a:xfrm>
            <a:off x="658368" y="5660136"/>
            <a:ext cx="2103120" cy="548640"/>
          </a:xfrm>
          <a:prstGeom prst="rect">
            <a:avLst/>
          </a:prstGeom>
          <a:noFill/>
        </p:spPr>
        <p:txBody>
          <a:bodyPr wrap="square">
            <a:spAutoFit/>
          </a:bodyPr>
          <a:lstStyle/>
          <a:p>
            <a:r>
              <a:rPr sz="1300" b="1" i="0">
                <a:solidFill>
                  <a:srgbClr val="006E96"/>
                </a:solidFill>
                <a:latin typeface="Arial"/>
              </a:rPr>
              <a:t>DURATION</a:t>
            </a:r>
          </a:p>
        </p:txBody>
      </p:sp>
      <p:sp>
        <p:nvSpPr>
          <p:cNvPr id="16" name="TextBox 15"/>
          <p:cNvSpPr txBox="1"/>
          <p:nvPr/>
        </p:nvSpPr>
        <p:spPr>
          <a:xfrm>
            <a:off x="2834640" y="5641848"/>
            <a:ext cx="8595360" cy="777240"/>
          </a:xfrm>
          <a:prstGeom prst="rect">
            <a:avLst/>
          </a:prstGeom>
          <a:noFill/>
        </p:spPr>
        <p:txBody>
          <a:bodyPr wrap="square">
            <a:spAutoFit/>
          </a:bodyPr>
          <a:lstStyle/>
          <a:p>
            <a:r>
              <a:rPr sz="1800" b="0" i="0">
                <a:solidFill>
                  <a:srgbClr val="1A1A1A"/>
                </a:solidFill>
                <a:latin typeface="Arial"/>
              </a:rPr>
              <a:t>6 to 8 weeks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Phase 5 — Execute &amp; Govern</a:t>
            </a:r>
          </a:p>
        </p:txBody>
      </p:sp>
      <p:sp>
        <p:nvSpPr>
          <p:cNvPr id="4" name="Rounded Rectangle 3"/>
          <p:cNvSpPr/>
          <p:nvPr/>
        </p:nvSpPr>
        <p:spPr>
          <a:xfrm>
            <a:off x="7360920"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38404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945368" y="38404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508760"/>
            <a:ext cx="2103120" cy="548640"/>
          </a:xfrm>
          <a:prstGeom prst="rect">
            <a:avLst/>
          </a:prstGeom>
          <a:noFill/>
        </p:spPr>
        <p:txBody>
          <a:bodyPr wrap="square">
            <a:spAutoFit/>
          </a:bodyPr>
          <a:lstStyle/>
          <a:p>
            <a:r>
              <a:rPr sz="1300" b="1" i="0">
                <a:solidFill>
                  <a:srgbClr val="006E96"/>
                </a:solidFill>
                <a:latin typeface="Arial"/>
              </a:rPr>
              <a:t>QUESTION</a:t>
            </a:r>
          </a:p>
        </p:txBody>
      </p:sp>
      <p:sp>
        <p:nvSpPr>
          <p:cNvPr id="10" name="TextBox 9"/>
          <p:cNvSpPr txBox="1"/>
          <p:nvPr/>
        </p:nvSpPr>
        <p:spPr>
          <a:xfrm>
            <a:off x="2834640" y="1490472"/>
            <a:ext cx="8595360" cy="914400"/>
          </a:xfrm>
          <a:prstGeom prst="rect">
            <a:avLst/>
          </a:prstGeom>
          <a:noFill/>
        </p:spPr>
        <p:txBody>
          <a:bodyPr wrap="square">
            <a:spAutoFit/>
          </a:bodyPr>
          <a:lstStyle/>
          <a:p>
            <a:r>
              <a:rPr sz="1800" b="0" i="0">
                <a:solidFill>
                  <a:srgbClr val="1A1A1A"/>
                </a:solidFill>
                <a:latin typeface="Arial"/>
              </a:rPr>
              <a:t>How do we sustain this?</a:t>
            </a:r>
          </a:p>
        </p:txBody>
      </p:sp>
      <p:sp>
        <p:nvSpPr>
          <p:cNvPr id="11" name="TextBox 10"/>
          <p:cNvSpPr txBox="1"/>
          <p:nvPr/>
        </p:nvSpPr>
        <p:spPr>
          <a:xfrm>
            <a:off x="658368" y="2587752"/>
            <a:ext cx="2103120" cy="548640"/>
          </a:xfrm>
          <a:prstGeom prst="rect">
            <a:avLst/>
          </a:prstGeom>
          <a:noFill/>
        </p:spPr>
        <p:txBody>
          <a:bodyPr wrap="square">
            <a:spAutoFit/>
          </a:bodyPr>
          <a:lstStyle/>
          <a:p>
            <a:r>
              <a:rPr sz="1300" b="1" i="0">
                <a:solidFill>
                  <a:srgbClr val="006E96"/>
                </a:solidFill>
                <a:latin typeface="Arial"/>
              </a:rPr>
              <a:t>DELIVERABLE</a:t>
            </a:r>
          </a:p>
        </p:txBody>
      </p:sp>
      <p:sp>
        <p:nvSpPr>
          <p:cNvPr id="12" name="TextBox 11"/>
          <p:cNvSpPr txBox="1"/>
          <p:nvPr/>
        </p:nvSpPr>
        <p:spPr>
          <a:xfrm>
            <a:off x="2834640" y="2569464"/>
            <a:ext cx="8595360" cy="1417320"/>
          </a:xfrm>
          <a:prstGeom prst="rect">
            <a:avLst/>
          </a:prstGeom>
          <a:noFill/>
        </p:spPr>
        <p:txBody>
          <a:bodyPr wrap="square">
            <a:spAutoFit/>
          </a:bodyPr>
          <a:lstStyle/>
          <a:p>
            <a:r>
              <a:rPr sz="1800" b="1" i="0">
                <a:solidFill>
                  <a:srgbClr val="1A1A1A"/>
                </a:solidFill>
                <a:latin typeface="Arial"/>
              </a:rPr>
              <a:t>A living, governed EA — repository plus practice. The 2–4 permanent architects keep it alive; the EA Board reviews projects against it.</a:t>
            </a:r>
          </a:p>
        </p:txBody>
      </p:sp>
      <p:sp>
        <p:nvSpPr>
          <p:cNvPr id="13" name="TextBox 12"/>
          <p:cNvSpPr txBox="1"/>
          <p:nvPr/>
        </p:nvSpPr>
        <p:spPr>
          <a:xfrm>
            <a:off x="658368" y="4169664"/>
            <a:ext cx="2103120" cy="548640"/>
          </a:xfrm>
          <a:prstGeom prst="rect">
            <a:avLst/>
          </a:prstGeom>
          <a:noFill/>
        </p:spPr>
        <p:txBody>
          <a:bodyPr wrap="square">
            <a:spAutoFit/>
          </a:bodyPr>
          <a:lstStyle/>
          <a:p>
            <a:r>
              <a:rPr sz="1300" b="1" i="0">
                <a:solidFill>
                  <a:srgbClr val="006E96"/>
                </a:solidFill>
                <a:latin typeface="Arial"/>
              </a:rPr>
              <a:t>CADENCE</a:t>
            </a:r>
          </a:p>
        </p:txBody>
      </p:sp>
      <p:sp>
        <p:nvSpPr>
          <p:cNvPr id="14" name="TextBox 13"/>
          <p:cNvSpPr txBox="1"/>
          <p:nvPr/>
        </p:nvSpPr>
        <p:spPr>
          <a:xfrm>
            <a:off x="2834640" y="4151376"/>
            <a:ext cx="8595360" cy="1325880"/>
          </a:xfrm>
          <a:prstGeom prst="rect">
            <a:avLst/>
          </a:prstGeom>
          <a:noFill/>
        </p:spPr>
        <p:txBody>
          <a:bodyPr wrap="square">
            <a:spAutoFit/>
          </a:bodyPr>
          <a:lstStyle/>
          <a:p>
            <a:r>
              <a:rPr sz="1800" b="1" i="0">
                <a:solidFill>
                  <a:srgbClr val="1A1A1A"/>
                </a:solidFill>
                <a:latin typeface="Arial"/>
              </a:rPr>
              <a:t>Quarterly Board reviews — indefinitely. New projects reviewed against the architecture; cross-ministry decisions approved; domain boundaries enforced.</a:t>
            </a:r>
          </a:p>
        </p:txBody>
      </p:sp>
      <p:sp>
        <p:nvSpPr>
          <p:cNvPr id="15" name="TextBox 14"/>
          <p:cNvSpPr txBox="1"/>
          <p:nvPr/>
        </p:nvSpPr>
        <p:spPr>
          <a:xfrm>
            <a:off x="658368" y="5660136"/>
            <a:ext cx="2103120" cy="548640"/>
          </a:xfrm>
          <a:prstGeom prst="rect">
            <a:avLst/>
          </a:prstGeom>
          <a:noFill/>
        </p:spPr>
        <p:txBody>
          <a:bodyPr wrap="square">
            <a:spAutoFit/>
          </a:bodyPr>
          <a:lstStyle/>
          <a:p>
            <a:r>
              <a:rPr sz="1300" b="1" i="0">
                <a:solidFill>
                  <a:srgbClr val="006E96"/>
                </a:solidFill>
                <a:latin typeface="Arial"/>
              </a:rPr>
              <a:t>DURATION</a:t>
            </a:r>
          </a:p>
        </p:txBody>
      </p:sp>
      <p:sp>
        <p:nvSpPr>
          <p:cNvPr id="16" name="TextBox 15"/>
          <p:cNvSpPr txBox="1"/>
          <p:nvPr/>
        </p:nvSpPr>
        <p:spPr>
          <a:xfrm>
            <a:off x="2834640" y="5641848"/>
            <a:ext cx="8595360" cy="777240"/>
          </a:xfrm>
          <a:prstGeom prst="rect">
            <a:avLst/>
          </a:prstGeom>
          <a:noFill/>
        </p:spPr>
        <p:txBody>
          <a:bodyPr wrap="square">
            <a:spAutoFit/>
          </a:bodyPr>
          <a:lstStyle/>
          <a:p>
            <a:r>
              <a:rPr sz="1800" b="0" i="0">
                <a:solidFill>
                  <a:srgbClr val="1A1A1A"/>
                </a:solidFill>
                <a:latin typeface="Arial"/>
              </a:rPr>
              <a:t>Ongoing — your country’s permanent way of working</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Your minister reviews four times — not every diagram</a:t>
            </a:r>
          </a:p>
        </p:txBody>
      </p:sp>
      <p:sp>
        <p:nvSpPr>
          <p:cNvPr id="4" name="Rectangle 3"/>
          <p:cNvSpPr/>
          <p:nvPr/>
        </p:nvSpPr>
        <p:spPr>
          <a:xfrm>
            <a:off x="822960" y="2514600"/>
            <a:ext cx="10515600" cy="3175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iamond 4"/>
          <p:cNvSpPr/>
          <p:nvPr/>
        </p:nvSpPr>
        <p:spPr>
          <a:xfrm>
            <a:off x="137160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The picture is accurate</a:t>
            </a:r>
          </a:p>
          <a:p>
            <a:pPr algn="ctr">
              <a:spcAft>
                <a:spcPts val="300"/>
              </a:spcAft>
            </a:pPr>
            <a:r>
              <a:rPr sz="1200" b="0" i="0">
                <a:solidFill>
                  <a:srgbClr val="595959"/>
                </a:solidFill>
                <a:latin typeface="Arial"/>
              </a:rPr>
              <a:t>end of Discover</a:t>
            </a:r>
          </a:p>
        </p:txBody>
      </p:sp>
      <p:sp>
        <p:nvSpPr>
          <p:cNvPr id="7" name="Diamond 6"/>
          <p:cNvSpPr/>
          <p:nvPr/>
        </p:nvSpPr>
        <p:spPr>
          <a:xfrm>
            <a:off x="406908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The gap reflects ground truth</a:t>
            </a:r>
          </a:p>
          <a:p>
            <a:pPr algn="ctr">
              <a:spcAft>
                <a:spcPts val="300"/>
              </a:spcAft>
            </a:pPr>
            <a:r>
              <a:rPr sz="1200" b="0" i="0">
                <a:solidFill>
                  <a:srgbClr val="595959"/>
                </a:solidFill>
                <a:latin typeface="Arial"/>
              </a:rPr>
              <a:t>end of Assess</a:t>
            </a:r>
          </a:p>
        </p:txBody>
      </p:sp>
      <p:sp>
        <p:nvSpPr>
          <p:cNvPr id="9" name="Diamond 8"/>
          <p:cNvSpPr/>
          <p:nvPr/>
        </p:nvSpPr>
        <p:spPr>
          <a:xfrm>
            <a:off x="676656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Framework + sourcing approach</a:t>
            </a:r>
          </a:p>
          <a:p>
            <a:pPr algn="ctr">
              <a:spcAft>
                <a:spcPts val="300"/>
              </a:spcAft>
            </a:pPr>
            <a:r>
              <a:rPr sz="1200" b="0" i="0">
                <a:solidFill>
                  <a:srgbClr val="595959"/>
                </a:solidFill>
                <a:latin typeface="Arial"/>
              </a:rPr>
              <a:t>end of Adapt</a:t>
            </a:r>
          </a:p>
        </p:txBody>
      </p:sp>
      <p:sp>
        <p:nvSpPr>
          <p:cNvPr id="11" name="Diamond 10"/>
          <p:cNvSpPr/>
          <p:nvPr/>
        </p:nvSpPr>
        <p:spPr>
          <a:xfrm>
            <a:off x="946404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Roadmap approved, budget committed</a:t>
            </a:r>
          </a:p>
          <a:p>
            <a:pPr algn="ctr">
              <a:spcAft>
                <a:spcPts val="300"/>
              </a:spcAft>
            </a:pPr>
            <a:r>
              <a:rPr sz="1200" b="0" i="0">
                <a:solidFill>
                  <a:srgbClr val="595959"/>
                </a:solidFill>
                <a:latin typeface="Arial"/>
              </a:rPr>
              <a:t>end of Plan</a:t>
            </a:r>
          </a:p>
        </p:txBody>
      </p:sp>
      <p:sp>
        <p:nvSpPr>
          <p:cNvPr id="13" name="TextBox 12"/>
          <p:cNvSpPr txBox="1"/>
          <p:nvPr/>
        </p:nvSpPr>
        <p:spPr>
          <a:xfrm>
            <a:off x="822960" y="4480560"/>
            <a:ext cx="10515600" cy="1463040"/>
          </a:xfrm>
          <a:prstGeom prst="rect">
            <a:avLst/>
          </a:prstGeom>
          <a:noFill/>
        </p:spPr>
        <p:txBody>
          <a:bodyPr wrap="square">
            <a:spAutoFit/>
          </a:bodyPr>
          <a:lstStyle/>
          <a:p>
            <a:pPr>
              <a:spcAft>
                <a:spcPts val="800"/>
              </a:spcAft>
            </a:pPr>
            <a:r>
              <a:rPr sz="1800" b="0" i="0">
                <a:solidFill>
                  <a:srgbClr val="1A1A1A"/>
                </a:solidFill>
                <a:latin typeface="Arial"/>
              </a:rPr>
              <a:t>Between sign-offs, the architects work.</a:t>
            </a:r>
          </a:p>
          <a:p>
            <a:pPr>
              <a:spcAft>
                <a:spcPts val="800"/>
              </a:spcAft>
            </a:pPr>
            <a:r>
              <a:rPr sz="1800" b="0" i="0">
                <a:solidFill>
                  <a:srgbClr val="595959"/>
                </a:solidFill>
                <a:latin typeface="Arial"/>
              </a:rPr>
              <a:t>The minister’s job in between is to remove obstacles — the political ones, mostly. The technical ones are why the architects were hired.</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can skip a phase — and pay for it several times over</a:t>
            </a:r>
          </a:p>
        </p:txBody>
      </p:sp>
      <p:sp>
        <p:nvSpPr>
          <p:cNvPr id="4" name="TextBox 3"/>
          <p:cNvSpPr txBox="1"/>
          <p:nvPr/>
        </p:nvSpPr>
        <p:spPr>
          <a:xfrm>
            <a:off x="822960" y="1737360"/>
            <a:ext cx="10515600" cy="3108960"/>
          </a:xfrm>
          <a:prstGeom prst="rect">
            <a:avLst/>
          </a:prstGeom>
          <a:noFill/>
        </p:spPr>
        <p:txBody>
          <a:bodyPr wrap="square">
            <a:spAutoFit/>
          </a:bodyPr>
          <a:lstStyle/>
          <a:p>
            <a:pPr>
              <a:spcAft>
                <a:spcPts val="1000"/>
              </a:spcAft>
            </a:pPr>
            <a:r>
              <a:rPr sz="2400" b="1" i="0">
                <a:solidFill>
                  <a:srgbClr val="1A1A1A"/>
                </a:solidFill>
                <a:latin typeface="Arial"/>
              </a:rPr>
              <a:t>Discover before you measure.</a:t>
            </a:r>
          </a:p>
          <a:p>
            <a:pPr>
              <a:spcAft>
                <a:spcPts val="1000"/>
              </a:spcAft>
            </a:pPr>
            <a:r>
              <a:rPr sz="2400" b="1" i="0">
                <a:solidFill>
                  <a:srgbClr val="1A1A1A"/>
                </a:solidFill>
                <a:latin typeface="Arial"/>
              </a:rPr>
              <a:t>Measure before you adapt.</a:t>
            </a:r>
          </a:p>
          <a:p>
            <a:pPr>
              <a:spcAft>
                <a:spcPts val="1000"/>
              </a:spcAft>
            </a:pPr>
            <a:r>
              <a:rPr sz="2400" b="1" i="0">
                <a:solidFill>
                  <a:srgbClr val="1A1A1A"/>
                </a:solidFill>
                <a:latin typeface="Arial"/>
              </a:rPr>
              <a:t>Adapt before you plan.</a:t>
            </a:r>
          </a:p>
          <a:p>
            <a:pPr>
              <a:spcAft>
                <a:spcPts val="1000"/>
              </a:spcAft>
            </a:pPr>
            <a:r>
              <a:rPr sz="2400" b="1" i="0">
                <a:solidFill>
                  <a:srgbClr val="1A1A1A"/>
                </a:solidFill>
                <a:latin typeface="Arial"/>
              </a:rPr>
              <a:t>Plan before you execute.</a:t>
            </a:r>
          </a:p>
          <a:p>
            <a:pPr>
              <a:spcAft>
                <a:spcPts val="1000"/>
              </a:spcAft>
            </a:pPr>
            <a:r>
              <a:rPr sz="2400" b="1" i="0">
                <a:solidFill>
                  <a:srgbClr val="006E96"/>
                </a:solidFill>
                <a:latin typeface="Arial"/>
              </a:rPr>
              <a:t>Govern always.</a:t>
            </a:r>
          </a:p>
        </p:txBody>
      </p:sp>
      <p:sp>
        <p:nvSpPr>
          <p:cNvPr id="5" name="TextBox 4"/>
          <p:cNvSpPr txBox="1"/>
          <p:nvPr/>
        </p:nvSpPr>
        <p:spPr>
          <a:xfrm>
            <a:off x="822960" y="5120640"/>
            <a:ext cx="10515600" cy="822960"/>
          </a:xfrm>
          <a:prstGeom prst="rect">
            <a:avLst/>
          </a:prstGeom>
          <a:noFill/>
        </p:spPr>
        <p:txBody>
          <a:bodyPr wrap="square">
            <a:spAutoFit/>
          </a:bodyPr>
          <a:lstStyle/>
          <a:p>
            <a:r>
              <a:rPr sz="1700" b="0" i="1">
                <a:solidFill>
                  <a:srgbClr val="595959"/>
                </a:solidFill>
                <a:latin typeface="Arial"/>
              </a:rPr>
              <a:t>Skipping usually costs several times what it appeared to save.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Week 1 to week 26 — then forever</a:t>
            </a:r>
          </a:p>
        </p:txBody>
      </p:sp>
      <p:sp>
        <p:nvSpPr>
          <p:cNvPr id="4" name="Rectangle 3"/>
          <p:cNvSpPr/>
          <p:nvPr/>
        </p:nvSpPr>
        <p:spPr>
          <a:xfrm>
            <a:off x="822960" y="3017520"/>
            <a:ext cx="10515600" cy="3175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88720" y="28529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2011680"/>
            <a:ext cx="2286000" cy="548640"/>
          </a:xfrm>
          <a:prstGeom prst="rect">
            <a:avLst/>
          </a:prstGeom>
          <a:noFill/>
        </p:spPr>
        <p:txBody>
          <a:bodyPr wrap="square">
            <a:spAutoFit/>
          </a:bodyPr>
          <a:lstStyle/>
          <a:p>
            <a:pPr algn="ctr"/>
            <a:r>
              <a:rPr sz="1800" b="1" i="0">
                <a:solidFill>
                  <a:srgbClr val="1A1A1A"/>
                </a:solidFill>
                <a:latin typeface="Arial"/>
              </a:rPr>
              <a:t>Week 1</a:t>
            </a:r>
          </a:p>
        </p:txBody>
      </p:sp>
      <p:sp>
        <p:nvSpPr>
          <p:cNvPr id="7" name="TextBox 6"/>
          <p:cNvSpPr txBox="1"/>
          <p:nvPr/>
        </p:nvSpPr>
        <p:spPr>
          <a:xfrm>
            <a:off x="45720" y="3474720"/>
            <a:ext cx="2743200" cy="914400"/>
          </a:xfrm>
          <a:prstGeom prst="rect">
            <a:avLst/>
          </a:prstGeom>
          <a:noFill/>
        </p:spPr>
        <p:txBody>
          <a:bodyPr wrap="square">
            <a:spAutoFit/>
          </a:bodyPr>
          <a:lstStyle/>
          <a:p>
            <a:pPr algn="ctr"/>
            <a:r>
              <a:rPr sz="1400" b="0" i="0">
                <a:solidFill>
                  <a:srgbClr val="595959"/>
                </a:solidFill>
                <a:latin typeface="Arial"/>
              </a:rPr>
              <a:t>Discovery begins</a:t>
            </a:r>
          </a:p>
        </p:txBody>
      </p:sp>
      <p:sp>
        <p:nvSpPr>
          <p:cNvPr id="8" name="Oval 7"/>
          <p:cNvSpPr/>
          <p:nvPr/>
        </p:nvSpPr>
        <p:spPr>
          <a:xfrm>
            <a:off x="5486400" y="28529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011680"/>
            <a:ext cx="2286000" cy="548640"/>
          </a:xfrm>
          <a:prstGeom prst="rect">
            <a:avLst/>
          </a:prstGeom>
          <a:noFill/>
        </p:spPr>
        <p:txBody>
          <a:bodyPr wrap="square">
            <a:spAutoFit/>
          </a:bodyPr>
          <a:lstStyle/>
          <a:p>
            <a:pPr algn="ctr"/>
            <a:r>
              <a:rPr sz="1800" b="1" i="0">
                <a:solidFill>
                  <a:srgbClr val="1A1A1A"/>
                </a:solidFill>
                <a:latin typeface="Arial"/>
              </a:rPr>
              <a:t>Week 26</a:t>
            </a:r>
          </a:p>
        </p:txBody>
      </p:sp>
      <p:sp>
        <p:nvSpPr>
          <p:cNvPr id="10" name="TextBox 9"/>
          <p:cNvSpPr txBox="1"/>
          <p:nvPr/>
        </p:nvSpPr>
        <p:spPr>
          <a:xfrm>
            <a:off x="4343400" y="3474720"/>
            <a:ext cx="2743200" cy="914400"/>
          </a:xfrm>
          <a:prstGeom prst="rect">
            <a:avLst/>
          </a:prstGeom>
          <a:noFill/>
        </p:spPr>
        <p:txBody>
          <a:bodyPr wrap="square">
            <a:spAutoFit/>
          </a:bodyPr>
          <a:lstStyle/>
          <a:p>
            <a:pPr algn="ctr"/>
            <a:r>
              <a:rPr sz="1400" b="0" i="0">
                <a:solidFill>
                  <a:srgbClr val="595959"/>
                </a:solidFill>
                <a:latin typeface="Arial"/>
              </a:rPr>
              <a:t>Approved roadmap — to cabinet</a:t>
            </a:r>
          </a:p>
        </p:txBody>
      </p:sp>
      <p:sp>
        <p:nvSpPr>
          <p:cNvPr id="11" name="Oval 10"/>
          <p:cNvSpPr/>
          <p:nvPr/>
        </p:nvSpPr>
        <p:spPr>
          <a:xfrm>
            <a:off x="9692640" y="28529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0" y="2011680"/>
            <a:ext cx="2286000" cy="548640"/>
          </a:xfrm>
          <a:prstGeom prst="rect">
            <a:avLst/>
          </a:prstGeom>
          <a:noFill/>
        </p:spPr>
        <p:txBody>
          <a:bodyPr wrap="square">
            <a:spAutoFit/>
          </a:bodyPr>
          <a:lstStyle/>
          <a:p>
            <a:pPr algn="ctr"/>
            <a:r>
              <a:rPr sz="1800" b="1" i="0">
                <a:solidFill>
                  <a:srgbClr val="1A1A1A"/>
                </a:solidFill>
                <a:latin typeface="Arial"/>
              </a:rPr>
              <a:t>Ongoing</a:t>
            </a:r>
          </a:p>
        </p:txBody>
      </p:sp>
      <p:sp>
        <p:nvSpPr>
          <p:cNvPr id="13" name="TextBox 12"/>
          <p:cNvSpPr txBox="1"/>
          <p:nvPr/>
        </p:nvSpPr>
        <p:spPr>
          <a:xfrm>
            <a:off x="8549640" y="3474720"/>
            <a:ext cx="2743200" cy="914400"/>
          </a:xfrm>
          <a:prstGeom prst="rect">
            <a:avLst/>
          </a:prstGeom>
          <a:noFill/>
        </p:spPr>
        <p:txBody>
          <a:bodyPr wrap="square">
            <a:spAutoFit/>
          </a:bodyPr>
          <a:lstStyle/>
          <a:p>
            <a:pPr algn="ctr"/>
            <a:r>
              <a:rPr sz="1400" b="0" i="0">
                <a:solidFill>
                  <a:srgbClr val="595959"/>
                </a:solidFill>
                <a:latin typeface="Arial"/>
              </a:rPr>
              <a:t>Governed EA — permanent practice</a:t>
            </a:r>
          </a:p>
        </p:txBody>
      </p:sp>
      <p:sp>
        <p:nvSpPr>
          <p:cNvPr id="14" name="TextBox 13"/>
          <p:cNvSpPr txBox="1"/>
          <p:nvPr/>
        </p:nvSpPr>
        <p:spPr>
          <a:xfrm>
            <a:off x="822960" y="4846320"/>
            <a:ext cx="10515600" cy="1188720"/>
          </a:xfrm>
          <a:prstGeom prst="rect">
            <a:avLst/>
          </a:prstGeom>
          <a:noFill/>
        </p:spPr>
        <p:txBody>
          <a:bodyPr wrap="square">
            <a:spAutoFit/>
          </a:bodyPr>
          <a:lstStyle/>
          <a:p>
            <a:r>
              <a:rPr sz="1700" b="0" i="0">
                <a:solidFill>
                  <a:srgbClr val="1A1A1A"/>
                </a:solidFill>
                <a:latin typeface="Arial"/>
              </a:rPr>
              <a:t>“Months, not years” is not a slogan. It is the consequence of five phases, each with a clear question, a clear deliverable, and a clear sign-off.</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you will need from your minister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1 — A small permanent EA team</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SIZE</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2 to 4 senior architects — permanent, reporting to your CDO or equivalent</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TYPICALLY</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A chief architect, domain architects, a methodology lead. Smaller countries: 2 people, each carrying several domains.</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NOT</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Consultants. Not a temporary unit.</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POINT</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The institutional home of architecture — it exists whether or not any single programme is running.</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2 — An EA Board with binding authority</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CHAIR</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Your CDO — or the minister directly</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MEMBERS</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Sector ministry CIOs, owners of the major state registers, optionally an external advisor</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CADENCE</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Quarterly main meetings; ad-hoc for urgent decisions</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MANDATE</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BINDING — not advisory. Without binding authority, the EA becomes documentation nobody reads.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3 — About 2% of digital budget, for five years</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INITIAL ENGAGEMENT</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The first four phases — about 10 to 15 senior person-months over six months</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PERMANENT PRACTICE</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Your 2 to 4 architects, ongoing</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GOVERNANCE OVERHEAD</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Board time, occasional external review</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FRAMING</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A five-year envelope, not an annual line that disappears when priorities shift. Every other digital programme runs more efficiently when this 2% is in place.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4 — One promise: the team stays protected</a:t>
            </a:r>
          </a:p>
        </p:txBody>
      </p:sp>
      <p:sp>
        <p:nvSpPr>
          <p:cNvPr id="4" name="Rounded Rectangle 3"/>
          <p:cNvSpPr/>
          <p:nvPr/>
        </p:nvSpPr>
        <p:spPr>
          <a:xfrm>
            <a:off x="658368" y="1645920"/>
            <a:ext cx="10881360" cy="2377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7" y="1883664"/>
            <a:ext cx="10241280" cy="2103120"/>
          </a:xfrm>
          <a:prstGeom prst="rect">
            <a:avLst/>
          </a:prstGeom>
          <a:noFill/>
        </p:spPr>
        <p:txBody>
          <a:bodyPr wrap="square">
            <a:spAutoFit/>
          </a:bodyPr>
          <a:lstStyle/>
          <a:p>
            <a:pPr>
              <a:spcAft>
                <a:spcPts val="700"/>
              </a:spcAft>
            </a:pPr>
            <a:r>
              <a:rPr sz="2400" b="1" i="0">
                <a:solidFill>
                  <a:srgbClr val="FFFFFF"/>
                </a:solidFill>
                <a:latin typeface="Arial"/>
              </a:rPr>
              <a:t>The EA team will not be pulled onto the urgent project of the week.</a:t>
            </a:r>
          </a:p>
          <a:p>
            <a:pPr>
              <a:spcAft>
                <a:spcPts val="700"/>
              </a:spcAft>
            </a:pPr>
            <a:r>
              <a:rPr sz="1800" b="0" i="0">
                <a:solidFill>
                  <a:srgbClr val="FFFFFF"/>
                </a:solidFill>
                <a:latin typeface="Arial"/>
              </a:rPr>
              <a:t>Not by you. Not by the minister. Not by anyone in cabinet.</a:t>
            </a:r>
          </a:p>
        </p:txBody>
      </p:sp>
      <p:sp>
        <p:nvSpPr>
          <p:cNvPr id="6" name="TextBox 5"/>
          <p:cNvSpPr txBox="1"/>
          <p:nvPr/>
        </p:nvSpPr>
        <p:spPr>
          <a:xfrm>
            <a:off x="658368" y="4389120"/>
            <a:ext cx="10881360" cy="1554480"/>
          </a:xfrm>
          <a:prstGeom prst="rect">
            <a:avLst/>
          </a:prstGeom>
          <a:noFill/>
        </p:spPr>
        <p:txBody>
          <a:bodyPr wrap="square">
            <a:spAutoFit/>
          </a:bodyPr>
          <a:lstStyle/>
          <a:p>
            <a:pPr>
              <a:spcAft>
                <a:spcPts val="800"/>
              </a:spcAft>
            </a:pPr>
            <a:r>
              <a:rPr sz="1800" b="1" i="0">
                <a:solidFill>
                  <a:srgbClr val="1A1A1A"/>
                </a:solidFill>
                <a:latin typeface="Arial"/>
              </a:rPr>
              <a:t>This is the most commonly broken promise — and the one that quietly kills EA programmes in their second year.</a:t>
            </a:r>
          </a:p>
          <a:p>
            <a:pPr>
              <a:spcAft>
                <a:spcPts val="800"/>
              </a:spcAft>
            </a:pPr>
            <a:r>
              <a:rPr sz="1600" b="0" i="0">
                <a:solidFill>
                  <a:srgbClr val="595959"/>
                </a:solidFill>
                <a:latin typeface="Arial"/>
              </a:rPr>
              <a:t>Get it in writing if you can. Recommit it whenever the minister changes.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 honest about the time horizon</a:t>
            </a:r>
          </a:p>
        </p:txBody>
      </p:sp>
      <p:sp>
        <p:nvSpPr>
          <p:cNvPr id="4" name="TextBox 3"/>
          <p:cNvSpPr txBox="1"/>
          <p:nvPr/>
        </p:nvSpPr>
        <p:spPr>
          <a:xfrm>
            <a:off x="658368" y="1463040"/>
            <a:ext cx="10984687" cy="1082039"/>
          </a:xfrm>
          <a:prstGeom prst="rect">
            <a:avLst/>
          </a:prstGeom>
          <a:noFill/>
        </p:spPr>
        <p:txBody>
          <a:bodyPr wrap="square">
            <a:spAutoFit/>
          </a:bodyPr>
          <a:lstStyle/>
          <a:p>
            <a:pPr>
              <a:spcAft>
                <a:spcPts val="300"/>
              </a:spcAft>
            </a:pPr>
            <a:r>
              <a:rPr sz="2400" b="1" i="0">
                <a:solidFill>
                  <a:srgbClr val="1A1A1A"/>
                </a:solidFill>
                <a:latin typeface="Arial"/>
              </a:rPr>
              <a:t>6 months</a:t>
            </a:r>
          </a:p>
          <a:p>
            <a:pPr>
              <a:spcAft>
                <a:spcPts val="300"/>
              </a:spcAft>
            </a:pPr>
            <a:r>
              <a:rPr sz="1700" b="0" i="0">
                <a:solidFill>
                  <a:srgbClr val="595959"/>
                </a:solidFill>
                <a:latin typeface="Arial"/>
              </a:rPr>
              <a:t>to an approved roadmap</a:t>
            </a:r>
          </a:p>
        </p:txBody>
      </p:sp>
      <p:sp>
        <p:nvSpPr>
          <p:cNvPr id="5" name="Rectangle 4"/>
          <p:cNvSpPr/>
          <p:nvPr/>
        </p:nvSpPr>
        <p:spPr>
          <a:xfrm>
            <a:off x="621792" y="25496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90799"/>
            <a:ext cx="10984687" cy="1082039"/>
          </a:xfrm>
          <a:prstGeom prst="rect">
            <a:avLst/>
          </a:prstGeom>
          <a:noFill/>
        </p:spPr>
        <p:txBody>
          <a:bodyPr wrap="square">
            <a:spAutoFit/>
          </a:bodyPr>
          <a:lstStyle/>
          <a:p>
            <a:pPr>
              <a:spcAft>
                <a:spcPts val="300"/>
              </a:spcAft>
            </a:pPr>
            <a:r>
              <a:rPr sz="2400" b="1" i="0">
                <a:solidFill>
                  <a:srgbClr val="1A1A1A"/>
                </a:solidFill>
                <a:latin typeface="Arial"/>
              </a:rPr>
              <a:t>18 to 24 months</a:t>
            </a:r>
          </a:p>
          <a:p>
            <a:pPr>
              <a:spcAft>
                <a:spcPts val="300"/>
              </a:spcAft>
            </a:pPr>
            <a:r>
              <a:rPr sz="1700" b="0" i="0">
                <a:solidFill>
                  <a:srgbClr val="595959"/>
                </a:solidFill>
                <a:latin typeface="Arial"/>
              </a:rPr>
              <a:t>to a fully operating practice</a:t>
            </a:r>
          </a:p>
        </p:txBody>
      </p:sp>
      <p:sp>
        <p:nvSpPr>
          <p:cNvPr id="7" name="Rectangle 6"/>
          <p:cNvSpPr/>
          <p:nvPr/>
        </p:nvSpPr>
        <p:spPr>
          <a:xfrm>
            <a:off x="621792" y="3677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18560"/>
            <a:ext cx="10984687" cy="1082039"/>
          </a:xfrm>
          <a:prstGeom prst="rect">
            <a:avLst/>
          </a:prstGeom>
          <a:noFill/>
        </p:spPr>
        <p:txBody>
          <a:bodyPr wrap="square">
            <a:spAutoFit/>
          </a:bodyPr>
          <a:lstStyle/>
          <a:p>
            <a:pPr>
              <a:spcAft>
                <a:spcPts val="300"/>
              </a:spcAft>
            </a:pPr>
            <a:r>
              <a:rPr sz="2400" b="1" i="0">
                <a:solidFill>
                  <a:srgbClr val="1A1A1A"/>
                </a:solidFill>
                <a:latin typeface="Arial"/>
              </a:rPr>
              <a:t>5+ years</a:t>
            </a:r>
          </a:p>
          <a:p>
            <a:pPr>
              <a:spcAft>
                <a:spcPts val="300"/>
              </a:spcAft>
            </a:pPr>
            <a:r>
              <a:rPr sz="1700" b="0" i="0">
                <a:solidFill>
                  <a:srgbClr val="595959"/>
                </a:solidFill>
                <a:latin typeface="Arial"/>
              </a:rPr>
              <a:t>to mature governance</a:t>
            </a:r>
          </a:p>
        </p:txBody>
      </p:sp>
      <p:sp>
        <p:nvSpPr>
          <p:cNvPr id="9" name="TextBox 8"/>
          <p:cNvSpPr txBox="1"/>
          <p:nvPr/>
        </p:nvSpPr>
        <p:spPr>
          <a:xfrm>
            <a:off x="658368" y="5029200"/>
            <a:ext cx="10881360" cy="1188720"/>
          </a:xfrm>
          <a:prstGeom prst="rect">
            <a:avLst/>
          </a:prstGeom>
          <a:noFill/>
        </p:spPr>
        <p:txBody>
          <a:bodyPr wrap="square">
            <a:spAutoFit/>
          </a:bodyPr>
          <a:lstStyle/>
          <a:p>
            <a:pPr>
              <a:spcAft>
                <a:spcPts val="600"/>
              </a:spcAft>
            </a:pPr>
            <a:r>
              <a:rPr sz="1900" b="1" i="0">
                <a:solidFill>
                  <a:srgbClr val="1A1A1A"/>
                </a:solidFill>
                <a:latin typeface="Arial"/>
              </a:rPr>
              <a:t>The minister who launches this work will not be the one who completes it.</a:t>
            </a:r>
          </a:p>
          <a:p>
            <a:pPr>
              <a:spcAft>
                <a:spcPts val="600"/>
              </a:spcAft>
            </a:pPr>
            <a:r>
              <a:rPr sz="1500" b="0" i="0">
                <a:solidFill>
                  <a:srgbClr val="595959"/>
                </a:solidFill>
                <a:latin typeface="Arial"/>
              </a:rPr>
              <a:t>A minister who hears that as a problem is sponsoring a deliverable, not an EA. A minister who hears it as a feature is the right minister.</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team. A Board. A budget envelope. A promise. Put them on one page — and ask for all four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Four signposts — three African, one international</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Rwanda, Kenya and South Africa show the pattern at African scale and in different governance shapes. Estonia is the international polestar. The pattern travels. Your country can apply it too.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Rwanda — small country, strong centre: the lifecycle can compress</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Ministry of ICT and Innovation; Irembo as the citizen-services platform</a:t>
            </a:r>
          </a:p>
          <a:p>
            <a:pPr>
              <a:spcAft>
                <a:spcPts val="300"/>
              </a:spcAft>
            </a:pPr>
            <a:r>
              <a:rPr sz="1500" b="0" i="0">
                <a:solidFill>
                  <a:srgbClr val="595959"/>
                </a:solidFill>
                <a:latin typeface="Arial"/>
              </a:rPr>
              <a:t>From a small base in the mid-2010s to one of the most ambitious digital-government programmes on the continent.</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A single national ID linked across services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A small institutional muscle, coordinated centrally, disciplined</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Lesson: with political will, the lifecycle can be compressed</a:t>
            </a:r>
          </a:p>
          <a:p>
            <a:pPr>
              <a:spcAft>
                <a:spcPts val="300"/>
              </a:spcAft>
            </a:pPr>
            <a:r>
              <a:rPr sz="1500" b="0" i="0">
                <a:solidFill>
                  <a:srgbClr val="595959"/>
                </a:solidFill>
                <a:latin typeface="Arial"/>
              </a:rPr>
              <a:t>And the gains in the second and third sectors come faster than the first.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Kenya — the obstacles are concrete and documented: plan for them</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Huduma Centres — physical one-stop shops for government services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Huduma Namba — the unifying identity programme underneath</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Mixed results, openly debated in public</a:t>
            </a:r>
          </a:p>
          <a:p>
            <a:pPr>
              <a:spcAft>
                <a:spcPts val="300"/>
              </a:spcAft>
            </a:pPr>
            <a:r>
              <a:rPr sz="1500" b="0" i="0">
                <a:solidFill>
                  <a:srgbClr val="595959"/>
                </a:solidFill>
                <a:latin typeface="Arial"/>
              </a:rPr>
              <a:t>Obstacles met in courts, in parliament, and in implementation.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Lesson: the lesson is not “Kenya solved this”</a:t>
            </a:r>
          </a:p>
          <a:p>
            <a:pPr>
              <a:spcAft>
                <a:spcPts val="300"/>
              </a:spcAft>
            </a:pPr>
            <a:r>
              <a:rPr sz="1500" b="0" i="0">
                <a:solidFill>
                  <a:srgbClr val="595959"/>
                </a:solidFill>
                <a:latin typeface="Arial"/>
              </a:rPr>
              <a:t>It is that Kenya tried, the obstacles are documented — legal, political, technical — and the debate tells you what to plan for.</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South Africa — where you cannot impose, you federate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SITA — the State Information Technology Agency as coordinating body</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Strong provincial governments and constitutionally autonomous statutory bodies</a:t>
            </a:r>
          </a:p>
          <a:p>
            <a:pPr>
              <a:spcAft>
                <a:spcPts val="300"/>
              </a:spcAft>
            </a:pPr>
            <a:r>
              <a:rPr sz="1500" b="0" i="0">
                <a:solidFill>
                  <a:srgbClr val="595959"/>
                </a:solidFill>
                <a:latin typeface="Arial"/>
              </a:rPr>
              <a:t>A single architecture cannot be imposed from the top.</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Shared standards, common procurement, a maintained reference architecture</a:t>
            </a:r>
          </a:p>
          <a:p>
            <a:pPr>
              <a:spcAft>
                <a:spcPts val="300"/>
              </a:spcAft>
            </a:pPr>
            <a:r>
              <a:rPr sz="1500" b="0" i="0">
                <a:solidFill>
                  <a:srgbClr val="595959"/>
                </a:solidFill>
                <a:latin typeface="Arial"/>
              </a:rPr>
              <a:t>Agencies adopt it rather than have it imposed.</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Lesson: federation — coordination without coercion</a:t>
            </a:r>
          </a:p>
          <a:p>
            <a:pPr>
              <a:spcAft>
                <a:spcPts val="300"/>
              </a:spcAft>
            </a:pPr>
            <a:r>
              <a:rPr sz="1500" b="0" i="0">
                <a:solidFill>
                  <a:srgbClr val="595959"/>
                </a:solidFill>
                <a:latin typeface="Arial"/>
              </a:rPr>
              <a:t>The realistic pattern wherever sub-national governments or autonomous bodies carry real authority.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Estonia — the polestar, not the template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RIA — the Information System Authority; X-Road as the data-exchange backbone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Distributed registries — population, business, land — owned by their accountable agencies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Anchoring principle: Once-Only</a:t>
            </a:r>
          </a:p>
          <a:p>
            <a:pPr>
              <a:spcAft>
                <a:spcPts val="300"/>
              </a:spcAft>
            </a:pPr>
            <a:r>
              <a:rPr sz="1500" b="0" i="0">
                <a:solidFill>
                  <a:srgbClr val="595959"/>
                </a:solidFill>
                <a:latin typeface="Arial"/>
              </a:rPr>
              <a:t>The state never asks a citizen for the same information twice.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Started late 1990s; most public services online today</a:t>
            </a:r>
          </a:p>
          <a:p>
            <a:pPr>
              <a:spcAft>
                <a:spcPts val="300"/>
              </a:spcAft>
            </a:pPr>
            <a:r>
              <a:rPr sz="1500" b="0" i="0">
                <a:solidFill>
                  <a:srgbClr val="595959"/>
                </a:solidFill>
                <a:latin typeface="Arial"/>
              </a:rPr>
              <a:t>A small unitary state with very different starting conditions — use it as a polestar for what mature digital government looks like, not a template to copy.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very different countries — the same four elements</a:t>
            </a:r>
          </a:p>
        </p:txBody>
      </p:sp>
      <p:graphicFrame>
        <p:nvGraphicFramePr>
          <p:cNvPr id="4" name="Table 3"/>
          <p:cNvGraphicFramePr>
            <a:graphicFrameLocks noGrp="1"/>
          </p:cNvGraphicFramePr>
          <p:nvPr/>
        </p:nvGraphicFramePr>
        <p:xfrm>
          <a:off x="658368" y="1554480"/>
          <a:ext cx="10881360" cy="4023360"/>
        </p:xfrm>
        <a:graphic>
          <a:graphicData uri="http://schemas.openxmlformats.org/drawingml/2006/table">
            <a:tbl>
              <a:tblPr firstRow="1" bandRow="1">
                <a:tableStyleId>{5C22544A-7EE6-4342-B048-85BDC9FD1C3A}</a:tableStyleId>
              </a:tblPr>
              <a:tblGrid>
                <a:gridCol w="4663440"/>
                <a:gridCol w="1554480"/>
                <a:gridCol w="1554480"/>
                <a:gridCol w="1554480"/>
                <a:gridCol w="1554480"/>
              </a:tblGrid>
              <a:tr h="804672">
                <a:tc>
                  <a:txBody>
                    <a:bodyPr/>
                    <a:lstStyle/>
                    <a:p>
                      <a:pPr algn="l"/>
                    </a:p>
                  </a:txBody>
                  <a:tcPr/>
                </a:tc>
                <a:tc>
                  <a:txBody>
                    <a:bodyPr/>
                    <a:lstStyle/>
                    <a:p>
                      <a:pPr algn="ctr"/>
                      <a:r>
                        <a:rPr sz="1500" b="1">
                          <a:solidFill>
                            <a:srgbClr val="1A1A1A"/>
                          </a:solidFill>
                          <a:latin typeface="Arial"/>
                        </a:rPr>
                        <a:t>Rwanda</a:t>
                      </a:r>
                    </a:p>
                  </a:txBody>
                  <a:tcPr/>
                </a:tc>
                <a:tc>
                  <a:txBody>
                    <a:bodyPr/>
                    <a:lstStyle/>
                    <a:p>
                      <a:pPr algn="ctr"/>
                      <a:r>
                        <a:rPr sz="1500" b="1">
                          <a:solidFill>
                            <a:srgbClr val="1A1A1A"/>
                          </a:solidFill>
                          <a:latin typeface="Arial"/>
                        </a:rPr>
                        <a:t>Kenya</a:t>
                      </a:r>
                    </a:p>
                  </a:txBody>
                  <a:tcPr/>
                </a:tc>
                <a:tc>
                  <a:txBody>
                    <a:bodyPr/>
                    <a:lstStyle/>
                    <a:p>
                      <a:pPr algn="ctr"/>
                      <a:r>
                        <a:rPr sz="1500" b="1">
                          <a:solidFill>
                            <a:srgbClr val="1A1A1A"/>
                          </a:solidFill>
                          <a:latin typeface="Arial"/>
                        </a:rPr>
                        <a:t>South Africa</a:t>
                      </a:r>
                    </a:p>
                  </a:txBody>
                  <a:tcPr/>
                </a:tc>
                <a:tc>
                  <a:txBody>
                    <a:bodyPr/>
                    <a:lstStyle/>
                    <a:p>
                      <a:pPr algn="ctr"/>
                      <a:r>
                        <a:rPr sz="1500" b="1">
                          <a:solidFill>
                            <a:srgbClr val="1A1A1A"/>
                          </a:solidFill>
                          <a:latin typeface="Arial"/>
                        </a:rPr>
                        <a:t>Estonia</a:t>
                      </a:r>
                    </a:p>
                  </a:txBody>
                  <a:tcPr/>
                </a:tc>
              </a:tr>
              <a:tr h="804672">
                <a:tc>
                  <a:txBody>
                    <a:bodyPr/>
                    <a:lstStyle/>
                    <a:p>
                      <a:r>
                        <a:rPr sz="1500">
                          <a:solidFill>
                            <a:srgbClr val="1A1A1A"/>
                          </a:solidFill>
                          <a:latin typeface="Arial"/>
                        </a:rPr>
                        <a:t>Small central team with real authority</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r h="804672">
                <a:tc>
                  <a:txBody>
                    <a:bodyPr/>
                    <a:lstStyle/>
                    <a:p>
                      <a:r>
                        <a:rPr sz="1500">
                          <a:solidFill>
                            <a:srgbClr val="1A1A1A"/>
                          </a:solidFill>
                          <a:latin typeface="Arial"/>
                        </a:rPr>
                        <a:t>Published framework other agencies adopt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r h="804672">
                <a:tc>
                  <a:txBody>
                    <a:bodyPr/>
                    <a:lstStyle/>
                    <a:p>
                      <a:r>
                        <a:rPr sz="1500">
                          <a:solidFill>
                            <a:srgbClr val="1A1A1A"/>
                          </a:solidFill>
                          <a:latin typeface="Arial"/>
                        </a:rPr>
                        <a:t>Binding governance, not advisory</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r h="804672">
                <a:tc>
                  <a:txBody>
                    <a:bodyPr/>
                    <a:lstStyle/>
                    <a:p>
                      <a:r>
                        <a:rPr sz="1500">
                          <a:solidFill>
                            <a:srgbClr val="1A1A1A"/>
                          </a:solidFill>
                          <a:latin typeface="Arial"/>
                        </a:rPr>
                        <a:t>Multi-year horizon, results visible in months</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bl>
          </a:graphicData>
        </a:graphic>
      </p:graphicFrame>
      <p:sp>
        <p:nvSpPr>
          <p:cNvPr id="5" name="TextBox 4"/>
          <p:cNvSpPr txBox="1"/>
          <p:nvPr/>
        </p:nvSpPr>
        <p:spPr>
          <a:xfrm>
            <a:off x="658368" y="5760720"/>
            <a:ext cx="10881360" cy="548640"/>
          </a:xfrm>
          <a:prstGeom prst="rect">
            <a:avLst/>
          </a:prstGeom>
          <a:noFill/>
        </p:spPr>
        <p:txBody>
          <a:bodyPr wrap="square">
            <a:spAutoFit/>
          </a:bodyPr>
          <a:lstStyle/>
          <a:p>
            <a:r>
              <a:rPr sz="1450" b="0" i="0">
                <a:solidFill>
                  <a:srgbClr val="595959"/>
                </a:solidFill>
                <a:latin typeface="Arial"/>
              </a:rPr>
              <a:t>These are not outliers. This is what committing to the lifecycle, the team, the governance and the time horizon looks like in practice.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pattern travels — across small countries and large, unitary states and federations. Your country can apply it too.</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 Ministry of ICT and Innovation</a:t>
            </a:r>
          </a:p>
          <a:p>
            <a:pPr>
              <a:spcAft>
                <a:spcPts val="1200"/>
              </a:spcAft>
            </a:pPr>
            <a:r>
              <a:rPr sz="1700" b="0" i="0">
                <a:solidFill>
                  <a:srgbClr val="1A1A1A"/>
                </a:solidFill>
                <a:latin typeface="Arial"/>
              </a:rPr>
              <a:t>•  Kenya — Huduma Kenya (huduma.go.ke); Huduma Namba</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RIA (ria.ee)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