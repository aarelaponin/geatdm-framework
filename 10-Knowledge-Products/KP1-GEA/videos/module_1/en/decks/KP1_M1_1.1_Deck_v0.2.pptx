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have probably seen this pattern. One programme builds a system to register citizens. Another builds another, for a different service. A third builds a third. Each takes years, funded separately. And your citizen still fills the same form five times, at five different counters.</a:t>
            </a:r>
          </a:p>
          <a:p/>
          <a:p>
            <a:r>
              <a:t>VO: You cannot fix this inside any one programme. Each programme is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cumulative.</a:t>
            </a:r>
          </a:p>
          <a:p/>
          <a:p>
            <a:r>
              <a:t>RETRIEVAL MOMENT (before revealing row 1): ask the viewer — how many separate registers of the same citizens does your government keep? Hold two seconds, then reveal.</a:t>
            </a:r>
          </a:p>
          <a:p/>
          <a:p>
            <a:r>
              <a:t>VO: There are four signs that this pattern is happening in your government.</a:t>
            </a:r>
          </a:p>
          <a:p/>
          <a:p>
            <a:r>
              <a:t>VO: Sign one. Your ministry has more than one register of the same people. The school list has one. The national ID register has another. The social register has a third. Each has its own list. None of them agree.</a:t>
            </a:r>
          </a:p>
          <a:p/>
          <a:p>
            <a:r>
              <a:t>VO: Sign two. Every time two systems need to share data, you build a new connection from zero. Last year your team connected the tax office to the business register. This year you are doing the same work for the health ministry. The connection is built again, from scratch.</a:t>
            </a:r>
          </a:p>
          <a:p/>
          <a:p>
            <a:r>
              <a:t>VO: Sign three. A vendor built one of your systems ten years ago. To change anything in it, you must call that vendor and pay what they ask. Nobody else knows how it works. The vendor knows this, and prices accordingly.</a:t>
            </a:r>
          </a:p>
          <a:p/>
          <a:p>
            <a:r>
              <a:t>VO: Sign four. Each ministry has its own digital systems, and they do not connect across ministries. The citizen who gave her ID number to the health ministry must give it again, on paper, when she enrols her child in school. The pledge to ask each citizen for information only once exists on paper. In practice, it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cost of this pattern runs in four directions at once. You pay more, because you build the same things many times. The country moves more slowly, because every new programme waits for cross-system work that nobody planned for. Your citizens carry the burden, because they fill the same form in five places. And your minister cannot deliver a flagship cross-ministry programme, because the systems will not talk to each other.</a:t>
            </a:r>
          </a:p>
          <a:p/>
          <a:p>
            <a:r>
              <a:t>The minister cell is the one to land hardest with a Strategist audience — it is highlighted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All four signs come from one root cause. There is no shared plan. No one has written down what your government's digital systems are, who owns them, and how they should fit together. That shared plan is what a national Enterprise Architecture provides. The rest of this knowledge product shows you how to commission one, what it will deliver, and what you will need from your minister to make it work.</a:t>
            </a:r>
          </a:p>
          <a:p/>
          <a:p>
            <a:r>
              <a:t>This is the most important slide of video 1.1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your country needs a national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Without a shared plan for your government’s digital systems, every new programme rebuilds what others have already built. The country pays. The citizen pays. Your minister cannot deliver what they promised.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One citizen. Five counters. The same form, five times.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One programme builds a system to register citizens. Another builds another. A third builds a third.</a:t>
            </a:r>
          </a:p>
          <a:p>
            <a:pPr>
              <a:spcAft>
                <a:spcPts val="800"/>
              </a:spcAft>
            </a:pPr>
            <a:r>
              <a:rPr sz="1700" b="0" i="0">
                <a:solidFill>
                  <a:srgbClr val="595959"/>
                </a:solidFill>
                <a:latin typeface="Arial"/>
              </a:rPr>
              <a:t>Each takes years, funded separately.</a:t>
            </a:r>
          </a:p>
          <a:p>
            <a:pPr>
              <a:spcAft>
                <a:spcPts val="800"/>
              </a:spcAft>
            </a:pPr>
            <a:r>
              <a:rPr sz="1700" b="0" i="0">
                <a:solidFill>
                  <a:srgbClr val="595959"/>
                </a:solidFill>
                <a:latin typeface="Arial"/>
              </a:rPr>
              <a:t>You cannot fix this inside any one programme — each is doing exactly what it was funded to do.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signs your government has no shared plan</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More than one register of the same people</a:t>
            </a:r>
          </a:p>
          <a:p>
            <a:pPr>
              <a:spcAft>
                <a:spcPts val="300"/>
              </a:spcAft>
            </a:pPr>
            <a:r>
              <a:rPr sz="1550" b="0" i="0">
                <a:solidFill>
                  <a:srgbClr val="595959"/>
                </a:solidFill>
                <a:latin typeface="Arial"/>
              </a:rPr>
              <a:t>The school list has one. The national ID register has another. The social register has a third. None of them agree.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Every system-to-system link built from scratch</a:t>
            </a:r>
          </a:p>
          <a:p>
            <a:pPr>
              <a:spcAft>
                <a:spcPts val="300"/>
              </a:spcAft>
            </a:pPr>
            <a:r>
              <a:rPr sz="1550" b="0" i="0">
                <a:solidFill>
                  <a:srgbClr val="595959"/>
                </a:solidFill>
                <a:latin typeface="Arial"/>
              </a:rPr>
              <a:t>Last year your team connected the tax office to the business register. This year, the same work again — for the health ministry.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Vendor lock-in on systems built years ago</a:t>
            </a:r>
          </a:p>
          <a:p>
            <a:pPr>
              <a:spcAft>
                <a:spcPts val="300"/>
              </a:spcAft>
            </a:pPr>
            <a:r>
              <a:rPr sz="1550" b="0" i="0">
                <a:solidFill>
                  <a:srgbClr val="595959"/>
                </a:solidFill>
                <a:latin typeface="Arial"/>
              </a:rPr>
              <a:t>One vendor built it ten years ago. To change anything, you call that vendor and pay what they ask. The vendor knows this, and prices accordingly.</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Ministries that do not connect across each other</a:t>
            </a:r>
          </a:p>
          <a:p>
            <a:pPr>
              <a:spcAft>
                <a:spcPts val="300"/>
              </a:spcAft>
            </a:pPr>
            <a:r>
              <a:rPr sz="1550" b="0" i="0">
                <a:solidFill>
                  <a:srgbClr val="595959"/>
                </a:solidFill>
                <a:latin typeface="Arial"/>
              </a:rPr>
              <a:t>The citizen who gave her ID number to the health ministry gives it again, on paper, when she enrols her child in school. “Ask once” exists on paper only.</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country pays in four directions at once</a:t>
            </a:r>
          </a:p>
        </p:txBody>
      </p:sp>
      <p:sp>
        <p:nvSpPr>
          <p:cNvPr id="4" name="Rounded Rectangle 3"/>
          <p:cNvSpPr/>
          <p:nvPr/>
        </p:nvSpPr>
        <p:spPr>
          <a:xfrm>
            <a:off x="65836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Money</a:t>
            </a:r>
          </a:p>
          <a:p>
            <a:pPr>
              <a:spcAft>
                <a:spcPts val="700"/>
              </a:spcAft>
            </a:pPr>
            <a:r>
              <a:rPr sz="1500" b="0" i="0">
                <a:solidFill>
                  <a:srgbClr val="595959"/>
                </a:solidFill>
                <a:latin typeface="Arial"/>
              </a:rPr>
              <a:t>The same systems built many times over.</a:t>
            </a:r>
          </a:p>
        </p:txBody>
      </p:sp>
      <p:sp>
        <p:nvSpPr>
          <p:cNvPr id="6" name="Rounded Rectangle 5"/>
          <p:cNvSpPr/>
          <p:nvPr/>
        </p:nvSpPr>
        <p:spPr>
          <a:xfrm>
            <a:off x="6281928" y="1508760"/>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655063"/>
            <a:ext cx="4992624" cy="1965960"/>
          </a:xfrm>
          <a:prstGeom prst="rect">
            <a:avLst/>
          </a:prstGeom>
          <a:noFill/>
        </p:spPr>
        <p:txBody>
          <a:bodyPr wrap="square">
            <a:spAutoFit/>
          </a:bodyPr>
          <a:lstStyle/>
          <a:p>
            <a:pPr>
              <a:spcAft>
                <a:spcPts val="700"/>
              </a:spcAft>
            </a:pPr>
            <a:r>
              <a:rPr sz="2000" b="1" i="0">
                <a:solidFill>
                  <a:srgbClr val="1A1A1A"/>
                </a:solidFill>
                <a:latin typeface="Arial"/>
              </a:rPr>
              <a:t>Time</a:t>
            </a:r>
          </a:p>
          <a:p>
            <a:pPr>
              <a:spcAft>
                <a:spcPts val="700"/>
              </a:spcAft>
            </a:pPr>
            <a:r>
              <a:rPr sz="1500" b="0" i="0">
                <a:solidFill>
                  <a:srgbClr val="595959"/>
                </a:solidFill>
                <a:latin typeface="Arial"/>
              </a:rPr>
              <a:t>Every new programme waits for cross-system work nobody planned for.</a:t>
            </a:r>
          </a:p>
        </p:txBody>
      </p:sp>
      <p:sp>
        <p:nvSpPr>
          <p:cNvPr id="8" name="Rounded Rectangle 7"/>
          <p:cNvSpPr/>
          <p:nvPr/>
        </p:nvSpPr>
        <p:spPr>
          <a:xfrm>
            <a:off x="658368" y="3977639"/>
            <a:ext cx="5394960" cy="2240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123944"/>
            <a:ext cx="4992624" cy="1965960"/>
          </a:xfrm>
          <a:prstGeom prst="rect">
            <a:avLst/>
          </a:prstGeom>
          <a:noFill/>
        </p:spPr>
        <p:txBody>
          <a:bodyPr wrap="square">
            <a:spAutoFit/>
          </a:bodyPr>
          <a:lstStyle/>
          <a:p>
            <a:pPr>
              <a:spcAft>
                <a:spcPts val="700"/>
              </a:spcAft>
            </a:pPr>
            <a:r>
              <a:rPr sz="2000" b="1" i="0">
                <a:solidFill>
                  <a:srgbClr val="1A1A1A"/>
                </a:solidFill>
                <a:latin typeface="Arial"/>
              </a:rPr>
              <a:t>Citizens</a:t>
            </a:r>
          </a:p>
          <a:p>
            <a:pPr>
              <a:spcAft>
                <a:spcPts val="700"/>
              </a:spcAft>
            </a:pPr>
            <a:r>
              <a:rPr sz="1500" b="0" i="0">
                <a:solidFill>
                  <a:srgbClr val="595959"/>
                </a:solidFill>
                <a:latin typeface="Arial"/>
              </a:rPr>
              <a:t>The same form, filled in five places.</a:t>
            </a:r>
          </a:p>
        </p:txBody>
      </p:sp>
      <p:sp>
        <p:nvSpPr>
          <p:cNvPr id="10" name="Rounded Rectangle 9"/>
          <p:cNvSpPr/>
          <p:nvPr/>
        </p:nvSpPr>
        <p:spPr>
          <a:xfrm>
            <a:off x="6281928" y="3977639"/>
            <a:ext cx="5394960" cy="22402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123944"/>
            <a:ext cx="4992624" cy="1965960"/>
          </a:xfrm>
          <a:prstGeom prst="rect">
            <a:avLst/>
          </a:prstGeom>
          <a:noFill/>
        </p:spPr>
        <p:txBody>
          <a:bodyPr wrap="square">
            <a:spAutoFit/>
          </a:bodyPr>
          <a:lstStyle/>
          <a:p>
            <a:pPr>
              <a:spcAft>
                <a:spcPts val="700"/>
              </a:spcAft>
            </a:pPr>
            <a:r>
              <a:rPr sz="2000" b="1" i="0">
                <a:solidFill>
                  <a:srgbClr val="FFFFFF"/>
                </a:solidFill>
                <a:latin typeface="Arial"/>
              </a:rPr>
              <a:t>Your minister</a:t>
            </a:r>
          </a:p>
          <a:p>
            <a:pPr>
              <a:spcAft>
                <a:spcPts val="700"/>
              </a:spcAft>
            </a:pPr>
            <a:r>
              <a:rPr sz="1500" b="0" i="0">
                <a:solidFill>
                  <a:srgbClr val="FFFFFF"/>
                </a:solidFill>
                <a:latin typeface="Arial"/>
              </a:rPr>
              <a:t>Flagship cross-ministry programmes cannot land — the systems will not talk.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root cause: there is no shared plan</a:t>
            </a:r>
          </a:p>
        </p:txBody>
      </p:sp>
      <p:sp>
        <p:nvSpPr>
          <p:cNvPr id="4" name="TextBox 3"/>
          <p:cNvSpPr txBox="1"/>
          <p:nvPr/>
        </p:nvSpPr>
        <p:spPr>
          <a:xfrm>
            <a:off x="658368" y="1600200"/>
            <a:ext cx="10789920" cy="1691640"/>
          </a:xfrm>
          <a:prstGeom prst="rect">
            <a:avLst/>
          </a:prstGeom>
          <a:noFill/>
        </p:spPr>
        <p:txBody>
          <a:bodyPr wrap="square">
            <a:spAutoFit/>
          </a:bodyPr>
          <a:lstStyle/>
          <a:p>
            <a:pPr>
              <a:spcAft>
                <a:spcPts val="1000"/>
              </a:spcAft>
            </a:pPr>
            <a:r>
              <a:rPr sz="2200" b="0" i="0">
                <a:solidFill>
                  <a:srgbClr val="1A1A1A"/>
                </a:solidFill>
                <a:latin typeface="Arial"/>
              </a:rPr>
              <a:t>No one has written down what your government’s digital systems are, who owns them, and how they should fit together.</a:t>
            </a:r>
          </a:p>
        </p:txBody>
      </p:sp>
      <p:sp>
        <p:nvSpPr>
          <p:cNvPr id="5" name="Rounded Rectangle 4"/>
          <p:cNvSpPr/>
          <p:nvPr/>
        </p:nvSpPr>
        <p:spPr>
          <a:xfrm>
            <a:off x="658368" y="3337560"/>
            <a:ext cx="10789920" cy="11430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529584"/>
            <a:ext cx="10387584" cy="868680"/>
          </a:xfrm>
          <a:prstGeom prst="rect">
            <a:avLst/>
          </a:prstGeom>
          <a:noFill/>
        </p:spPr>
        <p:txBody>
          <a:bodyPr wrap="square">
            <a:spAutoFit/>
          </a:bodyPr>
          <a:lstStyle/>
          <a:p>
            <a:pPr>
              <a:spcAft>
                <a:spcPts val="700"/>
              </a:spcAft>
            </a:pPr>
            <a:r>
              <a:rPr sz="2600" b="1" i="0">
                <a:solidFill>
                  <a:srgbClr val="006E96"/>
                </a:solidFill>
                <a:latin typeface="Arial"/>
              </a:rPr>
              <a:t>A national Enterprise Architecture is that plan.</a:t>
            </a:r>
          </a:p>
        </p:txBody>
      </p:sp>
      <p:sp>
        <p:nvSpPr>
          <p:cNvPr id="7" name="Rounded Rectangle 6"/>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Diagnose your country's fragmentation symptoms.</a:t>
            </a:r>
          </a:p>
          <a:p>
            <a:pPr algn="l">
              <a:spcAft>
                <a:spcPts val="400"/>
              </a:spcAft>
            </a:pPr>
            <a:r>
              <a:rPr sz="1800" b="0" i="0">
                <a:solidFill>
                  <a:srgbClr val="595959"/>
                </a:solidFill>
                <a:latin typeface="Arial"/>
              </a:rPr>
              <a:t>The prompt in the companion material gives you a 4-row markdown table plus a 3-bullet summary. Before the next video.</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§2.1 Problem statement (paera.govstack.global)</a:t>
            </a:r>
          </a:p>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EU European Interoperability Framework — Once-Only principle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your country needs a national EA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