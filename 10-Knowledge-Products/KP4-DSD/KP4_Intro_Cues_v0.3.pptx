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9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320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600" b="1">
                <a:solidFill>
                  <a:srgbClr val="F4F4F2"/>
                </a:solidFill>
                <a:latin typeface="Arial"/>
              </a:rPr>
              <a:t>KP4</a:t>
            </a:r>
          </a:p>
          <a:p>
            <a:pPr algn="l"/>
            <a:r>
              <a:rPr sz="6000" b="0">
                <a:solidFill>
                  <a:srgbClr val="B9C2CC"/>
                </a:solidFill>
                <a:latin typeface="Arial"/>
              </a:rPr>
              <a:t>Introduction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9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09760" y="32004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400" b="0">
                <a:solidFill>
                  <a:srgbClr val="7A848F"/>
                </a:solidFill>
                <a:latin typeface="Arial"/>
              </a:rPr>
              <a:t>1 /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21031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6000" b="1">
                <a:solidFill>
                  <a:srgbClr val="F4F4F2"/>
                </a:solidFill>
                <a:latin typeface="Arial"/>
              </a:rPr>
              <a:t>Last course: getting what was agreed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105156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3600" b="0">
                <a:solidFill>
                  <a:srgbClr val="B9C2CC"/>
                </a:solidFill>
                <a:latin typeface="Arial"/>
              </a:rPr>
              <a:t>Fourth and last course in this series</a:t>
            </a:r>
          </a:p>
          <a:p>
            <a:pPr algn="l">
              <a:spcAft>
                <a:spcPts val="1400"/>
              </a:spcAft>
            </a:pPr>
            <a:r>
              <a:rPr sz="3600" b="0">
                <a:solidFill>
                  <a:srgbClr val="B9C2CC"/>
                </a:solidFill>
                <a:latin typeface="Arial"/>
              </a:rPr>
              <a:t>Before it: a plan, data exchange, shared systems</a:t>
            </a:r>
          </a:p>
          <a:p>
            <a:pPr algn="l">
              <a:spcAft>
                <a:spcPts val="1400"/>
              </a:spcAft>
            </a:pPr>
            <a:r>
              <a:rPr sz="3600" b="0">
                <a:solidFill>
                  <a:srgbClr val="B9C2CC"/>
                </a:solidFill>
                <a:latin typeface="Arial"/>
              </a:rPr>
              <a:t>This one: design and accept a service on them</a:t>
            </a:r>
          </a:p>
          <a:p>
            <a:pPr algn="l">
              <a:spcAft>
                <a:spcPts val="1400"/>
              </a:spcAft>
            </a:pPr>
            <a:r>
              <a:rPr sz="3600" b="0">
                <a:solidFill>
                  <a:srgbClr val="B9C2CC"/>
                </a:solidFill>
                <a:latin typeface="Arial"/>
              </a:rPr>
              <a:t>Why: the service is what learners actually meet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9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09760" y="32004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400" b="0">
                <a:solidFill>
                  <a:srgbClr val="7A848F"/>
                </a:solidFill>
                <a:latin typeface="Arial"/>
              </a:rPr>
              <a:t>2 /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21031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6000" b="1">
                <a:solidFill>
                  <a:srgbClr val="F4F4F2"/>
                </a:solidFill>
                <a:latin typeface="Arial"/>
              </a:rPr>
              <a:t>Not the service they agreed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105156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3600" b="0">
                <a:solidFill>
                  <a:srgbClr val="B9C2CC"/>
                </a:solidFill>
                <a:latin typeface="Arial"/>
              </a:rPr>
              <a:t>Officials approved what the new service must do</a:t>
            </a:r>
          </a:p>
          <a:p>
            <a:pPr algn="l">
              <a:spcAft>
                <a:spcPts val="1400"/>
              </a:spcAft>
            </a:pPr>
            <a:r>
              <a:rPr sz="3600" b="0">
                <a:solidFill>
                  <a:srgbClr val="B9C2CC"/>
                </a:solidFill>
                <a:latin typeface="Arial"/>
              </a:rPr>
              <a:t>Switched on, it often does something else</a:t>
            </a:r>
          </a:p>
          <a:p>
            <a:pPr algn="l">
              <a:spcAft>
                <a:spcPts val="1400"/>
              </a:spcAft>
            </a:pPr>
            <a:r>
              <a:rPr sz="3600" b="0">
                <a:solidFill>
                  <a:srgbClr val="B9C2CC"/>
                </a:solidFill>
                <a:latin typeface="Arial"/>
              </a:rPr>
              <a:t>You commissioned it, so you must explain why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9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09760" y="32004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400" b="0">
                <a:solidFill>
                  <a:srgbClr val="7A848F"/>
                </a:solidFill>
                <a:latin typeface="Arial"/>
              </a:rPr>
              <a:t>3 /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21031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6000" b="1">
                <a:solidFill>
                  <a:srgbClr val="F4F4F2"/>
                </a:solidFill>
                <a:latin typeface="Arial"/>
              </a:rPr>
              <a:t>Where an agreed service gets lost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105156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3600" b="0">
                <a:solidFill>
                  <a:srgbClr val="B9C2CC"/>
                </a:solidFill>
                <a:latin typeface="Arial"/>
              </a:rPr>
              <a:t>A question nobody decided, so a builder guessed</a:t>
            </a:r>
          </a:p>
          <a:p>
            <a:pPr algn="l">
              <a:spcAft>
                <a:spcPts val="1400"/>
              </a:spcAft>
            </a:pPr>
            <a:r>
              <a:rPr sz="3600" b="0">
                <a:solidFill>
                  <a:srgbClr val="B9C2CC"/>
                </a:solidFill>
                <a:latin typeface="Arial"/>
              </a:rPr>
              <a:t>An answer someone gave, but never passed on</a:t>
            </a:r>
          </a:p>
          <a:p>
            <a:pPr algn="l">
              <a:spcAft>
                <a:spcPts val="1400"/>
              </a:spcAft>
            </a:pPr>
            <a:r>
              <a:rPr sz="3600" b="0">
                <a:solidFill>
                  <a:srgbClr val="B9C2CC"/>
                </a:solidFill>
                <a:latin typeface="Arial"/>
              </a:rPr>
              <a:t>A rule that was agreed, but nobody enforced</a:t>
            </a:r>
          </a:p>
          <a:p>
            <a:pPr algn="l">
              <a:spcAft>
                <a:spcPts val="1400"/>
              </a:spcAft>
            </a:pPr>
            <a:r>
              <a:rPr sz="3600" b="0">
                <a:solidFill>
                  <a:srgbClr val="B9C2CC"/>
                </a:solidFill>
                <a:latin typeface="Arial"/>
              </a:rPr>
              <a:t>Not a coding error: decisions you can manage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9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09760" y="32004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400" b="0">
                <a:solidFill>
                  <a:srgbClr val="7A848F"/>
                </a:solidFill>
                <a:latin typeface="Arial"/>
              </a:rPr>
              <a:t>4 /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21031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6000" b="1">
                <a:solidFill>
                  <a:srgbClr val="F4F4F2"/>
                </a:solidFill>
                <a:latin typeface="Arial"/>
              </a:rPr>
              <a:t>The remedy: design it in writing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105156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3600" b="0">
                <a:solidFill>
                  <a:srgbClr val="B9C2CC"/>
                </a:solidFill>
                <a:latin typeface="Arial"/>
              </a:rPr>
              <a:t>Twelve documents: from your law to the service</a:t>
            </a:r>
          </a:p>
          <a:p>
            <a:pPr algn="l">
              <a:spcAft>
                <a:spcPts val="1400"/>
              </a:spcAft>
            </a:pPr>
            <a:r>
              <a:rPr sz="3600" b="0">
                <a:solidFill>
                  <a:srgbClr val="B9C2CC"/>
                </a:solidFill>
                <a:latin typeface="Arial"/>
              </a:rPr>
              <a:t>In order, as each is written from the last</a:t>
            </a:r>
          </a:p>
          <a:p>
            <a:pPr algn="l">
              <a:spcAft>
                <a:spcPts val="1400"/>
              </a:spcAft>
            </a:pPr>
            <a:r>
              <a:rPr sz="3600" b="0">
                <a:solidFill>
                  <a:srgbClr val="B9C2CC"/>
                </a:solidFill>
                <a:latin typeface="Arial"/>
              </a:rPr>
              <a:t>A program then builds it, never by hand</a:t>
            </a:r>
          </a:p>
          <a:p>
            <a:pPr algn="l">
              <a:spcAft>
                <a:spcPts val="1400"/>
              </a:spcAft>
            </a:pPr>
            <a:r>
              <a:rPr sz="3600" b="0">
                <a:solidFill>
                  <a:srgbClr val="B9C2CC"/>
                </a:solidFill>
                <a:latin typeface="Arial"/>
              </a:rPr>
              <a:t>This method: specification-driven development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9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09760" y="32004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400" b="0">
                <a:solidFill>
                  <a:srgbClr val="7A848F"/>
                </a:solidFill>
                <a:latin typeface="Arial"/>
              </a:rPr>
              <a:t>5 /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21031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6000" b="1">
                <a:solidFill>
                  <a:srgbClr val="F4F4F2"/>
                </a:solidFill>
                <a:latin typeface="Arial"/>
              </a:rPr>
              <a:t>Nine points where your people say yes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105156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3600" b="0">
                <a:solidFill>
                  <a:srgbClr val="B9C2CC"/>
                </a:solidFill>
                <a:latin typeface="Arial"/>
              </a:rPr>
              <a:t>A named official of yours approves the document</a:t>
            </a:r>
          </a:p>
          <a:p>
            <a:pPr algn="l">
              <a:spcAft>
                <a:spcPts val="1400"/>
              </a:spcAft>
            </a:pPr>
            <a:r>
              <a:rPr sz="3600" b="0">
                <a:solidFill>
                  <a:srgbClr val="B9C2CC"/>
                </a:solidFill>
                <a:latin typeface="Arial"/>
              </a:rPr>
              <a:t>Nothing moves on until that person agrees</a:t>
            </a:r>
          </a:p>
          <a:p>
            <a:pPr algn="l">
              <a:spcAft>
                <a:spcPts val="1400"/>
              </a:spcAft>
            </a:pPr>
            <a:r>
              <a:rPr sz="3600" b="0">
                <a:solidFill>
                  <a:srgbClr val="B9C2CC"/>
                </a:solidFill>
                <a:latin typeface="Arial"/>
              </a:rPr>
              <a:t>Gaps stay open questions, with a name and date</a:t>
            </a:r>
          </a:p>
          <a:p>
            <a:pPr algn="l">
              <a:spcAft>
                <a:spcPts val="1400"/>
              </a:spcAft>
            </a:pPr>
            <a:r>
              <a:rPr sz="3600" b="0">
                <a:solidFill>
                  <a:srgbClr val="B9C2CC"/>
                </a:solidFill>
                <a:latin typeface="Arial"/>
              </a:rPr>
              <a:t>E.g. a college's appeal period, never guessed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9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09760" y="32004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400" b="0">
                <a:solidFill>
                  <a:srgbClr val="7A848F"/>
                </a:solidFill>
                <a:latin typeface="Arial"/>
              </a:rPr>
              <a:t>6 /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21031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6000" b="1">
                <a:solidFill>
                  <a:srgbClr val="F4F4F2"/>
                </a:solidFill>
                <a:latin typeface="Arial"/>
              </a:rPr>
              <a:t>Three things to find before signing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105156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3600" b="0">
                <a:solidFill>
                  <a:srgbClr val="B9C2CC"/>
                </a:solidFill>
                <a:latin typeface="Arial"/>
              </a:rPr>
              <a:t>What exactly will your officials approve?</a:t>
            </a:r>
          </a:p>
          <a:p>
            <a:pPr algn="l">
              <a:spcAft>
                <a:spcPts val="1400"/>
              </a:spcAft>
            </a:pPr>
            <a:r>
              <a:rPr sz="3600" b="0">
                <a:solidFill>
                  <a:srgbClr val="B9C2CC"/>
                </a:solidFill>
                <a:latin typeface="Arial"/>
              </a:rPr>
              <a:t>What will the design be checked against?</a:t>
            </a:r>
          </a:p>
          <a:p>
            <a:pPr algn="l">
              <a:spcAft>
                <a:spcPts val="1400"/>
              </a:spcAft>
            </a:pPr>
            <a:r>
              <a:rPr sz="3600" b="0">
                <a:solidFill>
                  <a:srgbClr val="B9C2CC"/>
                </a:solidFill>
                <a:latin typeface="Arial"/>
              </a:rPr>
              <a:t>Where does testing end, and with whom?</a:t>
            </a:r>
          </a:p>
          <a:p>
            <a:pPr algn="l">
              <a:spcAft>
                <a:spcPts val="1400"/>
              </a:spcAft>
            </a:pPr>
            <a:r>
              <a:rPr sz="3600" b="0">
                <a:solidFill>
                  <a:srgbClr val="B9C2CC"/>
                </a:solidFill>
                <a:latin typeface="Arial"/>
              </a:rPr>
              <a:t>Missing from the offer? Make it a contract clause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9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09760" y="32004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400" b="0">
                <a:solidFill>
                  <a:srgbClr val="7A848F"/>
                </a:solidFill>
                <a:latin typeface="Arial"/>
              </a:rPr>
              <a:t>7 /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21031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6000" b="1">
                <a:solidFill>
                  <a:srgbClr val="F4F4F2"/>
                </a:solidFill>
                <a:latin typeface="Arial"/>
              </a:rPr>
              <a:t>Three rules to hold a supplier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105156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3600" b="0">
                <a:solidFill>
                  <a:srgbClr val="B9C2CC"/>
                </a:solidFill>
                <a:latin typeface="Arial"/>
              </a:rPr>
              <a:t>Officials approve a story, not a list of fields</a:t>
            </a:r>
          </a:p>
          <a:p>
            <a:pPr algn="l">
              <a:spcAft>
                <a:spcPts val="1400"/>
              </a:spcAft>
            </a:pPr>
            <a:r>
              <a:rPr sz="3600" b="0">
                <a:solidFill>
                  <a:srgbClr val="B9C2CC"/>
                </a:solidFill>
                <a:latin typeface="Arial"/>
              </a:rPr>
              <a:t>Story: each step, every way it can go wrong</a:t>
            </a:r>
          </a:p>
          <a:p>
            <a:pPr algn="l">
              <a:spcAft>
                <a:spcPts val="1400"/>
              </a:spcAft>
            </a:pPr>
            <a:r>
              <a:rPr sz="3600" b="0">
                <a:solidFill>
                  <a:srgbClr val="B9C2CC"/>
                </a:solidFill>
                <a:latin typeface="Arial"/>
              </a:rPr>
              <a:t>First list what was asked; check design against it</a:t>
            </a:r>
          </a:p>
          <a:p>
            <a:pPr algn="l">
              <a:spcAft>
                <a:spcPts val="1400"/>
              </a:spcAft>
            </a:pPr>
            <a:r>
              <a:rPr sz="3600" b="0">
                <a:solidFill>
                  <a:srgbClr val="B9C2CC"/>
                </a:solidFill>
                <a:latin typeface="Arial"/>
              </a:rPr>
              <a:t>Acceptance test: your officer finishes a real task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9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09760" y="32004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400" b="0">
                <a:solidFill>
                  <a:srgbClr val="7A848F"/>
                </a:solidFill>
                <a:latin typeface="Arial"/>
              </a:rPr>
              <a:t>8 /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21031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6000" b="1">
                <a:solidFill>
                  <a:srgbClr val="F4F4F2"/>
                </a:solidFill>
                <a:latin typeface="Arial"/>
              </a:rPr>
              <a:t>Use shared building blocks, never rebuild them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105156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3600" b="0">
                <a:solidFill>
                  <a:srgbClr val="B9C2CC"/>
                </a:solidFill>
                <a:latin typeface="Arial"/>
              </a:rPr>
              <a:t>Blocks: shared systems that many services use</a:t>
            </a:r>
          </a:p>
          <a:p>
            <a:pPr algn="l">
              <a:spcAft>
                <a:spcPts val="1400"/>
              </a:spcAft>
            </a:pPr>
            <a:r>
              <a:rPr sz="3600" b="0">
                <a:solidFill>
                  <a:srgbClr val="B9C2CC"/>
                </a:solidFill>
                <a:latin typeface="Arial"/>
              </a:rPr>
              <a:t>Identity sign-in, college records, fee payments</a:t>
            </a:r>
          </a:p>
          <a:p>
            <a:pPr algn="l">
              <a:spcAft>
                <a:spcPts val="1400"/>
              </a:spcAft>
            </a:pPr>
            <a:r>
              <a:rPr sz="3600" b="0">
                <a:solidFill>
                  <a:srgbClr val="B9C2CC"/>
                </a:solidFill>
                <a:latin typeface="Arial"/>
              </a:rPr>
              <a:t>Why: no copies, so records are right everywhere</a:t>
            </a:r>
          </a:p>
          <a:p>
            <a:pPr algn="l">
              <a:spcAft>
                <a:spcPts val="1400"/>
              </a:spcAft>
            </a:pPr>
            <a:r>
              <a:rPr sz="3600" b="0">
                <a:solidFill>
                  <a:srgbClr val="B9C2CC"/>
                </a:solidFill>
                <a:latin typeface="Arial"/>
              </a:rPr>
              <a:t>Each link agreed with the body that runs 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9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09760" y="32004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400" b="0">
                <a:solidFill>
                  <a:srgbClr val="7A848F"/>
                </a:solidFill>
                <a:latin typeface="Arial"/>
              </a:rPr>
              <a:t>9 /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21031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6000" b="1">
                <a:solidFill>
                  <a:srgbClr val="F4F4F2"/>
                </a:solidFill>
                <a:latin typeface="Arial"/>
              </a:rPr>
              <a:t>AI drafts, a person decides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105156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3600" b="0">
                <a:solidFill>
                  <a:srgbClr val="B9C2CC"/>
                </a:solidFill>
                <a:latin typeface="Arial"/>
              </a:rPr>
              <a:t>Any document may be drafted by an AI assistant</a:t>
            </a:r>
          </a:p>
          <a:p>
            <a:pPr algn="l">
              <a:spcAft>
                <a:spcPts val="1400"/>
              </a:spcAft>
            </a:pPr>
            <a:r>
              <a:rPr sz="3600" b="0">
                <a:solidFill>
                  <a:srgbClr val="B9C2CC"/>
                </a:solidFill>
                <a:latin typeface="Arial"/>
              </a:rPr>
              <a:t>It proposes; it never decides</a:t>
            </a:r>
          </a:p>
          <a:p>
            <a:pPr algn="l">
              <a:spcAft>
                <a:spcPts val="1400"/>
              </a:spcAft>
            </a:pPr>
            <a:r>
              <a:rPr sz="3600" b="0">
                <a:solidFill>
                  <a:srgbClr val="B9C2CC"/>
                </a:solidFill>
                <a:latin typeface="Arial"/>
              </a:rPr>
              <a:t>A named person accepts, amends or rejects it</a:t>
            </a:r>
          </a:p>
          <a:p>
            <a:pPr algn="l">
              <a:spcAft>
                <a:spcPts val="1400"/>
              </a:spcAft>
            </a:pPr>
            <a:r>
              <a:rPr sz="3600" b="0">
                <a:solidFill>
                  <a:srgbClr val="B9C2CC"/>
                </a:solidFill>
                <a:latin typeface="Arial"/>
              </a:rPr>
              <a:t>Law silent? It writes a question, not a guess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9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09760" y="32004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400" b="0">
                <a:solidFill>
                  <a:srgbClr val="7A848F"/>
                </a:solidFill>
                <a:latin typeface="Arial"/>
              </a:rPr>
              <a:t>10 /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21031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6000" b="1">
                <a:solidFill>
                  <a:srgbClr val="F4F4F2"/>
                </a:solidFill>
                <a:latin typeface="Arial"/>
              </a:rPr>
              <a:t>Example from education: licensing colleges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105156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3600" b="0">
                <a:solidFill>
                  <a:srgbClr val="B9C2CC"/>
                </a:solidFill>
                <a:latin typeface="Arial"/>
              </a:rPr>
              <a:t>A quality authority licenses private colleges</a:t>
            </a:r>
          </a:p>
          <a:p>
            <a:pPr algn="l">
              <a:spcAft>
                <a:spcPts val="1400"/>
              </a:spcAft>
            </a:pPr>
            <a:r>
              <a:rPr sz="3600" b="0">
                <a:solidFill>
                  <a:srgbClr val="B9C2CC"/>
                </a:solidFill>
                <a:latin typeface="Arial"/>
              </a:rPr>
              <a:t>It keeps the register of licensed colleges</a:t>
            </a:r>
          </a:p>
          <a:p>
            <a:pPr algn="l">
              <a:spcAft>
                <a:spcPts val="1400"/>
              </a:spcAft>
            </a:pPr>
            <a:r>
              <a:rPr sz="3600" b="0">
                <a:solidFill>
                  <a:srgbClr val="B9C2CC"/>
                </a:solidFill>
                <a:latin typeface="Arial"/>
              </a:rPr>
              <a:t>The ministry reads that register, keeps no copy</a:t>
            </a:r>
          </a:p>
          <a:p>
            <a:pPr algn="l">
              <a:spcAft>
                <a:spcPts val="1400"/>
              </a:spcAft>
            </a:pPr>
            <a:r>
              <a:rPr sz="3600" b="0">
                <a:solidFill>
                  <a:srgbClr val="B9C2CC"/>
                </a:solidFill>
                <a:latin typeface="Arial"/>
              </a:rPr>
              <a:t>Parents read a published list of licensed colleges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9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09760" y="32004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400" b="0">
                <a:solidFill>
                  <a:srgbClr val="7A848F"/>
                </a:solidFill>
                <a:latin typeface="Arial"/>
              </a:rPr>
              <a:t>11 /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21031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6000" b="1">
                <a:solidFill>
                  <a:srgbClr val="F4F4F2"/>
                </a:solidFill>
                <a:latin typeface="Arial"/>
              </a:rPr>
              <a:t>What you will be able to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105156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3600" b="0">
                <a:solidFill>
                  <a:srgbClr val="B9C2CC"/>
                </a:solidFill>
                <a:latin typeface="Arial"/>
              </a:rPr>
              <a:t>At each yes, know it is what was agreed</a:t>
            </a:r>
          </a:p>
          <a:p>
            <a:pPr algn="l">
              <a:spcAft>
                <a:spcPts val="1400"/>
              </a:spcAft>
            </a:pPr>
            <a:r>
              <a:rPr sz="3600" b="0">
                <a:solidFill>
                  <a:srgbClr val="B9C2CC"/>
                </a:solidFill>
                <a:latin typeface="Arial"/>
              </a:rPr>
              <a:t>Put the three rules into the supplier's contract</a:t>
            </a:r>
          </a:p>
          <a:p>
            <a:pPr algn="l">
              <a:spcAft>
                <a:spcPts val="1400"/>
              </a:spcAft>
            </a:pPr>
            <a:r>
              <a:rPr sz="3600" b="0">
                <a:solidFill>
                  <a:srgbClr val="B9C2CC"/>
                </a:solidFill>
                <a:latin typeface="Arial"/>
              </a:rPr>
              <a:t>Accept it on your own system, not the supplier's</a:t>
            </a:r>
          </a:p>
          <a:p>
            <a:pPr algn="l">
              <a:spcAft>
                <a:spcPts val="1400"/>
              </a:spcAft>
            </a:pPr>
            <a:r>
              <a:rPr sz="3600" b="0">
                <a:solidFill>
                  <a:srgbClr val="B9C2CC"/>
                </a:solidFill>
                <a:latin typeface="Arial"/>
              </a:rPr>
              <a:t>Next service: same twelve documents and yeses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9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09760" y="32004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400" b="0">
                <a:solidFill>
                  <a:srgbClr val="7A848F"/>
                </a:solidFill>
                <a:latin typeface="Arial"/>
              </a:rPr>
              <a:t>12 /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21031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6000" b="1">
                <a:solidFill>
                  <a:srgbClr val="F4F4F2"/>
                </a:solidFill>
                <a:latin typeface="Arial"/>
              </a:rPr>
              <a:t>Who it is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105156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3600" b="0">
                <a:solidFill>
                  <a:srgbClr val="B9C2CC"/>
                </a:solidFill>
                <a:latin typeface="Arial"/>
              </a:rPr>
              <a:t>Managers who commission services, judge offers</a:t>
            </a:r>
          </a:p>
          <a:p>
            <a:pPr algn="l">
              <a:spcAft>
                <a:spcPts val="1400"/>
              </a:spcAft>
            </a:pPr>
            <a:r>
              <a:rPr sz="3600" b="0">
                <a:solidFill>
                  <a:srgbClr val="B9C2CC"/>
                </a:solidFill>
                <a:latin typeface="Arial"/>
              </a:rPr>
              <a:t>You accept the documents; others write them</a:t>
            </a:r>
          </a:p>
          <a:p>
            <a:pPr algn="l">
              <a:spcAft>
                <a:spcPts val="1400"/>
              </a:spcAft>
            </a:pPr>
            <a:r>
              <a:rPr sz="3600" b="0">
                <a:solidFill>
                  <a:srgbClr val="B9C2CC"/>
                </a:solidFill>
                <a:latin typeface="Arial"/>
              </a:rPr>
              <a:t>The team that gets the service specified and built</a:t>
            </a:r>
          </a:p>
          <a:p>
            <a:pPr algn="l">
              <a:spcAft>
                <a:spcPts val="1400"/>
              </a:spcAft>
            </a:pPr>
            <a:r>
              <a:rPr sz="3600" b="0">
                <a:solidFill>
                  <a:srgbClr val="B9C2CC"/>
                </a:solidFill>
                <a:latin typeface="Arial"/>
              </a:rPr>
              <a:t>Suppliers: a clear point where acceptance ends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9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09760" y="32004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400" b="0">
                <a:solidFill>
                  <a:srgbClr val="7A848F"/>
                </a:solidFill>
                <a:latin typeface="Arial"/>
              </a:rPr>
              <a:t>13 /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21031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6000" b="1">
                <a:solidFill>
                  <a:srgbClr val="F4F4F2"/>
                </a:solidFill>
                <a:latin typeface="Arial"/>
              </a:rPr>
              <a:t>Why the course is built this 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105156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3600" b="0">
                <a:solidFill>
                  <a:srgbClr val="B9C2CC"/>
                </a:solidFill>
                <a:latin typeface="Arial"/>
              </a:rPr>
              <a:t>We in GovStack believe: build on best practice</a:t>
            </a:r>
          </a:p>
          <a:p>
            <a:pPr algn="l">
              <a:spcAft>
                <a:spcPts val="1400"/>
              </a:spcAft>
            </a:pPr>
            <a:r>
              <a:rPr sz="3600" b="0">
                <a:solidFill>
                  <a:srgbClr val="B9C2CC"/>
                </a:solidFill>
                <a:latin typeface="Arial"/>
              </a:rPr>
              <a:t>This course: the method, blank forms, examples</a:t>
            </a:r>
          </a:p>
          <a:p>
            <a:pPr algn="l">
              <a:spcAft>
                <a:spcPts val="1400"/>
              </a:spcAft>
            </a:pPr>
            <a:r>
              <a:rPr sz="3600" b="0">
                <a:solidFill>
                  <a:srgbClr val="B9C2CC"/>
                </a:solidFill>
                <a:latin typeface="Arial"/>
              </a:rPr>
              <a:t>AI skills: your law in, drafts out, you check</a:t>
            </a:r>
          </a:p>
          <a:p>
            <a:pPr algn="l">
              <a:spcAft>
                <a:spcPts val="1400"/>
              </a:spcAft>
            </a:pPr>
            <a:r>
              <a:rPr sz="3600" b="0">
                <a:solidFill>
                  <a:srgbClr val="B9C2CC"/>
                </a:solidFill>
                <a:latin typeface="Arial"/>
              </a:rPr>
              <a:t>Your team, fewer mistakes; your officials decide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9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09760" y="32004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400" b="0">
                <a:solidFill>
                  <a:srgbClr val="7A848F"/>
                </a:solidFill>
                <a:latin typeface="Arial"/>
              </a:rPr>
              <a:t>14 /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21031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6000" b="1">
                <a:solidFill>
                  <a:srgbClr val="F4F4F2"/>
                </a:solidFill>
                <a:latin typeface="Arial"/>
              </a:rPr>
              <a:t>How the course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105156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3600" b="0">
                <a:solidFill>
                  <a:srgbClr val="B9C2CC"/>
                </a:solidFill>
                <a:latin typeface="Arial"/>
              </a:rPr>
              <a:t>6 modules, 37 short videos, each stands alone</a:t>
            </a:r>
          </a:p>
          <a:p>
            <a:pPr algn="l">
              <a:spcAft>
                <a:spcPts val="1400"/>
              </a:spcAft>
            </a:pPr>
            <a:r>
              <a:rPr sz="3600" b="0">
                <a:solidFill>
                  <a:srgbClr val="B9C2CC"/>
                </a:solidFill>
                <a:latin typeface="Arial"/>
              </a:rPr>
              <a:t>With each: a written page and an AI exercise</a:t>
            </a:r>
          </a:p>
          <a:p>
            <a:pPr algn="l">
              <a:spcAft>
                <a:spcPts val="1400"/>
              </a:spcAft>
            </a:pPr>
            <a:r>
              <a:rPr sz="3600" b="0">
                <a:solidFill>
                  <a:srgbClr val="B9C2CC"/>
                </a:solidFill>
                <a:latin typeface="Arial"/>
              </a:rPr>
              <a:t>The AI gets a ready prompt and your material</a:t>
            </a:r>
          </a:p>
          <a:p>
            <a:pPr algn="l">
              <a:spcAft>
                <a:spcPts val="1400"/>
              </a:spcAft>
            </a:pPr>
            <a:r>
              <a:rPr sz="3600" b="0">
                <a:solidFill>
                  <a:srgbClr val="B9C2CC"/>
                </a:solidFill>
                <a:latin typeface="Arial"/>
              </a:rPr>
              <a:t>Its safeguard says what to check in the draft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9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509760" y="32004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400" b="0">
                <a:solidFill>
                  <a:srgbClr val="7A848F"/>
                </a:solidFill>
                <a:latin typeface="Arial"/>
              </a:rPr>
              <a:t>15 /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21031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6000" b="1">
                <a:solidFill>
                  <a:srgbClr val="F4F4F2"/>
                </a:solidFill>
                <a:latin typeface="Arial"/>
              </a:rPr>
              <a:t>Where to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105156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3600" b="0">
                <a:solidFill>
                  <a:srgbClr val="B9C2CC"/>
                </a:solidFill>
                <a:latin typeface="Arial"/>
              </a:rPr>
              <a:t>Manager commissioning a service? Start at 1.1</a:t>
            </a:r>
          </a:p>
          <a:p>
            <a:pPr algn="l">
              <a:spcAft>
                <a:spcPts val="1400"/>
              </a:spcAft>
            </a:pPr>
            <a:r>
              <a:rPr sz="3600" b="0">
                <a:solidFill>
                  <a:srgbClr val="B9C2CC"/>
                </a:solidFill>
                <a:latin typeface="Arial"/>
              </a:rPr>
              <a:t>Team having it specified and built? Start at 3.1</a:t>
            </a:r>
          </a:p>
          <a:p>
            <a:pPr algn="l">
              <a:spcAft>
                <a:spcPts val="1400"/>
              </a:spcAft>
            </a:pPr>
            <a:r>
              <a:rPr sz="3600" b="0">
                <a:solidFill>
                  <a:srgbClr val="B9C2CC"/>
                </a:solidFill>
                <a:latin typeface="Arial"/>
              </a:rPr>
              <a:t>Officer judging a supplier's offer? Start at 1.2</a:t>
            </a:r>
          </a:p>
          <a:p>
            <a:pPr algn="l">
              <a:spcAft>
                <a:spcPts val="1400"/>
              </a:spcAft>
            </a:pPr>
            <a:r>
              <a:rPr sz="3600" b="0">
                <a:solidFill>
                  <a:srgbClr val="B9C2CC"/>
                </a:solidFill>
                <a:latin typeface="Arial"/>
              </a:rPr>
              <a:t>Then 6.1: what to require from a supplier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