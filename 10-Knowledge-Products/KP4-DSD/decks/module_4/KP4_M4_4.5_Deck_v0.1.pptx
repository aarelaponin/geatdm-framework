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2" r:id="rId54"/>
    <p:sldId id="2733" r:id="rId55"/>
    <p:sldId id="2734" r:id="rId56"/>
    <p:sldId id="2735" r:id="rId57"/>
    <p:sldId id="2736" r:id="rId58"/>
    <p:sldId id="2737" r:id="rId59"/>
    <p:sldId id="2738" r:id="rId60"/>
    <p:sldId id="2739" r:id="rId61"/>
    <p:sldId id="2740"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writes the file your application is generated from. It will meet things nobody wrote down, and things the platform cannot do. The question for you is simple: does it tell you, or does it quietly decide?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Everything agreed reaches the file in one of four ways. Most things are placed directly, because there is only one place they can go. Some need a judgement, and the judgement is written down as an assumption: what was decided, and on what ground. Some cannot be placed at all, because the platform has no way to express them. These are written down as losses. A few stay in their own document, and nothing is owed for them in the file.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assumption is a decision the writer had to make because the documents were silent. A loss is something you agreed that the file cannot express, with what was done instead, if anything. Both are normal. What is not acceptable is a gap filled by invention, with nobody told. That is why the assistant must refuse to guess. A gap it names can be ruled on. A gap it fills in silently becomes a fault in the running service.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read the file. You read cards: one for each assumption and each loss. Each card says, in plain words, what the application will do because of it, and which document it rests on. The owner rules yes or no on each card, and the ruling is recorded with a name and a date. A 'no' is never typed into the file. It goes back to the document that owns the fact, and the file is written again from the corrected document.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are two cards from the review of the file of MoEYS, Progressa's ministry of education. The first is an assumption: a change of name takes effect on the day the minister approves it, because the goal's story did not say. The second is a loss: the story asks that the institution is told, and the platform cannot send that notice by itself, so it is kept as a task for an officer. The Director of Higher Education rules yes on both, and her rulings are recorded.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Suppose she had said no to the first card, because a change of name should take effect only when it is published in the Gazette. Her answer would not be typed into the file. It would go back to the goal's story, the one document that owns that fact. The story is corrected, the file is written again, and the cards are read again. The head of the ICT unit approves the file only when every card carries a ruling.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Before the file is approved, ask for every assumption and every loss as a card in plain words. Rule on each one, and record who ruled and when.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4.5</a:t>
            </a:r>
          </a:p>
        </p:txBody>
      </p:sp>
      <p:sp>
        <p:nvSpPr>
          <p:cNvPr id="4" name="TextBox 3"/>
          <p:cNvSpPr txBox="1"/>
          <p:nvPr/>
        </p:nvSpPr>
        <p:spPr>
          <a:xfrm>
            <a:off x="822960" y="2880360"/>
            <a:ext cx="9601200" cy="1371600"/>
          </a:xfrm>
          <a:prstGeom prst="rect">
            <a:avLst/>
          </a:prstGeom>
          <a:noFill/>
        </p:spPr>
        <p:txBody>
          <a:bodyPr wrap="square">
            <a:spAutoFit/>
          </a:bodyPr>
          <a:lstStyle/>
          <a:p>
            <a:r>
              <a:rPr sz="2500" b="1" i="0">
                <a:solidFill>
                  <a:srgbClr val="1A1A1A"/>
                </a:solidFill>
                <a:latin typeface="Arial"/>
              </a:rPr>
              <a:t>Reviewing the model: what it assumed, and what it could not express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 assumption and every loss is named for a person to rule 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Does the AI assistant tell you, or does it quietly decide?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writes the file your application is generated from.</a:t>
            </a:r>
          </a:p>
          <a:p>
            <a:pPr>
              <a:spcAft>
                <a:spcPts val="800"/>
              </a:spcAft>
            </a:pPr>
            <a:r>
              <a:rPr sz="1700" b="0" i="0">
                <a:solidFill>
                  <a:srgbClr val="595959"/>
                </a:solidFill>
                <a:latin typeface="Arial"/>
              </a:rPr>
              <a:t>It will meet things nobody wrote down, and things the platform cannot do.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ways a thing reaches the file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Placed directly</a:t>
            </a:r>
          </a:p>
          <a:p>
            <a:pPr>
              <a:spcAft>
                <a:spcPts val="300"/>
              </a:spcAft>
            </a:pPr>
            <a:r>
              <a:rPr sz="1600" b="0" i="0">
                <a:solidFill>
                  <a:srgbClr val="595959"/>
                </a:solidFill>
                <a:latin typeface="Arial"/>
              </a:rPr>
              <a:t>there is only one place it can go.</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Placed by a judgement</a:t>
            </a:r>
          </a:p>
          <a:p>
            <a:pPr>
              <a:spcAft>
                <a:spcPts val="300"/>
              </a:spcAft>
            </a:pPr>
            <a:r>
              <a:rPr sz="1600" b="0" i="0">
                <a:solidFill>
                  <a:srgbClr val="595959"/>
                </a:solidFill>
                <a:latin typeface="Arial"/>
              </a:rPr>
              <a:t>written down as an assumption.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Cannot be placed</a:t>
            </a:r>
          </a:p>
          <a:p>
            <a:pPr>
              <a:spcAft>
                <a:spcPts val="300"/>
              </a:spcAft>
            </a:pPr>
            <a:r>
              <a:rPr sz="1600" b="0" i="0">
                <a:solidFill>
                  <a:srgbClr val="595959"/>
                </a:solidFill>
                <a:latin typeface="Arial"/>
              </a:rPr>
              <a:t>written down as a loss.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Stays in its own document</a:t>
            </a:r>
          </a:p>
          <a:p>
            <a:pPr>
              <a:spcAft>
                <a:spcPts val="300"/>
              </a:spcAft>
            </a:pPr>
            <a:r>
              <a:rPr sz="1600" b="0" i="0">
                <a:solidFill>
                  <a:srgbClr val="595959"/>
                </a:solidFill>
                <a:latin typeface="Arial"/>
              </a:rPr>
              <a:t>nothing is owed.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assumption, and a loss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Assumption</a:t>
            </a:r>
          </a:p>
          <a:p>
            <a:pPr>
              <a:spcAft>
                <a:spcPts val="300"/>
              </a:spcAft>
            </a:pPr>
            <a:r>
              <a:rPr sz="1600" b="0" i="0">
                <a:solidFill>
                  <a:srgbClr val="595959"/>
                </a:solidFill>
                <a:latin typeface="Arial"/>
              </a:rPr>
              <a:t>a decision the writer made where the documents were silent.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Loss</a:t>
            </a:r>
          </a:p>
          <a:p>
            <a:pPr>
              <a:spcAft>
                <a:spcPts val="300"/>
              </a:spcAft>
            </a:pPr>
            <a:r>
              <a:rPr sz="1600" b="0" i="0">
                <a:solidFill>
                  <a:srgbClr val="595959"/>
                </a:solidFill>
                <a:latin typeface="Arial"/>
              </a:rPr>
              <a:t>something agreed that the file cannot express, with what was done instead.</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Never</a:t>
            </a:r>
          </a:p>
          <a:p>
            <a:pPr>
              <a:spcAft>
                <a:spcPts val="300"/>
              </a:spcAft>
            </a:pPr>
            <a:r>
              <a:rPr sz="1600" b="0" i="0">
                <a:solidFill>
                  <a:srgbClr val="595959"/>
                </a:solidFill>
                <a:latin typeface="Arial"/>
              </a:rPr>
              <a:t>a gap filled by invention, with nobody told.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cards the owner reads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One card for each assumption and each loss.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In plain words</a:t>
            </a:r>
          </a:p>
          <a:p>
            <a:pPr>
              <a:spcAft>
                <a:spcPts val="300"/>
              </a:spcAft>
            </a:pPr>
            <a:r>
              <a:rPr sz="1600" b="0" i="0">
                <a:solidFill>
                  <a:srgbClr val="595959"/>
                </a:solidFill>
                <a:latin typeface="Arial"/>
              </a:rPr>
              <a:t>what the application will do because of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document it rests on.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ruling</a:t>
            </a:r>
          </a:p>
          <a:p>
            <a:pPr>
              <a:spcAft>
                <a:spcPts val="300"/>
              </a:spcAft>
            </a:pPr>
            <a:r>
              <a:rPr sz="1600" b="0" i="0">
                <a:solidFill>
                  <a:srgbClr val="595959"/>
                </a:solidFill>
                <a:latin typeface="Arial"/>
              </a:rPr>
              <a:t>yes or no, with a name and a date.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two cards</a:t>
            </a:r>
          </a:p>
        </p:txBody>
      </p:sp>
      <p:sp>
        <p:nvSpPr>
          <p:cNvPr id="4" name="TextBox 3"/>
          <p:cNvSpPr txBox="1"/>
          <p:nvPr/>
        </p:nvSpPr>
        <p:spPr>
          <a:xfrm>
            <a:off x="658368" y="1463040"/>
            <a:ext cx="10984687" cy="2308860"/>
          </a:xfrm>
          <a:prstGeom prst="rect">
            <a:avLst/>
          </a:prstGeom>
          <a:noFill/>
        </p:spPr>
        <p:txBody>
          <a:bodyPr wrap="square">
            <a:spAutoFit/>
          </a:bodyPr>
          <a:lstStyle/>
          <a:p>
            <a:pPr>
              <a:spcAft>
                <a:spcPts val="300"/>
              </a:spcAft>
            </a:pPr>
            <a:r>
              <a:rPr sz="1900" b="1" i="0">
                <a:solidFill>
                  <a:srgbClr val="1A1A1A"/>
                </a:solidFill>
                <a:latin typeface="Arial"/>
              </a:rPr>
              <a:t>Assumption</a:t>
            </a:r>
          </a:p>
          <a:p>
            <a:pPr>
              <a:spcAft>
                <a:spcPts val="300"/>
              </a:spcAft>
            </a:pPr>
            <a:r>
              <a:rPr sz="1600" b="0" i="0">
                <a:solidFill>
                  <a:srgbClr val="595959"/>
                </a:solidFill>
                <a:latin typeface="Arial"/>
              </a:rPr>
              <a:t>a change of name takes effect on the day the minister approves it. Ruling: yes.</a:t>
            </a:r>
          </a:p>
        </p:txBody>
      </p:sp>
      <p:sp>
        <p:nvSpPr>
          <p:cNvPr id="5" name="Rectangle 4"/>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817620"/>
            <a:ext cx="10984687" cy="2308860"/>
          </a:xfrm>
          <a:prstGeom prst="rect">
            <a:avLst/>
          </a:prstGeom>
          <a:noFill/>
        </p:spPr>
        <p:txBody>
          <a:bodyPr wrap="square">
            <a:spAutoFit/>
          </a:bodyPr>
          <a:lstStyle/>
          <a:p>
            <a:pPr>
              <a:spcAft>
                <a:spcPts val="300"/>
              </a:spcAft>
            </a:pPr>
            <a:r>
              <a:rPr sz="1900" b="1" i="0">
                <a:solidFill>
                  <a:srgbClr val="1A1A1A"/>
                </a:solidFill>
                <a:latin typeface="Arial"/>
              </a:rPr>
              <a:t>Loss</a:t>
            </a:r>
          </a:p>
          <a:p>
            <a:pPr>
              <a:spcAft>
                <a:spcPts val="300"/>
              </a:spcAft>
            </a:pPr>
            <a:r>
              <a:rPr sz="1600" b="0" i="0">
                <a:solidFill>
                  <a:srgbClr val="595959"/>
                </a:solidFill>
                <a:latin typeface="Arial"/>
              </a:rPr>
              <a:t>the notice to the institution cannot be sent by the platform; it is kept as a task for an officer. Ruling: yes.' Footer line: 'Ruled by the Director of Higher Education, with her name and the date.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the answer is no</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'No' to an assumption → the goal's story is corrected.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file is written again from the story.</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 cards are read again.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Approval waits until every card carries a ruling.</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Every assumption and every loss is named for a person to rule 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the losses into yes-or-no questions.</a:t>
            </a:r>
          </a:p>
          <a:p>
            <a:pPr algn="l">
              <a:spcAft>
                <a:spcPts val="400"/>
              </a:spcAft>
            </a:pPr>
            <a:r>
              <a:rPr sz="1800" b="0" i="0">
                <a:solidFill>
                  <a:srgbClr val="595959"/>
                </a:solidFill>
                <a:latin typeface="Arial"/>
              </a:rPr>
              <a:t>The prompt in the companion material gives you a list of yes-or-no questions, one for each loss, in the loss's own words.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specification-driven development (SDD) method: the review of the application model. No external source is cited.</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