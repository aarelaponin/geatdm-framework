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of the method's rules keep such a report honest. A gap stays open and counted. It is never signed off just to make a report look complete. A check is never changed to make its number look better. And an empty column is information. It is often the most useful thing on the page. These rules matter most when progress is slow, because that is when a figure is most tempting to round up. When a supplier's report has no empty cell anywhere, ask what was left out of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an example built for Progressa. The head of the ICT unit at the ministry of education, MoEYS, reads the trace report of the ministry's application. Deciding a licence and approving a change of name are traced to the end. Publishing the list of institutions in the Gazette has its goal and screens, but nothing is generated for it yet. The review of a decision at a person's request is generated, but no acceptance check has been written for it. From that report, the head of ICT writes the minister's status on one page, in plain words, with the date of the report beside every figure.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supplier's offer often promises a working system and its documentation. Neither phrase says what you will receive, or who on your side decides that it is good enough. Both can be settled in the contract, before any work begins.</a:t>
            </a:r>
          </a:p>
          <a:p/>
          <a:p>
            <a:r>
              <a:t>Retrieval prompt — ask before playing on: how many deliverables should the contract name? Answer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short for specification-driven development, writes a service down in twelve documents, in a fixed order. The first is your own: the law, the mandate and the requests, handed over and never edited. Seven more are written before anything is built: what was asked, the records the service keeps, the goals, the architecture, the shared lists and settings, each goal written as a story, and its screens. Then come the walk-through your officials click, the decisions settled once for the whole application, and the one file a program reads. The twelfth is the working application itself. Each of the twelve can be named in the contract as a deliverable.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For each deliverable, the contract names three things. The first is the form, a blank instrument the document is written on, so that what arrives can be compared with what was ordered. The second is the person in your organisation who accepts it, named by role: the director who owns the service, or the head of the ICT unit for the technical documents. The supplier never accepts its own work. The third is the check the document must pass before it is accepted: its own checklist, a comparison with an earlier document, or a program. The next document is written only from what was accepted.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clauses protect you most. The first says that the working application is generated from the accepted model, the one file a program reads, and that nothing generated is edited by hand. A supplier who patches the running system leaves your documents saying one thing while the system does another. The second clause says that every open question is delivered with an owner and a date. A question with a name on it is part of what you receive. A question the supplier answered with a guess is a fault in the delivery.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how Progressa's ministry of education, MoEYS, writes it, in an example built for this course. Its annex lists all twelve documents. The Director of Higher Education accepts the register of what was asked. The screens of each goal are accepted at a review of three people: their owner, the builder and the officer who will use them. The head of the ICT unit approves the file a program reads, once a program has checked it. And the working application is accepted only when an officer has finished a real task on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Name the twelve documents as deliverables. For each one, name its form, the person on your side who accepts it, and the check it must pass.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service is in use, and someone asks for a change. The quickest fix is to change the screen, or the running system, where the problem was seen. That fix is the one that brings the problem back later.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has one rule for every change. The change goes up to the document that owns the fact. It is corrected there, and nowhere else. Then everything below that document is produced again from it. The reason is simple. If you correct a fact where you happened to notice it, the document that owns the fact still says the old thing. The next time anything is produced from that document, the old fault returns. One statement of each fact, with every copy made from it, is the only arrangement that stays true over the years.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the behaviour of the service itself must change, the order matters even more. The story of the goal changes first, and is agreed. Then the screens are brought into line. Then the walk-through is produced again. Only then does what was built change. People notice a screen first, so they ask for the screen to change first. Hold the order. A screen changed ahead of its story is a decision that nobody agreed, and the builder has no way to know it. Ask which story the change belongs to, before anything else is touched.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an example built for Progressa. Harbourview University College asks the quality authority, PHEQA, to change its name. The request is followed through both bodies, PHEQA and the ministry of education, MoEYS. The head of the registration desk sees that an officer could write the new name into the register before the minister had approved it. The screen does not own that fact. PHEQA's register of business rules does. The rule is corrected there, to say that a new name is written only on the minister's approval, received from MoEYS. PHEQA's Registrar, who owns the rules, confirms the correction.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a program lists everything made from the old version of the rule: the shared states of a request, two of PHEQA's goals, their screens and walk-throughs, the decisions for the whole application, the file a program reads, and the application itself. Nothing on the list is reviewed, agreed or built from until it has been produced again. MoEYS's documents are not on the list, because none of them was made from PHEQA's rule. The recording of this segment will show the list, the application generated again, and the change on the running service. It passes when the list names everything the change reaches, and nothing is stale afterwards.</a:t>
            </a:r>
          </a:p>
          <a:p/>
          <a:p>
            <a:r>
              <a:t>Production cue: demonstration segment, a storyboard until it is recorded (in the bundle: the storyboard of 6.2, after its worked example).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A change goes up to the document that owns the fact. Correct it there, then produce everything below it again.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minister asks how far the new service has come. The supplier answers with a percentage. Nobody in the room can check it, and nobody can say what the rest of the work is.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has a plain rule for this: where the work stands is read from the work, never remembered. Every document of the method is written in a fixed form, and each one records what it was made from. So programs can read the documents and report what is there and what is still missing. A percentage given at a progress meeting cannot be checked by anyone. A report produced from the documents can be produced again, by anyone, and it gives the same answer. Ask for that report, with its date, instead of a figure.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most useful report for a manager is the trace report. A program produces it from the one file a program reads. It takes every entry of the register of what was asked, and follows it to the goal that serves it, to the screens of that goal, to the part of the application generated for it, and to the acceptance check written for it. Then it lists, by name, every entry that is not yet traced to the end, and says where each one stops. That list is your real progress: what is not yet done, said exactly.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6 deck. Each section that follows is one standalone ~5 minute video, for the director who owns a service, the head of a ministry ICT unit or the programme lead. 6.7 is supplementary.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6.1 to 6.4 run the method on one service; 6.5 and 6.6 carry it to the next service and the next sector; 6.7, supplementary, states its limits.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Ask for the report the programs produce from the documents, with its date. Read the list of what is not yet traced, and take your figures from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AI assistant can draft a register of requirements in an afternoon. That speed is real. The question for a manager is who decides what the draft says, and what happens to everything the assistant did not know.</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gives an assistant real work. It extracts the register of what was asked from your own documents. It drafts each goal as a story. It writes the one file a program reads. For each document a person writes, there is an assisting tool that walks that person through the document's standard, part by part. But no document is finished by an assistant alone. A named person reviews every proposal, and accepts it, amends it or sets it aside. Only what that person accepted stands in the document, with the person's name and the date.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Inventing something plausible is what an assistant does best. That is why the method's most important rule binds it here. When your documents do not settle something, the assistant must not fill the gap. It records a question, with the name of the person who must answer it. It never invents a figure to keep the work moving, and it never quietly answers a decision that is still open. A draft that comes back with named questions is a good draft. A draft with no questions at all deserves a second, careful reading. Ask for the list of open questions with every draft.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an example built for Progressa: the ministry of education's rules of use for an AI assistant, on one page. The assistant may draft the register, the stories and the model. A named officer rules on every draft, and the officer's name goes into the document. Every open question carries an owner. No figure enters a document without its source. And the ministry's data stay within the tools the ministry allows. The head of the ICT unit adopts the page, after it has been checked against the ministry's duties on personal data. It is short enough to keep beside every contract.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an assisted document reaches you for acceptance, three questions are enough. Whose name stands against each part that was accepted? Which questions are still open, and who owns each one? And is there any figure without its source? If a part has no name against it, nobody in your organisation has ruled on it, and it is still only the assistant's proposal. The same holds for the one file a program reads: the person who approves it reads every assumption the assistant made, and sends each one back to the document it rests 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Let the assistant draft each document. A named person rules on every proposal, and every gap stays a question with an owner.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private institutions now register with the quality authority once, and the ministry reads that register instead of asking again. The next request is already on the table: graduates want proof of their degree that an employer can trust.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Inside one project, building your own list of institutions or your own sign-in always looks faster. That is what a project is paid to do. Procurement rules can make each contract cheaper, but only whole-of-government planning makes re-use possible. The sum that makes re-use worth it, one block paid for and many services carried, exists only at the level of the sector. UNDP describes digital public infrastructure as a set of shared digital systems. PAERA, the GovStack reference architecture, says that digital public infrastructure is not neutral and shapes what can be built on top of it. The first service chose the foundation; the second one builds on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service is a digital credential for a graduate. It is already a row of Progressa's catalogue of services, owed by the digital credentials authority, PDCA, and the row shows what it rests on. The graduate signs in through the identity authority's sign-in, the same one the first service uses. PDCA reads the quality authority's register of institutions across Linkup, the data exchange, under the rules the register's keeper sets. One rule matters most: a credential is issued only for an institution whose licence is granted. PDCA keeps no copy of the register. None of these is built again.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one new block is the credential itself. Of the roles the W3C standard for verifiable credentials names, three matter here. The issuer, here PDCA, gives the credential to the holder, the graduate. The holder stores it in what the standard calls a credential repository: for a person, usually a digital wallet. When an employer needs proof, the graduate presents the credential, in what the standard calls a verifiable presentation, and the employer, as the verifier, checks it. UNDP's compendium on digital public infrastructure counts verifiable credentials among the trust services that come with digital identity.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method does not change for the second service. PDCA's team writes the same twelve documents, in the same order, each accepted by a named person. What changes is the architecture. Most of its crossings already exist, and each one is confirmed with the body that keeps the block: the identity authority for the sign-in, the quality authority for the register. The second service pays for what it adds, the credential and the wallet, and not for the foundation the first one built. Each confirmation is written down before the plan is approved. For the minister, that is the argument in one line: the foundation is already paid for.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The second service reuses the sign-in, the register and the exchange that the first one built and proved. It adds only the credential.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Another ministry, health or agriculture, sees the education team's results and asks to use the same method. Nothing in the method itself is about schools. What changes is the sector's own content, and the sector must bring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Most of the method stays exactly as it is. The twelve documents stay, in the same order. The people who accept them stay, by role: the owner of the service, the head of the ICT unit, and the official who will live with the result. The checks stay, and so do the rules that always hold, such as no hand edits and an open question with a name on it. So do the blank instruments. The twelve documents give the business side and the builders one shared language, so a decision means the same thing in both rooms.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new sector brings its own content. It writes its own catalogue of services, owed by its own bodies. It writes the register of what was asked from its own law, not from education's. It names its own records, and who keeps each one. And it brings a reference pack: its usual procedures, reusable pieces of design, a checklist of what is realistic in that sector, and one finished example to compare against. A program checks that the pack is complete, and that the method's own tools hold nothing of any one sector. The pack is the sector's own, kept by the sector.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Carry the method, not the results. Nothing found in education is a fact about health or agriculture. Health has its own registers, its own law and its own officials. A sector's examples are rebuilt on its own records and its own law. An assistant can help adapt the examples, but every place where the sector's own law must be read is marked, and the sector's officials correct the drafts. Its officials know its law; the method only shows where to look. This course works through one sector only, education, because that is its demonstration. Another sector is described here as a list of what it brings, not as a worked case.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the new sector writes its first document, it names the people the method relies on. Who owns the service in that ministry, as the Director of Higher Education owns it in the ministry of education? Who writes the sector's catalogue of services, once, for all the bodies of the sector? And which officials will read the adapted examples against their own law and correct them? With those names written down, the twelve documents can begin, in the same order, accepted by the same kinds of person as before.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The method holds no sector's content. Another sector brings its own catalogue, its own records and its own reference pack, and keeps the rest.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a ministry adopts any method for its next service, someone will ask what could go wrong with it. This method answers that question about itself, in writing. Read its answer before you rely on it.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states its own limits: seven things it does not claim. Four matter most to a manager. It does not claim that its standards have been shown to work well together: no analyst has yet been handed all of them and asked to produce a description from them. It does not claim that every one of its standards has been tested by use on a real project. It does not claim that a program checks every step: several of the most important handovers rest on a person. And it does not claim to be cheap. Twelve documents mean many places where a correction can be made, and only the discipline of correcting in the right place keeps that under control.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method also lists what it still lacks, each item with an owner. Two of them matter to a ministry. There is no standard of its own for accessibility, and none for delivering a service in more than one language. Both have a partial home in the rules for screens, but a service could still leave them out without anyone noticing. If your service must serve people with disabilities, or people in several languages, write that into the register of what was asked, so that every screen has to answer it. A need that is not in the register will not be built.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an example built for Progressa. The head of the ICT unit at the ministry of education writes a briefing note for the minister on adopting the method for the ministry's next service. Its risk paragraph quotes all seven limits as the method states them, adds none of its own, and leaves none out. It then says which of them bear on the ministry's service, and what the ministry will do: accessibility and languages, for example, go into the register of what was asked. The head of ICT signs the note. The minister then decides knowing the risks, not after discovering them.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list of limits can look like a weakness in a briefing. It is the opposite. The method itself says that a method which hides its own limits teaches the wrong lesson to everybody who reads it. A limit that is written down can be planned around: a check that rests on a person can be given a named reviewer, and a standard not yet tested by use can be watched more closely. A limit that nobody wrote down is found after the money is spent. That is why the list belongs in the briefing.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The method states its own limits. Read them, and put them in your briefing, before you rely on it.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recap or sources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Run the method in your administration</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Designing Digital Government Services · Module 6</a:t>
            </a:r>
          </a:p>
          <a:p>
            <a:r>
              <a:rPr sz="1400" b="0" i="0">
                <a:solidFill>
                  <a:srgbClr val="595959"/>
                </a:solidFill>
                <a:latin typeface="Arial"/>
              </a:rPr>
              <a:t>Seven standalone videos for the director who owns a service: what to require from a supplier, where a change goes, how to read where the work stands, the AI assistant and the person who rules, the next service on the same foundation, another sector, and what the method does not claim.</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~35 mins across 7 videos (6.1 – 6.7)</a:t>
            </a:r>
          </a:p>
          <a:p>
            <a:r>
              <a:rPr sz="1400" b="1" i="0">
                <a:solidFill>
                  <a:srgbClr val="1A1A1A"/>
                </a:solidFill>
                <a:latin typeface="Arial"/>
              </a:rPr>
              <a:t>Target audience: </a:t>
            </a:r>
            <a:r>
              <a:rPr sz="1400" b="0" i="0">
                <a:solidFill>
                  <a:srgbClr val="1A1A1A"/>
                </a:solidFill>
                <a:latin typeface="Arial"/>
              </a:rPr>
              <a:t>Director who owns a service · head of a ministry ICT unit · programme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METHOD, RUN BY A MANAGER</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Twelve deliverables in the contract</a:t>
            </a:r>
          </a:p>
        </p:txBody>
      </p:sp>
      <p:sp>
        <p:nvSpPr>
          <p:cNvPr id="21" name="Rounded Rectangle 20"/>
          <p:cNvSpPr/>
          <p:nvPr/>
        </p:nvSpPr>
        <p:spPr>
          <a:xfrm>
            <a:off x="7452360" y="163938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Correct up, generate down</a:t>
            </a:r>
          </a:p>
        </p:txBody>
      </p:sp>
      <p:sp>
        <p:nvSpPr>
          <p:cNvPr id="22" name="Rounded Rectangle 21"/>
          <p:cNvSpPr/>
          <p:nvPr/>
        </p:nvSpPr>
        <p:spPr>
          <a:xfrm>
            <a:off x="7452360" y="2318657"/>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Progress read from the work</a:t>
            </a:r>
          </a:p>
        </p:txBody>
      </p:sp>
      <p:sp>
        <p:nvSpPr>
          <p:cNvPr id="23" name="Rounded Rectangle 22"/>
          <p:cNvSpPr/>
          <p:nvPr/>
        </p:nvSpPr>
        <p:spPr>
          <a:xfrm>
            <a:off x="7452360" y="2997925"/>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assistant drafts; a person rules</a:t>
            </a:r>
          </a:p>
        </p:txBody>
      </p:sp>
      <p:sp>
        <p:nvSpPr>
          <p:cNvPr id="24" name="Rounded Rectangle 23"/>
          <p:cNvSpPr/>
          <p:nvPr/>
        </p:nvSpPr>
        <p:spPr>
          <a:xfrm>
            <a:off x="7452360" y="367719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next service reuses</a:t>
            </a:r>
          </a:p>
        </p:txBody>
      </p:sp>
      <p:sp>
        <p:nvSpPr>
          <p:cNvPr id="25" name="Rounded Rectangle 24"/>
          <p:cNvSpPr/>
          <p:nvPr/>
        </p:nvSpPr>
        <p:spPr>
          <a:xfrm>
            <a:off x="7452360" y="4356462"/>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Another sector brings its own</a:t>
            </a:r>
          </a:p>
        </p:txBody>
      </p:sp>
      <p:sp>
        <p:nvSpPr>
          <p:cNvPr id="26" name="Rounded Rectangle 25"/>
          <p:cNvSpPr/>
          <p:nvPr/>
        </p:nvSpPr>
        <p:spPr>
          <a:xfrm>
            <a:off x="7452360" y="5035731"/>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Limits read first</a:t>
            </a:r>
          </a:p>
        </p:txBody>
      </p:sp>
      <p:sp>
        <p:nvSpPr>
          <p:cNvPr id="27" name="TextBox 26"/>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12 documents · each accepted by a named person</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6 — seven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6.1  What to require from a supplier</a:t>
            </a:r>
            <a:r>
              <a:rPr sz="1200" b="0" i="0">
                <a:solidFill>
                  <a:srgbClr val="595959"/>
                </a:solidFill>
                <a:latin typeface="Arial"/>
              </a:rPr>
              <a:t>   ~5 min</a:t>
            </a:r>
          </a:p>
          <a:p>
            <a:pPr algn="l">
              <a:spcAft>
                <a:spcPts val="900"/>
              </a:spcAft>
            </a:pPr>
            <a:r>
              <a:rPr sz="1500" b="1" i="0">
                <a:solidFill>
                  <a:srgbClr val="1A1A1A"/>
                </a:solidFill>
                <a:latin typeface="Arial"/>
              </a:rPr>
              <a:t>6.2  When something changes, correct the document that owns the fact</a:t>
            </a:r>
            <a:r>
              <a:rPr sz="1200" b="0" i="0">
                <a:solidFill>
                  <a:srgbClr val="595959"/>
                </a:solidFill>
                <a:latin typeface="Arial"/>
              </a:rPr>
              <a:t>   ~5 min</a:t>
            </a:r>
          </a:p>
          <a:p>
            <a:pPr algn="l">
              <a:spcAft>
                <a:spcPts val="900"/>
              </a:spcAft>
            </a:pPr>
            <a:r>
              <a:rPr sz="1500" b="1" i="0">
                <a:solidFill>
                  <a:srgbClr val="1A1A1A"/>
                </a:solidFill>
                <a:latin typeface="Arial"/>
              </a:rPr>
              <a:t>6.3  Read where the work stands from the work</a:t>
            </a:r>
            <a:r>
              <a:rPr sz="1200" b="0" i="0">
                <a:solidFill>
                  <a:srgbClr val="595959"/>
                </a:solidFill>
                <a:latin typeface="Arial"/>
              </a:rPr>
              <a:t>   ~5 min</a:t>
            </a:r>
          </a:p>
          <a:p>
            <a:pPr algn="l">
              <a:spcAft>
                <a:spcPts val="900"/>
              </a:spcAft>
            </a:pPr>
            <a:r>
              <a:rPr sz="1500" b="1" i="0">
                <a:solidFill>
                  <a:srgbClr val="1A1A1A"/>
                </a:solidFill>
                <a:latin typeface="Arial"/>
              </a:rPr>
              <a:t>6.4  The AI assistant at every step, and the person who rules</a:t>
            </a:r>
            <a:r>
              <a:rPr sz="1200" b="0" i="0">
                <a:solidFill>
                  <a:srgbClr val="595959"/>
                </a:solidFill>
                <a:latin typeface="Arial"/>
              </a:rPr>
              <a:t>   ~5 min</a:t>
            </a:r>
          </a:p>
          <a:p>
            <a:pPr algn="l">
              <a:spcAft>
                <a:spcPts val="900"/>
              </a:spcAft>
            </a:pPr>
            <a:r>
              <a:rPr sz="1500" b="1" i="0">
                <a:solidFill>
                  <a:srgbClr val="1A1A1A"/>
                </a:solidFill>
                <a:latin typeface="Arial"/>
              </a:rPr>
              <a:t>6.5  The next service on the same foundation</a:t>
            </a:r>
            <a:r>
              <a:rPr sz="1200" b="0" i="0">
                <a:solidFill>
                  <a:srgbClr val="595959"/>
                </a:solidFill>
                <a:latin typeface="Arial"/>
              </a:rPr>
              <a:t>   ~5 min</a:t>
            </a:r>
          </a:p>
          <a:p>
            <a:pPr algn="l">
              <a:spcAft>
                <a:spcPts val="900"/>
              </a:spcAft>
            </a:pPr>
            <a:r>
              <a:rPr sz="1500" b="1" i="0">
                <a:solidFill>
                  <a:srgbClr val="1A1A1A"/>
                </a:solidFill>
                <a:latin typeface="Arial"/>
              </a:rPr>
              <a:t>6.6  Carry the method to another sector</a:t>
            </a:r>
            <a:r>
              <a:rPr sz="1200" b="0" i="0">
                <a:solidFill>
                  <a:srgbClr val="595959"/>
                </a:solidFill>
                <a:latin typeface="Arial"/>
              </a:rPr>
              <a:t>   ~5 min</a:t>
            </a:r>
          </a:p>
          <a:p>
            <a:pPr algn="l">
              <a:spcAft>
                <a:spcPts val="900"/>
              </a:spcAft>
            </a:pPr>
            <a:r>
              <a:rPr sz="1500" b="1" i="0">
                <a:solidFill>
                  <a:srgbClr val="1A1A1A"/>
                </a:solidFill>
                <a:latin typeface="Arial"/>
              </a:rPr>
              <a:t>6.7  Before you rely on it: what the method does not claim (supplementary)</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Name the twelve documents in the contract, send every change to the document that owns it, and read progress from the work.</a:t>
            </a:r>
          </a:p>
          <a:p>
            <a:pPr>
              <a:spcAft>
                <a:spcPts val="1000"/>
              </a:spcAft>
            </a:pPr>
            <a:r>
              <a:rPr sz="1900" b="0" i="1">
                <a:solidFill>
                  <a:srgbClr val="1A1A1A"/>
                </a:solidFill>
                <a:latin typeface="Arial"/>
              </a:rPr>
              <a:t>Let the assistant draft and a person rule, reuse what the first service built, and read the method's own limits before relying on it.</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to require from a supplier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twelve documents are deliverables you name in the contract, each accepted by a named person.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working system and its documentation." What will you receive?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Neither phrase says what you receive, or who on your side decides it is good enough.</a:t>
            </a:r>
          </a:p>
          <a:p>
            <a:pPr>
              <a:spcAft>
                <a:spcPts val="800"/>
              </a:spcAft>
            </a:pPr>
            <a:r>
              <a:rPr sz="1700" b="0" i="0">
                <a:solidFill>
                  <a:srgbClr val="595959"/>
                </a:solidFill>
                <a:latin typeface="Arial"/>
              </a:rPr>
              <a:t>Both can be settled in the contract, before any work begins.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Twelve deliverables, not one system</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1</a:t>
            </a:r>
          </a:p>
          <a:p>
            <a:pPr>
              <a:spcAft>
                <a:spcPts val="300"/>
              </a:spcAft>
            </a:pPr>
            <a:r>
              <a:rPr sz="1600" b="0" i="0">
                <a:solidFill>
                  <a:srgbClr val="595959"/>
                </a:solidFill>
                <a:latin typeface="Arial"/>
              </a:rPr>
              <a:t>Your own documents, handed over and kept as received.</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2 to 8</a:t>
            </a:r>
          </a:p>
          <a:p>
            <a:pPr>
              <a:spcAft>
                <a:spcPts val="300"/>
              </a:spcAft>
            </a:pPr>
            <a:r>
              <a:rPr sz="1600" b="0" i="0">
                <a:solidFill>
                  <a:srgbClr val="595959"/>
                </a:solidFill>
                <a:latin typeface="Arial"/>
              </a:rPr>
              <a:t>What was asked, the records, the goals, the architecture, the shared lists, each goal as a story, its screens.</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9</a:t>
            </a:r>
          </a:p>
          <a:p>
            <a:pPr>
              <a:spcAft>
                <a:spcPts val="300"/>
              </a:spcAft>
            </a:pPr>
            <a:r>
              <a:rPr sz="1600" b="0" i="0">
                <a:solidFill>
                  <a:srgbClr val="595959"/>
                </a:solidFill>
                <a:latin typeface="Arial"/>
              </a:rPr>
              <a:t>The walk-through your officials click.</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10 and 11</a:t>
            </a:r>
          </a:p>
          <a:p>
            <a:pPr>
              <a:spcAft>
                <a:spcPts val="300"/>
              </a:spcAft>
            </a:pPr>
            <a:r>
              <a:rPr sz="1600" b="0" i="0">
                <a:solidFill>
                  <a:srgbClr val="595959"/>
                </a:solidFill>
                <a:latin typeface="Arial"/>
              </a:rPr>
              <a:t>The decisions for the whole application, and the one file a program reads.</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12</a:t>
            </a:r>
          </a:p>
          <a:p>
            <a:pPr>
              <a:spcAft>
                <a:spcPts val="300"/>
              </a:spcAft>
            </a:pPr>
            <a:r>
              <a:rPr sz="1600" b="0" i="0">
                <a:solidFill>
                  <a:srgbClr val="595959"/>
                </a:solidFill>
                <a:latin typeface="Arial"/>
              </a:rPr>
              <a:t>The working application, generated from that file.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things for each deliverable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The form</a:t>
            </a:r>
          </a:p>
          <a:p>
            <a:pPr>
              <a:spcAft>
                <a:spcPts val="300"/>
              </a:spcAft>
            </a:pPr>
            <a:r>
              <a:rPr sz="1600" b="0" i="0">
                <a:solidFill>
                  <a:srgbClr val="595959"/>
                </a:solidFill>
                <a:latin typeface="Arial"/>
              </a:rPr>
              <a:t>the blank instrument it is written on.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The person</a:t>
            </a:r>
          </a:p>
          <a:p>
            <a:pPr>
              <a:spcAft>
                <a:spcPts val="300"/>
              </a:spcAft>
            </a:pPr>
            <a:r>
              <a:rPr sz="1600" b="0" i="0">
                <a:solidFill>
                  <a:srgbClr val="595959"/>
                </a:solidFill>
                <a:latin typeface="Arial"/>
              </a:rPr>
              <a:t>who in your organisation accepts it.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The check</a:t>
            </a:r>
          </a:p>
          <a:p>
            <a:pPr>
              <a:spcAft>
                <a:spcPts val="300"/>
              </a:spcAft>
            </a:pPr>
            <a:r>
              <a:rPr sz="1600" b="0" i="0">
                <a:solidFill>
                  <a:srgbClr val="595959"/>
                </a:solidFill>
                <a:latin typeface="Arial"/>
              </a:rPr>
              <a:t>what it must pass before it is accepted.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clauses that protect you</a:t>
            </a:r>
          </a:p>
        </p:txBody>
      </p:sp>
      <p:sp>
        <p:nvSpPr>
          <p:cNvPr id="4" name="TextBox 3"/>
          <p:cNvSpPr txBox="1"/>
          <p:nvPr/>
        </p:nvSpPr>
        <p:spPr>
          <a:xfrm>
            <a:off x="658368" y="1463040"/>
            <a:ext cx="10984687" cy="2308860"/>
          </a:xfrm>
          <a:prstGeom prst="rect">
            <a:avLst/>
          </a:prstGeom>
          <a:noFill/>
        </p:spPr>
        <p:txBody>
          <a:bodyPr wrap="square">
            <a:spAutoFit/>
          </a:bodyPr>
          <a:lstStyle/>
          <a:p>
            <a:pPr>
              <a:spcAft>
                <a:spcPts val="300"/>
              </a:spcAft>
            </a:pPr>
            <a:r>
              <a:rPr sz="2200" b="1" i="0">
                <a:solidFill>
                  <a:srgbClr val="1A1A1A"/>
                </a:solidFill>
                <a:latin typeface="Arial"/>
              </a:rPr>
              <a:t>The application is generated from the accepted model, and nothing generated is edited by hand.</a:t>
            </a:r>
          </a:p>
        </p:txBody>
      </p:sp>
      <p:sp>
        <p:nvSpPr>
          <p:cNvPr id="5" name="Rectangle 4"/>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817620"/>
            <a:ext cx="10984687" cy="2308860"/>
          </a:xfrm>
          <a:prstGeom prst="rect">
            <a:avLst/>
          </a:prstGeom>
          <a:noFill/>
        </p:spPr>
        <p:txBody>
          <a:bodyPr wrap="square">
            <a:spAutoFit/>
          </a:bodyPr>
          <a:lstStyle/>
          <a:p>
            <a:pPr>
              <a:spcAft>
                <a:spcPts val="300"/>
              </a:spcAft>
            </a:pPr>
            <a:r>
              <a:rPr sz="2200" b="1" i="0">
                <a:solidFill>
                  <a:srgbClr val="1A1A1A"/>
                </a:solidFill>
                <a:latin typeface="Arial"/>
              </a:rPr>
              <a:t>Every open question is delivered with an owner and a date.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MoEYS's deliverables annex (illustrative)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register of what was asked</a:t>
            </a:r>
          </a:p>
          <a:p>
            <a:pPr>
              <a:spcAft>
                <a:spcPts val="300"/>
              </a:spcAft>
            </a:pPr>
            <a:r>
              <a:rPr sz="1600" b="0" i="0">
                <a:solidFill>
                  <a:srgbClr val="595959"/>
                </a:solidFill>
                <a:latin typeface="Arial"/>
              </a:rPr>
              <a:t>accepted by the Director of Higher Education — its own checklist.</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The screens of each goal</a:t>
            </a:r>
          </a:p>
          <a:p>
            <a:pPr>
              <a:spcAft>
                <a:spcPts val="300"/>
              </a:spcAft>
            </a:pPr>
            <a:r>
              <a:rPr sz="1600" b="0" i="0">
                <a:solidFill>
                  <a:srgbClr val="595959"/>
                </a:solidFill>
                <a:latin typeface="Arial"/>
              </a:rPr>
              <a:t>accepted at a review of three people — checked against the goal's story.</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file a program reads</a:t>
            </a:r>
          </a:p>
          <a:p>
            <a:pPr>
              <a:spcAft>
                <a:spcPts val="300"/>
              </a:spcAft>
            </a:pPr>
            <a:r>
              <a:rPr sz="1600" b="0" i="0">
                <a:solidFill>
                  <a:srgbClr val="595959"/>
                </a:solidFill>
                <a:latin typeface="Arial"/>
              </a:rPr>
              <a:t>approved by the head of the ICT unit — a program refuses it if it contradicts an accepted decision.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working application</a:t>
            </a:r>
          </a:p>
          <a:p>
            <a:pPr>
              <a:spcAft>
                <a:spcPts val="300"/>
              </a:spcAft>
            </a:pPr>
            <a:r>
              <a:rPr sz="1600" b="0" i="0">
                <a:solidFill>
                  <a:srgbClr val="595959"/>
                </a:solidFill>
                <a:latin typeface="Arial"/>
              </a:rPr>
              <a:t>accepted when an officer has finished a real task on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twelve documents are deliverables you name in the contract, each accepted by a named person.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deliverables annex of a terms of reference.</a:t>
            </a:r>
          </a:p>
          <a:p>
            <a:pPr algn="l">
              <a:spcAft>
                <a:spcPts val="400"/>
              </a:spcAft>
            </a:pPr>
            <a:r>
              <a:rPr sz="1800" b="0" i="0">
                <a:solidFill>
                  <a:srgbClr val="595959"/>
                </a:solidFill>
                <a:latin typeface="Arial"/>
              </a:rPr>
              <a:t>The prompt in the companion material gives you a deliverables annex with one row for each of the twelve documents.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6.2</a:t>
            </a:r>
          </a:p>
        </p:txBody>
      </p:sp>
      <p:sp>
        <p:nvSpPr>
          <p:cNvPr id="4" name="TextBox 3"/>
          <p:cNvSpPr txBox="1"/>
          <p:nvPr/>
        </p:nvSpPr>
        <p:spPr>
          <a:xfrm>
            <a:off x="822960" y="2880360"/>
            <a:ext cx="9601200" cy="1371600"/>
          </a:xfrm>
          <a:prstGeom prst="rect">
            <a:avLst/>
          </a:prstGeom>
          <a:noFill/>
        </p:spPr>
        <p:txBody>
          <a:bodyPr wrap="square">
            <a:spAutoFit/>
          </a:bodyPr>
          <a:lstStyle/>
          <a:p>
            <a:r>
              <a:rPr sz="2500" b="1" i="0">
                <a:solidFill>
                  <a:srgbClr val="1A1A1A"/>
                </a:solidFill>
                <a:latin typeface="Arial"/>
              </a:rPr>
              <a:t>When something changes, correct the document that owns the fact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change goes up to its source and everything below is produced again.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quickest fix is the one that brings the problem back later.</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service is in use, and someone asks for a change.</a:t>
            </a:r>
          </a:p>
          <a:p>
            <a:pPr>
              <a:spcAft>
                <a:spcPts val="800"/>
              </a:spcAft>
            </a:pPr>
            <a:r>
              <a:rPr sz="1700" b="0" i="0">
                <a:solidFill>
                  <a:srgbClr val="595959"/>
                </a:solidFill>
                <a:latin typeface="Arial"/>
              </a:rPr>
              <a:t>The quickest fix changes the screen, or the running system, where the problem was seen.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Up to the owner, then down again</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Find the document that owns the fact.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Correct the fact there, and nowhere else.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Produce everything below it again.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When the behaviour itself changes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First the story of the goal, agreed.</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Then the screens.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Then the walk-through.</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Only then what was built.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400" b="1" i="0">
                <a:solidFill>
                  <a:srgbClr val="1A1A1A"/>
                </a:solidFill>
                <a:latin typeface="Arial"/>
              </a:rPr>
              <a:t>An institution asks to change its name (illustrative)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Harbourview University College asks PHEQA to change its name.</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Followed through both bodies, the new name could be written before the minister approves.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fact is owned by PHEQA's register of business rules.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Corrected there</a:t>
            </a:r>
          </a:p>
          <a:p>
            <a:pPr>
              <a:spcAft>
                <a:spcPts val="300"/>
              </a:spcAft>
            </a:pPr>
            <a:r>
              <a:rPr sz="1600" b="0" i="0">
                <a:solidFill>
                  <a:srgbClr val="595959"/>
                </a:solidFill>
                <a:latin typeface="Arial"/>
              </a:rPr>
              <a:t>no new name without the minister's approval.</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change makes stale</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Corrected</a:t>
            </a:r>
          </a:p>
          <a:p>
            <a:pPr>
              <a:spcAft>
                <a:spcPts val="300"/>
              </a:spcAft>
            </a:pPr>
            <a:r>
              <a:rPr sz="1600" b="0" i="0">
                <a:solidFill>
                  <a:srgbClr val="595959"/>
                </a:solidFill>
                <a:latin typeface="Arial"/>
              </a:rPr>
              <a:t>the register of business rules.</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Stale</a:t>
            </a:r>
          </a:p>
          <a:p>
            <a:pPr>
              <a:spcAft>
                <a:spcPts val="300"/>
              </a:spcAft>
            </a:pPr>
            <a:r>
              <a:rPr sz="1600" b="0" i="0">
                <a:solidFill>
                  <a:srgbClr val="595959"/>
                </a:solidFill>
                <a:latin typeface="Arial"/>
              </a:rPr>
              <a:t>the shared groundwork, two goals, their screens and walk-throughs, the interaction design, the model, the application.</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Not stale</a:t>
            </a:r>
          </a:p>
          <a:p>
            <a:pPr>
              <a:spcAft>
                <a:spcPts val="300"/>
              </a:spcAft>
            </a:pPr>
            <a:r>
              <a:rPr sz="1600" b="0" i="0">
                <a:solidFill>
                  <a:srgbClr val="595959"/>
                </a:solidFill>
                <a:latin typeface="Arial"/>
              </a:rPr>
              <a:t>MoEYS's documents.</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Pass</a:t>
            </a:r>
          </a:p>
          <a:p>
            <a:pPr>
              <a:spcAft>
                <a:spcPts val="300"/>
              </a:spcAft>
            </a:pPr>
            <a:r>
              <a:rPr sz="1600" b="0" i="0">
                <a:solidFill>
                  <a:srgbClr val="595959"/>
                </a:solidFill>
                <a:latin typeface="Arial"/>
              </a:rPr>
              <a:t>after generation, nothing is stale.</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change goes up to its source and everything below is produced again.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the document that owns the fact a change touches.</a:t>
            </a:r>
          </a:p>
          <a:p>
            <a:pPr algn="l">
              <a:spcAft>
                <a:spcPts val="400"/>
              </a:spcAft>
            </a:pPr>
            <a:r>
              <a:rPr sz="1800" b="0" i="0">
                <a:solidFill>
                  <a:srgbClr val="595959"/>
                </a:solidFill>
                <a:latin typeface="Arial"/>
              </a:rPr>
              <a:t>The prompt in the companion material gives you the owning document with the reason, the list of documents to produce again, and any question with its owner.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Read where the work stands from the work</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Progress is a report the programs produce from the documents, never a figure someone remembers.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supplier answers with a percentage. Nobody in the room can check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minister asks how far the new service has come.</a:t>
            </a:r>
          </a:p>
          <a:p>
            <a:pPr>
              <a:spcAft>
                <a:spcPts val="800"/>
              </a:spcAft>
            </a:pPr>
            <a:r>
              <a:rPr sz="1700" b="0" i="0">
                <a:solidFill>
                  <a:srgbClr val="595959"/>
                </a:solidFill>
                <a:latin typeface="Arial"/>
              </a:rPr>
              <a:t>Nobody can say what the rest of the work is.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Read where the work stands from the work</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Read from the work, never remembered</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figure someone remembers cannot be checked.</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 report a program produces from the documents can be produced again.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Ask for the report, with its date.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Read where the work stands from the work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trace report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Every entry of what was asked.</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Followed to its goal, its screens, the part generated for it and its check.</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Every entry not yet traced to the end, listed by name.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Read where the work stands from the work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MoEYS's trace report (illustrative)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Deciding a licence</a:t>
            </a:r>
          </a:p>
          <a:p>
            <a:pPr>
              <a:spcAft>
                <a:spcPts val="300"/>
              </a:spcAft>
            </a:pPr>
            <a:r>
              <a:rPr sz="1600" b="0" i="0">
                <a:solidFill>
                  <a:srgbClr val="595959"/>
                </a:solidFill>
                <a:latin typeface="Arial"/>
              </a:rPr>
              <a:t>goal, screens, generated part, acceptance check.</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Approving a change of name</a:t>
            </a:r>
          </a:p>
          <a:p>
            <a:pPr>
              <a:spcAft>
                <a:spcPts val="300"/>
              </a:spcAft>
            </a:pPr>
            <a:r>
              <a:rPr sz="1600" b="0" i="0">
                <a:solidFill>
                  <a:srgbClr val="595959"/>
                </a:solidFill>
                <a:latin typeface="Arial"/>
              </a:rPr>
              <a:t>goal, screens, generated part, acceptance check.</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Publishing the list in the Gazette</a:t>
            </a:r>
          </a:p>
          <a:p>
            <a:pPr>
              <a:spcAft>
                <a:spcPts val="300"/>
              </a:spcAft>
            </a:pPr>
            <a:r>
              <a:rPr sz="1600" b="0" i="0">
                <a:solidFill>
                  <a:srgbClr val="595959"/>
                </a:solidFill>
                <a:latin typeface="Arial"/>
              </a:rPr>
              <a:t>goal, screens; nothing generated yet.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Reviewing a decision of PHEQA</a:t>
            </a:r>
          </a:p>
          <a:p>
            <a:pPr>
              <a:spcAft>
                <a:spcPts val="300"/>
              </a:spcAft>
            </a:pPr>
            <a:r>
              <a:rPr sz="1600" b="0" i="0">
                <a:solidFill>
                  <a:srgbClr val="595959"/>
                </a:solidFill>
                <a:latin typeface="Arial"/>
              </a:rPr>
              <a:t>goal, screens, generated part; no acceptance check yet.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Read where the work stands from the work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rules that keep the report honest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gap stays open and counted until it is closed.</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 check is never changed to make its number look better.</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An empty column is information.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Read where the work stands from the work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Progress is a report the programs produce from the documents, never a figure someone remembers.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Write the minister's one-page status from the trace report.</a:t>
            </a:r>
          </a:p>
          <a:p>
            <a:pPr algn="l">
              <a:spcAft>
                <a:spcPts val="400"/>
              </a:spcAft>
            </a:pPr>
            <a:r>
              <a:rPr sz="1800" b="0" i="0">
                <a:solidFill>
                  <a:srgbClr val="595959"/>
                </a:solidFill>
                <a:latin typeface="Arial"/>
              </a:rPr>
              <a:t>The prompt in the companion material gives you a one-page status of no more than 300 words.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Read where the work stands from the work</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6.4</a:t>
            </a:r>
          </a:p>
        </p:txBody>
      </p:sp>
      <p:sp>
        <p:nvSpPr>
          <p:cNvPr id="4" name="TextBox 3"/>
          <p:cNvSpPr txBox="1"/>
          <p:nvPr/>
        </p:nvSpPr>
        <p:spPr>
          <a:xfrm>
            <a:off x="822960" y="2880360"/>
            <a:ext cx="9601200" cy="1371600"/>
          </a:xfrm>
          <a:prstGeom prst="rect">
            <a:avLst/>
          </a:prstGeom>
          <a:noFill/>
        </p:spPr>
        <p:txBody>
          <a:bodyPr wrap="square">
            <a:spAutoFit/>
          </a:bodyPr>
          <a:lstStyle/>
          <a:p>
            <a:r>
              <a:rPr sz="2800" b="1" i="0">
                <a:solidFill>
                  <a:srgbClr val="1A1A1A"/>
                </a:solidFill>
                <a:latin typeface="Arial"/>
              </a:rPr>
              <a:t>The AI assistant at every step, and the person who rules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assistant drafts each document; a person rules on every proposal and every gap keeps its name.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register of requirements, drafted by an AI assistant in an afternoon.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That speed is real.</a:t>
            </a:r>
          </a:p>
          <a:p>
            <a:pPr>
              <a:spcAft>
                <a:spcPts val="800"/>
              </a:spcAft>
            </a:pPr>
            <a:r>
              <a:rPr sz="1700" b="0" i="0">
                <a:solidFill>
                  <a:srgbClr val="595959"/>
                </a:solidFill>
                <a:latin typeface="Arial"/>
              </a:rPr>
              <a:t>Who decides what the draft says, and what happens to everything the assistant did not know?</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assistant drafts; a person rules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assistant proposes each entry, step or line.</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 named person accepts, amends or sets aside each proposal.</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Only what the person accepted stands.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gap keeps its name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assistant does not fill a gap with a plausible answer.</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It records a question, with the person who must answer it.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It never invents a figure to keep the work moving.</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MoEYS's rules of use (illustrative)</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The assistant may draft the register, the stories and the model.</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A named officer rules on every draft.</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Every open question carries an owner.</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No figure without its source.</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The ministry's data stay within the tools the ministry allows.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you check in an assisted document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Whose name stands against each accepted part?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Which questions are open, and who owns each?</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Is any figure without its source?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assistant drafts each document; a person rules on every proposal and every gap keeps its name.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rules of use for an AI assistant in your specification work.</a:t>
            </a:r>
          </a:p>
          <a:p>
            <a:pPr algn="l">
              <a:spcAft>
                <a:spcPts val="400"/>
              </a:spcAft>
            </a:pPr>
            <a:r>
              <a:rPr sz="1800" b="0" i="0">
                <a:solidFill>
                  <a:srgbClr val="595959"/>
                </a:solidFill>
                <a:latin typeface="Arial"/>
              </a:rPr>
              <a:t>The prompt in the companion material gives you one page of rules of use, each rule with the paragraph of the policy it rests 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next service on the same foundation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second service, a digital credential, reuses what the first one built and proved.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next request is already on the table.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Institutions register once with the quality authority, and the ministry reads that register.</a:t>
            </a:r>
          </a:p>
          <a:p>
            <a:pPr>
              <a:spcAft>
                <a:spcPts val="800"/>
              </a:spcAft>
            </a:pPr>
            <a:r>
              <a:rPr sz="1700" b="0" i="0">
                <a:solidFill>
                  <a:srgbClr val="595959"/>
                </a:solidFill>
                <a:latin typeface="Arial"/>
              </a:rPr>
              <a:t>Now graduates want proof of their degree that an employer can trust.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Planning enables re-use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block paid for once can carry many services.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Inside one project, building your own looks faster.</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Only someone who plans for the whole sector sees the sum.</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credential, one row of the catalogue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Issue a learner's credential</a:t>
            </a:r>
          </a:p>
          <a:p>
            <a:pPr>
              <a:spcAft>
                <a:spcPts val="300"/>
              </a:spcAft>
            </a:pPr>
            <a:r>
              <a:rPr sz="1600" b="0" i="0">
                <a:solidFill>
                  <a:srgbClr val="595959"/>
                </a:solidFill>
                <a:latin typeface="Arial"/>
              </a:rPr>
              <a:t>owed by PDCA.</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Reuses</a:t>
            </a:r>
          </a:p>
          <a:p>
            <a:pPr>
              <a:spcAft>
                <a:spcPts val="300"/>
              </a:spcAft>
            </a:pPr>
            <a:r>
              <a:rPr sz="1600" b="0" i="0">
                <a:solidFill>
                  <a:srgbClr val="595959"/>
                </a:solidFill>
                <a:latin typeface="Arial"/>
              </a:rPr>
              <a:t>PNIA's sign-in.</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Reuses</a:t>
            </a:r>
          </a:p>
          <a:p>
            <a:pPr>
              <a:spcAft>
                <a:spcPts val="300"/>
              </a:spcAft>
            </a:pPr>
            <a:r>
              <a:rPr sz="1600" b="0" i="0">
                <a:solidFill>
                  <a:srgbClr val="595959"/>
                </a:solidFill>
                <a:latin typeface="Arial"/>
              </a:rPr>
              <a:t>PHEQA's register of institutions, read across Linkup.</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Adds</a:t>
            </a:r>
          </a:p>
          <a:p>
            <a:pPr>
              <a:spcAft>
                <a:spcPts val="300"/>
              </a:spcAft>
            </a:pPr>
            <a:r>
              <a:rPr sz="1600" b="0" i="0">
                <a:solidFill>
                  <a:srgbClr val="595959"/>
                </a:solidFill>
                <a:latin typeface="Arial"/>
              </a:rPr>
              <a:t>the credential, kept in the graduate's wallet.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of the roles in the W3C standard</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issuer gives the credential to the holder.</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holder keeps it, for example in a digital wallet.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holder presents it, and the verifier checks it.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same twelve documents, written once more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PDCA's own register of what was asked, records, goals and screens.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Most crossings already exist.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Each reuse confirmed with the body that keeps the block.</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second service, a digital credential, reuses what the first one built and proved.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List what a new service can reuse, and what it must add.</a:t>
            </a:r>
          </a:p>
          <a:p>
            <a:pPr algn="l">
              <a:spcAft>
                <a:spcPts val="400"/>
              </a:spcAft>
            </a:pPr>
            <a:r>
              <a:rPr sz="1800" b="0" i="0">
                <a:solidFill>
                  <a:srgbClr val="595959"/>
                </a:solidFill>
                <a:latin typeface="Arial"/>
              </a:rPr>
              <a:t>The prompt in the companion material gives you a reuse list of blocks and records with their keepers.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section 2.6</a:t>
            </a:r>
          </a:p>
          <a:p>
            <a:pPr>
              <a:spcAft>
                <a:spcPts val="1200"/>
              </a:spcAft>
            </a:pPr>
            <a:r>
              <a:rPr sz="1700" b="0" i="0">
                <a:solidFill>
                  <a:srgbClr val="1A1A1A"/>
                </a:solidFill>
                <a:latin typeface="Arial"/>
              </a:rPr>
              <a:t>•  W3C, Verifiable Credentials Data Model v2.0, sections 1.2 and 4.13</a:t>
            </a:r>
          </a:p>
          <a:p>
            <a:pPr>
              <a:spcAft>
                <a:spcPts val="1200"/>
              </a:spcAft>
            </a:pPr>
            <a:r>
              <a:rPr sz="1700" b="0" i="0">
                <a:solidFill>
                  <a:srgbClr val="1A1A1A"/>
                </a:solidFill>
                <a:latin typeface="Arial"/>
              </a:rPr>
              <a:t>•  GovStack Identity specification, version 2.0</a:t>
            </a:r>
          </a:p>
          <a:p>
            <a:pPr>
              <a:spcAft>
                <a:spcPts val="1200"/>
              </a:spcAft>
            </a:pPr>
            <a:r>
              <a:rPr sz="1700" b="0" i="0">
                <a:solidFill>
                  <a:srgbClr val="1A1A1A"/>
                </a:solidFill>
                <a:latin typeface="Arial"/>
              </a:rPr>
              <a:t>•  GovStack Digital Registries specification, version 3.0-alpha</a:t>
            </a:r>
          </a:p>
          <a:p>
            <a:pPr>
              <a:spcAft>
                <a:spcPts val="1200"/>
              </a:spcAft>
            </a:pPr>
            <a:r>
              <a:rPr sz="1700" b="0" i="0">
                <a:solidFill>
                  <a:srgbClr val="1A1A1A"/>
                </a:solidFill>
                <a:latin typeface="Arial"/>
              </a:rPr>
              <a:t>•  UNDP, Accelerating the SDGs through Digital Public Infrastructure: A Compendium, 2023, pages 3 and 4</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Carry the method to another sector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method holds no sector's content; another sector brings its own catalogue and its own records.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Another ministry asks to use the same method.</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Nothing in the method itself is about schools.</a:t>
            </a:r>
          </a:p>
          <a:p>
            <a:pPr>
              <a:spcAft>
                <a:spcPts val="800"/>
              </a:spcAft>
            </a:pPr>
            <a:r>
              <a:rPr sz="1700" b="0" i="0">
                <a:solidFill>
                  <a:srgbClr val="595959"/>
                </a:solidFill>
                <a:latin typeface="Arial"/>
              </a:rPr>
              <a:t>What changes is the sector's own content, and the sector must bring it.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Carry the method to another sector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stays the same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The twelve documents, in the same order.</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The people who accept them, by role.</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The checks at each step.</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The rules that always hold.</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Carry the method to another sector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sector brings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Its own catalogue of services.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Its register of what was asked, from its own law.</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Its records, and who keeps each one.</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Its own reference pack.</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Carry the method to another sector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Carry the method, not the results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Nothing found in education is a fact about another sector.</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Every example is rebuilt on the sector's own records and law.</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sector's officials correct every draft.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Carry the method to another sector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Names before the first document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Who owns the service in that ministry.</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Who writes the sector's catalogue.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Which officials correct the adapted examples.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Carry the method to another sector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method holds no sector's content; another sector brings its own catalogue and its own records.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Adapt the method's examples to a service of another sector.</a:t>
            </a:r>
          </a:p>
          <a:p>
            <a:pPr algn="l">
              <a:spcAft>
                <a:spcPts val="400"/>
              </a:spcAft>
            </a:pPr>
            <a:r>
              <a:rPr sz="1800" b="0" i="0">
                <a:solidFill>
                  <a:srgbClr val="595959"/>
                </a:solidFill>
                <a:latin typeface="Arial"/>
              </a:rPr>
              <a:t>The prompt in the companion material gives you the twelve examples adapted to the new service, with every place to be read in the sector's law marked.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Carry the method to another sector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6.7</a:t>
            </a:r>
          </a:p>
        </p:txBody>
      </p:sp>
      <p:sp>
        <p:nvSpPr>
          <p:cNvPr id="4" name="TextBox 3"/>
          <p:cNvSpPr txBox="1"/>
          <p:nvPr/>
        </p:nvSpPr>
        <p:spPr>
          <a:xfrm>
            <a:off x="822960" y="2880360"/>
            <a:ext cx="9601200" cy="1371600"/>
          </a:xfrm>
          <a:prstGeom prst="rect">
            <a:avLst/>
          </a:prstGeom>
          <a:noFill/>
        </p:spPr>
        <p:txBody>
          <a:bodyPr wrap="square">
            <a:spAutoFit/>
          </a:bodyPr>
          <a:lstStyle/>
          <a:p>
            <a:r>
              <a:rPr sz="2800" b="1" i="0">
                <a:solidFill>
                  <a:srgbClr val="1A1A1A"/>
                </a:solidFill>
                <a:latin typeface="Arial"/>
              </a:rPr>
              <a:t>Before you rely on it: what the method does not claim</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method states its own limits, and a manager reads them before relying on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What could go wrong with this method?</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method answers that question about itself, in writing.</a:t>
            </a:r>
          </a:p>
          <a:p>
            <a:pPr>
              <a:spcAft>
                <a:spcPts val="800"/>
              </a:spcAft>
            </a:pPr>
            <a:r>
              <a:rPr sz="1700" b="0" i="0">
                <a:solidFill>
                  <a:srgbClr val="595959"/>
                </a:solidFill>
                <a:latin typeface="Arial"/>
              </a:rPr>
              <a:t>Read its answer before you rely on it.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Before you rely on it: what the method does not claim</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method does not claim</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That its standards have been shown to work well together.</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That every standard has been tested by use.</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That a program checks every step.</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That it is cheap.</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Before you rely on it: what the method does not claim</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it says is still missing</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standard of its own for accessibility.</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 standard for services in more than one language.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Each missing piece has an owner.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Before you rely on it: what the method does not claim</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risk paragraph (illustrative)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A briefing note to the minister on adopting the method.</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The limits quoted as the method states them.</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All seven quoted; none added.</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Which bear on the service, and what the ministry will do.</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Before you rely on it: what the method does not claim</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Why stated limits help you</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method that hides its limits teaches the wrong lesson.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 stated limit can be planned around.</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An unstated limit is found after the money is spent.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Before you rely on it: what the method does not claim</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method states its own limits, and a manager reads them before relying on it.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Write the risk paragraph of a briefing note on adopting the method.</a:t>
            </a:r>
          </a:p>
          <a:p>
            <a:pPr algn="l">
              <a:spcAft>
                <a:spcPts val="400"/>
              </a:spcAft>
            </a:pPr>
            <a:r>
              <a:rPr sz="1800" b="0" i="0">
                <a:solidFill>
                  <a:srgbClr val="595959"/>
                </a:solidFill>
                <a:latin typeface="Arial"/>
              </a:rPr>
              <a:t>The prompt in the companion material gives you a risk paragraph of no more than 200 words.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Before you rely on it: what the method does not claim</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