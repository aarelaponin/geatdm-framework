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0" r:id="rId32"/>
    <p:sldId id="2711" r:id="rId33"/>
    <p:sldId id="2712" r:id="rId34"/>
    <p:sldId id="2713" r:id="rId35"/>
    <p:sldId id="2714" r:id="rId36"/>
    <p:sldId id="2715" r:id="rId37"/>
    <p:sldId id="2716"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of the method's rules keep such a report honest. A gap stays open and counted. It is never signed off just to make a report look complete. A check is never changed to make its number look better. And an empty column is information. It is often the most useful thing on the page. These rules matter most when progress is slow, because that is when a figure is most tempting to round up. When a supplier's report has no empty cell anywhere, ask what was left out of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an example built for Progressa. The head of the ICT unit at the ministry of education, MoEYS, reads the trace report of the ministry's application. Deciding a licence and approving a change of name are traced to the end. Publishing the list of institutions in the Gazette has its goal and screens, but nothing is generated for it yet. The review of a decision at a person's request is generated, but no acceptance check has been written for it. From that report, the head of ICT writes the minister's status on one page, in plain words, with the date of the report beside every figure.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minister asks how far the new service has come. The supplier answers with a percentage. Nobody in the room can check it, and nobody can say what the rest of the work is.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has a plain rule for this: where the work stands is read from the work, never remembered. Every document of the method is written in a fixed form, and each one records what it was made from. So programs can read the documents and report what is there and what is still missing. A percentage given at a progress meeting cannot be checked by anyone. A report produced from the documents can be produced again, by anyone, and it gives the same answer. Ask for that report, with its date, instead of a figure.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most useful report for a manager is the trace report. A program produces it from the one file a program reads. It takes every entry of the register of what was asked, and follows it to the goal that serves it, to the screens of that goal, to the part of the application generated for it, and to the acceptance check written for it. Then it lists, by name, every entry that is not yet traced to the end, and says where each one stops. That list is your real progress: what is not yet done, said exactly.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Ask for the report the programs produce from the documents, with its date. Read the list of what is not yet traced, and take your figures from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Read where the work stands from the work</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Progress is a report the programs produce from the documents, never a figure someone remembers.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supplier answers with a percentage. Nobody in the room can check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minister asks how far the new service has come.</a:t>
            </a:r>
          </a:p>
          <a:p>
            <a:pPr>
              <a:spcAft>
                <a:spcPts val="800"/>
              </a:spcAft>
            </a:pPr>
            <a:r>
              <a:rPr sz="1700" b="0" i="0">
                <a:solidFill>
                  <a:srgbClr val="595959"/>
                </a:solidFill>
                <a:latin typeface="Arial"/>
              </a:rPr>
              <a:t>Nobody can say what the rest of the work is.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Read where the work stands from the work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Read from the work, never remembered</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figure someone remembers cannot be checked.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report a program produces from the documents can be produced again.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Ask for the report, with its date.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Read where the work stands from the work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trace report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Every entry of what was asked.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Followed to its goal, its screens, the part generated for it and its check.</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Every entry not yet traced to the end, listed by name.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Read where the work stands from the work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MoEYS's trace report (illustrative)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Deciding a licence</a:t>
            </a:r>
          </a:p>
          <a:p>
            <a:pPr>
              <a:spcAft>
                <a:spcPts val="300"/>
              </a:spcAft>
            </a:pPr>
            <a:r>
              <a:rPr sz="1600" b="0" i="0">
                <a:solidFill>
                  <a:srgbClr val="595959"/>
                </a:solidFill>
                <a:latin typeface="Arial"/>
              </a:rPr>
              <a:t>goal, screens, generated part, acceptance check.</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Approving a change of name</a:t>
            </a:r>
          </a:p>
          <a:p>
            <a:pPr>
              <a:spcAft>
                <a:spcPts val="300"/>
              </a:spcAft>
            </a:pPr>
            <a:r>
              <a:rPr sz="1600" b="0" i="0">
                <a:solidFill>
                  <a:srgbClr val="595959"/>
                </a:solidFill>
                <a:latin typeface="Arial"/>
              </a:rPr>
              <a:t>goal, screens, generated part, acceptance check.</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Publishing the list in the Gazette</a:t>
            </a:r>
          </a:p>
          <a:p>
            <a:pPr>
              <a:spcAft>
                <a:spcPts val="300"/>
              </a:spcAft>
            </a:pPr>
            <a:r>
              <a:rPr sz="1600" b="0" i="0">
                <a:solidFill>
                  <a:srgbClr val="595959"/>
                </a:solidFill>
                <a:latin typeface="Arial"/>
              </a:rPr>
              <a:t>goal, screens; nothing generated yet.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Reviewing a decision of PHEQA</a:t>
            </a:r>
          </a:p>
          <a:p>
            <a:pPr>
              <a:spcAft>
                <a:spcPts val="300"/>
              </a:spcAft>
            </a:pPr>
            <a:r>
              <a:rPr sz="1600" b="0" i="0">
                <a:solidFill>
                  <a:srgbClr val="595959"/>
                </a:solidFill>
                <a:latin typeface="Arial"/>
              </a:rPr>
              <a:t>goal, screens, generated part; no acceptance check yet.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Read where the work stands from the work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rules that keep the report honest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gap stays open and counted until it is closed.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check is never changed to make its number look better.</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An empty column is information.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Read where the work stands from the work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Progress is a report the programs produce from the documents, never a figure someone remembers.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the minister's one-page status from the trace report.</a:t>
            </a:r>
          </a:p>
          <a:p>
            <a:pPr algn="l">
              <a:spcAft>
                <a:spcPts val="400"/>
              </a:spcAft>
            </a:pPr>
            <a:r>
              <a:rPr sz="1800" b="0" i="0">
                <a:solidFill>
                  <a:srgbClr val="595959"/>
                </a:solidFill>
                <a:latin typeface="Arial"/>
              </a:rPr>
              <a:t>The prompt in the companion material gives you a one-page status of no more than 300 words.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Read where the work stands from the work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