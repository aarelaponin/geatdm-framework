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 id="2703" r:id="rId25"/>
    <p:sldId id="2704" r:id="rId26"/>
    <p:sldId id="270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supplier's builder will build what the documents say, and guess at whatever they leave out. A guess made late, under deadline, is how an agreed service changes on the way. So every goal is written as a story the builder can follow.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service is made of goals. A goal is one thing a person wants to get done: apply for a licence, record a fee, record a visit. Each goal is written out as a story: step by step, who acts and what happens, until the person has what they came for. The story uses plain words, so the official who runs the service can read it and say: yes, that is our work.</a:t>
            </a:r>
          </a:p>
          <a:p/>
          <a:p>
            <a:r>
              <a:t>Slide specification: Plain definitions, text only.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written goal holds five things. Who has the goal, and who else takes part. What starts it, and what must already be true. What the authority guarantees, whatever happens. The main steps, on the path where nothing goes wrong. And the entries of the register of requirements that the goal serves, so that every step can be traced to something somebody asked for.</a:t>
            </a:r>
          </a:p>
          <a:p/>
          <a:p>
            <a:r>
              <a:t>Slide specification: The core payload. Kept on screen while the voice-over names each part.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the quality authority for higher education, PHEQA, licenses private institutions. Its first goal is to apply for a provisional licence. The applicant is a person who intends to run a private university, university college or technical institute. PNIA, the national identity authority, tells PHEQA who the applicant is. The Payments block takes the fee. The goal serves four entries of PHEQA's register: applying through the self-service, the application fee, the particulars the regulations list, and a name no registered institution holds. PHEQA guarantees one thing, whatever happens: no application is recorded unless the applicant confirmed it and the fee was paid.</a:t>
            </a:r>
          </a:p>
          <a:p/>
          <a:p>
            <a:r>
              <a:t>Slide specification: Progressa's names as the plan gives them. No logos, no emblems.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main story has nine steps. The applicant signs in through PNIA and asks to apply. The system shows PHEQA's standards for new institutions, with their version. The applicant states the kind of institution, gives the proposed name and each particular, and attaches the evidence of funding. The system checks that nothing is missing and that no registered institution holds the name. The applicant confirms and pays. The system records the application and shows the date it was received.</a:t>
            </a:r>
          </a:p>
          <a:p/>
          <a:p>
            <a:r>
              <a:t>Slide specification: The drawn version is figure F8 of the written guide; the slide stays text-only.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Registration specification publishes the general picture of a registration service. An analyst creates the screens an applicant sees, their order, and the fields on each. An operator then decides: approve, reject, or send back for correction. Your story fills it for one service: which particulars, from which list, checked against which register, at which fee, and with what promise. The operator's decision is a goal of its own, with its own story.</a:t>
            </a:r>
          </a:p>
          <a:p/>
          <a:p>
            <a:r>
              <a:t>Slide specification: The decision types are given as the specification publishes them: approve, reject or send back for correction.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AI assistant drafted the story from those four entries; the supplier's analyst ruled on each step. The draft had a tenth step, an e-mail to the applicant, that no entry asked for, and PHEQA holds no e-mail address it could trust. The analyst struck it out and wrote a question for the Registrar instead. Before you accept a story, read it aloud to the head of the registration desk. At each step, ask: who does this, and where does what they see come from?</a:t>
            </a:r>
          </a:p>
          <a:p/>
          <a:p>
            <a:r>
              <a:t>Slide specification: The AI draft's tenth step is told in the voice-over, not shown.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Read the story as the builder would. Wherever the builder would have to guess or ask, the story is not finished. Send it back, with the question written down.</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One goal, written as a story a builder can follow</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builder must not have to work anything out or ask anybody anything.</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builder builds what the documents say, and guesses the rest.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guess made late, under deadline, is how an agreed service changes on the way.</a:t>
            </a:r>
          </a:p>
          <a:p>
            <a:pPr>
              <a:spcAft>
                <a:spcPts val="800"/>
              </a:spcAft>
            </a:pPr>
            <a:r>
              <a:rPr sz="1700" b="0" i="0">
                <a:solidFill>
                  <a:srgbClr val="595959"/>
                </a:solidFill>
                <a:latin typeface="Arial"/>
              </a:rPr>
              <a:t>So every goal is written as a story the builder can follow.</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goal, and its story</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A goal: one thing a person wants to get done with the service.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Its story: who acts and what happens, step by step, until the person has what they came for.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a written goal holds</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Who has the goal, and who else takes part.</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What starts it, and what must already be true.</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What the authority guarantees, whatever happens.</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The main steps, on the path where nothing goes wrong.</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The entries of the register of requirements that it serves.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apply for a provisional licence</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600" b="1" i="0">
                <a:solidFill>
                  <a:srgbClr val="1A1A1A"/>
                </a:solidFill>
                <a:latin typeface="Arial"/>
              </a:rPr>
              <a:t>Who: a person who intends to run a private university, university college or technical institute.</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600" b="1" i="0">
                <a:solidFill>
                  <a:srgbClr val="1A1A1A"/>
                </a:solidFill>
                <a:latin typeface="Arial"/>
              </a:rPr>
              <a:t>Others: PNIA, which says who the applicant is; the Payments block, which takes the fee.</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600" b="1" i="0">
                <a:solidFill>
                  <a:srgbClr val="1A1A1A"/>
                </a:solidFill>
                <a:latin typeface="Arial"/>
              </a:rPr>
              <a:t>Starts when: the applicant decides to apply; PHEQA's standards are in force and the fee is set.</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600" b="1" i="0">
                <a:solidFill>
                  <a:srgbClr val="1A1A1A"/>
                </a:solidFill>
                <a:latin typeface="Arial"/>
              </a:rPr>
              <a:t>Guarantee: no application is recorded unless the applicant confirmed it and the fee was paid.</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600" b="1" i="0">
                <a:solidFill>
                  <a:srgbClr val="1A1A1A"/>
                </a:solidFill>
                <a:latin typeface="Arial"/>
              </a:rPr>
              <a:t>Serves: applying through the self-service; the application fee; the particulars the regulations list; a name no registered institution holds.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main story, in nine steps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477520"/>
          </a:xfrm>
          <a:prstGeom prst="rect">
            <a:avLst/>
          </a:prstGeom>
          <a:noFill/>
        </p:spPr>
        <p:txBody>
          <a:bodyPr wrap="square">
            <a:spAutoFit/>
          </a:bodyPr>
          <a:lstStyle/>
          <a:p>
            <a:pPr>
              <a:spcAft>
                <a:spcPts val="300"/>
              </a:spcAft>
            </a:pPr>
            <a:r>
              <a:rPr sz="1700" b="1" i="0">
                <a:solidFill>
                  <a:srgbClr val="1A1A1A"/>
                </a:solidFill>
                <a:latin typeface="Arial"/>
              </a:rPr>
              <a:t>Sign in through PNIA.</a:t>
            </a:r>
          </a:p>
        </p:txBody>
      </p:sp>
      <p:sp>
        <p:nvSpPr>
          <p:cNvPr id="6" name="Rectangle 5"/>
          <p:cNvSpPr/>
          <p:nvPr/>
        </p:nvSpPr>
        <p:spPr>
          <a:xfrm>
            <a:off x="621792" y="19451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0320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1986280"/>
            <a:ext cx="10527487" cy="477520"/>
          </a:xfrm>
          <a:prstGeom prst="rect">
            <a:avLst/>
          </a:prstGeom>
          <a:noFill/>
        </p:spPr>
        <p:txBody>
          <a:bodyPr wrap="square">
            <a:spAutoFit/>
          </a:bodyPr>
          <a:lstStyle/>
          <a:p>
            <a:pPr>
              <a:spcAft>
                <a:spcPts val="300"/>
              </a:spcAft>
            </a:pPr>
            <a:r>
              <a:rPr sz="1700" b="1" i="0">
                <a:solidFill>
                  <a:srgbClr val="1A1A1A"/>
                </a:solidFill>
                <a:latin typeface="Arial"/>
              </a:rPr>
              <a:t>Ask to apply.</a:t>
            </a:r>
          </a:p>
        </p:txBody>
      </p:sp>
      <p:sp>
        <p:nvSpPr>
          <p:cNvPr id="9" name="Rectangle 8"/>
          <p:cNvSpPr/>
          <p:nvPr/>
        </p:nvSpPr>
        <p:spPr>
          <a:xfrm>
            <a:off x="621792" y="24683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5552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509520"/>
            <a:ext cx="10527487" cy="477520"/>
          </a:xfrm>
          <a:prstGeom prst="rect">
            <a:avLst/>
          </a:prstGeom>
          <a:noFill/>
        </p:spPr>
        <p:txBody>
          <a:bodyPr wrap="square">
            <a:spAutoFit/>
          </a:bodyPr>
          <a:lstStyle/>
          <a:p>
            <a:pPr>
              <a:spcAft>
                <a:spcPts val="300"/>
              </a:spcAft>
            </a:pPr>
            <a:r>
              <a:rPr sz="1700" b="1" i="0">
                <a:solidFill>
                  <a:srgbClr val="1A1A1A"/>
                </a:solidFill>
                <a:latin typeface="Arial"/>
              </a:rPr>
              <a:t>The system shows PHEQA's standards, with their version.</a:t>
            </a:r>
          </a:p>
        </p:txBody>
      </p:sp>
      <p:sp>
        <p:nvSpPr>
          <p:cNvPr id="12" name="Rectangle 11"/>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0784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032760"/>
            <a:ext cx="10527487" cy="477520"/>
          </a:xfrm>
          <a:prstGeom prst="rect">
            <a:avLst/>
          </a:prstGeom>
          <a:noFill/>
        </p:spPr>
        <p:txBody>
          <a:bodyPr wrap="square">
            <a:spAutoFit/>
          </a:bodyPr>
          <a:lstStyle/>
          <a:p>
            <a:pPr>
              <a:spcAft>
                <a:spcPts val="300"/>
              </a:spcAft>
            </a:pPr>
            <a:r>
              <a:rPr sz="1700" b="1" i="0">
                <a:solidFill>
                  <a:srgbClr val="1A1A1A"/>
                </a:solidFill>
                <a:latin typeface="Arial"/>
              </a:rPr>
              <a:t>State the kind of institution.</a:t>
            </a:r>
          </a:p>
        </p:txBody>
      </p:sp>
      <p:sp>
        <p:nvSpPr>
          <p:cNvPr id="15" name="Rectangle 14"/>
          <p:cNvSpPr/>
          <p:nvPr/>
        </p:nvSpPr>
        <p:spPr>
          <a:xfrm>
            <a:off x="621792" y="35148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36017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3556000"/>
            <a:ext cx="10527487" cy="477520"/>
          </a:xfrm>
          <a:prstGeom prst="rect">
            <a:avLst/>
          </a:prstGeom>
          <a:noFill/>
        </p:spPr>
        <p:txBody>
          <a:bodyPr wrap="square">
            <a:spAutoFit/>
          </a:bodyPr>
          <a:lstStyle/>
          <a:p>
            <a:pPr>
              <a:spcAft>
                <a:spcPts val="300"/>
              </a:spcAft>
            </a:pPr>
            <a:r>
              <a:rPr sz="1700" b="1" i="0">
                <a:solidFill>
                  <a:srgbClr val="1A1A1A"/>
                </a:solidFill>
                <a:latin typeface="Arial"/>
              </a:rPr>
              <a:t>The system asks for the particulars of that kind.</a:t>
            </a:r>
          </a:p>
        </p:txBody>
      </p:sp>
      <p:sp>
        <p:nvSpPr>
          <p:cNvPr id="18" name="Rectangle 17"/>
          <p:cNvSpPr/>
          <p:nvPr/>
        </p:nvSpPr>
        <p:spPr>
          <a:xfrm>
            <a:off x="621792" y="40380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41249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4079240"/>
            <a:ext cx="10527487" cy="477520"/>
          </a:xfrm>
          <a:prstGeom prst="rect">
            <a:avLst/>
          </a:prstGeom>
          <a:noFill/>
        </p:spPr>
        <p:txBody>
          <a:bodyPr wrap="square">
            <a:spAutoFit/>
          </a:bodyPr>
          <a:lstStyle/>
          <a:p>
            <a:pPr>
              <a:spcAft>
                <a:spcPts val="300"/>
              </a:spcAft>
            </a:pPr>
            <a:r>
              <a:rPr sz="1700" b="1" i="0">
                <a:solidFill>
                  <a:srgbClr val="1A1A1A"/>
                </a:solidFill>
                <a:latin typeface="Arial"/>
              </a:rPr>
              <a:t>Give the proposed name and each particular; attach the evidence of funding.</a:t>
            </a:r>
          </a:p>
        </p:txBody>
      </p:sp>
      <p:sp>
        <p:nvSpPr>
          <p:cNvPr id="21" name="Rectangle 20"/>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1792" y="46482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7</a:t>
            </a:r>
          </a:p>
        </p:txBody>
      </p:sp>
      <p:sp>
        <p:nvSpPr>
          <p:cNvPr id="23" name="TextBox 22"/>
          <p:cNvSpPr txBox="1"/>
          <p:nvPr/>
        </p:nvSpPr>
        <p:spPr>
          <a:xfrm>
            <a:off x="1115568" y="4602480"/>
            <a:ext cx="10527487" cy="477520"/>
          </a:xfrm>
          <a:prstGeom prst="rect">
            <a:avLst/>
          </a:prstGeom>
          <a:noFill/>
        </p:spPr>
        <p:txBody>
          <a:bodyPr wrap="square">
            <a:spAutoFit/>
          </a:bodyPr>
          <a:lstStyle/>
          <a:p>
            <a:pPr>
              <a:spcAft>
                <a:spcPts val="300"/>
              </a:spcAft>
            </a:pPr>
            <a:r>
              <a:rPr sz="1700" b="1" i="0">
                <a:solidFill>
                  <a:srgbClr val="1A1A1A"/>
                </a:solidFill>
                <a:latin typeface="Arial"/>
              </a:rPr>
              <a:t>The system checks every particular, and that no registered institution holds the name.</a:t>
            </a:r>
          </a:p>
        </p:txBody>
      </p:sp>
      <p:sp>
        <p:nvSpPr>
          <p:cNvPr id="24" name="Rectangle 23"/>
          <p:cNvSpPr/>
          <p:nvPr/>
        </p:nvSpPr>
        <p:spPr>
          <a:xfrm>
            <a:off x="621792" y="50845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21792" y="51714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8</a:t>
            </a:r>
          </a:p>
        </p:txBody>
      </p:sp>
      <p:sp>
        <p:nvSpPr>
          <p:cNvPr id="26" name="TextBox 25"/>
          <p:cNvSpPr txBox="1"/>
          <p:nvPr/>
        </p:nvSpPr>
        <p:spPr>
          <a:xfrm>
            <a:off x="1115568" y="5125720"/>
            <a:ext cx="10527487" cy="477520"/>
          </a:xfrm>
          <a:prstGeom prst="rect">
            <a:avLst/>
          </a:prstGeom>
          <a:noFill/>
        </p:spPr>
        <p:txBody>
          <a:bodyPr wrap="square">
            <a:spAutoFit/>
          </a:bodyPr>
          <a:lstStyle/>
          <a:p>
            <a:pPr>
              <a:spcAft>
                <a:spcPts val="300"/>
              </a:spcAft>
            </a:pPr>
            <a:r>
              <a:rPr sz="1700" b="1" i="0">
                <a:solidFill>
                  <a:srgbClr val="1A1A1A"/>
                </a:solidFill>
                <a:latin typeface="Arial"/>
              </a:rPr>
              <a:t>Confirm and pay the fee.</a:t>
            </a:r>
          </a:p>
        </p:txBody>
      </p:sp>
      <p:sp>
        <p:nvSpPr>
          <p:cNvPr id="27" name="Rectangle 26"/>
          <p:cNvSpPr/>
          <p:nvPr/>
        </p:nvSpPr>
        <p:spPr>
          <a:xfrm>
            <a:off x="621792" y="56078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21792" y="56946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9</a:t>
            </a:r>
          </a:p>
        </p:txBody>
      </p:sp>
      <p:sp>
        <p:nvSpPr>
          <p:cNvPr id="29" name="TextBox 28"/>
          <p:cNvSpPr txBox="1"/>
          <p:nvPr/>
        </p:nvSpPr>
        <p:spPr>
          <a:xfrm>
            <a:off x="1115568" y="5648960"/>
            <a:ext cx="10527487" cy="477520"/>
          </a:xfrm>
          <a:prstGeom prst="rect">
            <a:avLst/>
          </a:prstGeom>
          <a:noFill/>
        </p:spPr>
        <p:txBody>
          <a:bodyPr wrap="square">
            <a:spAutoFit/>
          </a:bodyPr>
          <a:lstStyle/>
          <a:p>
            <a:pPr>
              <a:spcAft>
                <a:spcPts val="300"/>
              </a:spcAft>
            </a:pPr>
            <a:r>
              <a:rPr sz="1700" b="1" i="0">
                <a:solidFill>
                  <a:srgbClr val="1A1A1A"/>
                </a:solidFill>
                <a:latin typeface="Arial"/>
              </a:rPr>
              <a:t>The system records the application and shows the date received.</a:t>
            </a:r>
          </a:p>
        </p:txBody>
      </p:sp>
      <p:sp>
        <p:nvSpPr>
          <p:cNvPr id="30" name="TextBox 2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published picture leaves to you</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The Registration specification: an analyst creates the screens, their order and their fields; an operator approves, rejects or sends back for correction.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Your story: which particulars, from which list, checked against which register, at which fee, with which guarantee.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Before you accept a story</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Read it aloud to the official who runs the counter.</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At each step ask: who does this, and where does what they see come from?</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A step that serves no entry is struck out, or becomes a question with an owner.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builder must not have to work anything out or ask anybody anything.</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main story of one goal from what was asked.</a:t>
            </a:r>
          </a:p>
          <a:p>
            <a:pPr algn="l">
              <a:spcAft>
                <a:spcPts val="400"/>
              </a:spcAft>
            </a:pPr>
            <a:r>
              <a:rPr sz="1800" b="0" i="0">
                <a:solidFill>
                  <a:srgbClr val="595959"/>
                </a:solidFill>
                <a:latin typeface="Arial"/>
              </a:rPr>
              <a:t>The prompt in the companion material gives you the main story of one goal, step by step, with every assumption marked for confirmation.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edition 23Q4 (version history to 1.0), sections 6.3.2.1, 6.3.2.2 and 6.2.3</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