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2" r:id="rId64"/>
    <p:sldId id="2743" r:id="rId65"/>
    <p:sldId id="2744" r:id="rId66"/>
    <p:sldId id="2745" r:id="rId67"/>
    <p:sldId id="2746" r:id="rId68"/>
    <p:sldId id="2747" r:id="rId69"/>
    <p:sldId id="2748" r:id="rId70"/>
    <p:sldId id="2749" r:id="rId71"/>
    <p:sldId id="27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review that ends with 'we will look into it' has decided nothing. The review you convene for a goal's screens ends with a record: every open question, the person who owns it, and the date it is due.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people sit at the review. The owner of the screens answers for what the documents say. The builder says whether he can build each screen without asking anybody anything. And the person who will live with the result says whether the screens are her work as she does it. At PHEQA, those are the supplier's analyst, the supplier's builder and the head of the registration desk. The Registrar convenes the meeting and accepts its record, but takes no seat.</a:t>
            </a:r>
          </a:p>
          <a:p/>
          <a:p>
            <a:r>
              <a:t>Slide specification: Roles, never persons. The governance structure of the review, in text.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convener opens with four questions. Does every screen serve a step or a failure of the story, and is every step and failure served? Does every value say where it comes from? Could the builder build each screen without asking anybody anything? Would the person who will use it recognise it as her work? Then the person from the desk holds the mouse and clicks through the walk-through, page by page.</a:t>
            </a:r>
          </a:p>
          <a:p/>
          <a:p>
            <a:r>
              <a:t>Slide specification: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review of the licence screens took one hour. Its record holds five open lines. Show the fee on the second screen as well. Decide whether a name held by an institution whose licence was cancelled is still held. List the members of the governing board one to a line. Decide what the screen may say when PNIA does not answer. Check whether anyone asked for a printed confirmation. Every line has a named owner and a date.</a:t>
            </a:r>
          </a:p>
          <a:p/>
          <a:p>
            <a:r>
              <a:t>Slide specification: The dates are invented, as every date of the worked example 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the meeting, the owner changes the screens for the lines that are his, and the walk-through is produced again. Each other answer is written into the document that owns the fact: the shared lists and settings, the architecture, or the register of requirements. If the room cannot name an owner for a line, the record says: owner to be named by the Registrar. She names one before she accepts the screens. She accepts them when every line is closed, or allowed to stay open with its owner.</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GovStack's reference architecture for public administration, gives a section to digital co-creation. It says a transformation has a higher chance of success when it is done within the local digital ecosystem, and it recommends robust project governance and stage gates. The review is a gate of that kind for one goal. Before you accept its record, count the open lines and the owners. A record with no open lines usually means the review was not held, or nobody spoke.</a:t>
            </a:r>
          </a:p>
          <a:p/>
          <a:p>
            <a:r>
              <a:t>Slide specification: Quoted word for word from the GovStack policy recommendations under the heading 'IT Project' of PAERA v1.0, section 4.5,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Seat the owner, the builder and the person who will use the service. End with every open line written down, each with a name and a date.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review: three people, every open line given a name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owner, the builder and the person who will live with the result agree the screens; nothing leaves the room unowned.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look into it" decides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review you convene ends with a record:</a:t>
            </a:r>
          </a:p>
          <a:p>
            <a:pPr>
              <a:spcAft>
                <a:spcPts val="800"/>
              </a:spcAft>
            </a:pPr>
            <a:r>
              <a:rPr sz="1700" b="0" i="0">
                <a:solidFill>
                  <a:srgbClr val="595959"/>
                </a:solidFill>
                <a:latin typeface="Arial"/>
              </a:rPr>
              <a:t>every open question, the person who owns it, and the date it is due.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seats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owner</a:t>
            </a:r>
          </a:p>
          <a:p>
            <a:pPr>
              <a:spcAft>
                <a:spcPts val="300"/>
              </a:spcAft>
            </a:pPr>
            <a:r>
              <a:rPr sz="1550" b="0" i="0">
                <a:solidFill>
                  <a:srgbClr val="595959"/>
                </a:solidFill>
                <a:latin typeface="Arial"/>
              </a:rPr>
              <a:t>answers for what the documents say.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builder</a:t>
            </a:r>
          </a:p>
          <a:p>
            <a:pPr>
              <a:spcAft>
                <a:spcPts val="300"/>
              </a:spcAft>
            </a:pPr>
            <a:r>
              <a:rPr sz="1550" b="0" i="0">
                <a:solidFill>
                  <a:srgbClr val="595959"/>
                </a:solidFill>
                <a:latin typeface="Arial"/>
              </a:rPr>
              <a:t>says whether he can build without asking anything.</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person who will live with the result</a:t>
            </a:r>
          </a:p>
          <a:p>
            <a:pPr>
              <a:spcAft>
                <a:spcPts val="300"/>
              </a:spcAft>
            </a:pPr>
            <a:r>
              <a:rPr sz="1550" b="0" i="0">
                <a:solidFill>
                  <a:srgbClr val="595959"/>
                </a:solidFill>
                <a:latin typeface="Arial"/>
              </a:rPr>
              <a:t>says whether the screens are her work as she does it.</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convener accepts the record and takes no seat.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every review of screens puts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31570"/>
          </a:xfrm>
          <a:prstGeom prst="rect">
            <a:avLst/>
          </a:prstGeom>
          <a:noFill/>
        </p:spPr>
        <p:txBody>
          <a:bodyPr wrap="square">
            <a:spAutoFit/>
          </a:bodyPr>
          <a:lstStyle/>
          <a:p>
            <a:pPr>
              <a:spcAft>
                <a:spcPts val="300"/>
              </a:spcAft>
            </a:pPr>
            <a:r>
              <a:rPr sz="1900" b="1" i="0">
                <a:solidFill>
                  <a:srgbClr val="1A1A1A"/>
                </a:solidFill>
                <a:latin typeface="Arial"/>
              </a:rPr>
              <a:t>Does every screen serve a step or a failure, and is every one served?</a:t>
            </a:r>
          </a:p>
        </p:txBody>
      </p:sp>
      <p:sp>
        <p:nvSpPr>
          <p:cNvPr id="6" name="Rectangle 5"/>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8605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40330"/>
            <a:ext cx="10527487" cy="1131570"/>
          </a:xfrm>
          <a:prstGeom prst="rect">
            <a:avLst/>
          </a:prstGeom>
          <a:noFill/>
        </p:spPr>
        <p:txBody>
          <a:bodyPr wrap="square">
            <a:spAutoFit/>
          </a:bodyPr>
          <a:lstStyle/>
          <a:p>
            <a:pPr>
              <a:spcAft>
                <a:spcPts val="300"/>
              </a:spcAft>
            </a:pPr>
            <a:r>
              <a:rPr sz="1900" b="1" i="0">
                <a:solidFill>
                  <a:srgbClr val="1A1A1A"/>
                </a:solidFill>
                <a:latin typeface="Arial"/>
              </a:rPr>
              <a:t>Does every value say where it comes from?</a:t>
            </a:r>
          </a:p>
        </p:txBody>
      </p:sp>
      <p:sp>
        <p:nvSpPr>
          <p:cNvPr id="9" name="Rectangle 8"/>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63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17620"/>
            <a:ext cx="10527487" cy="1131570"/>
          </a:xfrm>
          <a:prstGeom prst="rect">
            <a:avLst/>
          </a:prstGeom>
          <a:noFill/>
        </p:spPr>
        <p:txBody>
          <a:bodyPr wrap="square">
            <a:spAutoFit/>
          </a:bodyPr>
          <a:lstStyle/>
          <a:p>
            <a:pPr>
              <a:spcAft>
                <a:spcPts val="300"/>
              </a:spcAft>
            </a:pPr>
            <a:r>
              <a:rPr sz="1900" b="1" i="0">
                <a:solidFill>
                  <a:srgbClr val="1A1A1A"/>
                </a:solidFill>
                <a:latin typeface="Arial"/>
              </a:rPr>
              <a:t>Could the builder build each screen without asking anybody anything?</a:t>
            </a:r>
          </a:p>
        </p:txBody>
      </p:sp>
      <p:sp>
        <p:nvSpPr>
          <p:cNvPr id="12" name="Rectangle 11"/>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4063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94910"/>
            <a:ext cx="10527487" cy="1131570"/>
          </a:xfrm>
          <a:prstGeom prst="rect">
            <a:avLst/>
          </a:prstGeom>
          <a:noFill/>
        </p:spPr>
        <p:txBody>
          <a:bodyPr wrap="square">
            <a:spAutoFit/>
          </a:bodyPr>
          <a:lstStyle/>
          <a:p>
            <a:pPr>
              <a:spcAft>
                <a:spcPts val="300"/>
              </a:spcAft>
            </a:pPr>
            <a:r>
              <a:rPr sz="1900" b="1" i="0">
                <a:solidFill>
                  <a:srgbClr val="1A1A1A"/>
                </a:solidFill>
                <a:latin typeface="Arial"/>
              </a:rPr>
              <a:t>Would the person who will use it recognise it as her work?</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hour, five open lines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Show the fee on S2 as well as S4</a:t>
            </a:r>
          </a:p>
          <a:p>
            <a:pPr>
              <a:spcAft>
                <a:spcPts val="300"/>
              </a:spcAft>
            </a:pPr>
            <a:r>
              <a:rPr sz="1550" b="0" i="0">
                <a:solidFill>
                  <a:srgbClr val="595959"/>
                </a:solidFill>
                <a:latin typeface="Arial"/>
              </a:rPr>
              <a:t>the supplier's analyst  ·  26 November.</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Is a name held by a cancelled institution still held?</a:t>
            </a:r>
          </a:p>
          <a:p>
            <a:pPr>
              <a:spcAft>
                <a:spcPts val="300"/>
              </a:spcAft>
            </a:pPr>
            <a:r>
              <a:rPr sz="1550" b="0" i="0">
                <a:solidFill>
                  <a:srgbClr val="595959"/>
                </a:solidFill>
                <a:latin typeface="Arial"/>
              </a:rPr>
              <a:t>the Registrar  ·  3 December.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The governing board, one member to a line</a:t>
            </a:r>
          </a:p>
          <a:p>
            <a:pPr>
              <a:spcAft>
                <a:spcPts val="300"/>
              </a:spcAft>
            </a:pPr>
            <a:r>
              <a:rPr sz="1550" b="0" i="0">
                <a:solidFill>
                  <a:srgbClr val="595959"/>
                </a:solidFill>
                <a:latin typeface="Arial"/>
              </a:rPr>
              <a:t>the supplier's analyst  ·  26 November.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What may the screen say when PNIA does not answer?</a:t>
            </a:r>
          </a:p>
          <a:p>
            <a:pPr>
              <a:spcAft>
                <a:spcPts val="300"/>
              </a:spcAft>
            </a:pPr>
            <a:r>
              <a:rPr sz="1550" b="0" i="0">
                <a:solidFill>
                  <a:srgbClr val="595959"/>
                </a:solidFill>
                <a:latin typeface="Arial"/>
              </a:rPr>
              <a:t>the head of the ICT unit  ·  3 December.</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Is a printed confirmation asked for anywhere?</a:t>
            </a:r>
          </a:p>
          <a:p>
            <a:pPr>
              <a:spcAft>
                <a:spcPts val="300"/>
              </a:spcAft>
            </a:pPr>
            <a:r>
              <a:rPr sz="1550" b="0" i="0">
                <a:solidFill>
                  <a:srgbClr val="595959"/>
                </a:solidFill>
                <a:latin typeface="Arial"/>
              </a:rPr>
              <a:t>the Registrar  ·  26 November.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After the room</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Screens changed by their owner; the walk-through produced again.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Each answer written into the document that owns the fact.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Accepted when every line is closed, or allowed to stay open with its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Working together, through a gate</a:t>
            </a:r>
          </a:p>
        </p:txBody>
      </p:sp>
      <p:sp>
        <p:nvSpPr>
          <p:cNvPr id="4" name="TextBox 3"/>
          <p:cNvSpPr txBox="1"/>
          <p:nvPr/>
        </p:nvSpPr>
        <p:spPr>
          <a:xfrm>
            <a:off x="658368" y="1463040"/>
            <a:ext cx="10984687" cy="1234440"/>
          </a:xfrm>
          <a:prstGeom prst="rect">
            <a:avLst/>
          </a:prstGeom>
          <a:noFill/>
        </p:spPr>
        <p:txBody>
          <a:bodyPr wrap="square">
            <a:spAutoFit/>
          </a:bodyPr>
          <a:lstStyle/>
          <a:p>
            <a:pPr>
              <a:spcAft>
                <a:spcPts val="300"/>
              </a:spcAft>
            </a:pPr>
            <a:r>
              <a:rPr sz="2200" b="1" i="0">
                <a:solidFill>
                  <a:srgbClr val="1A1A1A"/>
                </a:solidFill>
                <a:latin typeface="Arial"/>
              </a:rPr>
              <a:t>“Robust project governance frameworks.”</a:t>
            </a:r>
          </a:p>
          <a:p>
            <a:pPr>
              <a:spcAft>
                <a:spcPts val="300"/>
              </a:spcAft>
            </a:pPr>
            <a:r>
              <a:rPr sz="1550" b="0" i="0">
                <a:solidFill>
                  <a:srgbClr val="595959"/>
                </a:solidFill>
                <a:latin typeface="Arial"/>
              </a:rPr>
              <a:t>PAERA, section 4.5, Digital Co-creation</a:t>
            </a:r>
          </a:p>
        </p:txBody>
      </p:sp>
      <p:sp>
        <p:nvSpPr>
          <p:cNvPr id="5" name="Rectangle 4"/>
          <p:cNvSpPr/>
          <p:nvPr/>
        </p:nvSpPr>
        <p:spPr>
          <a:xfrm>
            <a:off x="621792" y="2702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10984687" cy="1234440"/>
          </a:xfrm>
          <a:prstGeom prst="rect">
            <a:avLst/>
          </a:prstGeom>
          <a:noFill/>
        </p:spPr>
        <p:txBody>
          <a:bodyPr wrap="square">
            <a:spAutoFit/>
          </a:bodyPr>
          <a:lstStyle/>
          <a:p>
            <a:pPr>
              <a:spcAft>
                <a:spcPts val="300"/>
              </a:spcAft>
            </a:pPr>
            <a:r>
              <a:rPr sz="2200" b="1" i="0">
                <a:solidFill>
                  <a:srgbClr val="1A1A1A"/>
                </a:solidFill>
                <a:latin typeface="Arial"/>
              </a:rPr>
              <a:t>“Stage-gate models with agile iterations.”</a:t>
            </a:r>
          </a:p>
          <a:p>
            <a:pPr>
              <a:spcAft>
                <a:spcPts val="300"/>
              </a:spcAft>
            </a:pPr>
            <a:r>
              <a:rPr sz="1550" b="0" i="0">
                <a:solidFill>
                  <a:srgbClr val="595959"/>
                </a:solidFill>
                <a:latin typeface="Arial"/>
              </a:rPr>
              <a:t>PAERA, section 4.5, Digital Co-creation</a:t>
            </a:r>
          </a:p>
        </p:txBody>
      </p:sp>
      <p:sp>
        <p:nvSpPr>
          <p:cNvPr id="7" name="TextBox 6"/>
          <p:cNvSpPr txBox="1"/>
          <p:nvPr/>
        </p:nvSpPr>
        <p:spPr>
          <a:xfrm>
            <a:off x="658368" y="4133088"/>
            <a:ext cx="10881360" cy="548640"/>
          </a:xfrm>
          <a:prstGeom prst="rect">
            <a:avLst/>
          </a:prstGeom>
          <a:noFill/>
        </p:spPr>
        <p:txBody>
          <a:bodyPr wrap="square">
            <a:spAutoFit/>
          </a:bodyPr>
          <a:lstStyle/>
          <a:p>
            <a:r>
              <a:rPr sz="1550" b="1" i="0">
                <a:solidFill>
                  <a:srgbClr val="006E96"/>
                </a:solidFill>
                <a:latin typeface="Arial"/>
              </a:rPr>
              <a:t>The review is that gate for one goal.</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owner, the builder and the person who will live with the result agree the screens; nothing leaves the room unowned.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review notes into open lines with owners and dates.</a:t>
            </a:r>
          </a:p>
          <a:p>
            <a:pPr algn="l">
              <a:spcAft>
                <a:spcPts val="400"/>
              </a:spcAft>
            </a:pPr>
            <a:r>
              <a:rPr sz="1800" b="0" i="0">
                <a:solidFill>
                  <a:srgbClr val="595959"/>
                </a:solidFill>
                <a:latin typeface="Arial"/>
              </a:rPr>
              <a:t>The prompt in the companion material gives you a list of open lines, each with an owner and a date.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version 1.0 (GovStack, 25.05.2024), section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