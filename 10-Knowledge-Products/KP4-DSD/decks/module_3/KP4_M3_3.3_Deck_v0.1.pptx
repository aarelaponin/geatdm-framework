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5" r:id="rId37"/>
    <p:sldId id="2716" r:id="rId38"/>
    <p:sldId id="2717" r:id="rId39"/>
    <p:sldId id="2718" r:id="rId40"/>
    <p:sldId id="2719" r:id="rId41"/>
    <p:sldId id="2720" r:id="rId42"/>
    <p:sldId id="2721" r:id="rId43"/>
    <p:sldId id="2722" r:id="rId44"/>
    <p:sldId id="2723" r:id="rId45"/>
    <p:sldId id="272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7" Type="http://schemas.openxmlformats.org/officeDocument/2006/relationships/slide" Target="slides/slide3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screen designed from a list of fields shows everything and explains nothing. A screen worked out from the story shows what a person needs at that step, and says where each value on it comes from.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screens are worked out after the story is written, by walking it step by step. A step where the person asks, states, gives or confirms something gets a screen. A step that is wholly the system's gets a screen only if it shows something the person must read before going on. Two steps share a screen when nothing the system does stands between them. So every screen serves a step, and you can say which one.</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value on every screen comes from one of four places. It is taken from another body, such as the identity authority or the Payments block. It is chosen from a list kept once for the whole service. It is read from a record or a setting the authority already keeps. Or it is entered here, typed by the person, and then the screen record says why no other place has it.</a:t>
            </a:r>
          </a:p>
          <a:p/>
          <a:p>
            <a:r>
              <a:t>Slide specification: The core payload. Kept on screen while the voice-over names each source.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PHEQA's goal, to apply for a provisional licence, has five screens. The first asks to apply. The second shows PHEQA's standards and asks for the kind of institution. The third takes the particulars, and also serves two failures: a document left out, and a name already held. The fourth confirms and takes the fee. The fifth shows the application received. Each screen names the steps and the failures it serves.</a:t>
            </a:r>
          </a:p>
          <a:p/>
          <a:p>
            <a:r>
              <a:t>Slide specification: Screen labels S1 to S5 as the worked example gives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point at values. The applicant's name is taken from PNIA's sign-in; nobody types it. The kind of institution is chosen from PHEQA's shared list of three, kept once in the shared groundwork and re-used by every goal that asks for a kind. The fee is read from the setting that PHEQA's finance officer owns. The proposed name is entered here, because no other body knows it yet, and it is checked against the register of institutions.</a:t>
            </a:r>
          </a:p>
          <a:p/>
          <a:p>
            <a:r>
              <a:t>Slide specification: The drawn version, a screen with the source of every value, is figure F9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describes the same work from the builder's side. An analyst creates the screens and their order: a guide, the applicant's form, the upload of documents, the payment, and a send screen. Each field has a name, a type, and whether it must be filled. Lists, which the specification calls catalogues, are reusable across all services in the same installation. Progressa's five screens follow much the same order.</a:t>
            </a:r>
          </a:p>
          <a:p/>
          <a:p>
            <a:r>
              <a:t>Slide specification: Paraphrased from sections 6.3.2.1 and 6.3.2.2; the five screens are named in the specification's order.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screens are checked against four lists the story wrote: its steps, its failures, the records it reads or changes, and the settings and lists it uses. In Progressa's first draft, the third screen asked for the applicant's phone number. No list of the story names it, and PNIA does not release it. It was struck out, and a question went to the Registrar: does PHEQA need to telephone an applicant?</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Point at any value on any screen and ask where it comes from. There should be one of four answers. Anything else is a question for the story's owner.</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Screens worked out from the story, every value with its source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Each screen serves a step; each value on it says where it comes from.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screen built from a list of fields explains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screen worked out from the story shows what a person needs at that step.</a:t>
            </a:r>
          </a:p>
          <a:p>
            <a:pPr>
              <a:spcAft>
                <a:spcPts val="800"/>
              </a:spcAft>
            </a:pPr>
            <a:r>
              <a:rPr sz="1700" b="0" i="0">
                <a:solidFill>
                  <a:srgbClr val="595959"/>
                </a:solidFill>
                <a:latin typeface="Arial"/>
              </a:rPr>
              <a:t>And it says where each value on it comes from.</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Walk the story, not the list of records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 step where the person asks, states, gives or confirms something gets a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step that is wholly the system's gets one only if the person must read something.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Two steps share a screen when nothing the system does stands between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value has one of four sources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Taken from another body.</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Chosen from a list.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Read from what the authority keeps.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Entered here, with the reason no other place has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five screens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S1</a:t>
            </a:r>
          </a:p>
          <a:p>
            <a:pPr>
              <a:spcAft>
                <a:spcPts val="300"/>
              </a:spcAft>
            </a:pPr>
            <a:r>
              <a:rPr sz="1550" b="0" i="0">
                <a:solidFill>
                  <a:srgbClr val="595959"/>
                </a:solidFill>
                <a:latin typeface="Arial"/>
              </a:rPr>
              <a:t>Ask to apply for a provisional licence (step 2).</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S2</a:t>
            </a:r>
          </a:p>
          <a:p>
            <a:pPr>
              <a:spcAft>
                <a:spcPts val="300"/>
              </a:spcAft>
            </a:pPr>
            <a:r>
              <a:rPr sz="1550" b="0" i="0">
                <a:solidFill>
                  <a:srgbClr val="595959"/>
                </a:solidFill>
                <a:latin typeface="Arial"/>
              </a:rPr>
              <a:t>Read PHEQA's standards and state the kind of institution (steps 3 and 4).</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S3</a:t>
            </a:r>
          </a:p>
          <a:p>
            <a:pPr>
              <a:spcAft>
                <a:spcPts val="300"/>
              </a:spcAft>
            </a:pPr>
            <a:r>
              <a:rPr sz="1550" b="0" i="0">
                <a:solidFill>
                  <a:srgbClr val="595959"/>
                </a:solidFill>
                <a:latin typeface="Arial"/>
              </a:rPr>
              <a:t>Give the particulars (steps 5 and 6, and two failures).</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S4</a:t>
            </a:r>
          </a:p>
          <a:p>
            <a:pPr>
              <a:spcAft>
                <a:spcPts val="300"/>
              </a:spcAft>
            </a:pPr>
            <a:r>
              <a:rPr sz="1550" b="0" i="0">
                <a:solidFill>
                  <a:srgbClr val="595959"/>
                </a:solidFill>
                <a:latin typeface="Arial"/>
              </a:rPr>
              <a:t>Confirm and pay (step 8, and one failure).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S5</a:t>
            </a:r>
          </a:p>
          <a:p>
            <a:pPr>
              <a:spcAft>
                <a:spcPts val="300"/>
              </a:spcAft>
            </a:pPr>
            <a:r>
              <a:rPr sz="1550" b="0" i="0">
                <a:solidFill>
                  <a:srgbClr val="595959"/>
                </a:solidFill>
                <a:latin typeface="Arial"/>
              </a:rPr>
              <a:t>See the application received (step 9).</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each value comes from</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applicant's name</a:t>
            </a:r>
          </a:p>
          <a:p>
            <a:pPr>
              <a:spcAft>
                <a:spcPts val="300"/>
              </a:spcAft>
            </a:pPr>
            <a:r>
              <a:rPr sz="1550" b="0" i="0">
                <a:solidFill>
                  <a:srgbClr val="595959"/>
                </a:solidFill>
                <a:latin typeface="Arial"/>
              </a:rPr>
              <a:t>taken from PNIA's sign-in.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kind of institution</a:t>
            </a:r>
          </a:p>
          <a:p>
            <a:pPr>
              <a:spcAft>
                <a:spcPts val="300"/>
              </a:spcAft>
            </a:pPr>
            <a:r>
              <a:rPr sz="1550" b="0" i="0">
                <a:solidFill>
                  <a:srgbClr val="595959"/>
                </a:solidFill>
                <a:latin typeface="Arial"/>
              </a:rPr>
              <a:t>chosen from PHEQA's shared list: university, university college, technical institute.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fee due</a:t>
            </a:r>
          </a:p>
          <a:p>
            <a:pPr>
              <a:spcAft>
                <a:spcPts val="300"/>
              </a:spcAft>
            </a:pPr>
            <a:r>
              <a:rPr sz="1550" b="0" i="0">
                <a:solidFill>
                  <a:srgbClr val="595959"/>
                </a:solidFill>
                <a:latin typeface="Arial"/>
              </a:rPr>
              <a:t>read from the setting PHEQA's finance officer owns.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proposed name</a:t>
            </a:r>
          </a:p>
          <a:p>
            <a:pPr>
              <a:spcAft>
                <a:spcPts val="300"/>
              </a:spcAft>
            </a:pPr>
            <a:r>
              <a:rPr sz="1550" b="0" i="0">
                <a:solidFill>
                  <a:srgbClr val="595959"/>
                </a:solidFill>
                <a:latin typeface="Arial"/>
              </a:rPr>
              <a:t>entered here, then checked against the register of institutions.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published picture of screens and fields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Screens in order: a guide, the applicant's form, the upload of documents, the payment, and a send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Each field: a name, a type, and whether it must be filled. Lists are reusable across all services in the same installation.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against the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step and every failure is served by a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value comes from a record, setting or list the story names.</a:t>
            </a:r>
          </a:p>
        </p:txBody>
      </p:sp>
      <p:sp>
        <p:nvSpPr>
          <p:cNvPr id="7" name="TextBox 6"/>
          <p:cNvSpPr txBox="1"/>
          <p:nvPr/>
        </p:nvSpPr>
        <p:spPr>
          <a:xfrm>
            <a:off x="658368" y="3675887"/>
            <a:ext cx="10881360" cy="548640"/>
          </a:xfrm>
          <a:prstGeom prst="rect">
            <a:avLst/>
          </a:prstGeom>
          <a:noFill/>
        </p:spPr>
        <p:txBody>
          <a:bodyPr wrap="square">
            <a:spAutoFit/>
          </a:bodyPr>
          <a:lstStyle/>
          <a:p>
            <a:r>
              <a:rPr sz="1550" b="1" i="0">
                <a:solidFill>
                  <a:srgbClr val="006E96"/>
                </a:solidFill>
                <a:latin typeface="Arial"/>
              </a:rPr>
              <a:t>Struck out: the applicant's phone number, which no list names.</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Each screen serves a step; each value on it says where it comes from.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the screens of a story and the source of every value.</a:t>
            </a:r>
          </a:p>
          <a:p>
            <a:pPr algn="l">
              <a:spcAft>
                <a:spcPts val="400"/>
              </a:spcAft>
            </a:pPr>
            <a:r>
              <a:rPr sz="1800" b="0" i="0">
                <a:solidFill>
                  <a:srgbClr val="595959"/>
                </a:solidFill>
                <a:latin typeface="Arial"/>
              </a:rPr>
              <a:t>The prompt in the companion material gives you a table of screens, one for each step that needs one, with the source of every value and the values with no source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6.3.2.1 and 6.3.2.2</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