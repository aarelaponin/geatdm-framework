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53" r:id="rId75"/>
    <p:sldId id="2754" r:id="rId76"/>
    <p:sldId id="2755" r:id="rId77"/>
    <p:sldId id="2756" r:id="rId78"/>
    <p:sldId id="2757" r:id="rId79"/>
    <p:sldId id="2758" r:id="rId80"/>
    <p:sldId id="2759" r:id="rId81"/>
    <p:sldId id="2760" r:id="rId82"/>
    <p:sldId id="2761"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 Id="rId83" Type="http://schemas.openxmlformats.org/officeDocument/2006/relationships/slide" Target="slides/slide6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document is accepted, every check reports a pass, and the application is installed. One question is still open: can an officer finish a real task on it? Only a person on the running service can answer, and the answer must be recorded.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Most checks in the SDD method read documents. They compare a screen with its story, or the model with the interaction design. Those checks are needed, and they say nothing about whether the service works for the person at the counter. A pass on a document is not a working counter. So the method's third rule is that at least one check ends on the running system. A person goes through a real task on the installed application, and the run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check is written as a journey. A journey starts where an officer really starts: at a menu entry, signed in with a real role. It goes through the real screens, step by step, as the goal's story says. And it states exactly what counts as finished. A program can drive a journey through the screens, but the journey is written from the story your officials agreed, not from the screens the supplier built. The same journey is a story the business side recognises and a test the builder can run.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the journey is the approval of a change of an institution's name. A test officer of MoEYS signs in with the minister's role. In the category Names, the list and reviews, she opens the list of advices that await a decision, and chooses the one on Harbourview University College. She reads PHEQA's advice, and the college as PHEQA's register shows it. She approves the new name. The journey is finished when the approval is recorded and sent to PHEQA.</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record of the run is the evidence of acceptance. It names the journey, the installation it ran on and the time, with the result of each step. A journey that was written and never run is reported as not run, never as passed. A journey that stopped at step three is reported as stopped at step three. The minister signs on records of what happened, not on descriptions of what should. Keep each record with the acceptance file.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shows this journey on MoEYS's running application, with the record of the run beside it. It passes when the journey ends on the recorded approval, and the record names the journey, the installation and the time. Until MoEYS's application is generated, this is a storyboard: written now, and recorded when the application runs.</a:t>
            </a:r>
          </a:p>
          <a:p/>
          <a:p>
            <a:r>
              <a:t>Production cue: demonstration segment, a storyboard until it is recorded (in the bundle: section 4.12).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Acceptance ends with a person finishing a real task on the running service. Keep the record of the run; a journey not run is not passed.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s>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5.7</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Proof on the running system: a task a person finishes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last check is a person finishing a real task on the running service, and the record that they did.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 check reports a pass. Can an officer finish a real task?</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Every document is accepted, and the application is installed.</a:t>
            </a:r>
          </a:p>
          <a:p>
            <a:pPr>
              <a:spcAft>
                <a:spcPts val="800"/>
              </a:spcAft>
            </a:pPr>
            <a:r>
              <a:rPr sz="1700" b="0" i="0">
                <a:solidFill>
                  <a:srgbClr val="595959"/>
                </a:solidFill>
                <a:latin typeface="Arial"/>
              </a:rPr>
              <a:t>Only a person on the running service can answer, and the answer must be recorded.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third rule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check of a document is not a check of the service.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At least one check ends on the running system.</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A person finishes a real task, and the run is recorded.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journey, written before it is run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Where it starts</a:t>
            </a:r>
          </a:p>
          <a:p>
            <a:pPr>
              <a:spcAft>
                <a:spcPts val="300"/>
              </a:spcAft>
            </a:pPr>
            <a:r>
              <a:rPr sz="1600" b="0" i="0">
                <a:solidFill>
                  <a:srgbClr val="595959"/>
                </a:solidFill>
                <a:latin typeface="Arial"/>
              </a:rPr>
              <a:t>a menu entry, and the role signed in.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The steps</a:t>
            </a:r>
          </a:p>
          <a:p>
            <a:pPr>
              <a:spcAft>
                <a:spcPts val="300"/>
              </a:spcAft>
            </a:pPr>
            <a:r>
              <a:rPr sz="1600" b="0" i="0">
                <a:solidFill>
                  <a:srgbClr val="595959"/>
                </a:solidFill>
                <a:latin typeface="Arial"/>
              </a:rPr>
              <a:t>each screen, and what the person does there.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What counts as finished.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approving a change of name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896112"/>
          </a:xfrm>
          <a:prstGeom prst="rect">
            <a:avLst/>
          </a:prstGeom>
          <a:noFill/>
        </p:spPr>
        <p:txBody>
          <a:bodyPr wrap="square">
            <a:spAutoFit/>
          </a:bodyPr>
          <a:lstStyle/>
          <a:p>
            <a:pPr>
              <a:spcAft>
                <a:spcPts val="300"/>
              </a:spcAft>
            </a:pPr>
            <a:r>
              <a:rPr sz="1900" b="1" i="0">
                <a:solidFill>
                  <a:srgbClr val="1A1A1A"/>
                </a:solidFill>
                <a:latin typeface="Arial"/>
              </a:rPr>
              <a:t>Sign in to MoEYS's application with the minister's role.</a:t>
            </a:r>
          </a:p>
        </p:txBody>
      </p:sp>
      <p:sp>
        <p:nvSpPr>
          <p:cNvPr id="6" name="Rectangle 5"/>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45059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404872"/>
            <a:ext cx="10527487" cy="896112"/>
          </a:xfrm>
          <a:prstGeom prst="rect">
            <a:avLst/>
          </a:prstGeom>
          <a:noFill/>
        </p:spPr>
        <p:txBody>
          <a:bodyPr wrap="square">
            <a:spAutoFit/>
          </a:bodyPr>
          <a:lstStyle/>
          <a:p>
            <a:pPr>
              <a:spcAft>
                <a:spcPts val="300"/>
              </a:spcAft>
            </a:pPr>
            <a:r>
              <a:rPr sz="1900" b="1" i="0">
                <a:solidFill>
                  <a:srgbClr val="1A1A1A"/>
                </a:solidFill>
                <a:latin typeface="Arial"/>
              </a:rPr>
              <a:t>Open Names, the list and reviews; choose the advice on Harbourview University College.</a:t>
            </a:r>
          </a:p>
        </p:txBody>
      </p:sp>
      <p:sp>
        <p:nvSpPr>
          <p:cNvPr id="9" name="Rectangle 8"/>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39242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346704"/>
            <a:ext cx="10527487" cy="896112"/>
          </a:xfrm>
          <a:prstGeom prst="rect">
            <a:avLst/>
          </a:prstGeom>
          <a:noFill/>
        </p:spPr>
        <p:txBody>
          <a:bodyPr wrap="square">
            <a:spAutoFit/>
          </a:bodyPr>
          <a:lstStyle/>
          <a:p>
            <a:pPr>
              <a:spcAft>
                <a:spcPts val="300"/>
              </a:spcAft>
            </a:pPr>
            <a:r>
              <a:rPr sz="1900" b="1" i="0">
                <a:solidFill>
                  <a:srgbClr val="1A1A1A"/>
                </a:solidFill>
                <a:latin typeface="Arial"/>
              </a:rPr>
              <a:t>Read PHEQA's advice, and the college as PHEQA's register shows it.</a:t>
            </a:r>
          </a:p>
        </p:txBody>
      </p:sp>
      <p:sp>
        <p:nvSpPr>
          <p:cNvPr id="12" name="Rectangle 11"/>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33425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288536"/>
            <a:ext cx="10527487" cy="896112"/>
          </a:xfrm>
          <a:prstGeom prst="rect">
            <a:avLst/>
          </a:prstGeom>
          <a:noFill/>
        </p:spPr>
        <p:txBody>
          <a:bodyPr wrap="square">
            <a:spAutoFit/>
          </a:bodyPr>
          <a:lstStyle/>
          <a:p>
            <a:pPr>
              <a:spcAft>
                <a:spcPts val="300"/>
              </a:spcAft>
            </a:pPr>
            <a:r>
              <a:rPr sz="1900" b="1" i="0">
                <a:solidFill>
                  <a:srgbClr val="1A1A1A"/>
                </a:solidFill>
                <a:latin typeface="Arial"/>
              </a:rPr>
              <a:t>Approve the new name.</a:t>
            </a:r>
          </a:p>
        </p:txBody>
      </p:sp>
      <p:sp>
        <p:nvSpPr>
          <p:cNvPr id="15" name="Rectangle 14"/>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527608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5230368"/>
            <a:ext cx="10527487" cy="896112"/>
          </a:xfrm>
          <a:prstGeom prst="rect">
            <a:avLst/>
          </a:prstGeom>
          <a:noFill/>
        </p:spPr>
        <p:txBody>
          <a:bodyPr wrap="square">
            <a:spAutoFit/>
          </a:bodyPr>
          <a:lstStyle/>
          <a:p>
            <a:pPr>
              <a:spcAft>
                <a:spcPts val="300"/>
              </a:spcAft>
            </a:pPr>
            <a:r>
              <a:rPr sz="1900" b="1" i="0">
                <a:solidFill>
                  <a:srgbClr val="1A1A1A"/>
                </a:solidFill>
                <a:latin typeface="Arial"/>
              </a:rPr>
              <a:t>Finished</a:t>
            </a:r>
          </a:p>
          <a:p>
            <a:pPr>
              <a:spcAft>
                <a:spcPts val="300"/>
              </a:spcAft>
            </a:pPr>
            <a:r>
              <a:rPr sz="1600" b="0" i="0">
                <a:solidFill>
                  <a:srgbClr val="595959"/>
                </a:solidFill>
                <a:latin typeface="Arial"/>
              </a:rPr>
              <a:t>the approval is recorded and sent to PHEQA.</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record that it happened</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Which journey.</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On which installation.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At what time, and with what result at each step.</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Written and not run</a:t>
            </a:r>
          </a:p>
          <a:p>
            <a:pPr>
              <a:spcAft>
                <a:spcPts val="300"/>
              </a:spcAft>
            </a:pPr>
            <a:r>
              <a:rPr sz="1600" b="0" i="0">
                <a:solidFill>
                  <a:srgbClr val="595959"/>
                </a:solidFill>
                <a:latin typeface="Arial"/>
              </a:rPr>
              <a:t>reported as not run.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change of name, on the running application</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The officer's journey, from the list of advices to the recorded approval.</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record of the run beside it.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the journey ends on the recorded approval; the record names the journey, the installation and the time.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last check is a person finishing a real task on the running service, and the record that they did.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acceptance journeys for officers from the goals' stories.</a:t>
            </a:r>
          </a:p>
          <a:p>
            <a:pPr algn="l">
              <a:spcAft>
                <a:spcPts val="400"/>
              </a:spcAft>
            </a:pPr>
            <a:r>
              <a:rPr sz="1800" b="0" i="0">
                <a:solidFill>
                  <a:srgbClr val="595959"/>
                </a:solidFill>
                <a:latin typeface="Arial"/>
              </a:rPr>
              <a:t>The prompt in the companion material gives you one acceptance journey for each goal, each with its start, its steps and what counts as finished.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This subtopic states the SDD method's own third rule, that at least one check ends on the running system, in plain words. It cites no external source.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Proof on the running system: a task a person finishes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