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Correct the accepted document, not the platform, and generate the application again. The read-back shows any file that someone changed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 reports that the ministry's new application is built. Before you accept that report, you need to know what was built from what, and which questions to ask of the result. One file decides almost everything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specification-driven development, each document a person writes is accepted before the next one begins. The last of them is the application model: one file, written for a program to read. It carries every record, screen, list, menu and step of the workflow, each taken from documents your officials have already accepted. Before anything is built, a program checks the file, and refuses it if it contradicts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kit is the method's set of programs, which the supplier runs. From the file it makes the four things a low-code platform is built from. Forms are the screens where an officer enters or reads a record. Lists are the worklists and registers. Menus are what each role sees after signing in, grouped in categories. The workflow is the order of steps, and who may take each one. The platform's own documentation has a builder for each of them, and the kit fills those builders from the file instead of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kit installs what it built. It packs the application's design and puts it on the platform's server. The platform's documentation describes the same kind of move, of one application from one server to another, and by default only the design travels, not the data. So the same package can go to a test server, be checked there, and then go to the live server, with nothing rebuilt by hand in between.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MoEYS's application is generated from its model onto MoEYS's own installation of the platform. The model asks for the forms on which the minister decides and an officer records the Gazette, for lists of what awaits the minister, and for a menu in five categories: licences; names, the list and reviews; suspension and cancellation; the Gazette; and requests for review. It asks for no table of institutions, because MoEYS reads PHEQA's register instead.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Acceptance starts from the model, not from the supplier's account. For each goal, ask where it starts and who can start it. Check that every menu category is there, for the right role and no other. Open each list and check that it shows only what waits for an act. Then ask whether any screen exists that no accepted document asked for. Each answer is read on the running application, not on a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these steps. The check admits the file. The kit builds the application and installs it on MoEYS's installation. Then the menu, one form and one list are opened on the platform. It passes when the build ends without error, the application appears on the installation, and every menu category of the interaction design is there. Until MoEYS's application is generated, this is a storyboard: the steps and the pass, written before anything is recorded.</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One accepted file, read by a program, becomes the forms, lists, menus and workflow on the platform. Ask your questions of the running result, one goal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evening before the minister's demonstration, someone notices a wrong label on a form. The quickest fix is to change it on the platform. That fix is the one your contract should forbid, and a program can show whether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hand edit creates two versions of the truth. The accepted description says one thing, and the platform now shows another. When the application is next generated from the description, one of two things happens. Either the edit is overwritten and the wrong label comes back. Or someone protects the edit by not generating again, and from then on nobody can say what the application is built from.</a:t>
            </a:r>
          </a:p>
          <a:p/>
          <a:p>
            <a:r>
              <a:t>Retrieval prompt — ask before playing on: the label on the form is wrong; where does the correction go?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this: nothing generated is edited by hand. A correction goes into the description that owns the fact, is accepted there, and the application is generated again. A label belongs to the screens of its goal, so it is corrected in those screens, carried into the model, and generated. It takes a little longer than a change on the platform. In exchange, the description and the platform never disagree.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gives you a program to check this, the read-back. It compares each generated file on the platform with what the description would generate, and marks it in one of three ways: in step, out of date, or edited by hand. You do not need to read the files themselves. You read the program's list, and you ask about every line that is not in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builder changes a label on MoEYS's form for approving an institution's new name, directly on the platform, to meet the demonstration. The read-back lists that form as edited by hand. The head of MoEYS's ICT unit asks for the change to be made properly. The label is corrected in the goal's screens and in the model, the application is generated again, and the read-back is run once more. It passes only when every file shows in step.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the same steps on a generated application. A label is changed by hand on the platform, the read-back runs and names the form, the correction is made in the model, and the read-back runs again. It passes when the first run names the edited file and the second shows every file in step. Until the application is generated, this is a storyboard.</a:t>
            </a:r>
          </a:p>
          <a:p/>
          <a:p>
            <a:r>
              <a:t>Production cue: demonstration segment, a storyboard until it is recorded (in the bundle: section 4.9).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rule into the supplier's contract, together with its evidence. No generated file may be edited by hand on the platform. The read-back is run before every acceptance, and its list is handed over with the delivery. A file marked as edited by hand is a defect, and it is corrected in the description, not argued about at the acceptance meeting.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~5 minute video, for the head of a sectoral ICT unit or the project lead who has a service specified and built by a supplier. 5.6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5.1 to 5.3 generate and guard the application; 5.4 to 5.6 connect it to the blocks; 5.7 proves it on the running system. 5.6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low-code platform has places where it does not do what its screens suggest. Your officers should not be the ones who find them, on the first morning the new service is open to the public.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keeps a register of the platform's known differences: places where the documentation promises one thing and a particular release does another. Each entry was found once, the hard way, by a team that lost time to it. Each entry that a program can test becomes a rule. The check applies those rules to the application model before anything is built or installed, so the same trap is not found twice.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platform's maker publishes two lists that feed the register. One is a page of known issues. It records cases such as a screen that shows a step as completed while the workflow behind it does not move on. The other is a list of what each release changed. Release 9.0.7, the one Progressa's two installations run, was published on 18 May 2026, with bug fixes and security upgrades among its changes. Read both lists before you agree the release your service will run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trap, told by its kind. MoEYS's list of what awaits the minister's decision reads straight from the database, and it carries two filters: one by date, and one by the matter advised on. The platform saves that setting without complaint. But the register records that, on a list of this kind, the platform honours one filter at a time and quietly ignores the second. An officer who sets both sees more than she asked for, and never knows.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check is written to catch this before installation. It reads the model, finds a list of that kind with two filters, and reports the list, the rule and the reason. The model is then corrected, either to one filter or to a kind of list that honours both, and checked again. The trap is found at the review, where it costs an hour, and not at the counter, where it costs the public's trust.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cannot read the platform's code, and you do not need to. Ask the supplier three things. Which rules about this platform does your check apply? Show me the check running on our own model, not on a sample. And keep a table of the rules you saw running and the rules you were only told about. A rule that was only described is a promise, not evidence. Put the table in the acceptance file, beside the record of the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Known traps belong in a check that runs before installation. Ask to see that check run on your own model, and keep the record of what you saw.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offers to add a table of users and a table of institutions to the ministry's new application. It sounds helpful and quick. It is the start of copies that will disagree, and of facts the ministry may have no reason to keep.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comes from the body that keeps it. The GovStack Identity specification describes the sign-in step by step. The application sends the person to the identity block's own page. The person signs in there, and the block asks which facts it may share. The person approves. The application receives a code, exchanges it for a token that says who signed in, and then reads the facts that were approved. This follows OpenID Connect, an open standard for signing 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the application keeps matters as much. The token carries an identifier that the block gives this one service for this one person. The Identity specification asks that the same person have a different identifier in each service, to protect privacy. So the application keeps the identifier it is given, and never the national number. Where a design must check a person who is not present, the specification requires the block to verify a person from a known identifier; settle with the identity authority what it offers before the design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institution's record works the same way. The GovStack Digital Registries specification requires a register to let other systems search, read, create and update its records through open interfaces, and to authorise which systems and users may do so. Progressa's design authorises only PHEQA's application to write the register of institutions. Every other service reads the record when it needs it, and keeps no copy.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an officer of MoEYS signs in through PNIA, and MoEYS's application keeps the identifier PNIA gives it, not her national number. When she opens a case, the application reads Harbourview University College from PHEQA's register of institutions. Now picture the other design, with its own table of institutions inside MoEYS's application. One week PHEQA writes the college's new name into the register. MoEYS's copy keeps the old one, and the next week the minister signs a decision under a name the college no longer has.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block paid for once and used by many services is re-use that only someone planning for the whole sector can see. A copy is the opposite: a second register that nobody planned, nobody keeps and nobody corrects. The reference architecture PAERA puts the deeper point plainly: digital public infrastructure is not neutral, and it shapes what can be built on top of it. Build on the block, and the next service inherits the same identity and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both on MoEYS's application. A test officer signs in through the identity sign-in. The application shows the identifier it was given and no national number. Then an institution's record is opened, read from PHEQA's register. It passes when the sign-in completes, no national number appears, and the record shown agrees with the register. Until both applications are generated, this is a storyboard.</a:t>
            </a:r>
          </a:p>
          <a:p/>
          <a:p>
            <a:r>
              <a:t>Production cue: demonstration segment, a storyboard until it is recorded (in the bundle: section 4.10).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Take who someone is from the identity block, and what an institution is from its register. Keep the identifier you are given, and no copy.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ministry's application asks the quality authority's application for an institution, both sides rely on a contract: what may be asked, and what comes back. If someone writes that contract by hand beside the application, the two will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contract, here, is the written promise one system makes to others. It says what they may ask for, what they must send, and what comes back. It is written in a published standard form, the OpenAPI Specification, so that a program on the other side can read it. The data exchange carries the call; the contract says what the call may be. Across the data exchange, each call names the service it is made to, and the exchange's own rules ask that each service be described in this standard form.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nobody writes the contract beside the application. The accepted description already says what the register holds and what it publishes. A program produces the contract from that description, in the same way the application itself is produced. When the description changes, the contract is produced again, so the application and the promise it makes to others cannot say different things. It is the same rule as for the application itself: correct the description, never the copy.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holds for a registration service and the GovStack Registration block. Its specification publishes the operations of applying online: the services and forms on offer, and sending an application with its documents. It publishes operations for processing: the applications and the officers' tasks. For managing and designing services and workflows, it says no interface is specified yet. So the service's contract with the block is produced from the description, in the block's published terms.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as a list, the contract of PHEQA's register is short. MoEYS may ask for one institution by its register number, such as INS-00217, and receive its name, its kind, its licence and its standing. MoEYS may ask for the list of registered institutions. It cannot ask for applications, inspections, fees, or anything else the register does not publish. Every call goes through Linkup. The manager reads this list; the builder's program reads the same contract as a file. One document gives the business side and IT one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reads one institution. MoEYS's application asks for it across the data interface, and the contract it is read by is shown beside the call. It passes when the record returned agrees with PHEQA's register, and the call is one that the contract publishes. Until both applications are generated, this is a storyboard: the steps and the pass, written before anything is recorded.</a:t>
            </a:r>
          </a:p>
          <a:p/>
          <a:p>
            <a:r>
              <a:t>Production cue: demonstration segment, a storyboard until it is recorded (in the bundle: section 4.11).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contract produced from the accepted documents cannot drift from them. Read it as a plain list of what may be asked, and what may not.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takes a fee, reads another body's register and signs people in. Each of these leaves the service and comes back. Your architecture should name every one of them before anyone builds anything.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any flow that leaves the service or enters it. The architecture names each one in a table: what crosses, in which direction, the body on the other side, and the block it passes through. The GovStack Registration specification expects all traffic into and out of a block to go through an Information Mediator or a secure gateway. A service that goes round the exchange builds a private road that nobody else can check.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fee first. The registration service does not build its own payment screen or deal with banks. It sends a payment request to the government's Payments block. The GovStack Payments specification lists what such a request must carry at the least: who pays, who is paid, the amount, the currency, the policy, and the service's own transaction number. The block's payment portal tracks each payment's status and history, and the confirmation comes back to the service. The service keeps the confirmation, not the payment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may not be ready on the first day. Then the service does what many services do today: the applicant pays into the authority's bank account, and the finance officer records the evidence of the payment against the application: who paid, how much, and when. That is honest, and it works. The architecture still names it as a crossing, one still to move to the Payments block, so that the move is planned and budgeted, and not forgotten.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table for PHEQA's registration service. The application fee goes out to the Payments block, and the confirmation comes back. An institution's record goes out to MoEYS when MoEYS asks for it, through Linkup, which PDGA operates. Who signs in comes in from PNIA. And one more crossing of the same kind lies ahead: a graduate's credential, issued by PDCA into the learner's digital wallet. Each row names a body that must agree to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 promise made together with someone else, so each row needs that body's agreement. The operator of the Payments block confirms the fee crossing. PDGA confirms the use of Linkup. PNIA confirms the sign-in. MoEYS confirms what it will read from the register. Then the head of PHEQA's ICT unit accepts the table. A row that nobody on the other side has seen is a promise made on their behalf, and the first test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every crossing, the body on the other side and the block it goes through. Never rebuild a block that a crossing can use.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document is accepted, every check reports a pass, and the application is installed. One question is still open: can an officer finish a real task on it? Only a person on the running service can answer, and the answer must be recorded.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checks in the SDD method read documents. They compare a screen with its story, or the model with the interaction design. Those checks are needed, and they say nothing about whether the service works for the person at the counter. A pass on a document is not a working counter. So the method's third rule is that at least one check ends on the running system. A person goes through a real task on the installed application, and the run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check is written as a journey. A journey starts where an officer really starts: at a menu entry, signed in with a real role. It goes through the real screens, step by step, as the goal's story says. And it states exactly what counts as finished. A program can drive a journey through the screens, but the journey is written from the story your officials agreed, not from the screens the supplier built. The same journey is a story the business side recognises and a test the builder can run.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journey is the approval of a change of an institution's name. A test officer of MoEYS signs in with the minister's role. In the category Names, the list and reviews, she opens the list of advices that await a decision, and chooses the one on Harbourview University College. She reads PHEQA's advice, and the college as PHEQA's register shows it. She approves the new name. The journey is finished when the approval is recorded and sent to PHEQA.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record of the run is the evidence of acceptance. It names the journey, the installation it ran on and the time, with the result of each step. A journey that was written and never run is reported as not run, never as passed. A journey that stopped at step three is reported as stopped at step three. The minister signs on records of what happened, not on descriptions of what should. Keep each record with the acceptance file.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this journey on MoEYS's running application, with the record of the run beside it. It passes when the journey ends on the recorded approval, and the record names the journey, the installation and the time. Until MoEYS's application is generated, this is a storyboard: written now, and recorded when the application runs.</a:t>
            </a:r>
          </a:p>
          <a:p/>
          <a:p>
            <a:r>
              <a:t>Production cue: demonstration segment, a storyboard until it is recorded (in the bundle: section 4.12).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Acceptance ends with a person finishing a real task on the running service. Keep the record of the run; a journey not run is not passed.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Generate the service on a
low-code platform and
connect the blocks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5</a:t>
            </a:r>
          </a:p>
          <a:p>
            <a:r>
              <a:rPr sz="1400" b="0" i="0">
                <a:solidFill>
                  <a:srgbClr val="595959"/>
                </a:solidFill>
                <a:latin typeface="Arial"/>
              </a:rPr>
              <a:t>Seven standalone videos: from one file to a running application, nothing generated edited by hand, the platform's traps caught before deployment, identity and registries used rather than rebuilt, the contract and the data interface, payments and mediation as named crossings, and proof on the running system.</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~35 mins across 7 videos (5.1 – 5.7)</a:t>
            </a:r>
          </a:p>
          <a:p>
            <a:r>
              <a:rPr sz="1400" b="1" i="0">
                <a:solidFill>
                  <a:srgbClr val="1A1A1A"/>
                </a:solidFill>
                <a:latin typeface="Arial"/>
              </a:rPr>
              <a:t>Target audience: </a:t>
            </a:r>
            <a:r>
              <a:rPr sz="1400" b="0" i="0">
                <a:solidFill>
                  <a:srgbClr val="1A1A1A"/>
                </a:solidFill>
                <a:latin typeface="Arial"/>
              </a:rPr>
              <a:t>Head of a sectoral ICT unit · project lead who accepts the documents</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THE FILE TO THE RUNNING SERVICE</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Generated and installed</a:t>
            </a:r>
          </a:p>
        </p:txBody>
      </p:sp>
      <p:sp>
        <p:nvSpPr>
          <p:cNvPr id="21" name="Rounded Rectangle 20"/>
          <p:cNvSpPr/>
          <p:nvPr/>
        </p:nvSpPr>
        <p:spPr>
          <a:xfrm>
            <a:off x="7452360" y="163938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Never edited by hand</a:t>
            </a:r>
          </a:p>
        </p:txBody>
      </p:sp>
      <p:sp>
        <p:nvSpPr>
          <p:cNvPr id="22" name="Rounded Rectangle 21"/>
          <p:cNvSpPr/>
          <p:nvPr/>
        </p:nvSpPr>
        <p:spPr>
          <a:xfrm>
            <a:off x="7452360" y="2318657"/>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Traps checked first</a:t>
            </a:r>
          </a:p>
        </p:txBody>
      </p:sp>
      <p:sp>
        <p:nvSpPr>
          <p:cNvPr id="23" name="Rounded Rectangle 22"/>
          <p:cNvSpPr/>
          <p:nvPr/>
        </p:nvSpPr>
        <p:spPr>
          <a:xfrm>
            <a:off x="7452360" y="2997925"/>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Blocks used, not copied</a:t>
            </a:r>
          </a:p>
        </p:txBody>
      </p:sp>
      <p:sp>
        <p:nvSpPr>
          <p:cNvPr id="24" name="Rounded Rectangle 23"/>
          <p:cNvSpPr/>
          <p:nvPr/>
        </p:nvSpPr>
        <p:spPr>
          <a:xfrm>
            <a:off x="7452360" y="367719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Contract from the description</a:t>
            </a:r>
          </a:p>
        </p:txBody>
      </p:sp>
      <p:sp>
        <p:nvSpPr>
          <p:cNvPr id="25" name="Rounded Rectangle 24"/>
          <p:cNvSpPr/>
          <p:nvPr/>
        </p:nvSpPr>
        <p:spPr>
          <a:xfrm>
            <a:off x="7452360" y="4356462"/>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Crossings named</a:t>
            </a:r>
          </a:p>
        </p:txBody>
      </p:sp>
      <p:sp>
        <p:nvSpPr>
          <p:cNvPr id="26" name="Rounded Rectangle 25"/>
          <p:cNvSpPr/>
          <p:nvPr/>
        </p:nvSpPr>
        <p:spPr>
          <a:xfrm>
            <a:off x="7452360" y="5035731"/>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task a person finishes</a:t>
            </a:r>
          </a:p>
        </p:txBody>
      </p:sp>
      <p:sp>
        <p:nvSpPr>
          <p:cNvPr id="27" name="TextBox 26"/>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file · no hand edits · 1 recorded run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From one file to a running application</a:t>
            </a:r>
            <a:r>
              <a:rPr sz="1200" b="0" i="0">
                <a:solidFill>
                  <a:srgbClr val="595959"/>
                </a:solidFill>
                <a:latin typeface="Arial"/>
              </a:rPr>
              <a:t>   ~5 min</a:t>
            </a:r>
          </a:p>
          <a:p>
            <a:pPr algn="l">
              <a:spcAft>
                <a:spcPts val="900"/>
              </a:spcAft>
            </a:pPr>
            <a:r>
              <a:rPr sz="1500" b="1" i="0">
                <a:solidFill>
                  <a:srgbClr val="1A1A1A"/>
                </a:solidFill>
                <a:latin typeface="Arial"/>
              </a:rPr>
              <a:t>5.2  Nothing generated is edited by hand</a:t>
            </a:r>
            <a:r>
              <a:rPr sz="1200" b="0" i="0">
                <a:solidFill>
                  <a:srgbClr val="595959"/>
                </a:solidFill>
                <a:latin typeface="Arial"/>
              </a:rPr>
              <a:t>   ~5 min</a:t>
            </a:r>
          </a:p>
          <a:p>
            <a:pPr algn="l">
              <a:spcAft>
                <a:spcPts val="900"/>
              </a:spcAft>
            </a:pPr>
            <a:r>
              <a:rPr sz="1500" b="1" i="0">
                <a:solidFill>
                  <a:srgbClr val="1A1A1A"/>
                </a:solidFill>
                <a:latin typeface="Arial"/>
              </a:rPr>
              <a:t>5.3  The platform's traps, caught before deployment</a:t>
            </a:r>
            <a:r>
              <a:rPr sz="1200" b="0" i="0">
                <a:solidFill>
                  <a:srgbClr val="595959"/>
                </a:solidFill>
                <a:latin typeface="Arial"/>
              </a:rPr>
              <a:t>   ~5 min</a:t>
            </a:r>
          </a:p>
          <a:p>
            <a:pPr algn="l">
              <a:spcAft>
                <a:spcPts val="900"/>
              </a:spcAft>
            </a:pPr>
            <a:r>
              <a:rPr sz="1500" b="1" i="0">
                <a:solidFill>
                  <a:srgbClr val="1A1A1A"/>
                </a:solidFill>
                <a:latin typeface="Arial"/>
              </a:rPr>
              <a:t>5.4  Identity and registries: use the block, do not rebuild it</a:t>
            </a:r>
            <a:r>
              <a:rPr sz="1200" b="0" i="0">
                <a:solidFill>
                  <a:srgbClr val="595959"/>
                </a:solidFill>
                <a:latin typeface="Arial"/>
              </a:rPr>
              <a:t>   ~5 min</a:t>
            </a:r>
          </a:p>
          <a:p>
            <a:pPr algn="l">
              <a:spcAft>
                <a:spcPts val="900"/>
              </a:spcAft>
            </a:pPr>
            <a:r>
              <a:rPr sz="1500" b="1" i="0">
                <a:solidFill>
                  <a:srgbClr val="1A1A1A"/>
                </a:solidFill>
                <a:latin typeface="Arial"/>
              </a:rPr>
              <a:t>5.5  The service's contract with the registration block, and its data interface</a:t>
            </a:r>
            <a:r>
              <a:rPr sz="1200" b="0" i="0">
                <a:solidFill>
                  <a:srgbClr val="595959"/>
                </a:solidFill>
                <a:latin typeface="Arial"/>
              </a:rPr>
              <a:t>   ~5 min</a:t>
            </a:r>
          </a:p>
          <a:p>
            <a:pPr algn="l">
              <a:spcAft>
                <a:spcPts val="900"/>
              </a:spcAft>
            </a:pPr>
            <a:r>
              <a:rPr sz="1500" b="1" i="0">
                <a:solidFill>
                  <a:srgbClr val="1A1A1A"/>
                </a:solidFill>
                <a:latin typeface="Arial"/>
              </a:rPr>
              <a:t>5.6  Payments and information mediation as named crossings (supplementary)</a:t>
            </a:r>
            <a:r>
              <a:rPr sz="1200" b="0" i="0">
                <a:solidFill>
                  <a:srgbClr val="595959"/>
                </a:solidFill>
                <a:latin typeface="Arial"/>
              </a:rPr>
              <a:t>   ~5 min</a:t>
            </a:r>
          </a:p>
          <a:p>
            <a:pPr algn="l">
              <a:spcAft>
                <a:spcPts val="900"/>
              </a:spcAft>
            </a:pPr>
            <a:r>
              <a:rPr sz="1500" b="1" i="0">
                <a:solidFill>
                  <a:srgbClr val="1A1A1A"/>
                </a:solidFill>
                <a:latin typeface="Arial"/>
              </a:rPr>
              <a:t>5.7  Proof on the running system: a task a person finishes</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The application is generated from the one accepted file, and nothing generated is edited by hand.</a:t>
            </a:r>
          </a:p>
          <a:p>
            <a:pPr>
              <a:spcAft>
                <a:spcPts val="1000"/>
              </a:spcAft>
            </a:pPr>
            <a:r>
              <a:rPr sz="1900" b="0" i="1">
                <a:solidFill>
                  <a:srgbClr val="1A1A1A"/>
                </a:solidFill>
                <a:latin typeface="Arial"/>
              </a:rPr>
              <a:t>Identity, registries, payments and the data exchange are blocks the service uses; the last check is a person finishing a real task.</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one file to a running application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kit turns the model into the platform's forms, lists, menus and workflow, and installs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application is built." Built from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accept the supplier's report, know what was built from what.</a:t>
            </a:r>
          </a:p>
          <a:p>
            <a:pPr>
              <a:spcAft>
                <a:spcPts val="800"/>
              </a:spcAft>
            </a:pPr>
            <a:r>
              <a:rPr sz="1700" b="0" i="0">
                <a:solidFill>
                  <a:srgbClr val="595959"/>
                </a:solidFill>
                <a:latin typeface="Arial"/>
              </a:rPr>
              <a:t>One file decides almost everything you will see.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read by a program</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application model</a:t>
            </a:r>
          </a:p>
          <a:p>
            <a:pPr>
              <a:spcAft>
                <a:spcPts val="300"/>
              </a:spcAft>
            </a:pPr>
            <a:r>
              <a:rPr sz="1600" b="0" i="0">
                <a:solidFill>
                  <a:srgbClr val="595959"/>
                </a:solidFill>
                <a:latin typeface="Arial"/>
              </a:rPr>
              <a:t>the one file the application is generated from.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last, from documents your officials have already accepted.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Checked by a program before anything is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kit makes from it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an officer enters or reads a record.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worklists and registers an officer chooses from.</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what each role sees after signing in, in categories.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workflow</a:t>
            </a:r>
          </a:p>
          <a:p>
            <a:pPr>
              <a:spcAft>
                <a:spcPts val="300"/>
              </a:spcAft>
            </a:pPr>
            <a:r>
              <a:rPr sz="1600" b="0" i="0">
                <a:solidFill>
                  <a:srgbClr val="595959"/>
                </a:solidFill>
                <a:latin typeface="Arial"/>
              </a:rPr>
              <a:t>the steps of a goal and who may take each.</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Installed, not rebuilt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kit packs the application and installs it on the platform's server.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package can go to a test server first, then to the live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is rebuilt by hand in between.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MoEYS's application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Generated from MoEYS's model, onto MoEYS's own installation.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minister's decisions; the Gazette entries.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what awaits the minister's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Menu in five categories</a:t>
            </a:r>
          </a:p>
          <a:p>
            <a:pPr>
              <a:spcAft>
                <a:spcPts val="300"/>
              </a:spcAft>
            </a:pPr>
            <a:r>
              <a:rPr sz="1600" b="0" i="0">
                <a:solidFill>
                  <a:srgbClr val="595959"/>
                </a:solidFill>
                <a:latin typeface="Arial"/>
              </a:rPr>
              <a:t>Licences · Names, the list and reviews · Suspension and cancellation · The Gazette · Requests for review.</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questions you ask of the result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Each goal</a:t>
            </a:r>
          </a:p>
          <a:p>
            <a:pPr>
              <a:spcAft>
                <a:spcPts val="300"/>
              </a:spcAft>
            </a:pPr>
            <a:r>
              <a:rPr sz="1600" b="0" i="0">
                <a:solidFill>
                  <a:srgbClr val="595959"/>
                </a:solidFill>
                <a:latin typeface="Arial"/>
              </a:rPr>
              <a:t>where does it start, and who can start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Each menu category</a:t>
            </a:r>
          </a:p>
          <a:p>
            <a:pPr>
              <a:spcAft>
                <a:spcPts val="300"/>
              </a:spcAft>
            </a:pPr>
            <a:r>
              <a:rPr sz="1600" b="0" i="0">
                <a:solidFill>
                  <a:srgbClr val="595959"/>
                </a:solidFill>
                <a:latin typeface="Arial"/>
              </a:rPr>
              <a:t>present, and shown only to its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Each list</a:t>
            </a:r>
          </a:p>
          <a:p>
            <a:pPr>
              <a:spcAft>
                <a:spcPts val="300"/>
              </a:spcAft>
            </a:pPr>
            <a:r>
              <a:rPr sz="1600" b="0" i="0">
                <a:solidFill>
                  <a:srgbClr val="595959"/>
                </a:solidFill>
                <a:latin typeface="Arial"/>
              </a:rPr>
              <a:t>does it show only what awaits an act?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Any screen that no accepted document asked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file to the menu</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file admitted by the check.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built and installed on MoEYS's installation.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menu, one form and one list opened.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no error; the application listed; every menu category present.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kit turns the model into the platform's forms, lists, menus and workflow, and installs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acceptance questions for a generated application.</a:t>
            </a:r>
          </a:p>
          <a:p>
            <a:pPr algn="l">
              <a:spcAft>
                <a:spcPts val="400"/>
              </a:spcAft>
            </a:pPr>
            <a:r>
              <a:rPr sz="1800" b="0" i="0">
                <a:solidFill>
                  <a:srgbClr val="595959"/>
                </a:solidFill>
                <a:latin typeface="Arial"/>
              </a:rPr>
              <a:t>The prompt in the companion material gives you a numbered list of acceptance questions, one for each goal, each with where on the running application to look.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Form Builder, List Builder, UI Builder, Process Builder and Migrating a Single Joget App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Nothing generated is edited by hand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correction goes into the description and the application is generated again; a program shows any hand edit.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wrong label, the evening before the demonstration.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quickest fix is to change it on the platform.</a:t>
            </a:r>
          </a:p>
          <a:p>
            <a:pPr>
              <a:spcAft>
                <a:spcPts val="800"/>
              </a:spcAft>
            </a:pPr>
            <a:r>
              <a:rPr sz="1700" b="0" i="0">
                <a:solidFill>
                  <a:srgbClr val="595959"/>
                </a:solidFill>
                <a:latin typeface="Arial"/>
              </a:rPr>
              <a:t>Your contract should forbid that fix, and a program can show whether it was made.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versions of the truth</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accepted description says one thing.</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platform now shows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next generation either overwrites the edit or is quietly stopped.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 up, generate down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524000"/>
          </a:xfrm>
          <a:prstGeom prst="rect">
            <a:avLst/>
          </a:prstGeom>
          <a:noFill/>
        </p:spPr>
        <p:txBody>
          <a:bodyPr wrap="square">
            <a:spAutoFit/>
          </a:bodyPr>
          <a:lstStyle/>
          <a:p>
            <a:pPr>
              <a:spcAft>
                <a:spcPts val="300"/>
              </a:spcAft>
            </a:pPr>
            <a:r>
              <a:rPr sz="2200" b="1" i="0">
                <a:solidFill>
                  <a:srgbClr val="1A1A1A"/>
                </a:solidFill>
                <a:latin typeface="Arial"/>
              </a:rPr>
              <a:t>Find the document that owns the fact.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24000"/>
          </a:xfrm>
          <a:prstGeom prst="rect">
            <a:avLst/>
          </a:prstGeom>
          <a:noFill/>
        </p:spPr>
        <p:txBody>
          <a:bodyPr wrap="square">
            <a:spAutoFit/>
          </a:bodyPr>
          <a:lstStyle/>
          <a:p>
            <a:pPr>
              <a:spcAft>
                <a:spcPts val="300"/>
              </a:spcAft>
            </a:pPr>
            <a:r>
              <a:rPr sz="2200" b="1" i="0">
                <a:solidFill>
                  <a:srgbClr val="1A1A1A"/>
                </a:solidFill>
                <a:latin typeface="Arial"/>
              </a:rPr>
              <a:t>Correct it there, and have the correction accepted.</a:t>
            </a:r>
          </a:p>
        </p:txBody>
      </p:sp>
      <p:sp>
        <p:nvSpPr>
          <p:cNvPr id="9" name="Rectangle 8"/>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02480"/>
            <a:ext cx="10527487" cy="1524000"/>
          </a:xfrm>
          <a:prstGeom prst="rect">
            <a:avLst/>
          </a:prstGeom>
          <a:noFill/>
        </p:spPr>
        <p:txBody>
          <a:bodyPr wrap="square">
            <a:spAutoFit/>
          </a:bodyPr>
          <a:lstStyle/>
          <a:p>
            <a:pPr>
              <a:spcAft>
                <a:spcPts val="300"/>
              </a:spcAft>
            </a:pPr>
            <a:r>
              <a:rPr sz="2200" b="1" i="0">
                <a:solidFill>
                  <a:srgbClr val="1A1A1A"/>
                </a:solidFill>
                <a:latin typeface="Arial"/>
              </a:rPr>
              <a:t>Generate the application again.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In step</a:t>
            </a:r>
          </a:p>
          <a:p>
            <a:pPr>
              <a:spcAft>
                <a:spcPts val="300"/>
              </a:spcAft>
            </a:pPr>
            <a:r>
              <a:rPr sz="1600" b="0" i="0">
                <a:solidFill>
                  <a:srgbClr val="595959"/>
                </a:solidFill>
                <a:latin typeface="Arial"/>
              </a:rPr>
              <a:t>the file is what the description generates.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Out of date</a:t>
            </a:r>
          </a:p>
          <a:p>
            <a:pPr>
              <a:spcAft>
                <a:spcPts val="300"/>
              </a:spcAft>
            </a:pPr>
            <a:r>
              <a:rPr sz="1600" b="0" i="0">
                <a:solidFill>
                  <a:srgbClr val="595959"/>
                </a:solidFill>
                <a:latin typeface="Arial"/>
              </a:rPr>
              <a:t>the description changed, and the file was not generated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Edited by hand</a:t>
            </a:r>
          </a:p>
          <a:p>
            <a:pPr>
              <a:spcAft>
                <a:spcPts val="300"/>
              </a:spcAft>
            </a:pPr>
            <a:r>
              <a:rPr sz="1600" b="0" i="0">
                <a:solidFill>
                  <a:srgbClr val="595959"/>
                </a:solidFill>
                <a:latin typeface="Arial"/>
              </a:rPr>
              <a:t>the file differs from what the description generates.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label on MoEYS's form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form on which the minister approves a new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label changed by hand on the platform, the evening before a demonstration.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read-back</a:t>
            </a:r>
          </a:p>
          <a:p>
            <a:pPr>
              <a:spcAft>
                <a:spcPts val="300"/>
              </a:spcAft>
            </a:pPr>
            <a:r>
              <a:rPr sz="1600" b="0" i="0">
                <a:solidFill>
                  <a:srgbClr val="595959"/>
                </a:solidFill>
                <a:latin typeface="Arial"/>
              </a:rPr>
              <a:t>this form, edited by hand.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label corrected in the goal's screens and the model; generated again; read back again.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hand edit shown up</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label changed on the platform.</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the form, edited by hand.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label corrected in the model; generated again.</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every file in step.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into the contract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 generated file is edited by hand.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read-back is run before every acceptance, and its list is handed over.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file edited by hand is a defect, corrected in the description.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correction goes into the description and the application is generated again; a program shows any hand edit.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contract clause that forbids hand edits.</a:t>
            </a:r>
          </a:p>
          <a:p>
            <a:pPr algn="l">
              <a:spcAft>
                <a:spcPts val="400"/>
              </a:spcAft>
            </a:pPr>
            <a:r>
              <a:rPr sz="1800" b="0" i="0">
                <a:solidFill>
                  <a:srgbClr val="595959"/>
                </a:solidFill>
                <a:latin typeface="Arial"/>
              </a:rPr>
              <a:t>The prompt in the companion material gives you one contract clause of four numbered parts, with the undefined terms listed after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rule, that nothing generated is edited by hand, and its read-back,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platform's traps, caught before deployment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is known to fail on the platform is checked before anything is installed.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low-code platform has places where it does not do what its screens suggest.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officers should not be the ones who find them,</a:t>
            </a:r>
          </a:p>
          <a:p>
            <a:pPr>
              <a:spcAft>
                <a:spcPts val="800"/>
              </a:spcAft>
            </a:pPr>
            <a:r>
              <a:rPr sz="1700" b="0" i="0">
                <a:solidFill>
                  <a:srgbClr val="595959"/>
                </a:solidFill>
                <a:latin typeface="Arial"/>
              </a:rPr>
              <a:t>on the first morning the new service is open to the public.</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Known, written down, checked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register of the platform's known differences: what is promised, and what a release does.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Each difference a program can test becomes a rule.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applies the rules before anything is installed.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maker's own lists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Known issues</a:t>
            </a:r>
          </a:p>
          <a:p>
            <a:pPr>
              <a:spcAft>
                <a:spcPts val="300"/>
              </a:spcAft>
            </a:pPr>
            <a:r>
              <a:rPr sz="1600" b="0" i="0">
                <a:solidFill>
                  <a:srgbClr val="595959"/>
                </a:solidFill>
                <a:latin typeface="Arial"/>
              </a:rPr>
              <a:t>a page the platform's maker keeps.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changed in each release</a:t>
            </a:r>
          </a:p>
          <a:p>
            <a:pPr>
              <a:spcAft>
                <a:spcPts val="300"/>
              </a:spcAft>
            </a:pPr>
            <a:r>
              <a:rPr sz="1600" b="0" i="0">
                <a:solidFill>
                  <a:srgbClr val="595959"/>
                </a:solidFill>
                <a:latin typeface="Arial"/>
              </a:rPr>
              <a:t>release 9.0.7, published 18 May 2026.</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trap on either list becomes a check, not a surprise.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list with two filters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MoEYS's list of what awaits the minister</a:t>
            </a:r>
          </a:p>
          <a:p>
            <a:pPr>
              <a:spcAft>
                <a:spcPts val="300"/>
              </a:spcAft>
            </a:pPr>
            <a:r>
              <a:rPr sz="1600" b="0" i="0">
                <a:solidFill>
                  <a:srgbClr val="595959"/>
                </a:solidFill>
                <a:latin typeface="Arial"/>
              </a:rPr>
              <a:t>a filter by date, a filter by matter.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platform saves the setting without complaint.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On a list of this kind, one filter is honoured; the second is ignored, silently.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 officer sees more than she asked for, and does not know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Caught by the check, not by an officer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reads the model and finds the list with two filters.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reports the list, the rule and the reason.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model is corrected, and checked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to ask a supplier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about this platform does your check apply?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Show me the check running on our own model.</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were shown running, and which were only described?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is known to fail on the platform is checked before anything is installed.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Record which platform rules a supplier's checks apply.</a:t>
            </a:r>
          </a:p>
          <a:p>
            <a:pPr algn="l">
              <a:spcAft>
                <a:spcPts val="400"/>
              </a:spcAft>
            </a:pPr>
            <a:r>
              <a:rPr sz="1800" b="0" i="0">
                <a:solidFill>
                  <a:srgbClr val="595959"/>
                </a:solidFill>
                <a:latin typeface="Arial"/>
              </a:rPr>
              <a:t>The prompt in the companion material gives you a table of the supplier's platform rules, each marked shown or only stated.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Known Issues and Version 9.0.7</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Identity and registries: use the block, do not rebuild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service takes a person's identity and an institution's record from the body that keeps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add a table of users and a table of institutions."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sounds helpful and quick.</a:t>
            </a:r>
          </a:p>
          <a:p>
            <a:pPr>
              <a:spcAft>
                <a:spcPts val="800"/>
              </a:spcAft>
            </a:pPr>
            <a:r>
              <a:rPr sz="1700" b="0" i="0">
                <a:solidFill>
                  <a:srgbClr val="595959"/>
                </a:solidFill>
                <a:latin typeface="Arial"/>
              </a:rPr>
              <a:t>It is the start of copies that will disagree, and of facts the ministry may have no reason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someone is: the identity sign-in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sends the person to the identity block's own sign-in page.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asks which facts it may share; the person approves.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receives a code, exchanges it for a token, and reads the approved facts.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you are given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identity block gives each service its own identifier for the person.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person has a different identifier in each service.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keeps that identifier, and never the national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an institution is: the register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specification</a:t>
            </a:r>
          </a:p>
          <a:p>
            <a:pPr>
              <a:spcAft>
                <a:spcPts val="300"/>
              </a:spcAft>
            </a:pPr>
            <a:r>
              <a:rPr sz="1600" b="0" i="0">
                <a:solidFill>
                  <a:srgbClr val="595959"/>
                </a:solidFill>
                <a:latin typeface="Arial"/>
              </a:rPr>
              <a:t>other systems work with a register's records through open interfaces, as the register authorises.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Progressa's design</a:t>
            </a:r>
          </a:p>
          <a:p>
            <a:pPr>
              <a:spcAft>
                <a:spcPts val="300"/>
              </a:spcAft>
            </a:pPr>
            <a:r>
              <a:rPr sz="1600" b="0" i="0">
                <a:solidFill>
                  <a:srgbClr val="595959"/>
                </a:solidFill>
                <a:latin typeface="Arial"/>
              </a:rPr>
              <a:t>only PHEQA's application writes the register of institutions.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reader takes the record when it needs it, and keeps no copy.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sign-in, one register, no copies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An officer of MoEYS signs in through PNIA.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MoEYS's application keeps PNIA's identifier for her, not her national number.</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Harbourview University College, INS-00217, is read from PHEQA's register when a case is opened.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Beside it, a design with its own table of institutions: two copies, drifting apart.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block used, not a copy kept</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A block paid for once serves every service that needs it.</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A copy is a second register that nobody planned and nobody keeps.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Signed in, and read from the register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test officer signs in through the identity sign-in.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shows the identifier it was given; no national number.</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INS-00217 opened, as read from PHEQA's register.</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sign-in complete; no national number; the record agrees with the register.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service takes a person's identity and an institution's record from the body that keeps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copies of facts another body keeps.</a:t>
            </a:r>
          </a:p>
          <a:p>
            <a:pPr algn="l">
              <a:spcAft>
                <a:spcPts val="400"/>
              </a:spcAft>
            </a:pPr>
            <a:r>
              <a:rPr sz="1800" b="0" i="0">
                <a:solidFill>
                  <a:srgbClr val="595959"/>
                </a:solidFill>
                <a:latin typeface="Arial"/>
              </a:rPr>
              <a:t>The prompt in the companion material gives you a table of the copied facts, each with the body that keeps it and the block to use instead.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Identity 2.0, sections 9.1.1, 7.2.1 and 8, and requirement 6.2-r2</a:t>
            </a:r>
          </a:p>
          <a:p>
            <a:pPr>
              <a:spcAft>
                <a:spcPts val="1200"/>
              </a:spcAft>
            </a:pPr>
            <a:r>
              <a:rPr sz="1700" b="0" i="0">
                <a:solidFill>
                  <a:srgbClr val="1A1A1A"/>
                </a:solidFill>
                <a:latin typeface="Arial"/>
              </a:rPr>
              <a:t>•  OpenID Connect Core 1.0 incorporating errata set 2, sections 2 and 3.1</a:t>
            </a:r>
          </a:p>
          <a:p>
            <a:pPr>
              <a:spcAft>
                <a:spcPts val="1200"/>
              </a:spcAft>
            </a:pPr>
            <a:r>
              <a:rPr sz="1700" b="0" i="0">
                <a:solidFill>
                  <a:srgbClr val="1A1A1A"/>
                </a:solidFill>
                <a:latin typeface="Arial"/>
              </a:rPr>
              <a:t>•  GovStack Digital Registries 3.0-alpha, requirement DRS-33 and sections 8.1 and 8.2</a:t>
            </a:r>
          </a:p>
          <a:p>
            <a:pPr>
              <a:spcAft>
                <a:spcPts val="1200"/>
              </a:spcAft>
            </a:pPr>
            <a:r>
              <a:rPr sz="1700" b="0" i="0">
                <a:solidFill>
                  <a:srgbClr val="1A1A1A"/>
                </a:solidFill>
                <a:latin typeface="Arial"/>
              </a:rPr>
              <a:t>•  PAERA v1.0,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The service's contract with the registration block, and its data interface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contract another system reads is produced from the description, not written beside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applications rely on one contract: what may be asked, and what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that contract by hand beside the application, and the two drift apart.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contract is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What another system may ask for.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What it must send, and what comes back.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Written in a published standard form, the OpenAPI Specification.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Produced from the description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description already says what the register holds and what it publishes.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program writes the contract from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When the description changes, the contract is produced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with the registration block</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applying online</a:t>
            </a:r>
          </a:p>
          <a:p>
            <a:pPr>
              <a:spcAft>
                <a:spcPts val="300"/>
              </a:spcAft>
            </a:pPr>
            <a:r>
              <a:rPr sz="1600" b="0" i="0">
                <a:solidFill>
                  <a:srgbClr val="595959"/>
                </a:solidFill>
                <a:latin typeface="Arial"/>
              </a:rPr>
              <a:t>the services and forms on offer, an application and its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processing</a:t>
            </a:r>
          </a:p>
          <a:p>
            <a:pPr>
              <a:spcAft>
                <a:spcPts val="300"/>
              </a:spcAft>
            </a:pPr>
            <a:r>
              <a:rPr sz="1600" b="0" i="0">
                <a:solidFill>
                  <a:srgbClr val="595959"/>
                </a:solidFill>
                <a:latin typeface="Arial"/>
              </a:rPr>
              <a:t>applications and officers' tasks.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For designing services and workflows</a:t>
            </a:r>
          </a:p>
          <a:p>
            <a:pPr>
              <a:spcAft>
                <a:spcPts val="300"/>
              </a:spcAft>
            </a:pPr>
            <a:r>
              <a:rPr sz="1600" b="0" i="0">
                <a:solidFill>
                  <a:srgbClr val="595959"/>
                </a:solidFill>
                <a:latin typeface="Arial"/>
              </a:rPr>
              <a:t>no interface specified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service's contract with the block is produced from the description.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PHEQA's register, as MoEYS reads it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may ask</a:t>
            </a:r>
          </a:p>
          <a:p>
            <a:pPr>
              <a:spcAft>
                <a:spcPts val="300"/>
              </a:spcAft>
            </a:pPr>
            <a:r>
              <a:rPr sz="1600" b="0" i="0">
                <a:solidFill>
                  <a:srgbClr val="595959"/>
                </a:solidFill>
                <a:latin typeface="Arial"/>
              </a:rPr>
              <a:t>one institution, by its register number, such as INS-00217.</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may ask</a:t>
            </a:r>
          </a:p>
          <a:p>
            <a:pPr>
              <a:spcAft>
                <a:spcPts val="300"/>
              </a:spcAft>
            </a:pPr>
            <a:r>
              <a:rPr sz="1600" b="0" i="0">
                <a:solidFill>
                  <a:srgbClr val="595959"/>
                </a:solidFill>
                <a:latin typeface="Arial"/>
              </a:rPr>
              <a:t>the list of registered institutions.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cannot ask</a:t>
            </a:r>
          </a:p>
          <a:p>
            <a:pPr>
              <a:spcAft>
                <a:spcPts val="300"/>
              </a:spcAft>
            </a:pPr>
            <a:r>
              <a:rPr sz="1600" b="0" i="0">
                <a:solidFill>
                  <a:srgbClr val="595959"/>
                </a:solidFill>
                <a:latin typeface="Arial"/>
              </a:rPr>
              <a:t>applications, inspections, fees, or anything the register does not publish.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Every call goes through Linkup.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read across the exchange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MoEYS's application asks for INS-00217 across the data interface.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Beside the call</a:t>
            </a:r>
          </a:p>
          <a:p>
            <a:pPr>
              <a:spcAft>
                <a:spcPts val="300"/>
              </a:spcAft>
            </a:pPr>
            <a:r>
              <a:rPr sz="1600" b="0" i="0">
                <a:solidFill>
                  <a:srgbClr val="595959"/>
                </a:solidFill>
                <a:latin typeface="Arial"/>
              </a:rPr>
              <a:t>the contract it is read by.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record agrees with PHEQA's register; the call is one the contract publishes.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contract another system reads is produced from the description, not written beside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an interface contract as a plain list.</a:t>
            </a:r>
          </a:p>
          <a:p>
            <a:pPr algn="l">
              <a:spcAft>
                <a:spcPts val="400"/>
              </a:spcAft>
            </a:pPr>
            <a:r>
              <a:rPr sz="1800" b="0" i="0">
                <a:solidFill>
                  <a:srgbClr val="595959"/>
                </a:solidFill>
                <a:latin typeface="Arial"/>
              </a:rPr>
              <a:t>The prompt in the companion material gives you two plain lists, what the other body can ask for and what it cannot.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(default edition), sections 8.1, 8.2 and 8.3</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NIIS X-Road 7.7.0, Message Protocol for REST (PR-REST), sections 4.1 and 5.1</a:t>
            </a:r>
          </a:p>
          <a:p>
            <a:pPr>
              <a:spcAft>
                <a:spcPts val="1200"/>
              </a:spcAft>
            </a:pPr>
            <a:r>
              <a:rPr sz="1700" b="0" i="0">
                <a:solidFill>
                  <a:srgbClr val="1A1A1A"/>
                </a:solidFill>
                <a:latin typeface="Arial"/>
              </a:rPr>
              <a:t>•  OpenAPI Specification 3.0.3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Payments and information mediation as named crossings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payment or a call across the data exchange is a crossing the architecture names, not a block the service rebuilds.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fee, another body's register, a sign-in: each leaves the service and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architecture names every one of them before anyone builds anything.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crossing, named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crosses, and in which direction.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body on the other side.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block it goes 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Who on the other side has agreed to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fee: through the Payments block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service sends a payment request to the Payments block.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request carries the payer, the payee, the amount, the currency, the policy and the service's own transaction number.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tracks the payment, and the confirmation comes back.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block is not yet there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applicant pays into the authority's bank account.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finance officer records the evidence of the payment.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table names this as a crossing still to move to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Progressa: the crossings of PHEQA's registration service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application fee</a:t>
            </a:r>
          </a:p>
          <a:p>
            <a:pPr>
              <a:spcAft>
                <a:spcPts val="300"/>
              </a:spcAft>
            </a:pPr>
            <a:r>
              <a:rPr sz="1600" b="0" i="0">
                <a:solidFill>
                  <a:srgbClr val="595959"/>
                </a:solidFill>
                <a:latin typeface="Arial"/>
              </a:rPr>
              <a:t>out to the Payments block; the confirmation back.</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An institution's record</a:t>
            </a:r>
          </a:p>
          <a:p>
            <a:pPr>
              <a:spcAft>
                <a:spcPts val="300"/>
              </a:spcAft>
            </a:pPr>
            <a:r>
              <a:rPr sz="1600" b="0" i="0">
                <a:solidFill>
                  <a:srgbClr val="595959"/>
                </a:solidFill>
                <a:latin typeface="Arial"/>
              </a:rPr>
              <a:t>out to MoEYS when MoEYS asks, through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Who signs in</a:t>
            </a:r>
          </a:p>
          <a:p>
            <a:pPr>
              <a:spcAft>
                <a:spcPts val="300"/>
              </a:spcAft>
            </a:pPr>
            <a:r>
              <a:rPr sz="1600" b="0" i="0">
                <a:solidFill>
                  <a:srgbClr val="595959"/>
                </a:solidFill>
                <a:latin typeface="Arial"/>
              </a:rPr>
              <a:t>in from PNIA, through its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Of the same kind</a:t>
            </a:r>
          </a:p>
          <a:p>
            <a:pPr>
              <a:spcAft>
                <a:spcPts val="300"/>
              </a:spcAft>
            </a:pPr>
            <a:r>
              <a:rPr sz="1600" b="0" i="0">
                <a:solidFill>
                  <a:srgbClr val="595959"/>
                </a:solidFill>
                <a:latin typeface="Arial"/>
              </a:rPr>
              <a:t>a graduate's credential, issued by PDCA into the learner's digital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row agreed by the other side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operator of the Payments block</a:t>
            </a:r>
          </a:p>
          <a:p>
            <a:pPr>
              <a:spcAft>
                <a:spcPts val="300"/>
              </a:spcAft>
            </a:pPr>
            <a:r>
              <a:rPr sz="1600" b="0" i="0">
                <a:solidFill>
                  <a:srgbClr val="595959"/>
                </a:solidFill>
                <a:latin typeface="Arial"/>
              </a:rPr>
              <a:t>the fee.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PDGA</a:t>
            </a:r>
          </a:p>
          <a:p>
            <a:pPr>
              <a:spcAft>
                <a:spcPts val="300"/>
              </a:spcAft>
            </a:pPr>
            <a:r>
              <a:rPr sz="1600" b="0" i="0">
                <a:solidFill>
                  <a:srgbClr val="595959"/>
                </a:solidFill>
                <a:latin typeface="Arial"/>
              </a:rPr>
              <a:t>the use of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PNIA</a:t>
            </a:r>
          </a:p>
          <a:p>
            <a:pPr>
              <a:spcAft>
                <a:spcPts val="300"/>
              </a:spcAft>
            </a:pPr>
            <a:r>
              <a:rPr sz="1600" b="0" i="0">
                <a:solidFill>
                  <a:srgbClr val="595959"/>
                </a:solidFill>
                <a:latin typeface="Arial"/>
              </a:rPr>
              <a:t>the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MoEYS</a:t>
            </a:r>
          </a:p>
          <a:p>
            <a:pPr>
              <a:spcAft>
                <a:spcPts val="300"/>
              </a:spcAft>
            </a:pPr>
            <a:r>
              <a:rPr sz="1600" b="0" i="0">
                <a:solidFill>
                  <a:srgbClr val="595959"/>
                </a:solidFill>
                <a:latin typeface="Arial"/>
              </a:rPr>
              <a:t>what it reads from the register.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payment or a call across the data exchange is a crossing the architecture names, not a block the service rebuilds.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crossing table of a service.</a:t>
            </a:r>
          </a:p>
          <a:p>
            <a:pPr algn="l">
              <a:spcAft>
                <a:spcPts val="400"/>
              </a:spcAft>
            </a:pPr>
            <a:r>
              <a:rPr sz="1800" b="0" i="0">
                <a:solidFill>
                  <a:srgbClr val="595959"/>
                </a:solidFill>
                <a:latin typeface="Arial"/>
              </a:rPr>
              <a:t>The prompt in the companion material gives you a crossing table, one row for each crossing.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Payments 3.0, sections 6.4 and 6.6</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GovStack Registration (default edition),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Proof on the running system: a task a person finishes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last check is a person finishing a real task on the running service, and the record that they did.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check reports a pass. Can an officer finish a real task?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document is accepted, and the application is installed.</a:t>
            </a:r>
          </a:p>
          <a:p>
            <a:pPr>
              <a:spcAft>
                <a:spcPts val="800"/>
              </a:spcAft>
            </a:pPr>
            <a:r>
              <a:rPr sz="1700" b="0" i="0">
                <a:solidFill>
                  <a:srgbClr val="595959"/>
                </a:solidFill>
                <a:latin typeface="Arial"/>
              </a:rPr>
              <a:t>Only a person on the running service can answer, and the answer must be recorded.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third rule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of a document is not a check of the service.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At least one check ends on the running system.</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person finishes a real task, and the run is recorded.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journey, written before it is run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Where it starts</a:t>
            </a:r>
          </a:p>
          <a:p>
            <a:pPr>
              <a:spcAft>
                <a:spcPts val="300"/>
              </a:spcAft>
            </a:pPr>
            <a:r>
              <a:rPr sz="1600" b="0" i="0">
                <a:solidFill>
                  <a:srgbClr val="595959"/>
                </a:solidFill>
                <a:latin typeface="Arial"/>
              </a:rPr>
              <a:t>a menu entry, and the role signed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steps</a:t>
            </a:r>
          </a:p>
          <a:p>
            <a:pPr>
              <a:spcAft>
                <a:spcPts val="300"/>
              </a:spcAft>
            </a:pPr>
            <a:r>
              <a:rPr sz="1600" b="0" i="0">
                <a:solidFill>
                  <a:srgbClr val="595959"/>
                </a:solidFill>
                <a:latin typeface="Arial"/>
              </a:rPr>
              <a:t>each screen, and what the person does there.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counts as finished.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approving a change of name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Sign in to MoEYS's application with the minister's role.</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Open Names, the list and reviews; choose the advice on Harbourview University College.</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Read PHEQA's advice, and the college as PHEQA's register shows it.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Approve the new name.</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Finished</a:t>
            </a:r>
          </a:p>
          <a:p>
            <a:pPr>
              <a:spcAft>
                <a:spcPts val="300"/>
              </a:spcAft>
            </a:pPr>
            <a:r>
              <a:rPr sz="1600" b="0" i="0">
                <a:solidFill>
                  <a:srgbClr val="595959"/>
                </a:solidFill>
                <a:latin typeface="Arial"/>
              </a:rPr>
              <a:t>the approval is recorded and sent to PHEQA.</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record that it happened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Which journey.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On which installation.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At what time, and with what result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Written and not run</a:t>
            </a:r>
          </a:p>
          <a:p>
            <a:pPr>
              <a:spcAft>
                <a:spcPts val="300"/>
              </a:spcAft>
            </a:pPr>
            <a:r>
              <a:rPr sz="1600" b="0" i="0">
                <a:solidFill>
                  <a:srgbClr val="595959"/>
                </a:solidFill>
                <a:latin typeface="Arial"/>
              </a:rPr>
              <a:t>reported as not run.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change of name, on the running application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officer's journey, from the list of advices to the recorded approval.</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record of the run beside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journey ends on the recorded approval; the record names the journey, the installation and the time.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last check is a person finishing a real task on the running service, and the record that they did.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acceptance journeys for officers from the goals' stories.</a:t>
            </a:r>
          </a:p>
          <a:p>
            <a:pPr algn="l">
              <a:spcAft>
                <a:spcPts val="400"/>
              </a:spcAft>
            </a:pPr>
            <a:r>
              <a:rPr sz="1800" b="0" i="0">
                <a:solidFill>
                  <a:srgbClr val="595959"/>
                </a:solidFill>
                <a:latin typeface="Arial"/>
              </a:rPr>
              <a:t>The prompt in the companion material gives you one acceptance journey for each goal, each with its start, its steps and what counts as finished.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third rule, that at least one check ends on the running system,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