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4" r:id="rId66"/>
    <p:sldId id="2745" r:id="rId67"/>
    <p:sldId id="2746" r:id="rId68"/>
    <p:sldId id="2747" r:id="rId69"/>
    <p:sldId id="2748" r:id="rId70"/>
    <p:sldId id="2749" r:id="rId71"/>
    <p:sldId id="2750" r:id="rId72"/>
    <p:sldId id="2751" r:id="rId73"/>
    <p:sldId id="2752"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registration service takes a fee, reads another body's register and signs people in. Each of these leaves the service and comes back. Your architecture should name every one of them before anyone builds anything.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any flow that leaves the service or enters it. The architecture names each one in a table: what crosses, in which direction, the body on the other side, and the block it passes through. The GovStack Registration specification expects all traffic into and out of a block to go through an Information Mediator or a secure gateway. A service that goes round the exchange builds a private road that nobody else can check.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the fee first. The registration service does not build its own payment screen or deal with banks. It sends a payment request to the government's Payments block. The GovStack Payments specification lists what such a request must carry at the least: who pays, who is paid, the amount, the currency, the policy, and the service's own transaction number. The block's payment portal tracks each payment's status and history, and the confirmation comes back to the service. The service keeps the confirmation, not the payment details.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 may not be ready on the first day. Then the service does what many services do today: the applicant pays into the authority's bank account, and the finance officer records the evidence of the payment against the application: who paid, how much, and when. That is honest, and it works. The architecture still names it as a crossing, one still to move to the Payments block, so that the move is planned and budgeted, and not forgotten.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table for PHEQA's registration service. The application fee goes out to the Payments block, and the confirmation comes back. An institution's record goes out to MoEYS when MoEYS asks for it, through Linkup, which PDGA operates. Who signs in comes in from PNIA. And one more crossing of the same kind lies ahead: a graduate's credential, issued by PDCA into the learner's digital wallet. Each row names a body that must agree to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 promise made together with someone else, so each row needs that body's agreement. The operator of the Payments block confirms the fee crossing. PDGA confirms the use of Linkup. PNIA confirms the sign-in. MoEYS confirms what it will read from the register. Then the head of PHEQA's ICT unit accepts the table. A row that nobody on the other side has seen is a promise made on their behalf, and the first test will show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every crossing, the body on the other side and the block it goes through. Never rebuild a block that a crossing can use.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Payments and information mediation as named crossings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payment or a call across the data exchange is a crossing the architecture names, not a block the service rebuilds.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fee, another body's register, a sign-in: each leaves the service and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architecture names every one of them before anyone builds anything.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crossing, named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crosses, and in which direction.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body on the other side.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block it goes 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Who on the other side has agreed to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fee: through the Payments block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service sends a payment request to the Payments block.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request carries the payer, the payee, the amount, the currency, the policy and the service's own transaction number.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tracks the payment, and the confirmation comes back.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block is not yet there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applicant pays into the authority's bank account.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finance officer records the evidence of the payment.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table names this as a crossing still to move to the Payments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Progressa: the crossings of PHEQA's registration service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application fee</a:t>
            </a:r>
          </a:p>
          <a:p>
            <a:pPr>
              <a:spcAft>
                <a:spcPts val="300"/>
              </a:spcAft>
            </a:pPr>
            <a:r>
              <a:rPr sz="1600" b="0" i="0">
                <a:solidFill>
                  <a:srgbClr val="595959"/>
                </a:solidFill>
                <a:latin typeface="Arial"/>
              </a:rPr>
              <a:t>out to the Payments block; the confirmation back.</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An institution's record</a:t>
            </a:r>
          </a:p>
          <a:p>
            <a:pPr>
              <a:spcAft>
                <a:spcPts val="300"/>
              </a:spcAft>
            </a:pPr>
            <a:r>
              <a:rPr sz="1600" b="0" i="0">
                <a:solidFill>
                  <a:srgbClr val="595959"/>
                </a:solidFill>
                <a:latin typeface="Arial"/>
              </a:rPr>
              <a:t>out to MoEYS when MoEYS asks, through Linkup.</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Who signs in</a:t>
            </a:r>
          </a:p>
          <a:p>
            <a:pPr>
              <a:spcAft>
                <a:spcPts val="300"/>
              </a:spcAft>
            </a:pPr>
            <a:r>
              <a:rPr sz="1600" b="0" i="0">
                <a:solidFill>
                  <a:srgbClr val="595959"/>
                </a:solidFill>
                <a:latin typeface="Arial"/>
              </a:rPr>
              <a:t>in from PNIA, through its sign-in.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Of the same kind</a:t>
            </a:r>
          </a:p>
          <a:p>
            <a:pPr>
              <a:spcAft>
                <a:spcPts val="300"/>
              </a:spcAft>
            </a:pPr>
            <a:r>
              <a:rPr sz="1600" b="0" i="0">
                <a:solidFill>
                  <a:srgbClr val="595959"/>
                </a:solidFill>
                <a:latin typeface="Arial"/>
              </a:rPr>
              <a:t>a graduate's credential, issued by PDCA into the learner's digital wallet.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row agreed by the other side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operator of the Payments block</a:t>
            </a:r>
          </a:p>
          <a:p>
            <a:pPr>
              <a:spcAft>
                <a:spcPts val="300"/>
              </a:spcAft>
            </a:pPr>
            <a:r>
              <a:rPr sz="1600" b="0" i="0">
                <a:solidFill>
                  <a:srgbClr val="595959"/>
                </a:solidFill>
                <a:latin typeface="Arial"/>
              </a:rPr>
              <a:t>the fee.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PDGA</a:t>
            </a:r>
          </a:p>
          <a:p>
            <a:pPr>
              <a:spcAft>
                <a:spcPts val="300"/>
              </a:spcAft>
            </a:pPr>
            <a:r>
              <a:rPr sz="1600" b="0" i="0">
                <a:solidFill>
                  <a:srgbClr val="595959"/>
                </a:solidFill>
                <a:latin typeface="Arial"/>
              </a:rPr>
              <a:t>the use of Linkup.</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PNIA</a:t>
            </a:r>
          </a:p>
          <a:p>
            <a:pPr>
              <a:spcAft>
                <a:spcPts val="300"/>
              </a:spcAft>
            </a:pPr>
            <a:r>
              <a:rPr sz="1600" b="0" i="0">
                <a:solidFill>
                  <a:srgbClr val="595959"/>
                </a:solidFill>
                <a:latin typeface="Arial"/>
              </a:rPr>
              <a:t>the sign-in.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MoEYS</a:t>
            </a:r>
          </a:p>
          <a:p>
            <a:pPr>
              <a:spcAft>
                <a:spcPts val="300"/>
              </a:spcAft>
            </a:pPr>
            <a:r>
              <a:rPr sz="1600" b="0" i="0">
                <a:solidFill>
                  <a:srgbClr val="595959"/>
                </a:solidFill>
                <a:latin typeface="Arial"/>
              </a:rPr>
              <a:t>what it reads from the register.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payment or a call across the data exchange is a crossing the architecture names, not a block the service rebuilds.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crossing table of a service.</a:t>
            </a:r>
          </a:p>
          <a:p>
            <a:pPr algn="l">
              <a:spcAft>
                <a:spcPts val="400"/>
              </a:spcAft>
            </a:pPr>
            <a:r>
              <a:rPr sz="1800" b="0" i="0">
                <a:solidFill>
                  <a:srgbClr val="595959"/>
                </a:solidFill>
                <a:latin typeface="Arial"/>
              </a:rPr>
              <a:t>The prompt in the companion material gives you a crossing table, one row for each crossing.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Payments 3.0, sections 6.4 and 6.6</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GovStack Registration (default edition), section 5.1.4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