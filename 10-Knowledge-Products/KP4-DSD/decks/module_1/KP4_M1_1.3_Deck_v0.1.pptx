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3" r:id="rId35"/>
    <p:sldId id="2714" r:id="rId36"/>
    <p:sldId id="2715" r:id="rId37"/>
    <p:sldId id="2716" r:id="rId38"/>
    <p:sldId id="2717" r:id="rId39"/>
    <p:sldId id="2718" r:id="rId40"/>
    <p:sldId id="2719" r:id="rId41"/>
    <p:sldId id="2720"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In Progressa, a supplier's analyst was writing the part of PHEQA's service in which an institution appeals against a decision of the quality authority. Progressa's regulations give the right to appeal, but the text the analyst had did not say within how long. The analyst needed a number to draw the screens, so the draft said thirty days. Nobody gave that figure. It looks like a fact, and it will be built as a fact: on day thirty-one, the self-service refuses the appeal.</a:t>
            </a:r>
          </a:p>
          <a:p/>
          <a:p>
            <a:r>
              <a:t>Slide specification: The draft line in quotation, as plain text. No screenshot of a document.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are asked to sign a specification. Every line in it looks certain. That is the moment to be careful, because a line that looks certain may be a guess, and nobody can tell a guess from a fact.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If the true period is longer, an institution with a lawful appeal is turned away by the system, and nobody knows why the system says thirty. The guess may even be right. It is still a fault, and a worse one than a blank would have been, because a blank is visible and a guess is not. Nobody reading the document can tell which of its figures were given and which were invented to keep the work moving.</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Now the same line, written under the SDD method. An institution may appeal within the appeal period. The appeal period is to be confirmed by the Registrar of PHEQA by the fifteenth of November. And the document counts it: open question seven of nine. This version is not weaker. It is more complete. It says exactly what is not yet known, who will settle it and by when. The builder builds everything else and leaves the one figure to a setting the Registrar fills in.</a:t>
            </a:r>
          </a:p>
          <a:p/>
          <a:p>
            <a:r>
              <a:t>Slide specification: Set beside slide 2 in the same layout, so the two versions can be compared.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Before you sign, ask three questions. First: could the builder work from this document alone, without working anything out and without asking anybody anything, apart from the named open questions? Second: was the review held, with the owner of the document, the builder and the official who will live with the result in the room? Third: is every remaining gap named, owned and counted? When all three answers are yes, the document is good enough to sign.</a:t>
            </a:r>
          </a:p>
          <a:p/>
          <a:p>
            <a:r>
              <a:t>Slide specification: The manager's test of good enough. Text-only.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When you read a draft, look for figures, periods, roles and rules with no source beside them. Ask of each one where it came from. An honest answer is either a source, or a name and a date. And be wary of a draft with no open questions at all. In a new service, that is a warning, not a result: it usually means that somebody answered the hard questions alone.</a:t>
            </a:r>
          </a:p>
          <a:p/>
          <a:p>
            <a:r>
              <a:t>Slide specification: Text-only.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a:t>
            </a:r>
          </a:p>
          <a:p/>
          <a:p>
            <a:r>
              <a:t>VO: A question with an owner and a date belongs in a document you sign. A guessed answer does not, even when the guess turns out right.</a:t>
            </a:r>
          </a:p>
          <a:p/>
          <a:p>
            <a:r>
              <a:t>Slide specification: The single message, word for word. No sources slide follows: this subtopic cites no external source.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1 · VIDEO 1.3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A question with a name on it is part of the specification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open question with an owner and a date is acceptable; a question answered by a guess is a fault.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Every line looks certain. That is the moment to be careful.</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A line that looks certain may be a guess.</a:t>
            </a:r>
          </a:p>
          <a:p>
            <a:pPr>
              <a:spcAft>
                <a:spcPts val="800"/>
              </a:spcAft>
            </a:pPr>
            <a:r>
              <a:rPr sz="1700" b="0" i="0">
                <a:solidFill>
                  <a:srgbClr val="595959"/>
                </a:solidFill>
                <a:latin typeface="Arial"/>
              </a:rPr>
              <a:t>And nobody can tell a guess from a fact.</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A question with a name on it is part of the specification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appeal period, written as a guess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An institution may appeal within 30 days of PHEQA's decision. After 30 days the self-service no longer offers the appeal.</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Nobody gave the figure.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A question with a name on it is part of the specification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guess costs</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If the true period is longer, the system turns a lawful appeal away.</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Nobody can tell which figures were given and which were guessed.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A question with a name on it is part of the specification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same line, as a named question</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000" b="1" i="0">
                <a:solidFill>
                  <a:srgbClr val="1A1A1A"/>
                </a:solidFill>
                <a:latin typeface="Arial"/>
              </a:rPr>
              <a:t>The appeal period: to be confirmed by the Registrar of PHEQA by 15 November 2026.</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000" b="1" i="0">
                <a:solidFill>
                  <a:srgbClr val="1A1A1A"/>
                </a:solidFill>
                <a:latin typeface="Arial"/>
              </a:rPr>
              <a:t>Open question 7 of 9 of this document.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A question with a name on it is part of the specification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questions before you sign</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05839"/>
          </a:xfrm>
          <a:prstGeom prst="rect">
            <a:avLst/>
          </a:prstGeom>
          <a:noFill/>
        </p:spPr>
        <p:txBody>
          <a:bodyPr wrap="square">
            <a:spAutoFit/>
          </a:bodyPr>
          <a:lstStyle/>
          <a:p>
            <a:pPr>
              <a:spcAft>
                <a:spcPts val="300"/>
              </a:spcAft>
            </a:pPr>
            <a:r>
              <a:rPr sz="2200" b="1" i="0">
                <a:solidFill>
                  <a:srgbClr val="1A1A1A"/>
                </a:solidFill>
                <a:latin typeface="Arial"/>
              </a:rPr>
              <a:t>Can someone build from it without asking anything?</a:t>
            </a:r>
          </a:p>
        </p:txBody>
      </p:sp>
      <p:sp>
        <p:nvSpPr>
          <p:cNvPr id="6" name="Rectangle 5"/>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603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14600"/>
            <a:ext cx="10527487" cy="1005839"/>
          </a:xfrm>
          <a:prstGeom prst="rect">
            <a:avLst/>
          </a:prstGeom>
          <a:noFill/>
        </p:spPr>
        <p:txBody>
          <a:bodyPr wrap="square">
            <a:spAutoFit/>
          </a:bodyPr>
          <a:lstStyle/>
          <a:p>
            <a:pPr>
              <a:spcAft>
                <a:spcPts val="300"/>
              </a:spcAft>
            </a:pPr>
            <a:r>
              <a:rPr sz="2200" b="1" i="0">
                <a:solidFill>
                  <a:srgbClr val="1A1A1A"/>
                </a:solidFill>
                <a:latin typeface="Arial"/>
              </a:rPr>
              <a:t>Was the review held?</a:t>
            </a:r>
          </a:p>
        </p:txBody>
      </p:sp>
      <p:sp>
        <p:nvSpPr>
          <p:cNvPr id="9" name="Rectangle 8"/>
          <p:cNvSpPr/>
          <p:nvPr/>
        </p:nvSpPr>
        <p:spPr>
          <a:xfrm>
            <a:off x="621792" y="35250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11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566160"/>
            <a:ext cx="10527487" cy="1005839"/>
          </a:xfrm>
          <a:prstGeom prst="rect">
            <a:avLst/>
          </a:prstGeom>
          <a:noFill/>
        </p:spPr>
        <p:txBody>
          <a:bodyPr wrap="square">
            <a:spAutoFit/>
          </a:bodyPr>
          <a:lstStyle/>
          <a:p>
            <a:pPr>
              <a:spcAft>
                <a:spcPts val="300"/>
              </a:spcAft>
            </a:pPr>
            <a:r>
              <a:rPr sz="2200" b="1" i="0">
                <a:solidFill>
                  <a:srgbClr val="1A1A1A"/>
                </a:solidFill>
                <a:latin typeface="Arial"/>
              </a:rPr>
              <a:t>Is every remaining gap named, owned and counted?</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A question with a name on it is part of the specification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Where to look in a draft</a:t>
            </a:r>
          </a:p>
        </p:txBody>
      </p:sp>
      <p:sp>
        <p:nvSpPr>
          <p:cNvPr id="4" name="TextBox 3"/>
          <p:cNvSpPr txBox="1"/>
          <p:nvPr/>
        </p:nvSpPr>
        <p:spPr>
          <a:xfrm>
            <a:off x="658368" y="1463040"/>
            <a:ext cx="10984687" cy="1005839"/>
          </a:xfrm>
          <a:prstGeom prst="rect">
            <a:avLst/>
          </a:prstGeom>
          <a:noFill/>
        </p:spPr>
        <p:txBody>
          <a:bodyPr wrap="square">
            <a:spAutoFit/>
          </a:bodyPr>
          <a:lstStyle/>
          <a:p>
            <a:pPr>
              <a:spcAft>
                <a:spcPts val="300"/>
              </a:spcAft>
            </a:pPr>
            <a:r>
              <a:rPr sz="2200" b="1" i="0">
                <a:solidFill>
                  <a:srgbClr val="1A1A1A"/>
                </a:solidFill>
                <a:latin typeface="Arial"/>
              </a:rPr>
              <a:t>Figures, periods, roles and rules with no source beside them.</a:t>
            </a:r>
          </a:p>
        </p:txBody>
      </p:sp>
      <p:sp>
        <p:nvSpPr>
          <p:cNvPr id="5" name="Rectangle 4"/>
          <p:cNvSpPr/>
          <p:nvPr/>
        </p:nvSpPr>
        <p:spPr>
          <a:xfrm>
            <a:off x="621792" y="2473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14600"/>
            <a:ext cx="10984687" cy="1005839"/>
          </a:xfrm>
          <a:prstGeom prst="rect">
            <a:avLst/>
          </a:prstGeom>
          <a:noFill/>
        </p:spPr>
        <p:txBody>
          <a:bodyPr wrap="square">
            <a:spAutoFit/>
          </a:bodyPr>
          <a:lstStyle/>
          <a:p>
            <a:pPr>
              <a:spcAft>
                <a:spcPts val="300"/>
              </a:spcAft>
            </a:pPr>
            <a:r>
              <a:rPr sz="2200" b="1" i="0">
                <a:solidFill>
                  <a:srgbClr val="1A1A1A"/>
                </a:solidFill>
                <a:latin typeface="Arial"/>
              </a:rPr>
              <a:t>Ask of each one: where did this come from?</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A question with a name on it is part of the specification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An open question with an owner and a date is acceptable; a question answered by a guess is a fault.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Find the guessed answers in a draft specification.</a:t>
            </a:r>
          </a:p>
          <a:p>
            <a:pPr algn="l">
              <a:spcAft>
                <a:spcPts val="400"/>
              </a:spcAft>
            </a:pPr>
            <a:r>
              <a:rPr sz="1800" b="0" i="0">
                <a:solidFill>
                  <a:srgbClr val="595959"/>
                </a:solidFill>
                <a:latin typeface="Arial"/>
              </a:rPr>
              <a:t>The prompt in the companion material gives you a list of the guessed answers in the draft, each turned into a named question with a proposed owner.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1.3 · A question with a name on it is part of the specification</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