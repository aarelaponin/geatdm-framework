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41" r:id="rId63"/>
    <p:sldId id="2742" r:id="rId64"/>
    <p:sldId id="2743" r:id="rId65"/>
    <p:sldId id="2744" r:id="rId66"/>
    <p:sldId id="2745" r:id="rId67"/>
    <p:sldId id="2746" r:id="rId68"/>
    <p:sldId id="2747" r:id="rId69"/>
    <p:sldId id="2748" r:id="rId70"/>
    <p:sldId id="2749"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new service will read another body's register. Has that body agreed? A promise made on someone else's behalf can stall a project at the border between two offices. One page prevents it.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page is the software architecture. It names three things: the platform the service runs on, the shared blocks it uses instead of building its own, and every flow that crosses to another body, in either direction. The solution architect writes it once the register of what was asked, the records and the goals are settled, and agrees it with the bodies on the other side of each crossing. A manager can read it without a technical background.</a:t>
            </a:r>
          </a:p>
          <a:p/>
          <a:p>
            <a:r>
              <a:t>Slide specification: The core payload. Text-only list.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Progressa's page shows two applications. The quality authority's, PHEQA's, runs on its own installation of the low-code platform and keeps the register of institutions. It is the only one that writes it. The ministry's, MoEYS's, runs on a second installation and keeps the minister's decisions and the list for the Gazette, but no copy of the register. Both use PNIA's sign-in. Every exchange between the two bodies passes through Linkup, the data exchange layer that PDGA operates, and the fee goes through the Payments block.</a:t>
            </a:r>
          </a:p>
          <a:p/>
          <a:p>
            <a:r>
              <a:t>Slide specification: The drawn architecture is figure F7 of the written guide; the slide stays text-only, with plain-text boxes at most.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heart of the page is the table of crossings. As PHEQA's application sees it, there are six. Who is signing in comes in from PNIA. An institution's entry goes out to MoEYS, as the answer to the ministry's reading. PHEQA's recommendation goes out to the minister, and the minister's decision on a licence and approval of a new name come back. The fee request goes out to the Payments block, and its confirmation comes in. Each row names its direction, the body on the other side and the channel. For each crossing, the full document also says what happens when a value is missing or out of date, or when the other side cannot be reached. If PHEQA's register cannot be reached, the ministry's officer waits; there is no old copy to use.</a:t>
            </a:r>
          </a:p>
          <a:p/>
          <a:p>
            <a:r>
              <a:t>Slide specification: The crossing numbers may appear in small type at the start of each row.</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building block approach as GovStack publishes it. Its Architecture specification asks that government systems be built from loosely coupled building blocks that can be developed, maintained and replaced independently, which supports reuse. The Registration specification asks that traffic in and out of the block pass through an Information Mediator or a secure API gateway: a controlled entry point that checks every request. The Information Mediator specification describes the mediator as the channel to registry, identity and payment services. In Progressa, that mediator is Linkup.</a:t>
            </a:r>
          </a:p>
          <a:p/>
          <a:p>
            <a:r>
              <a:t>Slide specification: Each phrase is the specification's own wording, shortened.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the head of PHEQA's ICT unit accepts the page, the body on the other side of each crossing confirms its row: the ministry for four rows, PNIA for the sign-in, the operator of the Payments block for the fee, and PDGA for the use of Linkup. GovStack's Architecture specification warns that when systems do not share the same rules, every connection becomes a custom project. A crossing nobody on the other side has agreed is a promise made on their behalf.</a:t>
            </a:r>
          </a:p>
          <a:p/>
          <a:p>
            <a:r>
              <a:t>Slide specification: Roles and bodies, never persons.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Count the crossings. For each one, ask who is on the other side, and whether they have seen and confirmed their row.</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the service is built on, and what crosses its boundary</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One document names the platform, the shared blocks it uses and every flow that crosses to another body.</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Has the other body agreed?</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Your new service will read another body's register.</a:t>
            </a:r>
          </a:p>
          <a:p>
            <a:pPr>
              <a:spcAft>
                <a:spcPts val="800"/>
              </a:spcAft>
            </a:pPr>
            <a:r>
              <a:rPr sz="1700" b="0" i="0">
                <a:solidFill>
                  <a:srgbClr val="595959"/>
                </a:solidFill>
                <a:latin typeface="Arial"/>
              </a:rPr>
              <a:t>A promise made on someone else's behalf can stall a project at the border between two offices.</a:t>
            </a:r>
          </a:p>
          <a:p>
            <a:pPr>
              <a:spcAft>
                <a:spcPts val="800"/>
              </a:spcAft>
            </a:pPr>
            <a:r>
              <a:rPr sz="1700" b="0" i="0">
                <a:solidFill>
                  <a:srgbClr val="595959"/>
                </a:solidFill>
                <a:latin typeface="Arial"/>
              </a:rPr>
              <a:t>One page prevents it.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What the service is built on, and what crosses its boundary</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page: what the service is built on</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The platform it runs on.</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The shared blocks it uses.</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Every flow that crosses to another body.</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What the service is built on, and what crosses its boundary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two applications on one page</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PHEQA's application: its own installation of the low-code platform; keeps and writes the register of institutions.</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MoEYS's application: its own installation; no copy of the register.</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Shared: PNIA's sign-in, Linkup, the Payments block.</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What the service is built on, and what crosses its boundary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table of crossings</a:t>
            </a:r>
          </a:p>
        </p:txBody>
      </p:sp>
      <p:sp>
        <p:nvSpPr>
          <p:cNvPr id="4" name="TextBox 3"/>
          <p:cNvSpPr txBox="1"/>
          <p:nvPr/>
        </p:nvSpPr>
        <p:spPr>
          <a:xfrm>
            <a:off x="658368" y="1463040"/>
            <a:ext cx="10984687" cy="739140"/>
          </a:xfrm>
          <a:prstGeom prst="rect">
            <a:avLst/>
          </a:prstGeom>
          <a:noFill/>
        </p:spPr>
        <p:txBody>
          <a:bodyPr wrap="square">
            <a:spAutoFit/>
          </a:bodyPr>
          <a:lstStyle/>
          <a:p>
            <a:pPr>
              <a:spcAft>
                <a:spcPts val="300"/>
              </a:spcAft>
            </a:pPr>
            <a:r>
              <a:rPr sz="1900" b="1" i="0">
                <a:solidFill>
                  <a:srgbClr val="1A1A1A"/>
                </a:solidFill>
                <a:latin typeface="Arial"/>
              </a:rPr>
              <a:t>X-1 Who is signing in</a:t>
            </a:r>
          </a:p>
          <a:p>
            <a:pPr>
              <a:spcAft>
                <a:spcPts val="300"/>
              </a:spcAft>
            </a:pPr>
            <a:r>
              <a:rPr sz="1550" b="0" i="0">
                <a:solidFill>
                  <a:srgbClr val="595959"/>
                </a:solidFill>
                <a:latin typeface="Arial"/>
              </a:rPr>
              <a:t>in  ·  from PNIA.</a:t>
            </a:r>
          </a:p>
        </p:txBody>
      </p:sp>
      <p:sp>
        <p:nvSpPr>
          <p:cNvPr id="5" name="Rectangle 4"/>
          <p:cNvSpPr/>
          <p:nvPr/>
        </p:nvSpPr>
        <p:spPr>
          <a:xfrm>
            <a:off x="621792" y="2206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247900"/>
            <a:ext cx="10984687" cy="739140"/>
          </a:xfrm>
          <a:prstGeom prst="rect">
            <a:avLst/>
          </a:prstGeom>
          <a:noFill/>
        </p:spPr>
        <p:txBody>
          <a:bodyPr wrap="square">
            <a:spAutoFit/>
          </a:bodyPr>
          <a:lstStyle/>
          <a:p>
            <a:pPr>
              <a:spcAft>
                <a:spcPts val="300"/>
              </a:spcAft>
            </a:pPr>
            <a:r>
              <a:rPr sz="1900" b="1" i="0">
                <a:solidFill>
                  <a:srgbClr val="1A1A1A"/>
                </a:solidFill>
                <a:latin typeface="Arial"/>
              </a:rPr>
              <a:t>X-2 An institution's entry in the register</a:t>
            </a:r>
          </a:p>
          <a:p>
            <a:pPr>
              <a:spcAft>
                <a:spcPts val="300"/>
              </a:spcAft>
            </a:pPr>
            <a:r>
              <a:rPr sz="1550" b="0" i="0">
                <a:solidFill>
                  <a:srgbClr val="595959"/>
                </a:solidFill>
                <a:latin typeface="Arial"/>
              </a:rPr>
              <a:t>out, as an answer  ·  to MoEYS, through Linkup.</a:t>
            </a:r>
          </a:p>
        </p:txBody>
      </p:sp>
      <p:sp>
        <p:nvSpPr>
          <p:cNvPr id="7" name="Rectangle 6"/>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032760"/>
            <a:ext cx="10984687" cy="739140"/>
          </a:xfrm>
          <a:prstGeom prst="rect">
            <a:avLst/>
          </a:prstGeom>
          <a:noFill/>
        </p:spPr>
        <p:txBody>
          <a:bodyPr wrap="square">
            <a:spAutoFit/>
          </a:bodyPr>
          <a:lstStyle/>
          <a:p>
            <a:pPr>
              <a:spcAft>
                <a:spcPts val="300"/>
              </a:spcAft>
            </a:pPr>
            <a:r>
              <a:rPr sz="1900" b="1" i="0">
                <a:solidFill>
                  <a:srgbClr val="1A1A1A"/>
                </a:solidFill>
                <a:latin typeface="Arial"/>
              </a:rPr>
              <a:t>X-3 PHEQA's recommendation</a:t>
            </a:r>
          </a:p>
          <a:p>
            <a:pPr>
              <a:spcAft>
                <a:spcPts val="300"/>
              </a:spcAft>
            </a:pPr>
            <a:r>
              <a:rPr sz="1550" b="0" i="0">
                <a:solidFill>
                  <a:srgbClr val="595959"/>
                </a:solidFill>
                <a:latin typeface="Arial"/>
              </a:rPr>
              <a:t>out  ·  to MoEYS.</a:t>
            </a:r>
          </a:p>
        </p:txBody>
      </p:sp>
      <p:sp>
        <p:nvSpPr>
          <p:cNvPr id="9" name="Rectangle 8"/>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817620"/>
            <a:ext cx="10984687" cy="739140"/>
          </a:xfrm>
          <a:prstGeom prst="rect">
            <a:avLst/>
          </a:prstGeom>
          <a:noFill/>
        </p:spPr>
        <p:txBody>
          <a:bodyPr wrap="square">
            <a:spAutoFit/>
          </a:bodyPr>
          <a:lstStyle/>
          <a:p>
            <a:pPr>
              <a:spcAft>
                <a:spcPts val="300"/>
              </a:spcAft>
            </a:pPr>
            <a:r>
              <a:rPr sz="1900" b="1" i="0">
                <a:solidFill>
                  <a:srgbClr val="1A1A1A"/>
                </a:solidFill>
                <a:latin typeface="Arial"/>
              </a:rPr>
              <a:t>X-4 The minister's decision on a licence</a:t>
            </a:r>
          </a:p>
          <a:p>
            <a:pPr>
              <a:spcAft>
                <a:spcPts val="300"/>
              </a:spcAft>
            </a:pPr>
            <a:r>
              <a:rPr sz="1550" b="0" i="0">
                <a:solidFill>
                  <a:srgbClr val="595959"/>
                </a:solidFill>
                <a:latin typeface="Arial"/>
              </a:rPr>
              <a:t>in  ·  from MoEYS.</a:t>
            </a:r>
          </a:p>
        </p:txBody>
      </p:sp>
      <p:sp>
        <p:nvSpPr>
          <p:cNvPr id="11" name="Rectangle 10"/>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602480"/>
            <a:ext cx="10984687" cy="739140"/>
          </a:xfrm>
          <a:prstGeom prst="rect">
            <a:avLst/>
          </a:prstGeom>
          <a:noFill/>
        </p:spPr>
        <p:txBody>
          <a:bodyPr wrap="square">
            <a:spAutoFit/>
          </a:bodyPr>
          <a:lstStyle/>
          <a:p>
            <a:pPr>
              <a:spcAft>
                <a:spcPts val="300"/>
              </a:spcAft>
            </a:pPr>
            <a:r>
              <a:rPr sz="1900" b="1" i="0">
                <a:solidFill>
                  <a:srgbClr val="1A1A1A"/>
                </a:solidFill>
                <a:latin typeface="Arial"/>
              </a:rPr>
              <a:t>X-5 The minister's approval of a new name</a:t>
            </a:r>
          </a:p>
          <a:p>
            <a:pPr>
              <a:spcAft>
                <a:spcPts val="300"/>
              </a:spcAft>
            </a:pPr>
            <a:r>
              <a:rPr sz="1550" b="0" i="0">
                <a:solidFill>
                  <a:srgbClr val="595959"/>
                </a:solidFill>
                <a:latin typeface="Arial"/>
              </a:rPr>
              <a:t>in  ·  from MoEYS.</a:t>
            </a:r>
          </a:p>
        </p:txBody>
      </p:sp>
      <p:sp>
        <p:nvSpPr>
          <p:cNvPr id="13" name="Rectangle 12"/>
          <p:cNvSpPr/>
          <p:nvPr/>
        </p:nvSpPr>
        <p:spPr>
          <a:xfrm>
            <a:off x="621792" y="53461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387340"/>
            <a:ext cx="10984687" cy="739140"/>
          </a:xfrm>
          <a:prstGeom prst="rect">
            <a:avLst/>
          </a:prstGeom>
          <a:noFill/>
        </p:spPr>
        <p:txBody>
          <a:bodyPr wrap="square">
            <a:spAutoFit/>
          </a:bodyPr>
          <a:lstStyle/>
          <a:p>
            <a:pPr>
              <a:spcAft>
                <a:spcPts val="300"/>
              </a:spcAft>
            </a:pPr>
            <a:r>
              <a:rPr sz="1900" b="1" i="0">
                <a:solidFill>
                  <a:srgbClr val="1A1A1A"/>
                </a:solidFill>
                <a:latin typeface="Arial"/>
              </a:rPr>
              <a:t>X-6 The fee request and its confirmation</a:t>
            </a:r>
          </a:p>
          <a:p>
            <a:pPr>
              <a:spcAft>
                <a:spcPts val="300"/>
              </a:spcAft>
            </a:pPr>
            <a:r>
              <a:rPr sz="1550" b="0" i="0">
                <a:solidFill>
                  <a:srgbClr val="595959"/>
                </a:solidFill>
                <a:latin typeface="Arial"/>
              </a:rPr>
              <a:t>out, then in  ·  the Payments block.</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What the service is built on, and what crosses its boundary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published architecture says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GovStack Architecture: loosely coupled building blocks, developed, maintained and replaced independently.</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Registration block: traffic in and out goes through an Information Mediator or a secure API gateway, a controlled entry point that checks every request.</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Information Mediator: the channel to registry, identity and payment services.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What the service is built on, and what crosses its boundary</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row agreed by the other side</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MoEYS confirms rows X-2 to X-5; PNIA confirms X-1; the operator of the Payments block confirms X-6.</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PDGA confirms the use of Linkup.</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Then the head of PHEQA's ICT unit accepts the page.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What the service is built on, and what crosses its boundary</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One document names the platform, the shared blocks it uses and every flow that crosses to another body.</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List every crossing of the service's boundary.</a:t>
            </a:r>
          </a:p>
          <a:p>
            <a:pPr algn="l">
              <a:spcAft>
                <a:spcPts val="400"/>
              </a:spcAft>
            </a:pPr>
            <a:r>
              <a:rPr sz="1800" b="0" i="0">
                <a:solidFill>
                  <a:srgbClr val="595959"/>
                </a:solidFill>
                <a:latin typeface="Arial"/>
              </a:rPr>
              <a:t>The prompt in the companion material gives you a table of crossings: what crosses, its direction, the body on the other side and the channel it goes through.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What the service is built on, and what crosses its boundary</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Architecture specification, edition 2.2.0, sections 3.2 and 4</a:t>
            </a:r>
          </a:p>
          <a:p>
            <a:pPr>
              <a:spcAft>
                <a:spcPts val="1200"/>
              </a:spcAft>
            </a:pPr>
            <a:r>
              <a:rPr sz="1700" b="0" i="0">
                <a:solidFill>
                  <a:srgbClr val="1A1A1A"/>
                </a:solidFill>
                <a:latin typeface="Arial"/>
              </a:rPr>
              <a:t>•  GovStack Information Mediator Building Block specification, version 1.1.1, section 2</a:t>
            </a:r>
          </a:p>
          <a:p>
            <a:pPr>
              <a:spcAft>
                <a:spcPts val="1200"/>
              </a:spcAft>
            </a:pPr>
            <a:r>
              <a:rPr sz="1700" b="0" i="0">
                <a:solidFill>
                  <a:srgbClr val="1A1A1A"/>
                </a:solidFill>
                <a:latin typeface="Arial"/>
              </a:rPr>
              <a:t>•  GovStack Registration Building Block specification, default edition (23Q4), section 5.1.4</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What the service is built on, and what crosses its boundary</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