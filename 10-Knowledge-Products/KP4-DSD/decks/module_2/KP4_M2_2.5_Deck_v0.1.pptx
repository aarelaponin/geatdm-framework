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32" r:id="rId54"/>
    <p:sldId id="2733" r:id="rId55"/>
    <p:sldId id="2734" r:id="rId56"/>
    <p:sldId id="2735" r:id="rId57"/>
    <p:sldId id="2736" r:id="rId58"/>
    <p:sldId id="2737" r:id="rId59"/>
    <p:sldId id="2738" r:id="rId60"/>
    <p:sldId id="2739" r:id="rId61"/>
    <p:sldId id="2740" r:id="rId6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54" Type="http://schemas.openxmlformats.org/officeDocument/2006/relationships/slide" Target="slides/slide39.xml"/><Relationship Id="rId55" Type="http://schemas.openxmlformats.org/officeDocument/2006/relationships/slide" Target="slides/slide40.xml"/><Relationship Id="rId56" Type="http://schemas.openxmlformats.org/officeDocument/2006/relationships/slide" Target="slides/slide41.xml"/><Relationship Id="rId57" Type="http://schemas.openxmlformats.org/officeDocument/2006/relationships/slide" Target="slides/slide42.xml"/><Relationship Id="rId58" Type="http://schemas.openxmlformats.org/officeDocument/2006/relationships/slide" Target="slides/slide43.xml"/><Relationship Id="rId59" Type="http://schemas.openxmlformats.org/officeDocument/2006/relationships/slide" Target="slides/slide44.xml"/><Relationship Id="rId60" Type="http://schemas.openxmlformats.org/officeDocument/2006/relationships/slide" Target="slides/slide45.xml"/><Relationship Id="rId61" Type="http://schemas.openxmlformats.org/officeDocument/2006/relationships/slide" Target="slides/slide46.xml"/><Relationship Id="rId62" Type="http://schemas.openxmlformats.org/officeDocument/2006/relationships/slide" Target="slides/slide4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new fee is announced. The supplier quotes weeks of work to change it, because the old figure is written into many screens. That cost was decided long before, on the day nobody asked who owns the fee.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Several goals of a service need the same things: the fee for an application, the kinds of institution, the states a licence can be in. If each goal writes its own, they will disagree within a year. So they are written once, in one shared document called the shared groundwork, and every goal reads them from there. Three kinds of thing live there: states, settings and code lists. A person writes the shared groundwork, with an AI assistant if they wish, and each setting has an owner, a named person who confirms its value.</a:t>
            </a:r>
          </a:p>
          <a:p/>
          <a:p>
            <a:r>
              <a:t>Slide specification: The core payload. Text-only list.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Take the application fee at Progressa's quality authority, PHEQA. Its value is 1,200 in Progressa's currency. Its owner is PHEQA's finance officer, and its source is the fee schedule PHEQA issues under article 7 of the regulations. Two goals read it: applying for a licence, to show the fee due, and recording the fee, to check the payment. When it changes, the finance officer records the new value with the date it takes effect. An application already made keeps its fee.</a:t>
            </a:r>
          </a:p>
          <a:p/>
          <a:p>
            <a:r>
              <a:t>Slide specification: The fee is invented for the example and is shown with its currency.</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code list works the same way. PHEQA's kinds of institution are three: university, university college and technical institute. Every goal that asks for a kind offers this list and no other, and a kind that is retired stays readable on every record that used it. A licence has three states: granted, suspended and cancelled. The shared groundwork says which moves between them are allowed and who may make each one: the registration officer, recording the minister's decision. No goal decides for itself what a suspended licence means.</a:t>
            </a:r>
          </a:p>
          <a:p/>
          <a:p>
            <a:r>
              <a:t>Slide specification: The drawn states and moves of the licence are figure F11 of the written guide, used in module 4; the slide stays text-only.</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what happens without it. The first draft of the goal apply for a provisional licence said that the system shows the fee due, 1,000. That figure appeared nowhere in the shared groundwork. The analyst had seen it in an old letter at the registration desk. Built that way, the self-service would have asked for the wrong fee, and the finance officer would have found out only when the payments did not match her schedule. Changing it later would have meant finding every goal that had copied the figure.</a:t>
            </a:r>
          </a:p>
          <a:p/>
          <a:p>
            <a:r>
              <a:t>Slide specification: The quotation is shown as a quotation.</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step should read the setting, and if the setting does not exist yet, raise a question instead. Is the fee one amount, or does it differ by kind of institution? Owner: the finance officer of PHEQA. She answered: one amount for every kind. The setting was written once, with her name on it, and the step reads it. When you review a draft, search it for figures, periods and lists of choices. Each one should come from the shared groundwork.</a:t>
            </a:r>
          </a:p>
          <a:p/>
          <a:p>
            <a:r>
              <a:t>Slide specification: Text-only.</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a:t>
            </a:r>
          </a:p>
          <a:p/>
          <a:p>
            <a:r>
              <a:t>VO: A figure that lives only in one goal's text is an invention, however reasonable it looks. Ask who owns it, and write it once.</a:t>
            </a:r>
          </a:p>
          <a:p/>
          <a:p>
            <a:r>
              <a:t>Slide specification: The single message, word for word.</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This video cites no outside source; no narration.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7.xml"/></Relationships>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2 · VIDEO 2.5</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2.5</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What every goal may use, and may not invent</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States, settings and code lists are written once and shared; a goal that needs something missing raises a question.</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new fee is announced. Changing it costs weeks.</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The old figure is written into many screens.</a:t>
            </a:r>
          </a:p>
          <a:p>
            <a:pPr>
              <a:spcAft>
                <a:spcPts val="800"/>
              </a:spcAft>
            </a:pPr>
            <a:r>
              <a:rPr sz="1700" b="0" i="0">
                <a:solidFill>
                  <a:srgbClr val="595959"/>
                </a:solidFill>
                <a:latin typeface="Arial"/>
              </a:rPr>
              <a:t>That cost was decided on the day nobody asked who owns the fee.</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2.5 · What every goal may use, and may not invent</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Written once, read by every goal</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200" b="1" i="0">
                <a:solidFill>
                  <a:srgbClr val="1A1A1A"/>
                </a:solidFill>
                <a:latin typeface="Arial"/>
              </a:rPr>
              <a:t>States: the stages a record can be in.</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200" b="1" i="0">
                <a:solidFill>
                  <a:srgbClr val="1A1A1A"/>
                </a:solidFill>
                <a:latin typeface="Arial"/>
              </a:rPr>
              <a:t>Settings: a value with an owner, such as a fee.</a:t>
            </a:r>
          </a:p>
        </p:txBody>
      </p:sp>
      <p:sp>
        <p:nvSpPr>
          <p:cNvPr id="7" name="Rectangle 6"/>
          <p:cNvSpPr/>
          <p:nvPr/>
        </p:nvSpPr>
        <p:spPr>
          <a:xfrm>
            <a:off x="621792" y="35250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66160"/>
            <a:ext cx="10984687" cy="1005839"/>
          </a:xfrm>
          <a:prstGeom prst="rect">
            <a:avLst/>
          </a:prstGeom>
          <a:noFill/>
        </p:spPr>
        <p:txBody>
          <a:bodyPr wrap="square">
            <a:spAutoFit/>
          </a:bodyPr>
          <a:lstStyle/>
          <a:p>
            <a:pPr>
              <a:spcAft>
                <a:spcPts val="300"/>
              </a:spcAft>
            </a:pPr>
            <a:r>
              <a:rPr sz="2200" b="1" i="0">
                <a:solidFill>
                  <a:srgbClr val="1A1A1A"/>
                </a:solidFill>
                <a:latin typeface="Arial"/>
              </a:rPr>
              <a:t>Code lists: the choices offered, such as the kinds of institution.</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2.5 · What every goal may use, and may not invent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setting with an owner: the application fee</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900" b="1" i="0">
                <a:solidFill>
                  <a:srgbClr val="1A1A1A"/>
                </a:solidFill>
                <a:latin typeface="Arial"/>
              </a:rPr>
              <a:t>Value: 1,200 in Progressa's currency.</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900" b="1" i="0">
                <a:solidFill>
                  <a:srgbClr val="1A1A1A"/>
                </a:solidFill>
                <a:latin typeface="Arial"/>
              </a:rPr>
              <a:t>Owner: the finance officer of PHEQA.</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900" b="1" i="0">
                <a:solidFill>
                  <a:srgbClr val="1A1A1A"/>
                </a:solidFill>
                <a:latin typeface="Arial"/>
              </a:rPr>
              <a:t>Source: PHEQA's fee schedule under article 7.</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900" b="1" i="0">
                <a:solidFill>
                  <a:srgbClr val="1A1A1A"/>
                </a:solidFill>
                <a:latin typeface="Arial"/>
              </a:rPr>
              <a:t>A new value carries the date it takes effect.</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2.5 · What every goal may use, and may not invent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code list and a set of states</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000" b="1" i="0">
                <a:solidFill>
                  <a:srgbClr val="1A1A1A"/>
                </a:solidFill>
                <a:latin typeface="Arial"/>
              </a:rPr>
              <a:t>Kinds of institution: university, university college, technical institute.</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000" b="1" i="0">
                <a:solidFill>
                  <a:srgbClr val="1A1A1A"/>
                </a:solidFill>
                <a:latin typeface="Arial"/>
              </a:rPr>
              <a:t>A licence is granted, suspended or cancelled.</a:t>
            </a:r>
          </a:p>
        </p:txBody>
      </p:sp>
      <p:sp>
        <p:nvSpPr>
          <p:cNvPr id="7" name="Rectangle 6"/>
          <p:cNvSpPr/>
          <p:nvPr/>
        </p:nvSpPr>
        <p:spPr>
          <a:xfrm>
            <a:off x="621792" y="35250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566160"/>
            <a:ext cx="10984687" cy="1005839"/>
          </a:xfrm>
          <a:prstGeom prst="rect">
            <a:avLst/>
          </a:prstGeom>
          <a:noFill/>
        </p:spPr>
        <p:txBody>
          <a:bodyPr wrap="square">
            <a:spAutoFit/>
          </a:bodyPr>
          <a:lstStyle/>
          <a:p>
            <a:pPr>
              <a:spcAft>
                <a:spcPts val="300"/>
              </a:spcAft>
            </a:pPr>
            <a:r>
              <a:rPr sz="2000" b="1" i="0">
                <a:solidFill>
                  <a:srgbClr val="1A1A1A"/>
                </a:solidFill>
                <a:latin typeface="Arial"/>
              </a:rPr>
              <a:t>Each move is made by the registration officer, recording the minister's decision.</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2.5 · What every goal may use, and may not invent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goal that invented a fee</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200" b="1" i="0">
                <a:solidFill>
                  <a:srgbClr val="1A1A1A"/>
                </a:solidFill>
                <a:latin typeface="Arial"/>
              </a:rPr>
              <a:t>“Step 6. The system shows the fee due, 1,000, and asks the applicant to pay it.”</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200" b="1" i="0">
                <a:solidFill>
                  <a:srgbClr val="1A1A1A"/>
                </a:solidFill>
                <a:latin typeface="Arial"/>
              </a:rPr>
              <a:t>Where did 1,000 come from? An old letter at the registration desk.</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2.5 · What every goal may use, and may not invent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Ask, do not invent</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000" b="1" i="0">
                <a:solidFill>
                  <a:srgbClr val="1A1A1A"/>
                </a:solidFill>
                <a:latin typeface="Arial"/>
              </a:rPr>
              <a:t>The step reads the setting: the application fee as the shared groundwork holds it.</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000" b="1" i="0">
                <a:solidFill>
                  <a:srgbClr val="1A1A1A"/>
                </a:solidFill>
                <a:latin typeface="Arial"/>
              </a:rPr>
              <a:t>Question: one amount, or different by kind of institution? Owner: the finance officer of PHEQA.</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2.5 · What every goal may use, and may not invent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States, settings and code lists are written once and shared; a goal that needs something missing raises a question.</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Find the figures a design invented.</a:t>
            </a:r>
          </a:p>
          <a:p>
            <a:pPr algn="l">
              <a:spcAft>
                <a:spcPts val="400"/>
              </a:spcAft>
            </a:pPr>
            <a:r>
              <a:rPr sz="1800" b="0" i="0">
                <a:solidFill>
                  <a:srgbClr val="595959"/>
                </a:solidFill>
                <a:latin typeface="Arial"/>
              </a:rPr>
              <a:t>The prompt in the companion material gives you a list of figures found in the design, each with a proposed setting, a proposed owner and its source or a question.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2.5 · What every goal may use, and may not invent</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This video cites no outside source. The shared groundwork of states, settings and code lists is part of the SDD method, specification-driven development. Progressa and its fee are invented for this example.</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2.5 · What every goal may use, and may not invent</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