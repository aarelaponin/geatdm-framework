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institution changes its name. Weeks later, other offices of government still use the old one. Nobody did anything wrong: each office kept its own copy. You can stop this before the first screen is drawn.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donor offers to fund a new licensing system for your quality authority. Before you say yes, ask for one page the donor has not asked for: every service your sector owes, and what each one rests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page is the sector's catalogue of services. It lists every service the sector's bodies owe to the public, once, before anyone specifies any one of them. Each row gives four things: the service, the body that owes it, how it runs today, and the shared blocks it cannot run without. The catalogue is written for the whole sector, not for one project. It comes before the first document of any single service, so that no project decides alone what the sector will share.</a:t>
            </a:r>
          </a:p>
          <a:p/>
          <a:p>
            <a:r>
              <a:t>Slide specification: The core payload.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catalogue for higher education. The quality authority, PHEQA, owes three services: registering an institution, licensing it, and hearing its appeal. The ministry, MoEYS, owes three more: approving a change of an institution's name, publishing the list of registered institutions in the Gazette, and reviewing a decision of PHEQA. The credentials authority, PDCA, will owe the seventh, a learner's credential. Today most of them run on paper, by letter, or from a spreadsheet at the registration desk.</a:t>
            </a:r>
          </a:p>
          <a:p/>
          <a:p>
            <a:r>
              <a:t>Slide specification: Progressa's names as the plan gives them. No logos, no emblems.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read the catalogue down one column, the register of institutions. The first service writes it. Every one of the other six rests on it: five now, and the learner's credential later. Read the column of PNIA's sign-in the same way. Six services rest on it now, and the seventh will, and none of them needs its own way of knowing who a person is. A block with one service in its column is a project's tool. A block with many is the sector's infrastructure.</a:t>
            </a:r>
          </a:p>
          <a:p/>
          <a:p>
            <a:r>
              <a:t>Slide specification: The drawn catalogue with its columns is figure F5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one project, building your own list of institutions is always faster than agreeing to read somebody else's. That is not a failure of discipline. It is what a project is paid to do, and it is how one donor comes to fund a register at the authority while another funds a separate list at the ministry. Procurement rules can make each contract cheaper, but only planning for the whole sector makes re-use possible. If each service keeps its own list, Progressa pays for seven lists and spends years making them agree.</a:t>
            </a:r>
          </a:p>
          <a:p/>
          <a:p>
            <a:r>
              <a:t>Slide specification: Carries the structural argument that planning enables re-use. Text boxes side by side are allowed; labels in plain text.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published sources point the same way. The UNDP calls digital public infrastructure a set of foundational digital systems, and says that moving from fragmented systems to shared digital infrastructure requires more than new software: it demands improved governance, funding and institutional responsibilities. Its compendium describes digital public infrastructure as a set of shared digital systems that give access to services at societal scale, and names three categories: digital identity, digital payments and consent-based data sharing. PAERA, GovStack's reference architecture, adds that DPI is not neutral and shapes what can be built on top of it. The catalogue is where your sector decides that foundation, before a project decides it for you.</a:t>
            </a:r>
          </a:p>
          <a:p/>
          <a:p>
            <a:r>
              <a:t>Slide specification: Each phrase is the source's own wording or a close paraphrase marked as such on the written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Before you approve the first project, ask for the catalogue and look down each column. A block that many services rest on should be planned and funded for the sector.</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Months into a project, the supplier says a feature was never asked for. The ministry says it was. Nobody can point to the sentence. Your job is to make sure that, from the first week, somebody can.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answer is a register of what was asked. It lists every separate thing the customer asked for, one entry each. Each entry keeps the customer's own words, in quotation marks, and says where they were said: a law and its article, the minutes of a meeting, a letter from the minister. It is drawn from your organisation's own documents, the law, the mandate and the requests, which are kept as received and never edited. It is written before anyone designs anything. Later, every part of the design is measured against it, so it is the one list the design did not write.</a:t>
            </a:r>
          </a:p>
          <a:p/>
          <a:p>
            <a:r>
              <a:t>Slide specification: The core payload.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five entries from the register of Progressa's quality authority, PHEQA, drawn from its Higher Education Regulations. An application is made through PHEQA's self-service. PHEQA inspects before it recommends. The minister decides the licence. The register of institutions is open to the public. A person aggrieved by a decision of PHEQA may ask the minister to review it. Each entry quotes its article word for word and names it, so anyone can open the regulation and check. Each is one sentence of the regulation, not a summary of a chapter.</a:t>
            </a:r>
          </a:p>
          <a:p/>
          <a:p>
            <a:r>
              <a:t>Slide specification: The entries' identifiers may appear in small type. Progressa's regulations are invented for the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habits make a register useful. First, one thing per entry. A sentence that asks for three things becomes three entries, because each may be met, changed or dropped on its own. Second, for each entry the analyst writes in plain words what would show that it is met. For the inspection, that is: no recommendation can be sent to the minister for an application with no recorded inspection. Now the Registrar of PHEQA can tell whether a later design keeps the promise.</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Reading the text closely also shows what it does not say. Article 22 gives the right to a review, but no period for asking. Article 14 opens the register to the public, but does not say whether that includes the name of the person who runs an institution. Neither gap is filled with a guess. A guessed period would look complete and could be wrong. Each becomes a question with an owner and a date: the Director of Higher Education at the ministry for the first, the Registrar of PHEQA for the second.</a:t>
            </a:r>
          </a:p>
          <a:p/>
          <a:p>
            <a:r>
              <a:t>Slide specification: Names roles,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can do the first pass, splitting a long regulation into entries in minutes. But the assistant only proposes. The analyst rules on every entry: accept it, amend it, or set it aside with a reason, a date and a name. An entry that comes back with no article beside it is struck out, unless somebody can say where it was asked. In Progressa, the Registrar of PHEQA then reads each entry against its article before she accepts the register. Do the same: pick three entries at random and open the article each one cites.</a:t>
            </a:r>
          </a:p>
          <a:p/>
          <a:p>
            <a:r>
              <a:t>Slide specification: Carries the rule that only what a person accepted stands.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One thing per entry, in the customer's words, with its source. Every open question gets an owner and a date. Only then does design begin.</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This video cites no outside source;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2 deck. Each section that follows is one standalone ~5 minute video for the manager who commissions the service. Module 2 teaches the documents written before any screen is designed. Nothing is generated in this module.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2.1 is the sector; 2.2 to 2.5 are the one service broken down; 2.6 is what it is built on and what crosses to another body.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the records the service keeps. For the licensing service of Progressa's quality authority, PHEQA, there are four: an institution, an application, a licence and a decision. Each gets one sentence saying what one of them means. A licence, for example, is one permission PHEQA grants to one institution to operate, of one kind, from one day, which may later be suspended or cancelled. An application is one request by one applicant, for one kind of licence, for one institution, made on one day. If two officers would define a record differently, that is a question for the Registrar, with her name on it.</a:t>
            </a:r>
          </a:p>
          <a:p/>
          <a:p>
            <a:r>
              <a:t>Slide specification: The drawn records, with whose each fact is, are figure F6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for every fact the service uses, the team gives one of three answers. We keep it. We take it from another body. Or we must not hold it. A fact with no answer does not stay unanswered for long. It will be kept by whoever builds the first screen that needs it, and that is how several offices end up with several copies of one name.</a:t>
            </a:r>
          </a:p>
          <a:p/>
          <a:p>
            <a:r>
              <a:t>Slide specification: The core payload. Kept on screen while the voice-over gives the reason.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facts from Progressa show all three answers. The institution's name: PHEQA keeps it, because PHEQA registers institutions. The applicant's identity: taken from PNIA, the identity authority, and never copied. PHEQA keeps the identifier PNIA gives it and the name PNIA releases, and never the national number. The institution's record, as the ministry needs it: MoEYS reads it from PHEQA's register each time and keeps only the register number. A ministry with no copy cannot drift out of step.</a:t>
            </a:r>
          </a:p>
          <a:p/>
          <a:p>
            <a:r>
              <a:t>Slide specification: Progressa's names as the plan gives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specifications describe the same split. The Digital Registries specification calls a register a trusted, authoritative service and the single source of truth, and lists the functions by which another service checks that a record exists or reads a value from it. The Identity specification describes the person signing in on the identity block's own screen and choosing which personal data it may share. PHEQA uses the facts the person approved, and nothing more. A register is kept by one body and read by the others; it is not copied by each of them.</a:t>
            </a:r>
          </a:p>
          <a:p/>
          <a:p>
            <a:r>
              <a:t>Slide specification: The registry phrases are the specification's own words.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Last comes the read-back. The supplier's analyst reads the records to the Registrar of PHEQA in plain sentences, with the head of the registration desk beside her. She stopped him at one: an institution may hold one licence of each kind. Not so. An institution whose provisional licence was cancelled may apply again. The records were changed. The read-back gives the business side and the builders one shared language, and a sentence the official does not recognise is a question for the records. Before you accept the records, ask for the read-back, read to the person who runs the service.</a:t>
            </a:r>
          </a:p>
          <a:p/>
          <a:p>
            <a:r>
              <a:t>Slide specification: Carries the shared picture between the official and the builders.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For every fact, ask which of the three answers it has. A fact with no answer will be kept by whoever builds the screen that first needs it.</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 shows you a long list of screens and says the design is complete. Complete against what? One table answers that question in both directions, and you can read it without any technical training.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by breaking the service into goals. A goal is something one person wants to get done with the service, in one sitting, that leaves a result they can see. Apply for a provisional licence is a goal. Maintain institution data is not: nobody sits down to do it, and nobody can say when it is finished. Name each goal with the person who has it, and the list reads like the work of real people.</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the goals of Progressa's two applications. In the quality authority's, PHEQA's: the applicant applies for a provisional licence, the finance officer records the fee, the inspector records a visit, the registration officer recommends a decision to the minister, and an institution appeals. In the ministry's: the minister decides on a licence, approves a change of an institution's name, publishes the list of registered institutions in the Gazette, and reviews a decision of PHEQA at a person's request. Each goal starts with what the person does, and each has one person who wants it done.</a:t>
            </a:r>
          </a:p>
          <a:p/>
          <a:p>
            <a:r>
              <a:t>Slide specification: Progressa's names as the plan gives them. Roles,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tie each goal to the register of what was asked. Put the goals across the top and the entries down the side, and mark each goal against the entries it serves. Then read the table both ways. Every column should have a mark, because every goal must serve something that was asked. Every row should have a mark, because everything that was asked must be served by a goal. This is the first measure of completeness, and a manager can read it without help.</a:t>
            </a:r>
          </a:p>
          <a:p/>
          <a:p>
            <a:r>
              <a:t>Slide specification: The core payload. A plain-text grid of a few cells may stand beside the rows; labels in plain text.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table showed one of each. The goal record the application fee had an empty column: no entry of the register asked for a fee. The entry the register of institutions is open to the public had an empty row: no goal let a member of the public look an institution up. An empty column is something the supplier will build that nobody asked for. An empty row is something you asked for that nobody will build. Both are found by reading the table, long before anything is tested.</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Neither finding was fixed on the spot. Each became a question with an owner and a date. The finance officer found the fee in a schedule PHEQA issues under article 7 of the regulations, which nobody had given the analyst. It became a new entry, and the fee goal now serves it. The Registrar added a goal for the public: look up an institution in the register. Both answers came from people who run the service, not from the supplier. Left to the supplier, one gap would have been filled by a guess at the law, and the other by a guess at what the public needs.</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Ask for the table with goals across and entries down. Before you accept the list of goals, look for an empty column and an empty row.</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This video cites no outside source;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new fee is announced. The supplier quotes weeks of work to change it, because the old figure is written into many screens. That cost was decided long before, on the day nobody asked who owns the fee.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Several goals of a service need the same things: the fee for an application, the kinds of institution, the states a licence can be in. If each goal writes its own, they will disagree within a year. So they are written once, in one shared document called the shared groundwork, and every goal reads them from there. Three kinds of thing live there: states, settings and code lists. A person writes the shared groundwork, with an AI assistant if they wish, and each setting has an owner, a named person who confirms its value.</a:t>
            </a:r>
          </a:p>
          <a:p/>
          <a:p>
            <a:r>
              <a:t>Slide specification: The core payload.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the application fee at Progressa's quality authority, PHEQA. Its value is 1,200 in Progressa's currency. Its owner is PHEQA's finance officer, and its source is the fee schedule PHEQA issues under article 7 of the regulations. Two goals read it: applying for a licence, to show the fee due, and recording the fee, to check the payment. When it changes, the finance officer records the new value with the date it takes effect. An application already made keeps its fee.</a:t>
            </a:r>
          </a:p>
          <a:p/>
          <a:p>
            <a:r>
              <a:t>Slide specification: The fee is invented for the example and is shown with its currency.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code list works the same way. PHEQA's kinds of institution are three: university, university college and technical institute. Every goal that asks for a kind offers this list and no other, and a kind that is retired stays readable on every record that used it. A licence has three states: granted, suspended and cancelled. The shared groundwork says which moves between them are allowed and who may make each one: the registration officer, recording the minister's decision. No goal decides for itself what a suspended licence means.</a:t>
            </a:r>
          </a:p>
          <a:p/>
          <a:p>
            <a:r>
              <a:t>Slide specification: The drawn states and moves of the licence are figure F11 of the written guide, used in module 4;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what happens without it. The first draft of the goal apply for a provisional licence said that the system shows the fee due, 1,000. That figure appeared nowhere in the shared groundwork. The analyst had seen it in an old letter at the registration desk. Built that way, the self-service would have asked for the wrong fee, and the finance officer would have found out only when the payments did not match her schedule. Changing it later would have meant finding every goal that had copied the figure.</a:t>
            </a:r>
          </a:p>
          <a:p/>
          <a:p>
            <a:r>
              <a:t>Slide specification: The quotation is shown as a quotation.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step should read the setting, and if the setting does not exist yet, raise a question instead. Is the fee one amount, or does it differ by kind of institution? Owner: the finance officer of PHEQA. She answered: one amount for every kind. The setting was written once, with her name on it, and the step reads it. When you review a draft, search it for figures, periods and lists of choices. Each one should come from the shared groundwork.</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 figure that lives only in one goal's text is an invention, however reasonable it looks. Ask who owns it, and write it once.</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This video cites no outside source;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new service will read another body's register. Has that body agreed? A promise made on someone else's behalf can stall a project at the border between two offices. One page prevents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page is the software architecture. It names three things: the platform the service runs on, the shared blocks it uses instead of building its own, and every flow that crosses to another body, in either direction. The solution architect writes it once the register of what was asked, the records and the goals are settled, and agrees it with the bodies on the other side of each crossing. A manager can read it without a technical background.</a:t>
            </a:r>
          </a:p>
          <a:p/>
          <a:p>
            <a:r>
              <a:t>Slide specification: The core payload.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Progressa's page shows two applications. The quality authority's, PHEQA's, runs on its own installation of the low-code platform and keeps the register of institutions. It is the only one that writes it. The ministry's, MoEYS's, runs on a second installation and keeps the minister's decisions and the list for the Gazette, but no copy of the register. Both use PNIA's sign-in. Every exchange between the two bodies passes through Linkup, the data exchange layer that PDGA operates, and the fee goes through the Payments block.</a:t>
            </a:r>
          </a:p>
          <a:p/>
          <a:p>
            <a:r>
              <a:t>Slide specification: The drawn architecture is figure F7 of the written guide; the slide stays text-only, with plain-text boxes at most.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heart of the page is the table of crossings. As PHEQA's application sees it, there are six. Who is signing in comes in from PNIA. An institution's entry goes out to MoEYS, as the answer to the ministry's reading. PHEQA's recommendation goes out to the minister, and the minister's decision on a licence and approval of a new name come back. The fee request goes out to the Payments block, and its confirmation comes in. Each row names its direction, the body on the other side and the channel. For each crossing, the full document also says what happens when a value is missing or out of date, or when the other side cannot be reached. If PHEQA's register cannot be reached, the ministry's officer waits; there is no old copy to use.</a:t>
            </a:r>
          </a:p>
          <a:p/>
          <a:p>
            <a:r>
              <a:t>Slide specification: The crossing numbers may appear in small type at the start of each row.</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building block approach as GovStack publishes it. Its Architecture specification asks that government systems be built from loosely coupled building blocks that can be developed, maintained and replaced independently, which supports reuse. The Registration specification asks that traffic in and out of the block pass through an Information Mediator or a secure API gateway: a controlled entry point that checks every request. The Information Mediator specification describes the mediator as the channel to registry, identity and payment services. In Progressa, that mediator is Linkup.</a:t>
            </a:r>
          </a:p>
          <a:p/>
          <a:p>
            <a:r>
              <a:t>Slide specification: Each phrase is the specification's own wording, shortened.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the head of PHEQA's ICT unit accepts the page, the body on the other side of each crossing confirms its row: the ministry for four rows, PNIA for the sign-in, the operator of the Payments block for the fee, and PDGA for the use of Linkup. GovStack's Architecture specification warns that when systems do not share the same rules, every connection becomes a custom project. A crossing nobody on the other side has agreed is a promise made on their behalf.</a:t>
            </a:r>
          </a:p>
          <a:p/>
          <a:p>
            <a:r>
              <a:t>Slide specification: Roles and bodies,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Count the crossings. For each one, ask who is on the other side, and whether they have seen and confirmed their row.</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recap or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Break the service down
before you design it</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KP4 · Designing Digital Government Services · Module 2</a:t>
            </a:r>
          </a:p>
          <a:p>
            <a:r>
              <a:rPr sz="1400" b="0" i="0">
                <a:solidFill>
                  <a:srgbClr val="595959"/>
                </a:solidFill>
                <a:latin typeface="Arial"/>
              </a:rPr>
              <a:t>Six standalone videos on the documents written before any screen: the sector's catalogue of services, the register of what was asked, the records and whose each fact is, the goals, what every goal may use, and what crosses the service's boundary.</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~30 mins across 6 videos (2.1 – 2.6)</a:t>
            </a:r>
          </a:p>
          <a:p>
            <a:r>
              <a:rPr sz="1400" b="1" i="0">
                <a:solidFill>
                  <a:srgbClr val="1A1A1A"/>
                </a:solidFill>
                <a:latin typeface="Arial"/>
              </a:rPr>
              <a:t>Target audience: </a:t>
            </a:r>
            <a:r>
              <a:rPr sz="1400" b="0" i="0">
                <a:solidFill>
                  <a:srgbClr val="1A1A1A"/>
                </a:solidFill>
                <a:latin typeface="Arial"/>
              </a:rPr>
              <a:t>The public-sector manager who commissions a service, judges the offer and accepts the result</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SETTLES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One catalogue for the sector</a:t>
            </a:r>
          </a:p>
        </p:txBody>
      </p:sp>
      <p:sp>
        <p:nvSpPr>
          <p:cNvPr id="21" name="Rounded Rectangle 20"/>
          <p:cNvSpPr/>
          <p:nvPr/>
        </p:nvSpPr>
        <p:spPr>
          <a:xfrm>
            <a:off x="7452360" y="175260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What was asked, written first</a:t>
            </a:r>
          </a:p>
        </p:txBody>
      </p:sp>
      <p:sp>
        <p:nvSpPr>
          <p:cNvPr id="22" name="Rounded Rectangle 21"/>
          <p:cNvSpPr/>
          <p:nvPr/>
        </p:nvSpPr>
        <p:spPr>
          <a:xfrm>
            <a:off x="7452360" y="254508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records, and whose each is</a:t>
            </a:r>
          </a:p>
        </p:txBody>
      </p:sp>
      <p:sp>
        <p:nvSpPr>
          <p:cNvPr id="23" name="Rounded Rectangle 22"/>
          <p:cNvSpPr/>
          <p:nvPr/>
        </p:nvSpPr>
        <p:spPr>
          <a:xfrm>
            <a:off x="7452360" y="333756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Goals tied to what was asked</a:t>
            </a:r>
          </a:p>
        </p:txBody>
      </p:sp>
      <p:sp>
        <p:nvSpPr>
          <p:cNvPr id="24" name="Rounded Rectangle 23"/>
          <p:cNvSpPr/>
          <p:nvPr/>
        </p:nvSpPr>
        <p:spPr>
          <a:xfrm>
            <a:off x="7452360" y="413004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Shared groundwork, nothing invented</a:t>
            </a:r>
          </a:p>
        </p:txBody>
      </p:sp>
      <p:sp>
        <p:nvSpPr>
          <p:cNvPr id="25" name="Rounded Rectangle 24"/>
          <p:cNvSpPr/>
          <p:nvPr/>
        </p:nvSpPr>
        <p:spPr>
          <a:xfrm>
            <a:off x="7452360" y="4922520"/>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Every crossing on one page</a:t>
            </a:r>
          </a:p>
        </p:txBody>
      </p:sp>
      <p:sp>
        <p:nvSpPr>
          <p:cNvPr id="26" name="TextBox 25"/>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1 catalogue · 1 register · every crossing named</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2 — six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2.1  One catalogue of the sector's services</a:t>
            </a:r>
            <a:r>
              <a:rPr sz="1200" b="0" i="0">
                <a:solidFill>
                  <a:srgbClr val="595959"/>
                </a:solidFill>
                <a:latin typeface="Arial"/>
              </a:rPr>
              <a:t>   ~5 min</a:t>
            </a:r>
          </a:p>
          <a:p>
            <a:pPr algn="l">
              <a:spcAft>
                <a:spcPts val="900"/>
              </a:spcAft>
            </a:pPr>
            <a:r>
              <a:rPr sz="1500" b="1" i="0">
                <a:solidFill>
                  <a:srgbClr val="1A1A1A"/>
                </a:solidFill>
                <a:latin typeface="Arial"/>
              </a:rPr>
              <a:t>2.2  Write down what was asked</a:t>
            </a:r>
            <a:r>
              <a:rPr sz="1200" b="0" i="0">
                <a:solidFill>
                  <a:srgbClr val="595959"/>
                </a:solidFill>
                <a:latin typeface="Arial"/>
              </a:rPr>
              <a:t>   ~5 min</a:t>
            </a:r>
          </a:p>
          <a:p>
            <a:pPr algn="l">
              <a:spcAft>
                <a:spcPts val="900"/>
              </a:spcAft>
            </a:pPr>
            <a:r>
              <a:rPr sz="1500" b="1" i="0">
                <a:solidFill>
                  <a:srgbClr val="1A1A1A"/>
                </a:solidFill>
                <a:latin typeface="Arial"/>
              </a:rPr>
              <a:t>2.3  The records, and whose each one is</a:t>
            </a:r>
            <a:r>
              <a:rPr sz="1200" b="0" i="0">
                <a:solidFill>
                  <a:srgbClr val="595959"/>
                </a:solidFill>
                <a:latin typeface="Arial"/>
              </a:rPr>
              <a:t>   ~5 min</a:t>
            </a:r>
          </a:p>
          <a:p>
            <a:pPr algn="l">
              <a:spcAft>
                <a:spcPts val="900"/>
              </a:spcAft>
            </a:pPr>
            <a:r>
              <a:rPr sz="1500" b="1" i="0">
                <a:solidFill>
                  <a:srgbClr val="1A1A1A"/>
                </a:solidFill>
                <a:latin typeface="Arial"/>
              </a:rPr>
              <a:t>2.4  Every goal tied to what was asked</a:t>
            </a:r>
            <a:r>
              <a:rPr sz="1200" b="0" i="0">
                <a:solidFill>
                  <a:srgbClr val="595959"/>
                </a:solidFill>
                <a:latin typeface="Arial"/>
              </a:rPr>
              <a:t>   ~5 min</a:t>
            </a:r>
          </a:p>
          <a:p>
            <a:pPr algn="l">
              <a:spcAft>
                <a:spcPts val="900"/>
              </a:spcAft>
            </a:pPr>
            <a:r>
              <a:rPr sz="1500" b="1" i="0">
                <a:solidFill>
                  <a:srgbClr val="1A1A1A"/>
                </a:solidFill>
                <a:latin typeface="Arial"/>
              </a:rPr>
              <a:t>2.5  What every goal may use</a:t>
            </a:r>
            <a:r>
              <a:rPr sz="1200" b="0" i="0">
                <a:solidFill>
                  <a:srgbClr val="595959"/>
                </a:solidFill>
                <a:latin typeface="Arial"/>
              </a:rPr>
              <a:t>   ~5 min</a:t>
            </a:r>
          </a:p>
          <a:p>
            <a:pPr algn="l">
              <a:spcAft>
                <a:spcPts val="900"/>
              </a:spcAft>
            </a:pPr>
            <a:r>
              <a:rPr sz="1500" b="1" i="0">
                <a:solidFill>
                  <a:srgbClr val="1A1A1A"/>
                </a:solidFill>
                <a:latin typeface="Arial"/>
              </a:rPr>
              <a:t>2.6  What crosses the boundary</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Break a service down before anyone designs it: the sector's services, what was asked, the records, the goals.</a:t>
            </a:r>
          </a:p>
          <a:p>
            <a:pPr>
              <a:spcAft>
                <a:spcPts val="1000"/>
              </a:spcAft>
            </a:pPr>
            <a:r>
              <a:rPr sz="1900" b="0" i="1">
                <a:solidFill>
                  <a:srgbClr val="1A1A1A"/>
                </a:solidFill>
                <a:latin typeface="Arial"/>
              </a:rPr>
              <a:t>Each document is checked against one the design did not write.</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One catalogue of the sector's services, and the blocks they share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List every service the sector's bodies owe once, with what each rests on, before you specify any one of them.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Before you say yes to one system, ask for one page.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donor offers to fund a new licensing system for your quality authority.</a:t>
            </a:r>
          </a:p>
          <a:p>
            <a:pPr>
              <a:spcAft>
                <a:spcPts val="800"/>
              </a:spcAft>
            </a:pPr>
            <a:r>
              <a:rPr sz="1700" b="0" i="0">
                <a:solidFill>
                  <a:srgbClr val="595959"/>
                </a:solidFill>
                <a:latin typeface="Arial"/>
              </a:rPr>
              <a:t>The page: every service your sector owes, and what each one rests 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catalogue, written once for the sector</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service.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body that owes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How it runs today.</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shared blocks it cannot run without.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higher-education services</a:t>
            </a:r>
          </a:p>
        </p:txBody>
      </p:sp>
      <p:sp>
        <p:nvSpPr>
          <p:cNvPr id="4" name="TextBox 3"/>
          <p:cNvSpPr txBox="1"/>
          <p:nvPr/>
        </p:nvSpPr>
        <p:spPr>
          <a:xfrm>
            <a:off x="658368" y="1463040"/>
            <a:ext cx="10984687" cy="627017"/>
          </a:xfrm>
          <a:prstGeom prst="rect">
            <a:avLst/>
          </a:prstGeom>
          <a:noFill/>
        </p:spPr>
        <p:txBody>
          <a:bodyPr wrap="square">
            <a:spAutoFit/>
          </a:bodyPr>
          <a:lstStyle/>
          <a:p>
            <a:pPr>
              <a:spcAft>
                <a:spcPts val="300"/>
              </a:spcAft>
            </a:pPr>
            <a:r>
              <a:rPr sz="1700" b="1" i="0">
                <a:solidFill>
                  <a:srgbClr val="1A1A1A"/>
                </a:solidFill>
                <a:latin typeface="Arial"/>
              </a:rPr>
              <a:t>Register an institution</a:t>
            </a:r>
          </a:p>
          <a:p>
            <a:pPr>
              <a:spcAft>
                <a:spcPts val="300"/>
              </a:spcAft>
            </a:pPr>
            <a:r>
              <a:rPr sz="1550" b="0" i="0">
                <a:solidFill>
                  <a:srgbClr val="595959"/>
                </a:solidFill>
                <a:latin typeface="Arial"/>
              </a:rPr>
              <a:t>PHEQA.</a:t>
            </a:r>
          </a:p>
        </p:txBody>
      </p:sp>
      <p:sp>
        <p:nvSpPr>
          <p:cNvPr id="5" name="Rectangle 4"/>
          <p:cNvSpPr/>
          <p:nvPr/>
        </p:nvSpPr>
        <p:spPr>
          <a:xfrm>
            <a:off x="621792" y="209462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135777"/>
            <a:ext cx="10984687" cy="627017"/>
          </a:xfrm>
          <a:prstGeom prst="rect">
            <a:avLst/>
          </a:prstGeom>
          <a:noFill/>
        </p:spPr>
        <p:txBody>
          <a:bodyPr wrap="square">
            <a:spAutoFit/>
          </a:bodyPr>
          <a:lstStyle/>
          <a:p>
            <a:pPr>
              <a:spcAft>
                <a:spcPts val="300"/>
              </a:spcAft>
            </a:pPr>
            <a:r>
              <a:rPr sz="1700" b="1" i="0">
                <a:solidFill>
                  <a:srgbClr val="1A1A1A"/>
                </a:solidFill>
                <a:latin typeface="Arial"/>
              </a:rPr>
              <a:t>License an institution</a:t>
            </a:r>
          </a:p>
          <a:p>
            <a:pPr>
              <a:spcAft>
                <a:spcPts val="300"/>
              </a:spcAft>
            </a:pPr>
            <a:r>
              <a:rPr sz="1550" b="0" i="0">
                <a:solidFill>
                  <a:srgbClr val="595959"/>
                </a:solidFill>
                <a:latin typeface="Arial"/>
              </a:rPr>
              <a:t>PHEQA, with the minister's decision.</a:t>
            </a:r>
          </a:p>
        </p:txBody>
      </p:sp>
      <p:sp>
        <p:nvSpPr>
          <p:cNvPr id="7" name="Rectangle 6"/>
          <p:cNvSpPr/>
          <p:nvPr/>
        </p:nvSpPr>
        <p:spPr>
          <a:xfrm>
            <a:off x="621792" y="276736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808514"/>
            <a:ext cx="10984687" cy="627017"/>
          </a:xfrm>
          <a:prstGeom prst="rect">
            <a:avLst/>
          </a:prstGeom>
          <a:noFill/>
        </p:spPr>
        <p:txBody>
          <a:bodyPr wrap="square">
            <a:spAutoFit/>
          </a:bodyPr>
          <a:lstStyle/>
          <a:p>
            <a:pPr>
              <a:spcAft>
                <a:spcPts val="300"/>
              </a:spcAft>
            </a:pPr>
            <a:r>
              <a:rPr sz="1700" b="1" i="0">
                <a:solidFill>
                  <a:srgbClr val="1A1A1A"/>
                </a:solidFill>
                <a:latin typeface="Arial"/>
              </a:rPr>
              <a:t>Hear an institution's appeal</a:t>
            </a:r>
          </a:p>
          <a:p>
            <a:pPr>
              <a:spcAft>
                <a:spcPts val="300"/>
              </a:spcAft>
            </a:pPr>
            <a:r>
              <a:rPr sz="1550" b="0" i="0">
                <a:solidFill>
                  <a:srgbClr val="595959"/>
                </a:solidFill>
                <a:latin typeface="Arial"/>
              </a:rPr>
              <a:t>PHEQA.</a:t>
            </a:r>
          </a:p>
        </p:txBody>
      </p:sp>
      <p:sp>
        <p:nvSpPr>
          <p:cNvPr id="9" name="Rectangle 8"/>
          <p:cNvSpPr/>
          <p:nvPr/>
        </p:nvSpPr>
        <p:spPr>
          <a:xfrm>
            <a:off x="621792" y="344010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481251"/>
            <a:ext cx="10984687" cy="627017"/>
          </a:xfrm>
          <a:prstGeom prst="rect">
            <a:avLst/>
          </a:prstGeom>
          <a:noFill/>
        </p:spPr>
        <p:txBody>
          <a:bodyPr wrap="square">
            <a:spAutoFit/>
          </a:bodyPr>
          <a:lstStyle/>
          <a:p>
            <a:pPr>
              <a:spcAft>
                <a:spcPts val="300"/>
              </a:spcAft>
            </a:pPr>
            <a:r>
              <a:rPr sz="1700" b="1" i="0">
                <a:solidFill>
                  <a:srgbClr val="1A1A1A"/>
                </a:solidFill>
                <a:latin typeface="Arial"/>
              </a:rPr>
              <a:t>Approve a change of name</a:t>
            </a:r>
          </a:p>
          <a:p>
            <a:pPr>
              <a:spcAft>
                <a:spcPts val="300"/>
              </a:spcAft>
            </a:pPr>
            <a:r>
              <a:rPr sz="1550" b="0" i="0">
                <a:solidFill>
                  <a:srgbClr val="595959"/>
                </a:solidFill>
                <a:latin typeface="Arial"/>
              </a:rPr>
              <a:t>MoEYS.</a:t>
            </a:r>
          </a:p>
        </p:txBody>
      </p:sp>
      <p:sp>
        <p:nvSpPr>
          <p:cNvPr id="11" name="Rectangle 10"/>
          <p:cNvSpPr/>
          <p:nvPr/>
        </p:nvSpPr>
        <p:spPr>
          <a:xfrm>
            <a:off x="621792" y="41128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153988"/>
            <a:ext cx="10984687" cy="627017"/>
          </a:xfrm>
          <a:prstGeom prst="rect">
            <a:avLst/>
          </a:prstGeom>
          <a:noFill/>
        </p:spPr>
        <p:txBody>
          <a:bodyPr wrap="square">
            <a:spAutoFit/>
          </a:bodyPr>
          <a:lstStyle/>
          <a:p>
            <a:pPr>
              <a:spcAft>
                <a:spcPts val="300"/>
              </a:spcAft>
            </a:pPr>
            <a:r>
              <a:rPr sz="1700" b="1" i="0">
                <a:solidFill>
                  <a:srgbClr val="1A1A1A"/>
                </a:solidFill>
                <a:latin typeface="Arial"/>
              </a:rPr>
              <a:t>Publish the list of registered institutions</a:t>
            </a:r>
          </a:p>
          <a:p>
            <a:pPr>
              <a:spcAft>
                <a:spcPts val="300"/>
              </a:spcAft>
            </a:pPr>
            <a:r>
              <a:rPr sz="1550" b="0" i="0">
                <a:solidFill>
                  <a:srgbClr val="595959"/>
                </a:solidFill>
                <a:latin typeface="Arial"/>
              </a:rPr>
              <a:t>MoEYS.</a:t>
            </a:r>
          </a:p>
        </p:txBody>
      </p:sp>
      <p:sp>
        <p:nvSpPr>
          <p:cNvPr id="13" name="Rectangle 12"/>
          <p:cNvSpPr/>
          <p:nvPr/>
        </p:nvSpPr>
        <p:spPr>
          <a:xfrm>
            <a:off x="621792" y="478557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826725"/>
            <a:ext cx="10984687" cy="627017"/>
          </a:xfrm>
          <a:prstGeom prst="rect">
            <a:avLst/>
          </a:prstGeom>
          <a:noFill/>
        </p:spPr>
        <p:txBody>
          <a:bodyPr wrap="square">
            <a:spAutoFit/>
          </a:bodyPr>
          <a:lstStyle/>
          <a:p>
            <a:pPr>
              <a:spcAft>
                <a:spcPts val="300"/>
              </a:spcAft>
            </a:pPr>
            <a:r>
              <a:rPr sz="1700" b="1" i="0">
                <a:solidFill>
                  <a:srgbClr val="1A1A1A"/>
                </a:solidFill>
                <a:latin typeface="Arial"/>
              </a:rPr>
              <a:t>Review a decision of PHEQA</a:t>
            </a:r>
          </a:p>
          <a:p>
            <a:pPr>
              <a:spcAft>
                <a:spcPts val="300"/>
              </a:spcAft>
            </a:pPr>
            <a:r>
              <a:rPr sz="1550" b="0" i="0">
                <a:solidFill>
                  <a:srgbClr val="595959"/>
                </a:solidFill>
                <a:latin typeface="Arial"/>
              </a:rPr>
              <a:t>MoEYS.</a:t>
            </a:r>
          </a:p>
        </p:txBody>
      </p:sp>
      <p:sp>
        <p:nvSpPr>
          <p:cNvPr id="15" name="Rectangle 14"/>
          <p:cNvSpPr/>
          <p:nvPr/>
        </p:nvSpPr>
        <p:spPr>
          <a:xfrm>
            <a:off x="621792" y="545831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99462"/>
            <a:ext cx="10984687" cy="627017"/>
          </a:xfrm>
          <a:prstGeom prst="rect">
            <a:avLst/>
          </a:prstGeom>
          <a:noFill/>
        </p:spPr>
        <p:txBody>
          <a:bodyPr wrap="square">
            <a:spAutoFit/>
          </a:bodyPr>
          <a:lstStyle/>
          <a:p>
            <a:pPr>
              <a:spcAft>
                <a:spcPts val="300"/>
              </a:spcAft>
            </a:pPr>
            <a:r>
              <a:rPr sz="1700" b="1" i="0">
                <a:solidFill>
                  <a:srgbClr val="1A1A1A"/>
                </a:solidFill>
                <a:latin typeface="Arial"/>
              </a:rPr>
              <a:t>Issue a learner's credential</a:t>
            </a:r>
          </a:p>
          <a:p>
            <a:pPr>
              <a:spcAft>
                <a:spcPts val="300"/>
              </a:spcAft>
            </a:pPr>
            <a:r>
              <a:rPr sz="1550" b="0" i="0">
                <a:solidFill>
                  <a:srgbClr val="595959"/>
                </a:solidFill>
                <a:latin typeface="Arial"/>
              </a:rPr>
              <a:t>PDCA, later.</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 down one column</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register of institutions: one service writes it; six rest on it, five now and one later.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PNIA's sign-in: six services now, the seventh later.</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One service in a column: a project's tool. Many: the sector's infrastructure.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only the sector sees it</a:t>
            </a:r>
          </a:p>
        </p:txBody>
      </p:sp>
      <p:sp>
        <p:nvSpPr>
          <p:cNvPr id="4" name="Rounded Rectangle 3"/>
          <p:cNvSpPr/>
          <p:nvPr/>
        </p:nvSpPr>
        <p:spPr>
          <a:xfrm>
            <a:off x="658368" y="1554480"/>
            <a:ext cx="5394960" cy="23774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103120"/>
          </a:xfrm>
          <a:prstGeom prst="rect">
            <a:avLst/>
          </a:prstGeom>
          <a:noFill/>
        </p:spPr>
        <p:txBody>
          <a:bodyPr wrap="square">
            <a:spAutoFit/>
          </a:bodyPr>
          <a:lstStyle/>
          <a:p>
            <a:pPr>
              <a:spcAft>
                <a:spcPts val="700"/>
              </a:spcAft>
            </a:pPr>
            <a:r>
              <a:rPr sz="1900" b="1" i="0">
                <a:solidFill>
                  <a:srgbClr val="006E96"/>
                </a:solidFill>
                <a:latin typeface="Arial"/>
              </a:rPr>
              <a:t>INSIDE ONE PROJECT</a:t>
            </a:r>
          </a:p>
          <a:p>
            <a:pPr>
              <a:spcAft>
                <a:spcPts val="700"/>
              </a:spcAft>
            </a:pPr>
            <a:r>
              <a:rPr sz="1600" b="0" i="0">
                <a:solidFill>
                  <a:srgbClr val="1A1A1A"/>
                </a:solidFill>
                <a:latin typeface="Arial"/>
              </a:rPr>
              <a:t>Its own list is always faster.</a:t>
            </a:r>
          </a:p>
        </p:txBody>
      </p:sp>
      <p:sp>
        <p:nvSpPr>
          <p:cNvPr id="6" name="Rounded Rectangle 5"/>
          <p:cNvSpPr/>
          <p:nvPr/>
        </p:nvSpPr>
        <p:spPr>
          <a:xfrm>
            <a:off x="6263640" y="1554480"/>
            <a:ext cx="5394960" cy="23774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103120"/>
          </a:xfrm>
          <a:prstGeom prst="rect">
            <a:avLst/>
          </a:prstGeom>
          <a:noFill/>
        </p:spPr>
        <p:txBody>
          <a:bodyPr wrap="square">
            <a:spAutoFit/>
          </a:bodyPr>
          <a:lstStyle/>
          <a:p>
            <a:pPr>
              <a:spcAft>
                <a:spcPts val="700"/>
              </a:spcAft>
            </a:pPr>
            <a:r>
              <a:rPr sz="1900" b="1" i="0">
                <a:solidFill>
                  <a:srgbClr val="006E96"/>
                </a:solidFill>
                <a:latin typeface="Arial"/>
              </a:rPr>
              <a:t>ACROSS THE SECTOR</a:t>
            </a:r>
          </a:p>
          <a:p>
            <a:pPr>
              <a:spcAft>
                <a:spcPts val="700"/>
              </a:spcAft>
            </a:pPr>
            <a:r>
              <a:rPr sz="1600" b="0" i="0">
                <a:solidFill>
                  <a:srgbClr val="1A1A1A"/>
                </a:solidFill>
                <a:latin typeface="Arial"/>
              </a:rPr>
              <a:t>One register paid for, six services carried.</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sources say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UNDP: a set of foundational digital systems; from fragmented systems to shared infrastructure.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UNDP compendium: shared digital systems at societal scale; digital identity, digital payments, consent-based data sharing.</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PAERA: DPI is not neutral and shapes what can be built on top of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List every service the sector's bodies owe once, with what each rests on, before you specify any one of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sector's catalogue of services from its mandate.</a:t>
            </a:r>
          </a:p>
          <a:p>
            <a:pPr algn="l">
              <a:spcAft>
                <a:spcPts val="400"/>
              </a:spcAft>
            </a:pPr>
            <a:r>
              <a:rPr sz="1800" b="0" i="0">
                <a:solidFill>
                  <a:srgbClr val="595959"/>
                </a:solidFill>
                <a:latin typeface="Arial"/>
              </a:rPr>
              <a:t>The prompt in the companion material gives you a draft catalogue of the sector's services, each row with its mandate sentence and the blocks it rests 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UNDP, 'Digital public infrastructure', web page</a:t>
            </a:r>
          </a:p>
          <a:p>
            <a:pPr>
              <a:spcAft>
                <a:spcPts val="1200"/>
              </a:spcAft>
            </a:pPr>
            <a:r>
              <a:rPr sz="1700" b="0" i="0">
                <a:solidFill>
                  <a:srgbClr val="1A1A1A"/>
                </a:solidFill>
                <a:latin typeface="Arial"/>
              </a:rPr>
              <a:t>•  UNDP, Accelerating the SDGs through Digital Public Infrastructure: A Compendium of the Potential of Digital Public Infrastructure, 21 August 2023, pages 3 and 4 ('Introduction' and 'Understanding DPI')</a:t>
            </a:r>
          </a:p>
          <a:p>
            <a:pPr>
              <a:spcAft>
                <a:spcPts val="1200"/>
              </a:spcAft>
            </a:pPr>
            <a:r>
              <a:rPr sz="1700" b="0" i="0">
                <a:solidFill>
                  <a:srgbClr val="1A1A1A"/>
                </a:solidFill>
                <a:latin typeface="Arial"/>
              </a:rPr>
              <a:t>•  PAERA version 1.0, GovStack, section 2.6</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Write down what was asked before anyone designs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One entry for each separate thing asked, in the customer's words, with where it was said.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"It was never asked for." "It was."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Months into a project, nobody can point to the sentence.</a:t>
            </a:r>
          </a:p>
          <a:p>
            <a:pPr>
              <a:spcAft>
                <a:spcPts val="800"/>
              </a:spcAft>
            </a:pPr>
            <a:r>
              <a:rPr sz="1700" b="0" i="0">
                <a:solidFill>
                  <a:srgbClr val="595959"/>
                </a:solidFill>
                <a:latin typeface="Arial"/>
              </a:rPr>
              <a:t>From the first week, somebody must be able to.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register of what was asked</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One entry for each separate thing asked.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In the customer's own words.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With where it was said.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Written before anyone designs.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entries from Progressa's regulations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R-01 Apply through PHEQA's self-service</a:t>
            </a:r>
          </a:p>
          <a:p>
            <a:pPr>
              <a:spcAft>
                <a:spcPts val="300"/>
              </a:spcAft>
            </a:pPr>
            <a:r>
              <a:rPr sz="1550" b="0" i="0">
                <a:solidFill>
                  <a:srgbClr val="595959"/>
                </a:solidFill>
                <a:latin typeface="Arial"/>
              </a:rPr>
              <a:t>article 6(1).</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R-02 Inspect before recommending</a:t>
            </a:r>
          </a:p>
          <a:p>
            <a:pPr>
              <a:spcAft>
                <a:spcPts val="300"/>
              </a:spcAft>
            </a:pPr>
            <a:r>
              <a:rPr sz="1550" b="0" i="0">
                <a:solidFill>
                  <a:srgbClr val="595959"/>
                </a:solidFill>
                <a:latin typeface="Arial"/>
              </a:rPr>
              <a:t>article 9(2).</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R-03 The minister decides the licence</a:t>
            </a:r>
          </a:p>
          <a:p>
            <a:pPr>
              <a:spcAft>
                <a:spcPts val="300"/>
              </a:spcAft>
            </a:pPr>
            <a:r>
              <a:rPr sz="1550" b="0" i="0">
                <a:solidFill>
                  <a:srgbClr val="595959"/>
                </a:solidFill>
                <a:latin typeface="Arial"/>
              </a:rPr>
              <a:t>article 11(1).</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R-04 The register of institutions is open to the public</a:t>
            </a:r>
          </a:p>
          <a:p>
            <a:pPr>
              <a:spcAft>
                <a:spcPts val="300"/>
              </a:spcAft>
            </a:pPr>
            <a:r>
              <a:rPr sz="1550" b="0" i="0">
                <a:solidFill>
                  <a:srgbClr val="595959"/>
                </a:solidFill>
                <a:latin typeface="Arial"/>
              </a:rPr>
              <a:t>article 14(3).</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R-05 A person aggrieved may ask for a review</a:t>
            </a:r>
          </a:p>
          <a:p>
            <a:pPr>
              <a:spcAft>
                <a:spcPts val="300"/>
              </a:spcAft>
            </a:pPr>
            <a:r>
              <a:rPr sz="1550" b="0" i="0">
                <a:solidFill>
                  <a:srgbClr val="595959"/>
                </a:solidFill>
                <a:latin typeface="Arial"/>
              </a:rPr>
              <a:t>article 22(1).</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thing per entry, and how to tell it is met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A sentence that asks for three things becomes three entries.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Each entry says, in plain words, what would show it is met.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text does not say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How many days to ask for a review? Owner: the Director of Higher Education, MoEYS.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Does the public register show the name of the person who runs an institution? Owner: the Registrar of PHEQA.</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Both answers needed by 30 October 2026.</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drafts, and who rules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An AI assistant may draft the entries.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analyst rules on every entry: accept, amend or set aside.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An entry with no source is struck out.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One entry for each separate thing asked, in the customer's words, with where it was said.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Split an official text into entries of the register.</a:t>
            </a:r>
          </a:p>
          <a:p>
            <a:pPr algn="l">
              <a:spcAft>
                <a:spcPts val="400"/>
              </a:spcAft>
            </a:pPr>
            <a:r>
              <a:rPr sz="1800" b="0" i="0">
                <a:solidFill>
                  <a:srgbClr val="595959"/>
                </a:solidFill>
                <a:latin typeface="Arial"/>
              </a:rPr>
              <a:t>The prompt in the companion material gives you a draft register: one entry per thing asked, in the text's own words, with its source line, and a list of open questions.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video cites no outside source. The register of requirements is a document of the SDD method, specification-driven development. Progressa and its Higher Education Regulations are invented for this example.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Write down what was asked before anyone designs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records the service keeps, and whose each one is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For every fact: we keep it, we take it from another body, or we must not hold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 institution changes its name. Other offices keep the old one.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Nobody did anything wrong: each office kept its own copy.</a:t>
            </a:r>
          </a:p>
          <a:p>
            <a:pPr>
              <a:spcAft>
                <a:spcPts val="800"/>
              </a:spcAft>
            </a:pPr>
            <a:r>
              <a:rPr sz="1700" b="0" i="0">
                <a:solidFill>
                  <a:srgbClr val="595959"/>
                </a:solidFill>
                <a:latin typeface="Arial"/>
              </a:rPr>
              <a:t>You can stop this before the first screen is drawn.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record, defined in a single sentence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An institution.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An application.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A licence.</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A decision.</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licence: one permission to one institution to operate, of one kind, from one day.</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answers for every fact</a:t>
            </a:r>
          </a:p>
        </p:txBody>
      </p:sp>
      <p:sp>
        <p:nvSpPr>
          <p:cNvPr id="4" name="TextBox 3"/>
          <p:cNvSpPr txBox="1"/>
          <p:nvPr/>
        </p:nvSpPr>
        <p:spPr>
          <a:xfrm>
            <a:off x="658368" y="1463040"/>
            <a:ext cx="10984687" cy="1097279"/>
          </a:xfrm>
          <a:prstGeom prst="rect">
            <a:avLst/>
          </a:prstGeom>
          <a:noFill/>
        </p:spPr>
        <p:txBody>
          <a:bodyPr wrap="square">
            <a:spAutoFit/>
          </a:bodyPr>
          <a:lstStyle/>
          <a:p>
            <a:pPr>
              <a:spcAft>
                <a:spcPts val="300"/>
              </a:spcAft>
            </a:pPr>
            <a:r>
              <a:rPr sz="2600" b="1" i="0">
                <a:solidFill>
                  <a:srgbClr val="1A1A1A"/>
                </a:solidFill>
                <a:latin typeface="Arial"/>
              </a:rPr>
              <a:t>We keep it.</a:t>
            </a:r>
          </a:p>
        </p:txBody>
      </p:sp>
      <p:sp>
        <p:nvSpPr>
          <p:cNvPr id="5" name="Rectangle 4"/>
          <p:cNvSpPr/>
          <p:nvPr/>
        </p:nvSpPr>
        <p:spPr>
          <a:xfrm>
            <a:off x="621792" y="25648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06039"/>
            <a:ext cx="10984687" cy="1097279"/>
          </a:xfrm>
          <a:prstGeom prst="rect">
            <a:avLst/>
          </a:prstGeom>
          <a:noFill/>
        </p:spPr>
        <p:txBody>
          <a:bodyPr wrap="square">
            <a:spAutoFit/>
          </a:bodyPr>
          <a:lstStyle/>
          <a:p>
            <a:pPr>
              <a:spcAft>
                <a:spcPts val="300"/>
              </a:spcAft>
            </a:pPr>
            <a:r>
              <a:rPr sz="2600" b="1" i="0">
                <a:solidFill>
                  <a:srgbClr val="1A1A1A"/>
                </a:solidFill>
                <a:latin typeface="Arial"/>
              </a:rPr>
              <a:t>We take it from another body.</a:t>
            </a:r>
          </a:p>
        </p:txBody>
      </p:sp>
      <p:sp>
        <p:nvSpPr>
          <p:cNvPr id="7" name="Rectangle 6"/>
          <p:cNvSpPr/>
          <p:nvPr/>
        </p:nvSpPr>
        <p:spPr>
          <a:xfrm>
            <a:off x="621792" y="37078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749039"/>
            <a:ext cx="10984687" cy="1097279"/>
          </a:xfrm>
          <a:prstGeom prst="rect">
            <a:avLst/>
          </a:prstGeom>
          <a:noFill/>
        </p:spPr>
        <p:txBody>
          <a:bodyPr wrap="square">
            <a:spAutoFit/>
          </a:bodyPr>
          <a:lstStyle/>
          <a:p>
            <a:pPr>
              <a:spcAft>
                <a:spcPts val="300"/>
              </a:spcAft>
            </a:pPr>
            <a:r>
              <a:rPr sz="2600" b="1" i="0">
                <a:solidFill>
                  <a:srgbClr val="1A1A1A"/>
                </a:solidFill>
                <a:latin typeface="Arial"/>
              </a:rPr>
              <a:t>We must not hold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facts, three answers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institution's name: PHEQA keeps it.</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The applicant's identity: taken from PNIA, never copied.</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The institution's record at MoEYS: read from PHEQA's register; only the register number kept.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blocks say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Digital Registries: a trusted, authoritative service; the single source of truth.</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Others check that a record exists, or read a value from it.</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Identity: the person signs in and approves which facts are shared.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read-back</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Read the records aloud to the official who runs the service.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Stop at any sentence the official does not recognise.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Progressa: the sentence on one licence of each kind was wrong.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For every fact: we keep it, we take it from another body, or we must not hold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the records back as plain sentences.</a:t>
            </a:r>
          </a:p>
          <a:p>
            <a:pPr algn="l">
              <a:spcAft>
                <a:spcPts val="400"/>
              </a:spcAft>
            </a:pPr>
            <a:r>
              <a:rPr sz="1800" b="0" i="0">
                <a:solidFill>
                  <a:srgbClr val="595959"/>
                </a:solidFill>
                <a:latin typeface="Arial"/>
              </a:rPr>
              <a:t>The prompt in the companion material gives you the records read back as plain sentences, and a list of facts with no keeper.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Digital Registries Building Block specification, version 3.0-alpha, June 2026, sections 2 and 8.2</a:t>
            </a:r>
          </a:p>
          <a:p>
            <a:pPr>
              <a:spcAft>
                <a:spcPts val="1200"/>
              </a:spcAft>
            </a:pPr>
            <a:r>
              <a:rPr sz="1700" b="0" i="0">
                <a:solidFill>
                  <a:srgbClr val="1A1A1A"/>
                </a:solidFill>
                <a:latin typeface="Arial"/>
              </a:rPr>
              <a:t>•  GovStack Identity Building Block specification, version 2.0, December 2025, section 9.1.1</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Every goal named, and each tied to what was asked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service is broken into the goals people have in it; every goal serves an entry and every entry is served by a goal.</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design is complete." Complete against what?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long list of screens does not answer that.</a:t>
            </a:r>
          </a:p>
          <a:p>
            <a:pPr>
              <a:spcAft>
                <a:spcPts val="800"/>
              </a:spcAft>
            </a:pPr>
            <a:r>
              <a:rPr sz="1700" b="0" i="0">
                <a:solidFill>
                  <a:srgbClr val="595959"/>
                </a:solidFill>
                <a:latin typeface="Arial"/>
              </a:rPr>
              <a:t>One table answers it in both directions, and you can read it without technical training.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goal, not a function</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A goal: something one person gets done, in one sitting, with a result they can see.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Yes: apply for a provisional licence.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No: maintain institution data.</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goals</a:t>
            </a:r>
          </a:p>
        </p:txBody>
      </p:sp>
      <p:sp>
        <p:nvSpPr>
          <p:cNvPr id="4" name="Rounded Rectangle 3"/>
          <p:cNvSpPr/>
          <p:nvPr/>
        </p:nvSpPr>
        <p:spPr>
          <a:xfrm>
            <a:off x="65836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1900" b="1" i="0">
                <a:solidFill>
                  <a:srgbClr val="006E96"/>
                </a:solidFill>
                <a:latin typeface="Arial"/>
              </a:rPr>
              <a:t>PHEQA</a:t>
            </a:r>
          </a:p>
          <a:p>
            <a:pPr>
              <a:spcAft>
                <a:spcPts val="700"/>
              </a:spcAft>
            </a:pPr>
            <a:r>
              <a:rPr sz="1600" b="0" i="0">
                <a:solidFill>
                  <a:srgbClr val="1A1A1A"/>
                </a:solidFill>
                <a:latin typeface="Arial"/>
              </a:rPr>
              <a:t>Apply for a provisional licence — the applicant.</a:t>
            </a:r>
          </a:p>
          <a:p>
            <a:pPr>
              <a:spcAft>
                <a:spcPts val="700"/>
              </a:spcAft>
            </a:pPr>
            <a:r>
              <a:rPr sz="1600" b="0" i="0">
                <a:solidFill>
                  <a:srgbClr val="1A1A1A"/>
                </a:solidFill>
                <a:latin typeface="Arial"/>
              </a:rPr>
              <a:t>Record the application fee — the finance officer.</a:t>
            </a:r>
          </a:p>
          <a:p>
            <a:pPr>
              <a:spcAft>
                <a:spcPts val="700"/>
              </a:spcAft>
            </a:pPr>
            <a:r>
              <a:rPr sz="1600" b="0" i="0">
                <a:solidFill>
                  <a:srgbClr val="1A1A1A"/>
                </a:solidFill>
                <a:latin typeface="Arial"/>
              </a:rPr>
              <a:t>Record an inspection visit — the inspector.</a:t>
            </a:r>
          </a:p>
          <a:p>
            <a:pPr>
              <a:spcAft>
                <a:spcPts val="700"/>
              </a:spcAft>
            </a:pPr>
            <a:r>
              <a:rPr sz="1600" b="0" i="0">
                <a:solidFill>
                  <a:srgbClr val="1A1A1A"/>
                </a:solidFill>
                <a:latin typeface="Arial"/>
              </a:rPr>
              <a:t>Recommend a decision to the minister — the registration officer.</a:t>
            </a:r>
          </a:p>
          <a:p>
            <a:pPr>
              <a:spcAft>
                <a:spcPts val="700"/>
              </a:spcAft>
            </a:pPr>
            <a:r>
              <a:rPr sz="1600" b="0" i="0">
                <a:solidFill>
                  <a:srgbClr val="1A1A1A"/>
                </a:solidFill>
                <a:latin typeface="Arial"/>
              </a:rPr>
              <a:t>Appeal against a decision of PHEQA — the institution.</a:t>
            </a:r>
          </a:p>
        </p:txBody>
      </p:sp>
      <p:sp>
        <p:nvSpPr>
          <p:cNvPr id="6" name="Rounded Rectangle 5"/>
          <p:cNvSpPr/>
          <p:nvPr/>
        </p:nvSpPr>
        <p:spPr>
          <a:xfrm>
            <a:off x="6263640" y="1554480"/>
            <a:ext cx="5394960" cy="42062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931920"/>
          </a:xfrm>
          <a:prstGeom prst="rect">
            <a:avLst/>
          </a:prstGeom>
          <a:noFill/>
        </p:spPr>
        <p:txBody>
          <a:bodyPr wrap="square">
            <a:spAutoFit/>
          </a:bodyPr>
          <a:lstStyle/>
          <a:p>
            <a:pPr>
              <a:spcAft>
                <a:spcPts val="700"/>
              </a:spcAft>
            </a:pPr>
            <a:r>
              <a:rPr sz="1900" b="1" i="0">
                <a:solidFill>
                  <a:srgbClr val="006E96"/>
                </a:solidFill>
                <a:latin typeface="Arial"/>
              </a:rPr>
              <a:t>MoEYS, ALL THE MINISTER'S</a:t>
            </a:r>
          </a:p>
          <a:p>
            <a:pPr>
              <a:spcAft>
                <a:spcPts val="700"/>
              </a:spcAft>
            </a:pPr>
            <a:r>
              <a:rPr sz="1600" b="0" i="0">
                <a:solidFill>
                  <a:srgbClr val="1A1A1A"/>
                </a:solidFill>
                <a:latin typeface="Arial"/>
              </a:rPr>
              <a:t>Decide on a licence.</a:t>
            </a:r>
          </a:p>
          <a:p>
            <a:pPr>
              <a:spcAft>
                <a:spcPts val="700"/>
              </a:spcAft>
            </a:pPr>
            <a:r>
              <a:rPr sz="1600" b="0" i="0">
                <a:solidFill>
                  <a:srgbClr val="1A1A1A"/>
                </a:solidFill>
                <a:latin typeface="Arial"/>
              </a:rPr>
              <a:t>Approve a change of an institution's name.</a:t>
            </a:r>
          </a:p>
          <a:p>
            <a:pPr>
              <a:spcAft>
                <a:spcPts val="700"/>
              </a:spcAft>
            </a:pPr>
            <a:r>
              <a:rPr sz="1600" b="0" i="0">
                <a:solidFill>
                  <a:srgbClr val="1A1A1A"/>
                </a:solidFill>
                <a:latin typeface="Arial"/>
              </a:rPr>
              <a:t>Publish the list of registered institutions in the Gazette.</a:t>
            </a:r>
          </a:p>
          <a:p>
            <a:pPr>
              <a:spcAft>
                <a:spcPts val="700"/>
              </a:spcAft>
            </a:pPr>
            <a:r>
              <a:rPr sz="1600" b="0" i="0">
                <a:solidFill>
                  <a:srgbClr val="1A1A1A"/>
                </a:solidFill>
                <a:latin typeface="Arial"/>
              </a:rPr>
              <a:t>Review a decision of PHEQA at a person's request.</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in both directions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Goals across the top, entries of the register down the side.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column needs a mark: each goal serves an entry.</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row needs a mark: each entry is served by a goal.</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one empty column, one empty row</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Empty column: record the application fee. No entry asks for a fee.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Empty row: the register of institutions is open to the public. No goal lets the public look.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finding becomes a question</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Is a fee asked for anywhere? Owner: the finance officer of PHEQA.</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Who looks up the public register? Owner: the Registrar of PHEQA.</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Answers needed by 6 November 2026.</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service is broken into the goals people have in it; every goal serves an entry and every entry is served by a goal.</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Check the goals against the register in both directions.</a:t>
            </a:r>
          </a:p>
          <a:p>
            <a:pPr algn="l">
              <a:spcAft>
                <a:spcPts val="400"/>
              </a:spcAft>
            </a:pPr>
            <a:r>
              <a:rPr sz="1800" b="0" i="0">
                <a:solidFill>
                  <a:srgbClr val="595959"/>
                </a:solidFill>
                <a:latin typeface="Arial"/>
              </a:rPr>
              <a:t>The prompt in the companion material gives you a table with goals across and entries down, and the empty rows and columns written as questions.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video cites no outside source. The list of goals and its check in both directions are part of the SDD method, specification-driven development. Progressa is invented for this example.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Every goal named, and each tied to what was asked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every goal may use, and may not invent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States, settings and code lists are written once and shared; a goal that needs something missing raises a question.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new fee is announced. Changing it costs weeks.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old figure is written into many screens.</a:t>
            </a:r>
          </a:p>
          <a:p>
            <a:pPr>
              <a:spcAft>
                <a:spcPts val="800"/>
              </a:spcAft>
            </a:pPr>
            <a:r>
              <a:rPr sz="1700" b="0" i="0">
                <a:solidFill>
                  <a:srgbClr val="595959"/>
                </a:solidFill>
                <a:latin typeface="Arial"/>
              </a:rPr>
              <a:t>That cost was decided on the day nobody asked who owns the fee.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Written once, read by every goal</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States: the stages a record can be in.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Settings: a value with an owner, such as a fee.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Code lists: the choices offered, such as the kinds of institution.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setting with an owner: the application fee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Value: 1,200 in Progressa's currency.</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Owner: the finance officer of PHEQA.</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Source: PHEQA's fee schedule under article 7.</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 new value carries the date it takes effect.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code list and a set of states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Kinds of institution: university, university college, technical institute.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licence is granted, suspended or cancelled.</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Each move is made by the registration officer, recording the minister's decision.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goal that invented a fee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“Step 6. The system shows the fee due, 1,000, and asks the applicant to pay it.”</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Where did 1,000 come from? An old letter at the registration desk.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do not invent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step reads the setting: the application fee as the shared groundwork holds it.</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Question: one amount, or different by kind of institution? Owner: the finance officer of PHEQA.</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States, settings and code lists are written once and shared; a goal that needs something missing raises a question.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figures a design invented.</a:t>
            </a:r>
          </a:p>
          <a:p>
            <a:pPr algn="l">
              <a:spcAft>
                <a:spcPts val="400"/>
              </a:spcAft>
            </a:pPr>
            <a:r>
              <a:rPr sz="1800" b="0" i="0">
                <a:solidFill>
                  <a:srgbClr val="595959"/>
                </a:solidFill>
                <a:latin typeface="Arial"/>
              </a:rPr>
              <a:t>The prompt in the companion material gives you a list of figures found in the design, each with a proposed setting, a proposed owner and its source or a question.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video cites no outside source. The shared groundwork of states, settings and code lists is part of the SDD method, specification-driven development. Progressa and its fee are invented for this example.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service is built on, and what crosses its boundary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One document names the platform, the shared blocks it uses and every flow that crosses to another body.</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Has the other body agreed?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new service will read another body's register.</a:t>
            </a:r>
          </a:p>
          <a:p>
            <a:pPr>
              <a:spcAft>
                <a:spcPts val="800"/>
              </a:spcAft>
            </a:pPr>
            <a:r>
              <a:rPr sz="1700" b="0" i="0">
                <a:solidFill>
                  <a:srgbClr val="595959"/>
                </a:solidFill>
                <a:latin typeface="Arial"/>
              </a:rPr>
              <a:t>A promise made on someone else's behalf can stall a project at the border between two offices.</a:t>
            </a:r>
          </a:p>
          <a:p>
            <a:pPr>
              <a:spcAft>
                <a:spcPts val="800"/>
              </a:spcAft>
            </a:pPr>
            <a:r>
              <a:rPr sz="1700" b="0" i="0">
                <a:solidFill>
                  <a:srgbClr val="595959"/>
                </a:solidFill>
                <a:latin typeface="Arial"/>
              </a:rPr>
              <a:t>One page prevents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page: what the service is built on</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The platform it runs on.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shared blocks it uses.</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flow that crosses to another body.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two applications on one page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PHEQA's application: its own installation of the low-code platform; keeps and writes the register of institutions.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MoEYS's application: its own installation; no copy of the register.</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Shared: PNIA's sign-in, Linkup, the Payments block.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table of crossings</a:t>
            </a:r>
          </a:p>
        </p:txBody>
      </p:sp>
      <p:sp>
        <p:nvSpPr>
          <p:cNvPr id="4" name="TextBox 3"/>
          <p:cNvSpPr txBox="1"/>
          <p:nvPr/>
        </p:nvSpPr>
        <p:spPr>
          <a:xfrm>
            <a:off x="658368" y="1463040"/>
            <a:ext cx="10984687" cy="739140"/>
          </a:xfrm>
          <a:prstGeom prst="rect">
            <a:avLst/>
          </a:prstGeom>
          <a:noFill/>
        </p:spPr>
        <p:txBody>
          <a:bodyPr wrap="square">
            <a:spAutoFit/>
          </a:bodyPr>
          <a:lstStyle/>
          <a:p>
            <a:pPr>
              <a:spcAft>
                <a:spcPts val="300"/>
              </a:spcAft>
            </a:pPr>
            <a:r>
              <a:rPr sz="1900" b="1" i="0">
                <a:solidFill>
                  <a:srgbClr val="1A1A1A"/>
                </a:solidFill>
                <a:latin typeface="Arial"/>
              </a:rPr>
              <a:t>X-1 Who is signing in</a:t>
            </a:r>
          </a:p>
          <a:p>
            <a:pPr>
              <a:spcAft>
                <a:spcPts val="300"/>
              </a:spcAft>
            </a:pPr>
            <a:r>
              <a:rPr sz="1550" b="0" i="0">
                <a:solidFill>
                  <a:srgbClr val="595959"/>
                </a:solidFill>
                <a:latin typeface="Arial"/>
              </a:rPr>
              <a:t>in  ·  from PNIA.</a:t>
            </a:r>
          </a:p>
        </p:txBody>
      </p:sp>
      <p:sp>
        <p:nvSpPr>
          <p:cNvPr id="5" name="Rectangle 4"/>
          <p:cNvSpPr/>
          <p:nvPr/>
        </p:nvSpPr>
        <p:spPr>
          <a:xfrm>
            <a:off x="621792" y="2206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47900"/>
            <a:ext cx="10984687" cy="739140"/>
          </a:xfrm>
          <a:prstGeom prst="rect">
            <a:avLst/>
          </a:prstGeom>
          <a:noFill/>
        </p:spPr>
        <p:txBody>
          <a:bodyPr wrap="square">
            <a:spAutoFit/>
          </a:bodyPr>
          <a:lstStyle/>
          <a:p>
            <a:pPr>
              <a:spcAft>
                <a:spcPts val="300"/>
              </a:spcAft>
            </a:pPr>
            <a:r>
              <a:rPr sz="1900" b="1" i="0">
                <a:solidFill>
                  <a:srgbClr val="1A1A1A"/>
                </a:solidFill>
                <a:latin typeface="Arial"/>
              </a:rPr>
              <a:t>X-2 An institution's entry in the register</a:t>
            </a:r>
          </a:p>
          <a:p>
            <a:pPr>
              <a:spcAft>
                <a:spcPts val="300"/>
              </a:spcAft>
            </a:pPr>
            <a:r>
              <a:rPr sz="1550" b="0" i="0">
                <a:solidFill>
                  <a:srgbClr val="595959"/>
                </a:solidFill>
                <a:latin typeface="Arial"/>
              </a:rPr>
              <a:t>out, as an answer  ·  to MoEYS, through Linkup.</a:t>
            </a:r>
          </a:p>
        </p:txBody>
      </p:sp>
      <p:sp>
        <p:nvSpPr>
          <p:cNvPr id="7" name="Rectangle 6"/>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032760"/>
            <a:ext cx="10984687" cy="739140"/>
          </a:xfrm>
          <a:prstGeom prst="rect">
            <a:avLst/>
          </a:prstGeom>
          <a:noFill/>
        </p:spPr>
        <p:txBody>
          <a:bodyPr wrap="square">
            <a:spAutoFit/>
          </a:bodyPr>
          <a:lstStyle/>
          <a:p>
            <a:pPr>
              <a:spcAft>
                <a:spcPts val="300"/>
              </a:spcAft>
            </a:pPr>
            <a:r>
              <a:rPr sz="1900" b="1" i="0">
                <a:solidFill>
                  <a:srgbClr val="1A1A1A"/>
                </a:solidFill>
                <a:latin typeface="Arial"/>
              </a:rPr>
              <a:t>X-3 PHEQA's recommendation</a:t>
            </a:r>
          </a:p>
          <a:p>
            <a:pPr>
              <a:spcAft>
                <a:spcPts val="300"/>
              </a:spcAft>
            </a:pPr>
            <a:r>
              <a:rPr sz="1550" b="0" i="0">
                <a:solidFill>
                  <a:srgbClr val="595959"/>
                </a:solidFill>
                <a:latin typeface="Arial"/>
              </a:rPr>
              <a:t>out  ·  to MoEYS.</a:t>
            </a:r>
          </a:p>
        </p:txBody>
      </p:sp>
      <p:sp>
        <p:nvSpPr>
          <p:cNvPr id="9" name="Rectangle 8"/>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817620"/>
            <a:ext cx="10984687" cy="739140"/>
          </a:xfrm>
          <a:prstGeom prst="rect">
            <a:avLst/>
          </a:prstGeom>
          <a:noFill/>
        </p:spPr>
        <p:txBody>
          <a:bodyPr wrap="square">
            <a:spAutoFit/>
          </a:bodyPr>
          <a:lstStyle/>
          <a:p>
            <a:pPr>
              <a:spcAft>
                <a:spcPts val="300"/>
              </a:spcAft>
            </a:pPr>
            <a:r>
              <a:rPr sz="1900" b="1" i="0">
                <a:solidFill>
                  <a:srgbClr val="1A1A1A"/>
                </a:solidFill>
                <a:latin typeface="Arial"/>
              </a:rPr>
              <a:t>X-4 The minister's decision on a licence</a:t>
            </a:r>
          </a:p>
          <a:p>
            <a:pPr>
              <a:spcAft>
                <a:spcPts val="300"/>
              </a:spcAft>
            </a:pPr>
            <a:r>
              <a:rPr sz="1550" b="0" i="0">
                <a:solidFill>
                  <a:srgbClr val="595959"/>
                </a:solidFill>
                <a:latin typeface="Arial"/>
              </a:rPr>
              <a:t>in  ·  from MoEYS.</a:t>
            </a:r>
          </a:p>
        </p:txBody>
      </p:sp>
      <p:sp>
        <p:nvSpPr>
          <p:cNvPr id="11" name="Rectangle 10"/>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602480"/>
            <a:ext cx="10984687" cy="739140"/>
          </a:xfrm>
          <a:prstGeom prst="rect">
            <a:avLst/>
          </a:prstGeom>
          <a:noFill/>
        </p:spPr>
        <p:txBody>
          <a:bodyPr wrap="square">
            <a:spAutoFit/>
          </a:bodyPr>
          <a:lstStyle/>
          <a:p>
            <a:pPr>
              <a:spcAft>
                <a:spcPts val="300"/>
              </a:spcAft>
            </a:pPr>
            <a:r>
              <a:rPr sz="1900" b="1" i="0">
                <a:solidFill>
                  <a:srgbClr val="1A1A1A"/>
                </a:solidFill>
                <a:latin typeface="Arial"/>
              </a:rPr>
              <a:t>X-5 The minister's approval of a new name</a:t>
            </a:r>
          </a:p>
          <a:p>
            <a:pPr>
              <a:spcAft>
                <a:spcPts val="300"/>
              </a:spcAft>
            </a:pPr>
            <a:r>
              <a:rPr sz="1550" b="0" i="0">
                <a:solidFill>
                  <a:srgbClr val="595959"/>
                </a:solidFill>
                <a:latin typeface="Arial"/>
              </a:rPr>
              <a:t>in  ·  from MoEYS.</a:t>
            </a:r>
          </a:p>
        </p:txBody>
      </p:sp>
      <p:sp>
        <p:nvSpPr>
          <p:cNvPr id="13" name="Rectangle 12"/>
          <p:cNvSpPr/>
          <p:nvPr/>
        </p:nvSpPr>
        <p:spPr>
          <a:xfrm>
            <a:off x="621792" y="53461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387340"/>
            <a:ext cx="10984687" cy="739140"/>
          </a:xfrm>
          <a:prstGeom prst="rect">
            <a:avLst/>
          </a:prstGeom>
          <a:noFill/>
        </p:spPr>
        <p:txBody>
          <a:bodyPr wrap="square">
            <a:spAutoFit/>
          </a:bodyPr>
          <a:lstStyle/>
          <a:p>
            <a:pPr>
              <a:spcAft>
                <a:spcPts val="300"/>
              </a:spcAft>
            </a:pPr>
            <a:r>
              <a:rPr sz="1900" b="1" i="0">
                <a:solidFill>
                  <a:srgbClr val="1A1A1A"/>
                </a:solidFill>
                <a:latin typeface="Arial"/>
              </a:rPr>
              <a:t>X-6 The fee request and its confirmation</a:t>
            </a:r>
          </a:p>
          <a:p>
            <a:pPr>
              <a:spcAft>
                <a:spcPts val="300"/>
              </a:spcAft>
            </a:pPr>
            <a:r>
              <a:rPr sz="1550" b="0" i="0">
                <a:solidFill>
                  <a:srgbClr val="595959"/>
                </a:solidFill>
                <a:latin typeface="Arial"/>
              </a:rPr>
              <a:t>out, then in  ·  the Payments block.</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architecture says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GovStack Architecture: loosely coupled building blocks, developed, maintained and replaced independently.</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Registration block: traffic in and out goes through an Information Mediator or a secure API gateway, a controlled entry point that checks every request.</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Information Mediator: the channel to registry, identity and payment services.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row agreed by the other side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MoEYS confirms rows X-2 to X-5; PNIA confirms X-1; the operator of the Payments block confirms X-6.</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PDGA confirms the use of Linkup.</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Then the head of PHEQA's ICT unit accepts the page.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One document names the platform, the shared blocks it uses and every flow that crosses to another body.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List every crossing of the service's boundary.</a:t>
            </a:r>
          </a:p>
          <a:p>
            <a:pPr algn="l">
              <a:spcAft>
                <a:spcPts val="400"/>
              </a:spcAft>
            </a:pPr>
            <a:r>
              <a:rPr sz="1800" b="0" i="0">
                <a:solidFill>
                  <a:srgbClr val="595959"/>
                </a:solidFill>
                <a:latin typeface="Arial"/>
              </a:rPr>
              <a:t>The prompt in the companion material gives you a table of crossings: what crosses, its direction, the body on the other side and the channel it goes through.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Architecture specification, edition 2.2.0, sections 3.2 and 4</a:t>
            </a:r>
          </a:p>
          <a:p>
            <a:pPr>
              <a:spcAft>
                <a:spcPts val="1200"/>
              </a:spcAft>
            </a:pPr>
            <a:r>
              <a:rPr sz="1700" b="0" i="0">
                <a:solidFill>
                  <a:srgbClr val="1A1A1A"/>
                </a:solidFill>
                <a:latin typeface="Arial"/>
              </a:rPr>
              <a:t>•  GovStack Information Mediator Building Block specification, version 1.1.1, section 2</a:t>
            </a:r>
          </a:p>
          <a:p>
            <a:pPr>
              <a:spcAft>
                <a:spcPts val="1200"/>
              </a:spcAft>
            </a:pPr>
            <a:r>
              <a:rPr sz="1700" b="0" i="0">
                <a:solidFill>
                  <a:srgbClr val="1A1A1A"/>
                </a:solidFill>
                <a:latin typeface="Arial"/>
              </a:rPr>
              <a:t>•  GovStack Registration Building Block specification, default edition (23Q4), section 5.1.4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