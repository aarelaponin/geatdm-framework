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4" r:id="rId36"/>
    <p:sldId id="2715" r:id="rId37"/>
    <p:sldId id="2716" r:id="rId38"/>
    <p:sldId id="2717" r:id="rId39"/>
    <p:sldId id="2718" r:id="rId40"/>
    <p:sldId id="2719" r:id="rId41"/>
    <p:sldId id="2720" r:id="rId42"/>
    <p:sldId id="2721" r:id="rId43"/>
    <p:sldId id="272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institution changes its name. Weeks later, other offices of government still use the old one. Nobody did anything wrong: each office kept its own copy. You can stop this before the first screen is drawn.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with the records the service keeps. For the licensing service of Progressa's quality authority, PHEQA, there are four: an institution, an application, a licence and a decision. Each gets one sentence saying what one of them means. A licence, for example, is one permission PHEQA grants to one institution to operate, of one kind, from one day, which may later be suspended or cancelled. An application is one request by one applicant, for one kind of licence, for one institution, made on one day. If two officers would define a record differently, that is a question for the Registrar, with her name on it.</a:t>
            </a:r>
          </a:p>
          <a:p/>
          <a:p>
            <a:r>
              <a:t>Slide specification: The drawn records, with whose each fact is, are figure F6 of the written guide; the slide stays text-only.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for every fact the service uses, the team gives one of three answers. We keep it. We take it from another body. Or we must not hold it. A fact with no answer does not stay unanswered for long. It will be kept by whoever builds the first screen that needs it, and that is how several offices end up with several copies of one name.</a:t>
            </a:r>
          </a:p>
          <a:p/>
          <a:p>
            <a:r>
              <a:t>Slide specification: The core payload. Kept on screen while the voice-over gives the reason.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facts from Progressa show all three answers. The institution's name: PHEQA keeps it, because PHEQA registers institutions. The applicant's identity: taken from PNIA, the identity authority, and never copied. PHEQA keeps the identifier PNIA gives it and the name PNIA releases, and never the national number. The institution's record, as the ministry needs it: MoEYS reads it from PHEQA's register each time and keeps only the register number. A ministry with no copy cannot drift out of step.</a:t>
            </a:r>
          </a:p>
          <a:p/>
          <a:p>
            <a:r>
              <a:t>Slide specification: Progressa's names as the plan gives them.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specifications describe the same split. The Digital Registries specification calls a register a trusted, authoritative service and the single source of truth, and lists the functions by which another service checks that a record exists or reads a value from it. The Identity specification describes the person signing in on the identity block's own screen and choosing which personal data it may share. PHEQA uses the facts the person approved, and nothing more. A register is kept by one body and read by the others; it is not copied by each of them.</a:t>
            </a:r>
          </a:p>
          <a:p/>
          <a:p>
            <a:r>
              <a:t>Slide specification: The registry phrases are the specification's own words.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Last comes the read-back. The supplier's analyst reads the records to the Registrar of PHEQA in plain sentences, with the head of the registration desk beside her. She stopped him at one: an institution may hold one licence of each kind. Not so. An institution whose provisional licence was cancelled may apply again. The records were changed. The read-back gives the business side and the builders one shared language, and a sentence the official does not recognise is a question for the records. Before you accept the records, ask for the read-back, read to the person who runs the service.</a:t>
            </a:r>
          </a:p>
          <a:p/>
          <a:p>
            <a:r>
              <a:t>Slide specification: Carries the shared picture between the official and the builders.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For every fact, ask which of the three answers it has. A fact with no answer will be kept by whoever builds the screen that first needs it.</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records the service keeps, and whose each one is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For every fact: we keep it, we take it from another body, or we must not hold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 institution changes its name. Other offices keep the old one.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Nobody did anything wrong: each office kept its own copy.</a:t>
            </a:r>
          </a:p>
          <a:p>
            <a:pPr>
              <a:spcAft>
                <a:spcPts val="800"/>
              </a:spcAft>
            </a:pPr>
            <a:r>
              <a:rPr sz="1700" b="0" i="0">
                <a:solidFill>
                  <a:srgbClr val="595959"/>
                </a:solidFill>
                <a:latin typeface="Arial"/>
              </a:rPr>
              <a:t>You can stop this before the first screen is drawn.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records the service keeps, and whose each one is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record, defined in a single sentence</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An institution.</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An application.</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A licence.</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A decision.</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licence: one permission to one institution to operate, of one kind, from one day.</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records the service keeps, and whose each one is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answers for every fact</a:t>
            </a:r>
          </a:p>
        </p:txBody>
      </p:sp>
      <p:sp>
        <p:nvSpPr>
          <p:cNvPr id="4" name="TextBox 3"/>
          <p:cNvSpPr txBox="1"/>
          <p:nvPr/>
        </p:nvSpPr>
        <p:spPr>
          <a:xfrm>
            <a:off x="658368" y="1463040"/>
            <a:ext cx="10984687" cy="1097279"/>
          </a:xfrm>
          <a:prstGeom prst="rect">
            <a:avLst/>
          </a:prstGeom>
          <a:noFill/>
        </p:spPr>
        <p:txBody>
          <a:bodyPr wrap="square">
            <a:spAutoFit/>
          </a:bodyPr>
          <a:lstStyle/>
          <a:p>
            <a:pPr>
              <a:spcAft>
                <a:spcPts val="300"/>
              </a:spcAft>
            </a:pPr>
            <a:r>
              <a:rPr sz="2600" b="1" i="0">
                <a:solidFill>
                  <a:srgbClr val="1A1A1A"/>
                </a:solidFill>
                <a:latin typeface="Arial"/>
              </a:rPr>
              <a:t>We keep it.</a:t>
            </a:r>
          </a:p>
        </p:txBody>
      </p:sp>
      <p:sp>
        <p:nvSpPr>
          <p:cNvPr id="5" name="Rectangle 4"/>
          <p:cNvSpPr/>
          <p:nvPr/>
        </p:nvSpPr>
        <p:spPr>
          <a:xfrm>
            <a:off x="621792" y="25648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06039"/>
            <a:ext cx="10984687" cy="1097279"/>
          </a:xfrm>
          <a:prstGeom prst="rect">
            <a:avLst/>
          </a:prstGeom>
          <a:noFill/>
        </p:spPr>
        <p:txBody>
          <a:bodyPr wrap="square">
            <a:spAutoFit/>
          </a:bodyPr>
          <a:lstStyle/>
          <a:p>
            <a:pPr>
              <a:spcAft>
                <a:spcPts val="300"/>
              </a:spcAft>
            </a:pPr>
            <a:r>
              <a:rPr sz="2600" b="1" i="0">
                <a:solidFill>
                  <a:srgbClr val="1A1A1A"/>
                </a:solidFill>
                <a:latin typeface="Arial"/>
              </a:rPr>
              <a:t>We take it from another body.</a:t>
            </a:r>
          </a:p>
        </p:txBody>
      </p:sp>
      <p:sp>
        <p:nvSpPr>
          <p:cNvPr id="7" name="Rectangle 6"/>
          <p:cNvSpPr/>
          <p:nvPr/>
        </p:nvSpPr>
        <p:spPr>
          <a:xfrm>
            <a:off x="621792" y="37078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749039"/>
            <a:ext cx="10984687" cy="1097279"/>
          </a:xfrm>
          <a:prstGeom prst="rect">
            <a:avLst/>
          </a:prstGeom>
          <a:noFill/>
        </p:spPr>
        <p:txBody>
          <a:bodyPr wrap="square">
            <a:spAutoFit/>
          </a:bodyPr>
          <a:lstStyle/>
          <a:p>
            <a:pPr>
              <a:spcAft>
                <a:spcPts val="300"/>
              </a:spcAft>
            </a:pPr>
            <a:r>
              <a:rPr sz="2600" b="1" i="0">
                <a:solidFill>
                  <a:srgbClr val="1A1A1A"/>
                </a:solidFill>
                <a:latin typeface="Arial"/>
              </a:rPr>
              <a:t>We must not hold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records the service keeps, and whose each one is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facts, three answers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The institution's name: PHEQA keeps it.</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The applicant's identity: taken from PNIA, never copied.</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The institution's record at MoEYS: read from PHEQA's register; only the register number kept.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records the service keeps, and whose each one is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published blocks say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Digital Registries: a trusted, authoritative service; the single source of truth.</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Others check that a record exists, or read a value from it.</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Identity: the person signs in and approves which facts are shared.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records the service keeps, and whose each one is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read-back</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Read the records aloud to the official who runs the service.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Stop at any sentence the official does not recognise.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Progressa: the sentence on one licence of each kind was wrong.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records the service keeps, and whose each one 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For every fact: we keep it, we take it from another body, or we must not hold 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Read the records back as plain sentences.</a:t>
            </a:r>
          </a:p>
          <a:p>
            <a:pPr algn="l">
              <a:spcAft>
                <a:spcPts val="400"/>
              </a:spcAft>
            </a:pPr>
            <a:r>
              <a:rPr sz="1800" b="0" i="0">
                <a:solidFill>
                  <a:srgbClr val="595959"/>
                </a:solidFill>
                <a:latin typeface="Arial"/>
              </a:rPr>
              <a:t>The prompt in the companion material gives you the records read back as plain sentences, and a list of facts with no keeper.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records the service keeps, and whose each one is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Digital Registries Building Block specification, version 3.0-alpha, June 2026, sections 2 and 8.2</a:t>
            </a:r>
          </a:p>
          <a:p>
            <a:pPr>
              <a:spcAft>
                <a:spcPts val="1200"/>
              </a:spcAft>
            </a:pPr>
            <a:r>
              <a:rPr sz="1700" b="0" i="0">
                <a:solidFill>
                  <a:srgbClr val="1A1A1A"/>
                </a:solidFill>
                <a:latin typeface="Arial"/>
              </a:rPr>
              <a:t>•  GovStack Identity Building Block specification, version 2.0, December 2025, section 9.1.1</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2.3 · The records the service keeps, and whose each one is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