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705" r:id="rId27"/>
    <p:sldId id="2706" r:id="rId28"/>
    <p:sldId id="2707" r:id="rId29"/>
    <p:sldId id="2708" r:id="rId30"/>
    <p:sldId id="2709" r:id="rId31"/>
    <p:sldId id="2710" r:id="rId32"/>
    <p:sldId id="2711" r:id="rId33"/>
    <p:sldId id="2712" r:id="rId34"/>
    <p:sldId id="2713" r:id="rId3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2" Type="http://schemas.openxmlformats.org/officeDocument/2006/relationships/slide" Target="slides/slide17.xml"/><Relationship Id="rId33" Type="http://schemas.openxmlformats.org/officeDocument/2006/relationships/slide" Target="slides/slide18.xml"/><Relationship Id="rId34" Type="http://schemas.openxmlformats.org/officeDocument/2006/relationships/slide" Target="slides/slide19.xml"/><Relationship Id="rId35" Type="http://schemas.openxmlformats.org/officeDocument/2006/relationships/slide" Target="slides/slide20.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Months into a project, the supplier says a feature was never asked for. The ministry says it was. Nobody can point to the sentence. Your job is to make sure that, from the first week, somebody can.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answer is a register of what was asked. It lists every separate thing the customer asked for, one entry each. Each entry keeps the customer's own words, in quotation marks, and says where they were said: a law and its article, the minutes of a meeting, a letter from the minister. It is drawn from your organisation's own documents, the law, the mandate and the requests, which are kept as received and never edited. It is written before anyone designs anything. Later, every part of the design is measured against it, so it is the one list the design did not write.</a:t>
            </a:r>
          </a:p>
          <a:p/>
          <a:p>
            <a:r>
              <a:t>Slide specification: The core payload. Text-only list.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Here are five entries from the register of Progressa's quality authority, PHEQA, drawn from its Higher Education Regulations. An application is made through PHEQA's self-service. PHEQA inspects before it recommends. The minister decides the licence. The register of institutions is open to the public. A person aggrieved by a decision of PHEQA may ask the minister to review it. Each entry quotes its article word for word and names it, so anyone can open the regulation and check. Each is one sentence of the regulation, not a summary of a chapter.</a:t>
            </a:r>
          </a:p>
          <a:p/>
          <a:p>
            <a:r>
              <a:t>Slide specification: The entries' identifiers may appear in small type. Progressa's regulations are invented for the example.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Two habits make a register useful. First, one thing per entry. A sentence that asks for three things becomes three entries, because each may be met, changed or dropped on its own. Second, for each entry the analyst writes in plain words what would show that it is met. For the inspection, that is: no recommendation can be sent to the minister for an application with no recorded inspection. Now the Registrar of PHEQA can tell whether a later design keeps the promise.</a:t>
            </a:r>
          </a:p>
          <a:p/>
          <a:p>
            <a:r>
              <a:t>Slide specification: Text-only.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Reading the text closely also shows what it does not say. Article 22 gives the right to a review, but no period for asking. Article 14 opens the register to the public, but does not say whether that includes the name of the person who runs an institution. Neither gap is filled with a guess. A guessed period would look complete and could be wrong. Each becomes a question with an owner and a date: the Director of Higher Education at the ministry for the first, the Registrar of PHEQA for the second.</a:t>
            </a:r>
          </a:p>
          <a:p/>
          <a:p>
            <a:r>
              <a:t>Slide specification: Names roles, never persons.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An AI assistant can do the first pass, splitting a long regulation into entries in minutes. But the assistant only proposes. The analyst rules on every entry: accept it, amend it, or set it aside with a reason, a date and a name. An entry that comes back with no article beside it is struck out, unless somebody can say where it was asked. In Progressa, the Registrar of PHEQA then reads each entry against its article before she accepts the register. Do the same: pick three entries at random and open the article each one cites.</a:t>
            </a:r>
          </a:p>
          <a:p/>
          <a:p>
            <a:r>
              <a:t>Slide specification: Carries the rule that only what a person accepted stands.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a:t>
            </a:r>
          </a:p>
          <a:p/>
          <a:p>
            <a:r>
              <a:t>VO: One thing per entry, in the customer's words, with its source. Every open question gets an owner and a date. Only then does design begin.</a:t>
            </a:r>
          </a:p>
          <a:p/>
          <a:p>
            <a:r>
              <a:t>Slide specification: The single message, word for word.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This video cites no outside source; no narration.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s>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MODULE 2 · VIDEO 2.2</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2.2</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Write down what was asked before anyone designs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One entry for each separate thing asked, in the customer's words, with where it was said.</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"It was never asked for." "It was."</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Months into a project, nobody can point to the sentence.</a:t>
            </a:r>
          </a:p>
          <a:p>
            <a:pPr>
              <a:spcAft>
                <a:spcPts val="800"/>
              </a:spcAft>
            </a:pPr>
            <a:r>
              <a:rPr sz="1700" b="0" i="0">
                <a:solidFill>
                  <a:srgbClr val="595959"/>
                </a:solidFill>
                <a:latin typeface="Arial"/>
              </a:rPr>
              <a:t>From the first week, somebody must be able to.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Write down what was asked before anyone designs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register of what was asked</a:t>
            </a:r>
          </a:p>
        </p:txBody>
      </p:sp>
      <p:sp>
        <p:nvSpPr>
          <p:cNvPr id="4" name="TextBox 3"/>
          <p:cNvSpPr txBox="1"/>
          <p:nvPr/>
        </p:nvSpPr>
        <p:spPr>
          <a:xfrm>
            <a:off x="658368" y="1463040"/>
            <a:ext cx="10984687" cy="1131570"/>
          </a:xfrm>
          <a:prstGeom prst="rect">
            <a:avLst/>
          </a:prstGeom>
          <a:noFill/>
        </p:spPr>
        <p:txBody>
          <a:bodyPr wrap="square">
            <a:spAutoFit/>
          </a:bodyPr>
          <a:lstStyle/>
          <a:p>
            <a:pPr>
              <a:spcAft>
                <a:spcPts val="300"/>
              </a:spcAft>
            </a:pPr>
            <a:r>
              <a:rPr sz="1900" b="1" i="0">
                <a:solidFill>
                  <a:srgbClr val="1A1A1A"/>
                </a:solidFill>
                <a:latin typeface="Arial"/>
              </a:rPr>
              <a:t>One entry for each separate thing asked.</a:t>
            </a:r>
          </a:p>
        </p:txBody>
      </p:sp>
      <p:sp>
        <p:nvSpPr>
          <p:cNvPr id="5" name="Rectangle 4"/>
          <p:cNvSpPr/>
          <p:nvPr/>
        </p:nvSpPr>
        <p:spPr>
          <a:xfrm>
            <a:off x="621792" y="259918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640330"/>
            <a:ext cx="10984687" cy="1131570"/>
          </a:xfrm>
          <a:prstGeom prst="rect">
            <a:avLst/>
          </a:prstGeom>
          <a:noFill/>
        </p:spPr>
        <p:txBody>
          <a:bodyPr wrap="square">
            <a:spAutoFit/>
          </a:bodyPr>
          <a:lstStyle/>
          <a:p>
            <a:pPr>
              <a:spcAft>
                <a:spcPts val="300"/>
              </a:spcAft>
            </a:pPr>
            <a:r>
              <a:rPr sz="1900" b="1" i="0">
                <a:solidFill>
                  <a:srgbClr val="1A1A1A"/>
                </a:solidFill>
                <a:latin typeface="Arial"/>
              </a:rPr>
              <a:t>In the customer's own words.</a:t>
            </a:r>
          </a:p>
        </p:txBody>
      </p:sp>
      <p:sp>
        <p:nvSpPr>
          <p:cNvPr id="7" name="Rectangle 6"/>
          <p:cNvSpPr/>
          <p:nvPr/>
        </p:nvSpPr>
        <p:spPr>
          <a:xfrm>
            <a:off x="621792" y="377647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817620"/>
            <a:ext cx="10984687" cy="1131570"/>
          </a:xfrm>
          <a:prstGeom prst="rect">
            <a:avLst/>
          </a:prstGeom>
          <a:noFill/>
        </p:spPr>
        <p:txBody>
          <a:bodyPr wrap="square">
            <a:spAutoFit/>
          </a:bodyPr>
          <a:lstStyle/>
          <a:p>
            <a:pPr>
              <a:spcAft>
                <a:spcPts val="300"/>
              </a:spcAft>
            </a:pPr>
            <a:r>
              <a:rPr sz="1900" b="1" i="0">
                <a:solidFill>
                  <a:srgbClr val="1A1A1A"/>
                </a:solidFill>
                <a:latin typeface="Arial"/>
              </a:rPr>
              <a:t>With where it was said.</a:t>
            </a:r>
          </a:p>
        </p:txBody>
      </p:sp>
      <p:sp>
        <p:nvSpPr>
          <p:cNvPr id="9" name="Rectangle 8"/>
          <p:cNvSpPr/>
          <p:nvPr/>
        </p:nvSpPr>
        <p:spPr>
          <a:xfrm>
            <a:off x="621792" y="495376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994910"/>
            <a:ext cx="10984687" cy="1131570"/>
          </a:xfrm>
          <a:prstGeom prst="rect">
            <a:avLst/>
          </a:prstGeom>
          <a:noFill/>
        </p:spPr>
        <p:txBody>
          <a:bodyPr wrap="square">
            <a:spAutoFit/>
          </a:bodyPr>
          <a:lstStyle/>
          <a:p>
            <a:pPr>
              <a:spcAft>
                <a:spcPts val="300"/>
              </a:spcAft>
            </a:pPr>
            <a:r>
              <a:rPr sz="1900" b="1" i="0">
                <a:solidFill>
                  <a:srgbClr val="1A1A1A"/>
                </a:solidFill>
                <a:latin typeface="Arial"/>
              </a:rPr>
              <a:t>Written before anyone designs.</a:t>
            </a:r>
          </a:p>
        </p:txBody>
      </p:sp>
      <p:sp>
        <p:nvSpPr>
          <p:cNvPr id="11" name="TextBox 10"/>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Write down what was asked before anyone designs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Five entries from Progressa's regulations</a:t>
            </a:r>
          </a:p>
        </p:txBody>
      </p:sp>
      <p:sp>
        <p:nvSpPr>
          <p:cNvPr id="4" name="TextBox 3"/>
          <p:cNvSpPr txBox="1"/>
          <p:nvPr/>
        </p:nvSpPr>
        <p:spPr>
          <a:xfrm>
            <a:off x="658368" y="1463040"/>
            <a:ext cx="10984687" cy="896112"/>
          </a:xfrm>
          <a:prstGeom prst="rect">
            <a:avLst/>
          </a:prstGeom>
          <a:noFill/>
        </p:spPr>
        <p:txBody>
          <a:bodyPr wrap="square">
            <a:spAutoFit/>
          </a:bodyPr>
          <a:lstStyle/>
          <a:p>
            <a:pPr>
              <a:spcAft>
                <a:spcPts val="300"/>
              </a:spcAft>
            </a:pPr>
            <a:r>
              <a:rPr sz="1900" b="1" i="0">
                <a:solidFill>
                  <a:srgbClr val="1A1A1A"/>
                </a:solidFill>
                <a:latin typeface="Arial"/>
              </a:rPr>
              <a:t>R-01 Apply through PHEQA's self-service</a:t>
            </a:r>
          </a:p>
          <a:p>
            <a:pPr>
              <a:spcAft>
                <a:spcPts val="300"/>
              </a:spcAft>
            </a:pPr>
            <a:r>
              <a:rPr sz="1550" b="0" i="0">
                <a:solidFill>
                  <a:srgbClr val="595959"/>
                </a:solidFill>
                <a:latin typeface="Arial"/>
              </a:rPr>
              <a:t>article 6(1).</a:t>
            </a:r>
          </a:p>
        </p:txBody>
      </p:sp>
      <p:sp>
        <p:nvSpPr>
          <p:cNvPr id="5" name="Rectangle 4"/>
          <p:cNvSpPr/>
          <p:nvPr/>
        </p:nvSpPr>
        <p:spPr>
          <a:xfrm>
            <a:off x="621792" y="2363724"/>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404872"/>
            <a:ext cx="10984687" cy="896112"/>
          </a:xfrm>
          <a:prstGeom prst="rect">
            <a:avLst/>
          </a:prstGeom>
          <a:noFill/>
        </p:spPr>
        <p:txBody>
          <a:bodyPr wrap="square">
            <a:spAutoFit/>
          </a:bodyPr>
          <a:lstStyle/>
          <a:p>
            <a:pPr>
              <a:spcAft>
                <a:spcPts val="300"/>
              </a:spcAft>
            </a:pPr>
            <a:r>
              <a:rPr sz="1900" b="1" i="0">
                <a:solidFill>
                  <a:srgbClr val="1A1A1A"/>
                </a:solidFill>
                <a:latin typeface="Arial"/>
              </a:rPr>
              <a:t>R-02 Inspect before recommending</a:t>
            </a:r>
          </a:p>
          <a:p>
            <a:pPr>
              <a:spcAft>
                <a:spcPts val="300"/>
              </a:spcAft>
            </a:pPr>
            <a:r>
              <a:rPr sz="1550" b="0" i="0">
                <a:solidFill>
                  <a:srgbClr val="595959"/>
                </a:solidFill>
                <a:latin typeface="Arial"/>
              </a:rPr>
              <a:t>article 9(2).</a:t>
            </a:r>
          </a:p>
        </p:txBody>
      </p:sp>
      <p:sp>
        <p:nvSpPr>
          <p:cNvPr id="7" name="Rectangle 6"/>
          <p:cNvSpPr/>
          <p:nvPr/>
        </p:nvSpPr>
        <p:spPr>
          <a:xfrm>
            <a:off x="621792" y="3305556"/>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346704"/>
            <a:ext cx="10984687" cy="896112"/>
          </a:xfrm>
          <a:prstGeom prst="rect">
            <a:avLst/>
          </a:prstGeom>
          <a:noFill/>
        </p:spPr>
        <p:txBody>
          <a:bodyPr wrap="square">
            <a:spAutoFit/>
          </a:bodyPr>
          <a:lstStyle/>
          <a:p>
            <a:pPr>
              <a:spcAft>
                <a:spcPts val="300"/>
              </a:spcAft>
            </a:pPr>
            <a:r>
              <a:rPr sz="1900" b="1" i="0">
                <a:solidFill>
                  <a:srgbClr val="1A1A1A"/>
                </a:solidFill>
                <a:latin typeface="Arial"/>
              </a:rPr>
              <a:t>R-03 The minister decides the licence</a:t>
            </a:r>
          </a:p>
          <a:p>
            <a:pPr>
              <a:spcAft>
                <a:spcPts val="300"/>
              </a:spcAft>
            </a:pPr>
            <a:r>
              <a:rPr sz="1550" b="0" i="0">
                <a:solidFill>
                  <a:srgbClr val="595959"/>
                </a:solidFill>
                <a:latin typeface="Arial"/>
              </a:rPr>
              <a:t>article 11(1).</a:t>
            </a:r>
          </a:p>
        </p:txBody>
      </p:sp>
      <p:sp>
        <p:nvSpPr>
          <p:cNvPr id="9" name="Rectangle 8"/>
          <p:cNvSpPr/>
          <p:nvPr/>
        </p:nvSpPr>
        <p:spPr>
          <a:xfrm>
            <a:off x="621792" y="4247388"/>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288536"/>
            <a:ext cx="10984687" cy="896112"/>
          </a:xfrm>
          <a:prstGeom prst="rect">
            <a:avLst/>
          </a:prstGeom>
          <a:noFill/>
        </p:spPr>
        <p:txBody>
          <a:bodyPr wrap="square">
            <a:spAutoFit/>
          </a:bodyPr>
          <a:lstStyle/>
          <a:p>
            <a:pPr>
              <a:spcAft>
                <a:spcPts val="300"/>
              </a:spcAft>
            </a:pPr>
            <a:r>
              <a:rPr sz="1900" b="1" i="0">
                <a:solidFill>
                  <a:srgbClr val="1A1A1A"/>
                </a:solidFill>
                <a:latin typeface="Arial"/>
              </a:rPr>
              <a:t>R-04 The register of institutions is open to the public</a:t>
            </a:r>
          </a:p>
          <a:p>
            <a:pPr>
              <a:spcAft>
                <a:spcPts val="300"/>
              </a:spcAft>
            </a:pPr>
            <a:r>
              <a:rPr sz="1550" b="0" i="0">
                <a:solidFill>
                  <a:srgbClr val="595959"/>
                </a:solidFill>
                <a:latin typeface="Arial"/>
              </a:rPr>
              <a:t>article 14(3).</a:t>
            </a:r>
          </a:p>
        </p:txBody>
      </p:sp>
      <p:sp>
        <p:nvSpPr>
          <p:cNvPr id="11" name="Rectangle 10"/>
          <p:cNvSpPr/>
          <p:nvPr/>
        </p:nvSpPr>
        <p:spPr>
          <a:xfrm>
            <a:off x="621792" y="5189220"/>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5230368"/>
            <a:ext cx="10984687" cy="896112"/>
          </a:xfrm>
          <a:prstGeom prst="rect">
            <a:avLst/>
          </a:prstGeom>
          <a:noFill/>
        </p:spPr>
        <p:txBody>
          <a:bodyPr wrap="square">
            <a:spAutoFit/>
          </a:bodyPr>
          <a:lstStyle/>
          <a:p>
            <a:pPr>
              <a:spcAft>
                <a:spcPts val="300"/>
              </a:spcAft>
            </a:pPr>
            <a:r>
              <a:rPr sz="1900" b="1" i="0">
                <a:solidFill>
                  <a:srgbClr val="1A1A1A"/>
                </a:solidFill>
                <a:latin typeface="Arial"/>
              </a:rPr>
              <a:t>R-05 A person aggrieved may ask for a review</a:t>
            </a:r>
          </a:p>
          <a:p>
            <a:pPr>
              <a:spcAft>
                <a:spcPts val="300"/>
              </a:spcAft>
            </a:pPr>
            <a:r>
              <a:rPr sz="1550" b="0" i="0">
                <a:solidFill>
                  <a:srgbClr val="595959"/>
                </a:solidFill>
                <a:latin typeface="Arial"/>
              </a:rPr>
              <a:t>article 22(1).</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Write down what was asked before anyone designs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One thing per entry, and how to tell it is met</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200" b="1" i="0">
                <a:solidFill>
                  <a:srgbClr val="1A1A1A"/>
                </a:solidFill>
                <a:latin typeface="Arial"/>
              </a:rPr>
              <a:t>A sentence that asks for three things becomes three entries.</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200" b="1" i="0">
                <a:solidFill>
                  <a:srgbClr val="1A1A1A"/>
                </a:solidFill>
                <a:latin typeface="Arial"/>
              </a:rPr>
              <a:t>Each entry says, in plain words, what would show it is met.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Write down what was asked before anyone designs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What the text does not say</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000" b="1" i="0">
                <a:solidFill>
                  <a:srgbClr val="1A1A1A"/>
                </a:solidFill>
                <a:latin typeface="Arial"/>
              </a:rPr>
              <a:t>How many days to ask for a review? Owner: the Director of Higher Education, MoEYS.</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000" b="1" i="0">
                <a:solidFill>
                  <a:srgbClr val="1A1A1A"/>
                </a:solidFill>
                <a:latin typeface="Arial"/>
              </a:rPr>
              <a:t>Does the public register show the name of the person who runs an institution? Owner: the Registrar of PHEQA.</a:t>
            </a:r>
          </a:p>
        </p:txBody>
      </p:sp>
      <p:sp>
        <p:nvSpPr>
          <p:cNvPr id="7" name="Rectangle 6"/>
          <p:cNvSpPr/>
          <p:nvPr/>
        </p:nvSpPr>
        <p:spPr>
          <a:xfrm>
            <a:off x="621792" y="35250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566160"/>
            <a:ext cx="10984687" cy="1005839"/>
          </a:xfrm>
          <a:prstGeom prst="rect">
            <a:avLst/>
          </a:prstGeom>
          <a:noFill/>
        </p:spPr>
        <p:txBody>
          <a:bodyPr wrap="square">
            <a:spAutoFit/>
          </a:bodyPr>
          <a:lstStyle/>
          <a:p>
            <a:pPr>
              <a:spcAft>
                <a:spcPts val="300"/>
              </a:spcAft>
            </a:pPr>
            <a:r>
              <a:rPr sz="2000" b="1" i="0">
                <a:solidFill>
                  <a:srgbClr val="1A1A1A"/>
                </a:solidFill>
                <a:latin typeface="Arial"/>
              </a:rPr>
              <a:t>Both answers needed by 30 October 2026.</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Write down what was asked before anyone designs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Who drafts, and who rules</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200" b="1" i="0">
                <a:solidFill>
                  <a:srgbClr val="1A1A1A"/>
                </a:solidFill>
                <a:latin typeface="Arial"/>
              </a:rPr>
              <a:t>An AI assistant may draft the entries.</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200" b="1" i="0">
                <a:solidFill>
                  <a:srgbClr val="1A1A1A"/>
                </a:solidFill>
                <a:latin typeface="Arial"/>
              </a:rPr>
              <a:t>The analyst rules on every entry: accept, amend or set aside.</a:t>
            </a:r>
          </a:p>
        </p:txBody>
      </p:sp>
      <p:sp>
        <p:nvSpPr>
          <p:cNvPr id="7" name="Rectangle 6"/>
          <p:cNvSpPr/>
          <p:nvPr/>
        </p:nvSpPr>
        <p:spPr>
          <a:xfrm>
            <a:off x="621792" y="35250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566160"/>
            <a:ext cx="10984687" cy="1005839"/>
          </a:xfrm>
          <a:prstGeom prst="rect">
            <a:avLst/>
          </a:prstGeom>
          <a:noFill/>
        </p:spPr>
        <p:txBody>
          <a:bodyPr wrap="square">
            <a:spAutoFit/>
          </a:bodyPr>
          <a:lstStyle/>
          <a:p>
            <a:pPr>
              <a:spcAft>
                <a:spcPts val="300"/>
              </a:spcAft>
            </a:pPr>
            <a:r>
              <a:rPr sz="2200" b="1" i="0">
                <a:solidFill>
                  <a:srgbClr val="1A1A1A"/>
                </a:solidFill>
                <a:latin typeface="Arial"/>
              </a:rPr>
              <a:t>An entry with no source is struck out.</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Write down what was asked before anyone designs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One entry for each separate thing asked, in the customer's words, with where it was said.</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Split an official text into entries of the register.</a:t>
            </a:r>
          </a:p>
          <a:p>
            <a:pPr algn="l">
              <a:spcAft>
                <a:spcPts val="400"/>
              </a:spcAft>
            </a:pPr>
            <a:r>
              <a:rPr sz="1800" b="0" i="0">
                <a:solidFill>
                  <a:srgbClr val="595959"/>
                </a:solidFill>
                <a:latin typeface="Arial"/>
              </a:rPr>
              <a:t>The prompt in the companion material gives you a draft register: one entry per thing asked, in the text's own words, with its source line, and a list of open questions.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Write down what was asked before anyone designs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This video cites no outside source. The register of requirements is a document of the SDD method, specification-driven development. Progressa and its Higher Education Regulations are invented for this example.</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Write down what was asked before anyone designs</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