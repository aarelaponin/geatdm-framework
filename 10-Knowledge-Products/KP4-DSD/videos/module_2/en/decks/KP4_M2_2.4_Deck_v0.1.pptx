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3" r:id="rId45"/>
    <p:sldId id="2724" r:id="rId17"/>
    <p:sldId id="2725" r:id="rId16"/>
    <p:sldId id="2726" r:id="rId15"/>
    <p:sldId id="2727" r:id="rId14"/>
    <p:sldId id="2728" r:id="rId13"/>
    <p:sldId id="2729" r:id="rId12"/>
    <p:sldId id="2730" r:id="rId11"/>
    <p:sldId id="273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 shows you a long list of screens and says the design is complete. Complete against what? One table answers that question in both directions, and you can read it without any technical training.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by breaking the service into goals. A goal is something one person wants to get done with the service, in one sitting, that leaves a result they can see. Apply for a provisional licence is a goal. Maintain institution data is not: nobody sits down to do it, and nobody can say when it is finished. Name each goal with the person who has it, and the list reads like the work of real people.</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the goals of Progressa's two applications. In the quality authority's, PHEQA's: the applicant applies for a provisional licence, the finance officer records the fee, the inspector records a visit, the registration officer recommends a decision to the minister, and an institution appeals. In the ministry's: the minister decides on a licence, approves a change of an institution's name, publishes the list of registered institutions in the Gazette, and reviews a decision of PHEQA at a person's request. Each goal starts with what the person does, and each has one person who wants it done.</a:t>
            </a:r>
          </a:p>
          <a:p/>
          <a:p>
            <a:r>
              <a:t>Slide specification: Progressa's names as the plan gives them. Roles,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tie each goal to the register of what was asked. Put the goals across the top and the entries down the side, and mark each goal against the entries it serves. Then read the table both ways. Every column should have a mark, because every goal must serve something that was asked. Every row should have a mark, because everything that was asked must be served by a goal. This is the first measure of completeness, and a manager can read it without help.</a:t>
            </a:r>
          </a:p>
          <a:p/>
          <a:p>
            <a:r>
              <a:t>Slide specification: The core payload. A plain-text grid of a few cells may stand beside the rows; labels in plain text.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table showed one of each. The goal record the application fee had an empty column: no entry of the register asked for a fee. The entry the register of institutions is open to the public had an empty row: no goal let a member of the public look an institution up. An empty column is something the supplier will build that nobody asked for. An empty row is something you asked for that nobody will build. Both are found by reading the table, long before anything is tested.</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Neither finding was fixed on the spot. Each became a question with an owner and a date. The finance officer found the fee in a schedule PHEQA issues under article 7 of the regulations, which nobody had given the analyst. It became a new entry, and the fee goal now serves it. The Registrar added a goal for the public: look up an institution in the register. Both answers came from people who run the service, not from the supplier. Left to the supplier, one gap would have been filled by a guess at the law, and the other by a guess at what the public needs.</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Ask for the table with goals across and entries down. Before you accept the list of goals, look for an empty column and an empty row.</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This video cites no outside source;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Every goal named, and each tied to what was asked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service is broken into the goals people have in it; every goal serves an entry and every entry is served by a goal.</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design is complete." Complete against what?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long list of screens does not answer that.</a:t>
            </a:r>
          </a:p>
          <a:p>
            <a:pPr>
              <a:spcAft>
                <a:spcPts val="800"/>
              </a:spcAft>
            </a:pPr>
            <a:r>
              <a:rPr sz="1700" b="0" i="0">
                <a:solidFill>
                  <a:srgbClr val="595959"/>
                </a:solidFill>
                <a:latin typeface="Arial"/>
              </a:rPr>
              <a:t>One table answers it in both directions, and you can read it without technical training.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goal, not a function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 goal: something one person gets done, in one sitting, with a result they can see.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Yes: apply for a provisional licence.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No: maintain institution data.</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goals</a:t>
            </a:r>
          </a:p>
        </p:txBody>
      </p:sp>
      <p:sp>
        <p:nvSpPr>
          <p:cNvPr id="4" name="Rounded Rectangle 3"/>
          <p:cNvSpPr/>
          <p:nvPr/>
        </p:nvSpPr>
        <p:spPr>
          <a:xfrm>
            <a:off x="65836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1900" b="1" i="0">
                <a:solidFill>
                  <a:srgbClr val="006E96"/>
                </a:solidFill>
                <a:latin typeface="Arial"/>
              </a:rPr>
              <a:t>PHEQA</a:t>
            </a:r>
          </a:p>
          <a:p>
            <a:pPr>
              <a:spcAft>
                <a:spcPts val="700"/>
              </a:spcAft>
            </a:pPr>
            <a:r>
              <a:rPr sz="1600" b="0" i="0">
                <a:solidFill>
                  <a:srgbClr val="1A1A1A"/>
                </a:solidFill>
                <a:latin typeface="Arial"/>
              </a:rPr>
              <a:t>Apply for a provisional licence — the applicant.</a:t>
            </a:r>
          </a:p>
          <a:p>
            <a:pPr>
              <a:spcAft>
                <a:spcPts val="700"/>
              </a:spcAft>
            </a:pPr>
            <a:r>
              <a:rPr sz="1600" b="0" i="0">
                <a:solidFill>
                  <a:srgbClr val="1A1A1A"/>
                </a:solidFill>
                <a:latin typeface="Arial"/>
              </a:rPr>
              <a:t>Record the application fee — the finance officer.</a:t>
            </a:r>
          </a:p>
          <a:p>
            <a:pPr>
              <a:spcAft>
                <a:spcPts val="700"/>
              </a:spcAft>
            </a:pPr>
            <a:r>
              <a:rPr sz="1600" b="0" i="0">
                <a:solidFill>
                  <a:srgbClr val="1A1A1A"/>
                </a:solidFill>
                <a:latin typeface="Arial"/>
              </a:rPr>
              <a:t>Record an inspection visit — the inspector.</a:t>
            </a:r>
          </a:p>
          <a:p>
            <a:pPr>
              <a:spcAft>
                <a:spcPts val="700"/>
              </a:spcAft>
            </a:pPr>
            <a:r>
              <a:rPr sz="1600" b="0" i="0">
                <a:solidFill>
                  <a:srgbClr val="1A1A1A"/>
                </a:solidFill>
                <a:latin typeface="Arial"/>
              </a:rPr>
              <a:t>Recommend a decision to the minister — the registration officer.</a:t>
            </a:r>
          </a:p>
          <a:p>
            <a:pPr>
              <a:spcAft>
                <a:spcPts val="700"/>
              </a:spcAft>
            </a:pPr>
            <a:r>
              <a:rPr sz="1600" b="0" i="0">
                <a:solidFill>
                  <a:srgbClr val="1A1A1A"/>
                </a:solidFill>
                <a:latin typeface="Arial"/>
              </a:rPr>
              <a:t>Appeal against a decision of PHEQA — the institution.</a:t>
            </a:r>
          </a:p>
        </p:txBody>
      </p:sp>
      <p:sp>
        <p:nvSpPr>
          <p:cNvPr id="6" name="Rounded Rectangle 5"/>
          <p:cNvSpPr/>
          <p:nvPr/>
        </p:nvSpPr>
        <p:spPr>
          <a:xfrm>
            <a:off x="6263640" y="1554480"/>
            <a:ext cx="5394960" cy="42062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931920"/>
          </a:xfrm>
          <a:prstGeom prst="rect">
            <a:avLst/>
          </a:prstGeom>
          <a:noFill/>
        </p:spPr>
        <p:txBody>
          <a:bodyPr wrap="square">
            <a:spAutoFit/>
          </a:bodyPr>
          <a:lstStyle/>
          <a:p>
            <a:pPr>
              <a:spcAft>
                <a:spcPts val="700"/>
              </a:spcAft>
            </a:pPr>
            <a:r>
              <a:rPr sz="1900" b="1" i="0">
                <a:solidFill>
                  <a:srgbClr val="006E96"/>
                </a:solidFill>
                <a:latin typeface="Arial"/>
              </a:rPr>
              <a:t>MoEYS, ALL THE MINISTER'S</a:t>
            </a:r>
          </a:p>
          <a:p>
            <a:pPr>
              <a:spcAft>
                <a:spcPts val="700"/>
              </a:spcAft>
            </a:pPr>
            <a:r>
              <a:rPr sz="1600" b="0" i="0">
                <a:solidFill>
                  <a:srgbClr val="1A1A1A"/>
                </a:solidFill>
                <a:latin typeface="Arial"/>
              </a:rPr>
              <a:t>Decide on a licence.</a:t>
            </a:r>
          </a:p>
          <a:p>
            <a:pPr>
              <a:spcAft>
                <a:spcPts val="700"/>
              </a:spcAft>
            </a:pPr>
            <a:r>
              <a:rPr sz="1600" b="0" i="0">
                <a:solidFill>
                  <a:srgbClr val="1A1A1A"/>
                </a:solidFill>
                <a:latin typeface="Arial"/>
              </a:rPr>
              <a:t>Approve a change of an institution's name.</a:t>
            </a:r>
          </a:p>
          <a:p>
            <a:pPr>
              <a:spcAft>
                <a:spcPts val="700"/>
              </a:spcAft>
            </a:pPr>
            <a:r>
              <a:rPr sz="1600" b="0" i="0">
                <a:solidFill>
                  <a:srgbClr val="1A1A1A"/>
                </a:solidFill>
                <a:latin typeface="Arial"/>
              </a:rPr>
              <a:t>Publish the list of registered institutions in the Gazette.</a:t>
            </a:r>
          </a:p>
          <a:p>
            <a:pPr>
              <a:spcAft>
                <a:spcPts val="700"/>
              </a:spcAft>
            </a:pPr>
            <a:r>
              <a:rPr sz="1600" b="0" i="0">
                <a:solidFill>
                  <a:srgbClr val="1A1A1A"/>
                </a:solidFill>
                <a:latin typeface="Arial"/>
              </a:rPr>
              <a:t>Review a decision of PHEQA at a person's request.</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in both directions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Goals across the top, entries of the register down the side.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column needs a mark: each goal serves an entry.</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row needs a mark: each entry is served by a goal.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one empty column, one empty row</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Empty column: record the application fee. No entry asks for a fee.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Empty row: the register of institutions is open to the public. No goal lets the public look.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finding becomes a question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Is a fee asked for anywhere? Owner: the finance officer of PHEQA.</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Who looks up the public register? Owner: the Registrar of PHEQA.</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Answers needed by 6 November 2026.</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service is broken into the goals people have in it; every goal serves an entry and every entry is served by a goal.</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Check the goals against the register in both directions.</a:t>
            </a:r>
          </a:p>
          <a:p>
            <a:pPr algn="l">
              <a:spcAft>
                <a:spcPts val="400"/>
              </a:spcAft>
            </a:pPr>
            <a:r>
              <a:rPr sz="1800" b="0" i="0">
                <a:solidFill>
                  <a:srgbClr val="595959"/>
                </a:solidFill>
                <a:latin typeface="Arial"/>
              </a:rPr>
              <a:t>The prompt in the companion material gives you a table with goals across and entries down, and the empty rows and columns written as questions.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video cites no outside source. The list of goals and its check in both directions are part of the SDD method, specification-driven development. Progressa is invented for this example.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