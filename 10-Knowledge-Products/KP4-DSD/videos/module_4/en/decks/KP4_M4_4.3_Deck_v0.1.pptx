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14" r:id="rId36"/>
    <p:sldId id="2715" r:id="rId37"/>
    <p:sldId id="2716" r:id="rId38"/>
    <p:sldId id="2717" r:id="rId39"/>
    <p:sldId id="2718" r:id="rId40"/>
    <p:sldId id="2719" r:id="rId41"/>
    <p:sldId id="2720" r:id="rId42"/>
    <p:sldId id="2721" r:id="rId43"/>
    <p:sldId id="2722"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36" Type="http://schemas.openxmlformats.org/officeDocument/2006/relationships/slide" Target="slides/slide21.xml"/><Relationship Id="rId37" Type="http://schemas.openxmlformats.org/officeDocument/2006/relationships/slide" Target="slides/slide22.xml"/><Relationship Id="rId38" Type="http://schemas.openxmlformats.org/officeDocument/2006/relationships/slide" Target="slides/slide23.xml"/><Relationship Id="rId39" Type="http://schemas.openxmlformats.org/officeDocument/2006/relationships/slide" Target="slides/slide24.xml"/><Relationship Id="rId40" Type="http://schemas.openxmlformats.org/officeDocument/2006/relationships/slide" Target="slides/slide25.xml"/><Relationship Id="rId41" Type="http://schemas.openxmlformats.org/officeDocument/2006/relationships/slide" Target="slides/slide26.xml"/><Relationship Id="rId42" Type="http://schemas.openxmlformats.org/officeDocument/2006/relationships/slide" Target="slides/slide27.xml"/><Relationship Id="rId43" Type="http://schemas.openxmlformats.org/officeDocument/2006/relationships/slide" Target="slides/slide28.xml"/><Relationship Id="rId44" Type="http://schemas.openxmlformats.org/officeDocument/2006/relationships/slide" Target="slides/slide29.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licence, an application, an appeal: each is a case that passes through stages. If nobody writes those stages down once, every screen invents its own, and the law ends up enforced on some screens and not on others.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service workflow is three things, written once for the whole application. The states are every stage a case can be in. The moves are every step from one state to another; a move that is not written down cannot happen. And for each move, the workflow names who may make it, and on what decision. Every screen then offers only the moves the workflow allows, and only to the people it names.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GovStack specifications give the same picture. The Workflow specification describes a process as a set of linked activities, each a step done by a person or by a machine. It asks a workflow block to run a process, not only to draw it: started by another system, by a person's click, or by the passage of time. The Registration specification gives an officer three decisions on an application: approve it, reject it, or send it back for correction. Its interface lets officers list the tasks that wait for them and complete each one. Find the link in the description.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the one case in Progressa's example that has states: an institution's licence at PHEQA, the quality authority. It has three. Granted: the institution may operate. Suspended: it may not admit new students until the suspension ends. Cancelled: it may no longer operate under this licence. These three are written once, in the groundwork every goal shares, and every goal that touches a licence reads them from there.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Now the moves. A licence is granted when the minister decides to grant it, as Progressa's Higher Education Regulations provide, and the registration officer records the decision. It is suspended or cancelled on the minister's decision, recorded the same way, and a suspension is ended the same way, on PHEQA's advice. A cancellation is undone only by a decision on appeal or on review that sets it aside. Nobody moves a licence because a screen allows it. Every move rests on a decision someone is entitled to make.</a:t>
            </a:r>
          </a:p>
          <a:p/>
          <a:p>
            <a:r>
              <a:t>Retrieval prompt — ask before playing on: of granted, suspended and cancelled, which state looks like a dead end, and is it one? Answer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One check is worth asking for: can every state be left? A state that cannot be left is a dead end, and sometimes that is intended. Cancelled looks like one. But an institution may appeal, and a person may ask the minister to review a decision. If the cancellation is set aside, the licence returns to the state it held before. So no state is a dead end, and the drawn workflow shows the way out.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its recap.</a:t>
            </a:r>
          </a:p>
          <a:p/>
          <a:p>
            <a:r>
              <a:t>VO: Ask for the service workflow on one page: every state, every move, and who may make each move. Check each move against the law, and look for dead ends.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5.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s>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4 · VIDEO 4.3</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4.3</a:t>
            </a:r>
          </a:p>
        </p:txBody>
      </p:sp>
      <p:sp>
        <p:nvSpPr>
          <p:cNvPr id="4" name="TextBox 3"/>
          <p:cNvSpPr txBox="1"/>
          <p:nvPr/>
        </p:nvSpPr>
        <p:spPr>
          <a:xfrm>
            <a:off x="822960" y="2880360"/>
            <a:ext cx="9601200" cy="1371600"/>
          </a:xfrm>
          <a:prstGeom prst="rect">
            <a:avLst/>
          </a:prstGeom>
          <a:noFill/>
        </p:spPr>
        <p:txBody>
          <a:bodyPr wrap="square">
            <a:spAutoFit/>
          </a:bodyPr>
          <a:lstStyle/>
          <a:p>
            <a:r>
              <a:rPr sz="2800" b="1" i="0">
                <a:solidFill>
                  <a:srgbClr val="1A1A1A"/>
                </a:solidFill>
                <a:latin typeface="Arial"/>
              </a:rPr>
              <a:t>The service workflow: states, moves and who may make each</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Every state a case can be in, every move between states, and who may make each move, written once.</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 licence, an application, an appeal: each case passes through stages.</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Write the stages down once.</a:t>
            </a:r>
          </a:p>
          <a:p>
            <a:pPr>
              <a:spcAft>
                <a:spcPts val="800"/>
              </a:spcAft>
            </a:pPr>
            <a:r>
              <a:rPr sz="1700" b="0" i="0">
                <a:solidFill>
                  <a:srgbClr val="595959"/>
                </a:solidFill>
                <a:latin typeface="Arial"/>
              </a:rPr>
              <a:t>Otherwise every screen invents its own, and the law is enforced on some screens and not on others.</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4.3 · The service workflow: states, moves and who may make each</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Three things, written once</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1900" b="1" i="0">
                <a:solidFill>
                  <a:srgbClr val="1A1A1A"/>
                </a:solidFill>
                <a:latin typeface="Arial"/>
              </a:rPr>
              <a:t>States</a:t>
            </a:r>
          </a:p>
          <a:p>
            <a:pPr>
              <a:spcAft>
                <a:spcPts val="300"/>
              </a:spcAft>
            </a:pPr>
            <a:r>
              <a:rPr sz="1600" b="0" i="0">
                <a:solidFill>
                  <a:srgbClr val="595959"/>
                </a:solidFill>
                <a:latin typeface="Arial"/>
              </a:rPr>
              <a:t>every stage a case can be in.</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1900" b="1" i="0">
                <a:solidFill>
                  <a:srgbClr val="1A1A1A"/>
                </a:solidFill>
                <a:latin typeface="Arial"/>
              </a:rPr>
              <a:t>Moves</a:t>
            </a:r>
          </a:p>
          <a:p>
            <a:pPr>
              <a:spcAft>
                <a:spcPts val="300"/>
              </a:spcAft>
            </a:pPr>
            <a:r>
              <a:rPr sz="1600" b="0" i="0">
                <a:solidFill>
                  <a:srgbClr val="595959"/>
                </a:solidFill>
                <a:latin typeface="Arial"/>
              </a:rPr>
              <a:t>every step from one state to another.</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1900" b="1" i="0">
                <a:solidFill>
                  <a:srgbClr val="1A1A1A"/>
                </a:solidFill>
                <a:latin typeface="Arial"/>
              </a:rPr>
              <a:t>Who</a:t>
            </a:r>
          </a:p>
          <a:p>
            <a:pPr>
              <a:spcAft>
                <a:spcPts val="300"/>
              </a:spcAft>
            </a:pPr>
            <a:r>
              <a:rPr sz="1600" b="0" i="0">
                <a:solidFill>
                  <a:srgbClr val="595959"/>
                </a:solidFill>
                <a:latin typeface="Arial"/>
              </a:rPr>
              <a:t>the person who may make each move, and on what decision.</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4.3 · The service workflow: states, moves and who may make each</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the published specifications say</a:t>
            </a:r>
          </a:p>
        </p:txBody>
      </p:sp>
      <p:sp>
        <p:nvSpPr>
          <p:cNvPr id="4" name="TextBox 3"/>
          <p:cNvSpPr txBox="1"/>
          <p:nvPr/>
        </p:nvSpPr>
        <p:spPr>
          <a:xfrm>
            <a:off x="658368" y="1463040"/>
            <a:ext cx="10984687" cy="1386839"/>
          </a:xfrm>
          <a:prstGeom prst="rect">
            <a:avLst/>
          </a:prstGeom>
          <a:noFill/>
        </p:spPr>
        <p:txBody>
          <a:bodyPr wrap="square">
            <a:spAutoFit/>
          </a:bodyPr>
          <a:lstStyle/>
          <a:p>
            <a:pPr>
              <a:spcAft>
                <a:spcPts val="300"/>
              </a:spcAft>
            </a:pPr>
            <a:r>
              <a:rPr sz="1900" b="1" i="0">
                <a:solidFill>
                  <a:srgbClr val="1A1A1A"/>
                </a:solidFill>
                <a:latin typeface="Arial"/>
              </a:rPr>
              <a:t>A process</a:t>
            </a:r>
          </a:p>
          <a:p>
            <a:pPr>
              <a:spcAft>
                <a:spcPts val="300"/>
              </a:spcAft>
            </a:pPr>
            <a:r>
              <a:rPr sz="1600" b="0" i="0">
                <a:solidFill>
                  <a:srgbClr val="595959"/>
                </a:solidFill>
                <a:latin typeface="Arial"/>
              </a:rPr>
              <a:t>linked activities, each a step done by a person or a machine.</a:t>
            </a:r>
          </a:p>
        </p:txBody>
      </p:sp>
      <p:sp>
        <p:nvSpPr>
          <p:cNvPr id="5" name="Rectangle 4"/>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895600"/>
            <a:ext cx="10984687" cy="1386839"/>
          </a:xfrm>
          <a:prstGeom prst="rect">
            <a:avLst/>
          </a:prstGeom>
          <a:noFill/>
        </p:spPr>
        <p:txBody>
          <a:bodyPr wrap="square">
            <a:spAutoFit/>
          </a:bodyPr>
          <a:lstStyle/>
          <a:p>
            <a:pPr>
              <a:spcAft>
                <a:spcPts val="300"/>
              </a:spcAft>
            </a:pPr>
            <a:r>
              <a:rPr sz="1900" b="1" i="0">
                <a:solidFill>
                  <a:srgbClr val="1A1A1A"/>
                </a:solidFill>
                <a:latin typeface="Arial"/>
              </a:rPr>
              <a:t>A workflow block runs the process</a:t>
            </a:r>
          </a:p>
          <a:p>
            <a:pPr>
              <a:spcAft>
                <a:spcPts val="300"/>
              </a:spcAft>
            </a:pPr>
            <a:r>
              <a:rPr sz="1600" b="0" i="0">
                <a:solidFill>
                  <a:srgbClr val="595959"/>
                </a:solidFill>
                <a:latin typeface="Arial"/>
              </a:rPr>
              <a:t>started by another system, by a click, or by the passage of time.</a:t>
            </a:r>
          </a:p>
        </p:txBody>
      </p:sp>
      <p:sp>
        <p:nvSpPr>
          <p:cNvPr id="7" name="Rectangle 6"/>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328159"/>
            <a:ext cx="10984687" cy="1386839"/>
          </a:xfrm>
          <a:prstGeom prst="rect">
            <a:avLst/>
          </a:prstGeom>
          <a:noFill/>
        </p:spPr>
        <p:txBody>
          <a:bodyPr wrap="square">
            <a:spAutoFit/>
          </a:bodyPr>
          <a:lstStyle/>
          <a:p>
            <a:pPr>
              <a:spcAft>
                <a:spcPts val="300"/>
              </a:spcAft>
            </a:pPr>
            <a:r>
              <a:rPr sz="1900" b="1" i="0">
                <a:solidFill>
                  <a:srgbClr val="1A1A1A"/>
                </a:solidFill>
                <a:latin typeface="Arial"/>
              </a:rPr>
              <a:t>An officer decides on an application</a:t>
            </a:r>
          </a:p>
          <a:p>
            <a:pPr>
              <a:spcAft>
                <a:spcPts val="300"/>
              </a:spcAft>
            </a:pPr>
            <a:r>
              <a:rPr sz="1600" b="0" i="0">
                <a:solidFill>
                  <a:srgbClr val="595959"/>
                </a:solidFill>
                <a:latin typeface="Arial"/>
              </a:rPr>
              <a:t>approve, reject, or send back for correction.</a:t>
            </a:r>
          </a:p>
        </p:txBody>
      </p:sp>
      <p:sp>
        <p:nvSpPr>
          <p:cNvPr id="9" name="TextBox 8"/>
          <p:cNvSpPr txBox="1"/>
          <p:nvPr/>
        </p:nvSpPr>
        <p:spPr>
          <a:xfrm>
            <a:off x="658368" y="5870448"/>
            <a:ext cx="10881360" cy="548640"/>
          </a:xfrm>
          <a:prstGeom prst="rect">
            <a:avLst/>
          </a:prstGeom>
          <a:noFill/>
        </p:spPr>
        <p:txBody>
          <a:bodyPr wrap="square">
            <a:spAutoFit/>
          </a:bodyPr>
          <a:lstStyle/>
          <a:p>
            <a:r>
              <a:rPr sz="1550" b="1" i="1">
                <a:solidFill>
                  <a:srgbClr val="1A1A1A"/>
                </a:solidFill>
                <a:latin typeface="Arial"/>
              </a:rPr>
              <a:t>GovStack Workflow and Registration specifications.</a:t>
            </a:r>
          </a:p>
        </p:txBody>
      </p:sp>
      <p:sp>
        <p:nvSpPr>
          <p:cNvPr id="10" name="TextBox 9"/>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4.3 · The service workflow: states, moves and who may make each</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PHEQA: the states of a licence</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1900" b="1" i="0">
                <a:solidFill>
                  <a:srgbClr val="1A1A1A"/>
                </a:solidFill>
                <a:latin typeface="Arial"/>
              </a:rPr>
              <a:t>Granted</a:t>
            </a:r>
          </a:p>
          <a:p>
            <a:pPr>
              <a:spcAft>
                <a:spcPts val="300"/>
              </a:spcAft>
            </a:pPr>
            <a:r>
              <a:rPr sz="1600" b="0" i="0">
                <a:solidFill>
                  <a:srgbClr val="595959"/>
                </a:solidFill>
                <a:latin typeface="Arial"/>
              </a:rPr>
              <a:t>the institution may operate.</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1900" b="1" i="0">
                <a:solidFill>
                  <a:srgbClr val="1A1A1A"/>
                </a:solidFill>
                <a:latin typeface="Arial"/>
              </a:rPr>
              <a:t>Suspended</a:t>
            </a:r>
          </a:p>
          <a:p>
            <a:pPr>
              <a:spcAft>
                <a:spcPts val="300"/>
              </a:spcAft>
            </a:pPr>
            <a:r>
              <a:rPr sz="1600" b="0" i="0">
                <a:solidFill>
                  <a:srgbClr val="595959"/>
                </a:solidFill>
                <a:latin typeface="Arial"/>
              </a:rPr>
              <a:t>it may not admit new students until the suspension ends.</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1900" b="1" i="0">
                <a:solidFill>
                  <a:srgbClr val="1A1A1A"/>
                </a:solidFill>
                <a:latin typeface="Arial"/>
              </a:rPr>
              <a:t>Cancelled</a:t>
            </a:r>
          </a:p>
          <a:p>
            <a:pPr>
              <a:spcAft>
                <a:spcPts val="300"/>
              </a:spcAft>
            </a:pPr>
            <a:r>
              <a:rPr sz="1600" b="0" i="0">
                <a:solidFill>
                  <a:srgbClr val="595959"/>
                </a:solidFill>
                <a:latin typeface="Arial"/>
              </a:rPr>
              <a:t>it may no longer operate under this licence.</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4.3 · The service workflow: states, moves and who may make each</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moves, and who may make each</a:t>
            </a:r>
          </a:p>
        </p:txBody>
      </p:sp>
      <p:pic>
        <p:nvPicPr>
          <p:cNvPr id="4" name="kp4-figure F11" descr="F11_licence-workflow.png"/>
          <p:cNvPicPr>
            <a:picLocks noChangeAspect="1"/>
          </p:cNvPicPr>
          <p:nvPr/>
        </p:nvPicPr>
        <p:blipFill>
          <a:blip r:embed="rId2"/>
          <a:stretch>
            <a:fillRect/>
          </a:stretch>
        </p:blipFill>
        <p:spPr>
          <a:xfrm>
            <a:off x="2498406" y="1280160"/>
            <a:ext cx="7201283" cy="5074920"/>
          </a:xfrm>
          <a:prstGeom prst="rect">
            <a:avLst/>
          </a:prstGeom>
        </p:spPr>
      </p:pic>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4.3 · The service workflow: states, moves and who may make each</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check: can every state be left?</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2200" b="1" i="0">
                <a:solidFill>
                  <a:srgbClr val="1A1A1A"/>
                </a:solidFill>
                <a:latin typeface="Arial"/>
              </a:rPr>
              <a:t>A state that cannot be left is a dead end.</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2200" b="1" i="0">
                <a:solidFill>
                  <a:srgbClr val="1A1A1A"/>
                </a:solidFill>
                <a:latin typeface="Arial"/>
              </a:rPr>
              <a:t>Cancelled looks like one.</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2200" b="1" i="0">
                <a:solidFill>
                  <a:srgbClr val="1A1A1A"/>
                </a:solidFill>
                <a:latin typeface="Arial"/>
              </a:rPr>
              <a:t>But a cancellation set aside on appeal or on review returns the licence to the state it held before: no state is a dead end.</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4.3 · The service workflow: states, moves and who may make each</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Every state a case can be in, every move between states, and who may make each move, written once.</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Draft the states and moves of a case.</a:t>
            </a:r>
          </a:p>
          <a:p>
            <a:pPr algn="l">
              <a:spcAft>
                <a:spcPts val="400"/>
              </a:spcAft>
            </a:pPr>
            <a:r>
              <a:rPr sz="1800" b="0" i="0">
                <a:solidFill>
                  <a:srgbClr val="595959"/>
                </a:solidFill>
                <a:latin typeface="Arial"/>
              </a:rPr>
              <a:t>The prompt in the companion material gives you a table of states and moves, each move with who may make it and its source.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4.3 · The service workflow: states, moves and who may make each</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GovStack Workflow Building Block specification (23Q4 edition), sections 3 and 4.2</a:t>
            </a:r>
          </a:p>
          <a:p>
            <a:pPr>
              <a:spcAft>
                <a:spcPts val="1200"/>
              </a:spcAft>
            </a:pPr>
            <a:r>
              <a:rPr sz="1700" b="0" i="0">
                <a:solidFill>
                  <a:srgbClr val="1A1A1A"/>
                </a:solidFill>
                <a:latin typeface="Arial"/>
              </a:rPr>
              <a:t>•  GovStack Registration Building Block specification (23Q4 edition), sections 6.2.3 and 8.2</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4.3 · The service workflow: states, moves and who may make each</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