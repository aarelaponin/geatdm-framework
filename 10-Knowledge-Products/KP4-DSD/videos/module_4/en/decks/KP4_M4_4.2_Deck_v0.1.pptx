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5" r:id="rId27"/>
    <p:sldId id="2706" r:id="rId28"/>
    <p:sldId id="2707" r:id="rId29"/>
    <p:sldId id="2708" r:id="rId30"/>
    <p:sldId id="2709" r:id="rId31"/>
    <p:sldId id="2710" r:id="rId32"/>
    <p:sldId id="2711" r:id="rId33"/>
    <p:sldId id="2712" r:id="rId34"/>
    <p:sldId id="271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Ask an officer to pick one value from a list of twenty, and she scrolls, reads, and sometimes picks the neighbour. The method has a plain rule for this, and it costs nothing to apply while the application is designed.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 step of a choice offers more than nine values, and seven is the aim. A longer list is divided into categories, each holding no more than nine values. The officer picks the category first, then the value inside it. If a list ever needs more than nine categories, another level is added above them. The categories are a list like any other: they have names, someone keeps them, and each new value is placed in one of them when it is added.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should this matter to you? An officer reads a short list at a glance and finds her value. A long list must be scrolled, and the wrong value is always one line away. A wrong value chosen on a busy day sends a file to the wrong desk, and nobody notices until someone asks where it went. Two short choices are faster and safer than one long one, and the officers who use the screens every day will tell you so.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Who decides the categories? Not a program. A program can count the values, but it cannot know how your officers think about them. So the categories of each long list are decided once, in the interaction design, the one document that settles how officers use the whole application. The analyst proposes them, and the officers who use the list confirm that each value sits where they would look for it. After that, the program that checks the application's description refuses a long list with no categories.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one long list in the application of MoEYS, Progressa's ministry of education. PHEQA, the quality authority, advises the minister on twenty kinds of matter, from a provisional licence for a university to a change of an institution's name. Twenty is too many for one step. So the list has three categories: licences, with eight matters; suspension and cancellation, with seven; and other matters, with five. No category holds more than nine, and each name is one the officers of MoEYS already use.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where the officer meets it. She opens the list of PHEQA's advice that waits for the minister's decision, and she wants only the advice on suspending a full licence. First she picks the category, suspension and cancellation. Seven matters appear, and she picks the one she wants. The list now shows only that advice. She never saw all twenty at once, and she never scrolled past a value she did not need.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When a screen offers a long list, ask how it is divided. No step should offer more than nine values, and the officers who use it should agree the categories.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No list longer than nine: choose by category</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long list is divided into categories, and the officer picks the category first.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list of twenty: she scrolls, reads, and sometimes picks the neighbour.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method has a plain rule for long lists.</a:t>
            </a:r>
          </a:p>
          <a:p>
            <a:pPr>
              <a:spcAft>
                <a:spcPts val="800"/>
              </a:spcAft>
            </a:pPr>
            <a:r>
              <a:rPr sz="1700" b="0" i="0">
                <a:solidFill>
                  <a:srgbClr val="595959"/>
                </a:solidFill>
                <a:latin typeface="Arial"/>
              </a:rPr>
              <a:t>It costs nothing to apply while the application is designed.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rule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No step of a choice offers more than nine values. Seven is the aim.</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A longer list is divided into categories of no more than nine.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officer picks the category first, then the value.</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More than nine categories</a:t>
            </a:r>
          </a:p>
          <a:p>
            <a:pPr>
              <a:spcAft>
                <a:spcPts val="300"/>
              </a:spcAft>
            </a:pPr>
            <a:r>
              <a:rPr sz="1600" b="0" i="0">
                <a:solidFill>
                  <a:srgbClr val="595959"/>
                </a:solidFill>
                <a:latin typeface="Arial"/>
              </a:rPr>
              <a:t>add a level above them.</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nine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short list is read at a glance.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long list is scrolled, and the wrong value is one line away.</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Two short choices are faster and safer than one long 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decides the categories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Not a program</a:t>
            </a:r>
          </a:p>
          <a:p>
            <a:pPr>
              <a:spcAft>
                <a:spcPts val="300"/>
              </a:spcAft>
            </a:pPr>
            <a:r>
              <a:rPr sz="1600" b="0" i="0">
                <a:solidFill>
                  <a:srgbClr val="595959"/>
                </a:solidFill>
                <a:latin typeface="Arial"/>
              </a:rPr>
              <a:t>it cannot know how your officers think about a list.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Written once, in the interaction design, for the whole application.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Confirmed by the officers who use the list.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the matters PHEQA advises on</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Licences</a:t>
            </a:r>
          </a:p>
          <a:p>
            <a:pPr>
              <a:spcAft>
                <a:spcPts val="300"/>
              </a:spcAft>
            </a:pPr>
            <a:r>
              <a:rPr sz="1600" b="0" i="0">
                <a:solidFill>
                  <a:srgbClr val="595959"/>
                </a:solidFill>
                <a:latin typeface="Arial"/>
              </a:rPr>
              <a:t>8 matters, such as a provisional licence for a university.</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Suspension and cancellation</a:t>
            </a:r>
          </a:p>
          <a:p>
            <a:pPr>
              <a:spcAft>
                <a:spcPts val="300"/>
              </a:spcAft>
            </a:pPr>
            <a:r>
              <a:rPr sz="1600" b="0" i="0">
                <a:solidFill>
                  <a:srgbClr val="595959"/>
                </a:solidFill>
                <a:latin typeface="Arial"/>
              </a:rPr>
              <a:t>7 matters, such as suspending a full licence.</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Other matters</a:t>
            </a:r>
          </a:p>
          <a:p>
            <a:pPr>
              <a:spcAft>
                <a:spcPts val="300"/>
              </a:spcAft>
            </a:pPr>
            <a:r>
              <a:rPr sz="1600" b="0" i="0">
                <a:solidFill>
                  <a:srgbClr val="595959"/>
                </a:solidFill>
                <a:latin typeface="Arial"/>
              </a:rPr>
              <a:t>5 matters, such as a change of an institution's name.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20 matters, 3 categories, no step longer than 8.</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steps on the screen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Step 1</a:t>
            </a:r>
          </a:p>
          <a:p>
            <a:pPr>
              <a:spcAft>
                <a:spcPts val="300"/>
              </a:spcAft>
            </a:pPr>
            <a:r>
              <a:rPr sz="1600" b="0" i="0">
                <a:solidFill>
                  <a:srgbClr val="595959"/>
                </a:solidFill>
                <a:latin typeface="Arial"/>
              </a:rPr>
              <a:t>on the list of PHEQA's advice that waits for the minister, the officer picks the category: Suspension and cancellation.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Step 2</a:t>
            </a:r>
          </a:p>
          <a:p>
            <a:pPr>
              <a:spcAft>
                <a:spcPts val="300"/>
              </a:spcAft>
            </a:pPr>
            <a:r>
              <a:rPr sz="1600" b="0" i="0">
                <a:solidFill>
                  <a:srgbClr val="595959"/>
                </a:solidFill>
                <a:latin typeface="Arial"/>
              </a:rPr>
              <a:t>seven matters appear; she picks: suspending a full licence.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The list now shows only the advice on that matter.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long list is divided into categories, and the officer picks the category first.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Divide a long list into categories.</a:t>
            </a:r>
          </a:p>
          <a:p>
            <a:pPr algn="l">
              <a:spcAft>
                <a:spcPts val="400"/>
              </a:spcAft>
            </a:pPr>
            <a:r>
              <a:rPr sz="1800" b="0" i="0">
                <a:solidFill>
                  <a:srgbClr val="595959"/>
                </a:solidFill>
                <a:latin typeface="Arial"/>
              </a:rPr>
              <a:t>The prompt in the companion material gives you a list of categories, none holding more than nine values, each with a plain name.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specification-driven development (SDD) method: the rule that a long list is chosen by category. No external source is cited.</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