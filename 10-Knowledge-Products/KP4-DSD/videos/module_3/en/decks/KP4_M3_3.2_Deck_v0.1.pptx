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06" r:id="rId28"/>
    <p:sldId id="2707" r:id="rId29"/>
    <p:sldId id="2708" r:id="rId30"/>
    <p:sldId id="2709" r:id="rId31"/>
    <p:sldId id="2710" r:id="rId32"/>
    <p:sldId id="2711" r:id="rId33"/>
    <p:sldId id="2712" r:id="rId34"/>
    <p:sldId id="2713" r:id="rId35"/>
    <p:sldId id="2714"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service is judged on its bad days: the sign-in that does not answer, the document left out, the payment that never arrives. If nobody wrote down what happens then, the builder decides, alone and under deadline.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For each failure, the story says what the system notices, what it does, and how the story ends. There are only three endings: the goal fails, the goal still succeeds, or the person goes back to a named step of the main story. For each ending, the story also says which of the authority's guarantees still holds. A failure without its own ending is a decision left to the builder.</a:t>
            </a:r>
          </a:p>
          <a:p/>
          <a:p>
            <a:r>
              <a:t>Slide specification: The core payload. The three endings are kept on screen.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GovStack Registration specification names the checks a registration service makes. There are rules on each field: whether it is required, a number within limits, a date, a file of the right size and type. A field can be checked against another body's records. And the system checks that everything required is there, and should not let an applicant send an application that is incomplete. Every check that can fail needs its ending in the story.</a:t>
            </a:r>
          </a:p>
          <a:p/>
          <a:p>
            <a:r>
              <a:t>Slide specification: Paraphrased from sections 6.3.3.1 to 6.3.3.3 of the specification; not marked as quotations.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are the five failures of PHEQA's goal. PNIA does not answer at sign-in: the applicant is told that nothing has started. The evidence of funding is left out: the system names it and keeps everything else. The proposed name is already held: the system shows which registered institution holds it. The fee is not confirmed: the application is not made. And the applicant who leaves and returns two days later finds nothing kept. Whatever the failure, PHEQA's guarantee holds: no application is recorded unless the applicant confirmed it and paid.</a:t>
            </a:r>
          </a:p>
          <a:p/>
          <a:p>
            <a:r>
              <a:t>Slide specification: The drawn version, the story with its failures and endings, is figure F8 of the written guide; the slide stays text-only.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Three of those endings follow from the story. Two were decisions an official had to take. Should an application wait for its fee? The head of the registration desk said no: a waiting application would be a third state that no other goal uses and nobody asked for. Should half-finished applications be kept as drafts? The Registrar said not in the first version, and recorded the cost: an applicant who stops loses what was typed. That question stays open, and the Registrar owns it.</a:t>
            </a:r>
          </a:p>
          <a:p/>
          <a:p>
            <a:r>
              <a:t>Slide specification: Roles, never persons.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Before you accept a story, count its endings. A story with only a success ending is not finished. Then, for each failure, ask who decided the ending. If the answer is the builder, the decision was taken by the wrong person. An AI assistant can propose the first list of failures, step by step, and officials accept or set aside each one. But no list is complete. The walk-through and the review are where more failures are found.</a:t>
            </a:r>
          </a:p>
          <a:p/>
          <a:p>
            <a:r>
              <a:t>Slide specification: Text-only list.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a:t>
            </a:r>
          </a:p>
          <a:p/>
          <a:p>
            <a:r>
              <a:t>VO: Ask what happens when each step fails. If the story has no answer, the builder will choose one. Write the ending down before anything is built.</a:t>
            </a:r>
          </a:p>
          <a:p/>
          <a:p>
            <a:r>
              <a:t>Slide specification: The single message, word for word.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3 · VIDEO 3.2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Every way it can go wrong, written down</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 story is finished only when every failure has its own ending.</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 service is judged on its bad days.</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sign-in that does not answer. The document left out. The payment that never arrives.</a:t>
            </a:r>
          </a:p>
          <a:p>
            <a:pPr>
              <a:spcAft>
                <a:spcPts val="800"/>
              </a:spcAft>
            </a:pPr>
            <a:r>
              <a:rPr sz="1700" b="0" i="0">
                <a:solidFill>
                  <a:srgbClr val="595959"/>
                </a:solidFill>
                <a:latin typeface="Arial"/>
              </a:rPr>
              <a:t>If nobody wrote down what happens then, the builder decides, alone.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Every way it can go wrong, written down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Each failure, written down</a:t>
            </a:r>
          </a:p>
        </p:txBody>
      </p:sp>
      <p:sp>
        <p:nvSpPr>
          <p:cNvPr id="4" name="TextBox 3"/>
          <p:cNvSpPr txBox="1"/>
          <p:nvPr/>
        </p:nvSpPr>
        <p:spPr>
          <a:xfrm>
            <a:off x="658368" y="1463040"/>
            <a:ext cx="10984687" cy="1131570"/>
          </a:xfrm>
          <a:prstGeom prst="rect">
            <a:avLst/>
          </a:prstGeom>
          <a:noFill/>
        </p:spPr>
        <p:txBody>
          <a:bodyPr wrap="square">
            <a:spAutoFit/>
          </a:bodyPr>
          <a:lstStyle/>
          <a:p>
            <a:pPr>
              <a:spcAft>
                <a:spcPts val="300"/>
              </a:spcAft>
            </a:pPr>
            <a:r>
              <a:rPr sz="1900" b="1" i="0">
                <a:solidFill>
                  <a:srgbClr val="1A1A1A"/>
                </a:solidFill>
                <a:latin typeface="Arial"/>
              </a:rPr>
              <a:t>The step it leaves.</a:t>
            </a:r>
          </a:p>
        </p:txBody>
      </p:sp>
      <p:sp>
        <p:nvSpPr>
          <p:cNvPr id="5" name="Rectangle 4"/>
          <p:cNvSpPr/>
          <p:nvPr/>
        </p:nvSpPr>
        <p:spPr>
          <a:xfrm>
            <a:off x="621792" y="259918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40330"/>
            <a:ext cx="10984687" cy="1131570"/>
          </a:xfrm>
          <a:prstGeom prst="rect">
            <a:avLst/>
          </a:prstGeom>
          <a:noFill/>
        </p:spPr>
        <p:txBody>
          <a:bodyPr wrap="square">
            <a:spAutoFit/>
          </a:bodyPr>
          <a:lstStyle/>
          <a:p>
            <a:pPr>
              <a:spcAft>
                <a:spcPts val="300"/>
              </a:spcAft>
            </a:pPr>
            <a:r>
              <a:rPr sz="1900" b="1" i="0">
                <a:solidFill>
                  <a:srgbClr val="1A1A1A"/>
                </a:solidFill>
                <a:latin typeface="Arial"/>
              </a:rPr>
              <a:t>What the system notices.</a:t>
            </a:r>
          </a:p>
        </p:txBody>
      </p:sp>
      <p:sp>
        <p:nvSpPr>
          <p:cNvPr id="7" name="Rectangle 6"/>
          <p:cNvSpPr/>
          <p:nvPr/>
        </p:nvSpPr>
        <p:spPr>
          <a:xfrm>
            <a:off x="621792" y="37764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17620"/>
            <a:ext cx="10984687" cy="1131570"/>
          </a:xfrm>
          <a:prstGeom prst="rect">
            <a:avLst/>
          </a:prstGeom>
          <a:noFill/>
        </p:spPr>
        <p:txBody>
          <a:bodyPr wrap="square">
            <a:spAutoFit/>
          </a:bodyPr>
          <a:lstStyle/>
          <a:p>
            <a:pPr>
              <a:spcAft>
                <a:spcPts val="300"/>
              </a:spcAft>
            </a:pPr>
            <a:r>
              <a:rPr sz="1900" b="1" i="0">
                <a:solidFill>
                  <a:srgbClr val="1A1A1A"/>
                </a:solidFill>
                <a:latin typeface="Arial"/>
              </a:rPr>
              <a:t>What the system does.</a:t>
            </a:r>
          </a:p>
        </p:txBody>
      </p:sp>
      <p:sp>
        <p:nvSpPr>
          <p:cNvPr id="9" name="Rectangle 8"/>
          <p:cNvSpPr/>
          <p:nvPr/>
        </p:nvSpPr>
        <p:spPr>
          <a:xfrm>
            <a:off x="621792" y="495376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994910"/>
            <a:ext cx="10984687" cy="1131570"/>
          </a:xfrm>
          <a:prstGeom prst="rect">
            <a:avLst/>
          </a:prstGeom>
          <a:noFill/>
        </p:spPr>
        <p:txBody>
          <a:bodyPr wrap="square">
            <a:spAutoFit/>
          </a:bodyPr>
          <a:lstStyle/>
          <a:p>
            <a:pPr>
              <a:spcAft>
                <a:spcPts val="300"/>
              </a:spcAft>
            </a:pPr>
            <a:r>
              <a:rPr sz="1900" b="1" i="0">
                <a:solidFill>
                  <a:srgbClr val="1A1A1A"/>
                </a:solidFill>
                <a:latin typeface="Arial"/>
              </a:rPr>
              <a:t>How the story ends: in failure, in success, or back to a named step.</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Every way it can go wrong, written down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Kinds of failure the Registration specification names</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Rules on each field: required, a number within limits, a date, a file of the right size and type.</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A field checked against another body's records, through its interface.</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000" b="1" i="0">
                <a:solidFill>
                  <a:srgbClr val="1A1A1A"/>
                </a:solidFill>
                <a:latin typeface="Arial"/>
              </a:rPr>
              <a:t>A test that everything required is there before the application can be sent.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Every way it can go wrong, written down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Progressa: five failures, five endings</a:t>
            </a:r>
          </a:p>
        </p:txBody>
      </p:sp>
      <p:sp>
        <p:nvSpPr>
          <p:cNvPr id="4" name="TextBox 3"/>
          <p:cNvSpPr txBox="1"/>
          <p:nvPr/>
        </p:nvSpPr>
        <p:spPr>
          <a:xfrm>
            <a:off x="658368" y="1463040"/>
            <a:ext cx="10984687" cy="896112"/>
          </a:xfrm>
          <a:prstGeom prst="rect">
            <a:avLst/>
          </a:prstGeom>
          <a:noFill/>
        </p:spPr>
        <p:txBody>
          <a:bodyPr wrap="square">
            <a:spAutoFit/>
          </a:bodyPr>
          <a:lstStyle/>
          <a:p>
            <a:pPr>
              <a:spcAft>
                <a:spcPts val="300"/>
              </a:spcAft>
            </a:pPr>
            <a:r>
              <a:rPr sz="1900" b="1" i="0">
                <a:solidFill>
                  <a:srgbClr val="1A1A1A"/>
                </a:solidFill>
                <a:latin typeface="Arial"/>
              </a:rPr>
              <a:t>PNIA does not answer at sign-in</a:t>
            </a:r>
          </a:p>
          <a:p>
            <a:pPr>
              <a:spcAft>
                <a:spcPts val="300"/>
              </a:spcAft>
            </a:pPr>
            <a:r>
              <a:rPr sz="1550" b="0" i="0">
                <a:solidFill>
                  <a:srgbClr val="595959"/>
                </a:solidFill>
                <a:latin typeface="Arial"/>
              </a:rPr>
              <a:t>says the national sign-in is not available and nothing has started  ·  in failure, nothing recorded.</a:t>
            </a:r>
          </a:p>
        </p:txBody>
      </p:sp>
      <p:sp>
        <p:nvSpPr>
          <p:cNvPr id="5" name="Rectangle 4"/>
          <p:cNvSpPr/>
          <p:nvPr/>
        </p:nvSpPr>
        <p:spPr>
          <a:xfrm>
            <a:off x="621792" y="236372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404872"/>
            <a:ext cx="10984687" cy="896112"/>
          </a:xfrm>
          <a:prstGeom prst="rect">
            <a:avLst/>
          </a:prstGeom>
          <a:noFill/>
        </p:spPr>
        <p:txBody>
          <a:bodyPr wrap="square">
            <a:spAutoFit/>
          </a:bodyPr>
          <a:lstStyle/>
          <a:p>
            <a:pPr>
              <a:spcAft>
                <a:spcPts val="300"/>
              </a:spcAft>
            </a:pPr>
            <a:r>
              <a:rPr sz="1900" b="1" i="0">
                <a:solidFill>
                  <a:srgbClr val="1A1A1A"/>
                </a:solidFill>
                <a:latin typeface="Arial"/>
              </a:rPr>
              <a:t>The evidence of funding is left out</a:t>
            </a:r>
          </a:p>
          <a:p>
            <a:pPr>
              <a:spcAft>
                <a:spcPts val="300"/>
              </a:spcAft>
            </a:pPr>
            <a:r>
              <a:rPr sz="1550" b="0" i="0">
                <a:solidFill>
                  <a:srgbClr val="595959"/>
                </a:solidFill>
                <a:latin typeface="Arial"/>
              </a:rPr>
              <a:t>names the missing document, keeps the rest  ·  back to step 6.</a:t>
            </a:r>
          </a:p>
        </p:txBody>
      </p:sp>
      <p:sp>
        <p:nvSpPr>
          <p:cNvPr id="7" name="Rectangle 6"/>
          <p:cNvSpPr/>
          <p:nvPr/>
        </p:nvSpPr>
        <p:spPr>
          <a:xfrm>
            <a:off x="621792" y="330555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346704"/>
            <a:ext cx="10984687" cy="896112"/>
          </a:xfrm>
          <a:prstGeom prst="rect">
            <a:avLst/>
          </a:prstGeom>
          <a:noFill/>
        </p:spPr>
        <p:txBody>
          <a:bodyPr wrap="square">
            <a:spAutoFit/>
          </a:bodyPr>
          <a:lstStyle/>
          <a:p>
            <a:pPr>
              <a:spcAft>
                <a:spcPts val="300"/>
              </a:spcAft>
            </a:pPr>
            <a:r>
              <a:rPr sz="1900" b="1" i="0">
                <a:solidFill>
                  <a:srgbClr val="1A1A1A"/>
                </a:solidFill>
                <a:latin typeface="Arial"/>
              </a:rPr>
              <a:t>The proposed name is already held</a:t>
            </a:r>
          </a:p>
          <a:p>
            <a:pPr>
              <a:spcAft>
                <a:spcPts val="300"/>
              </a:spcAft>
            </a:pPr>
            <a:r>
              <a:rPr sz="1550" b="0" i="0">
                <a:solidFill>
                  <a:srgbClr val="595959"/>
                </a:solidFill>
                <a:latin typeface="Arial"/>
              </a:rPr>
              <a:t>shows the holder's register number, keeps the rest  ·  back to step 6.</a:t>
            </a:r>
          </a:p>
        </p:txBody>
      </p:sp>
      <p:sp>
        <p:nvSpPr>
          <p:cNvPr id="9" name="Rectangle 8"/>
          <p:cNvSpPr/>
          <p:nvPr/>
        </p:nvSpPr>
        <p:spPr>
          <a:xfrm>
            <a:off x="621792" y="424738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288536"/>
            <a:ext cx="10984687" cy="896112"/>
          </a:xfrm>
          <a:prstGeom prst="rect">
            <a:avLst/>
          </a:prstGeom>
          <a:noFill/>
        </p:spPr>
        <p:txBody>
          <a:bodyPr wrap="square">
            <a:spAutoFit/>
          </a:bodyPr>
          <a:lstStyle/>
          <a:p>
            <a:pPr>
              <a:spcAft>
                <a:spcPts val="300"/>
              </a:spcAft>
            </a:pPr>
            <a:r>
              <a:rPr sz="1900" b="1" i="0">
                <a:solidFill>
                  <a:srgbClr val="1A1A1A"/>
                </a:solidFill>
                <a:latin typeface="Arial"/>
              </a:rPr>
              <a:t>The fee is not confirmed</a:t>
            </a:r>
          </a:p>
          <a:p>
            <a:pPr>
              <a:spcAft>
                <a:spcPts val="300"/>
              </a:spcAft>
            </a:pPr>
            <a:r>
              <a:rPr sz="1550" b="0" i="0">
                <a:solidFill>
                  <a:srgbClr val="595959"/>
                </a:solidFill>
                <a:latin typeface="Arial"/>
              </a:rPr>
              <a:t>says the application has not been made  ·  back to step 8, or in failure.</a:t>
            </a:r>
          </a:p>
        </p:txBody>
      </p:sp>
      <p:sp>
        <p:nvSpPr>
          <p:cNvPr id="11" name="Rectangle 10"/>
          <p:cNvSpPr/>
          <p:nvPr/>
        </p:nvSpPr>
        <p:spPr>
          <a:xfrm>
            <a:off x="621792" y="518922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230368"/>
            <a:ext cx="10984687" cy="896112"/>
          </a:xfrm>
          <a:prstGeom prst="rect">
            <a:avLst/>
          </a:prstGeom>
          <a:noFill/>
        </p:spPr>
        <p:txBody>
          <a:bodyPr wrap="square">
            <a:spAutoFit/>
          </a:bodyPr>
          <a:lstStyle/>
          <a:p>
            <a:pPr>
              <a:spcAft>
                <a:spcPts val="300"/>
              </a:spcAft>
            </a:pPr>
            <a:r>
              <a:rPr sz="1900" b="1" i="0">
                <a:solidFill>
                  <a:srgbClr val="1A1A1A"/>
                </a:solidFill>
                <a:latin typeface="Arial"/>
              </a:rPr>
              <a:t>The applicant leaves and returns two days later</a:t>
            </a:r>
          </a:p>
          <a:p>
            <a:pPr>
              <a:spcAft>
                <a:spcPts val="300"/>
              </a:spcAft>
            </a:pPr>
            <a:r>
              <a:rPr sz="1550" b="0" i="0">
                <a:solidFill>
                  <a:srgbClr val="595959"/>
                </a:solidFill>
                <a:latin typeface="Arial"/>
              </a:rPr>
              <a:t>nothing is kept  ·  in failure.</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Every way it can go wrong, written down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Two endings were decisions</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Fee not confirmed: no application at all. Decided by the head of the registration desk.</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No drafts kept in the first version; an applicant who stops loses what was typed. Decided by the Registrar, and kept as an open question.</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Every way it can go wrong, written down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Before you accept a story</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Count the endings. A story with only a success ending is not finished.</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For each failure, ask who decided its ending.</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200" b="1" i="0">
                <a:solidFill>
                  <a:srgbClr val="1A1A1A"/>
                </a:solidFill>
                <a:latin typeface="Arial"/>
              </a:rPr>
              <a:t>A list of failures is a start, not a claim that all were found.</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Every way it can go wrong, written down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story is finished only when every failure has its own ending.</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Propose the failures of each step, for the official to decide.</a:t>
            </a:r>
          </a:p>
          <a:p>
            <a:pPr algn="l">
              <a:spcAft>
                <a:spcPts val="400"/>
              </a:spcAft>
            </a:pPr>
            <a:r>
              <a:rPr sz="1800" b="0" i="0">
                <a:solidFill>
                  <a:srgbClr val="595959"/>
                </a:solidFill>
                <a:latin typeface="Arial"/>
              </a:rPr>
              <a:t>The prompt in the companion material gives you a table of failures for each step, each with a proposed ending for the official to accept or set aside.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Every way it can go wrong, written down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GovStack Registration Building Block specification, edition 23Q4 (version history to 1.0), sections 6.3.3.1, 6.3.3.2 and 6.3.3.3</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Every way it can go wrong, written down</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