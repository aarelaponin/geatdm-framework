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5" r:id="rId16"/>
    <p:sldId id="2726" r:id="rId15"/>
    <p:sldId id="2727" r:id="rId14"/>
    <p:sldId id="2728" r:id="rId13"/>
    <p:sldId id="2729" r:id="rId12"/>
    <p:sldId id="2730" r:id="rId11"/>
    <p:sldId id="2731" r:id="rId10"/>
    <p:sldId id="2732"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applicant uses the authority's self-service once or twice. An officer uses her screens many times a day. A small waste on her screen is repeated thousands of times a year, and every value typed again is a chance for a mistake.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Screens left to habit come out like a form on a public website: everything typed, everything free. The SDD method, specification-driven development, sets five rules for screens that officers use. Never type what the system already knows. Never choose from an endless list. Choose a decision from the decisions allowed. State on the screen the rule that governs the work. And show an open question with its owner, instead of a guess.</a:t>
            </a:r>
          </a:p>
          <a:p/>
          <a:p>
            <a:r>
              <a:t>Slide specification: The core payload. The rules are the method's own; no source is cited.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a screen at PHEQA, record an inspection visit, as an AI assistant first drafted it from the story. The inspector picks the institution from a list of all 214 in the register. She types the address of the premises. She writes the outcome as a sentence. A box says two inspectors must sign, though nobody said so. And she can save a visit made on any date, even one more than a year before the recommendation it will support.</a:t>
            </a:r>
          </a:p>
          <a:p/>
          <a:p>
            <a:r>
              <a:t>Slide specification: Field names and fills as the worked example gives them. No screenshot of any real system; text only.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After the first four rules, she types part of the name or the register number and picks from the few that match. The address is filled from the register and shown, not typed. The outcome is chosen from three: meets the standards, meets them with conditions, or does not meet them, with a box beside it for her findings. And a line under the date states the rule: a recommendation may rest only on a visit made within ninety days before it.</a:t>
            </a:r>
          </a:p>
          <a:p/>
          <a:p>
            <a:r>
              <a:t>Slide specification: Two text boxes side by side, before and after, are allowed; labels in plain text only.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fifth rule matters most. The AI assistant that drafted the screen met a question nobody had answered: how many inspectors must sign? The regulations speak of inspectors and give no number. The draft filled in two, which looked reasonable and had no source. Under the fifth rule, the field shows: to be confirmed by the Registrar of PHEQA. The screen cannot be accepted while that mark stands, so the question reaches the Registrar. She answered: one inspector and the head of the inspectorate.</a:t>
            </a:r>
          </a:p>
          <a:p/>
          <a:p>
            <a:r>
              <a:t>Slide specification: The mark 'to be confirmed by the Registrar of PHEQA' shown as it appears on the screen.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inspector of PHEQA confirmed each change. Of the address, she said that on paper she copies it from the file, and that if the screen already knows it, she will copy it wrong one day. Of the long list, she said two institutions have names that begin the same way, and in a long list she would pick the wrong one. Before you accept an officer's screen, sit beside an officer while she uses it, and count what she types, scrolls and writes.</a:t>
            </a:r>
          </a:p>
          <a:p/>
          <a:p>
            <a:r>
              <a:t>Slide specification: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Count what an officer types that the system already knows, and every list she scrolls. Each one is a rule not followed, and a mistake waiting to happen.</a:t>
            </a:r>
          </a:p>
          <a:p/>
          <a:p>
            <a:r>
              <a:t>Slide specification: The single message, word for word. This subtopic has no Sources slide: it cites no external source.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Screens officers can use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officer never types what the system already knows, and never chooses from an endless list.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small waste on an officer's screen is repeated thousands of times a year.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An applicant uses the self-service once or twice.</a:t>
            </a:r>
          </a:p>
          <a:p>
            <a:pPr>
              <a:spcAft>
                <a:spcPts val="800"/>
              </a:spcAft>
            </a:pPr>
            <a:r>
              <a:rPr sz="1700" b="0" i="0">
                <a:solidFill>
                  <a:srgbClr val="595959"/>
                </a:solidFill>
                <a:latin typeface="Arial"/>
              </a:rPr>
              <a:t>An officer uses her screens many times a day.</a:t>
            </a:r>
          </a:p>
          <a:p>
            <a:pPr>
              <a:spcAft>
                <a:spcPts val="800"/>
              </a:spcAft>
            </a:pPr>
            <a:r>
              <a:rPr sz="1700" b="0" i="0">
                <a:solidFill>
                  <a:srgbClr val="595959"/>
                </a:solidFill>
                <a:latin typeface="Arial"/>
              </a:rPr>
              <a:t>Every value typed again is a chance for a mistake.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rules for an officer's screen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896112"/>
          </a:xfrm>
          <a:prstGeom prst="rect">
            <a:avLst/>
          </a:prstGeom>
          <a:noFill/>
        </p:spPr>
        <p:txBody>
          <a:bodyPr wrap="square">
            <a:spAutoFit/>
          </a:bodyPr>
          <a:lstStyle/>
          <a:p>
            <a:pPr>
              <a:spcAft>
                <a:spcPts val="300"/>
              </a:spcAft>
            </a:pPr>
            <a:r>
              <a:rPr sz="1900" b="1" i="0">
                <a:solidFill>
                  <a:srgbClr val="1A1A1A"/>
                </a:solidFill>
                <a:latin typeface="Arial"/>
              </a:rPr>
              <a:t>Never type what the system already knows.</a:t>
            </a:r>
          </a:p>
        </p:txBody>
      </p:sp>
      <p:sp>
        <p:nvSpPr>
          <p:cNvPr id="6" name="Rectangle 5"/>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45059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404872"/>
            <a:ext cx="10527487" cy="896112"/>
          </a:xfrm>
          <a:prstGeom prst="rect">
            <a:avLst/>
          </a:prstGeom>
          <a:noFill/>
        </p:spPr>
        <p:txBody>
          <a:bodyPr wrap="square">
            <a:spAutoFit/>
          </a:bodyPr>
          <a:lstStyle/>
          <a:p>
            <a:pPr>
              <a:spcAft>
                <a:spcPts val="300"/>
              </a:spcAft>
            </a:pPr>
            <a:r>
              <a:rPr sz="1900" b="1" i="0">
                <a:solidFill>
                  <a:srgbClr val="1A1A1A"/>
                </a:solidFill>
                <a:latin typeface="Arial"/>
              </a:rPr>
              <a:t>Never choose from an endless list.</a:t>
            </a:r>
          </a:p>
        </p:txBody>
      </p:sp>
      <p:sp>
        <p:nvSpPr>
          <p:cNvPr id="9" name="Rectangle 8"/>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39242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346704"/>
            <a:ext cx="10527487" cy="896112"/>
          </a:xfrm>
          <a:prstGeom prst="rect">
            <a:avLst/>
          </a:prstGeom>
          <a:noFill/>
        </p:spPr>
        <p:txBody>
          <a:bodyPr wrap="square">
            <a:spAutoFit/>
          </a:bodyPr>
          <a:lstStyle/>
          <a:p>
            <a:pPr>
              <a:spcAft>
                <a:spcPts val="300"/>
              </a:spcAft>
            </a:pPr>
            <a:r>
              <a:rPr sz="1900" b="1" i="0">
                <a:solidFill>
                  <a:srgbClr val="1A1A1A"/>
                </a:solidFill>
                <a:latin typeface="Arial"/>
              </a:rPr>
              <a:t>Choose a decision from the decisions allowed; do not write it as free text.</a:t>
            </a:r>
          </a:p>
        </p:txBody>
      </p:sp>
      <p:sp>
        <p:nvSpPr>
          <p:cNvPr id="12" name="Rectangle 11"/>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33425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288536"/>
            <a:ext cx="10527487" cy="896112"/>
          </a:xfrm>
          <a:prstGeom prst="rect">
            <a:avLst/>
          </a:prstGeom>
          <a:noFill/>
        </p:spPr>
        <p:txBody>
          <a:bodyPr wrap="square">
            <a:spAutoFit/>
          </a:bodyPr>
          <a:lstStyle/>
          <a:p>
            <a:pPr>
              <a:spcAft>
                <a:spcPts val="300"/>
              </a:spcAft>
            </a:pPr>
            <a:r>
              <a:rPr sz="1900" b="1" i="0">
                <a:solidFill>
                  <a:srgbClr val="1A1A1A"/>
                </a:solidFill>
                <a:latin typeface="Arial"/>
              </a:rPr>
              <a:t>State on the screen the rule that governs the work.</a:t>
            </a:r>
          </a:p>
        </p:txBody>
      </p:sp>
      <p:sp>
        <p:nvSpPr>
          <p:cNvPr id="15" name="Rectangle 14"/>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527608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5230368"/>
            <a:ext cx="10527487" cy="896112"/>
          </a:xfrm>
          <a:prstGeom prst="rect">
            <a:avLst/>
          </a:prstGeom>
          <a:noFill/>
        </p:spPr>
        <p:txBody>
          <a:bodyPr wrap="square">
            <a:spAutoFit/>
          </a:bodyPr>
          <a:lstStyle/>
          <a:p>
            <a:pPr>
              <a:spcAft>
                <a:spcPts val="300"/>
              </a:spcAft>
            </a:pPr>
            <a:r>
              <a:rPr sz="1900" b="1" i="0">
                <a:solidFill>
                  <a:srgbClr val="1A1A1A"/>
                </a:solidFill>
                <a:latin typeface="Arial"/>
              </a:rPr>
              <a:t>Show an open question with its owner; never answer it with a guess.</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Before: the inspector's first draft</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Institution: a drop-down list of all 214 institutions.</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Address of the premises: typed by the inspector.</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Outcome: a sentence in a free-text box.</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Inspectors who must sign: already filled with 2.</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Date of the visit: any date, with no rule shown.</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After: rules 1 to 4</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750" b="1" i="0">
                <a:solidFill>
                  <a:srgbClr val="1A1A1A"/>
                </a:solidFill>
                <a:latin typeface="Arial"/>
              </a:rPr>
              <a:t>Institution: type part of the name or the register number, and pick from the few that match.</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750" b="1" i="0">
                <a:solidFill>
                  <a:srgbClr val="1A1A1A"/>
                </a:solidFill>
                <a:latin typeface="Arial"/>
              </a:rPr>
              <a:t>Address: filled from the register; shown, not typed.</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750" b="1" i="0">
                <a:solidFill>
                  <a:srgbClr val="1A1A1A"/>
                </a:solidFill>
                <a:latin typeface="Arial"/>
              </a:rPr>
              <a:t>Outcome: meets the standards; meets them with conditions; does not meet them; with a box for findings.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750" b="1" i="0">
                <a:solidFill>
                  <a:srgbClr val="1A1A1A"/>
                </a:solidFill>
                <a:latin typeface="Arial"/>
              </a:rPr>
              <a:t>Under the date: a recommendation may rest only on a visit made within 90 days before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Rule 5: to be confirmed, with an owner</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The regulations name inspectors in the plural and give no number.</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The draft filled in 2, with no source.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Now: to be confirmed by the Registrar of PHEQA; the screen cannot be accepted until she answers.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Sit beside an officer</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Count the values she types that the system already holds.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Count the lists she scrolls.</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Count the decisions she writes in her own words.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officer never types what the system already knows, and never chooses from an endless list.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Review an officer's screen against five rules.</a:t>
            </a:r>
          </a:p>
          <a:p>
            <a:pPr algn="l">
              <a:spcAft>
                <a:spcPts val="400"/>
              </a:spcAft>
            </a:pPr>
            <a:r>
              <a:rPr sz="1800" b="0" i="0">
                <a:solidFill>
                  <a:srgbClr val="595959"/>
                </a:solidFill>
                <a:latin typeface="Arial"/>
              </a:rPr>
              <a:t>The prompt in the companion material gives you a list of the breaches on one screen, each with the rule it breaks.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Screens officers can use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