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supplier's builder will build what the documents say, and guess at whatever they leave out. A guess made late, under deadline, is how an agreed service changes on the way. So every goal is written as a story the builder can follow.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made of goals. A goal is one thing a person wants to get done: apply for a licence, record a fee, record a visit. Each goal is written out as a story: step by step, who acts and what happens, until the person has what they came for. The story uses plain words, so the official who runs the service can read it and say: yes, that is our work.</a:t>
            </a:r>
          </a:p>
          <a:p/>
          <a:p>
            <a:r>
              <a:t>Slide specification: Plain definitions, text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written goal holds five things. Who has the goal, and who else takes part. What starts it, and what must already be true. What the authority guarantees, whatever happens. The main steps, on the path where nothing goes wrong. And the entries of the register of requirements that the goal serves, so that every step can be traced to something somebody asked for.</a:t>
            </a:r>
          </a:p>
          <a:p/>
          <a:p>
            <a:r>
              <a:t>Slide specification: The core payload. Kept on screen while the voice-over names each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quality authority for higher education, PHEQA, licenses private institutions. Its first goal is to apply for a provisional licence. The applicant is a person who intends to run a private university, university college or technical institute. PNIA, the national identity authority, tells PHEQA who the applicant is. The Payments block takes the fee. The goal serves four entries of PHEQA's register: applying through the self-service, the application fee, the particulars the regulations list, and a name no registered institution holds. PHEQA guarantees one thing, whatever happens: no application is recorded unless the applicant confirmed it and the fee was paid.</a:t>
            </a:r>
          </a:p>
          <a:p/>
          <a:p>
            <a:r>
              <a:t>Slide specification: Progressa's names as the plan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main story has nine steps. The applicant signs in through PNIA and asks to apply. The system shows PHEQA's standards for new institutions, with their version. The applicant states the kind of institution, gives the proposed name and each particular, and attaches the evidence of funding. The system checks that nothing is missing and that no registered institution holds the name. The applicant confirms and pays. The system records the application and shows the date it was received.</a:t>
            </a:r>
          </a:p>
          <a:p/>
          <a:p>
            <a:r>
              <a:t>Slide specification: The drawn version is figure F8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publishes the general picture of a registration service. An analyst creates the screens an applicant sees, their order, and the fields on each. An operator then decides: approve, reject, or send back for correction. Your story fills it for one service: which particulars, from which list, checked against which register, at which fee, and with what promise. The operator's decision is a goal of its own, with its own story.</a:t>
            </a:r>
          </a:p>
          <a:p/>
          <a:p>
            <a:r>
              <a:t>Slide specification: The decision types are given as the specification publishes them: approve, reject or send back for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drafted the story from those four entries; the supplier's analyst ruled on each step. The draft had a tenth step, an e-mail to the applicant, that no entry asked for, and PHEQA holds no e-mail address it could trust. The analyst struck it out and wrote a question for the Registrar instead. Before you accept a story, read it aloud to the head of the registration desk. At each step, ask: who does this, and where does what they see come from?</a:t>
            </a:r>
          </a:p>
          <a:p/>
          <a:p>
            <a:r>
              <a:t>Slide specification: The AI draft's tenth step is told in the voice-over, not shown.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Read the story as the builder would. Wherever the builder would have to guess or ask, the story is not finished. Send it back, with the question written down.</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judged on its bad days: the sign-in that does not answer, the document left out, the payment that never arrives. If nobody wrote down what happens then, the builder decides, alone and under deadline.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failure, the story says what the system notices, what it does, and how the story ends. There are only three endings: the goal fails, the goal still succeeds, or the person goes back to a named step of the main story. For each ending, the story also says which of the authority's guarantees still holds. A failure without its own ending is a decision left to the builder.</a:t>
            </a:r>
          </a:p>
          <a:p/>
          <a:p>
            <a:r>
              <a:t>Slide specification: The core payload. The three endings are kept on screen.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names the checks a registration service makes. There are rules on each field: whether it is required, a number within limits, a date, a file of the right size and type. A field can be checked against another body's records. And the system checks that everything required is there, and should not let an applicant send an application that is incomplete. Every check that can fail needs its ending in the story.</a:t>
            </a:r>
          </a:p>
          <a:p/>
          <a:p>
            <a:r>
              <a:t>Slide specification: Paraphrased from sections 6.3.3.1 to 6.3.3.3 of the specification; not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the five failures of PHEQA's goal. PNIA does not answer at sign-in: the applicant is told that nothing has started. The evidence of funding is left out: the system names it and keeps everything else. The proposed name is already held: the system shows which registered institution holds it. The fee is not confirmed: the application is not made. And the applicant who leaves and returns two days later finds nothing kept. Whatever the failure, PHEQA's guarantee holds: no application is recorded unless the applicant confirmed it and paid.</a:t>
            </a:r>
          </a:p>
          <a:p/>
          <a:p>
            <a:r>
              <a:t>Slide specification: Figure F8, its slide variant (figures/slides/F8_story-and-failures.png, drawn by the figure's own program in slide mode): the main steps down the left, each failure beside the step it leaves, an arrow back into the step the story returns to or the ring-and-dot mark where it ends;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those endings follow from the story. Two were decisions an official had to take. Should an application wait for its fee? The head of the registration desk said no: a waiting application would be a third state that no other goal uses and nobody asked for. Should half-finished applications be kept as drafts? The Registrar said not in the first version, and recorded the cost: an applicant who stops loses what was typed. That question stays open, and the Registrar owns it.</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accept a story, count its endings. A story with only a success ending is not finished. Then, for each failure, ask who decided the ending. If the answer is the builder, the decision was taken by the wrong person. An AI assistant can propose the first list of failures, step by step, and officials accept or set aside each one. But no list is complete. The walk-through and the review are where more failures are found.</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what happens when each step fails. If the story has no answer, the builder will choose one. Write the ending down before anything is built.</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3 deck. Each section that follows is one standalone ~5 minute video for the Architect: the head of a sectoral ICT unit, or the project lead, who has a service specified and built and accepts its documents. 3.4 is supplementary. One demonstration segment (3.5) stands as a storyboard until recorded.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3.1 to 3.3 write the goal and its screens; 3.4 is supplementary; 3.5 and 3.6 are how officials check and agree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screen designed from a list of fields shows everything and explains nothing. A screen worked out from the story shows what a person needs at that step, and says where each value on it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worked out after the story is written, by walking it step by step. A step where the person asks, states, gives or confirms something gets a screen. A step that is wholly the system's gets a screen only if it shows something the person must read before going on. Two steps share a screen when nothing the system does stands between them. So every screen serves a step, and you can say which one.</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value on every screen comes from one of four places. It is taken from another body, such as the identity authority or the Payments block. It is chosen from a list kept once for the whole service. It is read from a record or a setting the authority already keeps. Or it is entered here, typed by the person, and then the screen record says why no other place has it.</a:t>
            </a:r>
          </a:p>
          <a:p/>
          <a:p>
            <a:r>
              <a:t>Slide specification: The core payload. Kept on screen while the voice-over names each source.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goal, to apply for a provisional licence, has five screens. The first asks to apply. The second shows PHEQA's standards and asks for the kind of institution. The third takes the particulars, and also serves two failures: a document left out, and a name already held. The fourth confirms and takes the fee. The fifth shows the application received. Each screen names the steps and the failures it serves.</a:t>
            </a:r>
          </a:p>
          <a:p/>
          <a:p>
            <a:r>
              <a:t>Slide specification: Screen labels S1 to S5 as the worked example gives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point at values. The applicant's name is taken from PNIA's sign-in; nobody types it. The kind of institution is chosen from PHEQA's shared list of three, kept once in the shared groundwork and re-used by every goal that asks for a kind. The fee is read from the setting that PHEQA's finance officer owns. The proposed name is entered here, because no other body knows it yet, and it is checked against the register of institutions.</a:t>
            </a:r>
          </a:p>
          <a:p/>
          <a:p>
            <a:r>
              <a:t>Slide specification: Figure F9, its slide variant (figures/slides/F9_screen-sources.png, drawn by the figure's own program in slide mode): the third screen of the goal with its four values and, beside each, the place it comes from;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describes the same work from the builder's side. An analyst creates the screens and their order: a guide, the applicant's form, the upload of documents, the payment, and a send screen. Each field has a name, a type, and whether it must be filled. Lists, which the specification calls catalogues, are reusable across all services in the same installation. Progressa's five screens follow much the same order.</a:t>
            </a:r>
          </a:p>
          <a:p/>
          <a:p>
            <a:r>
              <a:t>Slide specification: Paraphrased from sections 6.3.2.1 and 6.3.2.2; the five screens are named in the specification's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checked against four lists the story wrote: its steps, its failures, the records it reads or changes, and the settings and lists it uses. In Progressa's first draft, the third screen asked for the applicant's phone number. No list of the story names it, and PNIA does not release it. It was struck out, and a question went to the Registrar: does PHEQA need to telephone an applicant?</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Point at any value on any screen and ask where it comes from. There should be one of four answers. Anything else is a question for the story's owner.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applicant uses the authority's self-service once or twice. An officer uses her screens many times a day. A small waste on her screen is repeated thousands of times a year, and every value typed again is a chance for a mistake.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Screens left to habit come out like a form on a public website: everything typed, everything free. The SDD method, specification-driven development, sets five rules for screens that officers use. Never type what the system already knows. Never choose from an endless list. Choose a decision from the decisions allowed. State on the screen the rule that governs the work. And show an open question with its owner, instead of a guess.</a:t>
            </a:r>
          </a:p>
          <a:p/>
          <a:p>
            <a:r>
              <a:t>Slide specification: The core payload. The rules are the method's own; no source is cited.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 screen at PHEQA, record an inspection visit, as an AI assistant first drafted it from the story. The inspector picks the institution from a list of all 214 in the register. She types the address of the premises. She writes the outcome as a sentence. A box says two inspectors must sign, though nobody said so. And she can save a visit made on any date, even one more than a year before the recommendation it will support.</a:t>
            </a:r>
          </a:p>
          <a:p/>
          <a:p>
            <a:r>
              <a:t>Slide specification: Field names and fills as the worked example gives them. No screenshot of any real system; text 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the first four rules, she types part of the name or the register number and picks from the few that match. The address is filled from the register and shown, not typed. The outcome is chosen from three: meets the standards, meets them with conditions, or does not meet them, with a box beside it for her findings. And a line under the date states the rule: a recommendation may rest only on a visit made within ninety days before it.</a:t>
            </a:r>
          </a:p>
          <a:p/>
          <a:p>
            <a:r>
              <a:t>Slide specification: Two text boxes side by side, before and after,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fifth rule matters most. The AI assistant that drafted the screen met a question nobody had answered: how many inspectors must sign? The regulations speak of inspectors and give no number. The draft filled in two, which looked reasonable and had no source. Under the fifth rule, the field shows: to be confirmed by the Registrar of PHEQA. The screen cannot be accepted while that mark stands, so the question reaches the Registrar. She answered: one inspector and the head of the inspectorate.</a:t>
            </a:r>
          </a:p>
          <a:p/>
          <a:p>
            <a:r>
              <a:t>Slide specification: The mark 'to be confirmed by the Registrar of PHEQA' shown as it appears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inspector of PHEQA confirmed each change. Of the address, she said that on paper she copies it from the file, and that if the screen already knows it, she will copy it wrong one day. Of the long list, she said two institutions have names that begin the same way, and in a long list she would pick the wrong one. Before you accept an officer's screen, sit beside an officer while she uses it, and count what she types, scrolls and writes.</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Count what an officer types that the system already knows, and every list she scrolls. Each one is a rule not followed, and a mistake waiting to happen.</a:t>
            </a:r>
          </a:p>
          <a:p/>
          <a:p>
            <a:r>
              <a:t>Slide specification: The single message, word for word. This subtopic has no Sources slide: it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Officials cannot judge a service from a list of fields. They can judge it by clicking through it. A walk-through lets them do that before anything is built, and shows them that they are judging the screens the builder will build.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walk-through is a set of simple web pages, one for each screen, linked in the order the person meets them, with the failures as side paths. Nobody draws it. A program produces it from the written screens, so it shows exactly what the screens say and nothing else. When the screens change, the program produces the pages again, from the changed screens.</a:t>
            </a:r>
          </a:p>
          <a:p/>
          <a:p>
            <a:r>
              <a:t>Slide specification: Text-only list. The method's own content; no source is cited.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Nobody corrects a page by hand, because a page corrected by hand no longer shows what the builder will build. A drawing in a presentation tool has the same weakness: it may show what the designer hoped, and nobody can tell which version of the screens it shows. So every page carries a stamp at its top: the screens it was produced from, their version and their date.</a:t>
            </a:r>
          </a:p>
          <a:p/>
          <a:p>
            <a:r>
              <a:t>Slide specification: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goal to apply for a provisional licence has five pages, one for each screen, with side pages for the failures and a page for each of the two endings. Every page carries the same stamp: the screens of that goal, version 1.2, of 14 November 2026. The Registrar of PHEQA and the supplier's builder sat at one screen, with the head of the registration desk beside them, and clicked from the first page to the end, then down each side path.</a:t>
            </a:r>
          </a:p>
          <a:p/>
          <a:p>
            <a:r>
              <a:t>Slide specification: The stamp is quoted as the worked example gives it. The date is invented, as every date of the example 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things came up that a list of fields would never have shown. On page 2, the head of the desk asked where the applicant sees the fee. Not until page 4, so the Registrar asked for it beside the standards. On a side page, the Registrar asked whether a name held by an institution whose licence was cancelled is still held. Nobody knew, so it became an open line. On page 5, the builder learnt that the application number is not the register number.</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where the policy side and the technical side of a service meet. The Registrar and the head of the desk recognised their counter in the pages. The builder saw exactly what to build. They pointed at the same page, with the same version stamp, and agreed or disagreed about the same thing. The walk-through gives both sides one shared language, so a decision means the same thing in both rooms.</a:t>
            </a:r>
          </a:p>
          <a:p/>
          <a:p>
            <a:r>
              <a:t>Slide specification: Two text boxes side by side, policy side and technical side,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SEGMENT — storyboard stand-in until recorded (bundle section 4.8). Replace with the recording of the 3.5 walk-through once its pages are produced in Progressa's names; until then nothing on this slide claims a recording.</a:t>
            </a:r>
          </a:p>
          <a:p/>
          <a:p>
            <a:r>
              <a:t>VO: Here the walk-through is clicked from the first page to the confirmation, and at each page the stamp is checked against the version of the screens. It passes when every page opens, every stamp shows the same version as the screens, and the path ends on the confirmation. Until the recording is made in Progressa's names, a storyboard stands in its place.</a:t>
            </a:r>
          </a:p>
          <a:p/>
          <a:p>
            <a:r>
              <a:t>Slide specification: Replaced by the recording of the 3.5 walkthrough once the pages are produced in Progressa's names. Until then, nothing on this slide claims a recording.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for the walk-through, not a drawing. Check the version stamp on every page, and let the official, not the builder, hold the mouse.</a:t>
            </a:r>
          </a:p>
          <a:p/>
          <a:p>
            <a:r>
              <a:t>Slide specification: The single message, word for word. This subtopic has no Sources slide: it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review that ends with 'we will look into it' has decided nothing. The review you convene for a goal's screens ends with a record: every open question, the person who owns it, and the date it is due.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people sit at the review. The owner of the screens answers for what the documents say. The builder says whether he can build each screen without asking anybody anything. And the person who will live with the result says whether the screens are her work as she does it. At PHEQA, those are the supplier's analyst, the supplier's builder and the head of the registration desk. The Registrar convenes the meeting and accepts its record, but takes no seat.</a:t>
            </a:r>
          </a:p>
          <a:p/>
          <a:p>
            <a:r>
              <a:t>Slide specification: Roles, never persons. The governance structure of the review, in text.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convener opens with four questions. Does every screen serve a step or a failure of the story, and is every step and failure served? Does every value say where it comes from? Could the builder build each screen without asking anybody anything? Would the person who will use it recognise it as her work? Then the person from the desk holds the mouse and clicks through the walk-through, page by page.</a:t>
            </a:r>
          </a:p>
          <a:p/>
          <a:p>
            <a:r>
              <a:t>Slide specification: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review of the licence screens took one hour. Its record holds five open lines. Show the fee on the second screen as well. Decide whether a name held by an institution whose licence was cancelled is still held. List the members of the governing board one to a line. Decide what the screen may say when PNIA does not answer. Check whether anyone asked for a printed confirmation. Every line has a named owner and a date.</a:t>
            </a:r>
          </a:p>
          <a:p/>
          <a:p>
            <a:r>
              <a:t>Slide specification: The dates are invented, as every date of the worked example 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the meeting, the owner changes the screens for the lines that are his, and the walk-through is produced again. Each other answer is written into the document that owns the fact: the shared lists and settings, the architecture, or the register of requirements. If the room cannot name an owner for a line, the record says: owner to be named by the Registrar. She names one before she accepts the screens. She accepts them when every line is closed, or allowed to stay open with its owner.</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GovStack's reference architecture for public administration, gives a section to digital co-creation. It says a transformation has a higher chance of success when it is done within the local digital ecosystem, and it recommends robust project governance and stage gates. The review is a gate of that kind for one goal. Before you accept its record, count the open lines and the owners. A record with no open lines usually means the review was not held, or nobody spoke.</a:t>
            </a:r>
          </a:p>
          <a:p/>
          <a:p>
            <a:r>
              <a:t>Slide specification: Quoted word for word from the GovStack policy recommendations under the heading 'IT Project' of PAERA v1.0, section 4.5,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Seat the owner, the builder and the person who will use the service. End with every open line written down, each with a name and a date.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Design one service as a story
your officials can check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KP4 · Designing Digital Government Services · Module 3</a:t>
            </a:r>
          </a:p>
          <a:p>
            <a:r>
              <a:rPr sz="1400" b="0" i="0">
                <a:solidFill>
                  <a:srgbClr val="595959"/>
                </a:solidFill>
                <a:latin typeface="Arial"/>
              </a:rPr>
              <a:t>Six standalone videos on designing one goal: the story a builder can follow, every way it can go wrong, screens worked out from the story, screens officers can use, the walk-through officials click, and the review that names an owner for every open line.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(3.1 – 3.6)</a:t>
            </a:r>
          </a:p>
          <a:p>
            <a:r>
              <a:rPr sz="1400" b="1" i="0">
                <a:solidFill>
                  <a:srgbClr val="1A1A1A"/>
                </a:solidFill>
                <a:latin typeface="Arial"/>
              </a:rPr>
              <a:t>Target audience: </a:t>
            </a:r>
            <a:r>
              <a:rPr sz="1400" b="0" i="0">
                <a:solidFill>
                  <a:srgbClr val="1A1A1A"/>
                </a:solidFill>
                <a:latin typeface="Arial"/>
              </a:rPr>
              <a:t>The head of a sectoral ICT unit, or the project lead, who accepts the design</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goal, one story</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failure, its ending</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Screens from the story</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Screens officers can use</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walk-through to click</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review with names on it</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story · every failure · every value sourced</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3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3.1  One goal, written as a story</a:t>
            </a:r>
            <a:r>
              <a:rPr sz="1200" b="0" i="0">
                <a:solidFill>
                  <a:srgbClr val="595959"/>
                </a:solidFill>
                <a:latin typeface="Arial"/>
              </a:rPr>
              <a:t>   ~5 min</a:t>
            </a:r>
          </a:p>
          <a:p>
            <a:pPr algn="l">
              <a:spcAft>
                <a:spcPts val="900"/>
              </a:spcAft>
            </a:pPr>
            <a:r>
              <a:rPr sz="1500" b="1" i="0">
                <a:solidFill>
                  <a:srgbClr val="1A1A1A"/>
                </a:solidFill>
                <a:latin typeface="Arial"/>
              </a:rPr>
              <a:t>3.2  Every way it can go wrong</a:t>
            </a:r>
            <a:r>
              <a:rPr sz="1200" b="0" i="0">
                <a:solidFill>
                  <a:srgbClr val="595959"/>
                </a:solidFill>
                <a:latin typeface="Arial"/>
              </a:rPr>
              <a:t>   ~5 min</a:t>
            </a:r>
          </a:p>
          <a:p>
            <a:pPr algn="l">
              <a:spcAft>
                <a:spcPts val="900"/>
              </a:spcAft>
            </a:pPr>
            <a:r>
              <a:rPr sz="1500" b="1" i="0">
                <a:solidFill>
                  <a:srgbClr val="1A1A1A"/>
                </a:solidFill>
                <a:latin typeface="Arial"/>
              </a:rPr>
              <a:t>3.3  Screens worked out from the story</a:t>
            </a:r>
            <a:r>
              <a:rPr sz="1200" b="0" i="0">
                <a:solidFill>
                  <a:srgbClr val="595959"/>
                </a:solidFill>
                <a:latin typeface="Arial"/>
              </a:rPr>
              <a:t>   ~5 min</a:t>
            </a:r>
          </a:p>
          <a:p>
            <a:pPr algn="l">
              <a:spcAft>
                <a:spcPts val="900"/>
              </a:spcAft>
            </a:pPr>
            <a:r>
              <a:rPr sz="1500" b="1" i="0">
                <a:solidFill>
                  <a:srgbClr val="1A1A1A"/>
                </a:solidFill>
                <a:latin typeface="Arial"/>
              </a:rPr>
              <a:t>3.4  Screens officers can use (supplementary)</a:t>
            </a:r>
            <a:r>
              <a:rPr sz="1200" b="0" i="0">
                <a:solidFill>
                  <a:srgbClr val="595959"/>
                </a:solidFill>
                <a:latin typeface="Arial"/>
              </a:rPr>
              <a:t>   ~5 min</a:t>
            </a:r>
          </a:p>
          <a:p>
            <a:pPr algn="l">
              <a:spcAft>
                <a:spcPts val="900"/>
              </a:spcAft>
            </a:pPr>
            <a:r>
              <a:rPr sz="1500" b="1" i="0">
                <a:solidFill>
                  <a:srgbClr val="1A1A1A"/>
                </a:solidFill>
                <a:latin typeface="Arial"/>
              </a:rPr>
              <a:t>3.5  The walk-through your officials click</a:t>
            </a:r>
            <a:r>
              <a:rPr sz="1200" b="0" i="0">
                <a:solidFill>
                  <a:srgbClr val="595959"/>
                </a:solidFill>
                <a:latin typeface="Arial"/>
              </a:rPr>
              <a:t>   ~5 min</a:t>
            </a:r>
          </a:p>
          <a:p>
            <a:pPr algn="l">
              <a:spcAft>
                <a:spcPts val="900"/>
              </a:spcAft>
            </a:pPr>
            <a:r>
              <a:rPr sz="1500" b="1" i="0">
                <a:solidFill>
                  <a:srgbClr val="1A1A1A"/>
                </a:solidFill>
                <a:latin typeface="Arial"/>
              </a:rPr>
              <a:t>3.6  The review: every open line named</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Write one goal as a story, with every failure and its ending, and work the screens out from it.</a:t>
            </a:r>
          </a:p>
          <a:p>
            <a:pPr>
              <a:spcAft>
                <a:spcPts val="1000"/>
              </a:spcAft>
            </a:pPr>
            <a:r>
              <a:rPr sz="1900" b="0" i="1">
                <a:solidFill>
                  <a:srgbClr val="1A1A1A"/>
                </a:solidFill>
                <a:latin typeface="Arial"/>
              </a:rPr>
              <a:t>Officials click the walk-through; the review leaves nothing unowned.</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goal, written as a story a builder can follow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builder must not have to work anything out or ask anybody anything.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builder builds what the documents say, and guesses the rest.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guess made late, under deadline, is how an agreed service changes on the way.</a:t>
            </a:r>
          </a:p>
          <a:p>
            <a:pPr>
              <a:spcAft>
                <a:spcPts val="800"/>
              </a:spcAft>
            </a:pPr>
            <a:r>
              <a:rPr sz="1700" b="0" i="0">
                <a:solidFill>
                  <a:srgbClr val="595959"/>
                </a:solidFill>
                <a:latin typeface="Arial"/>
              </a:rPr>
              <a:t>So every goal is written as a story the builder can follow.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and its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goal: one thing a person wants to get done with the service.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Its story: who acts and what happens, step by step, until the person has what they came for.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written goal holds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Who has the goal, and who else takes part.</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What starts it, and what must already be true.</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What the authority guarantees, whatever happens.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The main steps, on the path where nothing goes wrong.</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entries of the register of requirements that it serves.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apply for a provisional licence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600" b="1" i="0">
                <a:solidFill>
                  <a:srgbClr val="1A1A1A"/>
                </a:solidFill>
                <a:latin typeface="Arial"/>
              </a:rPr>
              <a:t>Who: a person who intends to run a private university, university college or technical institute.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600" b="1" i="0">
                <a:solidFill>
                  <a:srgbClr val="1A1A1A"/>
                </a:solidFill>
                <a:latin typeface="Arial"/>
              </a:rPr>
              <a:t>Others: PNIA, which says who the applicant is; the Payments block, which takes the fee.</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600" b="1" i="0">
                <a:solidFill>
                  <a:srgbClr val="1A1A1A"/>
                </a:solidFill>
                <a:latin typeface="Arial"/>
              </a:rPr>
              <a:t>Starts when: the applicant decides to apply; PHEQA's standards are in force and the fee is set.</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600" b="1" i="0">
                <a:solidFill>
                  <a:srgbClr val="1A1A1A"/>
                </a:solidFill>
                <a:latin typeface="Arial"/>
              </a:rPr>
              <a:t>Guarantee: no application is recorded unless the applicant confirmed it and the fee was paid.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600" b="1" i="0">
                <a:solidFill>
                  <a:srgbClr val="1A1A1A"/>
                </a:solidFill>
                <a:latin typeface="Arial"/>
              </a:rPr>
              <a:t>Serves: applying through the self-service; the application fee; the particulars the regulations list; a name no registered institution holds.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main story, in nine steps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477520"/>
          </a:xfrm>
          <a:prstGeom prst="rect">
            <a:avLst/>
          </a:prstGeom>
          <a:noFill/>
        </p:spPr>
        <p:txBody>
          <a:bodyPr wrap="square">
            <a:spAutoFit/>
          </a:bodyPr>
          <a:lstStyle/>
          <a:p>
            <a:pPr>
              <a:spcAft>
                <a:spcPts val="300"/>
              </a:spcAft>
            </a:pPr>
            <a:r>
              <a:rPr sz="1700" b="1" i="0">
                <a:solidFill>
                  <a:srgbClr val="1A1A1A"/>
                </a:solidFill>
                <a:latin typeface="Arial"/>
              </a:rPr>
              <a:t>Sign in through PNIA.</a:t>
            </a:r>
          </a:p>
        </p:txBody>
      </p:sp>
      <p:sp>
        <p:nvSpPr>
          <p:cNvPr id="6" name="Rectangle 5"/>
          <p:cNvSpPr/>
          <p:nvPr/>
        </p:nvSpPr>
        <p:spPr>
          <a:xfrm>
            <a:off x="621792" y="1945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0320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1986280"/>
            <a:ext cx="10527487" cy="477520"/>
          </a:xfrm>
          <a:prstGeom prst="rect">
            <a:avLst/>
          </a:prstGeom>
          <a:noFill/>
        </p:spPr>
        <p:txBody>
          <a:bodyPr wrap="square">
            <a:spAutoFit/>
          </a:bodyPr>
          <a:lstStyle/>
          <a:p>
            <a:pPr>
              <a:spcAft>
                <a:spcPts val="300"/>
              </a:spcAft>
            </a:pPr>
            <a:r>
              <a:rPr sz="1700" b="1" i="0">
                <a:solidFill>
                  <a:srgbClr val="1A1A1A"/>
                </a:solidFill>
                <a:latin typeface="Arial"/>
              </a:rPr>
              <a:t>Ask to apply.</a:t>
            </a:r>
          </a:p>
        </p:txBody>
      </p:sp>
      <p:sp>
        <p:nvSpPr>
          <p:cNvPr id="9" name="Rectangle 8"/>
          <p:cNvSpPr/>
          <p:nvPr/>
        </p:nvSpPr>
        <p:spPr>
          <a:xfrm>
            <a:off x="621792" y="24683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5552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50952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shows PHEQA's standards, with their version.</a:t>
            </a:r>
          </a:p>
        </p:txBody>
      </p:sp>
      <p:sp>
        <p:nvSpPr>
          <p:cNvPr id="12" name="Rectangle 11"/>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032760"/>
            <a:ext cx="10527487" cy="477520"/>
          </a:xfrm>
          <a:prstGeom prst="rect">
            <a:avLst/>
          </a:prstGeom>
          <a:noFill/>
        </p:spPr>
        <p:txBody>
          <a:bodyPr wrap="square">
            <a:spAutoFit/>
          </a:bodyPr>
          <a:lstStyle/>
          <a:p>
            <a:pPr>
              <a:spcAft>
                <a:spcPts val="300"/>
              </a:spcAft>
            </a:pPr>
            <a:r>
              <a:rPr sz="1700" b="1" i="0">
                <a:solidFill>
                  <a:srgbClr val="1A1A1A"/>
                </a:solidFill>
                <a:latin typeface="Arial"/>
              </a:rPr>
              <a:t>State the kind of institution.</a:t>
            </a:r>
          </a:p>
        </p:txBody>
      </p:sp>
      <p:sp>
        <p:nvSpPr>
          <p:cNvPr id="15" name="Rectangle 14"/>
          <p:cNvSpPr/>
          <p:nvPr/>
        </p:nvSpPr>
        <p:spPr>
          <a:xfrm>
            <a:off x="621792" y="351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6017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55600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asks for the particulars of that kind.</a:t>
            </a:r>
          </a:p>
        </p:txBody>
      </p:sp>
      <p:sp>
        <p:nvSpPr>
          <p:cNvPr id="18" name="Rectangle 17"/>
          <p:cNvSpPr/>
          <p:nvPr/>
        </p:nvSpPr>
        <p:spPr>
          <a:xfrm>
            <a:off x="621792" y="4038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124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079240"/>
            <a:ext cx="10527487" cy="477520"/>
          </a:xfrm>
          <a:prstGeom prst="rect">
            <a:avLst/>
          </a:prstGeom>
          <a:noFill/>
        </p:spPr>
        <p:txBody>
          <a:bodyPr wrap="square">
            <a:spAutoFit/>
          </a:bodyPr>
          <a:lstStyle/>
          <a:p>
            <a:pPr>
              <a:spcAft>
                <a:spcPts val="300"/>
              </a:spcAft>
            </a:pPr>
            <a:r>
              <a:rPr sz="1700" b="1" i="0">
                <a:solidFill>
                  <a:srgbClr val="1A1A1A"/>
                </a:solidFill>
                <a:latin typeface="Arial"/>
              </a:rPr>
              <a:t>Give the proposed name and each particular; attach the evidence of funding.</a:t>
            </a:r>
          </a:p>
        </p:txBody>
      </p:sp>
      <p:sp>
        <p:nvSpPr>
          <p:cNvPr id="21" name="Rectangle 20"/>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460248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checks every particular, and that no registered institution holds the name.</a:t>
            </a:r>
          </a:p>
        </p:txBody>
      </p:sp>
      <p:sp>
        <p:nvSpPr>
          <p:cNvPr id="24" name="Rectangle 23"/>
          <p:cNvSpPr/>
          <p:nvPr/>
        </p:nvSpPr>
        <p:spPr>
          <a:xfrm>
            <a:off x="621792" y="50845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1792" y="51714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8</a:t>
            </a:r>
          </a:p>
        </p:txBody>
      </p:sp>
      <p:sp>
        <p:nvSpPr>
          <p:cNvPr id="26" name="TextBox 25"/>
          <p:cNvSpPr txBox="1"/>
          <p:nvPr/>
        </p:nvSpPr>
        <p:spPr>
          <a:xfrm>
            <a:off x="1115568" y="5125720"/>
            <a:ext cx="10527487" cy="477520"/>
          </a:xfrm>
          <a:prstGeom prst="rect">
            <a:avLst/>
          </a:prstGeom>
          <a:noFill/>
        </p:spPr>
        <p:txBody>
          <a:bodyPr wrap="square">
            <a:spAutoFit/>
          </a:bodyPr>
          <a:lstStyle/>
          <a:p>
            <a:pPr>
              <a:spcAft>
                <a:spcPts val="300"/>
              </a:spcAft>
            </a:pPr>
            <a:r>
              <a:rPr sz="1700" b="1" i="0">
                <a:solidFill>
                  <a:srgbClr val="1A1A1A"/>
                </a:solidFill>
                <a:latin typeface="Arial"/>
              </a:rPr>
              <a:t>Confirm and pay the fee.</a:t>
            </a:r>
          </a:p>
        </p:txBody>
      </p:sp>
      <p:sp>
        <p:nvSpPr>
          <p:cNvPr id="27" name="Rectangle 26"/>
          <p:cNvSpPr/>
          <p:nvPr/>
        </p:nvSpPr>
        <p:spPr>
          <a:xfrm>
            <a:off x="621792" y="560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1792" y="56946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9</a:t>
            </a:r>
          </a:p>
        </p:txBody>
      </p:sp>
      <p:sp>
        <p:nvSpPr>
          <p:cNvPr id="29" name="TextBox 28"/>
          <p:cNvSpPr txBox="1"/>
          <p:nvPr/>
        </p:nvSpPr>
        <p:spPr>
          <a:xfrm>
            <a:off x="1115568" y="564896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records the application and shows the date received.</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picture leaves to you</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Registration specification: an analyst creates the screens, their order and their fields; an operator approves, rejects or sends back for correction.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Your story: which particulars, from which list, checked against which register, at which fee, with which guarantee.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Read it aloud to the official who runs the counter.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At each step ask: who does this, and where does what they see come from?</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step that serves no entry is struck out, or becomes a question with an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builder must not have to work anything out or ask anybody anything.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main story of one goal from what was asked.</a:t>
            </a:r>
          </a:p>
          <a:p>
            <a:pPr algn="l">
              <a:spcAft>
                <a:spcPts val="400"/>
              </a:spcAft>
            </a:pPr>
            <a:r>
              <a:rPr sz="1800" b="0" i="0">
                <a:solidFill>
                  <a:srgbClr val="595959"/>
                </a:solidFill>
                <a:latin typeface="Arial"/>
              </a:rPr>
              <a:t>The prompt in the companion material gives you the main story of one goal, step by step, with every assumption marked for confirmation.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6.3.2.2 and 6.2.3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Every way it can go wrong, written down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story is finished only when every failure has its own ending.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service is judged on its bad days.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sign-in that does not answer. The document left out. The payment that never arrives.</a:t>
            </a:r>
          </a:p>
          <a:p>
            <a:pPr>
              <a:spcAft>
                <a:spcPts val="800"/>
              </a:spcAft>
            </a:pPr>
            <a:r>
              <a:rPr sz="1700" b="0" i="0">
                <a:solidFill>
                  <a:srgbClr val="595959"/>
                </a:solidFill>
                <a:latin typeface="Arial"/>
              </a:rPr>
              <a:t>If nobody wrote down what happens then, the builder decides, alone.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failure, written down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step it leaves.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notices.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does.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How the story ends: in failure, in success, or back to a named step.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Kinds of failure the Registration specification names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Rules on each field: required, a number within limits, a date, a file of the right size and type.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field checked against another body's records, through its interface.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A test that everything required is there before the application can be sent.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failures, five endings</a:t>
            </a:r>
          </a:p>
        </p:txBody>
      </p:sp>
      <p:pic>
        <p:nvPicPr>
          <p:cNvPr id="4" name="kp4-figure F8" descr="F8_story-and-failures.png"/>
          <p:cNvPicPr>
            <a:picLocks noChangeAspect="1"/>
          </p:cNvPicPr>
          <p:nvPr/>
        </p:nvPicPr>
        <p:blipFill>
          <a:blip r:embed="rId2"/>
          <a:stretch>
            <a:fillRect/>
          </a:stretch>
        </p:blipFill>
        <p:spPr>
          <a:xfrm>
            <a:off x="1008169" y="1280160"/>
            <a:ext cx="10181757"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endings were decisions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Fee not confirmed: no application at all. Decided by the head of the registration desk.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 drafts kept in the first version; an applicant who stops loses what was typed. Decided by the Registrar, and kept as an open question.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endings. A story with only a success ending is not finished.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failure, ask who decided its ending.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of failures is a start, not a claim that all were found.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story is finished only when every failure has its own ending.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the failures of each step, for the official to decide.</a:t>
            </a:r>
          </a:p>
          <a:p>
            <a:pPr algn="l">
              <a:spcAft>
                <a:spcPts val="400"/>
              </a:spcAft>
            </a:pPr>
            <a:r>
              <a:rPr sz="1800" b="0" i="0">
                <a:solidFill>
                  <a:srgbClr val="595959"/>
                </a:solidFill>
                <a:latin typeface="Arial"/>
              </a:rPr>
              <a:t>The prompt in the companion material gives you a table of failures for each step, each with a proposed ending for the official to accept or set aside.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6.3.3.1, 6.3.3.2 and 6.3.3.3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worked out from the story, every value with its source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screen serves a step; each value on it says where it comes from.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screen built from a list of fields explains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screen worked out from the story shows what a person needs at that step.</a:t>
            </a:r>
          </a:p>
          <a:p>
            <a:pPr>
              <a:spcAft>
                <a:spcPts val="800"/>
              </a:spcAft>
            </a:pPr>
            <a:r>
              <a:rPr sz="1700" b="0" i="0">
                <a:solidFill>
                  <a:srgbClr val="595959"/>
                </a:solidFill>
                <a:latin typeface="Arial"/>
              </a:rPr>
              <a:t>And it says where each value on it comes from.</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Walk the story, not the list of records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where the person asks, states, gives or confirms something gets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that is wholly the system's gets one only if the person must read something.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Two steps share a screen when nothing the system does stands between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value has one of four sources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Taken from another body.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Chosen from a list.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Read from what the authority keeps.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Entered here, with the reason no other place has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screens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S1</a:t>
            </a:r>
          </a:p>
          <a:p>
            <a:pPr>
              <a:spcAft>
                <a:spcPts val="300"/>
              </a:spcAft>
            </a:pPr>
            <a:r>
              <a:rPr sz="1550" b="0" i="0">
                <a:solidFill>
                  <a:srgbClr val="595959"/>
                </a:solidFill>
                <a:latin typeface="Arial"/>
              </a:rPr>
              <a:t>Ask to apply for a provisional licence (step 2).</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S2</a:t>
            </a:r>
          </a:p>
          <a:p>
            <a:pPr>
              <a:spcAft>
                <a:spcPts val="300"/>
              </a:spcAft>
            </a:pPr>
            <a:r>
              <a:rPr sz="1550" b="0" i="0">
                <a:solidFill>
                  <a:srgbClr val="595959"/>
                </a:solidFill>
                <a:latin typeface="Arial"/>
              </a:rPr>
              <a:t>Read PHEQA's standards and state the kind of institution (steps 3 and 4).</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S3</a:t>
            </a:r>
          </a:p>
          <a:p>
            <a:pPr>
              <a:spcAft>
                <a:spcPts val="300"/>
              </a:spcAft>
            </a:pPr>
            <a:r>
              <a:rPr sz="1550" b="0" i="0">
                <a:solidFill>
                  <a:srgbClr val="595959"/>
                </a:solidFill>
                <a:latin typeface="Arial"/>
              </a:rPr>
              <a:t>Give the particulars (steps 5 and 6, and two failures).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S4</a:t>
            </a:r>
          </a:p>
          <a:p>
            <a:pPr>
              <a:spcAft>
                <a:spcPts val="300"/>
              </a:spcAft>
            </a:pPr>
            <a:r>
              <a:rPr sz="1550" b="0" i="0">
                <a:solidFill>
                  <a:srgbClr val="595959"/>
                </a:solidFill>
                <a:latin typeface="Arial"/>
              </a:rPr>
              <a:t>Confirm and pay (step 8, and one failure).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S5</a:t>
            </a:r>
          </a:p>
          <a:p>
            <a:pPr>
              <a:spcAft>
                <a:spcPts val="300"/>
              </a:spcAft>
            </a:pPr>
            <a:r>
              <a:rPr sz="1550" b="0" i="0">
                <a:solidFill>
                  <a:srgbClr val="595959"/>
                </a:solidFill>
                <a:latin typeface="Arial"/>
              </a:rPr>
              <a:t>See the application received (step 9).</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each value comes from</a:t>
            </a:r>
          </a:p>
        </p:txBody>
      </p:sp>
      <p:pic>
        <p:nvPicPr>
          <p:cNvPr id="4" name="kp4-figure F9" descr="F9_screen-sources.png"/>
          <p:cNvPicPr>
            <a:picLocks noChangeAspect="1"/>
          </p:cNvPicPr>
          <p:nvPr/>
        </p:nvPicPr>
        <p:blipFill>
          <a:blip r:embed="rId2"/>
          <a:stretch>
            <a:fillRect/>
          </a:stretch>
        </p:blipFill>
        <p:spPr>
          <a:xfrm>
            <a:off x="2447405" y="1280160"/>
            <a:ext cx="7303284"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published picture of screens and fields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Screens in order: a guide, the applicant's form, the upload of documents, the payment, and a send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Each field: a name, a type, and whether it must be filled. Lists are reusable across all services in the same installation.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against the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step and every failure is served by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value comes from a record, setting or list the story names.</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Struck out: the applicant's phone number, which no list names.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screen serves a step; each value on it says where it comes from.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the screens of a story and the source of every value.</a:t>
            </a:r>
          </a:p>
          <a:p>
            <a:pPr algn="l">
              <a:spcAft>
                <a:spcPts val="400"/>
              </a:spcAft>
            </a:pPr>
            <a:r>
              <a:rPr sz="1800" b="0" i="0">
                <a:solidFill>
                  <a:srgbClr val="595959"/>
                </a:solidFill>
                <a:latin typeface="Arial"/>
              </a:rPr>
              <a:t>The prompt in the companion material gives you a table of screens, one for each step that needs one, with the source of every value and the values with no source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and 6.3.2.2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officers can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officer never types what the system already knows, and never chooses from an endless list.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small waste on an officer's screen is repeated thousands of times a year.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applicant uses the self-service once or twice.</a:t>
            </a:r>
          </a:p>
          <a:p>
            <a:pPr>
              <a:spcAft>
                <a:spcPts val="800"/>
              </a:spcAft>
            </a:pPr>
            <a:r>
              <a:rPr sz="1700" b="0" i="0">
                <a:solidFill>
                  <a:srgbClr val="595959"/>
                </a:solidFill>
                <a:latin typeface="Arial"/>
              </a:rPr>
              <a:t>An officer uses her screens many times a day.</a:t>
            </a:r>
          </a:p>
          <a:p>
            <a:pPr>
              <a:spcAft>
                <a:spcPts val="800"/>
              </a:spcAft>
            </a:pPr>
            <a:r>
              <a:rPr sz="1700" b="0" i="0">
                <a:solidFill>
                  <a:srgbClr val="595959"/>
                </a:solidFill>
                <a:latin typeface="Arial"/>
              </a:rPr>
              <a:t>Every value typed again is a chance for a mistake.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rules for an officer's screen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96112"/>
          </a:xfrm>
          <a:prstGeom prst="rect">
            <a:avLst/>
          </a:prstGeom>
          <a:noFill/>
        </p:spPr>
        <p:txBody>
          <a:bodyPr wrap="square">
            <a:spAutoFit/>
          </a:bodyPr>
          <a:lstStyle/>
          <a:p>
            <a:pPr>
              <a:spcAft>
                <a:spcPts val="300"/>
              </a:spcAft>
            </a:pPr>
            <a:r>
              <a:rPr sz="1900" b="1" i="0">
                <a:solidFill>
                  <a:srgbClr val="1A1A1A"/>
                </a:solidFill>
                <a:latin typeface="Arial"/>
              </a:rPr>
              <a:t>Never type what the system already knows.</a:t>
            </a:r>
          </a:p>
        </p:txBody>
      </p:sp>
      <p:sp>
        <p:nvSpPr>
          <p:cNvPr id="6" name="Rectangle 5"/>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5059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04872"/>
            <a:ext cx="10527487" cy="896112"/>
          </a:xfrm>
          <a:prstGeom prst="rect">
            <a:avLst/>
          </a:prstGeom>
          <a:noFill/>
        </p:spPr>
        <p:txBody>
          <a:bodyPr wrap="square">
            <a:spAutoFit/>
          </a:bodyPr>
          <a:lstStyle/>
          <a:p>
            <a:pPr>
              <a:spcAft>
                <a:spcPts val="300"/>
              </a:spcAft>
            </a:pPr>
            <a:r>
              <a:rPr sz="1900" b="1" i="0">
                <a:solidFill>
                  <a:srgbClr val="1A1A1A"/>
                </a:solidFill>
                <a:latin typeface="Arial"/>
              </a:rPr>
              <a:t>Never choose from an endless list.</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896112"/>
          </a:xfrm>
          <a:prstGeom prst="rect">
            <a:avLst/>
          </a:prstGeom>
          <a:noFill/>
        </p:spPr>
        <p:txBody>
          <a:bodyPr wrap="square">
            <a:spAutoFit/>
          </a:bodyPr>
          <a:lstStyle/>
          <a:p>
            <a:pPr>
              <a:spcAft>
                <a:spcPts val="300"/>
              </a:spcAft>
            </a:pPr>
            <a:r>
              <a:rPr sz="1900" b="1" i="0">
                <a:solidFill>
                  <a:srgbClr val="1A1A1A"/>
                </a:solidFill>
                <a:latin typeface="Arial"/>
              </a:rPr>
              <a:t>Choose a decision from the decisions allowed; do not write it as free text.</a:t>
            </a:r>
          </a:p>
        </p:txBody>
      </p:sp>
      <p:sp>
        <p:nvSpPr>
          <p:cNvPr id="12" name="Rectangle 11"/>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88536"/>
            <a:ext cx="10527487" cy="896112"/>
          </a:xfrm>
          <a:prstGeom prst="rect">
            <a:avLst/>
          </a:prstGeom>
          <a:noFill/>
        </p:spPr>
        <p:txBody>
          <a:bodyPr wrap="square">
            <a:spAutoFit/>
          </a:bodyPr>
          <a:lstStyle/>
          <a:p>
            <a:pPr>
              <a:spcAft>
                <a:spcPts val="300"/>
              </a:spcAft>
            </a:pPr>
            <a:r>
              <a:rPr sz="1900" b="1" i="0">
                <a:solidFill>
                  <a:srgbClr val="1A1A1A"/>
                </a:solidFill>
                <a:latin typeface="Arial"/>
              </a:rPr>
              <a:t>State on the screen the rule that governs the work.</a:t>
            </a:r>
          </a:p>
        </p:txBody>
      </p:sp>
      <p:sp>
        <p:nvSpPr>
          <p:cNvPr id="15" name="Rectangle 14"/>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7608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30368"/>
            <a:ext cx="10527487" cy="896112"/>
          </a:xfrm>
          <a:prstGeom prst="rect">
            <a:avLst/>
          </a:prstGeom>
          <a:noFill/>
        </p:spPr>
        <p:txBody>
          <a:bodyPr wrap="square">
            <a:spAutoFit/>
          </a:bodyPr>
          <a:lstStyle/>
          <a:p>
            <a:pPr>
              <a:spcAft>
                <a:spcPts val="300"/>
              </a:spcAft>
            </a:pPr>
            <a:r>
              <a:rPr sz="1900" b="1" i="0">
                <a:solidFill>
                  <a:srgbClr val="1A1A1A"/>
                </a:solidFill>
                <a:latin typeface="Arial"/>
              </a:rPr>
              <a:t>Show an open question with its owner; never answer it with a guess.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the inspector's first draft</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Institution: a drop-down list of all 214 institutions.</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Address of the premises: typed by the inspector.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Outcome: a sentence in a free-text box.</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Inspectors who must sign: already filled with 2.</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Date of the visit: any date, with no rule shown.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After: rules 1 to 4</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Institution: type part of the name or the register number, and pick from the few that match.</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Address: filled from the register; shown, not typed.</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Outcome: meets the standards; meets them with conditions; does not meet them; with a box for findings.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Under the date: a recommendation may rest only on a visit made within 90 days before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5: to be confirmed, with an owner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regulations name inspectors in the plural and give no number.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draft filled in 2, with no source.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Now: to be confirmed by the Registrar of PHEQA; the screen cannot be accepted until she answers.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Sit beside an officer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values she types that the system already holds.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lists she scrolls.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decisions she writes in her own words.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officer never types what the system already knows, and never chooses from an endless list.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Review an officer's screen against five rules.</a:t>
            </a:r>
          </a:p>
          <a:p>
            <a:pPr algn="l">
              <a:spcAft>
                <a:spcPts val="400"/>
              </a:spcAft>
            </a:pPr>
            <a:r>
              <a:rPr sz="1800" b="0" i="0">
                <a:solidFill>
                  <a:srgbClr val="595959"/>
                </a:solidFill>
                <a:latin typeface="Arial"/>
              </a:rPr>
              <a:t>The prompt in the companion material gives you a list of the breaches on one screen, each with the rule it breaks.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walk-through your officials click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walk-through is produced from the written screens, never drawn by hand, and every page shows its version.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Officials judge a service by clicking through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 from a list of fields.</a:t>
            </a:r>
          </a:p>
          <a:p>
            <a:pPr>
              <a:spcAft>
                <a:spcPts val="800"/>
              </a:spcAft>
            </a:pPr>
            <a:r>
              <a:rPr sz="1700" b="0" i="0">
                <a:solidFill>
                  <a:srgbClr val="595959"/>
                </a:solidFill>
                <a:latin typeface="Arial"/>
              </a:rPr>
              <a:t>A walk-through lets them do it before anything is built, on the screens the builder will build.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is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Simple web pages, one for each screen, linked in the order the person meets them.</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failures as side paths.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Produced by a program from the written screens; nobody draws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by hand, and a version on every page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page corrected by hand no longer shows what the builder will build.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 drawing may show what the designer hoped.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page carries a stamp: which screens, which version, which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pages of one goal</a:t>
            </a:r>
          </a:p>
        </p:txBody>
      </p:sp>
      <p:sp>
        <p:nvSpPr>
          <p:cNvPr id="4" name="TextBox 3"/>
          <p:cNvSpPr txBox="1"/>
          <p:nvPr/>
        </p:nvSpPr>
        <p:spPr>
          <a:xfrm>
            <a:off x="658368" y="1965960"/>
            <a:ext cx="10984687" cy="655319"/>
          </a:xfrm>
          <a:prstGeom prst="rect">
            <a:avLst/>
          </a:prstGeom>
          <a:noFill/>
        </p:spPr>
        <p:txBody>
          <a:bodyPr wrap="square">
            <a:spAutoFit/>
          </a:bodyPr>
          <a:lstStyle/>
          <a:p>
            <a:pPr>
              <a:spcAft>
                <a:spcPts val="300"/>
              </a:spcAft>
            </a:pPr>
            <a:r>
              <a:rPr sz="1800" b="1" i="0">
                <a:solidFill>
                  <a:srgbClr val="1A1A1A"/>
                </a:solidFill>
                <a:latin typeface="Arial"/>
              </a:rPr>
              <a:t>Page 1</a:t>
            </a:r>
          </a:p>
          <a:p>
            <a:pPr>
              <a:spcAft>
                <a:spcPts val="300"/>
              </a:spcAft>
            </a:pPr>
            <a:r>
              <a:rPr sz="1550" b="0" i="0">
                <a:solidFill>
                  <a:srgbClr val="595959"/>
                </a:solidFill>
                <a:latin typeface="Arial"/>
              </a:rPr>
              <a:t>ask to apply.</a:t>
            </a:r>
          </a:p>
        </p:txBody>
      </p:sp>
      <p:sp>
        <p:nvSpPr>
          <p:cNvPr id="5" name="Rectangle 4"/>
          <p:cNvSpPr/>
          <p:nvPr/>
        </p:nvSpPr>
        <p:spPr>
          <a:xfrm>
            <a:off x="621792" y="2625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67000"/>
            <a:ext cx="10984687" cy="655319"/>
          </a:xfrm>
          <a:prstGeom prst="rect">
            <a:avLst/>
          </a:prstGeom>
          <a:noFill/>
        </p:spPr>
        <p:txBody>
          <a:bodyPr wrap="square">
            <a:spAutoFit/>
          </a:bodyPr>
          <a:lstStyle/>
          <a:p>
            <a:pPr>
              <a:spcAft>
                <a:spcPts val="300"/>
              </a:spcAft>
            </a:pPr>
            <a:r>
              <a:rPr sz="1800" b="1" i="0">
                <a:solidFill>
                  <a:srgbClr val="1A1A1A"/>
                </a:solidFill>
                <a:latin typeface="Arial"/>
              </a:rPr>
              <a:t>Page 2</a:t>
            </a:r>
          </a:p>
          <a:p>
            <a:pPr>
              <a:spcAft>
                <a:spcPts val="300"/>
              </a:spcAft>
            </a:pPr>
            <a:r>
              <a:rPr sz="1550" b="0" i="0">
                <a:solidFill>
                  <a:srgbClr val="595959"/>
                </a:solidFill>
                <a:latin typeface="Arial"/>
              </a:rPr>
              <a:t>the standards and the kind of institution.</a:t>
            </a:r>
          </a:p>
        </p:txBody>
      </p:sp>
      <p:sp>
        <p:nvSpPr>
          <p:cNvPr id="7" name="Rectangle 6"/>
          <p:cNvSpPr/>
          <p:nvPr/>
        </p:nvSpPr>
        <p:spPr>
          <a:xfrm>
            <a:off x="621792" y="3326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68040"/>
            <a:ext cx="10984687" cy="655319"/>
          </a:xfrm>
          <a:prstGeom prst="rect">
            <a:avLst/>
          </a:prstGeom>
          <a:noFill/>
        </p:spPr>
        <p:txBody>
          <a:bodyPr wrap="square">
            <a:spAutoFit/>
          </a:bodyPr>
          <a:lstStyle/>
          <a:p>
            <a:pPr>
              <a:spcAft>
                <a:spcPts val="300"/>
              </a:spcAft>
            </a:pPr>
            <a:r>
              <a:rPr sz="1800" b="1" i="0">
                <a:solidFill>
                  <a:srgbClr val="1A1A1A"/>
                </a:solidFill>
                <a:latin typeface="Arial"/>
              </a:rPr>
              <a:t>Page 3</a:t>
            </a:r>
          </a:p>
          <a:p>
            <a:pPr>
              <a:spcAft>
                <a:spcPts val="300"/>
              </a:spcAft>
            </a:pPr>
            <a:r>
              <a:rPr sz="1550" b="0" i="0">
                <a:solidFill>
                  <a:srgbClr val="595959"/>
                </a:solidFill>
                <a:latin typeface="Arial"/>
              </a:rPr>
              <a:t>the particulars; side pages: a document left out, a name already held.</a:t>
            </a:r>
          </a:p>
        </p:txBody>
      </p:sp>
      <p:sp>
        <p:nvSpPr>
          <p:cNvPr id="9" name="Rectangle 8"/>
          <p:cNvSpPr/>
          <p:nvPr/>
        </p:nvSpPr>
        <p:spPr>
          <a:xfrm>
            <a:off x="621792" y="40279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69079"/>
            <a:ext cx="10984687" cy="655319"/>
          </a:xfrm>
          <a:prstGeom prst="rect">
            <a:avLst/>
          </a:prstGeom>
          <a:noFill/>
        </p:spPr>
        <p:txBody>
          <a:bodyPr wrap="square">
            <a:spAutoFit/>
          </a:bodyPr>
          <a:lstStyle/>
          <a:p>
            <a:pPr>
              <a:spcAft>
                <a:spcPts val="300"/>
              </a:spcAft>
            </a:pPr>
            <a:r>
              <a:rPr sz="1800" b="1" i="0">
                <a:solidFill>
                  <a:srgbClr val="1A1A1A"/>
                </a:solidFill>
                <a:latin typeface="Arial"/>
              </a:rPr>
              <a:t>Page 4</a:t>
            </a:r>
          </a:p>
          <a:p>
            <a:pPr>
              <a:spcAft>
                <a:spcPts val="300"/>
              </a:spcAft>
            </a:pPr>
            <a:r>
              <a:rPr sz="1550" b="0" i="0">
                <a:solidFill>
                  <a:srgbClr val="595959"/>
                </a:solidFill>
                <a:latin typeface="Arial"/>
              </a:rPr>
              <a:t>confirm and pay; side page: the fee not recorded.</a:t>
            </a:r>
          </a:p>
        </p:txBody>
      </p:sp>
      <p:sp>
        <p:nvSpPr>
          <p:cNvPr id="11" name="Rectangle 10"/>
          <p:cNvSpPr/>
          <p:nvPr/>
        </p:nvSpPr>
        <p:spPr>
          <a:xfrm>
            <a:off x="621792" y="4728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770120"/>
            <a:ext cx="10984687" cy="655319"/>
          </a:xfrm>
          <a:prstGeom prst="rect">
            <a:avLst/>
          </a:prstGeom>
          <a:noFill/>
        </p:spPr>
        <p:txBody>
          <a:bodyPr wrap="square">
            <a:spAutoFit/>
          </a:bodyPr>
          <a:lstStyle/>
          <a:p>
            <a:pPr>
              <a:spcAft>
                <a:spcPts val="300"/>
              </a:spcAft>
            </a:pPr>
            <a:r>
              <a:rPr sz="1800" b="1" i="0">
                <a:solidFill>
                  <a:srgbClr val="1A1A1A"/>
                </a:solidFill>
                <a:latin typeface="Arial"/>
              </a:rPr>
              <a:t>Page 5</a:t>
            </a:r>
          </a:p>
          <a:p>
            <a:pPr>
              <a:spcAft>
                <a:spcPts val="300"/>
              </a:spcAft>
            </a:pPr>
            <a:r>
              <a:rPr sz="1550" b="0" i="0">
                <a:solidFill>
                  <a:srgbClr val="595959"/>
                </a:solidFill>
                <a:latin typeface="Arial"/>
              </a:rPr>
              <a:t>the application received.</a:t>
            </a:r>
          </a:p>
        </p:txBody>
      </p:sp>
      <p:sp>
        <p:nvSpPr>
          <p:cNvPr id="13" name="Rectangle 12"/>
          <p:cNvSpPr/>
          <p:nvPr/>
        </p:nvSpPr>
        <p:spPr>
          <a:xfrm>
            <a:off x="621792" y="5430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71159"/>
            <a:ext cx="10984687" cy="655319"/>
          </a:xfrm>
          <a:prstGeom prst="rect">
            <a:avLst/>
          </a:prstGeom>
          <a:noFill/>
        </p:spPr>
        <p:txBody>
          <a:bodyPr wrap="square">
            <a:spAutoFit/>
          </a:bodyPr>
          <a:lstStyle/>
          <a:p>
            <a:pPr>
              <a:spcAft>
                <a:spcPts val="300"/>
              </a:spcAft>
            </a:pPr>
            <a:r>
              <a:rPr sz="1800" b="1" i="0">
                <a:solidFill>
                  <a:srgbClr val="1A1A1A"/>
                </a:solidFill>
                <a:latin typeface="Arial"/>
              </a:rPr>
              <a:t>Two endings: received, or nothing recorded.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16" name="TextBox 15"/>
          <p:cNvSpPr txBox="1"/>
          <p:nvPr/>
        </p:nvSpPr>
        <p:spPr>
          <a:xfrm>
            <a:off x="658368" y="1325880"/>
            <a:ext cx="10881360" cy="457200"/>
          </a:xfrm>
          <a:prstGeom prst="rect">
            <a:avLst/>
          </a:prstGeom>
          <a:noFill/>
        </p:spPr>
        <p:txBody>
          <a:bodyPr wrap="square">
            <a:spAutoFit/>
          </a:bodyPr>
          <a:lstStyle/>
          <a:p>
            <a:r>
              <a:rPr sz="1600" b="1" i="1">
                <a:solidFill>
                  <a:srgbClr val="006E96"/>
                </a:solidFill>
                <a:latin typeface="Arial"/>
              </a:rPr>
              <a:t>Screens of apply for a provisional licence, version 1.2, 14 November 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clicking found</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Page 2: the fee is not shown until page 4. Show it beside the standards.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side page: is a name held by an institution whose licence was cancelled still held? An open line.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Page 5: the application number is not the register number. Builder and desk now agree.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shared picture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The policy side recognises its counter.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technical side sees exactly what to build.</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The same page, the same version, the same question.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walk-through, clicked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568234"/>
          </a:xfrm>
          <a:prstGeom prst="rect">
            <a:avLst/>
          </a:prstGeom>
          <a:noFill/>
        </p:spPr>
        <p:txBody>
          <a:bodyPr wrap="square">
            <a:spAutoFit/>
          </a:bodyPr>
          <a:lstStyle/>
          <a:p>
            <a:pPr>
              <a:spcAft>
                <a:spcPts val="300"/>
              </a:spcAft>
            </a:pPr>
            <a:r>
              <a:rPr sz="1700" b="1" i="0">
                <a:solidFill>
                  <a:srgbClr val="1A1A1A"/>
                </a:solidFill>
                <a:latin typeface="Arial"/>
              </a:rPr>
              <a:t>Open the screen record of the goal 'apply for a provisional licence' at the version to be accepted.</a:t>
            </a:r>
          </a:p>
        </p:txBody>
      </p:sp>
      <p:sp>
        <p:nvSpPr>
          <p:cNvPr id="6" name="Rectangle 5"/>
          <p:cNvSpPr/>
          <p:nvPr/>
        </p:nvSpPr>
        <p:spPr>
          <a:xfrm>
            <a:off x="621792" y="203584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2271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076994"/>
            <a:ext cx="10527487" cy="568234"/>
          </a:xfrm>
          <a:prstGeom prst="rect">
            <a:avLst/>
          </a:prstGeom>
          <a:noFill/>
        </p:spPr>
        <p:txBody>
          <a:bodyPr wrap="square">
            <a:spAutoFit/>
          </a:bodyPr>
          <a:lstStyle/>
          <a:p>
            <a:pPr>
              <a:spcAft>
                <a:spcPts val="300"/>
              </a:spcAft>
            </a:pPr>
            <a:r>
              <a:rPr sz="1700" b="1" i="0">
                <a:solidFill>
                  <a:srgbClr val="1A1A1A"/>
                </a:solidFill>
                <a:latin typeface="Arial"/>
              </a:rPr>
              <a:t>Open page 1 of the walk-through in a browser.</a:t>
            </a:r>
          </a:p>
        </p:txBody>
      </p:sp>
      <p:sp>
        <p:nvSpPr>
          <p:cNvPr id="9" name="Rectangle 8"/>
          <p:cNvSpPr/>
          <p:nvPr/>
        </p:nvSpPr>
        <p:spPr>
          <a:xfrm>
            <a:off x="621792" y="26498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7366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690948"/>
            <a:ext cx="10527487" cy="568234"/>
          </a:xfrm>
          <a:prstGeom prst="rect">
            <a:avLst/>
          </a:prstGeom>
          <a:noFill/>
        </p:spPr>
        <p:txBody>
          <a:bodyPr wrap="square">
            <a:spAutoFit/>
          </a:bodyPr>
          <a:lstStyle/>
          <a:p>
            <a:pPr>
              <a:spcAft>
                <a:spcPts val="300"/>
              </a:spcAft>
            </a:pPr>
            <a:r>
              <a:rPr sz="1700" b="1" i="0">
                <a:solidFill>
                  <a:srgbClr val="1A1A1A"/>
                </a:solidFill>
                <a:latin typeface="Arial"/>
              </a:rPr>
              <a:t>Click the button to apply for a provisional licence.</a:t>
            </a:r>
          </a:p>
        </p:txBody>
      </p:sp>
      <p:sp>
        <p:nvSpPr>
          <p:cNvPr id="12" name="Rectangle 11"/>
          <p:cNvSpPr/>
          <p:nvPr/>
        </p:nvSpPr>
        <p:spPr>
          <a:xfrm>
            <a:off x="621792" y="326375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35062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304902"/>
            <a:ext cx="10527487" cy="568234"/>
          </a:xfrm>
          <a:prstGeom prst="rect">
            <a:avLst/>
          </a:prstGeom>
          <a:noFill/>
        </p:spPr>
        <p:txBody>
          <a:bodyPr wrap="square">
            <a:spAutoFit/>
          </a:bodyPr>
          <a:lstStyle/>
          <a:p>
            <a:pPr>
              <a:spcAft>
                <a:spcPts val="300"/>
              </a:spcAft>
            </a:pPr>
            <a:r>
              <a:rPr sz="1700" b="1" i="0">
                <a:solidFill>
                  <a:srgbClr val="1A1A1A"/>
                </a:solidFill>
                <a:latin typeface="Arial"/>
              </a:rPr>
              <a:t>Choose a kind of institution and go on.</a:t>
            </a:r>
          </a:p>
        </p:txBody>
      </p:sp>
      <p:sp>
        <p:nvSpPr>
          <p:cNvPr id="15" name="Rectangle 14"/>
          <p:cNvSpPr/>
          <p:nvPr/>
        </p:nvSpPr>
        <p:spPr>
          <a:xfrm>
            <a:off x="621792" y="387770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96457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918857"/>
            <a:ext cx="10527487" cy="568234"/>
          </a:xfrm>
          <a:prstGeom prst="rect">
            <a:avLst/>
          </a:prstGeom>
          <a:noFill/>
        </p:spPr>
        <p:txBody>
          <a:bodyPr wrap="square">
            <a:spAutoFit/>
          </a:bodyPr>
          <a:lstStyle/>
          <a:p>
            <a:pPr>
              <a:spcAft>
                <a:spcPts val="300"/>
              </a:spcAft>
            </a:pPr>
            <a:r>
              <a:rPr sz="1700" b="1" i="0">
                <a:solidFill>
                  <a:srgbClr val="1A1A1A"/>
                </a:solidFill>
                <a:latin typeface="Arial"/>
              </a:rPr>
              <a:t>Go on to confirm.</a:t>
            </a:r>
          </a:p>
        </p:txBody>
      </p:sp>
      <p:sp>
        <p:nvSpPr>
          <p:cNvPr id="18" name="Rectangle 17"/>
          <p:cNvSpPr/>
          <p:nvPr/>
        </p:nvSpPr>
        <p:spPr>
          <a:xfrm>
            <a:off x="621792" y="44916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5785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532811"/>
            <a:ext cx="10527487" cy="568234"/>
          </a:xfrm>
          <a:prstGeom prst="rect">
            <a:avLst/>
          </a:prstGeom>
          <a:noFill/>
        </p:spPr>
        <p:txBody>
          <a:bodyPr wrap="square">
            <a:spAutoFit/>
          </a:bodyPr>
          <a:lstStyle/>
          <a:p>
            <a:pPr>
              <a:spcAft>
                <a:spcPts val="300"/>
              </a:spcAft>
            </a:pPr>
            <a:r>
              <a:rPr sz="1700" b="1" i="0">
                <a:solidFill>
                  <a:srgbClr val="1A1A1A"/>
                </a:solidFill>
                <a:latin typeface="Arial"/>
              </a:rPr>
              <a:t>Confirm and pay.</a:t>
            </a:r>
          </a:p>
        </p:txBody>
      </p:sp>
      <p:sp>
        <p:nvSpPr>
          <p:cNvPr id="21" name="Rectangle 20"/>
          <p:cNvSpPr/>
          <p:nvPr/>
        </p:nvSpPr>
        <p:spPr>
          <a:xfrm>
            <a:off x="621792" y="510561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519248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5146765"/>
            <a:ext cx="10527487" cy="568234"/>
          </a:xfrm>
          <a:prstGeom prst="rect">
            <a:avLst/>
          </a:prstGeom>
          <a:noFill/>
        </p:spPr>
        <p:txBody>
          <a:bodyPr wrap="square">
            <a:spAutoFit/>
          </a:bodyPr>
          <a:lstStyle/>
          <a:p>
            <a:pPr>
              <a:spcAft>
                <a:spcPts val="300"/>
              </a:spcAft>
            </a:pPr>
            <a:r>
              <a:rPr sz="1700" b="1" i="0">
                <a:solidFill>
                  <a:srgbClr val="1A1A1A"/>
                </a:solidFill>
                <a:latin typeface="Arial"/>
              </a:rPr>
              <a:t>Go on to the end of the path.</a:t>
            </a:r>
          </a:p>
        </p:txBody>
      </p:sp>
      <p:sp>
        <p:nvSpPr>
          <p:cNvPr id="24" name="TextBox 23"/>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yet recorded</a:t>
            </a:r>
          </a:p>
        </p:txBody>
      </p:sp>
      <p:sp>
        <p:nvSpPr>
          <p:cNvPr id="25" name="TextBox 2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walk-through is produced from the written screens, never drawn by hand, and every page shows its version.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questions to ask while clicking a walk-through.</a:t>
            </a:r>
          </a:p>
          <a:p>
            <a:pPr algn="l">
              <a:spcAft>
                <a:spcPts val="400"/>
              </a:spcAft>
            </a:pPr>
            <a:r>
              <a:rPr sz="1800" b="0" i="0">
                <a:solidFill>
                  <a:srgbClr val="595959"/>
                </a:solidFill>
                <a:latin typeface="Arial"/>
              </a:rPr>
              <a:t>The prompt in the companion material gives you a list of questions for the official to ask at each page of the walk-through.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review: three people, every open line given a name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owner, the builder and the person who will live with the result agree the screens; nothing leaves the room unowned.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look into it" decides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review you convene ends with a record:</a:t>
            </a:r>
          </a:p>
          <a:p>
            <a:pPr>
              <a:spcAft>
                <a:spcPts val="800"/>
              </a:spcAft>
            </a:pPr>
            <a:r>
              <a:rPr sz="1700" b="0" i="0">
                <a:solidFill>
                  <a:srgbClr val="595959"/>
                </a:solidFill>
                <a:latin typeface="Arial"/>
              </a:rPr>
              <a:t>every open question, the person who owns it, and the date it is due.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seats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owner</a:t>
            </a:r>
          </a:p>
          <a:p>
            <a:pPr>
              <a:spcAft>
                <a:spcPts val="300"/>
              </a:spcAft>
            </a:pPr>
            <a:r>
              <a:rPr sz="1550" b="0" i="0">
                <a:solidFill>
                  <a:srgbClr val="595959"/>
                </a:solidFill>
                <a:latin typeface="Arial"/>
              </a:rPr>
              <a:t>answers for what the documents say.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builder</a:t>
            </a:r>
          </a:p>
          <a:p>
            <a:pPr>
              <a:spcAft>
                <a:spcPts val="300"/>
              </a:spcAft>
            </a:pPr>
            <a:r>
              <a:rPr sz="1550" b="0" i="0">
                <a:solidFill>
                  <a:srgbClr val="595959"/>
                </a:solidFill>
                <a:latin typeface="Arial"/>
              </a:rPr>
              <a:t>says whether he can build without asking anything.</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person who will live with the result</a:t>
            </a:r>
          </a:p>
          <a:p>
            <a:pPr>
              <a:spcAft>
                <a:spcPts val="300"/>
              </a:spcAft>
            </a:pPr>
            <a:r>
              <a:rPr sz="1550" b="0" i="0">
                <a:solidFill>
                  <a:srgbClr val="595959"/>
                </a:solidFill>
                <a:latin typeface="Arial"/>
              </a:rPr>
              <a:t>says whether the screens are her work as she does it.</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convener accepts the record and takes no seat.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every review of screens puts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31570"/>
          </a:xfrm>
          <a:prstGeom prst="rect">
            <a:avLst/>
          </a:prstGeom>
          <a:noFill/>
        </p:spPr>
        <p:txBody>
          <a:bodyPr wrap="square">
            <a:spAutoFit/>
          </a:bodyPr>
          <a:lstStyle/>
          <a:p>
            <a:pPr>
              <a:spcAft>
                <a:spcPts val="300"/>
              </a:spcAft>
            </a:pPr>
            <a:r>
              <a:rPr sz="1900" b="1" i="0">
                <a:solidFill>
                  <a:srgbClr val="1A1A1A"/>
                </a:solidFill>
                <a:latin typeface="Arial"/>
              </a:rPr>
              <a:t>Does every screen serve a step or a failure, and is every one served?</a:t>
            </a:r>
          </a:p>
        </p:txBody>
      </p:sp>
      <p:sp>
        <p:nvSpPr>
          <p:cNvPr id="6" name="Rectangle 5"/>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8605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40330"/>
            <a:ext cx="10527487" cy="1131570"/>
          </a:xfrm>
          <a:prstGeom prst="rect">
            <a:avLst/>
          </a:prstGeom>
          <a:noFill/>
        </p:spPr>
        <p:txBody>
          <a:bodyPr wrap="square">
            <a:spAutoFit/>
          </a:bodyPr>
          <a:lstStyle/>
          <a:p>
            <a:pPr>
              <a:spcAft>
                <a:spcPts val="300"/>
              </a:spcAft>
            </a:pPr>
            <a:r>
              <a:rPr sz="1900" b="1" i="0">
                <a:solidFill>
                  <a:srgbClr val="1A1A1A"/>
                </a:solidFill>
                <a:latin typeface="Arial"/>
              </a:rPr>
              <a:t>Does every value say where it comes from?</a:t>
            </a:r>
          </a:p>
        </p:txBody>
      </p:sp>
      <p:sp>
        <p:nvSpPr>
          <p:cNvPr id="9" name="Rectangle 8"/>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63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17620"/>
            <a:ext cx="10527487" cy="1131570"/>
          </a:xfrm>
          <a:prstGeom prst="rect">
            <a:avLst/>
          </a:prstGeom>
          <a:noFill/>
        </p:spPr>
        <p:txBody>
          <a:bodyPr wrap="square">
            <a:spAutoFit/>
          </a:bodyPr>
          <a:lstStyle/>
          <a:p>
            <a:pPr>
              <a:spcAft>
                <a:spcPts val="300"/>
              </a:spcAft>
            </a:pPr>
            <a:r>
              <a:rPr sz="1900" b="1" i="0">
                <a:solidFill>
                  <a:srgbClr val="1A1A1A"/>
                </a:solidFill>
                <a:latin typeface="Arial"/>
              </a:rPr>
              <a:t>Could the builder build each screen without asking anybody anything?</a:t>
            </a:r>
          </a:p>
        </p:txBody>
      </p:sp>
      <p:sp>
        <p:nvSpPr>
          <p:cNvPr id="12" name="Rectangle 11"/>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4063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94910"/>
            <a:ext cx="10527487" cy="1131570"/>
          </a:xfrm>
          <a:prstGeom prst="rect">
            <a:avLst/>
          </a:prstGeom>
          <a:noFill/>
        </p:spPr>
        <p:txBody>
          <a:bodyPr wrap="square">
            <a:spAutoFit/>
          </a:bodyPr>
          <a:lstStyle/>
          <a:p>
            <a:pPr>
              <a:spcAft>
                <a:spcPts val="300"/>
              </a:spcAft>
            </a:pPr>
            <a:r>
              <a:rPr sz="1900" b="1" i="0">
                <a:solidFill>
                  <a:srgbClr val="1A1A1A"/>
                </a:solidFill>
                <a:latin typeface="Arial"/>
              </a:rPr>
              <a:t>Would the person who will use it recognise it as her work?</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hour, five open lines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Show the fee on S2 as well as S4</a:t>
            </a:r>
          </a:p>
          <a:p>
            <a:pPr>
              <a:spcAft>
                <a:spcPts val="300"/>
              </a:spcAft>
            </a:pPr>
            <a:r>
              <a:rPr sz="1550" b="0" i="0">
                <a:solidFill>
                  <a:srgbClr val="595959"/>
                </a:solidFill>
                <a:latin typeface="Arial"/>
              </a:rPr>
              <a:t>the supplier's analyst  ·  26 November.</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Is a name held by a cancelled institution still held?</a:t>
            </a:r>
          </a:p>
          <a:p>
            <a:pPr>
              <a:spcAft>
                <a:spcPts val="300"/>
              </a:spcAft>
            </a:pPr>
            <a:r>
              <a:rPr sz="1550" b="0" i="0">
                <a:solidFill>
                  <a:srgbClr val="595959"/>
                </a:solidFill>
                <a:latin typeface="Arial"/>
              </a:rPr>
              <a:t>the Registrar  ·  3 December.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The governing board, one member to a line</a:t>
            </a:r>
          </a:p>
          <a:p>
            <a:pPr>
              <a:spcAft>
                <a:spcPts val="300"/>
              </a:spcAft>
            </a:pPr>
            <a:r>
              <a:rPr sz="1550" b="0" i="0">
                <a:solidFill>
                  <a:srgbClr val="595959"/>
                </a:solidFill>
                <a:latin typeface="Arial"/>
              </a:rPr>
              <a:t>the supplier's analyst  ·  26 November.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What may the screen say when PNIA does not answer?</a:t>
            </a:r>
          </a:p>
          <a:p>
            <a:pPr>
              <a:spcAft>
                <a:spcPts val="300"/>
              </a:spcAft>
            </a:pPr>
            <a:r>
              <a:rPr sz="1550" b="0" i="0">
                <a:solidFill>
                  <a:srgbClr val="595959"/>
                </a:solidFill>
                <a:latin typeface="Arial"/>
              </a:rPr>
              <a:t>the head of the ICT unit  ·  3 December.</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Is a printed confirmation asked for anywhere?</a:t>
            </a:r>
          </a:p>
          <a:p>
            <a:pPr>
              <a:spcAft>
                <a:spcPts val="300"/>
              </a:spcAft>
            </a:pPr>
            <a:r>
              <a:rPr sz="1550" b="0" i="0">
                <a:solidFill>
                  <a:srgbClr val="595959"/>
                </a:solidFill>
                <a:latin typeface="Arial"/>
              </a:rPr>
              <a:t>the Registrar  ·  26 November.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After the room</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Screens changed by their owner; the walk-through produced again.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Each answer written into the document that owns the fact.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Accepted when every line is closed, or allowed to stay open with its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Working together, through a gate</a:t>
            </a:r>
          </a:p>
        </p:txBody>
      </p:sp>
      <p:sp>
        <p:nvSpPr>
          <p:cNvPr id="4" name="TextBox 3"/>
          <p:cNvSpPr txBox="1"/>
          <p:nvPr/>
        </p:nvSpPr>
        <p:spPr>
          <a:xfrm>
            <a:off x="658368" y="1463040"/>
            <a:ext cx="10984687" cy="1234440"/>
          </a:xfrm>
          <a:prstGeom prst="rect">
            <a:avLst/>
          </a:prstGeom>
          <a:noFill/>
        </p:spPr>
        <p:txBody>
          <a:bodyPr wrap="square">
            <a:spAutoFit/>
          </a:bodyPr>
          <a:lstStyle/>
          <a:p>
            <a:pPr>
              <a:spcAft>
                <a:spcPts val="300"/>
              </a:spcAft>
            </a:pPr>
            <a:r>
              <a:rPr sz="2200" b="1" i="0">
                <a:solidFill>
                  <a:srgbClr val="1A1A1A"/>
                </a:solidFill>
                <a:latin typeface="Arial"/>
              </a:rPr>
              <a:t>“Robust project governance frameworks.”</a:t>
            </a:r>
          </a:p>
          <a:p>
            <a:pPr>
              <a:spcAft>
                <a:spcPts val="300"/>
              </a:spcAft>
            </a:pPr>
            <a:r>
              <a:rPr sz="1550" b="0" i="0">
                <a:solidFill>
                  <a:srgbClr val="595959"/>
                </a:solidFill>
                <a:latin typeface="Arial"/>
              </a:rPr>
              <a:t>PAERA, section 4.5, Digital Co-creation</a:t>
            </a:r>
          </a:p>
        </p:txBody>
      </p:sp>
      <p:sp>
        <p:nvSpPr>
          <p:cNvPr id="5" name="Rectangle 4"/>
          <p:cNvSpPr/>
          <p:nvPr/>
        </p:nvSpPr>
        <p:spPr>
          <a:xfrm>
            <a:off x="621792" y="2702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10984687" cy="1234440"/>
          </a:xfrm>
          <a:prstGeom prst="rect">
            <a:avLst/>
          </a:prstGeom>
          <a:noFill/>
        </p:spPr>
        <p:txBody>
          <a:bodyPr wrap="square">
            <a:spAutoFit/>
          </a:bodyPr>
          <a:lstStyle/>
          <a:p>
            <a:pPr>
              <a:spcAft>
                <a:spcPts val="300"/>
              </a:spcAft>
            </a:pPr>
            <a:r>
              <a:rPr sz="2200" b="1" i="0">
                <a:solidFill>
                  <a:srgbClr val="1A1A1A"/>
                </a:solidFill>
                <a:latin typeface="Arial"/>
              </a:rPr>
              <a:t>“Stage-gate models with agile iterations.”</a:t>
            </a:r>
          </a:p>
          <a:p>
            <a:pPr>
              <a:spcAft>
                <a:spcPts val="300"/>
              </a:spcAft>
            </a:pPr>
            <a:r>
              <a:rPr sz="1550" b="0" i="0">
                <a:solidFill>
                  <a:srgbClr val="595959"/>
                </a:solidFill>
                <a:latin typeface="Arial"/>
              </a:rPr>
              <a:t>PAERA, section 4.5, Digital Co-creation</a:t>
            </a:r>
          </a:p>
        </p:txBody>
      </p:sp>
      <p:sp>
        <p:nvSpPr>
          <p:cNvPr id="7" name="TextBox 6"/>
          <p:cNvSpPr txBox="1"/>
          <p:nvPr/>
        </p:nvSpPr>
        <p:spPr>
          <a:xfrm>
            <a:off x="658368" y="4133088"/>
            <a:ext cx="10881360" cy="548640"/>
          </a:xfrm>
          <a:prstGeom prst="rect">
            <a:avLst/>
          </a:prstGeom>
          <a:noFill/>
        </p:spPr>
        <p:txBody>
          <a:bodyPr wrap="square">
            <a:spAutoFit/>
          </a:bodyPr>
          <a:lstStyle/>
          <a:p>
            <a:r>
              <a:rPr sz="1550" b="1" i="0">
                <a:solidFill>
                  <a:srgbClr val="006E96"/>
                </a:solidFill>
                <a:latin typeface="Arial"/>
              </a:rPr>
              <a:t>The review is that gate for one goal.</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owner, the builder and the person who will live with the result agree the screens; nothing leaves the room unowned.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review notes into open lines with owners and dates.</a:t>
            </a:r>
          </a:p>
          <a:p>
            <a:pPr algn="l">
              <a:spcAft>
                <a:spcPts val="400"/>
              </a:spcAft>
            </a:pPr>
            <a:r>
              <a:rPr sz="1800" b="0" i="0">
                <a:solidFill>
                  <a:srgbClr val="595959"/>
                </a:solidFill>
                <a:latin typeface="Arial"/>
              </a:rPr>
              <a:t>The prompt in the companion material gives you a list of open lines, each with an owner and a date.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version 1.0 (GovStack, 25.05.2024), section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