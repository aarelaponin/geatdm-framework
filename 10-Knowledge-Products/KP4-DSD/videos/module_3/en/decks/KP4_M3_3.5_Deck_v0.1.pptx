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3" r:id="rId55"/>
    <p:sldId id="2734" r:id="rId56"/>
    <p:sldId id="2735" r:id="rId57"/>
    <p:sldId id="2736" r:id="rId58"/>
    <p:sldId id="2737" r:id="rId59"/>
    <p:sldId id="2738" r:id="rId60"/>
    <p:sldId id="2739" r:id="rId61"/>
    <p:sldId id="2740" r:id="rId62"/>
    <p:sldId id="2741"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Officials cannot judge a service from a list of fields. They can judge it by clicking through it. A walk-through lets them do that before anything is built, and shows them that they are judging the screens the builder will build.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walk-through is a set of simple web pages, one for each screen, linked in the order the person meets them, with the failures as side paths. Nobody draws it. A program produces it from the written screens, so it shows exactly what the screens say and nothing else. When the screens change, the program produces the pages again, from the changed screens.</a:t>
            </a:r>
          </a:p>
          <a:p/>
          <a:p>
            <a:r>
              <a:t>Slide specification: Text-only list. The method's own content; no source is cited.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Nobody corrects a page by hand, because a page corrected by hand no longer shows what the builder will build. A drawing in a presentation tool has the same weakness: it may show what the designer hoped, and nobody can tell which version of the screens it shows. So every page carries a stamp at its top: the screens it was produced from, their version and their date.</a:t>
            </a:r>
          </a:p>
          <a:p/>
          <a:p>
            <a:r>
              <a:t>Slide specification: The core payload.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goal to apply for a provisional licence has five pages, one for each screen, with side pages for the failures and a page for each of the two endings. Every page carries the same stamp: the screens of that goal, version 1.2, of 14 November 2026. The Registrar of PHEQA and the supplier's builder sat at one screen, with the head of the registration desk beside them, and clicked from the first page to the end, then down each side path.</a:t>
            </a:r>
          </a:p>
          <a:p/>
          <a:p>
            <a:r>
              <a:t>Slide specification: The stamp is quoted as the worked example gives it. The date is invented, as every date of the example 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things came up that a list of fields would never have shown. On page 2, the head of the desk asked where the applicant sees the fee. Not until page 4, so the Registrar asked for it beside the standards. On a side page, the Registrar asked whether a name held by an institution whose licence was cancelled is still held. Nobody knew, so it became an open line. On page 5, the builder learnt that the application number is not the register number.</a:t>
            </a:r>
          </a:p>
          <a:p/>
          <a:p>
            <a:r>
              <a:t>Slide specification: Roles,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where the policy side and the technical side of a service meet. The Registrar and the head of the desk recognised their counter in the pages. The builder saw exactly what to build. They pointed at the same page, with the same version stamp, and agreed or disagreed about the same thing. The walk-through gives both sides one shared language, so a decision means the same thing in both rooms.</a:t>
            </a:r>
          </a:p>
          <a:p/>
          <a:p>
            <a:r>
              <a:t>Slide specification: Two text boxes side by side, policy side and technical side, are allowed; labels in plain text only.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DEMONSTRATION SEGMENT — storyboard stand-in until recorded (bundle section 4.8). Replace with the recording of the 3.5 walk-through once its pages are produced in Progressa's names; until then nothing on this slide claims a recording.</a:t>
            </a:r>
          </a:p>
          <a:p/>
          <a:p>
            <a:r>
              <a:t>VO: Here the walk-through is clicked from the first page to the confirmation, and at each page the stamp is checked against the version of the screens. It passes when every page opens, every stamp shows the same version as the screens, and the path ends on the confirmation. Until the recording is made in Progressa's names, a storyboard stands in its place.</a:t>
            </a:r>
          </a:p>
          <a:p/>
          <a:p>
            <a:r>
              <a:t>Slide specification: Replaced by the recording of the 3.5 walkthrough once the pages are produced in Progressa's names. Until then, nothing on this slide claims a recording.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Ask for the walk-through, not a drawing. Check the version stamp on every page, and let the official, not the builder, hold the mouse.</a:t>
            </a:r>
          </a:p>
          <a:p/>
          <a:p>
            <a:r>
              <a:t>Slide specification: The single message, word for word. This subtopic has no Sources slide: it cites no external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walk-through your officials click</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walk-through is produced from the written screens, never drawn by hand, and every page shows its version.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Officials judge a service by clicking through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Not from a list of fields.</a:t>
            </a:r>
          </a:p>
          <a:p>
            <a:pPr>
              <a:spcAft>
                <a:spcPts val="800"/>
              </a:spcAft>
            </a:pPr>
            <a:r>
              <a:rPr sz="1700" b="0" i="0">
                <a:solidFill>
                  <a:srgbClr val="595959"/>
                </a:solidFill>
                <a:latin typeface="Arial"/>
              </a:rPr>
              <a:t>A walk-through lets them do it before anything is built, on the screens the builder will build.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is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Simple web pages, one for each screen, linked in the order the person meets them.</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The failures as side paths.</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Produced by a program from the written screens; nobody draws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Never by hand, and a version on every page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A page corrected by hand no longer shows what the builder will build.</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A drawing may show what the designer hoped.</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page carries a stamp: which screens, which version, which date.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the pages of one goal</a:t>
            </a:r>
          </a:p>
        </p:txBody>
      </p:sp>
      <p:sp>
        <p:nvSpPr>
          <p:cNvPr id="4" name="TextBox 3"/>
          <p:cNvSpPr txBox="1"/>
          <p:nvPr/>
        </p:nvSpPr>
        <p:spPr>
          <a:xfrm>
            <a:off x="658368" y="1965960"/>
            <a:ext cx="10984687" cy="655319"/>
          </a:xfrm>
          <a:prstGeom prst="rect">
            <a:avLst/>
          </a:prstGeom>
          <a:noFill/>
        </p:spPr>
        <p:txBody>
          <a:bodyPr wrap="square">
            <a:spAutoFit/>
          </a:bodyPr>
          <a:lstStyle/>
          <a:p>
            <a:pPr>
              <a:spcAft>
                <a:spcPts val="300"/>
              </a:spcAft>
            </a:pPr>
            <a:r>
              <a:rPr sz="1800" b="1" i="0">
                <a:solidFill>
                  <a:srgbClr val="1A1A1A"/>
                </a:solidFill>
                <a:latin typeface="Arial"/>
              </a:rPr>
              <a:t>Page 1</a:t>
            </a:r>
          </a:p>
          <a:p>
            <a:pPr>
              <a:spcAft>
                <a:spcPts val="300"/>
              </a:spcAft>
            </a:pPr>
            <a:r>
              <a:rPr sz="1550" b="0" i="0">
                <a:solidFill>
                  <a:srgbClr val="595959"/>
                </a:solidFill>
                <a:latin typeface="Arial"/>
              </a:rPr>
              <a:t>ask to apply.</a:t>
            </a:r>
          </a:p>
        </p:txBody>
      </p:sp>
      <p:sp>
        <p:nvSpPr>
          <p:cNvPr id="5" name="Rectangle 4"/>
          <p:cNvSpPr/>
          <p:nvPr/>
        </p:nvSpPr>
        <p:spPr>
          <a:xfrm>
            <a:off x="621792" y="26258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67000"/>
            <a:ext cx="10984687" cy="655319"/>
          </a:xfrm>
          <a:prstGeom prst="rect">
            <a:avLst/>
          </a:prstGeom>
          <a:noFill/>
        </p:spPr>
        <p:txBody>
          <a:bodyPr wrap="square">
            <a:spAutoFit/>
          </a:bodyPr>
          <a:lstStyle/>
          <a:p>
            <a:pPr>
              <a:spcAft>
                <a:spcPts val="300"/>
              </a:spcAft>
            </a:pPr>
            <a:r>
              <a:rPr sz="1800" b="1" i="0">
                <a:solidFill>
                  <a:srgbClr val="1A1A1A"/>
                </a:solidFill>
                <a:latin typeface="Arial"/>
              </a:rPr>
              <a:t>Page 2</a:t>
            </a:r>
          </a:p>
          <a:p>
            <a:pPr>
              <a:spcAft>
                <a:spcPts val="300"/>
              </a:spcAft>
            </a:pPr>
            <a:r>
              <a:rPr sz="1550" b="0" i="0">
                <a:solidFill>
                  <a:srgbClr val="595959"/>
                </a:solidFill>
                <a:latin typeface="Arial"/>
              </a:rPr>
              <a:t>the standards and the kind of institution.</a:t>
            </a:r>
          </a:p>
        </p:txBody>
      </p:sp>
      <p:sp>
        <p:nvSpPr>
          <p:cNvPr id="7" name="Rectangle 6"/>
          <p:cNvSpPr/>
          <p:nvPr/>
        </p:nvSpPr>
        <p:spPr>
          <a:xfrm>
            <a:off x="621792" y="3326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68040"/>
            <a:ext cx="10984687" cy="655319"/>
          </a:xfrm>
          <a:prstGeom prst="rect">
            <a:avLst/>
          </a:prstGeom>
          <a:noFill/>
        </p:spPr>
        <p:txBody>
          <a:bodyPr wrap="square">
            <a:spAutoFit/>
          </a:bodyPr>
          <a:lstStyle/>
          <a:p>
            <a:pPr>
              <a:spcAft>
                <a:spcPts val="300"/>
              </a:spcAft>
            </a:pPr>
            <a:r>
              <a:rPr sz="1800" b="1" i="0">
                <a:solidFill>
                  <a:srgbClr val="1A1A1A"/>
                </a:solidFill>
                <a:latin typeface="Arial"/>
              </a:rPr>
              <a:t>Page 3</a:t>
            </a:r>
          </a:p>
          <a:p>
            <a:pPr>
              <a:spcAft>
                <a:spcPts val="300"/>
              </a:spcAft>
            </a:pPr>
            <a:r>
              <a:rPr sz="1550" b="0" i="0">
                <a:solidFill>
                  <a:srgbClr val="595959"/>
                </a:solidFill>
                <a:latin typeface="Arial"/>
              </a:rPr>
              <a:t>the particulars; side pages: a document left out, a name already held.</a:t>
            </a:r>
          </a:p>
        </p:txBody>
      </p:sp>
      <p:sp>
        <p:nvSpPr>
          <p:cNvPr id="9" name="Rectangle 8"/>
          <p:cNvSpPr/>
          <p:nvPr/>
        </p:nvSpPr>
        <p:spPr>
          <a:xfrm>
            <a:off x="621792" y="40279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69079"/>
            <a:ext cx="10984687" cy="655319"/>
          </a:xfrm>
          <a:prstGeom prst="rect">
            <a:avLst/>
          </a:prstGeom>
          <a:noFill/>
        </p:spPr>
        <p:txBody>
          <a:bodyPr wrap="square">
            <a:spAutoFit/>
          </a:bodyPr>
          <a:lstStyle/>
          <a:p>
            <a:pPr>
              <a:spcAft>
                <a:spcPts val="300"/>
              </a:spcAft>
            </a:pPr>
            <a:r>
              <a:rPr sz="1800" b="1" i="0">
                <a:solidFill>
                  <a:srgbClr val="1A1A1A"/>
                </a:solidFill>
                <a:latin typeface="Arial"/>
              </a:rPr>
              <a:t>Page 4</a:t>
            </a:r>
          </a:p>
          <a:p>
            <a:pPr>
              <a:spcAft>
                <a:spcPts val="300"/>
              </a:spcAft>
            </a:pPr>
            <a:r>
              <a:rPr sz="1550" b="0" i="0">
                <a:solidFill>
                  <a:srgbClr val="595959"/>
                </a:solidFill>
                <a:latin typeface="Arial"/>
              </a:rPr>
              <a:t>confirm and pay; side page: the fee not recorded.</a:t>
            </a:r>
          </a:p>
        </p:txBody>
      </p:sp>
      <p:sp>
        <p:nvSpPr>
          <p:cNvPr id="11" name="Rectangle 10"/>
          <p:cNvSpPr/>
          <p:nvPr/>
        </p:nvSpPr>
        <p:spPr>
          <a:xfrm>
            <a:off x="621792" y="47289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770120"/>
            <a:ext cx="10984687" cy="655319"/>
          </a:xfrm>
          <a:prstGeom prst="rect">
            <a:avLst/>
          </a:prstGeom>
          <a:noFill/>
        </p:spPr>
        <p:txBody>
          <a:bodyPr wrap="square">
            <a:spAutoFit/>
          </a:bodyPr>
          <a:lstStyle/>
          <a:p>
            <a:pPr>
              <a:spcAft>
                <a:spcPts val="300"/>
              </a:spcAft>
            </a:pPr>
            <a:r>
              <a:rPr sz="1800" b="1" i="0">
                <a:solidFill>
                  <a:srgbClr val="1A1A1A"/>
                </a:solidFill>
                <a:latin typeface="Arial"/>
              </a:rPr>
              <a:t>Page 5</a:t>
            </a:r>
          </a:p>
          <a:p>
            <a:pPr>
              <a:spcAft>
                <a:spcPts val="300"/>
              </a:spcAft>
            </a:pPr>
            <a:r>
              <a:rPr sz="1550" b="0" i="0">
                <a:solidFill>
                  <a:srgbClr val="595959"/>
                </a:solidFill>
                <a:latin typeface="Arial"/>
              </a:rPr>
              <a:t>the application received.</a:t>
            </a:r>
          </a:p>
        </p:txBody>
      </p:sp>
      <p:sp>
        <p:nvSpPr>
          <p:cNvPr id="13" name="Rectangle 12"/>
          <p:cNvSpPr/>
          <p:nvPr/>
        </p:nvSpPr>
        <p:spPr>
          <a:xfrm>
            <a:off x="621792" y="5430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471159"/>
            <a:ext cx="10984687" cy="655319"/>
          </a:xfrm>
          <a:prstGeom prst="rect">
            <a:avLst/>
          </a:prstGeom>
          <a:noFill/>
        </p:spPr>
        <p:txBody>
          <a:bodyPr wrap="square">
            <a:spAutoFit/>
          </a:bodyPr>
          <a:lstStyle/>
          <a:p>
            <a:pPr>
              <a:spcAft>
                <a:spcPts val="300"/>
              </a:spcAft>
            </a:pPr>
            <a:r>
              <a:rPr sz="1800" b="1" i="0">
                <a:solidFill>
                  <a:srgbClr val="1A1A1A"/>
                </a:solidFill>
                <a:latin typeface="Arial"/>
              </a:rPr>
              <a:t>Two endings: received, or nothing recorded.</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
        <p:nvSpPr>
          <p:cNvPr id="16" name="TextBox 15"/>
          <p:cNvSpPr txBox="1"/>
          <p:nvPr/>
        </p:nvSpPr>
        <p:spPr>
          <a:xfrm>
            <a:off x="658368" y="1325880"/>
            <a:ext cx="10881360" cy="457200"/>
          </a:xfrm>
          <a:prstGeom prst="rect">
            <a:avLst/>
          </a:prstGeom>
          <a:noFill/>
        </p:spPr>
        <p:txBody>
          <a:bodyPr wrap="square">
            <a:spAutoFit/>
          </a:bodyPr>
          <a:lstStyle/>
          <a:p>
            <a:r>
              <a:rPr sz="1600" b="1" i="1">
                <a:solidFill>
                  <a:srgbClr val="006E96"/>
                </a:solidFill>
                <a:latin typeface="Arial"/>
              </a:rPr>
              <a:t>Screens of apply for a provisional licence, version 1.2, 14 November 2026.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clicking found</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Page 2: the fee is not shown until page 4. Show it beside the standards.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side page: is a name held by an institution whose licence was cancelled still held? An open line.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Page 5: the application number is not the register number. Builder and desk now agree.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shared picture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The policy side recognises its counter.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technical side sees exactly what to build.</a:t>
            </a:r>
          </a:p>
        </p:txBody>
      </p:sp>
      <p:sp>
        <p:nvSpPr>
          <p:cNvPr id="7" name="TextBox 6"/>
          <p:cNvSpPr txBox="1"/>
          <p:nvPr/>
        </p:nvSpPr>
        <p:spPr>
          <a:xfrm>
            <a:off x="658368" y="3675887"/>
            <a:ext cx="10881360" cy="548640"/>
          </a:xfrm>
          <a:prstGeom prst="rect">
            <a:avLst/>
          </a:prstGeom>
          <a:noFill/>
        </p:spPr>
        <p:txBody>
          <a:bodyPr wrap="square">
            <a:spAutoFit/>
          </a:bodyPr>
          <a:lstStyle/>
          <a:p>
            <a:r>
              <a:rPr sz="1550" b="1" i="0">
                <a:solidFill>
                  <a:srgbClr val="006E96"/>
                </a:solidFill>
                <a:latin typeface="Arial"/>
              </a:rPr>
              <a:t>The same page, the same version, the same question.</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walk-through, clicked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568234"/>
          </a:xfrm>
          <a:prstGeom prst="rect">
            <a:avLst/>
          </a:prstGeom>
          <a:noFill/>
        </p:spPr>
        <p:txBody>
          <a:bodyPr wrap="square">
            <a:spAutoFit/>
          </a:bodyPr>
          <a:lstStyle/>
          <a:p>
            <a:pPr>
              <a:spcAft>
                <a:spcPts val="300"/>
              </a:spcAft>
            </a:pPr>
            <a:r>
              <a:rPr sz="1700" b="1" i="0">
                <a:solidFill>
                  <a:srgbClr val="1A1A1A"/>
                </a:solidFill>
                <a:latin typeface="Arial"/>
              </a:rPr>
              <a:t>Open the screen record of the goal 'apply for a provisional licence' at the version to be accepted.</a:t>
            </a:r>
          </a:p>
        </p:txBody>
      </p:sp>
      <p:sp>
        <p:nvSpPr>
          <p:cNvPr id="6" name="Rectangle 5"/>
          <p:cNvSpPr/>
          <p:nvPr/>
        </p:nvSpPr>
        <p:spPr>
          <a:xfrm>
            <a:off x="621792" y="203584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2271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076994"/>
            <a:ext cx="10527487" cy="568234"/>
          </a:xfrm>
          <a:prstGeom prst="rect">
            <a:avLst/>
          </a:prstGeom>
          <a:noFill/>
        </p:spPr>
        <p:txBody>
          <a:bodyPr wrap="square">
            <a:spAutoFit/>
          </a:bodyPr>
          <a:lstStyle/>
          <a:p>
            <a:pPr>
              <a:spcAft>
                <a:spcPts val="300"/>
              </a:spcAft>
            </a:pPr>
            <a:r>
              <a:rPr sz="1700" b="1" i="0">
                <a:solidFill>
                  <a:srgbClr val="1A1A1A"/>
                </a:solidFill>
                <a:latin typeface="Arial"/>
              </a:rPr>
              <a:t>Open page 1 of the walk-through in a browser.</a:t>
            </a:r>
          </a:p>
        </p:txBody>
      </p:sp>
      <p:sp>
        <p:nvSpPr>
          <p:cNvPr id="9" name="Rectangle 8"/>
          <p:cNvSpPr/>
          <p:nvPr/>
        </p:nvSpPr>
        <p:spPr>
          <a:xfrm>
            <a:off x="621792" y="26498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7366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690948"/>
            <a:ext cx="10527487" cy="568234"/>
          </a:xfrm>
          <a:prstGeom prst="rect">
            <a:avLst/>
          </a:prstGeom>
          <a:noFill/>
        </p:spPr>
        <p:txBody>
          <a:bodyPr wrap="square">
            <a:spAutoFit/>
          </a:bodyPr>
          <a:lstStyle/>
          <a:p>
            <a:pPr>
              <a:spcAft>
                <a:spcPts val="300"/>
              </a:spcAft>
            </a:pPr>
            <a:r>
              <a:rPr sz="1700" b="1" i="0">
                <a:solidFill>
                  <a:srgbClr val="1A1A1A"/>
                </a:solidFill>
                <a:latin typeface="Arial"/>
              </a:rPr>
              <a:t>Click the button to apply for a provisional licence.</a:t>
            </a:r>
          </a:p>
        </p:txBody>
      </p:sp>
      <p:sp>
        <p:nvSpPr>
          <p:cNvPr id="12" name="Rectangle 11"/>
          <p:cNvSpPr/>
          <p:nvPr/>
        </p:nvSpPr>
        <p:spPr>
          <a:xfrm>
            <a:off x="621792" y="326375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35062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304902"/>
            <a:ext cx="10527487" cy="568234"/>
          </a:xfrm>
          <a:prstGeom prst="rect">
            <a:avLst/>
          </a:prstGeom>
          <a:noFill/>
        </p:spPr>
        <p:txBody>
          <a:bodyPr wrap="square">
            <a:spAutoFit/>
          </a:bodyPr>
          <a:lstStyle/>
          <a:p>
            <a:pPr>
              <a:spcAft>
                <a:spcPts val="300"/>
              </a:spcAft>
            </a:pPr>
            <a:r>
              <a:rPr sz="1700" b="1" i="0">
                <a:solidFill>
                  <a:srgbClr val="1A1A1A"/>
                </a:solidFill>
                <a:latin typeface="Arial"/>
              </a:rPr>
              <a:t>Choose a kind of institution and go on.</a:t>
            </a:r>
          </a:p>
        </p:txBody>
      </p:sp>
      <p:sp>
        <p:nvSpPr>
          <p:cNvPr id="15" name="Rectangle 14"/>
          <p:cNvSpPr/>
          <p:nvPr/>
        </p:nvSpPr>
        <p:spPr>
          <a:xfrm>
            <a:off x="621792" y="387770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396457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3918857"/>
            <a:ext cx="10527487" cy="568234"/>
          </a:xfrm>
          <a:prstGeom prst="rect">
            <a:avLst/>
          </a:prstGeom>
          <a:noFill/>
        </p:spPr>
        <p:txBody>
          <a:bodyPr wrap="square">
            <a:spAutoFit/>
          </a:bodyPr>
          <a:lstStyle/>
          <a:p>
            <a:pPr>
              <a:spcAft>
                <a:spcPts val="300"/>
              </a:spcAft>
            </a:pPr>
            <a:r>
              <a:rPr sz="1700" b="1" i="0">
                <a:solidFill>
                  <a:srgbClr val="1A1A1A"/>
                </a:solidFill>
                <a:latin typeface="Arial"/>
              </a:rPr>
              <a:t>Go on to confirm.</a:t>
            </a:r>
          </a:p>
        </p:txBody>
      </p:sp>
      <p:sp>
        <p:nvSpPr>
          <p:cNvPr id="18" name="Rectangle 17"/>
          <p:cNvSpPr/>
          <p:nvPr/>
        </p:nvSpPr>
        <p:spPr>
          <a:xfrm>
            <a:off x="621792" y="44916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45785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4532811"/>
            <a:ext cx="10527487" cy="568234"/>
          </a:xfrm>
          <a:prstGeom prst="rect">
            <a:avLst/>
          </a:prstGeom>
          <a:noFill/>
        </p:spPr>
        <p:txBody>
          <a:bodyPr wrap="square">
            <a:spAutoFit/>
          </a:bodyPr>
          <a:lstStyle/>
          <a:p>
            <a:pPr>
              <a:spcAft>
                <a:spcPts val="300"/>
              </a:spcAft>
            </a:pPr>
            <a:r>
              <a:rPr sz="1700" b="1" i="0">
                <a:solidFill>
                  <a:srgbClr val="1A1A1A"/>
                </a:solidFill>
                <a:latin typeface="Arial"/>
              </a:rPr>
              <a:t>Confirm and pay.</a:t>
            </a:r>
          </a:p>
        </p:txBody>
      </p:sp>
      <p:sp>
        <p:nvSpPr>
          <p:cNvPr id="21" name="Rectangle 20"/>
          <p:cNvSpPr/>
          <p:nvPr/>
        </p:nvSpPr>
        <p:spPr>
          <a:xfrm>
            <a:off x="621792" y="510561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519248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7</a:t>
            </a:r>
          </a:p>
        </p:txBody>
      </p:sp>
      <p:sp>
        <p:nvSpPr>
          <p:cNvPr id="23" name="TextBox 22"/>
          <p:cNvSpPr txBox="1"/>
          <p:nvPr/>
        </p:nvSpPr>
        <p:spPr>
          <a:xfrm>
            <a:off x="1115568" y="5146765"/>
            <a:ext cx="10527487" cy="568234"/>
          </a:xfrm>
          <a:prstGeom prst="rect">
            <a:avLst/>
          </a:prstGeom>
          <a:noFill/>
        </p:spPr>
        <p:txBody>
          <a:bodyPr wrap="square">
            <a:spAutoFit/>
          </a:bodyPr>
          <a:lstStyle/>
          <a:p>
            <a:pPr>
              <a:spcAft>
                <a:spcPts val="300"/>
              </a:spcAft>
            </a:pPr>
            <a:r>
              <a:rPr sz="1700" b="1" i="0">
                <a:solidFill>
                  <a:srgbClr val="1A1A1A"/>
                </a:solidFill>
                <a:latin typeface="Arial"/>
              </a:rPr>
              <a:t>Go on to the end of the path.</a:t>
            </a:r>
          </a:p>
        </p:txBody>
      </p:sp>
      <p:sp>
        <p:nvSpPr>
          <p:cNvPr id="24" name="TextBox 23"/>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yet recorded</a:t>
            </a:r>
          </a:p>
        </p:txBody>
      </p:sp>
      <p:sp>
        <p:nvSpPr>
          <p:cNvPr id="25" name="TextBox 2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walk-through is produced from the written screens, never drawn by hand, and every page shows its version.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questions to ask while clicking a walk-through.</a:t>
            </a:r>
          </a:p>
          <a:p>
            <a:pPr algn="l">
              <a:spcAft>
                <a:spcPts val="400"/>
              </a:spcAft>
            </a:pPr>
            <a:r>
              <a:rPr sz="1800" b="0" i="0">
                <a:solidFill>
                  <a:srgbClr val="595959"/>
                </a:solidFill>
                <a:latin typeface="Arial"/>
              </a:rPr>
              <a:t>The prompt in the companion material gives you a list of questions for the official to ask at each page of the walk-through.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