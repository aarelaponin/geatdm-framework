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supplier's offer often promises a working system and its documentation. Neither phrase says what you will receive, or who on your side decides that it is good enough. Both can be settled in the contract, before any work begins.</a:t>
            </a:r>
          </a:p>
          <a:p/>
          <a:p>
            <a:r>
              <a:t>Retrieval prompt — ask before playing on: how many deliverables should the contract name?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short for specification-driven development, writes a service down in twelve documents, in a fixed order. The first is your own: the law, the mandate and the requests, handed over and never edited. Seven more are written before anything is built: what was asked, the records the service keeps, the goals, the architecture, the shared lists and settings, each goal written as a story, and its screens. Then come the walk-through your officials click, the decisions settled once for the whole application, and the one file a program reads. The twelfth is the working application itself. Each of the twelve can be named in the contract as a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deliverable, the contract names three things. The first is the form, a blank instrument the document is written on, so that what arrives can be compared with what was ordered. The second is the person in your organisation who accepts it, named by role: the director who owns the service, or the head of the ICT unit for the technical documents. The supplier never accepts its own work. The third is the check the document must pass before it is accepted: its own checklist, a comparison with an earlier document, or a program. The next document is written only from what was accepted.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clauses protect you most. The first says that the working application is generated from the accepted model, the one file a program reads, and that nothing generated is edited by hand. A supplier who patches the running system leaves your documents saying one thing while the system does another. The second clause says that every open question is delivered with an owner and a date. A question with a name on it is part of what you receive. A question the supplier answered with a guess is a fault in the delivery.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Progressa's ministry of education, MoEYS, writes it, in an example built for this course. Its annex lists all twelve documents. The Director of Higher Education accepts the register of what was asked. The screens of each goal are accepted at a review of three people: their owner, the builder and the officer who will use them. The head of the ICT unit approves the file a program reads, once a program has checked it. And the working application is accepted only when an officer has finished a real task on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the twelve documents as deliverables. For each one, name its form, the person on your side who accepts it, and the check it must pass.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to require from a supplier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twelve documents are deliverables you name in the contract, each accepted by a named person.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working system and its documentation." What will you receive?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Neither phrase says what you receive, or who on your side decides it is good enough.</a:t>
            </a:r>
          </a:p>
          <a:p>
            <a:pPr>
              <a:spcAft>
                <a:spcPts val="800"/>
              </a:spcAft>
            </a:pPr>
            <a:r>
              <a:rPr sz="1700" b="0" i="0">
                <a:solidFill>
                  <a:srgbClr val="595959"/>
                </a:solidFill>
                <a:latin typeface="Arial"/>
              </a:rPr>
              <a:t>Both can be settled in the contract, before any work begins.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Twelve deliverables, not one system</a:t>
            </a:r>
          </a:p>
        </p:txBody>
      </p:sp>
      <p:pic>
        <p:nvPicPr>
          <p:cNvPr id="4" name="kp4-figure F3" descr="F3_twelve-documents.png"/>
          <p:cNvPicPr>
            <a:picLocks noChangeAspect="1"/>
          </p:cNvPicPr>
          <p:nvPr/>
        </p:nvPicPr>
        <p:blipFill>
          <a:blip r:embed="rId2"/>
          <a:stretch>
            <a:fillRect/>
          </a:stretch>
        </p:blipFill>
        <p:spPr>
          <a:xfrm>
            <a:off x="1008169" y="1280160"/>
            <a:ext cx="10181757"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for each deliverable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The form</a:t>
            </a:r>
          </a:p>
          <a:p>
            <a:pPr>
              <a:spcAft>
                <a:spcPts val="300"/>
              </a:spcAft>
            </a:pPr>
            <a:r>
              <a:rPr sz="1600" b="0" i="0">
                <a:solidFill>
                  <a:srgbClr val="595959"/>
                </a:solidFill>
                <a:latin typeface="Arial"/>
              </a:rPr>
              <a:t>the blank instrument it is written 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The person</a:t>
            </a:r>
          </a:p>
          <a:p>
            <a:pPr>
              <a:spcAft>
                <a:spcPts val="300"/>
              </a:spcAft>
            </a:pPr>
            <a:r>
              <a:rPr sz="1600" b="0" i="0">
                <a:solidFill>
                  <a:srgbClr val="595959"/>
                </a:solidFill>
                <a:latin typeface="Arial"/>
              </a:rPr>
              <a:t>who in your organisation accepts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check</a:t>
            </a:r>
          </a:p>
          <a:p>
            <a:pPr>
              <a:spcAft>
                <a:spcPts val="300"/>
              </a:spcAft>
            </a:pPr>
            <a:r>
              <a:rPr sz="1600" b="0" i="0">
                <a:solidFill>
                  <a:srgbClr val="595959"/>
                </a:solidFill>
                <a:latin typeface="Arial"/>
              </a:rPr>
              <a:t>what it must pass before it is accepted.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clauses that protect you</a:t>
            </a:r>
          </a:p>
        </p:txBody>
      </p:sp>
      <p:sp>
        <p:nvSpPr>
          <p:cNvPr id="4" name="TextBox 3"/>
          <p:cNvSpPr txBox="1"/>
          <p:nvPr/>
        </p:nvSpPr>
        <p:spPr>
          <a:xfrm>
            <a:off x="658368" y="1463040"/>
            <a:ext cx="10984687" cy="2308860"/>
          </a:xfrm>
          <a:prstGeom prst="rect">
            <a:avLst/>
          </a:prstGeom>
          <a:noFill/>
        </p:spPr>
        <p:txBody>
          <a:bodyPr wrap="square">
            <a:spAutoFit/>
          </a:bodyPr>
          <a:lstStyle/>
          <a:p>
            <a:pPr>
              <a:spcAft>
                <a:spcPts val="300"/>
              </a:spcAft>
            </a:pPr>
            <a:r>
              <a:rPr sz="2200" b="1" i="0">
                <a:solidFill>
                  <a:srgbClr val="1A1A1A"/>
                </a:solidFill>
                <a:latin typeface="Arial"/>
              </a:rPr>
              <a:t>The application is generated from the accepted model, and nothing generated is edited by hand.</a:t>
            </a:r>
          </a:p>
        </p:txBody>
      </p:sp>
      <p:sp>
        <p:nvSpPr>
          <p:cNvPr id="5" name="Rectangle 4"/>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817620"/>
            <a:ext cx="10984687" cy="2308860"/>
          </a:xfrm>
          <a:prstGeom prst="rect">
            <a:avLst/>
          </a:prstGeom>
          <a:noFill/>
        </p:spPr>
        <p:txBody>
          <a:bodyPr wrap="square">
            <a:spAutoFit/>
          </a:bodyPr>
          <a:lstStyle/>
          <a:p>
            <a:pPr>
              <a:spcAft>
                <a:spcPts val="300"/>
              </a:spcAft>
            </a:pPr>
            <a:r>
              <a:rPr sz="2200" b="1" i="0">
                <a:solidFill>
                  <a:srgbClr val="1A1A1A"/>
                </a:solidFill>
                <a:latin typeface="Arial"/>
              </a:rPr>
              <a:t>Every open question is delivered with an owner and a date.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MoEYS's deliverables annex (illustrative)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register of what was asked</a:t>
            </a:r>
          </a:p>
          <a:p>
            <a:pPr>
              <a:spcAft>
                <a:spcPts val="300"/>
              </a:spcAft>
            </a:pPr>
            <a:r>
              <a:rPr sz="1600" b="0" i="0">
                <a:solidFill>
                  <a:srgbClr val="595959"/>
                </a:solidFill>
                <a:latin typeface="Arial"/>
              </a:rPr>
              <a:t>accepted by the Director of Higher Education — its own checklist.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screens of each goal</a:t>
            </a:r>
          </a:p>
          <a:p>
            <a:pPr>
              <a:spcAft>
                <a:spcPts val="300"/>
              </a:spcAft>
            </a:pPr>
            <a:r>
              <a:rPr sz="1600" b="0" i="0">
                <a:solidFill>
                  <a:srgbClr val="595959"/>
                </a:solidFill>
                <a:latin typeface="Arial"/>
              </a:rPr>
              <a:t>accepted at a review of three people — checked against the goal's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file a program reads</a:t>
            </a:r>
          </a:p>
          <a:p>
            <a:pPr>
              <a:spcAft>
                <a:spcPts val="300"/>
              </a:spcAft>
            </a:pPr>
            <a:r>
              <a:rPr sz="1600" b="0" i="0">
                <a:solidFill>
                  <a:srgbClr val="595959"/>
                </a:solidFill>
                <a:latin typeface="Arial"/>
              </a:rPr>
              <a:t>approved by the head of the ICT unit — a program refuses it if it contradicts an accepted decision.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working application</a:t>
            </a:r>
          </a:p>
          <a:p>
            <a:pPr>
              <a:spcAft>
                <a:spcPts val="300"/>
              </a:spcAft>
            </a:pPr>
            <a:r>
              <a:rPr sz="1600" b="0" i="0">
                <a:solidFill>
                  <a:srgbClr val="595959"/>
                </a:solidFill>
                <a:latin typeface="Arial"/>
              </a:rPr>
              <a:t>accepted when an officer has finished a real task on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twelve documents are deliverables you name in the contract, each accepted by a named person.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deliverables annex of a terms of reference.</a:t>
            </a:r>
          </a:p>
          <a:p>
            <a:pPr algn="l">
              <a:spcAft>
                <a:spcPts val="400"/>
              </a:spcAft>
            </a:pPr>
            <a:r>
              <a:rPr sz="1800" b="0" i="0">
                <a:solidFill>
                  <a:srgbClr val="595959"/>
                </a:solidFill>
                <a:latin typeface="Arial"/>
              </a:rPr>
              <a:t>The prompt in the companion material gives you a deliverables annex with one row for each of the twelve documents.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What to require from a supplier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