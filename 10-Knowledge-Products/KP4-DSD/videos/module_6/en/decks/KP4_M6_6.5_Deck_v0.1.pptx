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24" r:id="rId17"/>
    <p:sldId id="2725" r:id="rId16"/>
    <p:sldId id="2726" r:id="rId15"/>
    <p:sldId id="2727" r:id="rId14"/>
    <p:sldId id="2728" r:id="rId13"/>
    <p:sldId id="2729" r:id="rId12"/>
    <p:sldId id="2730" r:id="rId11"/>
    <p:sldId id="273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0" Type="http://schemas.openxmlformats.org/officeDocument/2006/relationships/slide" Target="slides/slide38.xml"/><Relationship Id="rId11" Type="http://schemas.openxmlformats.org/officeDocument/2006/relationships/slide" Target="slides/slide37.xml"/><Relationship Id="rId12" Type="http://schemas.openxmlformats.org/officeDocument/2006/relationships/slide" Target="slides/slide36.xml"/><Relationship Id="rId13" Type="http://schemas.openxmlformats.org/officeDocument/2006/relationships/slide" Target="slides/slide35.xml"/><Relationship Id="rId14" Type="http://schemas.openxmlformats.org/officeDocument/2006/relationships/slide" Target="slides/slide34.xml"/><Relationship Id="rId15" Type="http://schemas.openxmlformats.org/officeDocument/2006/relationships/slide" Target="slides/slide33.xml"/><Relationship Id="rId16" Type="http://schemas.openxmlformats.org/officeDocument/2006/relationships/slide" Target="slides/slide32.xml"/><Relationship Id="rId17" Type="http://schemas.openxmlformats.org/officeDocument/2006/relationships/slide" Target="slides/slide31.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 Progressa, private institutions now register with the quality authority once, and the ministry reads that register instead of asking again. The next request is already on the table: graduates want proof of their degree that an employer can trust.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Inside one project, building your own list of institutions or your own sign-in always looks faster. That is what a project is paid to do. Procurement rules can make each contract cheaper, but only whole-of-government planning makes re-use possible. The sum that makes re-use worth it, one block paid for and many services carried, exists only at the level of the sector. UNDP describes digital public infrastructure as a set of shared digital systems. PAERA, the GovStack reference architecture, says that digital public infrastructure is not neutral and shapes what can be built on top of it. The first service chose the foundation; the second one builds on it.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second service is a digital credential for a graduate. It is already a row of Progressa's catalogue of services, owed by the digital credentials authority, PDCA, and the row shows what it rests on. The graduate signs in through the identity authority's sign-in, the same one the first service uses. PDCA reads the quality authority's register of institutions across Linkup, the data exchange, under the rules the register's keeper sets. One rule matters most: a credential is issued only for an institution whose licence is granted. PDCA keeps no copy of the register. None of these is built again.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one new block is the credential itself. Of the roles the W3C standard for verifiable credentials names, three matter here. The issuer, here PDCA, gives the credential to the holder, the graduate. The holder stores it in what the standard calls a credential repository: for a person, usually a digital wallet. When an employer needs proof, the graduate presents the credential, in what the standard calls a verifiable presentation, and the employer, as the verifier, checks it. UNDP's compendium on digital public infrastructure counts verifiable credentials among the trust services that come with digital identity.</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method does not change for the second service. PDCA's team writes the same twelve documents, in the same order, each accepted by a named person. What changes is the architecture. Most of its crossings already exist, and each one is confirmed with the body that keeps the block: the identity authority for the sign-in, the quality authority for the register. The second service pays for what it adds, the credential and the wallet, and not for the foundation the first one built. Each confirmation is written down before the plan is approved. For the minister, that is the argument in one line: the foundation is already paid for.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The second service reuses the sign-in, the register and the exchange that the first one built and proved. It adds only the credential.</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7.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6 · VIDEO 6.5</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6.5</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next service on the same foundation</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second service, a digital credential, reuses what the first one built and proved.</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next request is already on the table.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Institutions register once with the quality authority, and the ministry reads that register.</a:t>
            </a:r>
          </a:p>
          <a:p>
            <a:pPr>
              <a:spcAft>
                <a:spcPts val="800"/>
              </a:spcAft>
            </a:pPr>
            <a:r>
              <a:rPr sz="1700" b="0" i="0">
                <a:solidFill>
                  <a:srgbClr val="595959"/>
                </a:solidFill>
                <a:latin typeface="Arial"/>
              </a:rPr>
              <a:t>Now graduates want proof of their degree that an employer can trust.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6.5 · The next service on the same foundation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Planning enables re-use</a:t>
            </a:r>
          </a:p>
        </p:txBody>
      </p:sp>
      <p:pic>
        <p:nvPicPr>
          <p:cNvPr id="4" name="kp4-figure F5" descr="F5_sector-catalogue.png"/>
          <p:cNvPicPr>
            <a:picLocks noChangeAspect="1"/>
          </p:cNvPicPr>
          <p:nvPr/>
        </p:nvPicPr>
        <p:blipFill>
          <a:blip r:embed="rId2"/>
          <a:stretch>
            <a:fillRect/>
          </a:stretch>
        </p:blipFill>
        <p:spPr>
          <a:xfrm>
            <a:off x="1758834" y="1280160"/>
            <a:ext cx="8680426" cy="5074920"/>
          </a:xfrm>
          <a:prstGeom prst="rect">
            <a:avLst/>
          </a:prstGeom>
        </p:spPr>
      </p:pic>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6.5 · The next service on the same foundation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credential, one row of the catalogue</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Issue a learner's credential</a:t>
            </a:r>
          </a:p>
          <a:p>
            <a:pPr>
              <a:spcAft>
                <a:spcPts val="300"/>
              </a:spcAft>
            </a:pPr>
            <a:r>
              <a:rPr sz="1600" b="0" i="0">
                <a:solidFill>
                  <a:srgbClr val="595959"/>
                </a:solidFill>
                <a:latin typeface="Arial"/>
              </a:rPr>
              <a:t>owed by PDCA.</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Reuses</a:t>
            </a:r>
          </a:p>
          <a:p>
            <a:pPr>
              <a:spcAft>
                <a:spcPts val="300"/>
              </a:spcAft>
            </a:pPr>
            <a:r>
              <a:rPr sz="1600" b="0" i="0">
                <a:solidFill>
                  <a:srgbClr val="595959"/>
                </a:solidFill>
                <a:latin typeface="Arial"/>
              </a:rPr>
              <a:t>PNIA's sign-in.</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Reuses</a:t>
            </a:r>
          </a:p>
          <a:p>
            <a:pPr>
              <a:spcAft>
                <a:spcPts val="300"/>
              </a:spcAft>
            </a:pPr>
            <a:r>
              <a:rPr sz="1600" b="0" i="0">
                <a:solidFill>
                  <a:srgbClr val="595959"/>
                </a:solidFill>
                <a:latin typeface="Arial"/>
              </a:rPr>
              <a:t>PHEQA's register of institutions, read across Linkup.</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Adds</a:t>
            </a:r>
          </a:p>
          <a:p>
            <a:pPr>
              <a:spcAft>
                <a:spcPts val="300"/>
              </a:spcAft>
            </a:pPr>
            <a:r>
              <a:rPr sz="1600" b="0" i="0">
                <a:solidFill>
                  <a:srgbClr val="595959"/>
                </a:solidFill>
                <a:latin typeface="Arial"/>
              </a:rPr>
              <a:t>the credential, kept in the graduate's wallet.</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6.5 · The next service on the same foundation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of the roles in the W3C standard</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The issuer gives the credential to the holder.</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The holder keeps it, for example in a digital wallet.</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The holder presents it, and the verifier checks it.</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6.5 · The next service on the same foundation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same twelve documents, written once more</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PDCA's own register of what was asked, records, goals and screens.</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Most crossings already exist.</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Each reuse confirmed with the body that keeps the block.</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6.5 · The next service on the same foundation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second service, a digital credential, reuses what the first one built and proved.</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List what a new service can reuse, and what it must add.</a:t>
            </a:r>
          </a:p>
          <a:p>
            <a:pPr algn="l">
              <a:spcAft>
                <a:spcPts val="400"/>
              </a:spcAft>
            </a:pPr>
            <a:r>
              <a:rPr sz="1800" b="0" i="0">
                <a:solidFill>
                  <a:srgbClr val="595959"/>
                </a:solidFill>
                <a:latin typeface="Arial"/>
              </a:rPr>
              <a:t>The prompt in the companion material gives you a reuse list of blocks and records with their keepers.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6.5 · The next service on the same foundation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section 2.6</a:t>
            </a:r>
          </a:p>
          <a:p>
            <a:pPr>
              <a:spcAft>
                <a:spcPts val="1200"/>
              </a:spcAft>
            </a:pPr>
            <a:r>
              <a:rPr sz="1700" b="0" i="0">
                <a:solidFill>
                  <a:srgbClr val="1A1A1A"/>
                </a:solidFill>
                <a:latin typeface="Arial"/>
              </a:rPr>
              <a:t>•  W3C, Verifiable Credentials Data Model v2.0, sections 1.2 and 4.13</a:t>
            </a:r>
          </a:p>
          <a:p>
            <a:pPr>
              <a:spcAft>
                <a:spcPts val="1200"/>
              </a:spcAft>
            </a:pPr>
            <a:r>
              <a:rPr sz="1700" b="0" i="0">
                <a:solidFill>
                  <a:srgbClr val="1A1A1A"/>
                </a:solidFill>
                <a:latin typeface="Arial"/>
              </a:rPr>
              <a:t>•  GovStack Identity specification, version 2.0</a:t>
            </a:r>
          </a:p>
          <a:p>
            <a:pPr>
              <a:spcAft>
                <a:spcPts val="1200"/>
              </a:spcAft>
            </a:pPr>
            <a:r>
              <a:rPr sz="1700" b="0" i="0">
                <a:solidFill>
                  <a:srgbClr val="1A1A1A"/>
                </a:solidFill>
                <a:latin typeface="Arial"/>
              </a:rPr>
              <a:t>•  GovStack Digital Registries specification, version 3.0-alpha</a:t>
            </a:r>
          </a:p>
          <a:p>
            <a:pPr>
              <a:spcAft>
                <a:spcPts val="1200"/>
              </a:spcAft>
            </a:pPr>
            <a:r>
              <a:rPr sz="1700" b="0" i="0">
                <a:solidFill>
                  <a:srgbClr val="1A1A1A"/>
                </a:solidFill>
                <a:latin typeface="Arial"/>
              </a:rPr>
              <a:t>•  UNDP, Accelerating the SDGs through Digital Public Infrastructure: A Compendium, 2023, pages 3 and 4</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6.5 · The next service on the same foundation</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