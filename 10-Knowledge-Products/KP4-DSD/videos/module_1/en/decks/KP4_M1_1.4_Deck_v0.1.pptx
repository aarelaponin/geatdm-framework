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1" r:id="rId43"/>
    <p:sldId id="2722" r:id="rId44"/>
    <p:sldId id="2723" r:id="rId45"/>
    <p:sldId id="2724" r:id="rId17"/>
    <p:sldId id="2725" r:id="rId16"/>
    <p:sldId id="2726" r:id="rId15"/>
    <p:sldId id="2727" r:id="rId14"/>
    <p:sldId id="272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a supplier says the design is finished, you need to know what that means. The SDD method answers with twelve documents, in a fixed order, and it tells you where in that order you must say yes.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one of the twelve documents has five things written against it. Who writes it. What goes in: the earlier documents it is made from. What comes out. The person who accepts it before the next one is begun. And how it is checked: by a program, against an earlier document, or by a person with a checklist. The order is fixed because some documents exist to measure others, and a measure written after the thing it measures is not a measure.</a:t>
            </a:r>
          </a:p>
          <a:p/>
          <a:p>
            <a:r>
              <a:t>Slide specification: The five columns of the table every document fills. Text-only.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six are written before anything is designed. First, the customer's own documents: the law, the mandate and the requests, kept as received and never edited. Second, the register of what was asked, one entry for each separate thing. Third, the records the service keeps, and whose each fact is. Fourth, every goal people have in the service, each tied to what was asked. Fifth, the architecture: what the service is built on, and what crosses its boundary. Sixth, the states, settings and code lists every goal shares; a code list is a fixed list of choices, such as the kinds of institution. Before all six, a catalogue of the sector's services is written once for the whole sector; it is not one of the twelve.</a:t>
            </a:r>
          </a:p>
          <a:p/>
          <a:p>
            <a:r>
              <a:t>Slide specification: The documents are named by what they are for; no numbers of folders, no file names. The footer says the catalogue is not one of the twelve.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next three are written for each goal in turn: the goal as a story with every way it can fail, the screens worked out from that story, and a walk-through that officials can click. Then come two documents for the whole application: the interaction design, which settles once how officers pick, find, move and act, and the application model, the one file a program reads. The twelfth is the working application. Nobody writes it. A program generates it from the model, and nobody edits it by hand.</a:t>
            </a:r>
          </a:p>
          <a:p/>
          <a:p>
            <a:r>
              <a:t>Slide specification: Same layout as slide 3, so slides 3 and 4 read as one list of twelve. Text-only.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PHEQA filled this table for its registration of institutions. For the register, an AI assistant extracts the entries, the supplier's analyst rules on each one, and the Registrar of PHEQA accepts it. For the screens of a goal, three people decide at a review: the owner of the screens, the builder, and the head of the registration desk. For the application model, the head of PHEQA's ICT unit approves it after reading what it assumed. And the working application is accepted when a registration officer finishes a real task on it.</a:t>
            </a:r>
          </a:p>
          <a:p/>
          <a:p>
            <a:r>
              <a:t>Slide specification: An extract of the filled table; the full table of twelve is in the written guide. Progressa's names as the plan gives them.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Count the points where a person in PHEQA must say yes before the work goes on. There are nine. At each one, the next document is written from what was accepted, not from what was proposed. Two documents are written by nobody: a program produces the walk-through and the working application. Now lay your own project's documents beside the twelve. A missing row is a decision nobody will take in writing. A row with no point of acceptance is a place where the supplier, not your organisation, decides.</a:t>
            </a:r>
          </a:p>
          <a:p/>
          <a:p>
            <a:r>
              <a:t>Slide specification: The figure nine is counted from the filled table of the worked example. Text-only.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Twelve documents, in a fixed order. For each one, ask who writes it, what goes in, what comes out, who accepts it and how it is checked.</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Twelve documents from the request to the running service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Each document has a writer, an input, an output, a person who accepts it and a check, in a fixed order.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design is finished." What does that mean?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method answers with twelve documents, in a fixed order.</a:t>
            </a:r>
          </a:p>
          <a:p>
            <a:pPr>
              <a:spcAft>
                <a:spcPts val="800"/>
              </a:spcAft>
            </a:pPr>
            <a:r>
              <a:rPr sz="1700" b="0" i="0">
                <a:solidFill>
                  <a:srgbClr val="595959"/>
                </a:solidFill>
                <a:latin typeface="Arial"/>
              </a:rPr>
              <a:t>And it shows where in that order you must say yes.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things written against every document</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Who writes it.</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What goes in.</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What comes out.</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Who accepts it.</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How it is checked.</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any design: six documents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670559"/>
          </a:xfrm>
          <a:prstGeom prst="rect">
            <a:avLst/>
          </a:prstGeom>
          <a:noFill/>
        </p:spPr>
        <p:txBody>
          <a:bodyPr wrap="square">
            <a:spAutoFit/>
          </a:bodyPr>
          <a:lstStyle/>
          <a:p>
            <a:pPr>
              <a:spcAft>
                <a:spcPts val="300"/>
              </a:spcAft>
            </a:pPr>
            <a:r>
              <a:rPr sz="1900" b="1" i="0">
                <a:solidFill>
                  <a:srgbClr val="1A1A1A"/>
                </a:solidFill>
                <a:latin typeface="Arial"/>
              </a:rPr>
              <a:t>Your own documents: the law, the mandate, the requests.</a:t>
            </a:r>
          </a:p>
        </p:txBody>
      </p:sp>
      <p:sp>
        <p:nvSpPr>
          <p:cNvPr id="6" name="Rectangle 5"/>
          <p:cNvSpPr/>
          <p:nvPr/>
        </p:nvSpPr>
        <p:spPr>
          <a:xfrm>
            <a:off x="621792" y="21381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25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79320"/>
            <a:ext cx="10527487" cy="670559"/>
          </a:xfrm>
          <a:prstGeom prst="rect">
            <a:avLst/>
          </a:prstGeom>
          <a:noFill/>
        </p:spPr>
        <p:txBody>
          <a:bodyPr wrap="square">
            <a:spAutoFit/>
          </a:bodyPr>
          <a:lstStyle/>
          <a:p>
            <a:pPr>
              <a:spcAft>
                <a:spcPts val="300"/>
              </a:spcAft>
            </a:pPr>
            <a:r>
              <a:rPr sz="1900" b="1" i="0">
                <a:solidFill>
                  <a:srgbClr val="1A1A1A"/>
                </a:solidFill>
                <a:latin typeface="Arial"/>
              </a:rPr>
              <a:t>The register of what was asked.</a:t>
            </a:r>
          </a:p>
        </p:txBody>
      </p:sp>
      <p:sp>
        <p:nvSpPr>
          <p:cNvPr id="9" name="Rectangle 8"/>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95600"/>
            <a:ext cx="10527487" cy="670559"/>
          </a:xfrm>
          <a:prstGeom prst="rect">
            <a:avLst/>
          </a:prstGeom>
          <a:noFill/>
        </p:spPr>
        <p:txBody>
          <a:bodyPr wrap="square">
            <a:spAutoFit/>
          </a:bodyPr>
          <a:lstStyle/>
          <a:p>
            <a:pPr>
              <a:spcAft>
                <a:spcPts val="300"/>
              </a:spcAft>
            </a:pPr>
            <a:r>
              <a:rPr sz="1900" b="1" i="0">
                <a:solidFill>
                  <a:srgbClr val="1A1A1A"/>
                </a:solidFill>
                <a:latin typeface="Arial"/>
              </a:rPr>
              <a:t>The records the service keeps.</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79"/>
            <a:ext cx="10527487" cy="670559"/>
          </a:xfrm>
          <a:prstGeom prst="rect">
            <a:avLst/>
          </a:prstGeom>
          <a:noFill/>
        </p:spPr>
        <p:txBody>
          <a:bodyPr wrap="square">
            <a:spAutoFit/>
          </a:bodyPr>
          <a:lstStyle/>
          <a:p>
            <a:pPr>
              <a:spcAft>
                <a:spcPts val="300"/>
              </a:spcAft>
            </a:pPr>
            <a:r>
              <a:rPr sz="1900" b="1" i="0">
                <a:solidFill>
                  <a:srgbClr val="1A1A1A"/>
                </a:solidFill>
                <a:latin typeface="Arial"/>
              </a:rPr>
              <a:t>Every goal, tied to what was asked.</a:t>
            </a:r>
          </a:p>
        </p:txBody>
      </p:sp>
      <p:sp>
        <p:nvSpPr>
          <p:cNvPr id="15" name="Rectangle 14"/>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28159"/>
            <a:ext cx="10527487" cy="670559"/>
          </a:xfrm>
          <a:prstGeom prst="rect">
            <a:avLst/>
          </a:prstGeom>
          <a:noFill/>
        </p:spPr>
        <p:txBody>
          <a:bodyPr wrap="square">
            <a:spAutoFit/>
          </a:bodyPr>
          <a:lstStyle/>
          <a:p>
            <a:pPr>
              <a:spcAft>
                <a:spcPts val="300"/>
              </a:spcAft>
            </a:pPr>
            <a:r>
              <a:rPr sz="1900" b="1" i="0">
                <a:solidFill>
                  <a:srgbClr val="1A1A1A"/>
                </a:solidFill>
                <a:latin typeface="Arial"/>
              </a:rPr>
              <a:t>The architecture.</a:t>
            </a:r>
          </a:p>
        </p:txBody>
      </p:sp>
      <p:sp>
        <p:nvSpPr>
          <p:cNvPr id="18" name="Rectangle 17"/>
          <p:cNvSpPr/>
          <p:nvPr/>
        </p:nvSpPr>
        <p:spPr>
          <a:xfrm>
            <a:off x="621792" y="50032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09015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044439"/>
            <a:ext cx="10527487" cy="670559"/>
          </a:xfrm>
          <a:prstGeom prst="rect">
            <a:avLst/>
          </a:prstGeom>
          <a:noFill/>
        </p:spPr>
        <p:txBody>
          <a:bodyPr wrap="square">
            <a:spAutoFit/>
          </a:bodyPr>
          <a:lstStyle/>
          <a:p>
            <a:pPr>
              <a:spcAft>
                <a:spcPts val="300"/>
              </a:spcAft>
            </a:pPr>
            <a:r>
              <a:rPr sz="1900" b="1" i="0">
                <a:solidFill>
                  <a:srgbClr val="1A1A1A"/>
                </a:solidFill>
                <a:latin typeface="Arial"/>
              </a:rPr>
              <a:t>The shared states, settings and lists.</a:t>
            </a:r>
          </a:p>
        </p:txBody>
      </p:sp>
      <p:sp>
        <p:nvSpPr>
          <p:cNvPr id="21" name="TextBox 2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Written once for the whole sector, before the first: the catalogue of services.</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goal at a time, then the whole application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739140"/>
          </a:xfrm>
          <a:prstGeom prst="rect">
            <a:avLst/>
          </a:prstGeom>
          <a:noFill/>
        </p:spPr>
        <p:txBody>
          <a:bodyPr wrap="square">
            <a:spAutoFit/>
          </a:bodyPr>
          <a:lstStyle/>
          <a:p>
            <a:pPr>
              <a:spcAft>
                <a:spcPts val="300"/>
              </a:spcAft>
            </a:pPr>
            <a:r>
              <a:rPr sz="1900" b="1" i="0">
                <a:solidFill>
                  <a:srgbClr val="1A1A1A"/>
                </a:solidFill>
                <a:latin typeface="Arial"/>
              </a:rPr>
              <a:t>One goal, written as a story.</a:t>
            </a:r>
          </a:p>
        </p:txBody>
      </p:sp>
      <p:sp>
        <p:nvSpPr>
          <p:cNvPr id="6" name="Rectangle 5"/>
          <p:cNvSpPr/>
          <p:nvPr/>
        </p:nvSpPr>
        <p:spPr>
          <a:xfrm>
            <a:off x="621792" y="2206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93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47900"/>
            <a:ext cx="10527487" cy="739140"/>
          </a:xfrm>
          <a:prstGeom prst="rect">
            <a:avLst/>
          </a:prstGeom>
          <a:noFill/>
        </p:spPr>
        <p:txBody>
          <a:bodyPr wrap="square">
            <a:spAutoFit/>
          </a:bodyPr>
          <a:lstStyle/>
          <a:p>
            <a:pPr>
              <a:spcAft>
                <a:spcPts val="300"/>
              </a:spcAft>
            </a:pPr>
            <a:r>
              <a:rPr sz="1900" b="1" i="0">
                <a:solidFill>
                  <a:srgbClr val="1A1A1A"/>
                </a:solidFill>
                <a:latin typeface="Arial"/>
              </a:rPr>
              <a:t>The screens of that goal.</a:t>
            </a:r>
          </a:p>
        </p:txBody>
      </p:sp>
      <p:sp>
        <p:nvSpPr>
          <p:cNvPr id="9" name="Rectangle 8"/>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078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032760"/>
            <a:ext cx="10527487" cy="739140"/>
          </a:xfrm>
          <a:prstGeom prst="rect">
            <a:avLst/>
          </a:prstGeom>
          <a:noFill/>
        </p:spPr>
        <p:txBody>
          <a:bodyPr wrap="square">
            <a:spAutoFit/>
          </a:bodyPr>
          <a:lstStyle/>
          <a:p>
            <a:pPr>
              <a:spcAft>
                <a:spcPts val="300"/>
              </a:spcAft>
            </a:pPr>
            <a:r>
              <a:rPr sz="1900" b="1" i="0">
                <a:solidFill>
                  <a:srgbClr val="1A1A1A"/>
                </a:solidFill>
                <a:latin typeface="Arial"/>
              </a:rPr>
              <a:t>The walk-through.</a:t>
            </a:r>
          </a:p>
        </p:txBody>
      </p:sp>
      <p:sp>
        <p:nvSpPr>
          <p:cNvPr id="12" name="Rectangle 11"/>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863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817620"/>
            <a:ext cx="10527487" cy="739140"/>
          </a:xfrm>
          <a:prstGeom prst="rect">
            <a:avLst/>
          </a:prstGeom>
          <a:noFill/>
        </p:spPr>
        <p:txBody>
          <a:bodyPr wrap="square">
            <a:spAutoFit/>
          </a:bodyPr>
          <a:lstStyle/>
          <a:p>
            <a:pPr>
              <a:spcAft>
                <a:spcPts val="300"/>
              </a:spcAft>
            </a:pPr>
            <a:r>
              <a:rPr sz="1900" b="1" i="0">
                <a:solidFill>
                  <a:srgbClr val="1A1A1A"/>
                </a:solidFill>
                <a:latin typeface="Arial"/>
              </a:rPr>
              <a:t>The interaction design.</a:t>
            </a:r>
          </a:p>
        </p:txBody>
      </p:sp>
      <p:sp>
        <p:nvSpPr>
          <p:cNvPr id="15" name="Rectangle 14"/>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648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602480"/>
            <a:ext cx="10527487" cy="739140"/>
          </a:xfrm>
          <a:prstGeom prst="rect">
            <a:avLst/>
          </a:prstGeom>
          <a:noFill/>
        </p:spPr>
        <p:txBody>
          <a:bodyPr wrap="square">
            <a:spAutoFit/>
          </a:bodyPr>
          <a:lstStyle/>
          <a:p>
            <a:pPr>
              <a:spcAft>
                <a:spcPts val="300"/>
              </a:spcAft>
            </a:pPr>
            <a:r>
              <a:rPr sz="1900" b="1" i="0">
                <a:solidFill>
                  <a:srgbClr val="1A1A1A"/>
                </a:solidFill>
                <a:latin typeface="Arial"/>
              </a:rPr>
              <a:t>The application model: the file a program reads.</a:t>
            </a:r>
          </a:p>
        </p:txBody>
      </p:sp>
      <p:sp>
        <p:nvSpPr>
          <p:cNvPr id="18" name="Rectangle 17"/>
          <p:cNvSpPr/>
          <p:nvPr/>
        </p:nvSpPr>
        <p:spPr>
          <a:xfrm>
            <a:off x="621792" y="53461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4330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387340"/>
            <a:ext cx="10527487" cy="739140"/>
          </a:xfrm>
          <a:prstGeom prst="rect">
            <a:avLst/>
          </a:prstGeom>
          <a:noFill/>
        </p:spPr>
        <p:txBody>
          <a:bodyPr wrap="square">
            <a:spAutoFit/>
          </a:bodyPr>
          <a:lstStyle/>
          <a:p>
            <a:pPr>
              <a:spcAft>
                <a:spcPts val="300"/>
              </a:spcAft>
            </a:pPr>
            <a:r>
              <a:rPr sz="1900" b="1" i="0">
                <a:solidFill>
                  <a:srgbClr val="1A1A1A"/>
                </a:solidFill>
                <a:latin typeface="Arial"/>
              </a:rPr>
              <a:t>The working application.</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Filled for PHEQA's registration of institutions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750" b="1" i="0">
                <a:solidFill>
                  <a:srgbClr val="1A1A1A"/>
                </a:solidFill>
                <a:latin typeface="Arial"/>
              </a:rPr>
              <a:t>The register: an AI assistant extracts it; the supplier's analyst rules on each entry; the Registrar of PHEQA accepts.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750" b="1" i="0">
                <a:solidFill>
                  <a:srgbClr val="1A1A1A"/>
                </a:solidFill>
                <a:latin typeface="Arial"/>
              </a:rPr>
              <a:t>The screens of a goal: the analyst who wrote the goal; the review of three people decides.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750" b="1" i="0">
                <a:solidFill>
                  <a:srgbClr val="1A1A1A"/>
                </a:solidFill>
                <a:latin typeface="Arial"/>
              </a:rPr>
              <a:t>The application model: an AI assistant writes it; the head of the ICT unit approves.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750" b="1" i="0">
                <a:solidFill>
                  <a:srgbClr val="1A1A1A"/>
                </a:solidFill>
                <a:latin typeface="Arial"/>
              </a:rPr>
              <a:t>The working application: a registration officer finishes a real task on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Nine points where PHEQA says yes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Nine points where a person in PHEQA must say yes before the work goes on.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Two documents written by nobody: the walk-through and the working application.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Each document has a writer, an input, an output, a person who accepts it and a check, in a fixed order.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project's documents onto the twelve.</a:t>
            </a:r>
          </a:p>
          <a:p>
            <a:pPr algn="l">
              <a:spcAft>
                <a:spcPts val="400"/>
              </a:spcAft>
            </a:pPr>
            <a:r>
              <a:rPr sz="1800" b="0" i="0">
                <a:solidFill>
                  <a:srgbClr val="595959"/>
                </a:solidFill>
                <a:latin typeface="Arial"/>
              </a:rPr>
              <a:t>The prompt in the companion material gives you a map of the project's documents against the twelve, with what is missing, duplicated or out of order.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