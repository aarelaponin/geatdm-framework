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minister agreed a service with the officials who will run it. A year later, the service that arrives is not the one they agreed. You will be asked why. There is an answer you can give, and it has three parts.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Between what officials agree and what a system does, there is a wide space. In that space, every question about the service must be answered by somebody. What happens when an applicant leaves a document out? Which body keeps the institution's address? If nothing forces those questions into the open, they are still answered: quietly, by whoever is at the keyboard that day, and with no record. The service is delivered. It simply does not do what anybody agreed it would do.</a:t>
            </a:r>
          </a:p>
          <a:p/>
          <a:p>
            <a:r>
              <a:t>Slide specification: Sets the problem in the listener's terms. Text-only.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short for specification-driven development, names three places where this happens. First, a question nobody decided: the people who agreed the service never settled a point, so the builder settled it alone, or nobody did. Second, an answer nobody passed on: somebody decided, but the decision never reached the document or the person who needed it. Third, a rule nobody enforced: the rule was written down, but no check, no person and no program held anyone to it.</a:t>
            </a:r>
          </a:p>
          <a:p/>
          <a:p>
            <a:r>
              <a:t>Slide specification: The core payload. The three rows stay on screen in this order; the same wording returns on slide 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it looked in Progressa. Harbourview University College, a private institution, applied to PHEQA, the quality authority, for its licence. In June PHEQA entered it in the register of institutions, under the number INS-00217. In September MoEYS, the ministry of education, asked for the same particulars on its own form. The college had moved its office in August and told PHEQA, but not the ministry. So the ministry asked why the two addresses differed. In the college registrar's words: everybody had agreed, in the national strategy, that an institution gives its particulars to the state once. We gave them twice and were then asked to explain the difference.</a:t>
            </a:r>
          </a:p>
          <a:p/>
          <a:p>
            <a:r>
              <a:t>Slide specification: Progressa's names as the plan gives them. No logos, no emblems, no picture of a building.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place each loss. Nobody ever decided whether MoEYS may read PHEQA's register, so the ministry built its own form and asked again. That is a question nobody decided. PHEQA gave the college a number, but nobody passed it to MoEYS, so the ministry's form had no place for it and could not look the college up. That is an answer nobody passed on. And the rule that a fact is entered once was written in the national strategy, but no document of either project tested it, and no review asked about it. That is a rule nobody enforced.</a:t>
            </a:r>
          </a:p>
          <a:p/>
          <a:p>
            <a:r>
              <a:t>Slide specification: The three places in the same words as slide 3, so the viewer can match them. Text boxes 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what is missing from this story: a programming error. Each loss is a decision about the service that was never made, never written into the right document, or never checked. That is why the method states its purpose in one sentence. A silence that is named, owned and counted is a specification. A silence filled in with a plausible answer is a fault dressed as a specification. The method's documents exist to close the three places, so that you can tell your minister where a service was lost, and what must change.</a:t>
            </a:r>
          </a:p>
          <a:p/>
          <a:p>
            <a:r>
              <a:t>Slide specification: The method's sentence, set apart in larger body text. Text-only.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When a service goes wrong, ask where it was lost: a question nobody decided, an answer nobody passed on, or a rule nobody enforced. Then fix that place.</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Where an agreed service gets lost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agreed service is lost at three places: a question nobody decided, an answer nobody passed on, a rule nobody enforced.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service that arrives is not the one they agreed.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minister agreed a service with the officials who will run it.</a:t>
            </a:r>
          </a:p>
          <a:p>
            <a:pPr>
              <a:spcAft>
                <a:spcPts val="800"/>
              </a:spcAft>
            </a:pPr>
            <a:r>
              <a:rPr sz="1700" b="0" i="0">
                <a:solidFill>
                  <a:srgbClr val="595959"/>
                </a:solidFill>
                <a:latin typeface="Arial"/>
              </a:rPr>
              <a:t>A year later, you will be asked why it changed.</a:t>
            </a:r>
          </a:p>
          <a:p>
            <a:pPr>
              <a:spcAft>
                <a:spcPts val="800"/>
              </a:spcAft>
            </a:pPr>
            <a:r>
              <a:rPr sz="1700" b="0" i="0">
                <a:solidFill>
                  <a:srgbClr val="595959"/>
                </a:solidFill>
                <a:latin typeface="Arial"/>
              </a:rPr>
              <a:t>There is an answer you can give, and it has three parts.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Between what was agreed and what runs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question about the service is answered by somebody.</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If nobody is made to ask it, it is answered at the keyboard, without a record.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places a service gets lost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05839"/>
          </a:xfrm>
          <a:prstGeom prst="rect">
            <a:avLst/>
          </a:prstGeom>
          <a:noFill/>
        </p:spPr>
        <p:txBody>
          <a:bodyPr wrap="square">
            <a:spAutoFit/>
          </a:bodyPr>
          <a:lstStyle/>
          <a:p>
            <a:pPr>
              <a:spcAft>
                <a:spcPts val="300"/>
              </a:spcAft>
            </a:pPr>
            <a:r>
              <a:rPr sz="2200" b="1" i="0">
                <a:solidFill>
                  <a:srgbClr val="1A1A1A"/>
                </a:solidFill>
                <a:latin typeface="Arial"/>
              </a:rPr>
              <a:t>A question nobody decided.</a:t>
            </a:r>
          </a:p>
        </p:txBody>
      </p:sp>
      <p:sp>
        <p:nvSpPr>
          <p:cNvPr id="6" name="Rectangle 5"/>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60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14600"/>
            <a:ext cx="10527487" cy="1005839"/>
          </a:xfrm>
          <a:prstGeom prst="rect">
            <a:avLst/>
          </a:prstGeom>
          <a:noFill/>
        </p:spPr>
        <p:txBody>
          <a:bodyPr wrap="square">
            <a:spAutoFit/>
          </a:bodyPr>
          <a:lstStyle/>
          <a:p>
            <a:pPr>
              <a:spcAft>
                <a:spcPts val="300"/>
              </a:spcAft>
            </a:pPr>
            <a:r>
              <a:rPr sz="2200" b="1" i="0">
                <a:solidFill>
                  <a:srgbClr val="1A1A1A"/>
                </a:solidFill>
                <a:latin typeface="Arial"/>
              </a:rPr>
              <a:t>An answer nobody passed on.</a:t>
            </a:r>
          </a:p>
        </p:txBody>
      </p:sp>
      <p:sp>
        <p:nvSpPr>
          <p:cNvPr id="9" name="Rectangle 8"/>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11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66160"/>
            <a:ext cx="10527487" cy="1005839"/>
          </a:xfrm>
          <a:prstGeom prst="rect">
            <a:avLst/>
          </a:prstGeom>
          <a:noFill/>
        </p:spPr>
        <p:txBody>
          <a:bodyPr wrap="square">
            <a:spAutoFit/>
          </a:bodyPr>
          <a:lstStyle/>
          <a:p>
            <a:pPr>
              <a:spcAft>
                <a:spcPts val="300"/>
              </a:spcAft>
            </a:pPr>
            <a:r>
              <a:rPr sz="2200" b="1" i="0">
                <a:solidFill>
                  <a:srgbClr val="1A1A1A"/>
                </a:solidFill>
                <a:latin typeface="Arial"/>
              </a:rPr>
              <a:t>A rule nobody enforced.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institution, two counters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March: Harbourview University College applies to PHEQA.</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June: entered in PHEQA's register as INS-00217.</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September: MoEYS asks for the same particulars on its own form.</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Two weeks later: why does your address differ from PHEQA's?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loss, placed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May MoEYS read PHEQA's register? Never decided.</a:t>
            </a:r>
          </a:p>
          <a:p>
            <a:pPr>
              <a:spcAft>
                <a:spcPts val="300"/>
              </a:spcAft>
            </a:pPr>
            <a:r>
              <a:rPr sz="1550" b="0" i="0">
                <a:solidFill>
                  <a:srgbClr val="595959"/>
                </a:solidFill>
                <a:latin typeface="Arial"/>
              </a:rPr>
              <a:t>A question nobody decided.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PHEQA's number INS-00217 never reached MoEYS.</a:t>
            </a:r>
          </a:p>
          <a:p>
            <a:pPr>
              <a:spcAft>
                <a:spcPts val="300"/>
              </a:spcAft>
            </a:pPr>
            <a:r>
              <a:rPr sz="1550" b="0" i="0">
                <a:solidFill>
                  <a:srgbClr val="595959"/>
                </a:solidFill>
                <a:latin typeface="Arial"/>
              </a:rPr>
              <a:t>An answer nobody passed 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 fact is entered once: written in the strategy, checked nowhere.</a:t>
            </a:r>
          </a:p>
          <a:p>
            <a:pPr>
              <a:spcAft>
                <a:spcPts val="300"/>
              </a:spcAft>
            </a:pPr>
            <a:r>
              <a:rPr sz="1550" b="0" i="0">
                <a:solidFill>
                  <a:srgbClr val="595959"/>
                </a:solidFill>
                <a:latin typeface="Arial"/>
              </a:rPr>
              <a:t>A rule nobody enforced.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None of the three is a programming error</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Each loss is a decision about the service: never made, never written where it was needed, or never checked.</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silence that is named, owned and counted is a specification.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agreed service is lost at three places: a question nobody decided, an answer nobody passed on, a rule nobody enforced.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Place each problem of a past project at one of the three places.</a:t>
            </a:r>
          </a:p>
          <a:p>
            <a:pPr algn="l">
              <a:spcAft>
                <a:spcPts val="400"/>
              </a:spcAft>
            </a:pPr>
            <a:r>
              <a:rPr sz="1800" b="0" i="0">
                <a:solidFill>
                  <a:srgbClr val="595959"/>
                </a:solidFill>
                <a:latin typeface="Arial"/>
              </a:rPr>
              <a:t>The prompt in the companion material gives you a table of the project's problems, each placed at one of the three places with one line of reason.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