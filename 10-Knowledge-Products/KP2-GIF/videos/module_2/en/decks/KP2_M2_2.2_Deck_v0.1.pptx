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3" r:id="rId25"/>
    <p:sldId id="2704" r:id="rId26"/>
    <p:sldId id="2705" r:id="rId27"/>
    <p:sldId id="2706" r:id="rId28"/>
    <p:sldId id="2707" r:id="rId29"/>
    <p:sldId id="2708" r:id="rId30"/>
    <p:sldId id="2709" r:id="rId31"/>
    <p:sldId id="271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decree looks, to a non-lawyer, like one dense block of legal text. It is actually five parts, each with a different job and a different reader. If you know the five parts, you stop being a passenger waiting for the Ministry of Justice to produce something, and you become the person who hands them a structured, near-complete package and asks them to perfect it. That shift — from waiting to briefing — is what this module gives you, and it starts with knowing the anatomy.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five parts are these. The Explanatory Memorandum — the case for the decree, in plain language a minister can read: what problem it solves, what it does, why now. The Preamble — the legal recitals that cite the authority under which the decree is made. The Draft Articles Package — the operative provisions, the binding rules themselves. The Cover Note — the short transmittal that goes to the Ministry of Justice with the package. And the Two-Track Regulatory Memo — the document that shows how the interoperability decree and the country's personal-data-protection law fit together, whether that law is in force or still being drafted, so the two instruments coordinate instead of colliding.</a:t>
            </a:r>
          </a:p>
          <a:p/>
          <a:p>
            <a:r>
              <a:t>Production cue: the centrepiece of the module — the spine the next three videos build out. Reveal the parts left to right. Hold it a beat longer.</a:t>
            </a:r>
          </a:p>
          <a:p/>
          <a:p>
            <a:r>
              <a:t>Retrieval prompt — ask before playing on: who do you think reads each of these parts? Answer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Notice that each part has a different reader, which is why they are separate. The minister reads the Memorandum — the case, not the clauses. The lawyer at the Ministry of Justice reads the Preamble and the Articles — the authority and the binding text. And the data-protection authority reads the Two-Track Memo, to see that the decree and the data-protection law fit together rather than compete. Bundle them into one block and each reader has to dig for their part. Separate them, and each reader finds exactly what they need.</a:t>
            </a:r>
          </a:p>
          <a:p/>
          <a:p>
            <a:r>
              <a:t>Production cue: this slide answers the retrieval prompt set on the previous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are two reasons to build the decree as five parts rather than one. The first is review: a package built in parts is reviewable in parts. The Ministry of Justice can perfect the legal wording of the Articles without reopening the political case in the Memorandum. The second is production. Each component is a focused, separate drafting task — and each one maps to a single AI prompt, run against a published legal model, producing a reviewed draft of that one component. Five focused drafts are far easier to get right than one sprawling 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important framing. What this module helps you produce is a Decree Drafting Kit — the five components, as structured, well-sourced drafts. It is not a decree with legal force. A qualified lawyer in your jurisdiction turns the kit into an instrument that is valid in your legal system. The kit's job is to give that lawyer a strong, structured starting point so they perfect rather than originate — turning months of drafting into weeks of review. That division of labour, AI-and-architect drafts, lawyer makes law, runs through the whole module.</a:t>
            </a:r>
          </a:p>
          <a:p/>
          <a:p>
            <a:r>
              <a:t>Production cue: the safeguard framing of the whole module.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anatomy is five parts, each with a job and a reader: the Memorandum makes the case, the Preamble cites the authority, the Articles bind, the Cover Note transmits, and the Two-Track Memo squares the decree with the data-protection law. Knowing them is what lets you brief a Ministry of Justice with a near-complete package instead of waiting on one. This module builds each part, component by component.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Anatomy of an interoperability decree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sound decree is five parts; knowing them lets you brief a Ministry of Justice instead of waiting on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Stop waiting on the Ministry of Justice. Brief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decree looks like one dense block of legal text.</a:t>
            </a:r>
          </a:p>
          <a:p>
            <a:pPr>
              <a:spcAft>
                <a:spcPts val="800"/>
              </a:spcAft>
            </a:pPr>
            <a:r>
              <a:rPr sz="1700" b="0" i="0">
                <a:solidFill>
                  <a:srgbClr val="595959"/>
                </a:solidFill>
                <a:latin typeface="Arial"/>
              </a:rPr>
              <a:t>It is five parts, each with a different job and a different reader.</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Anatomy of an interoperability decree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decree is five parts, each with its own job</a:t>
            </a:r>
          </a:p>
        </p:txBody>
      </p:sp>
      <p:sp>
        <p:nvSpPr>
          <p:cNvPr id="4" name="Rounded Rectangle 3"/>
          <p:cNvSpPr/>
          <p:nvPr/>
        </p:nvSpPr>
        <p:spPr>
          <a:xfrm>
            <a:off x="658368" y="1737360"/>
            <a:ext cx="2048256" cy="27432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Explanatory Memorandum</a:t>
            </a:r>
          </a:p>
          <a:p>
            <a:pPr algn="l">
              <a:spcAft>
                <a:spcPts val="300"/>
              </a:spcAft>
            </a:pPr>
            <a:r>
              <a:rPr sz="1600" b="0" i="0">
                <a:solidFill>
                  <a:srgbClr val="1A1A1A"/>
                </a:solidFill>
                <a:latin typeface="Arial"/>
              </a:rPr>
              <a:t>The case for the decree, in plain language.</a:t>
            </a:r>
          </a:p>
        </p:txBody>
      </p:sp>
      <p:sp>
        <p:nvSpPr>
          <p:cNvPr id="5" name="Rounded Rectangle 4"/>
          <p:cNvSpPr/>
          <p:nvPr/>
        </p:nvSpPr>
        <p:spPr>
          <a:xfrm>
            <a:off x="2866644" y="1737360"/>
            <a:ext cx="2048256" cy="27432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Preamble</a:t>
            </a:r>
          </a:p>
          <a:p>
            <a:pPr algn="l">
              <a:spcAft>
                <a:spcPts val="300"/>
              </a:spcAft>
            </a:pPr>
            <a:r>
              <a:rPr sz="1600" b="0" i="0">
                <a:solidFill>
                  <a:srgbClr val="1A1A1A"/>
                </a:solidFill>
                <a:latin typeface="Arial"/>
              </a:rPr>
              <a:t>The legal authority and the recitals.</a:t>
            </a:r>
          </a:p>
        </p:txBody>
      </p:sp>
      <p:sp>
        <p:nvSpPr>
          <p:cNvPr id="6" name="Rounded Rectangle 5"/>
          <p:cNvSpPr/>
          <p:nvPr/>
        </p:nvSpPr>
        <p:spPr>
          <a:xfrm>
            <a:off x="5074920" y="1737360"/>
            <a:ext cx="2048256" cy="27432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Draft Articles Package</a:t>
            </a:r>
          </a:p>
          <a:p>
            <a:pPr algn="l">
              <a:spcAft>
                <a:spcPts val="300"/>
              </a:spcAft>
            </a:pPr>
            <a:r>
              <a:rPr sz="1600" b="0" i="0">
                <a:solidFill>
                  <a:srgbClr val="1A1A1A"/>
                </a:solidFill>
                <a:latin typeface="Arial"/>
              </a:rPr>
              <a:t>The operative, binding provisions.</a:t>
            </a:r>
          </a:p>
        </p:txBody>
      </p:sp>
      <p:sp>
        <p:nvSpPr>
          <p:cNvPr id="7" name="Rounded Rectangle 6"/>
          <p:cNvSpPr/>
          <p:nvPr/>
        </p:nvSpPr>
        <p:spPr>
          <a:xfrm>
            <a:off x="7283196" y="1737360"/>
            <a:ext cx="2048256" cy="27432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Cover Note</a:t>
            </a:r>
          </a:p>
          <a:p>
            <a:pPr algn="l">
              <a:spcAft>
                <a:spcPts val="300"/>
              </a:spcAft>
            </a:pPr>
            <a:r>
              <a:rPr sz="1600" b="0" i="0">
                <a:solidFill>
                  <a:srgbClr val="1A1A1A"/>
                </a:solidFill>
                <a:latin typeface="Arial"/>
              </a:rPr>
              <a:t>The transmittal to the Ministry of Justice.</a:t>
            </a:r>
          </a:p>
        </p:txBody>
      </p:sp>
      <p:sp>
        <p:nvSpPr>
          <p:cNvPr id="8" name="Rounded Rectangle 7"/>
          <p:cNvSpPr/>
          <p:nvPr/>
        </p:nvSpPr>
        <p:spPr>
          <a:xfrm>
            <a:off x="9491472" y="1737360"/>
            <a:ext cx="2048256" cy="27432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Two-Track Regulatory Memo</a:t>
            </a:r>
          </a:p>
          <a:p>
            <a:pPr algn="l">
              <a:spcAft>
                <a:spcPts val="300"/>
              </a:spcAft>
            </a:pPr>
            <a:r>
              <a:rPr sz="1600" b="0" i="0">
                <a:solidFill>
                  <a:srgbClr val="1A1A1A"/>
                </a:solidFill>
                <a:latin typeface="Arial"/>
              </a:rPr>
              <a:t>How the decree and the data-protection law fit together.</a:t>
            </a:r>
          </a:p>
        </p:txBody>
      </p:sp>
      <p:sp>
        <p:nvSpPr>
          <p:cNvPr id="9" name="TextBox 8"/>
          <p:cNvSpPr txBox="1"/>
          <p:nvPr/>
        </p:nvSpPr>
        <p:spPr>
          <a:xfrm>
            <a:off x="658368" y="4754880"/>
            <a:ext cx="10881360" cy="548640"/>
          </a:xfrm>
          <a:prstGeom prst="rect">
            <a:avLst/>
          </a:prstGeom>
          <a:noFill/>
        </p:spPr>
        <p:txBody>
          <a:bodyPr wrap="square">
            <a:spAutoFit/>
          </a:bodyPr>
          <a:lstStyle/>
          <a:p>
            <a:r>
              <a:rPr sz="1550" b="1" i="0">
                <a:solidFill>
                  <a:srgbClr val="006E96"/>
                </a:solidFill>
                <a:latin typeface="Arial"/>
              </a:rPr>
              <a:t>Together they are the Decree Drafting Kit — built component by component in 2.3 to 2.5.</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Anatomy of an interoperability decree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part has a different reader — so each is separate</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The minister reads the Memorandum</a:t>
            </a:r>
          </a:p>
          <a:p>
            <a:pPr>
              <a:spcAft>
                <a:spcPts val="300"/>
              </a:spcAft>
            </a:pPr>
            <a:r>
              <a:rPr sz="1550" b="0" i="0">
                <a:solidFill>
                  <a:srgbClr val="595959"/>
                </a:solidFill>
                <a:latin typeface="Arial"/>
              </a:rPr>
              <a:t>The case, not the clauses.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The lawyer reads the Preamble and the Articles</a:t>
            </a:r>
          </a:p>
          <a:p>
            <a:pPr>
              <a:spcAft>
                <a:spcPts val="300"/>
              </a:spcAft>
            </a:pPr>
            <a:r>
              <a:rPr sz="1550" b="0" i="0">
                <a:solidFill>
                  <a:srgbClr val="595959"/>
                </a:solidFill>
                <a:latin typeface="Arial"/>
              </a:rPr>
              <a:t>The authority and the binding text.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The data-protection authority reads the Two-Track Memo</a:t>
            </a:r>
          </a:p>
          <a:p>
            <a:pPr>
              <a:spcAft>
                <a:spcPts val="300"/>
              </a:spcAft>
            </a:pPr>
            <a:r>
              <a:rPr sz="1550" b="0" i="0">
                <a:solidFill>
                  <a:srgbClr val="595959"/>
                </a:solidFill>
                <a:latin typeface="Arial"/>
              </a:rPr>
              <a:t>To see that the two laws fit together rather than compete.</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Bundle them, and each reader digs for their part. Separate them, and each finds it.</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Anatomy of an interoperability decree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parts, not one — for review and for production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2103120"/>
          </a:xfrm>
          <a:prstGeom prst="rect">
            <a:avLst/>
          </a:prstGeom>
          <a:noFill/>
        </p:spPr>
        <p:txBody>
          <a:bodyPr wrap="square">
            <a:spAutoFit/>
          </a:bodyPr>
          <a:lstStyle/>
          <a:p>
            <a:pPr>
              <a:spcAft>
                <a:spcPts val="300"/>
              </a:spcAft>
            </a:pPr>
            <a:r>
              <a:rPr sz="1900" b="1" i="0">
                <a:solidFill>
                  <a:srgbClr val="1A1A1A"/>
                </a:solidFill>
                <a:latin typeface="Arial"/>
              </a:rPr>
              <a:t>Reviewable in parts</a:t>
            </a:r>
          </a:p>
          <a:p>
            <a:pPr>
              <a:spcAft>
                <a:spcPts val="300"/>
              </a:spcAft>
            </a:pPr>
            <a:r>
              <a:rPr sz="1550" b="0" i="0">
                <a:solidFill>
                  <a:srgbClr val="595959"/>
                </a:solidFill>
                <a:latin typeface="Arial"/>
              </a:rPr>
              <a:t>The Ministry can perfect the Articles without reopening the case in the Memorandum.</a:t>
            </a:r>
          </a:p>
        </p:txBody>
      </p:sp>
      <p:sp>
        <p:nvSpPr>
          <p:cNvPr id="6" name="Rectangle 5"/>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3611879"/>
            <a:ext cx="10527487" cy="2103120"/>
          </a:xfrm>
          <a:prstGeom prst="rect">
            <a:avLst/>
          </a:prstGeom>
          <a:noFill/>
        </p:spPr>
        <p:txBody>
          <a:bodyPr wrap="square">
            <a:spAutoFit/>
          </a:bodyPr>
          <a:lstStyle/>
          <a:p>
            <a:pPr>
              <a:spcAft>
                <a:spcPts val="300"/>
              </a:spcAft>
            </a:pPr>
            <a:r>
              <a:rPr sz="1900" b="1" i="0">
                <a:solidFill>
                  <a:srgbClr val="1A1A1A"/>
                </a:solidFill>
                <a:latin typeface="Arial"/>
              </a:rPr>
              <a:t>Generatable in parts</a:t>
            </a:r>
          </a:p>
          <a:p>
            <a:pPr>
              <a:spcAft>
                <a:spcPts val="300"/>
              </a:spcAft>
            </a:pPr>
            <a:r>
              <a:rPr sz="1550" b="0" i="0">
                <a:solidFill>
                  <a:srgbClr val="595959"/>
                </a:solidFill>
                <a:latin typeface="Arial"/>
              </a:rPr>
              <a:t>Each component is one focused AI prompt, run against a published model.</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Five focused drafts are far easier to get right than one sprawling one.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Anatomy of an interoperability decree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produce the kit. A lawyer makes the law</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Decree Drafting Kit is the five components as structured, well-sourced drafts — not a decree with legal force.</a:t>
            </a:r>
          </a:p>
          <a:p>
            <a:pPr>
              <a:spcAft>
                <a:spcPts val="1200"/>
              </a:spcAft>
            </a:pPr>
            <a:r>
              <a:rPr sz="2000" b="0" i="0">
                <a:solidFill>
                  <a:srgbClr val="1A1A1A"/>
                </a:solidFill>
                <a:latin typeface="Arial"/>
              </a:rPr>
              <a:t>A qualified lawyer in your jurisdiction turns it into an instrument valid in your legal system.</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kit speeds the lawyer — months of drafting become weeks of review. It does not replace them.</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Anatomy of an interoperability decree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decree is five parts — Memorandum, Preamble, Articles, Cover Note, Two-Track Memo — each with its own reader and its own focused draft.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Outline your decree's five components from your foundation.</a:t>
            </a:r>
          </a:p>
          <a:p>
            <a:pPr algn="l">
              <a:spcAft>
                <a:spcPts val="400"/>
              </a:spcAft>
            </a:pPr>
            <a:r>
              <a:rPr sz="1800" b="0" i="0">
                <a:solidFill>
                  <a:srgbClr val="595959"/>
                </a:solidFill>
                <a:latin typeface="Arial"/>
              </a:rPr>
              <a:t>The prompt in the companion material gives you a structured five-component decree outline.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Anatomy of an interoperability decree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 legal layer</a:t>
            </a:r>
          </a:p>
          <a:p>
            <a:pPr>
              <a:spcAft>
                <a:spcPts val="1200"/>
              </a:spcAft>
            </a:pPr>
            <a:r>
              <a:rPr sz="1700" b="0" i="0">
                <a:solidFill>
                  <a:srgbClr val="1A1A1A"/>
                </a:solidFill>
                <a:latin typeface="Arial"/>
              </a:rPr>
              <a:t>•  Decree model — Estonia, Information Society Services Act</a:t>
            </a:r>
          </a:p>
          <a:p>
            <a:pPr>
              <a:spcAft>
                <a:spcPts val="1200"/>
              </a:spcAft>
            </a:pPr>
            <a:r>
              <a:rPr sz="1700" b="0" i="0">
                <a:solidFill>
                  <a:srgbClr val="1A1A1A"/>
                </a:solidFill>
                <a:latin typeface="Arial"/>
              </a:rPr>
              <a:t>•  Decree model — EU Single Digital Gateway Regulation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Anatomy of an interoperability decree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