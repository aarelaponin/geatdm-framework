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711" r:id="rId33"/>
    <p:sldId id="2712" r:id="rId34"/>
    <p:sldId id="2713" r:id="rId35"/>
    <p:sldId id="2714" r:id="rId36"/>
    <p:sldId id="2715" r:id="rId37"/>
    <p:sldId id="2716" r:id="rId38"/>
    <p:sldId id="2717" r:id="rId3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33" Type="http://schemas.openxmlformats.org/officeDocument/2006/relationships/slide" Target="slides/slide18.xml"/><Relationship Id="rId34" Type="http://schemas.openxmlformats.org/officeDocument/2006/relationships/slide" Target="slides/slide19.xml"/><Relationship Id="rId35" Type="http://schemas.openxmlformats.org/officeDocument/2006/relationships/slide" Target="slides/slide20.xml"/><Relationship Id="rId36" Type="http://schemas.openxmlformats.org/officeDocument/2006/relationships/slide" Target="slides/slide21.xml"/><Relationship Id="rId37" Type="http://schemas.openxmlformats.org/officeDocument/2006/relationships/slide" Target="slides/slide22.xml"/><Relationship Id="rId38" Type="http://schemas.openxmlformats.org/officeDocument/2006/relationships/slide" Target="slides/slide23.xml"/><Relationship Id="rId39" Type="http://schemas.openxmlformats.org/officeDocument/2006/relationships/slide" Target="slides/slide24.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This is the pattern for the whole Decree Drafting Kit, and it appears first here. The AI prompt for this video takes your Strategic Foundation Document and produces a Memorandum draft and a Preamble scaffold in minutes. That is the easy ninety per cent. The hard, essential ten per cent is yours: confirm every legal citation against a real statute, soften every claim the evidence does not support, and mark anything unverified as a [confirm] for the lawyer. Generate fast; confirm carefully. The AI accelerates the drafting; it does not get the law right for you.</a:t>
            </a:r>
          </a:p>
          <a:p/>
          <a:p>
            <a:r>
              <a:t>Production cue: the pivotal slide of this video — the pattern the rest of the kit repeats.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Preamble is different. It sets out the recitals — the formal findings the decree rests on — and, critically, the legal authority: the constitutional or statutory power under which the decree is made. Here the AI is useful for structure and for a first draft of the recitals, but every citation of authority is a placeholder — a [confirm] — until a qualified lawyer verifies that the cited power actually exists and actually supports a decree of this kind in your country. An invented or wrong authority citation is the fastest way to have the whole decree sent back. So the Preamble is generated as a scaffold, then verified line by line.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first two components of the decree are the ones a non-lawyer can lead on, because they are about the case and the context rather than the binding rules. The Explanatory Memorandum makes the case for the decree. The Preamble sets out the legal authority and the recitals. Both can be drafted from a document you already have — the Strategic Foundation Document from Module 1 — and both are exactly the kind of focused, well-bounded drafting task an AI assistant does well, with you reviewing.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Explanatory Memorandum is the case, written for the minister and the cabinet, not the lawyer. It states the problem the decree solves — fragmentation, the citizen asked the same thing many times. It says what the decree does, in plain language. It says why now — the cost of another year without a mandate. And it names the expected benefit. If you wrote a good Strategic Foundation Document in Module 1, the Memorandum is largely a translation of it into the form a Ministry of Justice expects. That is a task you can hand to Claude with the foundation document as input.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the first two components come quickly, because the Memorandum restates a document you already have and the Preamble is a scaffold to be verified. Lead on the case, generate the drafts, and confirm the law. The hardest component is the Draft Articles — the binding rules themselves.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4.xml"/></Relationships>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KP2 · MODULE 2 · VIDEO 2.3</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2.3</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The Explanatory Memorandum and Preamble</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Draft the case-for and the recitals with Claude from your Strategic Foundation Document — then check every claim against a real statute.</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The first two parts are the ones a non-lawyer can lead on.</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They are about the case and the context, not the binding rules.</a:t>
            </a:r>
          </a:p>
          <a:p>
            <a:pPr>
              <a:spcAft>
                <a:spcPts val="800"/>
              </a:spcAft>
            </a:pPr>
            <a:r>
              <a:rPr sz="1700" b="0" i="0">
                <a:solidFill>
                  <a:srgbClr val="595959"/>
                </a:solidFill>
                <a:latin typeface="Arial"/>
              </a:rPr>
              <a:t>Both start from the Strategic Foundation Document you already have.</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2.3 · The Explanatory Memorandum and Preamble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Memorandum is the case, written for the minister</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028699"/>
          </a:xfrm>
          <a:prstGeom prst="rect">
            <a:avLst/>
          </a:prstGeom>
          <a:noFill/>
        </p:spPr>
        <p:txBody>
          <a:bodyPr wrap="square">
            <a:spAutoFit/>
          </a:bodyPr>
          <a:lstStyle/>
          <a:p>
            <a:pPr>
              <a:spcAft>
                <a:spcPts val="300"/>
              </a:spcAft>
            </a:pPr>
            <a:r>
              <a:rPr sz="1900" b="1" i="0">
                <a:solidFill>
                  <a:srgbClr val="1A1A1A"/>
                </a:solidFill>
                <a:latin typeface="Arial"/>
              </a:rPr>
              <a:t>The problem the decree solves</a:t>
            </a:r>
          </a:p>
          <a:p>
            <a:pPr>
              <a:spcAft>
                <a:spcPts val="300"/>
              </a:spcAft>
            </a:pPr>
            <a:r>
              <a:rPr sz="1550" b="0" i="0">
                <a:solidFill>
                  <a:srgbClr val="595959"/>
                </a:solidFill>
                <a:latin typeface="Arial"/>
              </a:rPr>
              <a:t>Fragmentation; the citizen asked the same thing many times.</a:t>
            </a:r>
          </a:p>
        </p:txBody>
      </p:sp>
      <p:sp>
        <p:nvSpPr>
          <p:cNvPr id="6" name="Rectangle 5"/>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5831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537460"/>
            <a:ext cx="10527487" cy="1028699"/>
          </a:xfrm>
          <a:prstGeom prst="rect">
            <a:avLst/>
          </a:prstGeom>
          <a:noFill/>
        </p:spPr>
        <p:txBody>
          <a:bodyPr wrap="square">
            <a:spAutoFit/>
          </a:bodyPr>
          <a:lstStyle/>
          <a:p>
            <a:pPr>
              <a:spcAft>
                <a:spcPts val="300"/>
              </a:spcAft>
            </a:pPr>
            <a:r>
              <a:rPr sz="1900" b="1" i="0">
                <a:solidFill>
                  <a:srgbClr val="1A1A1A"/>
                </a:solidFill>
                <a:latin typeface="Arial"/>
              </a:rPr>
              <a:t>What the decree does</a:t>
            </a:r>
          </a:p>
          <a:p>
            <a:pPr>
              <a:spcAft>
                <a:spcPts val="300"/>
              </a:spcAft>
            </a:pPr>
            <a:r>
              <a:rPr sz="1550" b="0" i="0">
                <a:solidFill>
                  <a:srgbClr val="595959"/>
                </a:solidFill>
                <a:latin typeface="Arial"/>
              </a:rPr>
              <a:t>In plain language.</a:t>
            </a:r>
          </a:p>
        </p:txBody>
      </p:sp>
      <p:sp>
        <p:nvSpPr>
          <p:cNvPr id="9" name="Rectangle 8"/>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65759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611879"/>
            <a:ext cx="10527487" cy="1028699"/>
          </a:xfrm>
          <a:prstGeom prst="rect">
            <a:avLst/>
          </a:prstGeom>
          <a:noFill/>
        </p:spPr>
        <p:txBody>
          <a:bodyPr wrap="square">
            <a:spAutoFit/>
          </a:bodyPr>
          <a:lstStyle/>
          <a:p>
            <a:pPr>
              <a:spcAft>
                <a:spcPts val="300"/>
              </a:spcAft>
            </a:pPr>
            <a:r>
              <a:rPr sz="1900" b="1" i="0">
                <a:solidFill>
                  <a:srgbClr val="1A1A1A"/>
                </a:solidFill>
                <a:latin typeface="Arial"/>
              </a:rPr>
              <a:t>Why now</a:t>
            </a:r>
          </a:p>
          <a:p>
            <a:pPr>
              <a:spcAft>
                <a:spcPts val="300"/>
              </a:spcAft>
            </a:pPr>
            <a:r>
              <a:rPr sz="1550" b="0" i="0">
                <a:solidFill>
                  <a:srgbClr val="595959"/>
                </a:solidFill>
                <a:latin typeface="Arial"/>
              </a:rPr>
              <a:t>The cost of another year without a mandate.</a:t>
            </a:r>
          </a:p>
        </p:txBody>
      </p:sp>
      <p:sp>
        <p:nvSpPr>
          <p:cNvPr id="12" name="Rectangle 11"/>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7320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686300"/>
            <a:ext cx="10527487" cy="1028699"/>
          </a:xfrm>
          <a:prstGeom prst="rect">
            <a:avLst/>
          </a:prstGeom>
          <a:noFill/>
        </p:spPr>
        <p:txBody>
          <a:bodyPr wrap="square">
            <a:spAutoFit/>
          </a:bodyPr>
          <a:lstStyle/>
          <a:p>
            <a:pPr>
              <a:spcAft>
                <a:spcPts val="300"/>
              </a:spcAft>
            </a:pPr>
            <a:r>
              <a:rPr sz="1900" b="1" i="0">
                <a:solidFill>
                  <a:srgbClr val="1A1A1A"/>
                </a:solidFill>
                <a:latin typeface="Arial"/>
              </a:rPr>
              <a:t>The expected benefit</a:t>
            </a:r>
          </a:p>
          <a:p>
            <a:pPr>
              <a:spcAft>
                <a:spcPts val="300"/>
              </a:spcAft>
            </a:pPr>
            <a:r>
              <a:rPr sz="1550" b="0" i="0">
                <a:solidFill>
                  <a:srgbClr val="595959"/>
                </a:solidFill>
                <a:latin typeface="Arial"/>
              </a:rPr>
              <a:t>To citizens and to the state.</a:t>
            </a:r>
          </a:p>
        </p:txBody>
      </p:sp>
      <p:sp>
        <p:nvSpPr>
          <p:cNvPr id="15" name="TextBox 14"/>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Largely a translation of your Strategic Foundation Document.</a:t>
            </a:r>
          </a:p>
        </p:txBody>
      </p:sp>
      <p:sp>
        <p:nvSpPr>
          <p:cNvPr id="16" name="TextBox 1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2.3 · The Explanatory Memorandum and Preamble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Preamble: every cited authority is a [confirm]</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386839"/>
          </a:xfrm>
          <a:prstGeom prst="rect">
            <a:avLst/>
          </a:prstGeom>
          <a:noFill/>
        </p:spPr>
        <p:txBody>
          <a:bodyPr wrap="square">
            <a:spAutoFit/>
          </a:bodyPr>
          <a:lstStyle/>
          <a:p>
            <a:pPr>
              <a:spcAft>
                <a:spcPts val="300"/>
              </a:spcAft>
            </a:pPr>
            <a:r>
              <a:rPr sz="1900" b="1" i="0">
                <a:solidFill>
                  <a:srgbClr val="1A1A1A"/>
                </a:solidFill>
                <a:latin typeface="Arial"/>
              </a:rPr>
              <a:t>The recitals</a:t>
            </a:r>
          </a:p>
          <a:p>
            <a:pPr>
              <a:spcAft>
                <a:spcPts val="300"/>
              </a:spcAft>
            </a:pPr>
            <a:r>
              <a:rPr sz="1550" b="0" i="0">
                <a:solidFill>
                  <a:srgbClr val="595959"/>
                </a:solidFill>
                <a:latin typeface="Arial"/>
              </a:rPr>
              <a:t>The formal findings the decree rests on.</a:t>
            </a:r>
          </a:p>
        </p:txBody>
      </p:sp>
      <p:sp>
        <p:nvSpPr>
          <p:cNvPr id="6" name="Rectangle 5"/>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94131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895600"/>
            <a:ext cx="10527487" cy="1386839"/>
          </a:xfrm>
          <a:prstGeom prst="rect">
            <a:avLst/>
          </a:prstGeom>
          <a:noFill/>
        </p:spPr>
        <p:txBody>
          <a:bodyPr wrap="square">
            <a:spAutoFit/>
          </a:bodyPr>
          <a:lstStyle/>
          <a:p>
            <a:pPr>
              <a:spcAft>
                <a:spcPts val="300"/>
              </a:spcAft>
            </a:pPr>
            <a:r>
              <a:rPr sz="1900" b="1" i="0">
                <a:solidFill>
                  <a:srgbClr val="1A1A1A"/>
                </a:solidFill>
                <a:latin typeface="Arial"/>
              </a:rPr>
              <a:t>The legal authority</a:t>
            </a:r>
          </a:p>
          <a:p>
            <a:pPr>
              <a:spcAft>
                <a:spcPts val="300"/>
              </a:spcAft>
            </a:pPr>
            <a:r>
              <a:rPr sz="1550" b="0" i="0">
                <a:solidFill>
                  <a:srgbClr val="595959"/>
                </a:solidFill>
                <a:latin typeface="Arial"/>
              </a:rPr>
              <a:t>The constitutional or statutory power to make this decree.</a:t>
            </a:r>
          </a:p>
        </p:txBody>
      </p:sp>
      <p:sp>
        <p:nvSpPr>
          <p:cNvPr id="9" name="Rectangle 8"/>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3738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328159"/>
            <a:ext cx="10527487" cy="1386839"/>
          </a:xfrm>
          <a:prstGeom prst="rect">
            <a:avLst/>
          </a:prstGeom>
          <a:noFill/>
        </p:spPr>
        <p:txBody>
          <a:bodyPr wrap="square">
            <a:spAutoFit/>
          </a:bodyPr>
          <a:lstStyle/>
          <a:p>
            <a:pPr>
              <a:spcAft>
                <a:spcPts val="300"/>
              </a:spcAft>
            </a:pPr>
            <a:r>
              <a:rPr sz="1900" b="1" i="0">
                <a:solidFill>
                  <a:srgbClr val="1A1A1A"/>
                </a:solidFill>
                <a:latin typeface="Arial"/>
              </a:rPr>
              <a:t>[confirm] on every citation</a:t>
            </a:r>
          </a:p>
          <a:p>
            <a:pPr>
              <a:spcAft>
                <a:spcPts val="300"/>
              </a:spcAft>
            </a:pPr>
            <a:r>
              <a:rPr sz="1550" b="0" i="0">
                <a:solidFill>
                  <a:srgbClr val="595959"/>
                </a:solidFill>
                <a:latin typeface="Arial"/>
              </a:rPr>
              <a:t>Until a qualified lawyer verifies the power exists and supports this decree.</a:t>
            </a:r>
          </a:p>
        </p:txBody>
      </p:sp>
      <p:sp>
        <p:nvSpPr>
          <p:cNvPr id="12" name="TextBox 11"/>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A wrong authority citation is the fastest way to have the whole decree sent back.</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2.3 · The Explanatory Memorandum and Preamble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Generate fast, confirm carefully</a:t>
            </a:r>
          </a:p>
        </p:txBody>
      </p:sp>
      <p:sp>
        <p:nvSpPr>
          <p:cNvPr id="4" name="Rounded Rectangle 3"/>
          <p:cNvSpPr/>
          <p:nvPr/>
        </p:nvSpPr>
        <p:spPr>
          <a:xfrm>
            <a:off x="658368" y="1554480"/>
            <a:ext cx="5394960" cy="29260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THE AI PLAY — NINETY PER CENT</a:t>
            </a:r>
          </a:p>
          <a:p>
            <a:pPr>
              <a:spcAft>
                <a:spcPts val="700"/>
              </a:spcAft>
            </a:pPr>
            <a:r>
              <a:rPr sz="1600" b="0" i="0">
                <a:solidFill>
                  <a:srgbClr val="1A1A1A"/>
                </a:solidFill>
                <a:latin typeface="Arial"/>
              </a:rPr>
              <a:t>Turns the foundation document into a Memorandum draft and a Preamble scaffold.</a:t>
            </a:r>
          </a:p>
          <a:p>
            <a:pPr>
              <a:spcAft>
                <a:spcPts val="700"/>
              </a:spcAft>
            </a:pPr>
            <a:r>
              <a:rPr sz="1600" b="0" i="0">
                <a:solidFill>
                  <a:srgbClr val="1A1A1A"/>
                </a:solidFill>
                <a:latin typeface="Arial"/>
              </a:rPr>
              <a:t>In minutes.</a:t>
            </a:r>
          </a:p>
        </p:txBody>
      </p:sp>
      <p:sp>
        <p:nvSpPr>
          <p:cNvPr id="6" name="Rounded Rectangle 5"/>
          <p:cNvSpPr/>
          <p:nvPr/>
        </p:nvSpPr>
        <p:spPr>
          <a:xfrm>
            <a:off x="6263640" y="1554480"/>
            <a:ext cx="5394960" cy="2926080"/>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YOU — THE ESSENTIAL TEN</a:t>
            </a:r>
          </a:p>
          <a:p>
            <a:pPr>
              <a:spcAft>
                <a:spcPts val="700"/>
              </a:spcAft>
            </a:pPr>
            <a:r>
              <a:rPr sz="1600" b="0" i="0">
                <a:solidFill>
                  <a:srgbClr val="1A1A1A"/>
                </a:solidFill>
                <a:latin typeface="Arial"/>
              </a:rPr>
              <a:t>Confirm every legal citation against a real statute.</a:t>
            </a:r>
          </a:p>
          <a:p>
            <a:pPr>
              <a:spcAft>
                <a:spcPts val="700"/>
              </a:spcAft>
            </a:pPr>
            <a:r>
              <a:rPr sz="1600" b="0" i="0">
                <a:solidFill>
                  <a:srgbClr val="1A1A1A"/>
                </a:solidFill>
                <a:latin typeface="Arial"/>
              </a:rPr>
              <a:t>Soften any claim the evidence does not support; mark the rest [confirm].</a:t>
            </a:r>
          </a:p>
        </p:txBody>
      </p:sp>
      <p:sp>
        <p:nvSpPr>
          <p:cNvPr id="8" name="TextBox 7"/>
          <p:cNvSpPr txBox="1"/>
          <p:nvPr/>
        </p:nvSpPr>
        <p:spPr>
          <a:xfrm>
            <a:off x="658368" y="4663440"/>
            <a:ext cx="10881360" cy="548640"/>
          </a:xfrm>
          <a:prstGeom prst="rect">
            <a:avLst/>
          </a:prstGeom>
          <a:noFill/>
        </p:spPr>
        <p:txBody>
          <a:bodyPr wrap="square">
            <a:spAutoFit/>
          </a:bodyPr>
          <a:lstStyle/>
          <a:p>
            <a:r>
              <a:rPr sz="1550" b="1" i="0">
                <a:solidFill>
                  <a:srgbClr val="006E96"/>
                </a:solidFill>
                <a:latin typeface="Arial"/>
              </a:rPr>
              <a:t>The AI accelerates the drafting. It does not get the law right for you.</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2.3 · The Explanatory Memorandum and Preamble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Generate the Memorandum and Preamble from your foundation document — then confirm every legal citation against a real statute before anyone relies on it.</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Generate the Explanatory Memorandum and Preamble.</a:t>
            </a:r>
          </a:p>
          <a:p>
            <a:pPr algn="l">
              <a:spcAft>
                <a:spcPts val="400"/>
              </a:spcAft>
            </a:pPr>
            <a:r>
              <a:rPr sz="1800" b="0" i="0">
                <a:solidFill>
                  <a:srgbClr val="595959"/>
                </a:solidFill>
                <a:latin typeface="Arial"/>
              </a:rPr>
              <a:t>The prompt in the companion material gives you a Memorandum draft, a Preamble scaffold, and a list of [confirm] items for legal review.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2.3 · The Explanatory Memorandum and Preamble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§3.2 (Legal layer)</a:t>
            </a:r>
          </a:p>
          <a:p>
            <a:pPr>
              <a:spcAft>
                <a:spcPts val="1200"/>
              </a:spcAft>
            </a:pPr>
            <a:r>
              <a:rPr sz="1700" b="0" i="0">
                <a:solidFill>
                  <a:srgbClr val="1A1A1A"/>
                </a:solidFill>
                <a:latin typeface="Arial"/>
              </a:rPr>
              <a:t>•  EU European Interoperability Framework (EIF)</a:t>
            </a:r>
          </a:p>
          <a:p>
            <a:pPr>
              <a:spcAft>
                <a:spcPts val="1200"/>
              </a:spcAft>
            </a:pPr>
            <a:r>
              <a:rPr sz="1700" b="0" i="0">
                <a:solidFill>
                  <a:srgbClr val="1A1A1A"/>
                </a:solidFill>
                <a:latin typeface="Arial"/>
              </a:rPr>
              <a:t>•  The Strategic Foundation Document (Module 1, video 1.4)</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2.3 · The Explanatory Memorandum and Preamble</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