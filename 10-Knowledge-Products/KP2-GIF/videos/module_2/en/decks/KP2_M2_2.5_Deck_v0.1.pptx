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5" r:id="rId16"/>
    <p:sldId id="2726" r:id="rId15"/>
    <p:sldId id="2727" r:id="rId14"/>
    <p:sldId id="2728" r:id="rId13"/>
    <p:sldId id="2729" r:id="rId12"/>
    <p:sldId id="2730" r:id="rId11"/>
    <p:sldId id="27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can have a perfect Memorandum, Preamble and set of Articles, and still watch the decree stall — in a Ministry of Justice queue, or in a challenge from the data-protection authority. The last two components of the kit exist to stop both. The Cover Note transmits the package with a specific ask. The Two-Track Regulatory Memo shows how this decree and the country's personal-data-protection law run as two coordinated tracks, not two competing ones.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Cover Note is short and does three things. It says what the package is, in three lines a busy official reads in thirty seconds. It says exactly what is being asked — review and perfect the Articles, confirm the Preamble's authorities, and advise on the route to enactment: an executive decree, faster and lighter to amend but dependent on an enabling law, or primary legislation through parliament, slower but able to create authority that does not yet exist. And it states the timeline and what it costs the country if the decree slips. A clear ask moves; a thick document with no covering request waits.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Two-Track Regulatory Memo takes the two instruments that both govern the same data — the interoperability decree and the personal-data-protection law, whether that law is in force, in parliament, or still a draft — and lays out where they meet. The same definitions, or different ones. Consent and data-subject rights. Cross-border transfer. The Data Protection Officer each member must name. And two sanctions regimes that could punish one breach twice. For each meeting point the memo says one of three things: here the decree defers to the data-protection law and cross-references it; here the decree fills a gap the data-protection law leaves, in a way that stays compatible when that law is enacted; here the two could conflict, and this is how the conflict is resolved.</a:t>
            </a:r>
          </a:p>
          <a:p/>
          <a:p>
            <a:r>
              <a:t>Production cue: the pivotal slide of this video. Reveal the meeting-points line last.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why this memo, and not a thicker set of articles, is what gets a decree enacted. A decree drafted in isolation from the data-protection law is exactly the decree the data-protection authority challenges — and a challenge from a regulator is the delay no Cover Note can talk past. The memo turns that regulator into a partner: it proposes the coordination mechanisms — joint subordinate regulation issued by the operating authority and the data-protection authority together, a memorandum of understanding between them, joint enforcement so a breach is sanctioned once. And it names the risk if the data-protection law changes materially while the decree is in the drafting cycle, and the forward-compatible choices that keep the decree standing when it does.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Cover Note and the Two-Track Memo are what carry a finished kit across the line. A specific ask an official can act on — including the route to enactment. And a clean showing that the decree and the data-protection law fit together, so the one regulator who could stop it signs it instead. With these, the package moves. What remains is to read the finished decree back against the framework, as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Cover Note and Two-Track Regulatory Memo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Transmit the package with a specific ask, and show how the decree and the data-protection law fit together — so the decree moves instead of sitting in a queue, and the data-protection authority backs it instead of blocking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perfect package can still stall.</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 a Ministry of Justice queue.</a:t>
            </a:r>
          </a:p>
          <a:p>
            <a:pPr>
              <a:spcAft>
                <a:spcPts val="800"/>
              </a:spcAft>
            </a:pPr>
            <a:r>
              <a:rPr sz="1700" b="0" i="0">
                <a:solidFill>
                  <a:srgbClr val="595959"/>
                </a:solidFill>
                <a:latin typeface="Arial"/>
              </a:rPr>
              <a:t>Or in a challenge from the data-protection authority.</a:t>
            </a:r>
          </a:p>
          <a:p>
            <a:pPr>
              <a:spcAft>
                <a:spcPts val="800"/>
              </a:spcAft>
            </a:pPr>
            <a:r>
              <a:rPr sz="1700" b="0" i="0">
                <a:solidFill>
                  <a:srgbClr val="595959"/>
                </a:solidFill>
                <a:latin typeface="Arial"/>
              </a:rPr>
              <a:t>The last two parts of the kit exist to stop both.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Cover Note: what it is, what you ask, and by when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What this package is</a:t>
            </a:r>
          </a:p>
          <a:p>
            <a:pPr>
              <a:spcAft>
                <a:spcPts val="300"/>
              </a:spcAft>
            </a:pPr>
            <a:r>
              <a:rPr sz="1550" b="0" i="0">
                <a:solidFill>
                  <a:srgbClr val="595959"/>
                </a:solidFill>
                <a:latin typeface="Arial"/>
              </a:rPr>
              <a:t>In three lines a busy official reads in thirty seconds.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Exactly what is being asked</a:t>
            </a:r>
          </a:p>
          <a:p>
            <a:pPr>
              <a:spcAft>
                <a:spcPts val="300"/>
              </a:spcAft>
            </a:pPr>
            <a:r>
              <a:rPr sz="1550" b="0" i="0">
                <a:solidFill>
                  <a:srgbClr val="595959"/>
                </a:solidFill>
                <a:latin typeface="Arial"/>
              </a:rPr>
              <a:t>Perfect the Articles · confirm the authorities · advise the route: a decree, or primary legislation.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timeline</a:t>
            </a:r>
          </a:p>
          <a:p>
            <a:pPr>
              <a:spcAft>
                <a:spcPts val="300"/>
              </a:spcAft>
            </a:pPr>
            <a:r>
              <a:rPr sz="1550" b="0" i="0">
                <a:solidFill>
                  <a:srgbClr val="595959"/>
                </a:solidFill>
                <a:latin typeface="Arial"/>
              </a:rPr>
              <a:t>And what it costs the country if the decree slips.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clear ask moves. A thick document with no request waits.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laws, one set of data — the memo shows where they meet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INTEROPERABILITY DECREE</a:t>
            </a:r>
          </a:p>
          <a:p>
            <a:pPr>
              <a:spcAft>
                <a:spcPts val="700"/>
              </a:spcAft>
            </a:pPr>
            <a:r>
              <a:rPr sz="1600" b="0" i="0">
                <a:solidFill>
                  <a:srgbClr val="1A1A1A"/>
                </a:solidFill>
                <a:latin typeface="Arial"/>
              </a:rPr>
              <a:t>Mandates connection and once-only.</a:t>
            </a:r>
          </a:p>
          <a:p>
            <a:pPr>
              <a:spcAft>
                <a:spcPts val="700"/>
              </a:spcAft>
            </a:pPr>
            <a:r>
              <a:rPr sz="1600" b="0" i="0">
                <a:solidFill>
                  <a:srgbClr val="1A1A1A"/>
                </a:solidFill>
                <a:latin typeface="Arial"/>
              </a:rPr>
              <a:t>Names the operating authority.</a:t>
            </a:r>
          </a:p>
          <a:p>
            <a:pPr>
              <a:spcAft>
                <a:spcPts val="700"/>
              </a:spcAft>
            </a:pPr>
            <a:r>
              <a:rPr sz="1600" b="0" i="0">
                <a:solidFill>
                  <a:srgbClr val="1A1A1A"/>
                </a:solidFill>
                <a:latin typeface="Arial"/>
              </a:rPr>
              <a:t>Sets sanctions.</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DATA-PROTECTION LAW</a:t>
            </a:r>
          </a:p>
          <a:p>
            <a:pPr>
              <a:spcAft>
                <a:spcPts val="700"/>
              </a:spcAft>
            </a:pPr>
            <a:r>
              <a:rPr sz="1600" b="0" i="0">
                <a:solidFill>
                  <a:srgbClr val="1A1A1A"/>
                </a:solidFill>
                <a:latin typeface="Arial"/>
              </a:rPr>
              <a:t>Lawful bases and data-subject rights.</a:t>
            </a:r>
          </a:p>
          <a:p>
            <a:pPr>
              <a:spcAft>
                <a:spcPts val="700"/>
              </a:spcAft>
            </a:pPr>
            <a:r>
              <a:rPr sz="1600" b="0" i="0">
                <a:solidFill>
                  <a:srgbClr val="1A1A1A"/>
                </a:solidFill>
                <a:latin typeface="Arial"/>
              </a:rPr>
              <a:t>The data-protection authority and its officers.</a:t>
            </a:r>
          </a:p>
          <a:p>
            <a:pPr>
              <a:spcAft>
                <a:spcPts val="700"/>
              </a:spcAft>
            </a:pPr>
            <a:r>
              <a:rPr sz="1600" b="0" i="0">
                <a:solidFill>
                  <a:srgbClr val="1A1A1A"/>
                </a:solidFill>
                <a:latin typeface="Arial"/>
              </a:rPr>
              <a:t>Its own sanctions.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They meet at: definitions · consent · cross-border transfers · the Data Protection Officer · sanctions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memo turns the data-protection authority into a co-signer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decree drafted in isolation is the decree the data-protection authority challenges.</a:t>
            </a:r>
          </a:p>
          <a:p>
            <a:pPr>
              <a:spcAft>
                <a:spcPts val="1200"/>
              </a:spcAft>
            </a:pPr>
            <a:r>
              <a:rPr sz="2000" b="0" i="0">
                <a:solidFill>
                  <a:srgbClr val="1A1A1A"/>
                </a:solidFill>
                <a:latin typeface="Arial"/>
              </a:rPr>
              <a:t>The memo proposes the coordination: joint subordinate regulation, a memorandum of understanding between the two authorities, joint enforcement.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Skip it, and the collision surfaces after enactment — in court.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Transmit with a specific ask, and show the decree and the data-protection law as two coordinated tracks — so enactment is a decision, and the data-protection authority is a co-signer.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Cover Note and the Two-Track Regulatory Memo.</a:t>
            </a:r>
          </a:p>
          <a:p>
            <a:pPr algn="l">
              <a:spcAft>
                <a:spcPts val="400"/>
              </a:spcAft>
            </a:pPr>
            <a:r>
              <a:rPr sz="1800" b="0" i="0">
                <a:solidFill>
                  <a:srgbClr val="595959"/>
                </a:solidFill>
                <a:latin typeface="Arial"/>
              </a:rPr>
              <a:t>The prompt in the companion material gives you a Cover Note and a Two-Track Regulatory Memo coordinating the decree with the data-protection law.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legal and governance layers</a:t>
            </a:r>
          </a:p>
          <a:p>
            <a:pPr>
              <a:spcAft>
                <a:spcPts val="1200"/>
              </a:spcAft>
            </a:pPr>
            <a:r>
              <a:rPr sz="1700" b="0" i="0">
                <a:solidFill>
                  <a:srgbClr val="1A1A1A"/>
                </a:solidFill>
                <a:latin typeface="Arial"/>
              </a:rPr>
              <a:t>•  Your country's personal-data-protection law and data-protection authority</a:t>
            </a:r>
          </a:p>
          <a:p>
            <a:pPr>
              <a:spcAft>
                <a:spcPts val="1200"/>
              </a:spcAft>
            </a:pPr>
            <a:r>
              <a:rPr sz="1700" b="0" i="0">
                <a:solidFill>
                  <a:srgbClr val="1A1A1A"/>
                </a:solidFill>
                <a:latin typeface="Arial"/>
              </a:rPr>
              <a:t>•  Your national legislative-process references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Cover Note and Two-Track Regulatory Memo</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