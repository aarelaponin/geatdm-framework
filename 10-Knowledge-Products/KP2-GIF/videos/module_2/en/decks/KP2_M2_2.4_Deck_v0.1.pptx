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8" r:id="rId40"/>
    <p:sldId id="2719" r:id="rId41"/>
    <p:sldId id="2720" r:id="rId42"/>
    <p:sldId id="2721" r:id="rId43"/>
    <p:sldId id="2722" r:id="rId44"/>
    <p:sldId id="2723" r:id="rId45"/>
    <p:sldId id="272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7" Type="http://schemas.openxmlformats.org/officeDocument/2006/relationships/slide" Target="slides/slide31.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Draft Articles are the heart of the decree — the operative provisions, the binding rules. This is the component where precision matters most, where the cost of getting it wrong is highest, and where the discipline of generating against a published model, rather than from imagination, matters more than anywhere else. The articles are where the legal layer stops being an idea and becomes enforceable.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sound interoperability decree carries a recognisable set of articles. Scope and definitions — what exchanges and which agencies the decree covers. Mandatory connection — that designated agencies shall connect to the bus, turning interoperability from optional to required. The once-only obligation — that an agency shall not ask a person for data the state already holds and can lawfully fetch. Data protection and consent — the purpose limits, the lawful basis, the security safeguards. The principles the decree commits the state to — about ten, adopted from the European framework rather than drafted fresh: openness, transparency, reusability, technological neutrality, security by design, administrative simplification, preservation of information, assessment of effectiveness, once-only. The operating authority's powers and duties. And enforcement — what happens, and who decides, when an agency refuses to connect or to share. Enforcement is a ladder, not a hammer: a warning, then an administrative fine, then restriction of access to the framework's services, then suspension, then escalation to the Council of Ministers. Each step must be proportionate, or the first sanction applied is the one a court strikes down.</a:t>
            </a:r>
          </a:p>
          <a:p/>
          <a:p>
            <a:r>
              <a:t>Production cue: the densest slide of the module. Reveal the rows as they are named; hold the enforcement row.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rule that keeps the articles safe. Each article is drafted against a named, published legal model — Estonia's Information Society Services Act for the structure of mandatory connection, the EU's Once-Only provisions for the once-only obligation, a recognised data-protection regime for the safeguards. The AI's job is to adapt a real, published article to your context — not to invent plausible-sounding legal text from nothing. Invented legal text is the single most dangerous output in this whole knowledge product: it reads convincingly and is worthless or harmful. If no published model stands behind an article, it is a [confirm] for a lawyer, not a clause you ship.</a:t>
            </a:r>
          </a:p>
          <a:p/>
          <a:p>
            <a:r>
              <a:t>Production cue: the most important safeguard in the module, and its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a reason the Strategist, not only the lawyer, must understand these articles. The mandatory-connection article and the once-only article describe, in legal language, exactly the exchanges the architects will build in the technical layer. If the legal-and-policy side and the IT side do not agree on what those articles cover, the decree will authorise one thing and the bus will carry another. The articles are where the two sides meet — the decree is the rare artefact where business and IT share one language, a single binding text that the policy side writes and the technical side implements. Getting them aligned here saves a painful discovery later.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Draft Articles are generated, one article at a time, each against a named published model, each carrying its [confirm] flags until a lawyer signs it off — and each aligned with the exchanges the framework will actually carry. This is the most demanding component and the most important. Once drafted, the finished package goes to the Ministry of Justice.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Draft Articles Package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operative articles — mandatory connection, once-only, data protection — generated against published models, every clause confirmed, not invented.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articles are where the legal layer becomes enforceable.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binding rules — where precision matters most.</a:t>
            </a:r>
          </a:p>
          <a:p>
            <a:pPr>
              <a:spcAft>
                <a:spcPts val="800"/>
              </a:spcAft>
            </a:pPr>
            <a:r>
              <a:rPr sz="1700" b="0" i="0">
                <a:solidFill>
                  <a:srgbClr val="595959"/>
                </a:solidFill>
                <a:latin typeface="Arial"/>
              </a:rPr>
              <a:t>Drafted against a published model, never from imagination.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The Draft Articles Package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sound decree carries a recognisable set of articles</a:t>
            </a:r>
          </a:p>
        </p:txBody>
      </p:sp>
      <p:sp>
        <p:nvSpPr>
          <p:cNvPr id="4" name="Oval 3"/>
          <p:cNvSpPr/>
          <p:nvPr/>
        </p:nvSpPr>
        <p:spPr>
          <a:xfrm>
            <a:off x="621792" y="13258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280160"/>
            <a:ext cx="10527487" cy="666205"/>
          </a:xfrm>
          <a:prstGeom prst="rect">
            <a:avLst/>
          </a:prstGeom>
          <a:noFill/>
        </p:spPr>
        <p:txBody>
          <a:bodyPr wrap="square">
            <a:spAutoFit/>
          </a:bodyPr>
          <a:lstStyle/>
          <a:p>
            <a:pPr>
              <a:spcAft>
                <a:spcPts val="300"/>
              </a:spcAft>
            </a:pPr>
            <a:r>
              <a:rPr sz="1700" b="1" i="0">
                <a:solidFill>
                  <a:srgbClr val="1A1A1A"/>
                </a:solidFill>
                <a:latin typeface="Arial"/>
              </a:rPr>
              <a:t>Scope and definitions</a:t>
            </a:r>
          </a:p>
          <a:p>
            <a:pPr>
              <a:spcAft>
                <a:spcPts val="300"/>
              </a:spcAft>
            </a:pPr>
            <a:r>
              <a:rPr sz="1550" b="0" i="0">
                <a:solidFill>
                  <a:srgbClr val="595959"/>
                </a:solidFill>
                <a:latin typeface="Arial"/>
              </a:rPr>
              <a:t>Which exchanges and which agencies the decree covers.</a:t>
            </a:r>
          </a:p>
        </p:txBody>
      </p:sp>
      <p:sp>
        <p:nvSpPr>
          <p:cNvPr id="6" name="Rectangle 5"/>
          <p:cNvSpPr/>
          <p:nvPr/>
        </p:nvSpPr>
        <p:spPr>
          <a:xfrm>
            <a:off x="621792" y="195093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03780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1992085"/>
            <a:ext cx="10527487" cy="666205"/>
          </a:xfrm>
          <a:prstGeom prst="rect">
            <a:avLst/>
          </a:prstGeom>
          <a:noFill/>
        </p:spPr>
        <p:txBody>
          <a:bodyPr wrap="square">
            <a:spAutoFit/>
          </a:bodyPr>
          <a:lstStyle/>
          <a:p>
            <a:pPr>
              <a:spcAft>
                <a:spcPts val="300"/>
              </a:spcAft>
            </a:pPr>
            <a:r>
              <a:rPr sz="1700" b="1" i="0">
                <a:solidFill>
                  <a:srgbClr val="1A1A1A"/>
                </a:solidFill>
                <a:latin typeface="Arial"/>
              </a:rPr>
              <a:t>Mandatory connection</a:t>
            </a:r>
          </a:p>
          <a:p>
            <a:pPr>
              <a:spcAft>
                <a:spcPts val="300"/>
              </a:spcAft>
            </a:pPr>
            <a:r>
              <a:rPr sz="1550" b="0" i="0">
                <a:solidFill>
                  <a:srgbClr val="595959"/>
                </a:solidFill>
                <a:latin typeface="Arial"/>
              </a:rPr>
              <a:t>Designated agencies shall connect to the bus.</a:t>
            </a:r>
          </a:p>
        </p:txBody>
      </p:sp>
      <p:sp>
        <p:nvSpPr>
          <p:cNvPr id="9" name="Rectangle 8"/>
          <p:cNvSpPr/>
          <p:nvPr/>
        </p:nvSpPr>
        <p:spPr>
          <a:xfrm>
            <a:off x="621792" y="26628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74973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704011"/>
            <a:ext cx="10527487" cy="666205"/>
          </a:xfrm>
          <a:prstGeom prst="rect">
            <a:avLst/>
          </a:prstGeom>
          <a:noFill/>
        </p:spPr>
        <p:txBody>
          <a:bodyPr wrap="square">
            <a:spAutoFit/>
          </a:bodyPr>
          <a:lstStyle/>
          <a:p>
            <a:pPr>
              <a:spcAft>
                <a:spcPts val="300"/>
              </a:spcAft>
            </a:pPr>
            <a:r>
              <a:rPr sz="1700" b="1" i="0">
                <a:solidFill>
                  <a:srgbClr val="1A1A1A"/>
                </a:solidFill>
                <a:latin typeface="Arial"/>
              </a:rPr>
              <a:t>Once-only obligation</a:t>
            </a:r>
          </a:p>
          <a:p>
            <a:pPr>
              <a:spcAft>
                <a:spcPts val="300"/>
              </a:spcAft>
            </a:pPr>
            <a:r>
              <a:rPr sz="1550" b="0" i="0">
                <a:solidFill>
                  <a:srgbClr val="595959"/>
                </a:solidFill>
                <a:latin typeface="Arial"/>
              </a:rPr>
              <a:t>Do not ask a person for data the state already holds.</a:t>
            </a:r>
          </a:p>
        </p:txBody>
      </p:sp>
      <p:sp>
        <p:nvSpPr>
          <p:cNvPr id="12" name="Rectangle 11"/>
          <p:cNvSpPr/>
          <p:nvPr/>
        </p:nvSpPr>
        <p:spPr>
          <a:xfrm>
            <a:off x="621792" y="3374789"/>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46165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415937"/>
            <a:ext cx="10527487" cy="666205"/>
          </a:xfrm>
          <a:prstGeom prst="rect">
            <a:avLst/>
          </a:prstGeom>
          <a:noFill/>
        </p:spPr>
        <p:txBody>
          <a:bodyPr wrap="square">
            <a:spAutoFit/>
          </a:bodyPr>
          <a:lstStyle/>
          <a:p>
            <a:pPr>
              <a:spcAft>
                <a:spcPts val="300"/>
              </a:spcAft>
            </a:pPr>
            <a:r>
              <a:rPr sz="1700" b="1" i="0">
                <a:solidFill>
                  <a:srgbClr val="1A1A1A"/>
                </a:solidFill>
                <a:latin typeface="Arial"/>
              </a:rPr>
              <a:t>Data protection and consent</a:t>
            </a:r>
          </a:p>
          <a:p>
            <a:pPr>
              <a:spcAft>
                <a:spcPts val="300"/>
              </a:spcAft>
            </a:pPr>
            <a:r>
              <a:rPr sz="1550" b="0" i="0">
                <a:solidFill>
                  <a:srgbClr val="595959"/>
                </a:solidFill>
                <a:latin typeface="Arial"/>
              </a:rPr>
              <a:t>Purpose limits, lawful basis, security safeguards.</a:t>
            </a:r>
          </a:p>
        </p:txBody>
      </p:sp>
      <p:sp>
        <p:nvSpPr>
          <p:cNvPr id="15" name="Rectangle 14"/>
          <p:cNvSpPr/>
          <p:nvPr/>
        </p:nvSpPr>
        <p:spPr>
          <a:xfrm>
            <a:off x="621792" y="408671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17358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127862"/>
            <a:ext cx="10527487" cy="666205"/>
          </a:xfrm>
          <a:prstGeom prst="rect">
            <a:avLst/>
          </a:prstGeom>
          <a:noFill/>
        </p:spPr>
        <p:txBody>
          <a:bodyPr wrap="square">
            <a:spAutoFit/>
          </a:bodyPr>
          <a:lstStyle/>
          <a:p>
            <a:pPr>
              <a:spcAft>
                <a:spcPts val="300"/>
              </a:spcAft>
            </a:pPr>
            <a:r>
              <a:rPr sz="1700" b="1" i="0">
                <a:solidFill>
                  <a:srgbClr val="1A1A1A"/>
                </a:solidFill>
                <a:latin typeface="Arial"/>
              </a:rPr>
              <a:t>The principles</a:t>
            </a:r>
          </a:p>
          <a:p>
            <a:pPr>
              <a:spcAft>
                <a:spcPts val="300"/>
              </a:spcAft>
            </a:pPr>
            <a:r>
              <a:rPr sz="1550" b="0" i="0">
                <a:solidFill>
                  <a:srgbClr val="595959"/>
                </a:solidFill>
                <a:latin typeface="Arial"/>
              </a:rPr>
              <a:t>About ten, adopted from the European framework — not drafted fresh.</a:t>
            </a:r>
          </a:p>
        </p:txBody>
      </p:sp>
      <p:sp>
        <p:nvSpPr>
          <p:cNvPr id="18" name="Rectangle 17"/>
          <p:cNvSpPr/>
          <p:nvPr/>
        </p:nvSpPr>
        <p:spPr>
          <a:xfrm>
            <a:off x="621792" y="47986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488550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4839788"/>
            <a:ext cx="10527487" cy="666205"/>
          </a:xfrm>
          <a:prstGeom prst="rect">
            <a:avLst/>
          </a:prstGeom>
          <a:noFill/>
        </p:spPr>
        <p:txBody>
          <a:bodyPr wrap="square">
            <a:spAutoFit/>
          </a:bodyPr>
          <a:lstStyle/>
          <a:p>
            <a:pPr>
              <a:spcAft>
                <a:spcPts val="300"/>
              </a:spcAft>
            </a:pPr>
            <a:r>
              <a:rPr sz="1700" b="1" i="0">
                <a:solidFill>
                  <a:srgbClr val="1A1A1A"/>
                </a:solidFill>
                <a:latin typeface="Arial"/>
              </a:rPr>
              <a:t>The operating authority</a:t>
            </a:r>
          </a:p>
          <a:p>
            <a:pPr>
              <a:spcAft>
                <a:spcPts val="300"/>
              </a:spcAft>
            </a:pPr>
            <a:r>
              <a:rPr sz="1550" b="0" i="0">
                <a:solidFill>
                  <a:srgbClr val="595959"/>
                </a:solidFill>
                <a:latin typeface="Arial"/>
              </a:rPr>
              <a:t>Its powers and duties.</a:t>
            </a:r>
          </a:p>
        </p:txBody>
      </p:sp>
      <p:sp>
        <p:nvSpPr>
          <p:cNvPr id="21" name="Rectangle 20"/>
          <p:cNvSpPr/>
          <p:nvPr/>
        </p:nvSpPr>
        <p:spPr>
          <a:xfrm>
            <a:off x="621792" y="551056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792" y="559743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7</a:t>
            </a:r>
          </a:p>
        </p:txBody>
      </p:sp>
      <p:sp>
        <p:nvSpPr>
          <p:cNvPr id="23" name="TextBox 22"/>
          <p:cNvSpPr txBox="1"/>
          <p:nvPr/>
        </p:nvSpPr>
        <p:spPr>
          <a:xfrm>
            <a:off x="1115568" y="5551714"/>
            <a:ext cx="10527487" cy="666205"/>
          </a:xfrm>
          <a:prstGeom prst="rect">
            <a:avLst/>
          </a:prstGeom>
          <a:noFill/>
        </p:spPr>
        <p:txBody>
          <a:bodyPr wrap="square">
            <a:spAutoFit/>
          </a:bodyPr>
          <a:lstStyle/>
          <a:p>
            <a:pPr>
              <a:spcAft>
                <a:spcPts val="300"/>
              </a:spcAft>
            </a:pPr>
            <a:r>
              <a:rPr sz="1700" b="1" i="0">
                <a:solidFill>
                  <a:srgbClr val="1A1A1A"/>
                </a:solidFill>
                <a:latin typeface="Arial"/>
              </a:rPr>
              <a:t>Enforcement — a ladder, not a hammer</a:t>
            </a:r>
          </a:p>
          <a:p>
            <a:pPr>
              <a:spcAft>
                <a:spcPts val="300"/>
              </a:spcAft>
            </a:pPr>
            <a:r>
              <a:rPr sz="1550" b="0" i="0">
                <a:solidFill>
                  <a:srgbClr val="595959"/>
                </a:solidFill>
                <a:latin typeface="Arial"/>
              </a:rPr>
              <a:t>Warning → fine → restricted access → suspension → Council of Ministers.</a:t>
            </a:r>
          </a:p>
        </p:txBody>
      </p:sp>
      <p:sp>
        <p:nvSpPr>
          <p:cNvPr id="24" name="TextBox 2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The Draft Articles Package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article is drafted against a published law</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Mandatory connection against Estonia's Information Society Services Act. Once-only against the EU's Once-Only provisions. Safeguards against a recognised data-protection regime.</a:t>
            </a:r>
          </a:p>
          <a:p>
            <a:pPr>
              <a:spcAft>
                <a:spcPts val="1200"/>
              </a:spcAft>
            </a:pPr>
            <a:r>
              <a:rPr sz="2000" b="0" i="0">
                <a:solidFill>
                  <a:srgbClr val="1A1A1A"/>
                </a:solidFill>
                <a:latin typeface="Arial"/>
              </a:rPr>
              <a:t>No published model behind an article? It is a [confirm] for a lawyer, not a clause.</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Invented legal text reads convincingly — and is worthless or harmful.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The Draft Articles Package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articles are where business and IT share one language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mandatory-connection and once-only articles describe, in law, exactly the exchanges the architects will build.</a:t>
            </a:r>
          </a:p>
          <a:p>
            <a:pPr>
              <a:spcAft>
                <a:spcPts val="1200"/>
              </a:spcAft>
            </a:pPr>
            <a:r>
              <a:rPr sz="2000" b="0" i="0">
                <a:solidFill>
                  <a:srgbClr val="1A1A1A"/>
                </a:solidFill>
                <a:latin typeface="Arial"/>
              </a:rPr>
              <a:t>If the two sides disagree on what they cover, the decree authorises one thing and the bus carries another.</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One binding text: the policy side writes it, the technical side implements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The Draft Articles Package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Generate each article against a named published law, confirm every clause with a lawyer, and make the binding rules match exactly the exchanges you will build.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one operative article against a published model.</a:t>
            </a:r>
          </a:p>
          <a:p>
            <a:pPr algn="l">
              <a:spcAft>
                <a:spcPts val="400"/>
              </a:spcAft>
            </a:pPr>
            <a:r>
              <a:rPr sz="1800" b="0" i="0">
                <a:solidFill>
                  <a:srgbClr val="595959"/>
                </a:solidFill>
                <a:latin typeface="Arial"/>
              </a:rPr>
              <a:t>The prompt in the companion material gives you a draft article with [confirm] placeholders and flagged terms.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The Draft Articles Package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Estonia — Information Society Services Act</a:t>
            </a:r>
          </a:p>
          <a:p>
            <a:pPr>
              <a:spcAft>
                <a:spcPts val="1200"/>
              </a:spcAft>
            </a:pPr>
            <a:r>
              <a:rPr sz="1700" b="0" i="0">
                <a:solidFill>
                  <a:srgbClr val="1A1A1A"/>
                </a:solidFill>
                <a:latin typeface="Arial"/>
              </a:rPr>
              <a:t>•  EU Once-Only Regulation</a:t>
            </a:r>
          </a:p>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Your national data-protection framework</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The Draft Articles Package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