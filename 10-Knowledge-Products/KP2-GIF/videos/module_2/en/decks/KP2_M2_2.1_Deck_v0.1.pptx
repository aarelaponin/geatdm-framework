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layers of interoperability, the one most often left for last is the legal layer — and it is the one that decides whether anything actually moves. You can build a perfect technical bus, agree the meaning of the data, and sign every organisational arrangement, and still carry nothing, because no agency will share data without a clear lawful basis to do so. A working bus with no legal mandate is not a working exchange. It is a standing risk that the most cautious official in any agency can stop, and be right to stop.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Without a mandate, you see one of three things. An official refuses to share, citing the data-protection law, and no one can overrule them. A project stalls for months waiting for a legal opinion that covers only that one exchange. Or — worst of all — data moves anyway, on an unclear basis, and becomes a breach waiting to surface. Each of these is a legal-layer failure wearing a technical or political disguise.</a:t>
            </a:r>
          </a:p>
          <a:p/>
          <a:p>
            <a:r>
              <a:t>Production cue: the recognition moment — the viewer has seen all three. Reveal one row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single legal instrument fixes all three. The decree authorises cross-agency exchange — it makes the sharing lawful in the first place. It makes connecting to the bus the default rather than something each agency may decline. It protects the citizen's data by binding every exchange to a stated purpose, a basis for consent where needed, and security obligations. And it names the operating authority and the powers it holds to run the framework. With the decree in force, exchange is the rule and refusing to connect becomes the exception that has to be justified.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part that makes the decree a framework artefact and not a project document. The lawful basis is written once, for the whole of government, so that every agency reuses the same mandate instead of each negotiating its own legal opinion for every exchange. That reuse — write the rule once, apply it everywhere — exists only at the level of whole-of-government planning. A project cannot grant itself a mandate that binds other agencies. Only the framework, through the decree, can.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the decree to your minister or to a Ministry of Justice, do not present it as paperwork that follows the technical build. Present it as the on-switch. It is the instrument that turns a technically capable bus into a lawfully operating framework. The rest of this module shows you how to draft it — five components, generated with AI, and made law by a qualified lawyer.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the platform needs a legal mandate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the legal layer, the bus cannot lawfully carry one cross-agency message — the decree is the on-switch, not paperwork.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perfect bus with no mandate carries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agency shares data without a clear lawful basis.</a:t>
            </a:r>
          </a:p>
          <a:p>
            <a:pPr>
              <a:spcAft>
                <a:spcPts val="800"/>
              </a:spcAft>
            </a:pPr>
            <a:r>
              <a:rPr sz="1700" b="0" i="0">
                <a:solidFill>
                  <a:srgbClr val="595959"/>
                </a:solidFill>
                <a:latin typeface="Arial"/>
              </a:rPr>
              <a:t>The most cautious official can stop any exchange — and be right to.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mandate shows up in one of three disguises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refusal</a:t>
            </a:r>
          </a:p>
          <a:p>
            <a:pPr>
              <a:spcAft>
                <a:spcPts val="300"/>
              </a:spcAft>
            </a:pPr>
            <a:r>
              <a:rPr sz="1550" b="0" i="0">
                <a:solidFill>
                  <a:srgbClr val="595959"/>
                </a:solidFill>
                <a:latin typeface="Arial"/>
              </a:rPr>
              <a:t>An official declines to share, citing the data-protection law — and cannot be overruled.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stall</a:t>
            </a:r>
          </a:p>
          <a:p>
            <a:pPr>
              <a:spcAft>
                <a:spcPts val="300"/>
              </a:spcAft>
            </a:pPr>
            <a:r>
              <a:rPr sz="1550" b="0" i="0">
                <a:solidFill>
                  <a:srgbClr val="595959"/>
                </a:solidFill>
                <a:latin typeface="Arial"/>
              </a:rPr>
              <a:t>A project waits months for a legal opinion that covers one exchange.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workaround</a:t>
            </a:r>
          </a:p>
          <a:p>
            <a:pPr>
              <a:spcAft>
                <a:spcPts val="300"/>
              </a:spcAft>
            </a:pPr>
            <a:r>
              <a:rPr sz="1550" b="0" i="0">
                <a:solidFill>
                  <a:srgbClr val="595959"/>
                </a:solidFill>
                <a:latin typeface="Arial"/>
              </a:rPr>
              <a:t>Data moves anyway, on an unclear basis — a breach waiting to surface.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is a legal-layer failure wearing a technical or political disguise.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instrument fixes all three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Authorises cross-agency exchange</a:t>
            </a:r>
          </a:p>
          <a:p>
            <a:pPr>
              <a:spcAft>
                <a:spcPts val="300"/>
              </a:spcAft>
            </a:pPr>
            <a:r>
              <a:rPr sz="1550" b="0" i="0">
                <a:solidFill>
                  <a:srgbClr val="595959"/>
                </a:solidFill>
                <a:latin typeface="Arial"/>
              </a:rPr>
              <a:t>Makes the sharing lawful in the first place.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Makes connection the default</a:t>
            </a:r>
          </a:p>
          <a:p>
            <a:pPr>
              <a:spcAft>
                <a:spcPts val="300"/>
              </a:spcAft>
            </a:pPr>
            <a:r>
              <a:rPr sz="1550" b="0" i="0">
                <a:solidFill>
                  <a:srgbClr val="595959"/>
                </a:solidFill>
                <a:latin typeface="Arial"/>
              </a:rPr>
              <a:t>Not something each agency may decline.</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Protects the citizen's data</a:t>
            </a:r>
          </a:p>
          <a:p>
            <a:pPr>
              <a:spcAft>
                <a:spcPts val="300"/>
              </a:spcAft>
            </a:pPr>
            <a:r>
              <a:rPr sz="1550" b="0" i="0">
                <a:solidFill>
                  <a:srgbClr val="595959"/>
                </a:solidFill>
                <a:latin typeface="Arial"/>
              </a:rPr>
              <a:t>A stated purpose, a basis for consent, security obligations.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Names the operating authority</a:t>
            </a:r>
          </a:p>
          <a:p>
            <a:pPr>
              <a:spcAft>
                <a:spcPts val="300"/>
              </a:spcAft>
            </a:pPr>
            <a:r>
              <a:rPr sz="1550" b="0" i="0">
                <a:solidFill>
                  <a:srgbClr val="595959"/>
                </a:solidFill>
                <a:latin typeface="Arial"/>
              </a:rPr>
              <a:t>And the powers it holds to run the framework.</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Exchange becomes the rule. Refusing to connect becomes the exception to justify.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the lawful basis once — for the whole of government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agency reuses the same mandate, instead of negotiating its own legal opinion for every exchange.</a:t>
            </a:r>
          </a:p>
          <a:p>
            <a:pPr>
              <a:spcAft>
                <a:spcPts val="1200"/>
              </a:spcAft>
            </a:pPr>
            <a:r>
              <a:rPr sz="2000" b="0" i="0">
                <a:solidFill>
                  <a:srgbClr val="1A1A1A"/>
                </a:solidFill>
                <a:latin typeface="Arial"/>
              </a:rPr>
              <a:t>That reuse exists only at the level of whole-of-government planning.</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project cannot grant itself a mandate that binds other agencies. Only the framework can.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decree is the legal on-switch — it makes cross-agency exchange lawful, connection mandatory, and the citizen's data protected.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Assess your legal readiness for cross-agency exchange.</a:t>
            </a:r>
          </a:p>
          <a:p>
            <a:pPr algn="l">
              <a:spcAft>
                <a:spcPts val="400"/>
              </a:spcAft>
            </a:pPr>
            <a:r>
              <a:rPr sz="1800" b="0" i="0">
                <a:solidFill>
                  <a:srgbClr val="595959"/>
                </a:solidFill>
                <a:latin typeface="Arial"/>
              </a:rPr>
              <a:t>The prompt in the companion material gives you a legal-readiness assessment table plus a list of what the decree must establish.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layer</a:t>
            </a:r>
          </a:p>
          <a:p>
            <a:pPr>
              <a:spcAft>
                <a:spcPts val="1200"/>
              </a:spcAft>
            </a:pPr>
            <a:r>
              <a:rPr sz="1700" b="0" i="0">
                <a:solidFill>
                  <a:srgbClr val="1A1A1A"/>
                </a:solidFill>
                <a:latin typeface="Arial"/>
              </a:rPr>
              <a:t>•  PAERA v1.0 — §3.2 (Legal layer)</a:t>
            </a:r>
          </a:p>
          <a:p>
            <a:pPr>
              <a:spcAft>
                <a:spcPts val="1200"/>
              </a:spcAft>
            </a:pPr>
            <a:r>
              <a:rPr sz="1700" b="0" i="0">
                <a:solidFill>
                  <a:srgbClr val="1A1A1A"/>
                </a:solidFill>
                <a:latin typeface="Arial"/>
              </a:rPr>
              <a:t>•  PAERA v1.0 — §5.2, Principle #5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