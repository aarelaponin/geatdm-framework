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pattern for the whole Decree Drafting Kit, and it appears first here. The AI prompt for this video takes your Strategic Foundation Document and produces a Memorandum draft and a Preamble scaffold in minutes. That is the easy ninety per cent. The hard, essential ten per cent is yours: confirm every legal citation against a real statute, soften every claim the evidence does not support, and mark anything unverified as a [confirm] for the lawyer. Generate fast; confirm carefully. The AI accelerates the drafting; it does not get the law right for you.</a:t>
            </a:r>
          </a:p>
          <a:p/>
          <a:p>
            <a:r>
              <a:t>Production cue: the pivotal slide of this video — the pattern the rest of the kit repeats.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Preamble is different. It sets out the recitals — the formal findings the decree rests on — and, critically, the legal authority: the constitutional or statutory power under which the decree is made. Here the AI is useful for structure and for a first draft of the recitals, but every citation of authority is a placeholder — a [confirm] — until a qualified lawyer verifies that the cited power actually exists and actually supports a decree of this kind in your country. An invented or wrong authority citation is the fastest way to have the whole decree sent back. So the Preamble is generated as a scaffold, then verified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layers of interoperability, the one most often left for last is the legal layer — and it is the one that decides whether anything actually moves. You can build a perfect technical bus, agree the meaning of the data, and sign every organisational arrangement, and still carry nothing, because no agency will share data without a clear lawful basis to do so. A working bus with no legal mandate is not a working exchange. It is a standing risk that the most cautious official in any agency can stop, and be right to stop.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Without a mandate, you see one of three things. An official refuses to share, citing the data-protection law, and no one can overrule them. A project stalls for months waiting for a legal opinion that covers only that one exchange. Or — worst of all — data moves anyway, on an unclear basis, and becomes a breach waiting to surface. Each of these is a legal-layer failure wearing a technical or political disguise.</a:t>
            </a:r>
          </a:p>
          <a:p/>
          <a:p>
            <a:r>
              <a:t>Production cue: the recognition moment — the viewer has seen all three. Reveal one row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single legal instrument fixes all three. The decree authorises cross-agency exchange — it makes the sharing lawful in the first place. It makes connecting to the bus the default rather than something each agency may decline. It protects the citizen's data by binding every exchange to a stated purpose, a basis for consent where needed, and security obligations. And it names the operating authority and the powers it holds to run the framework. With the decree in force, exchange is the rule and refusing to connect becomes the exception that has to be justified.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part that makes the decree a framework artefact and not a project document. The lawful basis is written once, for the whole of government, so that every agency reuses the same mandate instead of each negotiating its own legal opinion for every exchange. That reuse — write the rule once, apply it everywhere — exists only at the level of whole-of-government planning. A project cannot grant itself a mandate that binds other agencies. Only the framework, through the decree, can.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the decree to your minister or to a Ministry of Justice, do not present it as paperwork that follows the technical build. Present it as the on-switch. It is the instrument that turns a technically capable bus into a lawfully operating framework. The rest of this module shows you how to draft it — five components, generated with AI, and made law by a qualified lawyer.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decree looks, to a non-lawyer, like one dense block of legal text. It is actually five parts, each with a different job and a different reader. If you know the five parts, you stop being a passenger waiting for the Ministry of Justice to produce something, and you become the person who hands them a structured, near-complete package and asks them to perfect it. That shift — from waiting to briefing — is what this module gives you, and it starts with knowing the anatomy.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five parts are these. The Explanatory Memorandum — the case for the decree, in plain language a minister can read: what problem it solves, what it does, why now. The Preamble — the legal recitals that cite the authority under which the decree is made. The Draft Articles Package — the operative provisions, the binding rules themselves. The Cover Note — the short transmittal that goes to the Ministry of Justice with the package. And the Two-Track Regulatory Memo — the document that shows how the interoperability decree and the country's personal-data-protection law fit together, whether that law is in force or still being drafted, so the two instruments coordinate instead of colliding.</a:t>
            </a:r>
          </a:p>
          <a:p/>
          <a:p>
            <a:r>
              <a:t>Production cue: the centrepiece of the module — the spine the next three videos build out. Reveal the parts left to right. Hold it a beat longer.</a:t>
            </a:r>
          </a:p>
          <a:p/>
          <a:p>
            <a:r>
              <a:t>Retrieval prompt — ask before playing on: who do you think reads each of these parts?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that each part has a different reader, which is why they are separate. The minister reads the Memorandum — the case, not the clauses. The lawyer at the Ministry of Justice reads the Preamble and the Articles — the authority and the binding text. And the data-protection authority reads the Two-Track Memo, to see that the decree and the data-protection law fit together rather than compete. Bundle them into one block and each reader has to dig for their part. Separate them, and each reader finds exactly what they need.</a:t>
            </a:r>
          </a:p>
          <a:p/>
          <a:p>
            <a:r>
              <a:t>Production cue: this slide answers the retrieval prompt set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reasons to build the decree as five parts rather than one. The first is review: a package built in parts is reviewable in parts. The Ministry of Justice can perfect the legal wording of the Articles without reopening the political case in the Memorandum. The second is production. Each component is a focused, separate drafting task — and each one maps to a single AI prompt, run against a published legal model, producing a reviewed draft of that one component. Five focused drafts are far easier to get right than one sprawling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important framing. What this module helps you produce is a Decree Drafting Kit — the five components, as structured, well-sourced drafts. It is not a decree with legal force. A qualified lawyer in your jurisdiction turns the kit into an instrument that is valid in your legal system. The kit's job is to give that lawyer a strong, structured starting point so they perfect rather than originate — turning months of drafting into weeks of review. That division of labour, AI-and-architect drafts, lawyer makes law, runs through the whole module.</a:t>
            </a:r>
          </a:p>
          <a:p/>
          <a:p>
            <a:r>
              <a:t>Production cue: the safeguard framing of the whole module.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anatomy is five parts, each with a job and a reader: the Memorandum makes the case, the Preamble cites the authority, the Articles bind, the Cover Note transmits, and the Two-Track Memo squares the decree with the data-protection law. Knowing them is what lets you brief a Ministry of Justice with a near-complete package instead of waiting on one. This module builds each part, component by component.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components of the decree are the ones a non-lawyer can lead on, because they are about the case and the context rather than the binding rules. The Explanatory Memorandum makes the case for the decree. The Preamble sets out the legal authority and the recitals. Both can be drafted from a document you already have — the Strategic Foundation Document from Module 1 — and both are exactly the kind of focused, well-bounded drafting task an AI assistant does well, with you reviewing.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Explanatory Memorandum is the case, written for the minister and the cabinet, not the lawyer. It states the problem the decree solves — fragmentation, the citizen asked the same thing many times. It says what the decree does, in plain language. It says why now — the cost of another year without a mandate. And it names the expected benefit. If you wrote a good Strategic Foundation Document in Module 1, the Memorandum is largely a translation of it into the form a Ministry of Justice expects. That is a task you can hand to Claude with the foundation document as input.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2 deck. Each section that follows is one standalone ~4–5 minute video. Still the Strategist: the national interoperability authority, the ministry CIO, the Ministry of Justice sponsor, the development-partner lead. This module produces the legal layer — the decree — as a drafting kit a qualified lawyer turns into law.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2.1 is the why. 2.2 is the anatomy. 2.3 to 2.5 draft the five components. 2.6 reads the finished decree back against the Use-Case Catalogue.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two components come quickly, because the Memorandum restates a document you already have and the Preamble is a scaffold to be verified. Lead on the case, generate the drafts, and confirm the law. The hardest component is the Draft Articles — the binding rules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Draft Articles are the heart of the decree — the operative provisions, the binding rules. This is the component where precision matters most, where the cost of getting it wrong is highest, and where the discipline of generating against a published model, rather than from imagination, matters more than anywhere else. The articles are where the legal layer stops being an idea and becomes enforceable.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sound interoperability decree carries a recognisable set of articles. Scope and definitions — what exchanges and which agencies the decree covers. Mandatory connection — that designated agencies shall connect to the bus, turning interoperability from optional to required. The once-only obligation — that an agency shall not ask a person for data the state already holds and can lawfully fetch. Data protection and consent — the purpose limits, the lawful basis, the security safeguards. The principles the decree commits the state to — about ten, adopted from the European framework rather than drafted fresh: openness, transparency, reusability, technological neutrality, security by design, administrative simplification, preservation of information, assessment of effectiveness, once-only. The operating authority's powers and duties. And enforcement — what happens, and who decides, when an agency refuses to connect or to share. Enforcement is a ladder, not a hammer: a warning, then an administrative fine, then restriction of access to the framework's services, then suspension, then escalation to the Council of Ministers. Each step must be proportionate, or the first sanction applied is the one a court strikes down.</a:t>
            </a:r>
          </a:p>
          <a:p/>
          <a:p>
            <a:r>
              <a:t>Production cue: the densest slide of the module. Reveal the rows as they are named; hold the enforcement 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rule that keeps the articles safe. Each article is drafted against a named, published legal model — Estonia's Information Society Services Act for the structure of mandatory connection, the EU's Once-Only provisions for the once-only obligation, a recognised data-protection regime for the safeguards. The AI's job is to adapt a real, published article to your context — not to invent plausible-sounding legal text from nothing. Invented legal text is the single most dangerous output in this whole knowledge product: it reads convincingly and is worthless or harmful. If no published model stands behind an article, it is a [confirm] for a lawyer, not a clause you ship.</a:t>
            </a:r>
          </a:p>
          <a:p/>
          <a:p>
            <a:r>
              <a:t>Production cue: the most important safeguard in the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reason the Strategist, not only the lawyer, must understand these articles. The mandatory-connection article and the once-only article describe, in legal language, exactly the exchanges the architects will build in the technical layer. If the legal-and-policy side and the IT side do not agree on what those articles cover, the decree will authorise one thing and the bus will carry another. The articles are where the two sides meet — the decree is the rare artefact where business and IT share one language, a single binding text that the policy side writes and the technical side implements. Getting them aligned here saves a painful discovery later.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Draft Articles are generated, one article at a time, each against a named published model, each carrying its [confirm] flags until a lawyer signs it off — and each aligned with the exchanges the framework will actually carry. This is the most demanding component and the most important. Once drafted, the finished package goes to the Ministry of Justice.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can have a perfect Memorandum, Preamble and set of Articles, and still watch the decree stall — in a Ministry of Justice queue, or in a challenge from the data-protection authority. The last two components of the kit exist to stop both. The Cover Note transmits the package with a specific ask. The Two-Track Regulatory Memo shows how this decree and the country's personal-data-protection law run as two coordinated tracks, not two competing ones.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Cover Note is short and does three things. It says what the package is, in three lines a busy official reads in thirty seconds. It says exactly what is being asked — review and perfect the Articles, confirm the Preamble's authorities, and advise on the route to enactment: an executive decree, faster and lighter to amend but dependent on an enabling law, or primary legislation through parliament, slower but able to create authority that does not yet exist. And it states the timeline and what it costs the country if the decree slips. A clear ask moves; a thick document with no covering request waits.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Two-Track Regulatory Memo takes the two instruments that both govern the same data — the interoperability decree and the personal-data-protection law, whether that law is in force, in parliament, or still a draft — and lays out where they meet. The same definitions, or different ones. Consent and data-subject rights. Cross-border transfer. The Data Protection Officer each member must name. And two sanctions regimes that could punish one breach twice. For each meeting point the memo says one of three things: here the decree defers to the data-protection law and cross-references it; here the decree fills a gap the data-protection law leaves, in a way that stays compatible when that law is enacted; here the two could conflict, and this is how the conflict is resolved.</a:t>
            </a:r>
          </a:p>
          <a:p/>
          <a:p>
            <a:r>
              <a:t>Production cue: the pivotal slide of this video. Reveal the meeting-points line last.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memo, and not a thicker set of articles, is what gets a decree enacted. A decree drafted in isolation from the data-protection law is exactly the decree the data-protection authority challenges — and a challenge from a regulator is the delay no Cover Note can talk past. The memo turns that regulator into a partner: it proposes the coordination mechanisms — joint subordinate regulation issued by the operating authority and the data-protection authority together, a memorandum of understanding between them, joint enforcement so a breach is sanctioned once. And it names the risk if the data-protection law changes materially while the decree is in the drafting cycle, and the forward-compatible choices that keep the decree standing when it does.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Cover Note and the Two-Track Memo are what carry a finished kit across the line. A specific ask an official can act on — including the route to enactment. And a clean showing that the decree and the data-protection law fit together, so the one regulator who could stop it signs it instead. With these, the package moves. What remains is to read the finished decree back against the framework, as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last thing to do with a finished decree before it goes to the bus, and it is the step most teams skip. Read the decree back against the Use-Case Catalogue from Module 1, and check that the two match. The decree is not a document that sits beside the technical framework. It is the legal configuration of it — the binding text that says which exchanges are lawful and required. If the decree and the catalogue disagree, the framework will authorise one thing and carry another.</a:t>
            </a:r>
          </a:p>
          <a:p/>
          <a:p>
            <a:r>
              <a:t>Retrieval prompt — ask before playing on: a decree and a catalogue can disagree in two directions. What are they?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Run two checks. The first is coverage: every exchange in your Use-Case Catalogue must have a lawful basis somewhere in the decree. If the catalogue says the examination authority will fetch a learner's identity from the identity authority, the decree's articles must make that exchange lawful. A catalogue entry with no legal basis is an exchange you cannot build. The second check is the reverse — scope discipline: no article should authorise an exchange that is not in your catalogue or required by your principles. A decree that grants broader data-sharing powers than the framework actually needs is a privacy risk and a political liability. The decree should authorise exactly the framework's exchanges. No less, and no more.</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it matches, the decree binds the technical bus in concrete ways. The mandatory-connection article means the agencies it names must actually become members on the bus — the legal text creates the obligation that the technical onboarding fulfils. The once-only obligation means a covered exchange is required, not a favour the providing agency may decline. So the legal layer and the technical layer are two views of the same thing: the decree says, in law, what the bus does, in software. Read together, they are configuration — one binding, one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why, in the runnable build pack that accompanies this knowledge product, the decree is the legal-layer artefact — the first real configuration the framework produces. And its acceptance check is exactly the match we just ran: every catalogue exchange has a lawful basis in the decree, and no article over-reaches beyond the catalogue and the principles. When that check passes, the legal layer of the framework is genuinely done — not a document filed and forgotten, but a verified configuration the rest of the build depends on. The once-only demonstration later in the knowledge product runs under this decree.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read your decree as configuration. A decree is finished not when it is signed, but when it authorises exactly the exchanges your framework will carry — every one with a lawful basis, and none beyond what the framework needs. That match is the legal layer's acceptance check, and passing it hands a verified legal configuration to the architects who build the bus. That is the whole job of Module 2: not paperwork, but the on-switch, checked.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The legal mandate —
the Decree Drafting Kit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Government Interoperability Framework · Module 2</a:t>
            </a:r>
          </a:p>
          <a:p>
            <a:r>
              <a:rPr sz="1400" b="0" i="0">
                <a:solidFill>
                  <a:srgbClr val="595959"/>
                </a:solidFill>
                <a:latin typeface="Arial"/>
              </a:rPr>
              <a:t>Six standalone videos for the person who carries the decree: why the bus needs a legal mandate, the five parts of an interoperability decree, drafting each one against a published model with AI and confirming it, getting it past the Ministry of Justice and the data-protection authority — and reading the finished decree as configuration.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~28 mins across 6 videos (2.1 – 2.6)</a:t>
            </a:r>
          </a:p>
          <a:p>
            <a:r>
              <a:rPr sz="1400" b="1" i="0">
                <a:solidFill>
                  <a:srgbClr val="1A1A1A"/>
                </a:solidFill>
                <a:latin typeface="Arial"/>
              </a:rPr>
              <a:t>Target audience: </a:t>
            </a:r>
            <a:r>
              <a:rPr sz="1400" b="0" i="0">
                <a:solidFill>
                  <a:srgbClr val="1A1A1A"/>
                </a:solidFill>
                <a:latin typeface="Arial"/>
              </a:rPr>
              <a:t>National interoperability authority · ministry CIO · Ministry of Justice sponsor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decree is the on-switch</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Five parts, five readers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Generate against a model, then confirm</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Two tracks with data protection</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Read it back as configuration</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components · 1 published model per article · 2 checks against the catalogue</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2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2.1  Why the platform needs a legal mandate</a:t>
            </a:r>
            <a:r>
              <a:rPr sz="1200" b="0" i="0">
                <a:solidFill>
                  <a:srgbClr val="595959"/>
                </a:solidFill>
                <a:latin typeface="Arial"/>
              </a:rPr>
              <a:t>   ~4 min</a:t>
            </a:r>
          </a:p>
          <a:p>
            <a:pPr algn="l">
              <a:spcAft>
                <a:spcPts val="900"/>
              </a:spcAft>
            </a:pPr>
            <a:r>
              <a:rPr sz="1500" b="1" i="0">
                <a:solidFill>
                  <a:srgbClr val="1A1A1A"/>
                </a:solidFill>
                <a:latin typeface="Arial"/>
              </a:rPr>
              <a:t>2.2  Anatomy of an interoperability decree</a:t>
            </a:r>
            <a:r>
              <a:rPr sz="1200" b="0" i="0">
                <a:solidFill>
                  <a:srgbClr val="595959"/>
                </a:solidFill>
                <a:latin typeface="Arial"/>
              </a:rPr>
              <a:t>   ~5 min</a:t>
            </a:r>
          </a:p>
          <a:p>
            <a:pPr algn="l">
              <a:spcAft>
                <a:spcPts val="900"/>
              </a:spcAft>
            </a:pPr>
            <a:r>
              <a:rPr sz="1500" b="1" i="0">
                <a:solidFill>
                  <a:srgbClr val="1A1A1A"/>
                </a:solidFill>
                <a:latin typeface="Arial"/>
              </a:rPr>
              <a:t>2.3  The Explanatory Memorandum and Preamble</a:t>
            </a:r>
            <a:r>
              <a:rPr sz="1200" b="0" i="0">
                <a:solidFill>
                  <a:srgbClr val="595959"/>
                </a:solidFill>
                <a:latin typeface="Arial"/>
              </a:rPr>
              <a:t>   ~5 min</a:t>
            </a:r>
          </a:p>
          <a:p>
            <a:pPr algn="l">
              <a:spcAft>
                <a:spcPts val="900"/>
              </a:spcAft>
            </a:pPr>
            <a:r>
              <a:rPr sz="1500" b="1" i="0">
                <a:solidFill>
                  <a:srgbClr val="1A1A1A"/>
                </a:solidFill>
                <a:latin typeface="Arial"/>
              </a:rPr>
              <a:t>2.4  The Draft Articles Package</a:t>
            </a:r>
            <a:r>
              <a:rPr sz="1200" b="0" i="0">
                <a:solidFill>
                  <a:srgbClr val="595959"/>
                </a:solidFill>
                <a:latin typeface="Arial"/>
              </a:rPr>
              <a:t>   ~5 min</a:t>
            </a:r>
          </a:p>
          <a:p>
            <a:pPr algn="l">
              <a:spcAft>
                <a:spcPts val="900"/>
              </a:spcAft>
            </a:pPr>
            <a:r>
              <a:rPr sz="1500" b="1" i="0">
                <a:solidFill>
                  <a:srgbClr val="1A1A1A"/>
                </a:solidFill>
                <a:latin typeface="Arial"/>
              </a:rPr>
              <a:t>2.5  The Cover Note and Two-Track Regulatory Memo</a:t>
            </a:r>
            <a:r>
              <a:rPr sz="1200" b="0" i="0">
                <a:solidFill>
                  <a:srgbClr val="595959"/>
                </a:solidFill>
                <a:latin typeface="Arial"/>
              </a:rPr>
              <a:t>   ~5 min</a:t>
            </a:r>
          </a:p>
          <a:p>
            <a:pPr algn="l">
              <a:spcAft>
                <a:spcPts val="900"/>
              </a:spcAft>
            </a:pPr>
            <a:r>
              <a:rPr sz="1500" b="1" i="0">
                <a:solidFill>
                  <a:srgbClr val="1A1A1A"/>
                </a:solidFill>
                <a:latin typeface="Arial"/>
              </a:rPr>
              <a:t>2.6  The decree as configuration</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The decree is the on-switch: it makes exchange lawful, connection mandatory and the citizen's data protected.</a:t>
            </a:r>
          </a:p>
          <a:p>
            <a:pPr>
              <a:spcAft>
                <a:spcPts val="1000"/>
              </a:spcAft>
            </a:pPr>
            <a:r>
              <a:rPr sz="1900" b="0" i="1">
                <a:solidFill>
                  <a:srgbClr val="1A1A1A"/>
                </a:solidFill>
                <a:latin typeface="Arial"/>
              </a:rPr>
              <a:t>Draft it in five parts against published models, confirm every clause — and check it authorises exactly what the bus will carry.</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the platform needs a legal mandate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the legal layer, the bus cannot lawfully carry one cross-agency message — the decree is the on-switch, not paperwork.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perfect bus with no mandate carries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agency shares data without a clear lawful basis.</a:t>
            </a:r>
          </a:p>
          <a:p>
            <a:pPr>
              <a:spcAft>
                <a:spcPts val="800"/>
              </a:spcAft>
            </a:pPr>
            <a:r>
              <a:rPr sz="1700" b="0" i="0">
                <a:solidFill>
                  <a:srgbClr val="595959"/>
                </a:solidFill>
                <a:latin typeface="Arial"/>
              </a:rPr>
              <a:t>The most cautious official can stop any exchange — and be right to.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mandate shows up in one of three disguises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refusal</a:t>
            </a:r>
          </a:p>
          <a:p>
            <a:pPr>
              <a:spcAft>
                <a:spcPts val="300"/>
              </a:spcAft>
            </a:pPr>
            <a:r>
              <a:rPr sz="1550" b="0" i="0">
                <a:solidFill>
                  <a:srgbClr val="595959"/>
                </a:solidFill>
                <a:latin typeface="Arial"/>
              </a:rPr>
              <a:t>An official declines to share, citing the data-protection law — and cannot be overruled.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stall</a:t>
            </a:r>
          </a:p>
          <a:p>
            <a:pPr>
              <a:spcAft>
                <a:spcPts val="300"/>
              </a:spcAft>
            </a:pPr>
            <a:r>
              <a:rPr sz="1550" b="0" i="0">
                <a:solidFill>
                  <a:srgbClr val="595959"/>
                </a:solidFill>
                <a:latin typeface="Arial"/>
              </a:rPr>
              <a:t>A project waits months for a legal opinion that covers one exchange.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workaround</a:t>
            </a:r>
          </a:p>
          <a:p>
            <a:pPr>
              <a:spcAft>
                <a:spcPts val="300"/>
              </a:spcAft>
            </a:pPr>
            <a:r>
              <a:rPr sz="1550" b="0" i="0">
                <a:solidFill>
                  <a:srgbClr val="595959"/>
                </a:solidFill>
                <a:latin typeface="Arial"/>
              </a:rPr>
              <a:t>Data moves anyway, on an unclear basis — a breach waiting to surface.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is a legal-layer failure wearing a technical or political disguise.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instrument fixes all three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Authorises cross-agency exchange</a:t>
            </a:r>
          </a:p>
          <a:p>
            <a:pPr>
              <a:spcAft>
                <a:spcPts val="300"/>
              </a:spcAft>
            </a:pPr>
            <a:r>
              <a:rPr sz="1550" b="0" i="0">
                <a:solidFill>
                  <a:srgbClr val="595959"/>
                </a:solidFill>
                <a:latin typeface="Arial"/>
              </a:rPr>
              <a:t>Makes the sharing lawful in the first place.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Makes connection the default</a:t>
            </a:r>
          </a:p>
          <a:p>
            <a:pPr>
              <a:spcAft>
                <a:spcPts val="300"/>
              </a:spcAft>
            </a:pPr>
            <a:r>
              <a:rPr sz="1550" b="0" i="0">
                <a:solidFill>
                  <a:srgbClr val="595959"/>
                </a:solidFill>
                <a:latin typeface="Arial"/>
              </a:rPr>
              <a:t>Not something each agency may decline.</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Protects the citizen's data</a:t>
            </a:r>
          </a:p>
          <a:p>
            <a:pPr>
              <a:spcAft>
                <a:spcPts val="300"/>
              </a:spcAft>
            </a:pPr>
            <a:r>
              <a:rPr sz="1550" b="0" i="0">
                <a:solidFill>
                  <a:srgbClr val="595959"/>
                </a:solidFill>
                <a:latin typeface="Arial"/>
              </a:rPr>
              <a:t>A stated purpose, a basis for consent, security obligations.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Names the operating authority</a:t>
            </a:r>
          </a:p>
          <a:p>
            <a:pPr>
              <a:spcAft>
                <a:spcPts val="300"/>
              </a:spcAft>
            </a:pPr>
            <a:r>
              <a:rPr sz="1550" b="0" i="0">
                <a:solidFill>
                  <a:srgbClr val="595959"/>
                </a:solidFill>
                <a:latin typeface="Arial"/>
              </a:rPr>
              <a:t>And the powers it holds to run the framework.</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Exchange becomes the rule. Refusing to connect becomes the exception to justify.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the lawful basis once — for the whole of government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agency reuses the same mandate, instead of negotiating its own legal opinion for every exchange.</a:t>
            </a:r>
          </a:p>
          <a:p>
            <a:pPr>
              <a:spcAft>
                <a:spcPts val="1200"/>
              </a:spcAft>
            </a:pPr>
            <a:r>
              <a:rPr sz="2000" b="0" i="0">
                <a:solidFill>
                  <a:srgbClr val="1A1A1A"/>
                </a:solidFill>
                <a:latin typeface="Arial"/>
              </a:rPr>
              <a:t>That reuse exists only at the level of whole-of-government planning.</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project cannot grant itself a mandate that binds other agencies. Only the framework can.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decree is the legal on-switch — it makes cross-agency exchange lawful, connection mandatory, and the citizen's data protected.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Assess your legal readiness for cross-agency exchange.</a:t>
            </a:r>
          </a:p>
          <a:p>
            <a:pPr algn="l">
              <a:spcAft>
                <a:spcPts val="400"/>
              </a:spcAft>
            </a:pPr>
            <a:r>
              <a:rPr sz="1800" b="0" i="0">
                <a:solidFill>
                  <a:srgbClr val="595959"/>
                </a:solidFill>
                <a:latin typeface="Arial"/>
              </a:rPr>
              <a:t>The prompt in the companion material gives you a legal-readiness assessment table plus a list of what the decree must establish.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layer</a:t>
            </a:r>
          </a:p>
          <a:p>
            <a:pPr>
              <a:spcAft>
                <a:spcPts val="1200"/>
              </a:spcAft>
            </a:pPr>
            <a:r>
              <a:rPr sz="1700" b="0" i="0">
                <a:solidFill>
                  <a:srgbClr val="1A1A1A"/>
                </a:solidFill>
                <a:latin typeface="Arial"/>
              </a:rPr>
              <a:t>•  PAERA v1.0 — §3.2 (Legal layer)</a:t>
            </a:r>
          </a:p>
          <a:p>
            <a:pPr>
              <a:spcAft>
                <a:spcPts val="1200"/>
              </a:spcAft>
            </a:pPr>
            <a:r>
              <a:rPr sz="1700" b="0" i="0">
                <a:solidFill>
                  <a:srgbClr val="1A1A1A"/>
                </a:solidFill>
                <a:latin typeface="Arial"/>
              </a:rPr>
              <a:t>•  PAERA v1.0 — §5.2, Principle #5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Why the platform needs a legal mandate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Anatomy of an interoperability decree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sound decree is five parts; knowing them lets you brief a Ministry of Justice instead of waiting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Stop waiting on the Ministry of Justice. Brief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decree looks like one dense block of legal text.</a:t>
            </a:r>
          </a:p>
          <a:p>
            <a:pPr>
              <a:spcAft>
                <a:spcPts val="800"/>
              </a:spcAft>
            </a:pPr>
            <a:r>
              <a:rPr sz="1700" b="0" i="0">
                <a:solidFill>
                  <a:srgbClr val="595959"/>
                </a:solidFill>
                <a:latin typeface="Arial"/>
              </a:rPr>
              <a:t>It is five parts, each with a different job and a different reader.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decree is five parts, each with its own job</a:t>
            </a:r>
          </a:p>
        </p:txBody>
      </p:sp>
      <p:sp>
        <p:nvSpPr>
          <p:cNvPr id="4" name="Rounded Rectangle 3"/>
          <p:cNvSpPr/>
          <p:nvPr/>
        </p:nvSpPr>
        <p:spPr>
          <a:xfrm>
            <a:off x="658368"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Explanatory Memorandum</a:t>
            </a:r>
          </a:p>
          <a:p>
            <a:pPr algn="l">
              <a:spcAft>
                <a:spcPts val="300"/>
              </a:spcAft>
            </a:pPr>
            <a:r>
              <a:rPr sz="1600" b="0" i="0">
                <a:solidFill>
                  <a:srgbClr val="1A1A1A"/>
                </a:solidFill>
                <a:latin typeface="Arial"/>
              </a:rPr>
              <a:t>The case for the decree, in plain language.</a:t>
            </a:r>
          </a:p>
        </p:txBody>
      </p:sp>
      <p:sp>
        <p:nvSpPr>
          <p:cNvPr id="5" name="Rounded Rectangle 4"/>
          <p:cNvSpPr/>
          <p:nvPr/>
        </p:nvSpPr>
        <p:spPr>
          <a:xfrm>
            <a:off x="2866644"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Preamble</a:t>
            </a:r>
          </a:p>
          <a:p>
            <a:pPr algn="l">
              <a:spcAft>
                <a:spcPts val="300"/>
              </a:spcAft>
            </a:pPr>
            <a:r>
              <a:rPr sz="1600" b="0" i="0">
                <a:solidFill>
                  <a:srgbClr val="1A1A1A"/>
                </a:solidFill>
                <a:latin typeface="Arial"/>
              </a:rPr>
              <a:t>The legal authority and the recitals.</a:t>
            </a:r>
          </a:p>
        </p:txBody>
      </p:sp>
      <p:sp>
        <p:nvSpPr>
          <p:cNvPr id="6" name="Rounded Rectangle 5"/>
          <p:cNvSpPr/>
          <p:nvPr/>
        </p:nvSpPr>
        <p:spPr>
          <a:xfrm>
            <a:off x="5074920"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Draft Articles Package</a:t>
            </a:r>
          </a:p>
          <a:p>
            <a:pPr algn="l">
              <a:spcAft>
                <a:spcPts val="300"/>
              </a:spcAft>
            </a:pPr>
            <a:r>
              <a:rPr sz="1600" b="0" i="0">
                <a:solidFill>
                  <a:srgbClr val="1A1A1A"/>
                </a:solidFill>
                <a:latin typeface="Arial"/>
              </a:rPr>
              <a:t>The operative, binding provisions.</a:t>
            </a:r>
          </a:p>
        </p:txBody>
      </p:sp>
      <p:sp>
        <p:nvSpPr>
          <p:cNvPr id="7" name="Rounded Rectangle 6"/>
          <p:cNvSpPr/>
          <p:nvPr/>
        </p:nvSpPr>
        <p:spPr>
          <a:xfrm>
            <a:off x="7283196"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Cover Note</a:t>
            </a:r>
          </a:p>
          <a:p>
            <a:pPr algn="l">
              <a:spcAft>
                <a:spcPts val="300"/>
              </a:spcAft>
            </a:pPr>
            <a:r>
              <a:rPr sz="1600" b="0" i="0">
                <a:solidFill>
                  <a:srgbClr val="1A1A1A"/>
                </a:solidFill>
                <a:latin typeface="Arial"/>
              </a:rPr>
              <a:t>The transmittal to the Ministry of Justice.</a:t>
            </a:r>
          </a:p>
        </p:txBody>
      </p:sp>
      <p:sp>
        <p:nvSpPr>
          <p:cNvPr id="8" name="Rounded Rectangle 7"/>
          <p:cNvSpPr/>
          <p:nvPr/>
        </p:nvSpPr>
        <p:spPr>
          <a:xfrm>
            <a:off x="9491472" y="1737360"/>
            <a:ext cx="2048256"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Two-Track Regulatory Memo</a:t>
            </a:r>
          </a:p>
          <a:p>
            <a:pPr algn="l">
              <a:spcAft>
                <a:spcPts val="300"/>
              </a:spcAft>
            </a:pPr>
            <a:r>
              <a:rPr sz="1600" b="0" i="0">
                <a:solidFill>
                  <a:srgbClr val="1A1A1A"/>
                </a:solidFill>
                <a:latin typeface="Arial"/>
              </a:rPr>
              <a:t>How the decree and the data-protection law fit together.</a:t>
            </a:r>
          </a:p>
        </p:txBody>
      </p:sp>
      <p:sp>
        <p:nvSpPr>
          <p:cNvPr id="9" name="TextBox 8"/>
          <p:cNvSpPr txBox="1"/>
          <p:nvPr/>
        </p:nvSpPr>
        <p:spPr>
          <a:xfrm>
            <a:off x="658368" y="4754880"/>
            <a:ext cx="10881360" cy="548640"/>
          </a:xfrm>
          <a:prstGeom prst="rect">
            <a:avLst/>
          </a:prstGeom>
          <a:noFill/>
        </p:spPr>
        <p:txBody>
          <a:bodyPr wrap="square">
            <a:spAutoFit/>
          </a:bodyPr>
          <a:lstStyle/>
          <a:p>
            <a:r>
              <a:rPr sz="1550" b="1" i="0">
                <a:solidFill>
                  <a:srgbClr val="006E96"/>
                </a:solidFill>
                <a:latin typeface="Arial"/>
              </a:rPr>
              <a:t>Together they are the Decree Drafting Kit — built component by component in 2.3 to 2.5.</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part has a different reader — so each is separate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minister reads the Memorandum</a:t>
            </a:r>
          </a:p>
          <a:p>
            <a:pPr>
              <a:spcAft>
                <a:spcPts val="300"/>
              </a:spcAft>
            </a:pPr>
            <a:r>
              <a:rPr sz="1550" b="0" i="0">
                <a:solidFill>
                  <a:srgbClr val="595959"/>
                </a:solidFill>
                <a:latin typeface="Arial"/>
              </a:rPr>
              <a:t>The case, not the clauses.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lawyer reads the Preamble and the Articles</a:t>
            </a:r>
          </a:p>
          <a:p>
            <a:pPr>
              <a:spcAft>
                <a:spcPts val="300"/>
              </a:spcAft>
            </a:pPr>
            <a:r>
              <a:rPr sz="1550" b="0" i="0">
                <a:solidFill>
                  <a:srgbClr val="595959"/>
                </a:solidFill>
                <a:latin typeface="Arial"/>
              </a:rPr>
              <a:t>The authority and the binding text.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data-protection authority reads the Two-Track Memo</a:t>
            </a:r>
          </a:p>
          <a:p>
            <a:pPr>
              <a:spcAft>
                <a:spcPts val="300"/>
              </a:spcAft>
            </a:pPr>
            <a:r>
              <a:rPr sz="1550" b="0" i="0">
                <a:solidFill>
                  <a:srgbClr val="595959"/>
                </a:solidFill>
                <a:latin typeface="Arial"/>
              </a:rPr>
              <a:t>To see that the two laws fit together rather than compete.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Bundle them, and each reader digs for their part. Separate them, and each finds it.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parts, not one — for review and for production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2103120"/>
          </a:xfrm>
          <a:prstGeom prst="rect">
            <a:avLst/>
          </a:prstGeom>
          <a:noFill/>
        </p:spPr>
        <p:txBody>
          <a:bodyPr wrap="square">
            <a:spAutoFit/>
          </a:bodyPr>
          <a:lstStyle/>
          <a:p>
            <a:pPr>
              <a:spcAft>
                <a:spcPts val="300"/>
              </a:spcAft>
            </a:pPr>
            <a:r>
              <a:rPr sz="1900" b="1" i="0">
                <a:solidFill>
                  <a:srgbClr val="1A1A1A"/>
                </a:solidFill>
                <a:latin typeface="Arial"/>
              </a:rPr>
              <a:t>Reviewable in parts</a:t>
            </a:r>
          </a:p>
          <a:p>
            <a:pPr>
              <a:spcAft>
                <a:spcPts val="300"/>
              </a:spcAft>
            </a:pPr>
            <a:r>
              <a:rPr sz="1550" b="0" i="0">
                <a:solidFill>
                  <a:srgbClr val="595959"/>
                </a:solidFill>
                <a:latin typeface="Arial"/>
              </a:rPr>
              <a:t>The Ministry can perfect the Articles without reopening the case in the Memorandum.</a:t>
            </a:r>
          </a:p>
        </p:txBody>
      </p:sp>
      <p:sp>
        <p:nvSpPr>
          <p:cNvPr id="6" name="Rectangle 5"/>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611879"/>
            <a:ext cx="10527487" cy="2103120"/>
          </a:xfrm>
          <a:prstGeom prst="rect">
            <a:avLst/>
          </a:prstGeom>
          <a:noFill/>
        </p:spPr>
        <p:txBody>
          <a:bodyPr wrap="square">
            <a:spAutoFit/>
          </a:bodyPr>
          <a:lstStyle/>
          <a:p>
            <a:pPr>
              <a:spcAft>
                <a:spcPts val="300"/>
              </a:spcAft>
            </a:pPr>
            <a:r>
              <a:rPr sz="1900" b="1" i="0">
                <a:solidFill>
                  <a:srgbClr val="1A1A1A"/>
                </a:solidFill>
                <a:latin typeface="Arial"/>
              </a:rPr>
              <a:t>Generatable in parts</a:t>
            </a:r>
          </a:p>
          <a:p>
            <a:pPr>
              <a:spcAft>
                <a:spcPts val="300"/>
              </a:spcAft>
            </a:pPr>
            <a:r>
              <a:rPr sz="1550" b="0" i="0">
                <a:solidFill>
                  <a:srgbClr val="595959"/>
                </a:solidFill>
                <a:latin typeface="Arial"/>
              </a:rPr>
              <a:t>Each component is one focused AI prompt, run against a published model.</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Five focused drafts are far easier to get right than one sprawling one.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produce the kit. A lawyer makes the law</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Decree Drafting Kit is the five components as structured, well-sourced drafts — not a decree with legal force.</a:t>
            </a:r>
          </a:p>
          <a:p>
            <a:pPr>
              <a:spcAft>
                <a:spcPts val="1200"/>
              </a:spcAft>
            </a:pPr>
            <a:r>
              <a:rPr sz="2000" b="0" i="0">
                <a:solidFill>
                  <a:srgbClr val="1A1A1A"/>
                </a:solidFill>
                <a:latin typeface="Arial"/>
              </a:rPr>
              <a:t>A qualified lawyer in your jurisdiction turns it into an instrument valid in your legal system.</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kit speeds the lawyer — months of drafting become weeks of review. It does not replace them.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decree is five parts — Memorandum, Preamble, Articles, Cover Note, Two-Track Memo — each with its own reader and its own focused draft.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Outline your decree's five components from your foundation.</a:t>
            </a:r>
          </a:p>
          <a:p>
            <a:pPr algn="l">
              <a:spcAft>
                <a:spcPts val="400"/>
              </a:spcAft>
            </a:pPr>
            <a:r>
              <a:rPr sz="1800" b="0" i="0">
                <a:solidFill>
                  <a:srgbClr val="595959"/>
                </a:solidFill>
                <a:latin typeface="Arial"/>
              </a:rPr>
              <a:t>The prompt in the companion material gives you a structured five-component decree outline.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layer</a:t>
            </a:r>
          </a:p>
          <a:p>
            <a:pPr>
              <a:spcAft>
                <a:spcPts val="1200"/>
              </a:spcAft>
            </a:pPr>
            <a:r>
              <a:rPr sz="1700" b="0" i="0">
                <a:solidFill>
                  <a:srgbClr val="1A1A1A"/>
                </a:solidFill>
                <a:latin typeface="Arial"/>
              </a:rPr>
              <a:t>•  Decree model — Estonia, Information Society Services Act</a:t>
            </a:r>
          </a:p>
          <a:p>
            <a:pPr>
              <a:spcAft>
                <a:spcPts val="1200"/>
              </a:spcAft>
            </a:pPr>
            <a:r>
              <a:rPr sz="1700" b="0" i="0">
                <a:solidFill>
                  <a:srgbClr val="1A1A1A"/>
                </a:solidFill>
                <a:latin typeface="Arial"/>
              </a:rPr>
              <a:t>•  Decree model — EU Single Digital Gateway Regulation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Anatomy of an interoperability decree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Explanatory Memorandum and Preamble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Draft the case-for and the recitals with Claude from your Strategic Foundation Document — then check every claim against a real statute.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first two parts are the ones a non-lawyer can lead 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They are about the case and the context, not the binding rules.</a:t>
            </a:r>
          </a:p>
          <a:p>
            <a:pPr>
              <a:spcAft>
                <a:spcPts val="800"/>
              </a:spcAft>
            </a:pPr>
            <a:r>
              <a:rPr sz="1700" b="0" i="0">
                <a:solidFill>
                  <a:srgbClr val="595959"/>
                </a:solidFill>
                <a:latin typeface="Arial"/>
              </a:rPr>
              <a:t>Both start from the Strategic Foundation Document you already have.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Memorandum is the case, written for the minister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problem the decree solves</a:t>
            </a:r>
          </a:p>
          <a:p>
            <a:pPr>
              <a:spcAft>
                <a:spcPts val="300"/>
              </a:spcAft>
            </a:pPr>
            <a:r>
              <a:rPr sz="1550" b="0" i="0">
                <a:solidFill>
                  <a:srgbClr val="595959"/>
                </a:solidFill>
                <a:latin typeface="Arial"/>
              </a:rPr>
              <a:t>Fragmentation; the citizen asked the same thing many times.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What the decree does</a:t>
            </a:r>
          </a:p>
          <a:p>
            <a:pPr>
              <a:spcAft>
                <a:spcPts val="300"/>
              </a:spcAft>
            </a:pPr>
            <a:r>
              <a:rPr sz="1550" b="0" i="0">
                <a:solidFill>
                  <a:srgbClr val="595959"/>
                </a:solidFill>
                <a:latin typeface="Arial"/>
              </a:rPr>
              <a:t>In plain language.</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Why now</a:t>
            </a:r>
          </a:p>
          <a:p>
            <a:pPr>
              <a:spcAft>
                <a:spcPts val="300"/>
              </a:spcAft>
            </a:pPr>
            <a:r>
              <a:rPr sz="1550" b="0" i="0">
                <a:solidFill>
                  <a:srgbClr val="595959"/>
                </a:solidFill>
                <a:latin typeface="Arial"/>
              </a:rPr>
              <a:t>The cost of another year without a mandate.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expected benefit</a:t>
            </a:r>
          </a:p>
          <a:p>
            <a:pPr>
              <a:spcAft>
                <a:spcPts val="300"/>
              </a:spcAft>
            </a:pPr>
            <a:r>
              <a:rPr sz="1550" b="0" i="0">
                <a:solidFill>
                  <a:srgbClr val="595959"/>
                </a:solidFill>
                <a:latin typeface="Arial"/>
              </a:rPr>
              <a:t>To citizens and to the state.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Largely a translation of your Strategic Foundation Document.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Preamble: every cited authority is a [confirm]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recitals</a:t>
            </a:r>
          </a:p>
          <a:p>
            <a:pPr>
              <a:spcAft>
                <a:spcPts val="300"/>
              </a:spcAft>
            </a:pPr>
            <a:r>
              <a:rPr sz="1550" b="0" i="0">
                <a:solidFill>
                  <a:srgbClr val="595959"/>
                </a:solidFill>
                <a:latin typeface="Arial"/>
              </a:rPr>
              <a:t>The formal findings the decree rests on.</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legal authority</a:t>
            </a:r>
          </a:p>
          <a:p>
            <a:pPr>
              <a:spcAft>
                <a:spcPts val="300"/>
              </a:spcAft>
            </a:pPr>
            <a:r>
              <a:rPr sz="1550" b="0" i="0">
                <a:solidFill>
                  <a:srgbClr val="595959"/>
                </a:solidFill>
                <a:latin typeface="Arial"/>
              </a:rPr>
              <a:t>The constitutional or statutory power to make this decree.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[confirm] on every citation</a:t>
            </a:r>
          </a:p>
          <a:p>
            <a:pPr>
              <a:spcAft>
                <a:spcPts val="300"/>
              </a:spcAft>
            </a:pPr>
            <a:r>
              <a:rPr sz="1550" b="0" i="0">
                <a:solidFill>
                  <a:srgbClr val="595959"/>
                </a:solidFill>
                <a:latin typeface="Arial"/>
              </a:rPr>
              <a:t>Until a qualified lawyer verifies the power exists and supports this decree.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wrong authority citation is the fastest way to have the whole decree sent back.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fast, confirm carefully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PLAY — NINETY PER CENT</a:t>
            </a:r>
          </a:p>
          <a:p>
            <a:pPr>
              <a:spcAft>
                <a:spcPts val="700"/>
              </a:spcAft>
            </a:pPr>
            <a:r>
              <a:rPr sz="1600" b="0" i="0">
                <a:solidFill>
                  <a:srgbClr val="1A1A1A"/>
                </a:solidFill>
                <a:latin typeface="Arial"/>
              </a:rPr>
              <a:t>Turns the foundation document into a Memorandum draft and a Preamble scaffold.</a:t>
            </a:r>
          </a:p>
          <a:p>
            <a:pPr>
              <a:spcAft>
                <a:spcPts val="700"/>
              </a:spcAft>
            </a:pPr>
            <a:r>
              <a:rPr sz="1600" b="0" i="0">
                <a:solidFill>
                  <a:srgbClr val="1A1A1A"/>
                </a:solidFill>
                <a:latin typeface="Arial"/>
              </a:rPr>
              <a:t>In minutes.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 THE ESSENTIAL TEN</a:t>
            </a:r>
          </a:p>
          <a:p>
            <a:pPr>
              <a:spcAft>
                <a:spcPts val="700"/>
              </a:spcAft>
            </a:pPr>
            <a:r>
              <a:rPr sz="1600" b="0" i="0">
                <a:solidFill>
                  <a:srgbClr val="1A1A1A"/>
                </a:solidFill>
                <a:latin typeface="Arial"/>
              </a:rPr>
              <a:t>Confirm every legal citation against a real statute.</a:t>
            </a:r>
          </a:p>
          <a:p>
            <a:pPr>
              <a:spcAft>
                <a:spcPts val="700"/>
              </a:spcAft>
            </a:pPr>
            <a:r>
              <a:rPr sz="1600" b="0" i="0">
                <a:solidFill>
                  <a:srgbClr val="1A1A1A"/>
                </a:solidFill>
                <a:latin typeface="Arial"/>
              </a:rPr>
              <a:t>Soften any claim the evidence does not support; mark the rest [confirm].</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AI accelerates the drafting. It does not get the law right for you.</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Generate the Memorandum and Preamble from your foundation document — then confirm every legal citation against a real statute before anyone relies on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Explanatory Memorandum and Preamble.</a:t>
            </a:r>
          </a:p>
          <a:p>
            <a:pPr algn="l">
              <a:spcAft>
                <a:spcPts val="400"/>
              </a:spcAft>
            </a:pPr>
            <a:r>
              <a:rPr sz="1800" b="0" i="0">
                <a:solidFill>
                  <a:srgbClr val="595959"/>
                </a:solidFill>
                <a:latin typeface="Arial"/>
              </a:rPr>
              <a:t>The prompt in the companion material gives you a Memorandum draft, a Preamble scaffold, and a list of [confirm] items for legal review.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§3.2 (Legal layer)</a:t>
            </a:r>
          </a:p>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The Strategic Foundation Document (Module 1, video 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Draft Articles Package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operative articles — mandatory connection, once-only, data protection — generated against published models, every clause confirmed, not invented.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articles are where the legal layer becomes enforceable.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binding rules — where precision matters most.</a:t>
            </a:r>
          </a:p>
          <a:p>
            <a:pPr>
              <a:spcAft>
                <a:spcPts val="800"/>
              </a:spcAft>
            </a:pPr>
            <a:r>
              <a:rPr sz="1700" b="0" i="0">
                <a:solidFill>
                  <a:srgbClr val="595959"/>
                </a:solidFill>
                <a:latin typeface="Arial"/>
              </a:rPr>
              <a:t>Drafted against a published model, never from imagination.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sound decree carries a recognisable set of articles</a:t>
            </a:r>
          </a:p>
        </p:txBody>
      </p:sp>
      <p:sp>
        <p:nvSpPr>
          <p:cNvPr id="4" name="Oval 3"/>
          <p:cNvSpPr/>
          <p:nvPr/>
        </p:nvSpPr>
        <p:spPr>
          <a:xfrm>
            <a:off x="621792" y="1325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280160"/>
            <a:ext cx="10527487" cy="666205"/>
          </a:xfrm>
          <a:prstGeom prst="rect">
            <a:avLst/>
          </a:prstGeom>
          <a:noFill/>
        </p:spPr>
        <p:txBody>
          <a:bodyPr wrap="square">
            <a:spAutoFit/>
          </a:bodyPr>
          <a:lstStyle/>
          <a:p>
            <a:pPr>
              <a:spcAft>
                <a:spcPts val="300"/>
              </a:spcAft>
            </a:pPr>
            <a:r>
              <a:rPr sz="1700" b="1" i="0">
                <a:solidFill>
                  <a:srgbClr val="1A1A1A"/>
                </a:solidFill>
                <a:latin typeface="Arial"/>
              </a:rPr>
              <a:t>Scope and definitions</a:t>
            </a:r>
          </a:p>
          <a:p>
            <a:pPr>
              <a:spcAft>
                <a:spcPts val="300"/>
              </a:spcAft>
            </a:pPr>
            <a:r>
              <a:rPr sz="1550" b="0" i="0">
                <a:solidFill>
                  <a:srgbClr val="595959"/>
                </a:solidFill>
                <a:latin typeface="Arial"/>
              </a:rPr>
              <a:t>Which exchanges and which agencies the decree covers.</a:t>
            </a:r>
          </a:p>
        </p:txBody>
      </p:sp>
      <p:sp>
        <p:nvSpPr>
          <p:cNvPr id="6" name="Rectangle 5"/>
          <p:cNvSpPr/>
          <p:nvPr/>
        </p:nvSpPr>
        <p:spPr>
          <a:xfrm>
            <a:off x="621792" y="195093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03780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92085"/>
            <a:ext cx="10527487" cy="666205"/>
          </a:xfrm>
          <a:prstGeom prst="rect">
            <a:avLst/>
          </a:prstGeom>
          <a:noFill/>
        </p:spPr>
        <p:txBody>
          <a:bodyPr wrap="square">
            <a:spAutoFit/>
          </a:bodyPr>
          <a:lstStyle/>
          <a:p>
            <a:pPr>
              <a:spcAft>
                <a:spcPts val="300"/>
              </a:spcAft>
            </a:pPr>
            <a:r>
              <a:rPr sz="1700" b="1" i="0">
                <a:solidFill>
                  <a:srgbClr val="1A1A1A"/>
                </a:solidFill>
                <a:latin typeface="Arial"/>
              </a:rPr>
              <a:t>Mandatory connection</a:t>
            </a:r>
          </a:p>
          <a:p>
            <a:pPr>
              <a:spcAft>
                <a:spcPts val="300"/>
              </a:spcAft>
            </a:pPr>
            <a:r>
              <a:rPr sz="1550" b="0" i="0">
                <a:solidFill>
                  <a:srgbClr val="595959"/>
                </a:solidFill>
                <a:latin typeface="Arial"/>
              </a:rPr>
              <a:t>Designated agencies shall connect to the bus.</a:t>
            </a:r>
          </a:p>
        </p:txBody>
      </p:sp>
      <p:sp>
        <p:nvSpPr>
          <p:cNvPr id="9" name="Rectangle 8"/>
          <p:cNvSpPr/>
          <p:nvPr/>
        </p:nvSpPr>
        <p:spPr>
          <a:xfrm>
            <a:off x="621792" y="26628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7497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704011"/>
            <a:ext cx="10527487" cy="666205"/>
          </a:xfrm>
          <a:prstGeom prst="rect">
            <a:avLst/>
          </a:prstGeom>
          <a:noFill/>
        </p:spPr>
        <p:txBody>
          <a:bodyPr wrap="square">
            <a:spAutoFit/>
          </a:bodyPr>
          <a:lstStyle/>
          <a:p>
            <a:pPr>
              <a:spcAft>
                <a:spcPts val="300"/>
              </a:spcAft>
            </a:pPr>
            <a:r>
              <a:rPr sz="1700" b="1" i="0">
                <a:solidFill>
                  <a:srgbClr val="1A1A1A"/>
                </a:solidFill>
                <a:latin typeface="Arial"/>
              </a:rPr>
              <a:t>Once-only obligation</a:t>
            </a:r>
          </a:p>
          <a:p>
            <a:pPr>
              <a:spcAft>
                <a:spcPts val="300"/>
              </a:spcAft>
            </a:pPr>
            <a:r>
              <a:rPr sz="1550" b="0" i="0">
                <a:solidFill>
                  <a:srgbClr val="595959"/>
                </a:solidFill>
                <a:latin typeface="Arial"/>
              </a:rPr>
              <a:t>Do not ask a person for data the state already holds.</a:t>
            </a:r>
          </a:p>
        </p:txBody>
      </p:sp>
      <p:sp>
        <p:nvSpPr>
          <p:cNvPr id="12" name="Rectangle 11"/>
          <p:cNvSpPr/>
          <p:nvPr/>
        </p:nvSpPr>
        <p:spPr>
          <a:xfrm>
            <a:off x="621792" y="337478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46165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415937"/>
            <a:ext cx="10527487" cy="666205"/>
          </a:xfrm>
          <a:prstGeom prst="rect">
            <a:avLst/>
          </a:prstGeom>
          <a:noFill/>
        </p:spPr>
        <p:txBody>
          <a:bodyPr wrap="square">
            <a:spAutoFit/>
          </a:bodyPr>
          <a:lstStyle/>
          <a:p>
            <a:pPr>
              <a:spcAft>
                <a:spcPts val="300"/>
              </a:spcAft>
            </a:pPr>
            <a:r>
              <a:rPr sz="1700" b="1" i="0">
                <a:solidFill>
                  <a:srgbClr val="1A1A1A"/>
                </a:solidFill>
                <a:latin typeface="Arial"/>
              </a:rPr>
              <a:t>Data protection and consent</a:t>
            </a:r>
          </a:p>
          <a:p>
            <a:pPr>
              <a:spcAft>
                <a:spcPts val="300"/>
              </a:spcAft>
            </a:pPr>
            <a:r>
              <a:rPr sz="1550" b="0" i="0">
                <a:solidFill>
                  <a:srgbClr val="595959"/>
                </a:solidFill>
                <a:latin typeface="Arial"/>
              </a:rPr>
              <a:t>Purpose limits, lawful basis, security safeguards.</a:t>
            </a:r>
          </a:p>
        </p:txBody>
      </p:sp>
      <p:sp>
        <p:nvSpPr>
          <p:cNvPr id="15" name="Rectangle 14"/>
          <p:cNvSpPr/>
          <p:nvPr/>
        </p:nvSpPr>
        <p:spPr>
          <a:xfrm>
            <a:off x="621792" y="408671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17358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127862"/>
            <a:ext cx="10527487" cy="666205"/>
          </a:xfrm>
          <a:prstGeom prst="rect">
            <a:avLst/>
          </a:prstGeom>
          <a:noFill/>
        </p:spPr>
        <p:txBody>
          <a:bodyPr wrap="square">
            <a:spAutoFit/>
          </a:bodyPr>
          <a:lstStyle/>
          <a:p>
            <a:pPr>
              <a:spcAft>
                <a:spcPts val="300"/>
              </a:spcAft>
            </a:pPr>
            <a:r>
              <a:rPr sz="1700" b="1" i="0">
                <a:solidFill>
                  <a:srgbClr val="1A1A1A"/>
                </a:solidFill>
                <a:latin typeface="Arial"/>
              </a:rPr>
              <a:t>The principles</a:t>
            </a:r>
          </a:p>
          <a:p>
            <a:pPr>
              <a:spcAft>
                <a:spcPts val="300"/>
              </a:spcAft>
            </a:pPr>
            <a:r>
              <a:rPr sz="1550" b="0" i="0">
                <a:solidFill>
                  <a:srgbClr val="595959"/>
                </a:solidFill>
                <a:latin typeface="Arial"/>
              </a:rPr>
              <a:t>About ten, adopted from the European framework — not drafted fresh.</a:t>
            </a:r>
          </a:p>
        </p:txBody>
      </p:sp>
      <p:sp>
        <p:nvSpPr>
          <p:cNvPr id="18" name="Rectangle 17"/>
          <p:cNvSpPr/>
          <p:nvPr/>
        </p:nvSpPr>
        <p:spPr>
          <a:xfrm>
            <a:off x="621792" y="47986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8855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839788"/>
            <a:ext cx="10527487" cy="666205"/>
          </a:xfrm>
          <a:prstGeom prst="rect">
            <a:avLst/>
          </a:prstGeom>
          <a:noFill/>
        </p:spPr>
        <p:txBody>
          <a:bodyPr wrap="square">
            <a:spAutoFit/>
          </a:bodyPr>
          <a:lstStyle/>
          <a:p>
            <a:pPr>
              <a:spcAft>
                <a:spcPts val="300"/>
              </a:spcAft>
            </a:pPr>
            <a:r>
              <a:rPr sz="1700" b="1" i="0">
                <a:solidFill>
                  <a:srgbClr val="1A1A1A"/>
                </a:solidFill>
                <a:latin typeface="Arial"/>
              </a:rPr>
              <a:t>The operating authority</a:t>
            </a:r>
          </a:p>
          <a:p>
            <a:pPr>
              <a:spcAft>
                <a:spcPts val="300"/>
              </a:spcAft>
            </a:pPr>
            <a:r>
              <a:rPr sz="1550" b="0" i="0">
                <a:solidFill>
                  <a:srgbClr val="595959"/>
                </a:solidFill>
                <a:latin typeface="Arial"/>
              </a:rPr>
              <a:t>Its powers and duties.</a:t>
            </a:r>
          </a:p>
        </p:txBody>
      </p:sp>
      <p:sp>
        <p:nvSpPr>
          <p:cNvPr id="21" name="Rectangle 20"/>
          <p:cNvSpPr/>
          <p:nvPr/>
        </p:nvSpPr>
        <p:spPr>
          <a:xfrm>
            <a:off x="621792" y="551056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559743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5551714"/>
            <a:ext cx="10527487" cy="666205"/>
          </a:xfrm>
          <a:prstGeom prst="rect">
            <a:avLst/>
          </a:prstGeom>
          <a:noFill/>
        </p:spPr>
        <p:txBody>
          <a:bodyPr wrap="square">
            <a:spAutoFit/>
          </a:bodyPr>
          <a:lstStyle/>
          <a:p>
            <a:pPr>
              <a:spcAft>
                <a:spcPts val="300"/>
              </a:spcAft>
            </a:pPr>
            <a:r>
              <a:rPr sz="1700" b="1" i="0">
                <a:solidFill>
                  <a:srgbClr val="1A1A1A"/>
                </a:solidFill>
                <a:latin typeface="Arial"/>
              </a:rPr>
              <a:t>Enforcement — a ladder, not a hammer</a:t>
            </a:r>
          </a:p>
          <a:p>
            <a:pPr>
              <a:spcAft>
                <a:spcPts val="300"/>
              </a:spcAft>
            </a:pPr>
            <a:r>
              <a:rPr sz="1550" b="0" i="0">
                <a:solidFill>
                  <a:srgbClr val="595959"/>
                </a:solidFill>
                <a:latin typeface="Arial"/>
              </a:rPr>
              <a:t>Warning → fine → restricted access → suspension → Council of Ministers.</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article is drafted against a published law</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Mandatory connection against Estonia's Information Society Services Act. Once-only against the EU's Once-Only provisions. Safeguards against a recognised data-protection regime.</a:t>
            </a:r>
          </a:p>
          <a:p>
            <a:pPr>
              <a:spcAft>
                <a:spcPts val="1200"/>
              </a:spcAft>
            </a:pPr>
            <a:r>
              <a:rPr sz="2000" b="0" i="0">
                <a:solidFill>
                  <a:srgbClr val="1A1A1A"/>
                </a:solidFill>
                <a:latin typeface="Arial"/>
              </a:rPr>
              <a:t>No published model behind an article? It is a [confirm] for a lawyer, not a clause.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Invented legal text reads convincingly — and is worthless or harmful.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articles are where business and IT share one language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mandatory-connection and once-only articles describe, in law, exactly the exchanges the architects will build.</a:t>
            </a:r>
          </a:p>
          <a:p>
            <a:pPr>
              <a:spcAft>
                <a:spcPts val="1200"/>
              </a:spcAft>
            </a:pPr>
            <a:r>
              <a:rPr sz="2000" b="0" i="0">
                <a:solidFill>
                  <a:srgbClr val="1A1A1A"/>
                </a:solidFill>
                <a:latin typeface="Arial"/>
              </a:rPr>
              <a:t>If the two sides disagree on what they cover, the decree authorises one thing and the bus carries another.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One binding text: the policy side writes it, the technical side implements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Generate each article against a named published law, confirm every clause with a lawyer, and make the binding rules match exactly the exchanges you will build.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one operative article against a published model.</a:t>
            </a:r>
          </a:p>
          <a:p>
            <a:pPr algn="l">
              <a:spcAft>
                <a:spcPts val="400"/>
              </a:spcAft>
            </a:pPr>
            <a:r>
              <a:rPr sz="1800" b="0" i="0">
                <a:solidFill>
                  <a:srgbClr val="595959"/>
                </a:solidFill>
                <a:latin typeface="Arial"/>
              </a:rPr>
              <a:t>The prompt in the companion material gives you a draft article with [confirm] placeholders and flagged terms.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Information Society Services Act</a:t>
            </a:r>
          </a:p>
          <a:p>
            <a:pPr>
              <a:spcAft>
                <a:spcPts val="1200"/>
              </a:spcAft>
            </a:pPr>
            <a:r>
              <a:rPr sz="1700" b="0" i="0">
                <a:solidFill>
                  <a:srgbClr val="1A1A1A"/>
                </a:solidFill>
                <a:latin typeface="Arial"/>
              </a:rPr>
              <a:t>•  EU Once-Only Regulation</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Your national data-protection framework</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The Draft Articles Package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Cover Note and Two-Track Regulatory Memo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Transmit the package with a specific ask, and show how the decree and the data-protection law fit together — so the decree moves instead of sitting in a queue, and the data-protection authority backs it instead of blocking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perfect package can still stall.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 a Ministry of Justice queue.</a:t>
            </a:r>
          </a:p>
          <a:p>
            <a:pPr>
              <a:spcAft>
                <a:spcPts val="800"/>
              </a:spcAft>
            </a:pPr>
            <a:r>
              <a:rPr sz="1700" b="0" i="0">
                <a:solidFill>
                  <a:srgbClr val="595959"/>
                </a:solidFill>
                <a:latin typeface="Arial"/>
              </a:rPr>
              <a:t>Or in a challenge from the data-protection authority.</a:t>
            </a:r>
          </a:p>
          <a:p>
            <a:pPr>
              <a:spcAft>
                <a:spcPts val="800"/>
              </a:spcAft>
            </a:pPr>
            <a:r>
              <a:rPr sz="1700" b="0" i="0">
                <a:solidFill>
                  <a:srgbClr val="595959"/>
                </a:solidFill>
                <a:latin typeface="Arial"/>
              </a:rPr>
              <a:t>The last two parts of the kit exist to stop both.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Cover Note: what it is, what you ask, and by when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this package is</a:t>
            </a:r>
          </a:p>
          <a:p>
            <a:pPr>
              <a:spcAft>
                <a:spcPts val="300"/>
              </a:spcAft>
            </a:pPr>
            <a:r>
              <a:rPr sz="1550" b="0" i="0">
                <a:solidFill>
                  <a:srgbClr val="595959"/>
                </a:solidFill>
                <a:latin typeface="Arial"/>
              </a:rPr>
              <a:t>In three lines a busy official reads in thirty seconds.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Exactly what is being asked</a:t>
            </a:r>
          </a:p>
          <a:p>
            <a:pPr>
              <a:spcAft>
                <a:spcPts val="300"/>
              </a:spcAft>
            </a:pPr>
            <a:r>
              <a:rPr sz="1550" b="0" i="0">
                <a:solidFill>
                  <a:srgbClr val="595959"/>
                </a:solidFill>
                <a:latin typeface="Arial"/>
              </a:rPr>
              <a:t>Perfect the Articles · confirm the authorities · advise the route: a decree, or primary legislation.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timeline</a:t>
            </a:r>
          </a:p>
          <a:p>
            <a:pPr>
              <a:spcAft>
                <a:spcPts val="300"/>
              </a:spcAft>
            </a:pPr>
            <a:r>
              <a:rPr sz="1550" b="0" i="0">
                <a:solidFill>
                  <a:srgbClr val="595959"/>
                </a:solidFill>
                <a:latin typeface="Arial"/>
              </a:rPr>
              <a:t>And what it costs the country if the decree slips.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clear ask moves. A thick document with no request waits.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laws, one set of data — the memo shows where they meet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INTEROPERABILITY DECREE</a:t>
            </a:r>
          </a:p>
          <a:p>
            <a:pPr>
              <a:spcAft>
                <a:spcPts val="700"/>
              </a:spcAft>
            </a:pPr>
            <a:r>
              <a:rPr sz="1600" b="0" i="0">
                <a:solidFill>
                  <a:srgbClr val="1A1A1A"/>
                </a:solidFill>
                <a:latin typeface="Arial"/>
              </a:rPr>
              <a:t>Mandates connection and once-only.</a:t>
            </a:r>
          </a:p>
          <a:p>
            <a:pPr>
              <a:spcAft>
                <a:spcPts val="700"/>
              </a:spcAft>
            </a:pPr>
            <a:r>
              <a:rPr sz="1600" b="0" i="0">
                <a:solidFill>
                  <a:srgbClr val="1A1A1A"/>
                </a:solidFill>
                <a:latin typeface="Arial"/>
              </a:rPr>
              <a:t>Names the operating authority.</a:t>
            </a:r>
          </a:p>
          <a:p>
            <a:pPr>
              <a:spcAft>
                <a:spcPts val="700"/>
              </a:spcAft>
            </a:pPr>
            <a:r>
              <a:rPr sz="1600" b="0" i="0">
                <a:solidFill>
                  <a:srgbClr val="1A1A1A"/>
                </a:solidFill>
                <a:latin typeface="Arial"/>
              </a:rPr>
              <a:t>Sets sanctions.</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DATA-PROTECTION LAW</a:t>
            </a:r>
          </a:p>
          <a:p>
            <a:pPr>
              <a:spcAft>
                <a:spcPts val="700"/>
              </a:spcAft>
            </a:pPr>
            <a:r>
              <a:rPr sz="1600" b="0" i="0">
                <a:solidFill>
                  <a:srgbClr val="1A1A1A"/>
                </a:solidFill>
                <a:latin typeface="Arial"/>
              </a:rPr>
              <a:t>Lawful bases and data-subject rights.</a:t>
            </a:r>
          </a:p>
          <a:p>
            <a:pPr>
              <a:spcAft>
                <a:spcPts val="700"/>
              </a:spcAft>
            </a:pPr>
            <a:r>
              <a:rPr sz="1600" b="0" i="0">
                <a:solidFill>
                  <a:srgbClr val="1A1A1A"/>
                </a:solidFill>
                <a:latin typeface="Arial"/>
              </a:rPr>
              <a:t>The data-protection authority and its officers.</a:t>
            </a:r>
          </a:p>
          <a:p>
            <a:pPr>
              <a:spcAft>
                <a:spcPts val="700"/>
              </a:spcAft>
            </a:pPr>
            <a:r>
              <a:rPr sz="1600" b="0" i="0">
                <a:solidFill>
                  <a:srgbClr val="1A1A1A"/>
                </a:solidFill>
                <a:latin typeface="Arial"/>
              </a:rPr>
              <a:t>Its own sanctions.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They meet at: definitions · consent · cross-border transfers · the Data Protection Officer · sanctions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memo turns the data-protection authority into a co-signer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decree drafted in isolation is the decree the data-protection authority challenges.</a:t>
            </a:r>
          </a:p>
          <a:p>
            <a:pPr>
              <a:spcAft>
                <a:spcPts val="1200"/>
              </a:spcAft>
            </a:pPr>
            <a:r>
              <a:rPr sz="2000" b="0" i="0">
                <a:solidFill>
                  <a:srgbClr val="1A1A1A"/>
                </a:solidFill>
                <a:latin typeface="Arial"/>
              </a:rPr>
              <a:t>The memo proposes the coordination: joint subordinate regulation, a memorandum of understanding between the two authorities, joint enforcement.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Skip it, and the collision surfaces after enactment — in court.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Transmit with a specific ask, and show the decree and the data-protection law as two coordinated tracks — so enactment is a decision, and the data-protection authority is a co-signer.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Cover Note and the Two-Track Regulatory Memo.</a:t>
            </a:r>
          </a:p>
          <a:p>
            <a:pPr algn="l">
              <a:spcAft>
                <a:spcPts val="400"/>
              </a:spcAft>
            </a:pPr>
            <a:r>
              <a:rPr sz="1800" b="0" i="0">
                <a:solidFill>
                  <a:srgbClr val="595959"/>
                </a:solidFill>
                <a:latin typeface="Arial"/>
              </a:rPr>
              <a:t>The prompt in the companion material gives you a Cover Note and a Two-Track Regulatory Memo coordinating the decree with the data-protection law.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and governance layers</a:t>
            </a:r>
          </a:p>
          <a:p>
            <a:pPr>
              <a:spcAft>
                <a:spcPts val="1200"/>
              </a:spcAft>
            </a:pPr>
            <a:r>
              <a:rPr sz="1700" b="0" i="0">
                <a:solidFill>
                  <a:srgbClr val="1A1A1A"/>
                </a:solidFill>
                <a:latin typeface="Arial"/>
              </a:rPr>
              <a:t>•  Your country's personal-data-protection law and data-protection authority</a:t>
            </a:r>
          </a:p>
          <a:p>
            <a:pPr>
              <a:spcAft>
                <a:spcPts val="1200"/>
              </a:spcAft>
            </a:pPr>
            <a:r>
              <a:rPr sz="1700" b="0" i="0">
                <a:solidFill>
                  <a:srgbClr val="1A1A1A"/>
                </a:solidFill>
                <a:latin typeface="Arial"/>
              </a:rPr>
              <a:t>•  Your national legislative-process references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decree as configuration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finished decree authorises exactly the exchanges in your Use-Case Catalogue — read it as the legal configuration that binds the technical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step most teams skip: read the decree back against the catalogue.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is not a document beside the framework.</a:t>
            </a:r>
          </a:p>
          <a:p>
            <a:pPr>
              <a:spcAft>
                <a:spcPts val="800"/>
              </a:spcAft>
            </a:pPr>
            <a:r>
              <a:rPr sz="1700" b="0" i="0">
                <a:solidFill>
                  <a:srgbClr val="595959"/>
                </a:solidFill>
                <a:latin typeface="Arial"/>
              </a:rPr>
              <a:t>It is the legal configuration of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checks: no less, and no more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COVERAGE — NO LESS</a:t>
            </a:r>
          </a:p>
          <a:p>
            <a:pPr>
              <a:spcAft>
                <a:spcPts val="700"/>
              </a:spcAft>
            </a:pPr>
            <a:r>
              <a:rPr sz="1600" b="0" i="0">
                <a:solidFill>
                  <a:srgbClr val="1A1A1A"/>
                </a:solidFill>
                <a:latin typeface="Arial"/>
              </a:rPr>
              <a:t>Every exchange in the catalogue has a lawful basis in the decree.</a:t>
            </a:r>
          </a:p>
          <a:p>
            <a:pPr>
              <a:spcAft>
                <a:spcPts val="700"/>
              </a:spcAft>
            </a:pPr>
            <a:r>
              <a:rPr sz="1600" b="0" i="0">
                <a:solidFill>
                  <a:srgbClr val="1A1A1A"/>
                </a:solidFill>
                <a:latin typeface="Arial"/>
              </a:rPr>
              <a:t>A catalogue entry with no legal basis is an exchange you cannot build.</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SCOPE DISCIPLINE — NO MORE</a:t>
            </a:r>
          </a:p>
          <a:p>
            <a:pPr>
              <a:spcAft>
                <a:spcPts val="700"/>
              </a:spcAft>
            </a:pPr>
            <a:r>
              <a:rPr sz="1600" b="0" i="0">
                <a:solidFill>
                  <a:srgbClr val="1A1A1A"/>
                </a:solidFill>
                <a:latin typeface="Arial"/>
              </a:rPr>
              <a:t>No article authorises an exchange outside the catalogue or the principles.</a:t>
            </a:r>
          </a:p>
          <a:p>
            <a:pPr>
              <a:spcAft>
                <a:spcPts val="700"/>
              </a:spcAft>
            </a:pPr>
            <a:r>
              <a:rPr sz="1600" b="0" i="0">
                <a:solidFill>
                  <a:srgbClr val="1A1A1A"/>
                </a:solidFill>
                <a:latin typeface="Arial"/>
              </a:rPr>
              <a:t>Broader powers than needed are a privacy risk and a political liability.</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decree should authorise exactly the framework's exchanges.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decree says, in law, what the bus does, in software</a:t>
            </a:r>
          </a:p>
        </p:txBody>
      </p:sp>
      <p:sp>
        <p:nvSpPr>
          <p:cNvPr id="4" name="TextBox 3"/>
          <p:cNvSpPr txBox="1"/>
          <p:nvPr/>
        </p:nvSpPr>
        <p:spPr>
          <a:xfrm>
            <a:off x="658368" y="1463040"/>
            <a:ext cx="10984687" cy="2103120"/>
          </a:xfrm>
          <a:prstGeom prst="rect">
            <a:avLst/>
          </a:prstGeom>
          <a:noFill/>
        </p:spPr>
        <p:txBody>
          <a:bodyPr wrap="square">
            <a:spAutoFit/>
          </a:bodyPr>
          <a:lstStyle/>
          <a:p>
            <a:pPr>
              <a:spcAft>
                <a:spcPts val="300"/>
              </a:spcAft>
            </a:pPr>
            <a:r>
              <a:rPr sz="1900" b="1" i="0">
                <a:solidFill>
                  <a:srgbClr val="1A1A1A"/>
                </a:solidFill>
                <a:latin typeface="Arial"/>
              </a:rPr>
              <a:t>The mandatory-connection article makes agencies members of the bus</a:t>
            </a:r>
          </a:p>
          <a:p>
            <a:pPr>
              <a:spcAft>
                <a:spcPts val="300"/>
              </a:spcAft>
            </a:pPr>
            <a:r>
              <a:rPr sz="1550" b="0" i="0">
                <a:solidFill>
                  <a:srgbClr val="595959"/>
                </a:solidFill>
                <a:latin typeface="Arial"/>
              </a:rPr>
              <a:t>The legal text creates the obligation the technical onboarding fulfils.</a:t>
            </a:r>
          </a:p>
        </p:txBody>
      </p:sp>
      <p:sp>
        <p:nvSpPr>
          <p:cNvPr id="5" name="Rectangle 4"/>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11879"/>
            <a:ext cx="10984687" cy="2103120"/>
          </a:xfrm>
          <a:prstGeom prst="rect">
            <a:avLst/>
          </a:prstGeom>
          <a:noFill/>
        </p:spPr>
        <p:txBody>
          <a:bodyPr wrap="square">
            <a:spAutoFit/>
          </a:bodyPr>
          <a:lstStyle/>
          <a:p>
            <a:pPr>
              <a:spcAft>
                <a:spcPts val="300"/>
              </a:spcAft>
            </a:pPr>
            <a:r>
              <a:rPr sz="1900" b="1" i="0">
                <a:solidFill>
                  <a:srgbClr val="1A1A1A"/>
                </a:solidFill>
                <a:latin typeface="Arial"/>
              </a:rPr>
              <a:t>The once-only obligation makes the exchange required</a:t>
            </a:r>
          </a:p>
          <a:p>
            <a:pPr>
              <a:spcAft>
                <a:spcPts val="300"/>
              </a:spcAft>
            </a:pPr>
            <a:r>
              <a:rPr sz="1550" b="0" i="0">
                <a:solidFill>
                  <a:srgbClr val="595959"/>
                </a:solidFill>
                <a:latin typeface="Arial"/>
              </a:rPr>
              <a:t>Not a favour the providing agency may decline.</a:t>
            </a:r>
          </a:p>
        </p:txBody>
      </p:sp>
      <p:sp>
        <p:nvSpPr>
          <p:cNvPr id="7" name="TextBox 6"/>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Read together, they are configuration — one binding, one running.</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 the build pack, the decree is the legal-layer configuration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Its acceptance check is the match you just ran: every catalogue exchange has a lawful basis, and no article over-reaches.</a:t>
            </a:r>
          </a:p>
          <a:p>
            <a:pPr>
              <a:spcAft>
                <a:spcPts val="1200"/>
              </a:spcAft>
            </a:pPr>
            <a:r>
              <a:rPr sz="2000" b="0" i="0">
                <a:solidFill>
                  <a:srgbClr val="1A1A1A"/>
                </a:solidFill>
                <a:latin typeface="Arial"/>
              </a:rPr>
              <a:t>The once-only demonstration later in this knowledge product runs under this decree.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Pass that check, and the legal layer is done — verified, not filed and forgotten.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decree is finished not when it is signed, but when it authorises exactly the exchanges your framework will carry — no less, and no more.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your decree authorises exactly your catalogue.</a:t>
            </a:r>
          </a:p>
          <a:p>
            <a:pPr algn="l">
              <a:spcAft>
                <a:spcPts val="400"/>
              </a:spcAft>
            </a:pPr>
            <a:r>
              <a:rPr sz="1800" b="0" i="0">
                <a:solidFill>
                  <a:srgbClr val="595959"/>
                </a:solidFill>
                <a:latin typeface="Arial"/>
              </a:rPr>
              <a:t>The prompt in the companion material gives you a coverage table plus lists of uncovered exchanges and over-reaching articles.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§3.2 (Legal layer)</a:t>
            </a:r>
          </a:p>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The Use-Case Catalogue (Module 1, video 1.5)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decree as configuration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