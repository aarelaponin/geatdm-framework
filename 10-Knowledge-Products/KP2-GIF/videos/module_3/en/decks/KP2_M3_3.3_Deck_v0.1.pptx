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3" r:id="rId35"/>
    <p:sldId id="2714" r:id="rId36"/>
    <p:sldId id="2715" r:id="rId37"/>
    <p:sldId id="2716" r:id="rId38"/>
    <p:sldId id="2717" r:id="rId39"/>
    <p:sldId id="2718" r:id="rId40"/>
    <p:sldId id="271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RACI names four roles for any decision. Responsible — who does the work. Accountable — who owns the decision; and the iron rule is exactly one Accountable, never two. Consulted — who must be asked before the decision. Informed — who is told after. The whole discipline rests on that one rule: one Accountable per decision. The most common governance failure is two bodies both thinking they are Accountable, which produces deadlock, or none, which produces drift.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 three governing tiers, an Operating Authority and many member agencies, the question that derails interoperability is rarely 'can we do this technically?'. It is 'who decides?'. Two bodies both believe they are in charge of admitting a new member, or no one is, and a simple onboarding becomes a three-month turf fight. The RACI matrix is the cheap insurance against exactly that. It is one page that says, for each kind of decision, who decides and who does what.</a:t>
            </a:r>
          </a:p>
          <a:p/>
          <a:p>
            <a:r>
              <a:t>Retrieval prompt — ask before playing on: when a new agency joins, the Operating Authority does the onboarding work. Does that make it the body Accountable for the decision? Answer on the worked-row slide: no — it is Responsible; the Steering Committee is Accountable.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map every decision — just the handful that recur and cause friction. Admitting a new member. Approving a technical standard. Authorising a new data exchange. Resolving a dispute between two members. Changing or retiring a standard. Suspending a member that breaks the rules. For each of these, write down which body is Accountable, who is Responsible, who must be Consulted, and who is Informed. And two rows the regulator-operator split makes visible: publishing the reference architecture and the compliance checklist — the regulator is Accountable and Responsible, the operator Consulted, the members Informed — and, its mirror image, operating the platform and onboarding members, where the operator is Accountable and the regulator merely Consulted. Write both, and the split is no longer a principle but a matrix.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one row, worked through. Admitting a new member: the Operating Authority is Responsible — it does the onboarding. The Steering Committee is Accountable — it approves. The relevant Technical Working Group is Consulted — it checks the agency is ready. The Strategic Council is Informed. Write that single row down once, agree it, and the next agency that wants to join follows a known process instead of starting a fresh negotiation about who is allowed to say yes.</a:t>
            </a:r>
          </a:p>
          <a:p/>
          <a:p>
            <a:r>
              <a:t>VO: The value of the matrix is that you settle these questions before the dispute, not during it. A turf fight resolved by pointing at an agreed matrix is a five-minute conversation. The same fight with no matrix is a months-long escalation that burns the political capital you needed for harder things. A RACI is only words on a page — but it is the words that stop the fights.</a:t>
            </a:r>
          </a:p>
          <a:p/>
          <a:p>
            <a:r>
              <a:t>Production cue: the pivotal slide of this video, and it answers the retrieval prompt set on the opener. Reveal the cells left to right.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RACI matrix is the third piece of the Governance Pack. Map the handful of recurring decisions, give each exactly one Accountable body, and record who is Responsible, Consulted and Informed. It is quick to draft and it prevents the slow, expensive disputes that quietly stall interoperability frameworks. Agree it before the first member joins, while it is still abstract and uncontested.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RACI matrix</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Write down who decides, who runs, who is consulted, once — it is what stops every onboarding turning into a turf fight.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question that derails interoperability is "who decides?"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Two bodies both think they admit a new member — or neither does.</a:t>
            </a:r>
          </a:p>
          <a:p>
            <a:pPr>
              <a:spcAft>
                <a:spcPts val="800"/>
              </a:spcAft>
            </a:pPr>
            <a:r>
              <a:rPr sz="1700" b="0" i="0">
                <a:solidFill>
                  <a:srgbClr val="595959"/>
                </a:solidFill>
                <a:latin typeface="Arial"/>
              </a:rPr>
              <a:t>A simple onboarding becomes a three-month turf fight.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RACI names four roles — and exactly one is Accountable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Responsible</a:t>
            </a:r>
          </a:p>
          <a:p>
            <a:pPr>
              <a:spcAft>
                <a:spcPts val="300"/>
              </a:spcAft>
            </a:pPr>
            <a:r>
              <a:rPr sz="1550" b="0" i="0">
                <a:solidFill>
                  <a:srgbClr val="595959"/>
                </a:solidFill>
                <a:latin typeface="Arial"/>
              </a:rPr>
              <a:t>Does the work.</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Accountable</a:t>
            </a:r>
          </a:p>
          <a:p>
            <a:pPr>
              <a:spcAft>
                <a:spcPts val="300"/>
              </a:spcAft>
            </a:pPr>
            <a:r>
              <a:rPr sz="1550" b="0" i="0">
                <a:solidFill>
                  <a:srgbClr val="595959"/>
                </a:solidFill>
                <a:latin typeface="Arial"/>
              </a:rPr>
              <a:t>Owns the decision — exactly one body, never two.</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Consulted</a:t>
            </a:r>
          </a:p>
          <a:p>
            <a:pPr>
              <a:spcAft>
                <a:spcPts val="300"/>
              </a:spcAft>
            </a:pPr>
            <a:r>
              <a:rPr sz="1550" b="0" i="0">
                <a:solidFill>
                  <a:srgbClr val="595959"/>
                </a:solidFill>
                <a:latin typeface="Arial"/>
              </a:rPr>
              <a:t>Must be asked before.</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Informed</a:t>
            </a:r>
          </a:p>
          <a:p>
            <a:pPr>
              <a:spcAft>
                <a:spcPts val="300"/>
              </a:spcAft>
            </a:pPr>
            <a:r>
              <a:rPr sz="1550" b="0" i="0">
                <a:solidFill>
                  <a:srgbClr val="595959"/>
                </a:solidFill>
                <a:latin typeface="Arial"/>
              </a:rPr>
              <a:t>Told after.</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Two Accountables produce deadlock. None produces drift.</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Map only the decisions that recur and cause friction</a:t>
            </a:r>
          </a:p>
        </p:txBody>
      </p:sp>
      <p:sp>
        <p:nvSpPr>
          <p:cNvPr id="4" name="Rounded Rectangle 3"/>
          <p:cNvSpPr/>
          <p:nvPr/>
        </p:nvSpPr>
        <p:spPr>
          <a:xfrm>
            <a:off x="658368"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THE RECURRING SIX</a:t>
            </a:r>
          </a:p>
          <a:p>
            <a:pPr>
              <a:spcAft>
                <a:spcPts val="700"/>
              </a:spcAft>
            </a:pPr>
            <a:r>
              <a:rPr sz="1600" b="0" i="0">
                <a:solidFill>
                  <a:srgbClr val="1A1A1A"/>
                </a:solidFill>
                <a:latin typeface="Arial"/>
              </a:rPr>
              <a:t>Admit a new member.</a:t>
            </a:r>
          </a:p>
          <a:p>
            <a:pPr>
              <a:spcAft>
                <a:spcPts val="700"/>
              </a:spcAft>
            </a:pPr>
            <a:r>
              <a:rPr sz="1600" b="0" i="0">
                <a:solidFill>
                  <a:srgbClr val="1A1A1A"/>
                </a:solidFill>
                <a:latin typeface="Arial"/>
              </a:rPr>
              <a:t>Approve a technical standard.</a:t>
            </a:r>
          </a:p>
          <a:p>
            <a:pPr>
              <a:spcAft>
                <a:spcPts val="700"/>
              </a:spcAft>
            </a:pPr>
            <a:r>
              <a:rPr sz="1600" b="0" i="0">
                <a:solidFill>
                  <a:srgbClr val="1A1A1A"/>
                </a:solidFill>
                <a:latin typeface="Arial"/>
              </a:rPr>
              <a:t>Authorise a new exchange.</a:t>
            </a:r>
          </a:p>
          <a:p>
            <a:pPr>
              <a:spcAft>
                <a:spcPts val="700"/>
              </a:spcAft>
            </a:pPr>
            <a:r>
              <a:rPr sz="1600" b="0" i="0">
                <a:solidFill>
                  <a:srgbClr val="1A1A1A"/>
                </a:solidFill>
                <a:latin typeface="Arial"/>
              </a:rPr>
              <a:t>Resolve a dispute between members.</a:t>
            </a:r>
          </a:p>
          <a:p>
            <a:pPr>
              <a:spcAft>
                <a:spcPts val="700"/>
              </a:spcAft>
            </a:pPr>
            <a:r>
              <a:rPr sz="1600" b="0" i="0">
                <a:solidFill>
                  <a:srgbClr val="1A1A1A"/>
                </a:solidFill>
                <a:latin typeface="Arial"/>
              </a:rPr>
              <a:t>Change or retire a standard.</a:t>
            </a:r>
          </a:p>
          <a:p>
            <a:pPr>
              <a:spcAft>
                <a:spcPts val="700"/>
              </a:spcAft>
            </a:pPr>
            <a:r>
              <a:rPr sz="1600" b="0" i="0">
                <a:solidFill>
                  <a:srgbClr val="1A1A1A"/>
                </a:solidFill>
                <a:latin typeface="Arial"/>
              </a:rPr>
              <a:t>Suspend a member that breaks the rules.</a:t>
            </a:r>
          </a:p>
        </p:txBody>
      </p:sp>
      <p:sp>
        <p:nvSpPr>
          <p:cNvPr id="6" name="Rounded Rectangle 5"/>
          <p:cNvSpPr/>
          <p:nvPr/>
        </p:nvSpPr>
        <p:spPr>
          <a:xfrm>
            <a:off x="6263640" y="1554480"/>
            <a:ext cx="5394960" cy="37490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THE TWO THE SPLIT ADDS</a:t>
            </a:r>
          </a:p>
          <a:p>
            <a:pPr>
              <a:spcAft>
                <a:spcPts val="700"/>
              </a:spcAft>
            </a:pPr>
            <a:r>
              <a:rPr sz="1600" b="0" i="0">
                <a:solidFill>
                  <a:srgbClr val="1A1A1A"/>
                </a:solidFill>
                <a:latin typeface="Arial"/>
              </a:rPr>
              <a:t>Publish the reference architecture and compliance checklist — the regulator is Accountable.</a:t>
            </a:r>
          </a:p>
          <a:p>
            <a:pPr>
              <a:spcAft>
                <a:spcPts val="700"/>
              </a:spcAft>
            </a:pPr>
            <a:r>
              <a:rPr sz="1600" b="0" i="0">
                <a:solidFill>
                  <a:srgbClr val="1A1A1A"/>
                </a:solidFill>
                <a:latin typeface="Arial"/>
              </a:rPr>
              <a:t>Operate the platform and onboard members — the operator is Accountable.</a:t>
            </a:r>
          </a:p>
        </p:txBody>
      </p:sp>
      <p:sp>
        <p:nvSpPr>
          <p:cNvPr id="8" name="TextBox 7"/>
          <p:cNvSpPr txBox="1"/>
          <p:nvPr/>
        </p:nvSpPr>
        <p:spPr>
          <a:xfrm>
            <a:off x="658368" y="5486400"/>
            <a:ext cx="10881360" cy="548640"/>
          </a:xfrm>
          <a:prstGeom prst="rect">
            <a:avLst/>
          </a:prstGeom>
          <a:noFill/>
        </p:spPr>
        <p:txBody>
          <a:bodyPr wrap="square">
            <a:spAutoFit/>
          </a:bodyPr>
          <a:lstStyle/>
          <a:p>
            <a:r>
              <a:rPr sz="1550" b="1" i="0">
                <a:solidFill>
                  <a:srgbClr val="006E96"/>
                </a:solidFill>
                <a:latin typeface="Arial"/>
              </a:rPr>
              <a:t>Write both, and the split is no longer a principle but a matrix.</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Write one row once, and the next onboarding is a process</a:t>
            </a:r>
          </a:p>
        </p:txBody>
      </p:sp>
      <p:sp>
        <p:nvSpPr>
          <p:cNvPr id="4" name="TextBox 3"/>
          <p:cNvSpPr txBox="1"/>
          <p:nvPr/>
        </p:nvSpPr>
        <p:spPr>
          <a:xfrm>
            <a:off x="658368" y="1463040"/>
            <a:ext cx="10881360" cy="548640"/>
          </a:xfrm>
          <a:prstGeom prst="rect">
            <a:avLst/>
          </a:prstGeom>
          <a:noFill/>
        </p:spPr>
        <p:txBody>
          <a:bodyPr wrap="square">
            <a:spAutoFit/>
          </a:bodyPr>
          <a:lstStyle/>
          <a:p>
            <a:r>
              <a:rPr sz="1500" b="1" i="0">
                <a:solidFill>
                  <a:srgbClr val="006E96"/>
                </a:solidFill>
                <a:latin typeface="Arial"/>
              </a:rPr>
              <a:t>DECISION:  </a:t>
            </a:r>
            <a:r>
              <a:rPr sz="2000" b="1" i="0">
                <a:solidFill>
                  <a:srgbClr val="1A1A1A"/>
                </a:solidFill>
                <a:latin typeface="Arial"/>
              </a:rPr>
              <a:t>Admit a new member</a:t>
            </a:r>
          </a:p>
        </p:txBody>
      </p:sp>
      <p:sp>
        <p:nvSpPr>
          <p:cNvPr id="5" name="Rounded Rectangle 4"/>
          <p:cNvSpPr/>
          <p:nvPr/>
        </p:nvSpPr>
        <p:spPr>
          <a:xfrm>
            <a:off x="658368" y="2240280"/>
            <a:ext cx="2560320" cy="23774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RESPONSIBLE</a:t>
            </a:r>
          </a:p>
          <a:p>
            <a:pPr algn="l">
              <a:spcAft>
                <a:spcPts val="300"/>
              </a:spcAft>
            </a:pPr>
            <a:r>
              <a:rPr sz="1800" b="0" i="0">
                <a:solidFill>
                  <a:srgbClr val="1A1A1A"/>
                </a:solidFill>
                <a:latin typeface="Arial"/>
              </a:rPr>
              <a:t>The Operating Authority</a:t>
            </a:r>
          </a:p>
          <a:p>
            <a:pPr algn="l">
              <a:spcAft>
                <a:spcPts val="300"/>
              </a:spcAft>
            </a:pPr>
            <a:r>
              <a:rPr sz="1800" b="0" i="0">
                <a:solidFill>
                  <a:srgbClr val="1A1A1A"/>
                </a:solidFill>
                <a:latin typeface="Arial"/>
              </a:rPr>
              <a:t>Does the onboarding.</a:t>
            </a:r>
          </a:p>
        </p:txBody>
      </p:sp>
      <p:sp>
        <p:nvSpPr>
          <p:cNvPr id="6" name="Rounded Rectangle 5"/>
          <p:cNvSpPr/>
          <p:nvPr/>
        </p:nvSpPr>
        <p:spPr>
          <a:xfrm>
            <a:off x="3431743" y="2240280"/>
            <a:ext cx="2560320" cy="23774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FFFFFF"/>
                </a:solidFill>
                <a:latin typeface="Arial"/>
              </a:rPr>
              <a:t>ACCOUNTABLE</a:t>
            </a:r>
          </a:p>
          <a:p>
            <a:pPr algn="l">
              <a:spcAft>
                <a:spcPts val="300"/>
              </a:spcAft>
            </a:pPr>
            <a:r>
              <a:rPr sz="1800" b="0" i="0">
                <a:solidFill>
                  <a:srgbClr val="FFFFFF"/>
                </a:solidFill>
                <a:latin typeface="Arial"/>
              </a:rPr>
              <a:t>The Steering Committee</a:t>
            </a:r>
          </a:p>
          <a:p>
            <a:pPr algn="l">
              <a:spcAft>
                <a:spcPts val="300"/>
              </a:spcAft>
            </a:pPr>
            <a:r>
              <a:rPr sz="1800" b="0" i="0">
                <a:solidFill>
                  <a:srgbClr val="FFFFFF"/>
                </a:solidFill>
                <a:latin typeface="Arial"/>
              </a:rPr>
              <a:t>Approves.</a:t>
            </a:r>
          </a:p>
        </p:txBody>
      </p:sp>
      <p:sp>
        <p:nvSpPr>
          <p:cNvPr id="7" name="Rounded Rectangle 6"/>
          <p:cNvSpPr/>
          <p:nvPr/>
        </p:nvSpPr>
        <p:spPr>
          <a:xfrm>
            <a:off x="6205118" y="2240280"/>
            <a:ext cx="2560320" cy="23774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CONSULTED</a:t>
            </a:r>
          </a:p>
          <a:p>
            <a:pPr algn="l">
              <a:spcAft>
                <a:spcPts val="300"/>
              </a:spcAft>
            </a:pPr>
            <a:r>
              <a:rPr sz="1800" b="0" i="0">
                <a:solidFill>
                  <a:srgbClr val="1A1A1A"/>
                </a:solidFill>
                <a:latin typeface="Arial"/>
              </a:rPr>
              <a:t>The relevant Working Group</a:t>
            </a:r>
          </a:p>
          <a:p>
            <a:pPr algn="l">
              <a:spcAft>
                <a:spcPts val="300"/>
              </a:spcAft>
            </a:pPr>
            <a:r>
              <a:rPr sz="1800" b="0" i="0">
                <a:solidFill>
                  <a:srgbClr val="1A1A1A"/>
                </a:solidFill>
                <a:latin typeface="Arial"/>
              </a:rPr>
              <a:t>Checks readiness.</a:t>
            </a:r>
          </a:p>
        </p:txBody>
      </p:sp>
      <p:sp>
        <p:nvSpPr>
          <p:cNvPr id="8" name="Rounded Rectangle 7"/>
          <p:cNvSpPr/>
          <p:nvPr/>
        </p:nvSpPr>
        <p:spPr>
          <a:xfrm>
            <a:off x="8978493" y="2240280"/>
            <a:ext cx="2560320" cy="23774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INFORMED</a:t>
            </a:r>
          </a:p>
          <a:p>
            <a:pPr algn="l">
              <a:spcAft>
                <a:spcPts val="300"/>
              </a:spcAft>
            </a:pPr>
            <a:r>
              <a:rPr sz="1800" b="0" i="0">
                <a:solidFill>
                  <a:srgbClr val="1A1A1A"/>
                </a:solidFill>
                <a:latin typeface="Arial"/>
              </a:rPr>
              <a:t>The Strategic Council</a:t>
            </a:r>
          </a:p>
          <a:p>
            <a:pPr algn="l">
              <a:spcAft>
                <a:spcPts val="300"/>
              </a:spcAft>
            </a:pPr>
            <a:r>
              <a:rPr sz="1800" b="0" i="0">
                <a:solidFill>
                  <a:srgbClr val="1A1A1A"/>
                </a:solidFill>
                <a:latin typeface="Arial"/>
              </a:rPr>
              <a:t/>
            </a:r>
          </a:p>
        </p:txBody>
      </p:sp>
      <p:sp>
        <p:nvSpPr>
          <p:cNvPr id="9" name="TextBox 8"/>
          <p:cNvSpPr txBox="1"/>
          <p:nvPr/>
        </p:nvSpPr>
        <p:spPr>
          <a:xfrm>
            <a:off x="658368" y="4937760"/>
            <a:ext cx="10881360" cy="822960"/>
          </a:xfrm>
          <a:prstGeom prst="rect">
            <a:avLst/>
          </a:prstGeom>
          <a:noFill/>
        </p:spPr>
        <p:txBody>
          <a:bodyPr wrap="square">
            <a:spAutoFit/>
          </a:bodyPr>
          <a:lstStyle/>
          <a:p>
            <a:r>
              <a:rPr sz="1700" b="1" i="0">
                <a:solidFill>
                  <a:srgbClr val="006E96"/>
                </a:solidFill>
                <a:latin typeface="Arial"/>
              </a:rPr>
              <a:t>Settled before the dispute: a five-minute conversation, not a months-long escalation.</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One Accountable per decision, written down once — the RACI matrix is what turns every recurring governance question from a fight into a process.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governance RACI for your framework's key decisions.</a:t>
            </a:r>
          </a:p>
          <a:p>
            <a:pPr algn="l">
              <a:spcAft>
                <a:spcPts val="400"/>
              </a:spcAft>
            </a:pPr>
            <a:r>
              <a:rPr sz="1800" b="0" i="0">
                <a:solidFill>
                  <a:srgbClr val="595959"/>
                </a:solidFill>
                <a:latin typeface="Arial"/>
              </a:rPr>
              <a:t>The prompt in the companion material gives you a RACI matrix plus a list of deadlock/drift risks and authority gaps.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NIIS X-Road governance — roles and responsibilities (niis.org)</a:t>
            </a:r>
          </a:p>
          <a:p>
            <a:pPr>
              <a:spcAft>
                <a:spcPts val="1200"/>
              </a:spcAft>
            </a:pPr>
            <a:r>
              <a:rPr sz="1700" b="0" i="0">
                <a:solidFill>
                  <a:srgbClr val="1A1A1A"/>
                </a:solidFill>
                <a:latin typeface="Arial"/>
              </a:rPr>
              <a:t>•  PAERA v1.0 — §3.1.3 (Institutional setup)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The RACI matrix</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