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RACI names four roles for any decision. Responsible — who does the work. Accountable — who owns the decision; and the iron rule is exactly one Accountable, never two. Consulted — who must be asked before the decision. Informed — who is told after. The whole discipline rests on that one rule: one Accountable per decision. The most common governance failure is two bodies both thinking they are Accountable, which produces deadlock, or none, which produces drift.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three governing tiers, an Operating Authority and many member agencies, the question that derails interoperability is rarely 'can we do this technically?'. It is 'who decides?'. Two bodies both believe they are in charge of admitting a new member, or no one is, and a simple onboarding becomes a three-month turf fight. The RACI matrix is the cheap insurance against exactly that. It is one page that says, for each kind of decision, who decides and who does what.</a:t>
            </a:r>
          </a:p>
          <a:p/>
          <a:p>
            <a:r>
              <a:t>Retrieval prompt — ask before playing on: when a new agency joins, the Operating Authority does the onboarding work. Does that make it the body Accountable for the decision? Answer on the worked-row slide: no — it is Responsible; the Steering Committee is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most common way an interoperability platform dies is not technical. A bus gets built in a burst of donor-funded enthusiasm, the launch is celebrated, and then in the second year no one is accountable for keeping it alive. Members drift away. Certificates expire. No one chases the next agency to connect. The platform does not fail dramatically — it just quietly decays, because nobody owned it. The cure is to name the owner before the first member ever joins.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owner is the Operating Authority — a standing body whose full-time job is the framework. It runs the bus day to day. It admits and onboards new members. It sets the service levels and watches them. It resolves disputes when two agencies disagree. And it owns the standards portfolio, keeping it current as the framework grows. In our demonstration country, Progressa, this is the Digital Government Authority, PDGA. Crucially, it is a standing operator with budget, staff and a mandate — not a committee that meets once a quarter. Three forms are common: a dedicated agency inside the national ICT authority, the usual choice; a department of a ministry, which struggles when that ministry is also a member with its own interests; or an independent statutory body, rare and mostly federal. It starts small — eight to fifteen people — and grows to thirty to eighty at national scale, most of them on platform operations and member support.</a:t>
            </a:r>
          </a:p>
          <a:p/>
          <a:p>
            <a:r>
              <a:t>VO: Here is why the owner has to sit at the level of the whole of government. The bus is a shared road, built once for every agency to reuse — and a shared asset with no single accountable owner becomes nobody's responsibility. The planning that justifies building it once, and the authority to run it for everyone, exist only at whole-of-government level. No single project and no single ministry can own the shared bus on behalf of all the others; only a designated Operating Authority can.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duties on the last slide are really two hats, and the most useful thing you can do at the start is to put them on two heads. One hat sets the rules: it owns the reference architecture and the standards, it defines the compliance checks and the evidence, it grants written exceptions and applies sanctions. That is the regulator. The other hat runs the bus: it operates the platform, onboards members, validates their connections and supports them. That is the operator. When one office does both, a platform outage, a missed standard and a compliance waiver are all decided by the same people, with no independent check — and the waiver always wins. So write the split into both mandates, so it survives staff turnover. A small administration does not need two agencies; two units inside one agency, each with its own mandate, is enough. And the member ministries keep the third hat: they own their services and their data, and they answer for their own compliance.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Keep two things separate, because confusing them is a common failure. Governing is setting direction and making decisions — the tiers do that. Operating is running the platform day to day — the Operating Authority does that. A framework with governance bodies but no operator is a set of meetings with nothing underneath; an operator with no governance is a team running a platform with no authority to compel anyone to use it. You need both, and you need them distinct.</a:t>
            </a:r>
          </a:p>
          <a:p/>
          <a:p>
            <a:r>
              <a:t>Production cue: the module's one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governance decision is the simplest to state and the easiest to skip: name the owner, with budget, staff and a real mandate, before the first member joins — and keep the rule-maker and the operator apart. That is what stops the second-year decay.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Governance fails in two opposite ways. Too top-heavy, and ministers are asked to decide technical details they cannot judge, so decisions stall. Too bottom-heavy, and technicians make political commitments they have no authority to keep, so decisions get reversed. The three-tier model, drawn from the EU's interoperability framework and the X-Road governance experience, avoids both by giving each kind of decision to the body that can actually make it.</a:t>
            </a:r>
          </a:p>
          <a:p/>
          <a:p>
            <a:r>
              <a:t>Retrieval prompt — ask before playing on: a Working Group cannot agree on a technical standard. Where does that decision go next — straight to the ministers? Answer on the escalation slide: to the Steering Committee, and to the Council only if it is political.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three tiers, with the Operating Authority running underneath all of them. The top tier is the Strategic Council — political authority. The middle tier is the Steering Committee — programme leadership. The bottom tier is the Technical Working Groups — the specialists. Each tier has one job, and the art of governance is keeping each decision at the right tier.</a:t>
            </a:r>
          </a:p>
          <a:p/>
          <a:p>
            <a:r>
              <a:t>Production cue: the centrepiece of the module — every later video places its body on this picture. Reveal the tiers top to bottom, the operator last.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Strategic Council is ministers and the most senior officials. It sets the direction, gives the framework political cover, and — most valuable of all — removes the political obstacles that no technician can: the reluctant minister, the turf dispute between two agencies, the budget fight. It meets rarely and decides big things. It does not decide technical questions, and a healthy framework protects its Council from being dragged into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Steering Committee is programme leadership — the chief digital officer, the sector CIOs, the head of the Operating Authority. It prioritises the Use-Case Catalogue, approves the roadmap, holds the budget, and reports up to the Council. This is where the framework is actually steered, month to month — close enough to the work to make real decisions, senior enough to make them stick.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Working Groups are the specialists — architects, security experts, semantic experts. They do the detailed technical work, decide the questions within their competence, and recommend the rest up to the Steering Committee. This is also where the architects you trained in the Enterprise Architecture work find their home in the interoperability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for the three tiers than just sorting decisions. The Strategic Council and the Steering Committee carry the business and political authority; the Technical Working Groups carry the IT expertise. The tiered structure is what brings the two together — it gives business and IT a shared language and a shared rhythm, so that the people who decide what the framework is for and the people who decide how it works are deciding the same questions in the same room, rather than missing each other in separate meetings. That shared rhythm is what makes the hard, cross-cutting decisions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tiers connect by escalation and delegation. A Working Group decides a standard; if it cannot agree, it escalates to the Steering Committee; if the question is political, the Committee escalates to the Council. The rule is that most decisions are made at the lowest tier that can make them, which keeps the ministers' scarce time for the few decisions only they can make. Get the escalation rules right and the framework runs smoothly; get them wrong and either nothing reaches the ministers or everything does.</a:t>
            </a:r>
          </a:p>
          <a:p/>
          <a:p>
            <a:r>
              <a:t>Production cue: the pivotal slide of this video, and it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three tiers are the structure: the Strategic Council for political authority, the Steering Committee for programme leadership, the Technical Working Groups for the specialists, and the Operating Authority running underneath. Each has one job. Each decides at its level. That is how you govern an interoperability framework without either drowning the ministers in detail or letting technicians make commitments they cannot keep.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~4–5 minute video, for the Strategist who stands up the framework's governance. Together the six videos build the Governance Pack — the organisational-layer configuration of the framework, as the decree is its legal layer.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3.1 names the owner and splits the regulator from the operator. 3.2 and 3.3 are the structure and who decides. 3.4 and 3.5 are the members and the specialists. 3.6 keeps it all current.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map every decision — just the handful that recur and cause friction. Admitting a new member. Approving a technical standard. Authorising a new data exchange. Resolving a dispute between two members. Changing or retiring a standard. Suspending a member that breaks the rules. For each of these, write down which body is Accountable, who is Responsible, who must be Consulted, and who is Informed. And two rows the regulator-operator split makes visible: publishing the reference architecture and the compliance checklist — the regulator is Accountable and Responsible, the operator Consulted, the members Informed — and, its mirror image, operating the platform and onboarding members, where the operator is Accountable and the regulator merely Consulted. Write both, and the split is no longer a principle but a matrix.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one row, worked through. Admitting a new member: the Operating Authority is Responsible — it does the onboarding. The Steering Committee is Accountable — it approves. The relevant Technical Working Group is Consulted — it checks the agency is ready. The Strategic Council is Informed. Write that single row down once, agree it, and the next agency that wants to join follows a known process instead of starting a fresh negotiation about who is allowed to say yes.</a:t>
            </a:r>
          </a:p>
          <a:p/>
          <a:p>
            <a:r>
              <a:t>VO: The value of the matrix is that you settle these questions before the dispute, not during it. A turf fight resolved by pointing at an agreed matrix is a five-minute conversation. The same fight with no matrix is a months-long escalation that burns the political capital you needed for harder things. A RACI is only words on a page — but it is the words that stop the fights.</a:t>
            </a:r>
          </a:p>
          <a:p/>
          <a:p>
            <a:r>
              <a:t>Production cue: the pivotal slide of this video, and it answers the retrieval prompt set on the opener. Reveal the cells left to right.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RACI matrix is the third piece of the Governance Pack. Map the handful of recurring decisions, give each exactly one Accountable body, and record who is Responsible, Consulted and Informed. It is quick to draft and it prevents the slow, expensive disputes that quietly stall interoperability frameworks. Agree it before the first member joins, while it is still abstract and uncontested.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Joining the bus is not just plugging in a cable. It is accepting a set of obligations. A federation where each member picks and chooses which rules to follow is a free-for-all that no one can depend on — and the first time a member's stale data corrupts another agency's service, the whole framework loses trust. The member obligations, written down and signed, are what turn a collection of connections into a dependable federation.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member accepts a common set of obligations. Connect, and stay connected — not drop off when attention moves elsewhere. Meet the agreed service levels — uptime, response time. Keep its data accurate and current, because a registry that is stale poisons every exchange that relies on it. Answer the queries it is obliged to, so that once-only actually works for the citizen. Protect the data it receives. And follow the standards the framework sets, rather than its own. Two more that are easy to forget and expensive to skip: name two people — a Technical Focal Point the operator can call, and a Data Protection Officer wherever personal data flows — and pay its share of the running cost, where the Council decides that members contribute. Eight obligations, the same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obligations are not identical on both sides, and naming the difference is important for fairness. The agency that provides data carries more weight — the load on its systems, the duty to keep the data accurate, the availability its consumers depend on. The agency that consumes data carries obligations of purpose and protection — use the data only for the agreed purpose, protect it, do not re-share it. A fair member agreement recognises that the provider is being asked to do more, and that the Operating Authority and the service levels exist partly to support it. Ignore this, and provider agencies quietly resist joining.</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of this becomes a member agreement — the document a CIO signs when their agency joins the bus. Putting the obligations in a signed agreement turns them from an assumption into a commitment, and gives the Operating Authority something concrete to point to when a member stops meeting them. The member agreement is the organisational-layer counterpart to the decree: the decree compels connection in law; the agreement records what each member commits to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member obligations are the fourth piece of the Governance Pack. Eight common obligations, a fair split of weight between provider and consumer, and a signed member agreement that makes them real. They are quiet, unglamorous work, but they are the difference between a federation that agencies trust and a free-for-all they avoid. And they feed directly into the service-level agreements the implementation work will need.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 a framework grows from two members to twenty, the technical work does not stop — it multiplies. New standards, new data models, new security questions, a steady stream of agencies to onboard. If that work is done ad hoc, by whoever is free, the bus drifts into incoherence: agencies make incompatible local choices and the framework slowly stops being one framework. Four standing Technical Working Groups are how you keep it coherent.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group owns one technical dimension of the framework. Security owns the trust model — the certificates, the access control, the response when something goes wrong. Semantics owns the shared meaning — the data models, the code lists, the identifiers, so that two agencies mean the same thing by the same word. APIs owns the technical standards — the API styles, the service contracts, the message formats, the protocol every member uses. And Platform Operations owns the running of the bus and the process that admits and connects a new member cleanly, the same way every time. One group per standards domain is the rule; the names can follow your own vocabulary.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Semantics group deserves a special word, because it is where business and IT meet on the hardest interoperability problem: agreeing what the data means. Deciding that 'enrolment' means the same thing to the examination authority and to the learner registry is not a technical choice — it is a business decision the data owners make, but it has to be written down precisely enough for the systems to use. The Semantics group is the forum that gives both sides a shared language for that work, so the meaning is agreed once and reused everywhere, rather than re-argued in every new exchange.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key word is standing. A project team disbands when its project ends; a Working Group persists for the life of the framework. That persistence is exactly what prevents the slow drift into incompatible local choices that kills interoperability over years. The groups decide what lies within their competence and recommend the rest up to the Steering Committee — and they are where the architects from your Enterprise Architecture work find their ongoing home in the framework.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four Technical Working Groups are the fifth piece of the Governance Pack. Security, semantics, APIs, platform operations — standing, not project; deciding within their competence and recommending up; the home of the framework's technical coherence. Charter them at launch, and the framework can absorb its twentieth member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last governance idea is the one most frameworks miss. Governance is not a one-time setup you complete at launch and file away. The framework keeps changing — new members, new standards, new exchanges, technology that has to be retired — and someone must own those changes deliberately, or the carefully designed framework drifts out of date until it no longer matches what is actually running on the bus.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changes, constantly. A new member joins. A standard is updated, or retired. A new exchange is authorised. The security model changes in response to a new threat. Each of these is a change to the live framework. And each needs a controlled way to happen — proposed, reviewed, decided by the body the RACI makes Accountable, recorded, and communicated to every member. Change control is simply the discipline of making those changes deliberately instead of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role makes change control work: a named standards-portfolio owner, sitting inside the Operating Authority, who keeps the register of what standards are current, at what version, and what exceptions have been granted to whom. Without a named owner, the standards portfolio becomes a pile of documents nobody maintains, and members quietly diverge until no two are quite compatible. With a named owner, there is always an authoritative answer to the question 'what is the current standard?' — and that single answer is what holds a growing federation together.</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things need a standing owner, and both are missed as often as change control. The first is a conformance regime. A binding standard with no way to prove conformance is a wish. So each standard in the register carries a binding date, a transition period for legacy systems, and a test approach — a member's self-assessment for the routine, a third-party check for high-risk services, or a conformance test suite the operator runs. Members are re-certified on a cycle, typically every two years, and whenever a standard changes. The second is the semantic registry — the country's data dictionary, its code lists, and the cross-walks between one sector's vocabulary and another's. The operator stewards it; the sector data owners own the entries. Without it, the semantic map you agree for the first exchange is agreed again, slightly differently, for the second.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why everything in this module adds up to the Governance Pack — and why the Governance Pack is the organisational-layer configuration of the runnable build pack, just as the decree is the legal-layer configuration. The pack has a concrete acceptance check. Every recurring decision has exactly one named Accountable body. Every member has a signed agreement. There is a named owner for the standards portfolio, a written change-control process, a conformance regime, and a semantic registry with a steward. When those checks pass, the organisational layer of the framework is genuinely done — a living configuration that keeps working as the framework grows, not a binder that goes on a shelf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governance is configuration that lives. The decree is the legal configuration; the Governance Pack is the organisational configuration; together they decide who is on the bus and how it changes over time. With both in place and kept current through change control, an interoperability framework can grow for years without drifting away from what it was designed to be. That durability is the entire reason to govern it deliberately — and it is what hands a sound organisational layer to the architects who build the bus.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Who owns the bus —
the governance model</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KP2 · Government Interoperability Framework · Module 3</a:t>
            </a:r>
          </a:p>
          <a:p>
            <a:r>
              <a:rPr sz="1400" b="0" i="0">
                <a:solidFill>
                  <a:srgbClr val="595959"/>
                </a:solidFill>
                <a:latin typeface="Arial"/>
              </a:rPr>
              <a:t>Six standalone videos for the person who sets up the framework's governance: a named owner with the regulator split from the operator, three governing tiers, one Accountable body per decision, the obligations every member signs, four standing Working Groups — and the change control that keeps it all current.</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~28 mins across 6 videos (3.1 – 3.6)</a:t>
            </a:r>
          </a:p>
          <a:p>
            <a:r>
              <a:rPr sz="1400" b="1" i="0">
                <a:solidFill>
                  <a:srgbClr val="1A1A1A"/>
                </a:solidFill>
                <a:latin typeface="Arial"/>
              </a:rPr>
              <a:t>Target audience: </a:t>
            </a:r>
            <a:r>
              <a:rPr sz="1400" b="0" i="0">
                <a:solidFill>
                  <a:srgbClr val="1A1A1A"/>
                </a:solidFill>
                <a:latin typeface="Arial"/>
              </a:rPr>
              <a:t>National interoperability authority · ministry CIO · development-partner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GOVERNANCE PACK</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named owner — two hats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tiers, one job each</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Accountable per decision</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Obligations every member signs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Governance that stays current</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3 tiers · 1 Accountable per decision · 4 standing groups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Why a bus needs an owner</a:t>
            </a:r>
            <a:r>
              <a:rPr sz="1200" b="0" i="0">
                <a:solidFill>
                  <a:srgbClr val="595959"/>
                </a:solidFill>
                <a:latin typeface="Arial"/>
              </a:rPr>
              <a:t>   ~5 min</a:t>
            </a:r>
          </a:p>
          <a:p>
            <a:pPr algn="l">
              <a:spcAft>
                <a:spcPts val="900"/>
              </a:spcAft>
            </a:pPr>
            <a:r>
              <a:rPr sz="1500" b="1" i="0">
                <a:solidFill>
                  <a:srgbClr val="1A1A1A"/>
                </a:solidFill>
                <a:latin typeface="Arial"/>
              </a:rPr>
              <a:t>3.2  The three tiers of governance</a:t>
            </a:r>
            <a:r>
              <a:rPr sz="1200" b="0" i="0">
                <a:solidFill>
                  <a:srgbClr val="595959"/>
                </a:solidFill>
                <a:latin typeface="Arial"/>
              </a:rPr>
              <a:t>   ~5 min</a:t>
            </a:r>
          </a:p>
          <a:p>
            <a:pPr algn="l">
              <a:spcAft>
                <a:spcPts val="900"/>
              </a:spcAft>
            </a:pPr>
            <a:r>
              <a:rPr sz="1500" b="1" i="0">
                <a:solidFill>
                  <a:srgbClr val="1A1A1A"/>
                </a:solidFill>
                <a:latin typeface="Arial"/>
              </a:rPr>
              <a:t>3.3  The RACI matrix</a:t>
            </a:r>
            <a:r>
              <a:rPr sz="1200" b="0" i="0">
                <a:solidFill>
                  <a:srgbClr val="595959"/>
                </a:solidFill>
                <a:latin typeface="Arial"/>
              </a:rPr>
              <a:t>   ~5 min</a:t>
            </a:r>
          </a:p>
          <a:p>
            <a:pPr algn="l">
              <a:spcAft>
                <a:spcPts val="900"/>
              </a:spcAft>
            </a:pPr>
            <a:r>
              <a:rPr sz="1500" b="1" i="0">
                <a:solidFill>
                  <a:srgbClr val="1A1A1A"/>
                </a:solidFill>
                <a:latin typeface="Arial"/>
              </a:rPr>
              <a:t>3.4  Member obligations</a:t>
            </a:r>
            <a:r>
              <a:rPr sz="1200" b="0" i="0">
                <a:solidFill>
                  <a:srgbClr val="595959"/>
                </a:solidFill>
                <a:latin typeface="Arial"/>
              </a:rPr>
              <a:t>   ~4 min</a:t>
            </a:r>
          </a:p>
          <a:p>
            <a:pPr algn="l">
              <a:spcAft>
                <a:spcPts val="900"/>
              </a:spcAft>
            </a:pPr>
            <a:r>
              <a:rPr sz="1500" b="1" i="0">
                <a:solidFill>
                  <a:srgbClr val="1A1A1A"/>
                </a:solidFill>
                <a:latin typeface="Arial"/>
              </a:rPr>
              <a:t>3.5  The four Technical Working Groups</a:t>
            </a:r>
            <a:r>
              <a:rPr sz="1200" b="0" i="0">
                <a:solidFill>
                  <a:srgbClr val="595959"/>
                </a:solidFill>
                <a:latin typeface="Arial"/>
              </a:rPr>
              <a:t>   ~4 min</a:t>
            </a:r>
          </a:p>
          <a:p>
            <a:pPr algn="l">
              <a:spcAft>
                <a:spcPts val="900"/>
              </a:spcAft>
            </a:pPr>
            <a:r>
              <a:rPr sz="1500" b="1" i="0">
                <a:solidFill>
                  <a:srgbClr val="1A1A1A"/>
                </a:solidFill>
                <a:latin typeface="Arial"/>
              </a:rPr>
              <a:t>3.6  Governance as living configuration</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 bus with no owner decays. Governance names the owner, sorts every decision to the body that can make it, and writes down what members commit to.</a:t>
            </a:r>
          </a:p>
          <a:p>
            <a:pPr>
              <a:spcAft>
                <a:spcPts val="1000"/>
              </a:spcAft>
            </a:pPr>
            <a:r>
              <a:rPr sz="1900" b="0" i="1">
                <a:solidFill>
                  <a:srgbClr val="1A1A1A"/>
                </a:solidFill>
                <a:latin typeface="Arial"/>
              </a:rPr>
              <a:t>Kept current through change control, it is configuration that lives — not a binder on a shelf.</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 bus needs an owner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interoperability platform with no owner decays in its second year — name the owner before the first member joins, and split the body that sets the rules from the body that runs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Platforms rarely die technically. They decay in year two.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Built in a burst of enthusiasm, celebrated at launch.</a:t>
            </a:r>
          </a:p>
          <a:p>
            <a:pPr>
              <a:spcAft>
                <a:spcPts val="800"/>
              </a:spcAft>
            </a:pPr>
            <a:r>
              <a:rPr sz="1700" b="0" i="0">
                <a:solidFill>
                  <a:srgbClr val="595959"/>
                </a:solidFill>
                <a:latin typeface="Arial"/>
              </a:rPr>
              <a:t>Then members drift, certificates expire — and nobody is accountable.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owner is a standing operator, not a committee</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Runs the bus day to day</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Admits and onboards new members</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Sets and monitors service levels</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Resolves disputes between members</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Owns the standards portfolio and keeps it current</a:t>
            </a:r>
          </a:p>
        </p:txBody>
      </p:sp>
      <p:sp>
        <p:nvSpPr>
          <p:cNvPr id="13" name="TextBox 12"/>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Budget, staff and a mandate — starting at 8–15 people, growing to 30–80 at national scale.</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hats, two heads — the regulator and the operator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REGULATOR SETS THE RULES</a:t>
            </a:r>
          </a:p>
          <a:p>
            <a:pPr>
              <a:spcAft>
                <a:spcPts val="700"/>
              </a:spcAft>
            </a:pPr>
            <a:r>
              <a:rPr sz="1600" b="0" i="0">
                <a:solidFill>
                  <a:srgbClr val="1A1A1A"/>
                </a:solidFill>
                <a:latin typeface="Arial"/>
              </a:rPr>
              <a:t>Owns the architecture and the standards.</a:t>
            </a:r>
          </a:p>
          <a:p>
            <a:pPr>
              <a:spcAft>
                <a:spcPts val="700"/>
              </a:spcAft>
            </a:pPr>
            <a:r>
              <a:rPr sz="1600" b="0" i="0">
                <a:solidFill>
                  <a:srgbClr val="1A1A1A"/>
                </a:solidFill>
                <a:latin typeface="Arial"/>
              </a:rPr>
              <a:t>Defines the compliance checks and the evidence.</a:t>
            </a:r>
          </a:p>
          <a:p>
            <a:pPr>
              <a:spcAft>
                <a:spcPts val="700"/>
              </a:spcAft>
            </a:pPr>
            <a:r>
              <a:rPr sz="1600" b="0" i="0">
                <a:solidFill>
                  <a:srgbClr val="1A1A1A"/>
                </a:solidFill>
                <a:latin typeface="Arial"/>
              </a:rPr>
              <a:t>Grants written exceptions; applies sanctions.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OPERATOR RUNS THE BUS</a:t>
            </a:r>
          </a:p>
          <a:p>
            <a:pPr>
              <a:spcAft>
                <a:spcPts val="700"/>
              </a:spcAft>
            </a:pPr>
            <a:r>
              <a:rPr sz="1600" b="0" i="0">
                <a:solidFill>
                  <a:srgbClr val="1A1A1A"/>
                </a:solidFill>
                <a:latin typeface="Arial"/>
              </a:rPr>
              <a:t>Operates the platform.</a:t>
            </a:r>
          </a:p>
          <a:p>
            <a:pPr>
              <a:spcAft>
                <a:spcPts val="700"/>
              </a:spcAft>
            </a:pPr>
            <a:r>
              <a:rPr sz="1600" b="0" i="0">
                <a:solidFill>
                  <a:srgbClr val="1A1A1A"/>
                </a:solidFill>
                <a:latin typeface="Arial"/>
              </a:rPr>
              <a:t>Onboards members and validates their connections.</a:t>
            </a:r>
          </a:p>
          <a:p>
            <a:pPr>
              <a:spcAft>
                <a:spcPts val="700"/>
              </a:spcAft>
            </a:pPr>
            <a:r>
              <a:rPr sz="1600" b="0" i="0">
                <a:solidFill>
                  <a:srgbClr val="1A1A1A"/>
                </a:solidFill>
                <a:latin typeface="Arial"/>
              </a:rPr>
              <a:t>Supports them.</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No single body both runs the bus and judges compliance with it. Small country? Two units, two mandates.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Governing is not operating — you need both, kept distinct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governing tiers set direction and make decisions. The Operating Authority runs the platform day to day.</a:t>
            </a:r>
          </a:p>
          <a:p>
            <a:pPr>
              <a:spcAft>
                <a:spcPts val="1200"/>
              </a:spcAft>
            </a:pPr>
            <a:r>
              <a:rPr sz="2000" b="0" i="0">
                <a:solidFill>
                  <a:srgbClr val="1A1A1A"/>
                </a:solidFill>
                <a:latin typeface="Arial"/>
              </a:rPr>
              <a:t>An operator with no governance runs a platform no one can be compelled to use.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Governance with no operator is a set of meetings with nothing underneath.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shared bus needs a named owner with budget, staff and mandate before the first member joins — and the body that sets the rules is not the body that runs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Define the owner's mandate — and split the regulator from the operator.</a:t>
            </a:r>
          </a:p>
          <a:p>
            <a:pPr algn="l">
              <a:spcAft>
                <a:spcPts val="400"/>
              </a:spcAft>
            </a:pPr>
            <a:r>
              <a:rPr sz="1800" b="0" i="0">
                <a:solidFill>
                  <a:srgbClr val="595959"/>
                </a:solidFill>
                <a:latin typeface="Arial"/>
              </a:rPr>
              <a:t>The prompt in the companion material gives you a mandate statement with the two hats separated, plus a list of mandate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(niis.org)</a:t>
            </a:r>
          </a:p>
          <a:p>
            <a:pPr>
              <a:spcAft>
                <a:spcPts val="1200"/>
              </a:spcAft>
            </a:pPr>
            <a:r>
              <a:rPr sz="1700" b="0" i="0">
                <a:solidFill>
                  <a:srgbClr val="1A1A1A"/>
                </a:solidFill>
                <a:latin typeface="Arial"/>
              </a:rPr>
              <a:t>•  Estonia — Ministry of Economic Affairs and Communications; RIA (ria.ee)</a:t>
            </a:r>
          </a:p>
          <a:p>
            <a:pPr>
              <a:spcAft>
                <a:spcPts val="1200"/>
              </a:spcAft>
            </a:pPr>
            <a:r>
              <a:rPr sz="1700" b="0" i="0">
                <a:solidFill>
                  <a:srgbClr val="1A1A1A"/>
                </a:solidFill>
                <a:latin typeface="Arial"/>
              </a:rPr>
              <a:t>•  The regulator/operator split — the framework's reference architecture</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three tiers of governance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Strategic Council, Steering Committee, Technical Working Groups — political authority, programme leadership and the specialists, each with one job.</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Governance fails in two opposite ways.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Too top-heavy: ministers decide details they cannot judge, and decisions stall.</a:t>
            </a:r>
          </a:p>
          <a:p>
            <a:pPr>
              <a:spcAft>
                <a:spcPts val="800"/>
              </a:spcAft>
            </a:pPr>
            <a:r>
              <a:rPr sz="1700" b="0" i="0">
                <a:solidFill>
                  <a:srgbClr val="595959"/>
                </a:solidFill>
                <a:latin typeface="Arial"/>
              </a:rPr>
              <a:t>Too bottom-heavy: technicians make commitments they cannot keep, and decisions get reversed.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tiers, one operator — each with one job</a:t>
            </a:r>
          </a:p>
        </p:txBody>
      </p:sp>
      <p:sp>
        <p:nvSpPr>
          <p:cNvPr id="4" name="Rounded Rectangle 3"/>
          <p:cNvSpPr/>
          <p:nvPr/>
        </p:nvSpPr>
        <p:spPr>
          <a:xfrm>
            <a:off x="658368" y="150876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STRATEGIC COUNCIL — political authority</a:t>
            </a:r>
          </a:p>
          <a:p>
            <a:pPr algn="l">
              <a:spcAft>
                <a:spcPts val="300"/>
              </a:spcAft>
            </a:pPr>
            <a:r>
              <a:rPr sz="1500" b="0" i="0">
                <a:solidFill>
                  <a:srgbClr val="1A1A1A"/>
                </a:solidFill>
                <a:latin typeface="Arial"/>
              </a:rPr>
              <a:t>Ministers and the most senior officials.</a:t>
            </a:r>
          </a:p>
        </p:txBody>
      </p:sp>
      <p:sp>
        <p:nvSpPr>
          <p:cNvPr id="5" name="Rounded Rectangle 4"/>
          <p:cNvSpPr/>
          <p:nvPr/>
        </p:nvSpPr>
        <p:spPr>
          <a:xfrm>
            <a:off x="658368" y="246888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STEERING COMMITTEE — programme leadership</a:t>
            </a:r>
          </a:p>
          <a:p>
            <a:pPr algn="l">
              <a:spcAft>
                <a:spcPts val="300"/>
              </a:spcAft>
            </a:pPr>
            <a:r>
              <a:rPr sz="1500" b="0" i="0">
                <a:solidFill>
                  <a:srgbClr val="1A1A1A"/>
                </a:solidFill>
                <a:latin typeface="Arial"/>
              </a:rPr>
              <a:t>The chief digital officer, the sector CIOs.</a:t>
            </a:r>
          </a:p>
        </p:txBody>
      </p:sp>
      <p:sp>
        <p:nvSpPr>
          <p:cNvPr id="6" name="Rounded Rectangle 5"/>
          <p:cNvSpPr/>
          <p:nvPr/>
        </p:nvSpPr>
        <p:spPr>
          <a:xfrm>
            <a:off x="658368" y="342900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TECHNICAL WORKING GROUPS — the specialists</a:t>
            </a:r>
          </a:p>
          <a:p>
            <a:pPr algn="l">
              <a:spcAft>
                <a:spcPts val="300"/>
              </a:spcAft>
            </a:pPr>
            <a:r>
              <a:rPr sz="1500" b="0" i="0">
                <a:solidFill>
                  <a:srgbClr val="1A1A1A"/>
                </a:solidFill>
                <a:latin typeface="Arial"/>
              </a:rPr>
              <a:t>Architects, security and semantic experts.</a:t>
            </a:r>
          </a:p>
        </p:txBody>
      </p:sp>
      <p:sp>
        <p:nvSpPr>
          <p:cNvPr id="7" name="Rounded Rectangle 6"/>
          <p:cNvSpPr/>
          <p:nvPr/>
        </p:nvSpPr>
        <p:spPr>
          <a:xfrm>
            <a:off x="658368" y="4526280"/>
            <a:ext cx="10881360" cy="8229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OPERATING AUTHORITY — runs the platform underneath all three</a:t>
            </a:r>
          </a:p>
          <a:p>
            <a:pPr algn="l">
              <a:spcAft>
                <a:spcPts val="300"/>
              </a:spcAft>
            </a:pPr>
            <a:r>
              <a:rPr sz="1500" b="0" i="0">
                <a:solidFill>
                  <a:srgbClr val="FFFFFF"/>
                </a:solidFill>
                <a:latin typeface="Arial"/>
              </a:rPr>
              <a:t>Governing sets direction. Operating runs the bus.</a:t>
            </a:r>
          </a:p>
        </p:txBody>
      </p:sp>
      <p:sp>
        <p:nvSpPr>
          <p:cNvPr id="8" name="TextBox 7"/>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The art of governance is keeping each decision at the right tier.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Strategic Council removes the obstacles no technician can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Sets direction and gives the framework political cover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Removes political obstacles</a:t>
            </a:r>
          </a:p>
          <a:p>
            <a:pPr>
              <a:spcAft>
                <a:spcPts val="300"/>
              </a:spcAft>
            </a:pPr>
            <a:r>
              <a:rPr sz="1550" b="0" i="0">
                <a:solidFill>
                  <a:srgbClr val="595959"/>
                </a:solidFill>
                <a:latin typeface="Arial"/>
              </a:rPr>
              <a:t>The reluctant minister, the turf dispute, the budget fight.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Meets rarely and decides big things</a:t>
            </a:r>
          </a:p>
          <a:p>
            <a:pPr>
              <a:spcAft>
                <a:spcPts val="300"/>
              </a:spcAft>
            </a:pPr>
            <a:r>
              <a:rPr sz="1550" b="0" i="0">
                <a:solidFill>
                  <a:srgbClr val="595959"/>
                </a:solidFill>
                <a:latin typeface="Arial"/>
              </a:rPr>
              <a:t>It does not decide technical questions.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healthy framework protects its Council from being dragged into technical questions.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Steering Committee is where the framework is steered, month to month</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Prioritises the Use-Case Catalogue and approves the roadmap</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Holds the budget and reports up to the Council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chief digital officer, the sector CIOs, the head of the Operating Authority</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Close enough to the work to make real decisions — senior enough to make them stick.</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Technical Working Groups decide what they can, and recommend the rest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Architects, security experts and semantic experts do the detailed technical work.</a:t>
            </a:r>
          </a:p>
          <a:p>
            <a:pPr>
              <a:spcAft>
                <a:spcPts val="1200"/>
              </a:spcAft>
            </a:pPr>
            <a:r>
              <a:rPr sz="2000" b="0" i="0">
                <a:solidFill>
                  <a:srgbClr val="1A1A1A"/>
                </a:solidFill>
                <a:latin typeface="Arial"/>
              </a:rPr>
              <a:t>Questions beyond their competence go up to the Steering Committee as recommendations.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 the architects from your Enterprise Architecture work find their home.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tiers are where business and IT decide together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Council and the Committee carry business and political authority. The Working Groups carry the IT expertise.</a:t>
            </a:r>
          </a:p>
          <a:p>
            <a:pPr>
              <a:spcAft>
                <a:spcPts val="1200"/>
              </a:spcAft>
            </a:pPr>
            <a:r>
              <a:rPr sz="2000" b="0" i="0">
                <a:solidFill>
                  <a:srgbClr val="1A1A1A"/>
                </a:solidFill>
                <a:latin typeface="Arial"/>
              </a:rPr>
              <a:t>The tiers give them a shared language and a shared rhythm — the same questions, in the same room.</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That shared rhythm is what makes the hard, cross-cutting decisions possible at all.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Decide at the lowest tier that can — escalate only what it cannot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ESCALATION UP</a:t>
            </a:r>
          </a:p>
          <a:p>
            <a:pPr>
              <a:spcAft>
                <a:spcPts val="700"/>
              </a:spcAft>
            </a:pPr>
            <a:r>
              <a:rPr sz="1600" b="0" i="0">
                <a:solidFill>
                  <a:srgbClr val="1A1A1A"/>
                </a:solidFill>
                <a:latin typeface="Arial"/>
              </a:rPr>
              <a:t>A Working Group cannot agree on a standard — it goes to the Steering Committee.</a:t>
            </a:r>
          </a:p>
          <a:p>
            <a:pPr>
              <a:spcAft>
                <a:spcPts val="700"/>
              </a:spcAft>
            </a:pPr>
            <a:r>
              <a:rPr sz="1600" b="0" i="0">
                <a:solidFill>
                  <a:srgbClr val="1A1A1A"/>
                </a:solidFill>
                <a:latin typeface="Arial"/>
              </a:rPr>
              <a:t>The question is political — the Committee takes it to the Council.</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DELEGATION DOWN</a:t>
            </a:r>
          </a:p>
          <a:p>
            <a:pPr>
              <a:spcAft>
                <a:spcPts val="700"/>
              </a:spcAft>
            </a:pPr>
            <a:r>
              <a:rPr sz="1600" b="0" i="0">
                <a:solidFill>
                  <a:srgbClr val="1A1A1A"/>
                </a:solidFill>
                <a:latin typeface="Arial"/>
              </a:rPr>
              <a:t>Most decisions are made at the lowest tier that can make them.</a:t>
            </a:r>
          </a:p>
          <a:p>
            <a:pPr>
              <a:spcAft>
                <a:spcPts val="700"/>
              </a:spcAft>
            </a:pPr>
            <a:r>
              <a:rPr sz="1600" b="0" i="0">
                <a:solidFill>
                  <a:srgbClr val="1A1A1A"/>
                </a:solidFill>
                <a:latin typeface="Arial"/>
              </a:rPr>
              <a:t>Ministers' scarce time is kept for the few only they can make.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Get the rules wrong, and either nothing reaches the ministers — or everything does.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Three tiers — political authority, programme leadership, the specialists — each with one job, connected by escalation up and delegation down.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three-tier governance structure for your country.</a:t>
            </a:r>
          </a:p>
          <a:p>
            <a:pPr algn="l">
              <a:spcAft>
                <a:spcPts val="400"/>
              </a:spcAft>
            </a:pPr>
            <a:r>
              <a:rPr sz="1800" b="0" i="0">
                <a:solidFill>
                  <a:srgbClr val="595959"/>
                </a:solidFill>
                <a:latin typeface="Arial"/>
              </a:rPr>
              <a:t>The prompt in the companion material gives you a three-tier structure with membership, scope, cadence, escalation rules and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(niis.org)</a:t>
            </a:r>
          </a:p>
          <a:p>
            <a:pPr>
              <a:spcAft>
                <a:spcPts val="1200"/>
              </a:spcAft>
            </a:pPr>
            <a:r>
              <a:rPr sz="1700" b="0" i="0">
                <a:solidFill>
                  <a:srgbClr val="1A1A1A"/>
                </a:solidFill>
                <a:latin typeface="Arial"/>
              </a:rPr>
              <a:t>•  Estonia governance model</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RACI matrix</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Write down who decides, who runs, who is consulted, once — it is what stops every onboarding turning into a turf fight.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question that derails interoperability is "who decides?"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bodies both think they admit a new member — or neither does.</a:t>
            </a:r>
          </a:p>
          <a:p>
            <a:pPr>
              <a:spcAft>
                <a:spcPts val="800"/>
              </a:spcAft>
            </a:pPr>
            <a:r>
              <a:rPr sz="1700" b="0" i="0">
                <a:solidFill>
                  <a:srgbClr val="595959"/>
                </a:solidFill>
                <a:latin typeface="Arial"/>
              </a:rPr>
              <a:t>A simple onboarding becomes a three-month turf fight.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RACI names four roles — and exactly one is Accountable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Responsible</a:t>
            </a:r>
          </a:p>
          <a:p>
            <a:pPr>
              <a:spcAft>
                <a:spcPts val="300"/>
              </a:spcAft>
            </a:pPr>
            <a:r>
              <a:rPr sz="1550" b="0" i="0">
                <a:solidFill>
                  <a:srgbClr val="595959"/>
                </a:solidFill>
                <a:latin typeface="Arial"/>
              </a:rPr>
              <a:t>Does the work.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Accountable</a:t>
            </a:r>
          </a:p>
          <a:p>
            <a:pPr>
              <a:spcAft>
                <a:spcPts val="300"/>
              </a:spcAft>
            </a:pPr>
            <a:r>
              <a:rPr sz="1550" b="0" i="0">
                <a:solidFill>
                  <a:srgbClr val="595959"/>
                </a:solidFill>
                <a:latin typeface="Arial"/>
              </a:rPr>
              <a:t>Owns the decision — exactly one body, never two.</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Consulted</a:t>
            </a:r>
          </a:p>
          <a:p>
            <a:pPr>
              <a:spcAft>
                <a:spcPts val="300"/>
              </a:spcAft>
            </a:pPr>
            <a:r>
              <a:rPr sz="1550" b="0" i="0">
                <a:solidFill>
                  <a:srgbClr val="595959"/>
                </a:solidFill>
                <a:latin typeface="Arial"/>
              </a:rPr>
              <a:t>Must be asked before.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Informed</a:t>
            </a:r>
          </a:p>
          <a:p>
            <a:pPr>
              <a:spcAft>
                <a:spcPts val="300"/>
              </a:spcAft>
            </a:pPr>
            <a:r>
              <a:rPr sz="1550" b="0" i="0">
                <a:solidFill>
                  <a:srgbClr val="595959"/>
                </a:solidFill>
                <a:latin typeface="Arial"/>
              </a:rPr>
              <a:t>Told after.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Accountables produce deadlock. None produces drift.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Map only the decisions that recur and cause friction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RECURRING SIX</a:t>
            </a:r>
          </a:p>
          <a:p>
            <a:pPr>
              <a:spcAft>
                <a:spcPts val="700"/>
              </a:spcAft>
            </a:pPr>
            <a:r>
              <a:rPr sz="1600" b="0" i="0">
                <a:solidFill>
                  <a:srgbClr val="1A1A1A"/>
                </a:solidFill>
                <a:latin typeface="Arial"/>
              </a:rPr>
              <a:t>Admit a new member.</a:t>
            </a:r>
          </a:p>
          <a:p>
            <a:pPr>
              <a:spcAft>
                <a:spcPts val="700"/>
              </a:spcAft>
            </a:pPr>
            <a:r>
              <a:rPr sz="1600" b="0" i="0">
                <a:solidFill>
                  <a:srgbClr val="1A1A1A"/>
                </a:solidFill>
                <a:latin typeface="Arial"/>
              </a:rPr>
              <a:t>Approve a technical standard.</a:t>
            </a:r>
          </a:p>
          <a:p>
            <a:pPr>
              <a:spcAft>
                <a:spcPts val="700"/>
              </a:spcAft>
            </a:pPr>
            <a:r>
              <a:rPr sz="1600" b="0" i="0">
                <a:solidFill>
                  <a:srgbClr val="1A1A1A"/>
                </a:solidFill>
                <a:latin typeface="Arial"/>
              </a:rPr>
              <a:t>Authorise a new exchange.</a:t>
            </a:r>
          </a:p>
          <a:p>
            <a:pPr>
              <a:spcAft>
                <a:spcPts val="700"/>
              </a:spcAft>
            </a:pPr>
            <a:r>
              <a:rPr sz="1600" b="0" i="0">
                <a:solidFill>
                  <a:srgbClr val="1A1A1A"/>
                </a:solidFill>
                <a:latin typeface="Arial"/>
              </a:rPr>
              <a:t>Resolve a dispute between members.</a:t>
            </a:r>
          </a:p>
          <a:p>
            <a:pPr>
              <a:spcAft>
                <a:spcPts val="700"/>
              </a:spcAft>
            </a:pPr>
            <a:r>
              <a:rPr sz="1600" b="0" i="0">
                <a:solidFill>
                  <a:srgbClr val="1A1A1A"/>
                </a:solidFill>
                <a:latin typeface="Arial"/>
              </a:rPr>
              <a:t>Change or retire a standard.</a:t>
            </a:r>
          </a:p>
          <a:p>
            <a:pPr>
              <a:spcAft>
                <a:spcPts val="700"/>
              </a:spcAft>
            </a:pPr>
            <a:r>
              <a:rPr sz="1600" b="0" i="0">
                <a:solidFill>
                  <a:srgbClr val="1A1A1A"/>
                </a:solidFill>
                <a:latin typeface="Arial"/>
              </a:rPr>
              <a:t>Suspend a member that breaks the rules.</a:t>
            </a:r>
          </a:p>
        </p:txBody>
      </p:sp>
      <p:sp>
        <p:nvSpPr>
          <p:cNvPr id="6" name="Rounded Rectangle 5"/>
          <p:cNvSpPr/>
          <p:nvPr/>
        </p:nvSpPr>
        <p:spPr>
          <a:xfrm>
            <a:off x="6263640" y="1554480"/>
            <a:ext cx="5394960" cy="37490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TWO THE SPLIT ADDS</a:t>
            </a:r>
          </a:p>
          <a:p>
            <a:pPr>
              <a:spcAft>
                <a:spcPts val="700"/>
              </a:spcAft>
            </a:pPr>
            <a:r>
              <a:rPr sz="1600" b="0" i="0">
                <a:solidFill>
                  <a:srgbClr val="1A1A1A"/>
                </a:solidFill>
                <a:latin typeface="Arial"/>
              </a:rPr>
              <a:t>Publish the reference architecture and compliance checklist — the regulator is Accountable.</a:t>
            </a:r>
          </a:p>
          <a:p>
            <a:pPr>
              <a:spcAft>
                <a:spcPts val="700"/>
              </a:spcAft>
            </a:pPr>
            <a:r>
              <a:rPr sz="1600" b="0" i="0">
                <a:solidFill>
                  <a:srgbClr val="1A1A1A"/>
                </a:solidFill>
                <a:latin typeface="Arial"/>
              </a:rPr>
              <a:t>Operate the platform and onboard members — the operator is Accountable.</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Write both, and the split is no longer a principle but a matrix.</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one row once, and the next onboarding is a process</a:t>
            </a:r>
          </a:p>
        </p:txBody>
      </p:sp>
      <p:sp>
        <p:nvSpPr>
          <p:cNvPr id="4" name="TextBox 3"/>
          <p:cNvSpPr txBox="1"/>
          <p:nvPr/>
        </p:nvSpPr>
        <p:spPr>
          <a:xfrm>
            <a:off x="658368" y="1463040"/>
            <a:ext cx="10881360" cy="548640"/>
          </a:xfrm>
          <a:prstGeom prst="rect">
            <a:avLst/>
          </a:prstGeom>
          <a:noFill/>
        </p:spPr>
        <p:txBody>
          <a:bodyPr wrap="square">
            <a:spAutoFit/>
          </a:bodyPr>
          <a:lstStyle/>
          <a:p>
            <a:r>
              <a:rPr sz="1500" b="1" i="0">
                <a:solidFill>
                  <a:srgbClr val="006E96"/>
                </a:solidFill>
                <a:latin typeface="Arial"/>
              </a:rPr>
              <a:t>DECISION:  </a:t>
            </a:r>
            <a:r>
              <a:rPr sz="2000" b="1" i="0">
                <a:solidFill>
                  <a:srgbClr val="1A1A1A"/>
                </a:solidFill>
                <a:latin typeface="Arial"/>
              </a:rPr>
              <a:t>Admit a new member</a:t>
            </a:r>
          </a:p>
        </p:txBody>
      </p:sp>
      <p:sp>
        <p:nvSpPr>
          <p:cNvPr id="5" name="Rounded Rectangle 4"/>
          <p:cNvSpPr/>
          <p:nvPr/>
        </p:nvSpPr>
        <p:spPr>
          <a:xfrm>
            <a:off x="658368"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RESPONSIBLE</a:t>
            </a:r>
          </a:p>
          <a:p>
            <a:pPr algn="l">
              <a:spcAft>
                <a:spcPts val="300"/>
              </a:spcAft>
            </a:pPr>
            <a:r>
              <a:rPr sz="1800" b="0" i="0">
                <a:solidFill>
                  <a:srgbClr val="1A1A1A"/>
                </a:solidFill>
                <a:latin typeface="Arial"/>
              </a:rPr>
              <a:t>The Operating Authority</a:t>
            </a:r>
          </a:p>
          <a:p>
            <a:pPr algn="l">
              <a:spcAft>
                <a:spcPts val="300"/>
              </a:spcAft>
            </a:pPr>
            <a:r>
              <a:rPr sz="1800" b="0" i="0">
                <a:solidFill>
                  <a:srgbClr val="1A1A1A"/>
                </a:solidFill>
                <a:latin typeface="Arial"/>
              </a:rPr>
              <a:t>Does the onboarding.</a:t>
            </a:r>
          </a:p>
        </p:txBody>
      </p:sp>
      <p:sp>
        <p:nvSpPr>
          <p:cNvPr id="6" name="Rounded Rectangle 5"/>
          <p:cNvSpPr/>
          <p:nvPr/>
        </p:nvSpPr>
        <p:spPr>
          <a:xfrm>
            <a:off x="3431743" y="2240280"/>
            <a:ext cx="2560320" cy="23774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ACCOUNTABLE</a:t>
            </a:r>
          </a:p>
          <a:p>
            <a:pPr algn="l">
              <a:spcAft>
                <a:spcPts val="300"/>
              </a:spcAft>
            </a:pPr>
            <a:r>
              <a:rPr sz="1800" b="0" i="0">
                <a:solidFill>
                  <a:srgbClr val="FFFFFF"/>
                </a:solidFill>
                <a:latin typeface="Arial"/>
              </a:rPr>
              <a:t>The Steering Committee</a:t>
            </a:r>
          </a:p>
          <a:p>
            <a:pPr algn="l">
              <a:spcAft>
                <a:spcPts val="300"/>
              </a:spcAft>
            </a:pPr>
            <a:r>
              <a:rPr sz="1800" b="0" i="0">
                <a:solidFill>
                  <a:srgbClr val="FFFFFF"/>
                </a:solidFill>
                <a:latin typeface="Arial"/>
              </a:rPr>
              <a:t>Approves.</a:t>
            </a:r>
          </a:p>
        </p:txBody>
      </p:sp>
      <p:sp>
        <p:nvSpPr>
          <p:cNvPr id="7" name="Rounded Rectangle 6"/>
          <p:cNvSpPr/>
          <p:nvPr/>
        </p:nvSpPr>
        <p:spPr>
          <a:xfrm>
            <a:off x="6205118"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CONSULTED</a:t>
            </a:r>
          </a:p>
          <a:p>
            <a:pPr algn="l">
              <a:spcAft>
                <a:spcPts val="300"/>
              </a:spcAft>
            </a:pPr>
            <a:r>
              <a:rPr sz="1800" b="0" i="0">
                <a:solidFill>
                  <a:srgbClr val="1A1A1A"/>
                </a:solidFill>
                <a:latin typeface="Arial"/>
              </a:rPr>
              <a:t>The relevant Working Group</a:t>
            </a:r>
          </a:p>
          <a:p>
            <a:pPr algn="l">
              <a:spcAft>
                <a:spcPts val="300"/>
              </a:spcAft>
            </a:pPr>
            <a:r>
              <a:rPr sz="1800" b="0" i="0">
                <a:solidFill>
                  <a:srgbClr val="1A1A1A"/>
                </a:solidFill>
                <a:latin typeface="Arial"/>
              </a:rPr>
              <a:t>Checks readiness.</a:t>
            </a:r>
          </a:p>
        </p:txBody>
      </p:sp>
      <p:sp>
        <p:nvSpPr>
          <p:cNvPr id="8" name="Rounded Rectangle 7"/>
          <p:cNvSpPr/>
          <p:nvPr/>
        </p:nvSpPr>
        <p:spPr>
          <a:xfrm>
            <a:off x="8978493"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INFORMED</a:t>
            </a:r>
          </a:p>
          <a:p>
            <a:pPr algn="l">
              <a:spcAft>
                <a:spcPts val="300"/>
              </a:spcAft>
            </a:pPr>
            <a:r>
              <a:rPr sz="1800" b="0" i="0">
                <a:solidFill>
                  <a:srgbClr val="1A1A1A"/>
                </a:solidFill>
                <a:latin typeface="Arial"/>
              </a:rPr>
              <a:t>The Strategic Council</a:t>
            </a:r>
          </a:p>
          <a:p>
            <a:pPr algn="l">
              <a:spcAft>
                <a:spcPts val="300"/>
              </a:spcAft>
            </a:pPr>
            <a:r>
              <a:rPr sz="1800" b="0" i="0">
                <a:solidFill>
                  <a:srgbClr val="1A1A1A"/>
                </a:solidFill>
                <a:latin typeface="Arial"/>
              </a:rPr>
              <a:t/>
            </a:r>
          </a:p>
        </p:txBody>
      </p:sp>
      <p:sp>
        <p:nvSpPr>
          <p:cNvPr id="9" name="TextBox 8"/>
          <p:cNvSpPr txBox="1"/>
          <p:nvPr/>
        </p:nvSpPr>
        <p:spPr>
          <a:xfrm>
            <a:off x="658368" y="4937760"/>
            <a:ext cx="10881360" cy="822960"/>
          </a:xfrm>
          <a:prstGeom prst="rect">
            <a:avLst/>
          </a:prstGeom>
          <a:noFill/>
        </p:spPr>
        <p:txBody>
          <a:bodyPr wrap="square">
            <a:spAutoFit/>
          </a:bodyPr>
          <a:lstStyle/>
          <a:p>
            <a:r>
              <a:rPr sz="1700" b="1" i="0">
                <a:solidFill>
                  <a:srgbClr val="006E96"/>
                </a:solidFill>
                <a:latin typeface="Arial"/>
              </a:rPr>
              <a:t>Settled before the dispute: a five-minute conversation, not a months-long escalation.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Accountable per decision, written down once — the RACI matrix is what turns every recurring governance question from a fight into a process.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governance RACI for your framework's key decisions.</a:t>
            </a:r>
          </a:p>
          <a:p>
            <a:pPr algn="l">
              <a:spcAft>
                <a:spcPts val="400"/>
              </a:spcAft>
            </a:pPr>
            <a:r>
              <a:rPr sz="1800" b="0" i="0">
                <a:solidFill>
                  <a:srgbClr val="595959"/>
                </a:solidFill>
                <a:latin typeface="Arial"/>
              </a:rPr>
              <a:t>The prompt in the companion material gives you a RACI matrix plus a list of deadlock/drift risks and authority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 roles and responsibilities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Member obligations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an agency signs up to when it joins is the difference between a federation and a free-for-all.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Joining the bus is not just plugging in a cable.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accepting a set of obligations.</a:t>
            </a:r>
          </a:p>
          <a:p>
            <a:pPr>
              <a:spcAft>
                <a:spcPts val="800"/>
              </a:spcAft>
            </a:pPr>
            <a:r>
              <a:rPr sz="1700" b="0" i="0">
                <a:solidFill>
                  <a:srgbClr val="595959"/>
                </a:solidFill>
                <a:latin typeface="Arial"/>
              </a:rPr>
              <a:t>One member's stale data can cost the whole framework its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Eight obligations, the same for every member</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EVERY MEMBER</a:t>
            </a:r>
          </a:p>
          <a:p>
            <a:pPr>
              <a:spcAft>
                <a:spcPts val="700"/>
              </a:spcAft>
            </a:pPr>
            <a:r>
              <a:rPr sz="1600" b="0" i="0">
                <a:solidFill>
                  <a:srgbClr val="1A1A1A"/>
                </a:solidFill>
                <a:latin typeface="Arial"/>
              </a:rPr>
              <a:t>Connects, and stays connected.</a:t>
            </a:r>
          </a:p>
          <a:p>
            <a:pPr>
              <a:spcAft>
                <a:spcPts val="700"/>
              </a:spcAft>
            </a:pPr>
            <a:r>
              <a:rPr sz="1600" b="0" i="0">
                <a:solidFill>
                  <a:srgbClr val="1A1A1A"/>
                </a:solidFill>
                <a:latin typeface="Arial"/>
              </a:rPr>
              <a:t>Meets the agreed service levels.</a:t>
            </a:r>
          </a:p>
          <a:p>
            <a:pPr>
              <a:spcAft>
                <a:spcPts val="700"/>
              </a:spcAft>
            </a:pPr>
            <a:r>
              <a:rPr sz="1600" b="0" i="0">
                <a:solidFill>
                  <a:srgbClr val="1A1A1A"/>
                </a:solidFill>
                <a:latin typeface="Arial"/>
              </a:rPr>
              <a:t>Keeps its data accurate and current.</a:t>
            </a:r>
          </a:p>
          <a:p>
            <a:pPr>
              <a:spcAft>
                <a:spcPts val="700"/>
              </a:spcAft>
            </a:pPr>
            <a:r>
              <a:rPr sz="1600" b="0" i="0">
                <a:solidFill>
                  <a:srgbClr val="1A1A1A"/>
                </a:solidFill>
                <a:latin typeface="Arial"/>
              </a:rPr>
              <a:t>Answers the queries it must — honours once-only.</a:t>
            </a:r>
          </a:p>
          <a:p>
            <a:pPr>
              <a:spcAft>
                <a:spcPts val="700"/>
              </a:spcAft>
            </a:pPr>
            <a:r>
              <a:rPr sz="1600" b="0" i="0">
                <a:solidFill>
                  <a:srgbClr val="1A1A1A"/>
                </a:solidFill>
                <a:latin typeface="Arial"/>
              </a:rPr>
              <a:t>Protects the data it receives.</a:t>
            </a:r>
          </a:p>
          <a:p>
            <a:pPr>
              <a:spcAft>
                <a:spcPts val="700"/>
              </a:spcAft>
            </a:pPr>
            <a:r>
              <a:rPr sz="1600" b="0" i="0">
                <a:solidFill>
                  <a:srgbClr val="1A1A1A"/>
                </a:solidFill>
                <a:latin typeface="Arial"/>
              </a:rPr>
              <a:t>Follows the framework's standards.</a:t>
            </a:r>
          </a:p>
        </p:txBody>
      </p:sp>
      <p:sp>
        <p:nvSpPr>
          <p:cNvPr id="6" name="Rounded Rectangle 5"/>
          <p:cNvSpPr/>
          <p:nvPr/>
        </p:nvSpPr>
        <p:spPr>
          <a:xfrm>
            <a:off x="6263640" y="1554480"/>
            <a:ext cx="5394960" cy="37490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EASY TO FORGET, EXPENSIVE TO SKIP</a:t>
            </a:r>
          </a:p>
          <a:p>
            <a:pPr>
              <a:spcAft>
                <a:spcPts val="700"/>
              </a:spcAft>
            </a:pPr>
            <a:r>
              <a:rPr sz="1600" b="0" i="0">
                <a:solidFill>
                  <a:srgbClr val="1A1A1A"/>
                </a:solidFill>
                <a:latin typeface="Arial"/>
              </a:rPr>
              <a:t>Names a Technical Focal Point and a Data Protection Officer.</a:t>
            </a:r>
          </a:p>
          <a:p>
            <a:pPr>
              <a:spcAft>
                <a:spcPts val="700"/>
              </a:spcAft>
            </a:pPr>
            <a:r>
              <a:rPr sz="1600" b="0" i="0">
                <a:solidFill>
                  <a:srgbClr val="1A1A1A"/>
                </a:solidFill>
                <a:latin typeface="Arial"/>
              </a:rPr>
              <a:t>Pays its share of the running cost, where the Council so decides.</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A stale registry poisons every exchange that relies on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provider carries more weight than the consumer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PROVIDER</a:t>
            </a:r>
          </a:p>
          <a:p>
            <a:pPr>
              <a:spcAft>
                <a:spcPts val="700"/>
              </a:spcAft>
            </a:pPr>
            <a:r>
              <a:rPr sz="1600" b="0" i="0">
                <a:solidFill>
                  <a:srgbClr val="1A1A1A"/>
                </a:solidFill>
                <a:latin typeface="Arial"/>
              </a:rPr>
              <a:t>The load on its systems.</a:t>
            </a:r>
          </a:p>
          <a:p>
            <a:pPr>
              <a:spcAft>
                <a:spcPts val="700"/>
              </a:spcAft>
            </a:pPr>
            <a:r>
              <a:rPr sz="1600" b="0" i="0">
                <a:solidFill>
                  <a:srgbClr val="1A1A1A"/>
                </a:solidFill>
                <a:latin typeface="Arial"/>
              </a:rPr>
              <a:t>The duty to keep the data accurate.</a:t>
            </a:r>
          </a:p>
          <a:p>
            <a:pPr>
              <a:spcAft>
                <a:spcPts val="700"/>
              </a:spcAft>
            </a:pPr>
            <a:r>
              <a:rPr sz="1600" b="0" i="0">
                <a:solidFill>
                  <a:srgbClr val="1A1A1A"/>
                </a:solidFill>
                <a:latin typeface="Arial"/>
              </a:rPr>
              <a:t>The availability others depend on.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CONSUMER</a:t>
            </a:r>
          </a:p>
          <a:p>
            <a:pPr>
              <a:spcAft>
                <a:spcPts val="700"/>
              </a:spcAft>
            </a:pPr>
            <a:r>
              <a:rPr sz="1600" b="0" i="0">
                <a:solidFill>
                  <a:srgbClr val="1A1A1A"/>
                </a:solidFill>
                <a:latin typeface="Arial"/>
              </a:rPr>
              <a:t>Uses the data only for the agreed purpose.</a:t>
            </a:r>
          </a:p>
          <a:p>
            <a:pPr>
              <a:spcAft>
                <a:spcPts val="700"/>
              </a:spcAft>
            </a:pPr>
            <a:r>
              <a:rPr sz="1600" b="0" i="0">
                <a:solidFill>
                  <a:srgbClr val="1A1A1A"/>
                </a:solidFill>
                <a:latin typeface="Arial"/>
              </a:rPr>
              <a:t>Protects it.</a:t>
            </a:r>
          </a:p>
          <a:p>
            <a:pPr>
              <a:spcAft>
                <a:spcPts val="700"/>
              </a:spcAft>
            </a:pPr>
            <a:r>
              <a:rPr sz="1600" b="0" i="0">
                <a:solidFill>
                  <a:srgbClr val="1A1A1A"/>
                </a:solidFill>
                <a:latin typeface="Arial"/>
              </a:rPr>
              <a:t>Does not re-share it.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Ignore the difference, and provider agencies quietly resist joining.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signed member agreement turns an assumption into a commitment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CIO signs it when the agency joins — and the Operating Authority points to it when a member stops meeting it.</a:t>
            </a:r>
          </a:p>
          <a:p>
            <a:pPr>
              <a:spcAft>
                <a:spcPts val="1200"/>
              </a:spcAft>
            </a:pPr>
            <a:r>
              <a:rPr sz="2000" b="0" i="0">
                <a:solidFill>
                  <a:srgbClr val="1A1A1A"/>
                </a:solidFill>
                <a:latin typeface="Arial"/>
              </a:rPr>
              <a:t>The decree compels connection in law; the agreement records what each member commits to in practice.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organisational-layer counterpart to the decree.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signed set of obligations — fair to provider and consumer alike — is what turns a collection of connections into a federation you can depend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obligations and membership agreement.</a:t>
            </a:r>
          </a:p>
          <a:p>
            <a:pPr algn="l">
              <a:spcAft>
                <a:spcPts val="400"/>
              </a:spcAft>
            </a:pPr>
            <a:r>
              <a:rPr sz="1800" b="0" i="0">
                <a:solidFill>
                  <a:srgbClr val="595959"/>
                </a:solidFill>
                <a:latin typeface="Arial"/>
              </a:rPr>
              <a:t>The prompt in the companion material gives you a two-page member agreement with common, provider and consumer obligations.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a:t>
            </a:r>
          </a:p>
          <a:p>
            <a:pPr>
              <a:spcAft>
                <a:spcPts val="1200"/>
              </a:spcAft>
            </a:pPr>
            <a:r>
              <a:rPr sz="1700" b="0" i="0">
                <a:solidFill>
                  <a:srgbClr val="1A1A1A"/>
                </a:solidFill>
                <a:latin typeface="Arial"/>
              </a:rPr>
              <a:t>•  NIIS X-Road member model and member obligations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four Technical Working Groups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Security, semantics, APIs, platform operations — the four standing groups that keep the bus coherent as it grows.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From two members to twenty, the technical work multiplies.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Done ad hoc, agencies make incompatible local choices.</a:t>
            </a:r>
          </a:p>
          <a:p>
            <a:pPr>
              <a:spcAft>
                <a:spcPts val="800"/>
              </a:spcAft>
            </a:pPr>
            <a:r>
              <a:rPr sz="1700" b="0" i="0">
                <a:solidFill>
                  <a:srgbClr val="595959"/>
                </a:solidFill>
                <a:latin typeface="Arial"/>
              </a:rPr>
              <a:t>The framework slowly stops being one framework.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groups, each owning one technical dimension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Security</a:t>
            </a:r>
          </a:p>
          <a:p>
            <a:pPr>
              <a:spcAft>
                <a:spcPts val="300"/>
              </a:spcAft>
            </a:pPr>
            <a:r>
              <a:rPr sz="1550" b="0" i="0">
                <a:solidFill>
                  <a:srgbClr val="595959"/>
                </a:solidFill>
                <a:latin typeface="Arial"/>
              </a:rPr>
              <a:t>The trust model, certificates, access control.</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Semantics</a:t>
            </a:r>
          </a:p>
          <a:p>
            <a:pPr>
              <a:spcAft>
                <a:spcPts val="300"/>
              </a:spcAft>
            </a:pPr>
            <a:r>
              <a:rPr sz="1550" b="0" i="0">
                <a:solidFill>
                  <a:srgbClr val="595959"/>
                </a:solidFill>
                <a:latin typeface="Arial"/>
              </a:rPr>
              <a:t>Shared data models, code lists, identifiers.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APIs</a:t>
            </a:r>
          </a:p>
          <a:p>
            <a:pPr>
              <a:spcAft>
                <a:spcPts val="300"/>
              </a:spcAft>
            </a:pPr>
            <a:r>
              <a:rPr sz="1550" b="0" i="0">
                <a:solidFill>
                  <a:srgbClr val="595959"/>
                </a:solidFill>
                <a:latin typeface="Arial"/>
              </a:rPr>
              <a:t>The technical standards, service contracts, message formats.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Platform operations</a:t>
            </a:r>
          </a:p>
          <a:p>
            <a:pPr>
              <a:spcAft>
                <a:spcPts val="300"/>
              </a:spcAft>
            </a:pPr>
            <a:r>
              <a:rPr sz="1550" b="0" i="0">
                <a:solidFill>
                  <a:srgbClr val="595959"/>
                </a:solidFill>
                <a:latin typeface="Arial"/>
              </a:rPr>
              <a:t>Running the bus, and the process to admit and connect a member.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One group per standards domain — the names can follow your own vocabulary.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Semantics is where business and IT meet on the hardest problem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Agreeing that "enrolment" means the same to the examination authority and the learner registry is a business decision the data owners make.</a:t>
            </a:r>
          </a:p>
          <a:p>
            <a:pPr>
              <a:spcAft>
                <a:spcPts val="1200"/>
              </a:spcAft>
            </a:pPr>
            <a:r>
              <a:rPr sz="2000" b="0" i="0">
                <a:solidFill>
                  <a:srgbClr val="1A1A1A"/>
                </a:solidFill>
                <a:latin typeface="Arial"/>
              </a:rPr>
              <a:t>It has to be written down precisely enough for the systems to use.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Agree the meaning once, and reuse it everywhere — instead of re-arguing it in every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not project — that is what stops the drift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A PROJECT TEAM</a:t>
            </a:r>
          </a:p>
          <a:p>
            <a:pPr>
              <a:spcAft>
                <a:spcPts val="700"/>
              </a:spcAft>
            </a:pPr>
            <a:r>
              <a:rPr sz="1600" b="0" i="0">
                <a:solidFill>
                  <a:srgbClr val="1A1A1A"/>
                </a:solidFill>
                <a:latin typeface="Arial"/>
              </a:rPr>
              <a:t>Disbands when the project ends.</a:t>
            </a:r>
          </a:p>
          <a:p>
            <a:pPr>
              <a:spcAft>
                <a:spcPts val="700"/>
              </a:spcAft>
            </a:pPr>
            <a:r>
              <a:rPr sz="1600" b="0" i="0">
                <a:solidFill>
                  <a:srgbClr val="1A1A1A"/>
                </a:solidFill>
                <a:latin typeface="Arial"/>
              </a:rPr>
              <a:t>Its choices are left for no one to maintain.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A WORKING GROUP</a:t>
            </a:r>
          </a:p>
          <a:p>
            <a:pPr>
              <a:spcAft>
                <a:spcPts val="700"/>
              </a:spcAft>
            </a:pPr>
            <a:r>
              <a:rPr sz="1600" b="0" i="0">
                <a:solidFill>
                  <a:srgbClr val="1A1A1A"/>
                </a:solidFill>
                <a:latin typeface="Arial"/>
              </a:rPr>
              <a:t>Persists for the life of the framework.</a:t>
            </a:r>
          </a:p>
          <a:p>
            <a:pPr>
              <a:spcAft>
                <a:spcPts val="700"/>
              </a:spcAft>
            </a:pPr>
            <a:r>
              <a:rPr sz="1600" b="0" i="0">
                <a:solidFill>
                  <a:srgbClr val="1A1A1A"/>
                </a:solidFill>
                <a:latin typeface="Arial"/>
              </a:rPr>
              <a:t>Maintains its dimension as members multiply.</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They decide within their competence, and recommend the rest up to the Steering Committee.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Four standing groups — security, semantics, APIs, platform operations — each owning one technical dimension, are what keep the bus one framework as it grows.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Charter the four Technical Working Groups.</a:t>
            </a:r>
          </a:p>
          <a:p>
            <a:pPr algn="l">
              <a:spcAft>
                <a:spcPts val="400"/>
              </a:spcAft>
            </a:pPr>
            <a:r>
              <a:rPr sz="1800" b="0" i="0">
                <a:solidFill>
                  <a:srgbClr val="595959"/>
                </a:solidFill>
                <a:latin typeface="Arial"/>
              </a:rPr>
              <a:t>The prompt in the companion material gives you four Working Group charters plus coordination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a:t>
            </a:r>
          </a:p>
          <a:p>
            <a:pPr>
              <a:spcAft>
                <a:spcPts val="1200"/>
              </a:spcAft>
            </a:pPr>
            <a:r>
              <a:rPr sz="1700" b="0" i="0">
                <a:solidFill>
                  <a:srgbClr val="1A1A1A"/>
                </a:solidFill>
                <a:latin typeface="Arial"/>
              </a:rPr>
              <a:t>•  NIIS X-Road technical governance — working groups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four Technical Working Groups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Governance as living configuration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Change control and a named standards-portfolio owner keep the framework current instead of frozen at launch.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Governance is not a setup you finish at launch.</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New members, new standards, new exchanges, technology to retire.</a:t>
            </a:r>
          </a:p>
          <a:p>
            <a:pPr>
              <a:spcAft>
                <a:spcPts val="800"/>
              </a:spcAft>
            </a:pPr>
            <a:r>
              <a:rPr sz="1700" b="0" i="0">
                <a:solidFill>
                  <a:srgbClr val="595959"/>
                </a:solidFill>
                <a:latin typeface="Arial"/>
              </a:rPr>
              <a:t>Someone must own the changes — or the design drifts from what actually runs.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live framework changes constantly</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new member joins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 standard is updated or retired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 new exchange is authorised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security model changes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change is proposed, reviewed, decided by its one Accountable, recorded and communicated.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 the standards-portfolio owner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specific role inside the Operating Authority keeps the register of current standards, versions and exceptions.</a:t>
            </a:r>
          </a:p>
          <a:p>
            <a:pPr>
              <a:spcAft>
                <a:spcPts val="1200"/>
              </a:spcAft>
            </a:pPr>
            <a:r>
              <a:rPr sz="2000" b="0" i="0">
                <a:solidFill>
                  <a:srgbClr val="1A1A1A"/>
                </a:solidFill>
                <a:latin typeface="Arial"/>
              </a:rPr>
              <a:t>Without a named owner, the portfolio becomes documents nobody maintains — and members quietly diverge.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There is always an authoritative answer to "what is the current standard?"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standing assets need an owner</a:t>
            </a:r>
          </a:p>
        </p:txBody>
      </p:sp>
      <p:sp>
        <p:nvSpPr>
          <p:cNvPr id="4" name="Rounded Rectangle 3"/>
          <p:cNvSpPr/>
          <p:nvPr/>
        </p:nvSpPr>
        <p:spPr>
          <a:xfrm>
            <a:off x="658368" y="1554480"/>
            <a:ext cx="5394960" cy="32918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017520"/>
          </a:xfrm>
          <a:prstGeom prst="rect">
            <a:avLst/>
          </a:prstGeom>
          <a:noFill/>
        </p:spPr>
        <p:txBody>
          <a:bodyPr wrap="square">
            <a:spAutoFit/>
          </a:bodyPr>
          <a:lstStyle/>
          <a:p>
            <a:pPr>
              <a:spcAft>
                <a:spcPts val="700"/>
              </a:spcAft>
            </a:pPr>
            <a:r>
              <a:rPr sz="1900" b="1" i="0">
                <a:solidFill>
                  <a:srgbClr val="006E96"/>
                </a:solidFill>
                <a:latin typeface="Arial"/>
              </a:rPr>
              <a:t>A CONFORMANCE REGIME</a:t>
            </a:r>
          </a:p>
          <a:p>
            <a:pPr>
              <a:spcAft>
                <a:spcPts val="700"/>
              </a:spcAft>
            </a:pPr>
            <a:r>
              <a:rPr sz="1600" b="0" i="0">
                <a:solidFill>
                  <a:srgbClr val="1A1A1A"/>
                </a:solidFill>
                <a:latin typeface="Arial"/>
              </a:rPr>
              <a:t>How a member proves it meets a binding standard: self-assessment, a third-party check, or a test suite the operator runs.</a:t>
            </a:r>
          </a:p>
          <a:p>
            <a:pPr>
              <a:spcAft>
                <a:spcPts val="700"/>
              </a:spcAft>
            </a:pPr>
            <a:r>
              <a:rPr sz="1600" b="0" i="0">
                <a:solidFill>
                  <a:srgbClr val="1A1A1A"/>
                </a:solidFill>
                <a:latin typeface="Arial"/>
              </a:rPr>
              <a:t>A transition period for legacy systems.</a:t>
            </a:r>
          </a:p>
          <a:p>
            <a:pPr>
              <a:spcAft>
                <a:spcPts val="700"/>
              </a:spcAft>
            </a:pPr>
            <a:r>
              <a:rPr sz="1600" b="0" i="0">
                <a:solidFill>
                  <a:srgbClr val="1A1A1A"/>
                </a:solidFill>
                <a:latin typeface="Arial"/>
              </a:rPr>
              <a:t>Re-certification every two years, and on every standards change.</a:t>
            </a:r>
          </a:p>
        </p:txBody>
      </p:sp>
      <p:sp>
        <p:nvSpPr>
          <p:cNvPr id="6" name="Rounded Rectangle 5"/>
          <p:cNvSpPr/>
          <p:nvPr/>
        </p:nvSpPr>
        <p:spPr>
          <a:xfrm>
            <a:off x="6263640" y="1554480"/>
            <a:ext cx="5394960" cy="32918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017520"/>
          </a:xfrm>
          <a:prstGeom prst="rect">
            <a:avLst/>
          </a:prstGeom>
          <a:noFill/>
        </p:spPr>
        <p:txBody>
          <a:bodyPr wrap="square">
            <a:spAutoFit/>
          </a:bodyPr>
          <a:lstStyle/>
          <a:p>
            <a:pPr>
              <a:spcAft>
                <a:spcPts val="700"/>
              </a:spcAft>
            </a:pPr>
            <a:r>
              <a:rPr sz="1900" b="1" i="0">
                <a:solidFill>
                  <a:srgbClr val="006E96"/>
                </a:solidFill>
                <a:latin typeface="Arial"/>
              </a:rPr>
              <a:t>A SEMANTIC REGISTRY</a:t>
            </a:r>
          </a:p>
          <a:p>
            <a:pPr>
              <a:spcAft>
                <a:spcPts val="700"/>
              </a:spcAft>
            </a:pPr>
            <a:r>
              <a:rPr sz="1600" b="0" i="0">
                <a:solidFill>
                  <a:srgbClr val="1A1A1A"/>
                </a:solidFill>
                <a:latin typeface="Arial"/>
              </a:rPr>
              <a:t>The country's data dictionary, code lists and cross-walks between sector vocabularies.</a:t>
            </a:r>
          </a:p>
          <a:p>
            <a:pPr>
              <a:spcAft>
                <a:spcPts val="700"/>
              </a:spcAft>
            </a:pPr>
            <a:r>
              <a:rPr sz="1600" b="0" i="0">
                <a:solidFill>
                  <a:srgbClr val="1A1A1A"/>
                </a:solidFill>
                <a:latin typeface="Arial"/>
              </a:rPr>
              <a:t>Stewarded by the operator.</a:t>
            </a:r>
          </a:p>
          <a:p>
            <a:pPr>
              <a:spcAft>
                <a:spcPts val="700"/>
              </a:spcAft>
            </a:pPr>
            <a:r>
              <a:rPr sz="1600" b="0" i="0">
                <a:solidFill>
                  <a:srgbClr val="1A1A1A"/>
                </a:solidFill>
                <a:latin typeface="Arial"/>
              </a:rPr>
              <a:t>Owned by the sector data owners.</a:t>
            </a:r>
          </a:p>
        </p:txBody>
      </p:sp>
      <p:sp>
        <p:nvSpPr>
          <p:cNvPr id="8" name="TextBox 7"/>
          <p:cNvSpPr txBox="1"/>
          <p:nvPr/>
        </p:nvSpPr>
        <p:spPr>
          <a:xfrm>
            <a:off x="658368" y="5029200"/>
            <a:ext cx="10881360" cy="548640"/>
          </a:xfrm>
          <a:prstGeom prst="rect">
            <a:avLst/>
          </a:prstGeom>
          <a:noFill/>
        </p:spPr>
        <p:txBody>
          <a:bodyPr wrap="square">
            <a:spAutoFit/>
          </a:bodyPr>
          <a:lstStyle/>
          <a:p>
            <a:r>
              <a:rPr sz="1550" b="1" i="0">
                <a:solidFill>
                  <a:srgbClr val="006E96"/>
                </a:solidFill>
                <a:latin typeface="Arial"/>
              </a:rPr>
              <a:t>A binding standard with no way to prove conformance is a wish.</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Governance Pack is done when these checks pass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Every recurring decision has one named Accountable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Every member has a signed agreement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standards portfolio has a named owner and a written change process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conformance regime, and a semantic registry with a steward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organisational-layer configuration of the build pack — as the decree is the legal layer.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Change control and a named owner make governance a living configuration — so the framework stays current for years instead of freezing at launch.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Set up your change-control process and standards-portfolio register.</a:t>
            </a:r>
          </a:p>
          <a:p>
            <a:pPr algn="l">
              <a:spcAft>
                <a:spcPts val="400"/>
              </a:spcAft>
            </a:pPr>
            <a:r>
              <a:rPr sz="1800" b="0" i="0">
                <a:solidFill>
                  <a:srgbClr val="595959"/>
                </a:solidFill>
                <a:latin typeface="Arial"/>
              </a:rPr>
              <a:t>The prompt in the companion material gives you a change-control process, a standards-portfolio register template and a semantic-registry charter.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 change control and standards governance (niis.org)</a:t>
            </a:r>
          </a:p>
          <a:p>
            <a:pPr>
              <a:spcAft>
                <a:spcPts val="1200"/>
              </a:spcAft>
            </a:pPr>
            <a:r>
              <a:rPr sz="1700" b="0" i="0">
                <a:solidFill>
                  <a:srgbClr val="1A1A1A"/>
                </a:solidFill>
                <a:latin typeface="Arial"/>
              </a:rPr>
              <a:t>•  ISO/IEC 11179 — the semantic registry</a:t>
            </a:r>
          </a:p>
          <a:p>
            <a:pPr>
              <a:spcAft>
                <a:spcPts val="1200"/>
              </a:spcAft>
            </a:pPr>
            <a:r>
              <a:rPr sz="1700" b="0" i="0">
                <a:solidFill>
                  <a:srgbClr val="1A1A1A"/>
                </a:solidFill>
                <a:latin typeface="Arial"/>
              </a:rPr>
              <a:t>•  PAERA v1.0 — §3.1.3 (Institutional setup)</a:t>
            </a:r>
          </a:p>
          <a:p>
            <a:pPr>
              <a:spcAft>
                <a:spcPts val="1200"/>
              </a:spcAft>
            </a:pPr>
            <a:r>
              <a:rPr sz="1700" b="0" i="0">
                <a:solidFill>
                  <a:srgbClr val="1A1A1A"/>
                </a:solidFill>
                <a:latin typeface="Arial"/>
              </a:rPr>
              <a:t>•  The Governance Pack — the build-pack artefact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Governance as living configuration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