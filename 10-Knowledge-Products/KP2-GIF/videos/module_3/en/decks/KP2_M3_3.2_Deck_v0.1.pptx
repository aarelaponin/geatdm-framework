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3" r:id="rId25"/>
    <p:sldId id="2704" r:id="rId26"/>
    <p:sldId id="2705" r:id="rId27"/>
    <p:sldId id="2706" r:id="rId28"/>
    <p:sldId id="2707" r:id="rId29"/>
    <p:sldId id="2708" r:id="rId30"/>
    <p:sldId id="2709" r:id="rId31"/>
    <p:sldId id="2710" r:id="rId32"/>
    <p:sldId id="2711" r:id="rId33"/>
    <p:sldId id="271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Governance fails in two opposite ways. Too top-heavy, and ministers are asked to decide technical details they cannot judge, so decisions stall. Too bottom-heavy, and technicians make political commitments they have no authority to keep, so decisions get reversed. The three-tier model, drawn from the EU's interoperability framework and the X-Road governance experience, avoids both by giving each kind of decision to the body that can actually make it.</a:t>
            </a:r>
          </a:p>
          <a:p/>
          <a:p>
            <a:r>
              <a:t>Retrieval prompt — ask before playing on: a Working Group cannot agree on a technical standard. Where does that decision go next — straight to the ministers? Answer on the escalation slide: to the Steering Committee, and to the Council only if it is political.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Picture three tiers, with the Operating Authority running underneath all of them. The top tier is the Strategic Council — political authority. The middle tier is the Steering Committee — programme leadership. The bottom tier is the Technical Working Groups — the specialists. Each tier has one job, and the art of governance is keeping each decision at the right tier.</a:t>
            </a:r>
          </a:p>
          <a:p/>
          <a:p>
            <a:r>
              <a:t>Production cue: the centrepiece of the module — every later video places its body on this picture. Reveal the tiers top to bottom, the operator last. Hold it a beat longer.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Strategic Council is ministers and the most senior officials. It sets the direction, gives the framework political cover, and — most valuable of all — removes the political obstacles that no technician can: the reluctant minister, the turf dispute between two agencies, the budget fight. It meets rarely and decides big things. It does not decide technical questions, and a healthy framework protects its Council from being dragged into them.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Steering Committee is programme leadership — the chief digital officer, the sector CIOs, the head of the Operating Authority. It prioritises the Use-Case Catalogue, approves the roadmap, holds the budget, and reports up to the Council. This is where the framework is actually steered, month to month — close enough to the work to make real decisions, senior enough to make them stick.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Technical Working Groups are the specialists — architects, security experts, semantic experts. They do the detailed technical work, decide the questions within their competence, and recommend the rest up to the Steering Committee. This is also where the architects you trained in the Enterprise Architecture work find their home in the interoperability framework.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is a deeper reason for the three tiers than just sorting decisions. The Strategic Council and the Steering Committee carry the business and political authority; the Technical Working Groups carry the IT expertise. The tiered structure is what brings the two together — it gives business and IT a shared language and a shared rhythm, so that the people who decide what the framework is for and the people who decide how it works are deciding the same questions in the same room, rather than missing each other in separate meetings. That shared rhythm is what makes the hard, cross-cutting decisions possible at all.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tiers connect by escalation and delegation. A Working Group decides a standard; if it cannot agree, it escalates to the Steering Committee; if the question is political, the Committee escalates to the Council. The rule is that most decisions are made at the lowest tier that can make them, which keeps the ministers' scarce time for the few decisions only they can make. Get the escalation rules right and the framework runs smoothly; get them wrong and either nothing reaches the ministers or everything does.</a:t>
            </a:r>
          </a:p>
          <a:p/>
          <a:p>
            <a:r>
              <a:t>Production cue: the pivotal slide of this video, and it answers the retrieval prompt set on the opener.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So the three tiers are the structure: the Strategic Council for political authority, the Steering Committee for programme leadership, the Technical Working Groups for the specialists, and the Operating Authority running underneath. Each has one job. Each decides at its level. That is how you govern an interoperability framework without either drowning the ministers in detail or letting technicians make commitments they cannot keep.</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3 · VIDEO 3.2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The three tiers of governance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Strategic Council, Steering Committee, Technical Working Groups — political authority, programme leadership and the specialists, each with one job.</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Governance fails in two opposite ways.</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Too top-heavy: ministers decide details they cannot judge, and decisions stall.</a:t>
            </a:r>
          </a:p>
          <a:p>
            <a:pPr>
              <a:spcAft>
                <a:spcPts val="800"/>
              </a:spcAft>
            </a:pPr>
            <a:r>
              <a:rPr sz="1700" b="0" i="0">
                <a:solidFill>
                  <a:srgbClr val="595959"/>
                </a:solidFill>
                <a:latin typeface="Arial"/>
              </a:rPr>
              <a:t>Too bottom-heavy: technicians make commitments they cannot keep, and decisions get reversed.</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The three tiers of governance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Three tiers, one operator — each with one job</a:t>
            </a:r>
          </a:p>
        </p:txBody>
      </p:sp>
      <p:sp>
        <p:nvSpPr>
          <p:cNvPr id="4" name="Rounded Rectangle 3"/>
          <p:cNvSpPr/>
          <p:nvPr/>
        </p:nvSpPr>
        <p:spPr>
          <a:xfrm>
            <a:off x="658368" y="1508760"/>
            <a:ext cx="10881360" cy="8229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STRATEGIC COUNCIL — political authority</a:t>
            </a:r>
          </a:p>
          <a:p>
            <a:pPr algn="l">
              <a:spcAft>
                <a:spcPts val="300"/>
              </a:spcAft>
            </a:pPr>
            <a:r>
              <a:rPr sz="1500" b="0" i="0">
                <a:solidFill>
                  <a:srgbClr val="1A1A1A"/>
                </a:solidFill>
                <a:latin typeface="Arial"/>
              </a:rPr>
              <a:t>Ministers and the most senior officials.</a:t>
            </a:r>
          </a:p>
        </p:txBody>
      </p:sp>
      <p:sp>
        <p:nvSpPr>
          <p:cNvPr id="5" name="Rounded Rectangle 4"/>
          <p:cNvSpPr/>
          <p:nvPr/>
        </p:nvSpPr>
        <p:spPr>
          <a:xfrm>
            <a:off x="658368" y="2468880"/>
            <a:ext cx="10881360" cy="8229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STEERING COMMITTEE — programme leadership</a:t>
            </a:r>
          </a:p>
          <a:p>
            <a:pPr algn="l">
              <a:spcAft>
                <a:spcPts val="300"/>
              </a:spcAft>
            </a:pPr>
            <a:r>
              <a:rPr sz="1500" b="0" i="0">
                <a:solidFill>
                  <a:srgbClr val="1A1A1A"/>
                </a:solidFill>
                <a:latin typeface="Arial"/>
              </a:rPr>
              <a:t>The chief digital officer, the sector CIOs.</a:t>
            </a:r>
          </a:p>
        </p:txBody>
      </p:sp>
      <p:sp>
        <p:nvSpPr>
          <p:cNvPr id="6" name="Rounded Rectangle 5"/>
          <p:cNvSpPr/>
          <p:nvPr/>
        </p:nvSpPr>
        <p:spPr>
          <a:xfrm>
            <a:off x="658368" y="3429000"/>
            <a:ext cx="10881360" cy="82296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006E96"/>
                </a:solidFill>
                <a:latin typeface="Arial"/>
              </a:rPr>
              <a:t>TECHNICAL WORKING GROUPS — the specialists</a:t>
            </a:r>
          </a:p>
          <a:p>
            <a:pPr algn="l">
              <a:spcAft>
                <a:spcPts val="300"/>
              </a:spcAft>
            </a:pPr>
            <a:r>
              <a:rPr sz="1500" b="0" i="0">
                <a:solidFill>
                  <a:srgbClr val="1A1A1A"/>
                </a:solidFill>
                <a:latin typeface="Arial"/>
              </a:rPr>
              <a:t>Architects, security and semantic experts.</a:t>
            </a:r>
          </a:p>
        </p:txBody>
      </p:sp>
      <p:sp>
        <p:nvSpPr>
          <p:cNvPr id="7" name="Rounded Rectangle 6"/>
          <p:cNvSpPr/>
          <p:nvPr/>
        </p:nvSpPr>
        <p:spPr>
          <a:xfrm>
            <a:off x="658368" y="4526280"/>
            <a:ext cx="10881360" cy="82296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500" b="1" i="0">
                <a:solidFill>
                  <a:srgbClr val="FFFFFF"/>
                </a:solidFill>
                <a:latin typeface="Arial"/>
              </a:rPr>
              <a:t>OPERATING AUTHORITY — runs the platform underneath all three</a:t>
            </a:r>
          </a:p>
          <a:p>
            <a:pPr algn="l">
              <a:spcAft>
                <a:spcPts val="300"/>
              </a:spcAft>
            </a:pPr>
            <a:r>
              <a:rPr sz="1500" b="0" i="0">
                <a:solidFill>
                  <a:srgbClr val="FFFFFF"/>
                </a:solidFill>
                <a:latin typeface="Arial"/>
              </a:rPr>
              <a:t>Governing sets direction. Operating runs the bus.</a:t>
            </a:r>
          </a:p>
        </p:txBody>
      </p:sp>
      <p:sp>
        <p:nvSpPr>
          <p:cNvPr id="8" name="TextBox 7"/>
          <p:cNvSpPr txBox="1"/>
          <p:nvPr/>
        </p:nvSpPr>
        <p:spPr>
          <a:xfrm>
            <a:off x="658368" y="5577840"/>
            <a:ext cx="10881360" cy="548640"/>
          </a:xfrm>
          <a:prstGeom prst="rect">
            <a:avLst/>
          </a:prstGeom>
          <a:noFill/>
        </p:spPr>
        <p:txBody>
          <a:bodyPr wrap="square">
            <a:spAutoFit/>
          </a:bodyPr>
          <a:lstStyle/>
          <a:p>
            <a:r>
              <a:rPr sz="1550" b="1" i="0">
                <a:solidFill>
                  <a:srgbClr val="006E96"/>
                </a:solidFill>
                <a:latin typeface="Arial"/>
              </a:rPr>
              <a:t>The art of governance is keeping each decision at the right tier.</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The three tiers of governance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Strategic Council removes the obstacles no technician can</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Sets direction and gives the framework political cover</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Removes political obstacles</a:t>
            </a:r>
          </a:p>
          <a:p>
            <a:pPr>
              <a:spcAft>
                <a:spcPts val="300"/>
              </a:spcAft>
            </a:pPr>
            <a:r>
              <a:rPr sz="1550" b="0" i="0">
                <a:solidFill>
                  <a:srgbClr val="595959"/>
                </a:solidFill>
                <a:latin typeface="Arial"/>
              </a:rPr>
              <a:t>The reluctant minister, the turf dispute, the budget fight.</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Meets rarely and decides big things</a:t>
            </a:r>
          </a:p>
          <a:p>
            <a:pPr>
              <a:spcAft>
                <a:spcPts val="300"/>
              </a:spcAft>
            </a:pPr>
            <a:r>
              <a:rPr sz="1550" b="0" i="0">
                <a:solidFill>
                  <a:srgbClr val="595959"/>
                </a:solidFill>
                <a:latin typeface="Arial"/>
              </a:rPr>
              <a:t>It does not decide technical questions.</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healthy framework protects its Council from being dragged into technical questions.</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The three tiers of governance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Steering Committee is where the framework is steered, month to month</a:t>
            </a:r>
          </a:p>
        </p:txBody>
      </p:sp>
      <p:sp>
        <p:nvSpPr>
          <p:cNvPr id="4" name="TextBox 3"/>
          <p:cNvSpPr txBox="1"/>
          <p:nvPr/>
        </p:nvSpPr>
        <p:spPr>
          <a:xfrm>
            <a:off x="658368" y="1463040"/>
            <a:ext cx="10984687" cy="1386839"/>
          </a:xfrm>
          <a:prstGeom prst="rect">
            <a:avLst/>
          </a:prstGeom>
          <a:noFill/>
        </p:spPr>
        <p:txBody>
          <a:bodyPr wrap="square">
            <a:spAutoFit/>
          </a:bodyPr>
          <a:lstStyle/>
          <a:p>
            <a:pPr>
              <a:spcAft>
                <a:spcPts val="300"/>
              </a:spcAft>
            </a:pPr>
            <a:r>
              <a:rPr sz="1900" b="1" i="0">
                <a:solidFill>
                  <a:srgbClr val="1A1A1A"/>
                </a:solidFill>
                <a:latin typeface="Arial"/>
              </a:rPr>
              <a:t>Prioritises the Use-Case Catalogue and approves the roadmap</a:t>
            </a:r>
          </a:p>
        </p:txBody>
      </p:sp>
      <p:sp>
        <p:nvSpPr>
          <p:cNvPr id="5" name="Rectangle 4"/>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895600"/>
            <a:ext cx="10984687" cy="1386839"/>
          </a:xfrm>
          <a:prstGeom prst="rect">
            <a:avLst/>
          </a:prstGeom>
          <a:noFill/>
        </p:spPr>
        <p:txBody>
          <a:bodyPr wrap="square">
            <a:spAutoFit/>
          </a:bodyPr>
          <a:lstStyle/>
          <a:p>
            <a:pPr>
              <a:spcAft>
                <a:spcPts val="300"/>
              </a:spcAft>
            </a:pPr>
            <a:r>
              <a:rPr sz="1900" b="1" i="0">
                <a:solidFill>
                  <a:srgbClr val="1A1A1A"/>
                </a:solidFill>
                <a:latin typeface="Arial"/>
              </a:rPr>
              <a:t>Holds the budget and reports up to the Council</a:t>
            </a:r>
          </a:p>
        </p:txBody>
      </p:sp>
      <p:sp>
        <p:nvSpPr>
          <p:cNvPr id="7" name="Rectangle 6"/>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4328159"/>
            <a:ext cx="10984687" cy="1386839"/>
          </a:xfrm>
          <a:prstGeom prst="rect">
            <a:avLst/>
          </a:prstGeom>
          <a:noFill/>
        </p:spPr>
        <p:txBody>
          <a:bodyPr wrap="square">
            <a:spAutoFit/>
          </a:bodyPr>
          <a:lstStyle/>
          <a:p>
            <a:pPr>
              <a:spcAft>
                <a:spcPts val="300"/>
              </a:spcAft>
            </a:pPr>
            <a:r>
              <a:rPr sz="1900" b="1" i="0">
                <a:solidFill>
                  <a:srgbClr val="1A1A1A"/>
                </a:solidFill>
                <a:latin typeface="Arial"/>
              </a:rPr>
              <a:t>The chief digital officer, the sector CIOs, the head of the Operating Authority</a:t>
            </a:r>
          </a:p>
        </p:txBody>
      </p:sp>
      <p:sp>
        <p:nvSpPr>
          <p:cNvPr id="9" name="TextBox 8"/>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Close enough to the work to make real decisions — senior enough to make them stick.</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The three tiers of governance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Technical Working Groups decide what they can, and recommend the rest</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Architects, security experts and semantic experts do the detailed technical work.</a:t>
            </a:r>
          </a:p>
          <a:p>
            <a:pPr>
              <a:spcAft>
                <a:spcPts val="1200"/>
              </a:spcAft>
            </a:pPr>
            <a:r>
              <a:rPr sz="2000" b="0" i="0">
                <a:solidFill>
                  <a:srgbClr val="1A1A1A"/>
                </a:solidFill>
                <a:latin typeface="Arial"/>
              </a:rPr>
              <a:t>Questions beyond their competence go up to the Steering Committee as recommendations.</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Where the architects from your Enterprise Architecture work find their home.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The three tiers of governance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tiers are where business and IT decide together</a:t>
            </a:r>
          </a:p>
        </p:txBody>
      </p:sp>
      <p:sp>
        <p:nvSpPr>
          <p:cNvPr id="4" name="TextBox 3"/>
          <p:cNvSpPr txBox="1"/>
          <p:nvPr/>
        </p:nvSpPr>
        <p:spPr>
          <a:xfrm>
            <a:off x="658368" y="1600200"/>
            <a:ext cx="10881360" cy="2194560"/>
          </a:xfrm>
          <a:prstGeom prst="rect">
            <a:avLst/>
          </a:prstGeom>
          <a:noFill/>
        </p:spPr>
        <p:txBody>
          <a:bodyPr wrap="square">
            <a:spAutoFit/>
          </a:bodyPr>
          <a:lstStyle/>
          <a:p>
            <a:pPr>
              <a:spcAft>
                <a:spcPts val="1200"/>
              </a:spcAft>
            </a:pPr>
            <a:r>
              <a:rPr sz="2000" b="0" i="0">
                <a:solidFill>
                  <a:srgbClr val="1A1A1A"/>
                </a:solidFill>
                <a:latin typeface="Arial"/>
              </a:rPr>
              <a:t>The Council and the Committee carry business and political authority. The Working Groups carry the IT expertise.</a:t>
            </a:r>
          </a:p>
          <a:p>
            <a:pPr>
              <a:spcAft>
                <a:spcPts val="1200"/>
              </a:spcAft>
            </a:pPr>
            <a:r>
              <a:rPr sz="2000" b="0" i="0">
                <a:solidFill>
                  <a:srgbClr val="1A1A1A"/>
                </a:solidFill>
                <a:latin typeface="Arial"/>
              </a:rPr>
              <a:t>The tiers give them a shared language and a shared rhythm — the same questions, in the same room.</a:t>
            </a:r>
          </a:p>
        </p:txBody>
      </p:sp>
      <p:sp>
        <p:nvSpPr>
          <p:cNvPr id="5" name="Rounded Rectangle 4"/>
          <p:cNvSpPr/>
          <p:nvPr/>
        </p:nvSpPr>
        <p:spPr>
          <a:xfrm>
            <a:off x="658368" y="3977639"/>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169663"/>
            <a:ext cx="10479024" cy="1051560"/>
          </a:xfrm>
          <a:prstGeom prst="rect">
            <a:avLst/>
          </a:prstGeom>
          <a:noFill/>
        </p:spPr>
        <p:txBody>
          <a:bodyPr wrap="square">
            <a:spAutoFit/>
          </a:bodyPr>
          <a:lstStyle/>
          <a:p>
            <a:pPr>
              <a:spcAft>
                <a:spcPts val="700"/>
              </a:spcAft>
            </a:pPr>
            <a:r>
              <a:rPr sz="2300" b="1" i="0">
                <a:solidFill>
                  <a:srgbClr val="006E96"/>
                </a:solidFill>
                <a:latin typeface="Arial"/>
              </a:rPr>
              <a:t>That shared rhythm is what makes the hard, cross-cutting decisions possible at all.</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The three tiers of governance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Decide at the lowest tier that can — escalate only what it cannot</a:t>
            </a:r>
          </a:p>
        </p:txBody>
      </p:sp>
      <p:sp>
        <p:nvSpPr>
          <p:cNvPr id="4" name="Rounded Rectangle 3"/>
          <p:cNvSpPr/>
          <p:nvPr/>
        </p:nvSpPr>
        <p:spPr>
          <a:xfrm>
            <a:off x="658368" y="1554480"/>
            <a:ext cx="5394960" cy="29260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ESCALATION UP</a:t>
            </a:r>
          </a:p>
          <a:p>
            <a:pPr>
              <a:spcAft>
                <a:spcPts val="700"/>
              </a:spcAft>
            </a:pPr>
            <a:r>
              <a:rPr sz="1600" b="0" i="0">
                <a:solidFill>
                  <a:srgbClr val="1A1A1A"/>
                </a:solidFill>
                <a:latin typeface="Arial"/>
              </a:rPr>
              <a:t>A Working Group cannot agree on a standard — it goes to the Steering Committee.</a:t>
            </a:r>
          </a:p>
          <a:p>
            <a:pPr>
              <a:spcAft>
                <a:spcPts val="700"/>
              </a:spcAft>
            </a:pPr>
            <a:r>
              <a:rPr sz="1600" b="0" i="0">
                <a:solidFill>
                  <a:srgbClr val="1A1A1A"/>
                </a:solidFill>
                <a:latin typeface="Arial"/>
              </a:rPr>
              <a:t>The question is political — the Committee takes it to the Council.</a:t>
            </a:r>
          </a:p>
        </p:txBody>
      </p:sp>
      <p:sp>
        <p:nvSpPr>
          <p:cNvPr id="6" name="Rounded Rectangle 5"/>
          <p:cNvSpPr/>
          <p:nvPr/>
        </p:nvSpPr>
        <p:spPr>
          <a:xfrm>
            <a:off x="6263640" y="1554480"/>
            <a:ext cx="5394960" cy="2926080"/>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2651760"/>
          </a:xfrm>
          <a:prstGeom prst="rect">
            <a:avLst/>
          </a:prstGeom>
          <a:noFill/>
        </p:spPr>
        <p:txBody>
          <a:bodyPr wrap="square">
            <a:spAutoFit/>
          </a:bodyPr>
          <a:lstStyle/>
          <a:p>
            <a:pPr>
              <a:spcAft>
                <a:spcPts val="700"/>
              </a:spcAft>
            </a:pPr>
            <a:r>
              <a:rPr sz="1900" b="1" i="0">
                <a:solidFill>
                  <a:srgbClr val="006E96"/>
                </a:solidFill>
                <a:latin typeface="Arial"/>
              </a:rPr>
              <a:t>DELEGATION DOWN</a:t>
            </a:r>
          </a:p>
          <a:p>
            <a:pPr>
              <a:spcAft>
                <a:spcPts val="700"/>
              </a:spcAft>
            </a:pPr>
            <a:r>
              <a:rPr sz="1600" b="0" i="0">
                <a:solidFill>
                  <a:srgbClr val="1A1A1A"/>
                </a:solidFill>
                <a:latin typeface="Arial"/>
              </a:rPr>
              <a:t>Most decisions are made at the lowest tier that can make them.</a:t>
            </a:r>
          </a:p>
          <a:p>
            <a:pPr>
              <a:spcAft>
                <a:spcPts val="700"/>
              </a:spcAft>
            </a:pPr>
            <a:r>
              <a:rPr sz="1600" b="0" i="0">
                <a:solidFill>
                  <a:srgbClr val="1A1A1A"/>
                </a:solidFill>
                <a:latin typeface="Arial"/>
              </a:rPr>
              <a:t>Ministers' scarce time is kept for the few only they can make.</a:t>
            </a:r>
          </a:p>
        </p:txBody>
      </p:sp>
      <p:sp>
        <p:nvSpPr>
          <p:cNvPr id="8" name="TextBox 7"/>
          <p:cNvSpPr txBox="1"/>
          <p:nvPr/>
        </p:nvSpPr>
        <p:spPr>
          <a:xfrm>
            <a:off x="658368" y="4663440"/>
            <a:ext cx="10881360" cy="548640"/>
          </a:xfrm>
          <a:prstGeom prst="rect">
            <a:avLst/>
          </a:prstGeom>
          <a:noFill/>
        </p:spPr>
        <p:txBody>
          <a:bodyPr wrap="square">
            <a:spAutoFit/>
          </a:bodyPr>
          <a:lstStyle/>
          <a:p>
            <a:r>
              <a:rPr sz="1550" b="1" i="0">
                <a:solidFill>
                  <a:srgbClr val="006E96"/>
                </a:solidFill>
                <a:latin typeface="Arial"/>
              </a:rPr>
              <a:t>Get the rules wrong, and either nothing reaches the ministers — or everything does.</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The three tiers of governance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Three tiers — political authority, programme leadership, the specialists — each with one job, connected by escalation up and delegation down.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the three-tier governance structure for your country.</a:t>
            </a:r>
          </a:p>
          <a:p>
            <a:pPr algn="l">
              <a:spcAft>
                <a:spcPts val="400"/>
              </a:spcAft>
            </a:pPr>
            <a:r>
              <a:rPr sz="1800" b="0" i="0">
                <a:solidFill>
                  <a:srgbClr val="595959"/>
                </a:solidFill>
                <a:latin typeface="Arial"/>
              </a:rPr>
              <a:t>The prompt in the companion material gives you a three-tier structure with membership, scope, cadence, escalation rules and gaps.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The three tiers of governance</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EU European Interoperability Framework; NIIS X-Road governance (niis.org)</a:t>
            </a:r>
          </a:p>
          <a:p>
            <a:pPr>
              <a:spcAft>
                <a:spcPts val="1200"/>
              </a:spcAft>
            </a:pPr>
            <a:r>
              <a:rPr sz="1700" b="0" i="0">
                <a:solidFill>
                  <a:srgbClr val="1A1A1A"/>
                </a:solidFill>
                <a:latin typeface="Arial"/>
              </a:rPr>
              <a:t>•  Estonia governance model</a:t>
            </a:r>
          </a:p>
          <a:p>
            <a:pPr>
              <a:spcAft>
                <a:spcPts val="1200"/>
              </a:spcAft>
            </a:pPr>
            <a:r>
              <a:rPr sz="1700" b="0" i="0">
                <a:solidFill>
                  <a:srgbClr val="1A1A1A"/>
                </a:solidFill>
                <a:latin typeface="Arial"/>
              </a:rPr>
              <a:t>•  PAERA v1.0 — §3.1.3 (Institutional setup)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The three tiers of governance</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