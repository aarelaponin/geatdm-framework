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4" r:id="rId56"/>
    <p:sldId id="2735" r:id="rId57"/>
    <p:sldId id="2736" r:id="rId58"/>
    <p:sldId id="2737" r:id="rId59"/>
    <p:sldId id="2738" r:id="rId60"/>
    <p:sldId id="2739" r:id="rId61"/>
    <p:sldId id="2740" r:id="rId62"/>
    <p:sldId id="27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last governance idea is the one most frameworks miss. Governance is not a one-time setup you complete at launch and file away. The framework keeps changing — new members, new standards, new exchanges, technology that has to be retired — and someone must own those changes deliberately, or the carefully designed framework drifts out of date until it no longer matches what is actually running on the bus.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changes, constantly. A new member joins. A standard is updated, or retired. A new exchange is authorised. The security model changes in response to a new threat. Each of these is a change to the live framework. And each needs a controlled way to happen — proposed, reviewed, decided by the body the RACI makes Accountable, recorded, and communicated to every member. Change control is simply the discipline of making those changes deliberately instead of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role makes change control work: a named standards-portfolio owner, sitting inside the Operating Authority, who keeps the register of what standards are current, at what version, and what exceptions have been granted to whom. Without a named owner, the standards portfolio becomes a pile of documents nobody maintains, and members quietly diverge until no two are quite compatible. With a named owner, there is always an authoritative answer to the question 'what is the current standard?' — and that single answer is what holds a growing federation together.</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more things need a standing owner, and both are missed as often as change control. The first is a conformance regime. A binding standard with no way to prove conformance is a wish. So each standard in the register carries a binding date, a transition period for legacy systems, and a test approach — a member's self-assessment for the routine, a third-party check for high-risk services, or a conformance test suite the operator runs. Members are re-certified on a cycle, typically every two years, and whenever a standard changes. The second is the semantic registry — the country's data dictionary, its code lists, and the cross-walks between one sector's vocabulary and another's. The operator stewards it; the sector data owners own the entries. Without it, the semantic map you agree for the first exchange is agreed again, slightly differently, for the second.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why everything in this module adds up to the Governance Pack — and why the Governance Pack is the organisational-layer configuration of the runnable build pack, just as the decree is the legal-layer configuration. The pack has a concrete acceptance check. Every recurring decision has exactly one named Accountable body. Every member has a signed agreement. There is a named owner for the standards portfolio, a written change-control process, a conformance regime, and a semantic registry with a steward. When those checks pass, the organisational layer of the framework is genuinely done — a living configuration that keeps working as the framework grows, not a binder that goes on a shelf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governance is configuration that lives. The decree is the legal configuration; the Governance Pack is the organisational configuration; together they decide who is on the bus and how it changes over time. With both in place and kept current through change control, an interoperability framework can grow for years without drifting away from what it was designed to be. That durability is the entire reason to govern it deliberately — and it is what hands a sound organisational layer to the architects who build the bus.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Governance as living configuration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Change control and a named standards-portfolio owner keep the framework current instead of frozen at launch.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Governance is not a setup you finish at launch.</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New members, new standards, new exchanges, technology to retire.</a:t>
            </a:r>
          </a:p>
          <a:p>
            <a:pPr>
              <a:spcAft>
                <a:spcPts val="800"/>
              </a:spcAft>
            </a:pPr>
            <a:r>
              <a:rPr sz="1700" b="0" i="0">
                <a:solidFill>
                  <a:srgbClr val="595959"/>
                </a:solidFill>
                <a:latin typeface="Arial"/>
              </a:rPr>
              <a:t>Someone must own the changes — or the design drifts from what actually runs.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live framework changes constantly</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new member joins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 standard is updated or retired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 new exchange is authorised</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security model changes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change is proposed, reviewed, decided by its one Accountable, recorded and communicated.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 the standards-portfolio owner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specific role inside the Operating Authority keeps the register of current standards, versions and exceptions.</a:t>
            </a:r>
          </a:p>
          <a:p>
            <a:pPr>
              <a:spcAft>
                <a:spcPts val="1200"/>
              </a:spcAft>
            </a:pPr>
            <a:r>
              <a:rPr sz="2000" b="0" i="0">
                <a:solidFill>
                  <a:srgbClr val="1A1A1A"/>
                </a:solidFill>
                <a:latin typeface="Arial"/>
              </a:rPr>
              <a:t>Without a named owner, the portfolio becomes documents nobody maintains — and members quietly diverge.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There is always an authoritative answer to "what is the current standard?"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standing assets need an owner</a:t>
            </a:r>
          </a:p>
        </p:txBody>
      </p:sp>
      <p:sp>
        <p:nvSpPr>
          <p:cNvPr id="4" name="Rounded Rectangle 3"/>
          <p:cNvSpPr/>
          <p:nvPr/>
        </p:nvSpPr>
        <p:spPr>
          <a:xfrm>
            <a:off x="658368" y="1554480"/>
            <a:ext cx="5394960" cy="32918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017520"/>
          </a:xfrm>
          <a:prstGeom prst="rect">
            <a:avLst/>
          </a:prstGeom>
          <a:noFill/>
        </p:spPr>
        <p:txBody>
          <a:bodyPr wrap="square">
            <a:spAutoFit/>
          </a:bodyPr>
          <a:lstStyle/>
          <a:p>
            <a:pPr>
              <a:spcAft>
                <a:spcPts val="700"/>
              </a:spcAft>
            </a:pPr>
            <a:r>
              <a:rPr sz="1900" b="1" i="0">
                <a:solidFill>
                  <a:srgbClr val="006E96"/>
                </a:solidFill>
                <a:latin typeface="Arial"/>
              </a:rPr>
              <a:t>A CONFORMANCE REGIME</a:t>
            </a:r>
          </a:p>
          <a:p>
            <a:pPr>
              <a:spcAft>
                <a:spcPts val="700"/>
              </a:spcAft>
            </a:pPr>
            <a:r>
              <a:rPr sz="1600" b="0" i="0">
                <a:solidFill>
                  <a:srgbClr val="1A1A1A"/>
                </a:solidFill>
                <a:latin typeface="Arial"/>
              </a:rPr>
              <a:t>How a member proves it meets a binding standard: self-assessment, a third-party check, or a test suite the operator runs.</a:t>
            </a:r>
          </a:p>
          <a:p>
            <a:pPr>
              <a:spcAft>
                <a:spcPts val="700"/>
              </a:spcAft>
            </a:pPr>
            <a:r>
              <a:rPr sz="1600" b="0" i="0">
                <a:solidFill>
                  <a:srgbClr val="1A1A1A"/>
                </a:solidFill>
                <a:latin typeface="Arial"/>
              </a:rPr>
              <a:t>A transition period for legacy systems.</a:t>
            </a:r>
          </a:p>
          <a:p>
            <a:pPr>
              <a:spcAft>
                <a:spcPts val="700"/>
              </a:spcAft>
            </a:pPr>
            <a:r>
              <a:rPr sz="1600" b="0" i="0">
                <a:solidFill>
                  <a:srgbClr val="1A1A1A"/>
                </a:solidFill>
                <a:latin typeface="Arial"/>
              </a:rPr>
              <a:t>Re-certification every two years, and on every standards change.</a:t>
            </a:r>
          </a:p>
        </p:txBody>
      </p:sp>
      <p:sp>
        <p:nvSpPr>
          <p:cNvPr id="6" name="Rounded Rectangle 5"/>
          <p:cNvSpPr/>
          <p:nvPr/>
        </p:nvSpPr>
        <p:spPr>
          <a:xfrm>
            <a:off x="6263640" y="1554480"/>
            <a:ext cx="5394960" cy="32918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017520"/>
          </a:xfrm>
          <a:prstGeom prst="rect">
            <a:avLst/>
          </a:prstGeom>
          <a:noFill/>
        </p:spPr>
        <p:txBody>
          <a:bodyPr wrap="square">
            <a:spAutoFit/>
          </a:bodyPr>
          <a:lstStyle/>
          <a:p>
            <a:pPr>
              <a:spcAft>
                <a:spcPts val="700"/>
              </a:spcAft>
            </a:pPr>
            <a:r>
              <a:rPr sz="1900" b="1" i="0">
                <a:solidFill>
                  <a:srgbClr val="006E96"/>
                </a:solidFill>
                <a:latin typeface="Arial"/>
              </a:rPr>
              <a:t>A SEMANTIC REGISTRY</a:t>
            </a:r>
          </a:p>
          <a:p>
            <a:pPr>
              <a:spcAft>
                <a:spcPts val="700"/>
              </a:spcAft>
            </a:pPr>
            <a:r>
              <a:rPr sz="1600" b="0" i="0">
                <a:solidFill>
                  <a:srgbClr val="1A1A1A"/>
                </a:solidFill>
                <a:latin typeface="Arial"/>
              </a:rPr>
              <a:t>The country's data dictionary, code lists and cross-walks between sector vocabularies.</a:t>
            </a:r>
          </a:p>
          <a:p>
            <a:pPr>
              <a:spcAft>
                <a:spcPts val="700"/>
              </a:spcAft>
            </a:pPr>
            <a:r>
              <a:rPr sz="1600" b="0" i="0">
                <a:solidFill>
                  <a:srgbClr val="1A1A1A"/>
                </a:solidFill>
                <a:latin typeface="Arial"/>
              </a:rPr>
              <a:t>Stewarded by the operator.</a:t>
            </a:r>
          </a:p>
          <a:p>
            <a:pPr>
              <a:spcAft>
                <a:spcPts val="700"/>
              </a:spcAft>
            </a:pPr>
            <a:r>
              <a:rPr sz="1600" b="0" i="0">
                <a:solidFill>
                  <a:srgbClr val="1A1A1A"/>
                </a:solidFill>
                <a:latin typeface="Arial"/>
              </a:rPr>
              <a:t>Owned by the sector data owners.</a:t>
            </a:r>
          </a:p>
        </p:txBody>
      </p:sp>
      <p:sp>
        <p:nvSpPr>
          <p:cNvPr id="8" name="TextBox 7"/>
          <p:cNvSpPr txBox="1"/>
          <p:nvPr/>
        </p:nvSpPr>
        <p:spPr>
          <a:xfrm>
            <a:off x="658368" y="5029200"/>
            <a:ext cx="10881360" cy="548640"/>
          </a:xfrm>
          <a:prstGeom prst="rect">
            <a:avLst/>
          </a:prstGeom>
          <a:noFill/>
        </p:spPr>
        <p:txBody>
          <a:bodyPr wrap="square">
            <a:spAutoFit/>
          </a:bodyPr>
          <a:lstStyle/>
          <a:p>
            <a:r>
              <a:rPr sz="1550" b="1" i="0">
                <a:solidFill>
                  <a:srgbClr val="006E96"/>
                </a:solidFill>
                <a:latin typeface="Arial"/>
              </a:rPr>
              <a:t>A binding standard with no way to prove conformance is a wish.</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Governance Pack is done when these checks pass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Every recurring decision has one named Accountable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Every member has a signed agreement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standards portfolio has a named owner and a written change process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 conformance regime, and a semantic registry with a steward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organisational-layer configuration of the build pack — as the decree is the legal layer.</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Change control and a named owner make governance a living configuration — so the framework stays current for years instead of freezing at launch.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Set up your change-control process and standards-portfolio register.</a:t>
            </a:r>
          </a:p>
          <a:p>
            <a:pPr algn="l">
              <a:spcAft>
                <a:spcPts val="400"/>
              </a:spcAft>
            </a:pPr>
            <a:r>
              <a:rPr sz="1800" b="0" i="0">
                <a:solidFill>
                  <a:srgbClr val="595959"/>
                </a:solidFill>
                <a:latin typeface="Arial"/>
              </a:rPr>
              <a:t>The prompt in the companion material gives you a change-control process, a standards-portfolio register template and a semantic-registry charter.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 change control and standards governance (niis.org)</a:t>
            </a:r>
          </a:p>
          <a:p>
            <a:pPr>
              <a:spcAft>
                <a:spcPts val="1200"/>
              </a:spcAft>
            </a:pPr>
            <a:r>
              <a:rPr sz="1700" b="0" i="0">
                <a:solidFill>
                  <a:srgbClr val="1A1A1A"/>
                </a:solidFill>
                <a:latin typeface="Arial"/>
              </a:rPr>
              <a:t>•  ISO/IEC 11179 — the semantic registry</a:t>
            </a:r>
          </a:p>
          <a:p>
            <a:pPr>
              <a:spcAft>
                <a:spcPts val="1200"/>
              </a:spcAft>
            </a:pPr>
            <a:r>
              <a:rPr sz="1700" b="0" i="0">
                <a:solidFill>
                  <a:srgbClr val="1A1A1A"/>
                </a:solidFill>
                <a:latin typeface="Arial"/>
              </a:rPr>
              <a:t>•  PAERA v1.0 — §3.1.3 (Institutional setup)</a:t>
            </a:r>
          </a:p>
          <a:p>
            <a:pPr>
              <a:spcAft>
                <a:spcPts val="1200"/>
              </a:spcAft>
            </a:pPr>
            <a:r>
              <a:rPr sz="1700" b="0" i="0">
                <a:solidFill>
                  <a:srgbClr val="1A1A1A"/>
                </a:solidFill>
                <a:latin typeface="Arial"/>
              </a:rPr>
              <a:t>•  The Governance Pack — the build-pack artefact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