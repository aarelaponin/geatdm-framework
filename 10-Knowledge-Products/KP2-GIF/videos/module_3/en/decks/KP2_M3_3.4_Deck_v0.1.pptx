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0" r:id="rId42"/>
    <p:sldId id="2721" r:id="rId43"/>
    <p:sldId id="2722" r:id="rId44"/>
    <p:sldId id="2723" r:id="rId45"/>
    <p:sldId id="2724" r:id="rId17"/>
    <p:sldId id="2725" r:id="rId16"/>
    <p:sldId id="272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Joining the bus is not just plugging in a cable. It is accepting a set of obligations. A federation where each member picks and chooses which rules to follow is a free-for-all that no one can depend on — and the first time a member's stale data corrupts another agency's service, the whole framework loses trust. The member obligations, written down and signed, are what turn a collection of connections into a dependable federation.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member accepts a common set of obligations. Connect, and stay connected — not drop off when attention moves elsewhere. Meet the agreed service levels — uptime, response time. Keep its data accurate and current, because a registry that is stale poisons every exchange that relies on it. Answer the queries it is obliged to, so that once-only actually works for the citizen. Protect the data it receives. And follow the standards the framework sets, rather than its own. Two more that are easy to forget and expensive to skip: name two people — a Technical Focal Point the operator can call, and a Data Protection Officer wherever personal data flows — and pay its share of the running cost, where the Council decides that members contribute. Eight obligations, the same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obligations are not identical on both sides, and naming the difference is important for fairness. The agency that provides data carries more weight — the load on its systems, the duty to keep the data accurate, the availability its consumers depend on. The agency that consumes data carries obligations of purpose and protection — use the data only for the agreed purpose, protect it, do not re-share it. A fair member agreement recognises that the provider is being asked to do more, and that the Operating Authority and the service levels exist partly to support it. Ignore this, and provider agencies quietly resist joining.</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All of this becomes a member agreement — the document a CIO signs when their agency joins the bus. Putting the obligations in a signed agreement turns them from an assumption into a commitment, and gives the Operating Authority something concrete to point to when a member stops meeting them. The member agreement is the organisational-layer counterpart to the decree: the decree compels connection in law; the agreement records what each member commits to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member obligations are the fourth piece of the Governance Pack. Eight common obligations, a fair split of weight between provider and consumer, and a signed member agreement that makes them real. They are quiet, unglamorous work, but they are the difference between a federation that agencies trust and a free-for-all they avoid. And they feed directly into the service-level agreements the implementation work will need.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Member obligations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an agency signs up to when it joins is the difference between a federation and a free-for-all.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Joining the bus is not just plugging in a cable.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is accepting a set of obligations.</a:t>
            </a:r>
          </a:p>
          <a:p>
            <a:pPr>
              <a:spcAft>
                <a:spcPts val="800"/>
              </a:spcAft>
            </a:pPr>
            <a:r>
              <a:rPr sz="1700" b="0" i="0">
                <a:solidFill>
                  <a:srgbClr val="595959"/>
                </a:solidFill>
                <a:latin typeface="Arial"/>
              </a:rPr>
              <a:t>One member's stale data can cost the whole framework its trust.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Eight obligations, the same for every member</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EVERY MEMBER</a:t>
            </a:r>
          </a:p>
          <a:p>
            <a:pPr>
              <a:spcAft>
                <a:spcPts val="700"/>
              </a:spcAft>
            </a:pPr>
            <a:r>
              <a:rPr sz="1600" b="0" i="0">
                <a:solidFill>
                  <a:srgbClr val="1A1A1A"/>
                </a:solidFill>
                <a:latin typeface="Arial"/>
              </a:rPr>
              <a:t>Connects, and stays connected.</a:t>
            </a:r>
          </a:p>
          <a:p>
            <a:pPr>
              <a:spcAft>
                <a:spcPts val="700"/>
              </a:spcAft>
            </a:pPr>
            <a:r>
              <a:rPr sz="1600" b="0" i="0">
                <a:solidFill>
                  <a:srgbClr val="1A1A1A"/>
                </a:solidFill>
                <a:latin typeface="Arial"/>
              </a:rPr>
              <a:t>Meets the agreed service levels.</a:t>
            </a:r>
          </a:p>
          <a:p>
            <a:pPr>
              <a:spcAft>
                <a:spcPts val="700"/>
              </a:spcAft>
            </a:pPr>
            <a:r>
              <a:rPr sz="1600" b="0" i="0">
                <a:solidFill>
                  <a:srgbClr val="1A1A1A"/>
                </a:solidFill>
                <a:latin typeface="Arial"/>
              </a:rPr>
              <a:t>Keeps its data accurate and current.</a:t>
            </a:r>
          </a:p>
          <a:p>
            <a:pPr>
              <a:spcAft>
                <a:spcPts val="700"/>
              </a:spcAft>
            </a:pPr>
            <a:r>
              <a:rPr sz="1600" b="0" i="0">
                <a:solidFill>
                  <a:srgbClr val="1A1A1A"/>
                </a:solidFill>
                <a:latin typeface="Arial"/>
              </a:rPr>
              <a:t>Answers the queries it must — honours once-only.</a:t>
            </a:r>
          </a:p>
          <a:p>
            <a:pPr>
              <a:spcAft>
                <a:spcPts val="700"/>
              </a:spcAft>
            </a:pPr>
            <a:r>
              <a:rPr sz="1600" b="0" i="0">
                <a:solidFill>
                  <a:srgbClr val="1A1A1A"/>
                </a:solidFill>
                <a:latin typeface="Arial"/>
              </a:rPr>
              <a:t>Protects the data it receives.</a:t>
            </a:r>
          </a:p>
          <a:p>
            <a:pPr>
              <a:spcAft>
                <a:spcPts val="700"/>
              </a:spcAft>
            </a:pPr>
            <a:r>
              <a:rPr sz="1600" b="0" i="0">
                <a:solidFill>
                  <a:srgbClr val="1A1A1A"/>
                </a:solidFill>
                <a:latin typeface="Arial"/>
              </a:rPr>
              <a:t>Follows the framework's standards.</a:t>
            </a:r>
          </a:p>
        </p:txBody>
      </p:sp>
      <p:sp>
        <p:nvSpPr>
          <p:cNvPr id="6" name="Rounded Rectangle 5"/>
          <p:cNvSpPr/>
          <p:nvPr/>
        </p:nvSpPr>
        <p:spPr>
          <a:xfrm>
            <a:off x="6263640" y="1554480"/>
            <a:ext cx="5394960" cy="37490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EASY TO FORGET, EXPENSIVE TO SKIP</a:t>
            </a:r>
          </a:p>
          <a:p>
            <a:pPr>
              <a:spcAft>
                <a:spcPts val="700"/>
              </a:spcAft>
            </a:pPr>
            <a:r>
              <a:rPr sz="1600" b="0" i="0">
                <a:solidFill>
                  <a:srgbClr val="1A1A1A"/>
                </a:solidFill>
                <a:latin typeface="Arial"/>
              </a:rPr>
              <a:t>Names a Technical Focal Point and a Data Protection Officer.</a:t>
            </a:r>
          </a:p>
          <a:p>
            <a:pPr>
              <a:spcAft>
                <a:spcPts val="700"/>
              </a:spcAft>
            </a:pPr>
            <a:r>
              <a:rPr sz="1600" b="0" i="0">
                <a:solidFill>
                  <a:srgbClr val="1A1A1A"/>
                </a:solidFill>
                <a:latin typeface="Arial"/>
              </a:rPr>
              <a:t>Pays its share of the running cost, where the Council so decides.</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A stale registry poisons every exchange that relies on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provider carries more weight than the consumer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PROVIDER</a:t>
            </a:r>
          </a:p>
          <a:p>
            <a:pPr>
              <a:spcAft>
                <a:spcPts val="700"/>
              </a:spcAft>
            </a:pPr>
            <a:r>
              <a:rPr sz="1600" b="0" i="0">
                <a:solidFill>
                  <a:srgbClr val="1A1A1A"/>
                </a:solidFill>
                <a:latin typeface="Arial"/>
              </a:rPr>
              <a:t>The load on its systems.</a:t>
            </a:r>
          </a:p>
          <a:p>
            <a:pPr>
              <a:spcAft>
                <a:spcPts val="700"/>
              </a:spcAft>
            </a:pPr>
            <a:r>
              <a:rPr sz="1600" b="0" i="0">
                <a:solidFill>
                  <a:srgbClr val="1A1A1A"/>
                </a:solidFill>
                <a:latin typeface="Arial"/>
              </a:rPr>
              <a:t>The duty to keep the data accurate.</a:t>
            </a:r>
          </a:p>
          <a:p>
            <a:pPr>
              <a:spcAft>
                <a:spcPts val="700"/>
              </a:spcAft>
            </a:pPr>
            <a:r>
              <a:rPr sz="1600" b="0" i="0">
                <a:solidFill>
                  <a:srgbClr val="1A1A1A"/>
                </a:solidFill>
                <a:latin typeface="Arial"/>
              </a:rPr>
              <a:t>The availability others depend on.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CONSUMER</a:t>
            </a:r>
          </a:p>
          <a:p>
            <a:pPr>
              <a:spcAft>
                <a:spcPts val="700"/>
              </a:spcAft>
            </a:pPr>
            <a:r>
              <a:rPr sz="1600" b="0" i="0">
                <a:solidFill>
                  <a:srgbClr val="1A1A1A"/>
                </a:solidFill>
                <a:latin typeface="Arial"/>
              </a:rPr>
              <a:t>Uses the data only for the agreed purpose.</a:t>
            </a:r>
          </a:p>
          <a:p>
            <a:pPr>
              <a:spcAft>
                <a:spcPts val="700"/>
              </a:spcAft>
            </a:pPr>
            <a:r>
              <a:rPr sz="1600" b="0" i="0">
                <a:solidFill>
                  <a:srgbClr val="1A1A1A"/>
                </a:solidFill>
                <a:latin typeface="Arial"/>
              </a:rPr>
              <a:t>Protects it.</a:t>
            </a:r>
          </a:p>
          <a:p>
            <a:pPr>
              <a:spcAft>
                <a:spcPts val="700"/>
              </a:spcAft>
            </a:pPr>
            <a:r>
              <a:rPr sz="1600" b="0" i="0">
                <a:solidFill>
                  <a:srgbClr val="1A1A1A"/>
                </a:solidFill>
                <a:latin typeface="Arial"/>
              </a:rPr>
              <a:t>Does not re-share it.</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Ignore the difference, and provider agencies quietly resist joining.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signed member agreement turns an assumption into a commitment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CIO signs it when the agency joins — and the Operating Authority points to it when a member stops meeting it.</a:t>
            </a:r>
          </a:p>
          <a:p>
            <a:pPr>
              <a:spcAft>
                <a:spcPts val="1200"/>
              </a:spcAft>
            </a:pPr>
            <a:r>
              <a:rPr sz="2000" b="0" i="0">
                <a:solidFill>
                  <a:srgbClr val="1A1A1A"/>
                </a:solidFill>
                <a:latin typeface="Arial"/>
              </a:rPr>
              <a:t>The decree compels connection in law; the agreement records what each member commits to in practice.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organisational-layer counterpart to the decree.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signed set of obligations — fair to provider and consumer alike — is what turns a collection of connections into a federation you can depend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obligations and membership agreement.</a:t>
            </a:r>
          </a:p>
          <a:p>
            <a:pPr algn="l">
              <a:spcAft>
                <a:spcPts val="400"/>
              </a:spcAft>
            </a:pPr>
            <a:r>
              <a:rPr sz="1800" b="0" i="0">
                <a:solidFill>
                  <a:srgbClr val="595959"/>
                </a:solidFill>
                <a:latin typeface="Arial"/>
              </a:rPr>
              <a:t>The prompt in the companion material gives you a two-page member agreement with common, provider and consumer obligations.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a:t>
            </a:r>
          </a:p>
          <a:p>
            <a:pPr>
              <a:spcAft>
                <a:spcPts val="1200"/>
              </a:spcAft>
            </a:pPr>
            <a:r>
              <a:rPr sz="1700" b="0" i="0">
                <a:solidFill>
                  <a:srgbClr val="1A1A1A"/>
                </a:solidFill>
                <a:latin typeface="Arial"/>
              </a:rPr>
              <a:t>•  NIIS X-Road member model and member obligations (niis.org)</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Member obligations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