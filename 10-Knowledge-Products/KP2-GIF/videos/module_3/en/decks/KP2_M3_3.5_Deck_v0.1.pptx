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7" r:id="rId14"/>
    <p:sldId id="2728" r:id="rId13"/>
    <p:sldId id="2729" r:id="rId12"/>
    <p:sldId id="2730" r:id="rId11"/>
    <p:sldId id="2731" r:id="rId10"/>
    <p:sldId id="2732" r:id="rId54"/>
    <p:sldId id="2733"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As a framework grows from two members to twenty, the technical work does not stop — it multiplies. New standards, new data models, new security questions, a steady stream of agencies to onboard. If that work is done ad hoc, by whoever is free, the bus drifts into incoherence: agencies make incompatible local choices and the framework slowly stops being one framework. Four standing Technical Working Groups are how you keep it coherent.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Each group owns one technical dimension of the framework. Security owns the trust model — the certificates, the access control, the response when something goes wrong. Semantics owns the shared meaning — the data models, the code lists, the identifiers, so that two agencies mean the same thing by the same word. APIs owns the technical standards — the API styles, the service contracts, the message formats, the protocol every member uses. And Platform Operations owns the running of the bus and the process that admits and connects a new member cleanly, the same way every time. One group per standards domain is the rule; the names can follow your own vocabulary.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Semantics group deserves a special word, because it is where business and IT meet on the hardest interoperability problem: agreeing what the data means. Deciding that 'enrolment' means the same thing to the examination authority and to the learner registry is not a technical choice — it is a business decision the data owners make, but it has to be written down precisely enough for the systems to use. The Semantics group is the forum that gives both sides a shared language for that work, so the meaning is agreed once and reused everywhere, rather than re-argued in every new exchange.</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key word is standing. A project team disbands when its project ends; a Working Group persists for the life of the framework. That persistence is exactly what prevents the slow drift into incompatible local choices that kills interoperability over years. The groups decide what lies within their competence and recommend the rest up to the Steering Committee — and they are where the architects from your Enterprise Architecture work find their ongoing home in the framework.</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four Technical Working Groups are the fifth piece of the Governance Pack. Security, semantics, APIs, platform operations — standing, not project; deciding within their competence and recommending up; the home of the framework's technical coherence. Charter them at launch, and the framework can absorb its twentieth member as cleanly as its second.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four Technical Working Groups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Security, semantics, APIs, platform operations — the four standing groups that keep the bus coherent as it grows.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From two members to twenty, the technical work multiplies.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Done ad hoc, agencies make incompatible local choices.</a:t>
            </a:r>
          </a:p>
          <a:p>
            <a:pPr>
              <a:spcAft>
                <a:spcPts val="800"/>
              </a:spcAft>
            </a:pPr>
            <a:r>
              <a:rPr sz="1700" b="0" i="0">
                <a:solidFill>
                  <a:srgbClr val="595959"/>
                </a:solidFill>
                <a:latin typeface="Arial"/>
              </a:rPr>
              <a:t>The framework slowly stops being one framework.</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four Technical Working Groups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groups, each owning one technical dimension</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Security</a:t>
            </a:r>
          </a:p>
          <a:p>
            <a:pPr>
              <a:spcAft>
                <a:spcPts val="300"/>
              </a:spcAft>
            </a:pPr>
            <a:r>
              <a:rPr sz="1550" b="0" i="0">
                <a:solidFill>
                  <a:srgbClr val="595959"/>
                </a:solidFill>
                <a:latin typeface="Arial"/>
              </a:rPr>
              <a:t>The trust model, certificates, access control.</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Semantics</a:t>
            </a:r>
          </a:p>
          <a:p>
            <a:pPr>
              <a:spcAft>
                <a:spcPts val="300"/>
              </a:spcAft>
            </a:pPr>
            <a:r>
              <a:rPr sz="1550" b="0" i="0">
                <a:solidFill>
                  <a:srgbClr val="595959"/>
                </a:solidFill>
                <a:latin typeface="Arial"/>
              </a:rPr>
              <a:t>Shared data models, code lists, identifiers.</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APIs</a:t>
            </a:r>
          </a:p>
          <a:p>
            <a:pPr>
              <a:spcAft>
                <a:spcPts val="300"/>
              </a:spcAft>
            </a:pPr>
            <a:r>
              <a:rPr sz="1550" b="0" i="0">
                <a:solidFill>
                  <a:srgbClr val="595959"/>
                </a:solidFill>
                <a:latin typeface="Arial"/>
              </a:rPr>
              <a:t>The technical standards, service contracts, message formats.</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Platform operations</a:t>
            </a:r>
          </a:p>
          <a:p>
            <a:pPr>
              <a:spcAft>
                <a:spcPts val="300"/>
              </a:spcAft>
            </a:pPr>
            <a:r>
              <a:rPr sz="1550" b="0" i="0">
                <a:solidFill>
                  <a:srgbClr val="595959"/>
                </a:solidFill>
                <a:latin typeface="Arial"/>
              </a:rPr>
              <a:t>Running the bus, and the process to admit and connect a member.</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One group per standards domain — the names can follow your own vocabulary.</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four Technical Working Groups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Semantics is where business and IT meet on the hardest problem</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Agreeing that "enrolment" means the same to the examination authority and the learner registry is a business decision the data owners make.</a:t>
            </a:r>
          </a:p>
          <a:p>
            <a:pPr>
              <a:spcAft>
                <a:spcPts val="1200"/>
              </a:spcAft>
            </a:pPr>
            <a:r>
              <a:rPr sz="2000" b="0" i="0">
                <a:solidFill>
                  <a:srgbClr val="1A1A1A"/>
                </a:solidFill>
                <a:latin typeface="Arial"/>
              </a:rPr>
              <a:t>It has to be written down precisely enough for the systems to use.</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Agree the meaning once, and reuse it everywhere — instead of re-arguing it in every exchange.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four Technical Working Groups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Standing, not project — that is what stops the drift</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A PROJECT TEAM</a:t>
            </a:r>
          </a:p>
          <a:p>
            <a:pPr>
              <a:spcAft>
                <a:spcPts val="700"/>
              </a:spcAft>
            </a:pPr>
            <a:r>
              <a:rPr sz="1600" b="0" i="0">
                <a:solidFill>
                  <a:srgbClr val="1A1A1A"/>
                </a:solidFill>
                <a:latin typeface="Arial"/>
              </a:rPr>
              <a:t>Disbands when the project ends.</a:t>
            </a:r>
          </a:p>
          <a:p>
            <a:pPr>
              <a:spcAft>
                <a:spcPts val="700"/>
              </a:spcAft>
            </a:pPr>
            <a:r>
              <a:rPr sz="1600" b="0" i="0">
                <a:solidFill>
                  <a:srgbClr val="1A1A1A"/>
                </a:solidFill>
                <a:latin typeface="Arial"/>
              </a:rPr>
              <a:t>Its choices are left for no one to maintain.</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A WORKING GROUP</a:t>
            </a:r>
          </a:p>
          <a:p>
            <a:pPr>
              <a:spcAft>
                <a:spcPts val="700"/>
              </a:spcAft>
            </a:pPr>
            <a:r>
              <a:rPr sz="1600" b="0" i="0">
                <a:solidFill>
                  <a:srgbClr val="1A1A1A"/>
                </a:solidFill>
                <a:latin typeface="Arial"/>
              </a:rPr>
              <a:t>Persists for the life of the framework.</a:t>
            </a:r>
          </a:p>
          <a:p>
            <a:pPr>
              <a:spcAft>
                <a:spcPts val="700"/>
              </a:spcAft>
            </a:pPr>
            <a:r>
              <a:rPr sz="1600" b="0" i="0">
                <a:solidFill>
                  <a:srgbClr val="1A1A1A"/>
                </a:solidFill>
                <a:latin typeface="Arial"/>
              </a:rPr>
              <a:t>Maintains its dimension as members multiply.</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They decide within their competence, and recommend the rest up to the Steering Committee.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four Technical Working Groups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Four standing groups — security, semantics, APIs, platform operations — each owning one technical dimension, are what keep the bus one framework as it grows.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Charter the four Technical Working Groups.</a:t>
            </a:r>
          </a:p>
          <a:p>
            <a:pPr algn="l">
              <a:spcAft>
                <a:spcPts val="400"/>
              </a:spcAft>
            </a:pPr>
            <a:r>
              <a:rPr sz="1800" b="0" i="0">
                <a:solidFill>
                  <a:srgbClr val="595959"/>
                </a:solidFill>
                <a:latin typeface="Arial"/>
              </a:rPr>
              <a:t>The prompt in the companion material gives you four Working Group charters plus coordination notes.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four Technical Working Groups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a:t>
            </a:r>
          </a:p>
          <a:p>
            <a:pPr>
              <a:spcAft>
                <a:spcPts val="1200"/>
              </a:spcAft>
            </a:pPr>
            <a:r>
              <a:rPr sz="1700" b="0" i="0">
                <a:solidFill>
                  <a:srgbClr val="1A1A1A"/>
                </a:solidFill>
                <a:latin typeface="Arial"/>
              </a:rPr>
              <a:t>•  NIIS X-Road technical governance — working groups (niis.org)</a:t>
            </a:r>
          </a:p>
          <a:p>
            <a:pPr>
              <a:spcAft>
                <a:spcPts val="1200"/>
              </a:spcAft>
            </a:pPr>
            <a:r>
              <a:rPr sz="1700" b="0" i="0">
                <a:solidFill>
                  <a:srgbClr val="1A1A1A"/>
                </a:solidFill>
                <a:latin typeface="Arial"/>
              </a:rPr>
              <a:t>•  PAERA v1.0 — §3.1.3 (Institutional setup)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four Technical Working Groups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