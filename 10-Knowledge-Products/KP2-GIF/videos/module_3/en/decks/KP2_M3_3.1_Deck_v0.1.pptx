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most common way an interoperability platform dies is not technical. A bus gets built in a burst of donor-funded enthusiasm, the launch is celebrated, and then in the second year no one is accountable for keeping it alive. Members drift away. Certificates expire. No one chases the next agency to connect. The platform does not fail dramatically — it just quietly decays, because nobody owned it. The cure is to name the owner before the first member ever joins.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owner is the Operating Authority — a standing body whose full-time job is the framework. It runs the bus day to day. It admits and onboards new members. It sets the service levels and watches them. It resolves disputes when two agencies disagree. And it owns the standards portfolio, keeping it current as the framework grows. In our demonstration country, Progressa, this is the Digital Government Authority, PDGA. Crucially, it is a standing operator with budget, staff and a mandate — not a committee that meets once a quarter. Three forms are common: a dedicated agency inside the national ICT authority, the usual choice; a department of a ministry, which struggles when that ministry is also a member with its own interests; or an independent statutory body, rare and mostly federal. It starts small — eight to fifteen people — and grows to thirty to eighty at national scale, most of them on platform operations and member support.</a:t>
            </a:r>
          </a:p>
          <a:p/>
          <a:p>
            <a:r>
              <a:t>VO: Here is why the owner has to sit at the level of the whole of government. The bus is a shared road, built once for every agency to reuse — and a shared asset with no single accountable owner becomes nobody's responsibility. The planning that justifies building it once, and the authority to run it for everyone, exist only at whole-of-government level. No single project and no single ministry can own the shared bus on behalf of all the others; only a designated Operating Authority can.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duties on the last slide are really two hats, and the most useful thing you can do at the start is to put them on two heads. One hat sets the rules: it owns the reference architecture and the standards, it defines the compliance checks and the evidence, it grants written exceptions and applies sanctions. That is the regulator. The other hat runs the bus: it operates the platform, onboards members, validates their connections and supports them. That is the operator. When one office does both, a platform outage, a missed standard and a compliance waiver are all decided by the same people, with no independent check — and the waiver always wins. So write the split into both mandates, so it survives staff turnover. A small administration does not need two agencies; two units inside one agency, each with its own mandate, is enough. And the member ministries keep the third hat: they own their services and their data, and they answer for their own compliance.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Keep two things separate, because confusing them is a common failure. Governing is setting direction and making decisions — the tiers do that. Operating is running the platform day to day — the Operating Authority does that. A framework with governance bodies but no operator is a set of meetings with nothing underneath; an operator with no governance is a team running a platform with no authority to compel anyone to use it. You need both, and you need them distinct.</a:t>
            </a:r>
          </a:p>
          <a:p/>
          <a:p>
            <a:r>
              <a:t>Production cue: the module's one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first governance decision is the simplest to state and the easiest to skip: name the owner, with budget, staff and a real mandate, before the first member joins — and keep the rule-maker and the operator apart. That is what stops the second-year decay.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a bus needs an owner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interoperability platform with no owner decays in its second year — name the owner before the first member joins, and split the body that sets the rules from the body that runs the bus.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Platforms rarely die technically. They decay in year two.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Built in a burst of enthusiasm, celebrated at launch.</a:t>
            </a:r>
          </a:p>
          <a:p>
            <a:pPr>
              <a:spcAft>
                <a:spcPts val="800"/>
              </a:spcAft>
            </a:pPr>
            <a:r>
              <a:rPr sz="1700" b="0" i="0">
                <a:solidFill>
                  <a:srgbClr val="595959"/>
                </a:solidFill>
                <a:latin typeface="Arial"/>
              </a:rPr>
              <a:t>Then members drift, certificates expire — and nobody is accountable.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owner is a standing operator, not a committee</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Runs the bus day to day</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Admits and onboards new members</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Sets and monitors service levels</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Resolves disputes between members</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Owns the standards portfolio and keeps it current</a:t>
            </a:r>
          </a:p>
        </p:txBody>
      </p:sp>
      <p:sp>
        <p:nvSpPr>
          <p:cNvPr id="13" name="TextBox 12"/>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Budget, staff and a mandate — starting at 8–15 people, growing to 30–80 at national scale.</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hats, two heads — the regulator and the operator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REGULATOR SETS THE RULES</a:t>
            </a:r>
          </a:p>
          <a:p>
            <a:pPr>
              <a:spcAft>
                <a:spcPts val="700"/>
              </a:spcAft>
            </a:pPr>
            <a:r>
              <a:rPr sz="1600" b="0" i="0">
                <a:solidFill>
                  <a:srgbClr val="1A1A1A"/>
                </a:solidFill>
                <a:latin typeface="Arial"/>
              </a:rPr>
              <a:t>Owns the architecture and the standards.</a:t>
            </a:r>
          </a:p>
          <a:p>
            <a:pPr>
              <a:spcAft>
                <a:spcPts val="700"/>
              </a:spcAft>
            </a:pPr>
            <a:r>
              <a:rPr sz="1600" b="0" i="0">
                <a:solidFill>
                  <a:srgbClr val="1A1A1A"/>
                </a:solidFill>
                <a:latin typeface="Arial"/>
              </a:rPr>
              <a:t>Defines the compliance checks and the evidence.</a:t>
            </a:r>
          </a:p>
          <a:p>
            <a:pPr>
              <a:spcAft>
                <a:spcPts val="700"/>
              </a:spcAft>
            </a:pPr>
            <a:r>
              <a:rPr sz="1600" b="0" i="0">
                <a:solidFill>
                  <a:srgbClr val="1A1A1A"/>
                </a:solidFill>
                <a:latin typeface="Arial"/>
              </a:rPr>
              <a:t>Grants written exceptions; applies sanctions.</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OPERATOR RUNS THE BUS</a:t>
            </a:r>
          </a:p>
          <a:p>
            <a:pPr>
              <a:spcAft>
                <a:spcPts val="700"/>
              </a:spcAft>
            </a:pPr>
            <a:r>
              <a:rPr sz="1600" b="0" i="0">
                <a:solidFill>
                  <a:srgbClr val="1A1A1A"/>
                </a:solidFill>
                <a:latin typeface="Arial"/>
              </a:rPr>
              <a:t>Operates the platform.</a:t>
            </a:r>
          </a:p>
          <a:p>
            <a:pPr>
              <a:spcAft>
                <a:spcPts val="700"/>
              </a:spcAft>
            </a:pPr>
            <a:r>
              <a:rPr sz="1600" b="0" i="0">
                <a:solidFill>
                  <a:srgbClr val="1A1A1A"/>
                </a:solidFill>
                <a:latin typeface="Arial"/>
              </a:rPr>
              <a:t>Onboards members and validates their connections.</a:t>
            </a:r>
          </a:p>
          <a:p>
            <a:pPr>
              <a:spcAft>
                <a:spcPts val="700"/>
              </a:spcAft>
            </a:pPr>
            <a:r>
              <a:rPr sz="1600" b="0" i="0">
                <a:solidFill>
                  <a:srgbClr val="1A1A1A"/>
                </a:solidFill>
                <a:latin typeface="Arial"/>
              </a:rPr>
              <a:t>Supports them.</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No single body both runs the bus and judges compliance with it. Small country? Two units, two mandates.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Governing is not operating — you need both, kept distinct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governing tiers set direction and make decisions. The Operating Authority runs the platform day to day.</a:t>
            </a:r>
          </a:p>
          <a:p>
            <a:pPr>
              <a:spcAft>
                <a:spcPts val="1200"/>
              </a:spcAft>
            </a:pPr>
            <a:r>
              <a:rPr sz="2000" b="0" i="0">
                <a:solidFill>
                  <a:srgbClr val="1A1A1A"/>
                </a:solidFill>
                <a:latin typeface="Arial"/>
              </a:rPr>
              <a:t>An operator with no governance runs a platform no one can be compelled to use.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Governance with no operator is a set of meetings with nothing underneath.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shared bus needs a named owner with budget, staff and mandate before the first member joins — and the body that sets the rules is not the body that runs the bus.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Define the owner's mandate — and split the regulator from the operator.</a:t>
            </a:r>
          </a:p>
          <a:p>
            <a:pPr algn="l">
              <a:spcAft>
                <a:spcPts val="400"/>
              </a:spcAft>
            </a:pPr>
            <a:r>
              <a:rPr sz="1800" b="0" i="0">
                <a:solidFill>
                  <a:srgbClr val="595959"/>
                </a:solidFill>
                <a:latin typeface="Arial"/>
              </a:rPr>
              <a:t>The prompt in the companion material gives you a mandate statement with the two hats separated, plus a list of mandate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governance (niis.org)</a:t>
            </a:r>
          </a:p>
          <a:p>
            <a:pPr>
              <a:spcAft>
                <a:spcPts val="1200"/>
              </a:spcAft>
            </a:pPr>
            <a:r>
              <a:rPr sz="1700" b="0" i="0">
                <a:solidFill>
                  <a:srgbClr val="1A1A1A"/>
                </a:solidFill>
                <a:latin typeface="Arial"/>
              </a:rPr>
              <a:t>•  Estonia — Ministry of Economic Affairs and Communications; RIA (ria.ee)</a:t>
            </a:r>
          </a:p>
          <a:p>
            <a:pPr>
              <a:spcAft>
                <a:spcPts val="1200"/>
              </a:spcAft>
            </a:pPr>
            <a:r>
              <a:rPr sz="1700" b="0" i="0">
                <a:solidFill>
                  <a:srgbClr val="1A1A1A"/>
                </a:solidFill>
                <a:latin typeface="Arial"/>
              </a:rPr>
              <a:t>•  The regulator/operator split — the framework's reference architecture</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Why a bus needs an owner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