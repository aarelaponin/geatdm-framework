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55" r:id="rId77"/>
    <p:sldId id="2756" r:id="rId78"/>
    <p:sldId id="2757" r:id="rId79"/>
    <p:sldId id="2758" r:id="rId80"/>
    <p:sldId id="2759" r:id="rId81"/>
    <p:sldId id="2760" r:id="rId82"/>
    <p:sldId id="2761" r:id="rId83"/>
    <p:sldId id="2762" r:id="rId84"/>
    <p:sldId id="2763"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proves the pattern. It is not, and must not be mistaken for, a production system. The architect's last job in this module is to know exactly what changes between the demonstration and a production-grade federation, so the country plans and budgets for that gap rather than discovering it after go-live — which is the moment it is most expensive to discover.</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differences are specific. The demonstration runs everything on one VM; production separates the components onto real, sized hosts. The demonstration uses a Test CA; production uses a real certification authority. Production adds high availability and redundancy, so a failed component does not stop the bus. It adds real monitoring and alerting, so problems are caught before citizens notice them. It is sized for real transaction volumes, not a handful of demonstration calls. It has round-the-clock operational support — the Operating Authority's standing team. And it is security-hardened and audited to the standard a national platform carrying citizen data must meet.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reassuring part, and it is the point of building a demonstration at all: none of this changes the shape of the configuration. The subsystem registrations, the service descriptions, the semantic map — they are the same in production. Production changes the scale, the resilience and the operations around the configuration, not the design of it. So the demonstration genuinely de-risks the production build. You have proven the pattern works; production is the same pattern, hardened and operated. The later phases of your four-phase plan are exactly where that production build is funded and delivered, against the cost frame.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one more production task, and it does not appear on the hardening list because it concerns the old world rather than the new: migrating each agency off the legacy point-to-point links the bus replaces, and retiring them. A new bus does not retire the old links by itself — left alone, you run both, which is worse than either. So per agency the pattern is parallel-run then cut over: stand up the new once-only exchange, run it beside the agency's existing point-to-point link until you have confirmed the two agree, then switch the consumers across and decommission the old link. Retiring those links is the step that actually ends the point-to-point sprawl Module 1 diagnosed — schedule it, agency by agency, in the multi-agency phase of the plan, with a migration-and-retirement step in each onboarding.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is honest about its own gap. Its conformance record sorts seventy-five clauses: forty-one implemented, six simulated, twenty-four named as absent, and four out of scope. That list is where the production plan starts.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one thing not to do is ship the demonstration as production. A sandboxed single-VM federation with a test certification authority is perfect for proving the pattern and wrong for carrying real citizen data at scale. Know the gap, plan it into the phased roadmap, budget it with the cost frame — and the move from demonstration to production becomes an engineering exercise the team can plan, not a surprise that derails go-live.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close the implementation module by being honest about the gap between demonstration and production. Separate hosts, a real certification authority, high availability, monitoring, capacity, support, hardening — the production differences are specific and plannable. The configuration's shape does not change, so the demonstration de-risks the build. Plan the gap into the roadmap, budget it with the cost frame, and never ship the demonstration as the production platform. That is how a proven pattern becomes a system a country runs.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demonstration to production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changes between the sandboxed Linkup demonstration and a production-grade federation a country would actually run.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demonstration proves the pattern. It is not production.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exactly what changes before go-live.</a:t>
            </a:r>
          </a:p>
          <a:p>
            <a:pPr>
              <a:spcAft>
                <a:spcPts val="800"/>
              </a:spcAft>
            </a:pPr>
            <a:r>
              <a:rPr sz="1700" b="0" i="0">
                <a:solidFill>
                  <a:srgbClr val="595959"/>
                </a:solidFill>
                <a:latin typeface="Arial"/>
              </a:rPr>
              <a:t>After go-live is when the gap is most expensive to discover.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Production adds seven things around the same configuration</a:t>
            </a:r>
          </a:p>
        </p:txBody>
      </p:sp>
      <p:sp>
        <p:nvSpPr>
          <p:cNvPr id="4" name="Rounded Rectangle 3"/>
          <p:cNvSpPr/>
          <p:nvPr/>
        </p:nvSpPr>
        <p:spPr>
          <a:xfrm>
            <a:off x="658368"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THE DEMONSTRATION</a:t>
            </a:r>
          </a:p>
          <a:p>
            <a:pPr>
              <a:spcAft>
                <a:spcPts val="700"/>
              </a:spcAft>
            </a:pPr>
            <a:r>
              <a:rPr sz="1600" b="0" i="0">
                <a:solidFill>
                  <a:srgbClr val="1A1A1A"/>
                </a:solidFill>
                <a:latin typeface="Arial"/>
              </a:rPr>
              <a:t>Everything on one VM, in sandboxed containers</a:t>
            </a:r>
          </a:p>
          <a:p>
            <a:pPr>
              <a:spcAft>
                <a:spcPts val="700"/>
              </a:spcAft>
            </a:pPr>
            <a:r>
              <a:rPr sz="1600" b="0" i="0">
                <a:solidFill>
                  <a:srgbClr val="1A1A1A"/>
                </a:solidFill>
                <a:latin typeface="Arial"/>
              </a:rPr>
              <a:t>A Test CA</a:t>
            </a:r>
          </a:p>
          <a:p>
            <a:pPr>
              <a:spcAft>
                <a:spcPts val="700"/>
              </a:spcAft>
            </a:pPr>
            <a:r>
              <a:rPr sz="1600" b="0" i="0">
                <a:solidFill>
                  <a:srgbClr val="1A1A1A"/>
                </a:solidFill>
                <a:latin typeface="Arial"/>
              </a:rPr>
              <a:t>A handful of demonstration calls</a:t>
            </a:r>
          </a:p>
        </p:txBody>
      </p:sp>
      <p:sp>
        <p:nvSpPr>
          <p:cNvPr id="6" name="Rounded Rectangle 5"/>
          <p:cNvSpPr/>
          <p:nvPr/>
        </p:nvSpPr>
        <p:spPr>
          <a:xfrm>
            <a:off x="6263640"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PRODUCTION</a:t>
            </a:r>
          </a:p>
          <a:p>
            <a:pPr>
              <a:spcAft>
                <a:spcPts val="700"/>
              </a:spcAft>
            </a:pPr>
            <a:r>
              <a:rPr sz="1600" b="0" i="0">
                <a:solidFill>
                  <a:srgbClr val="1A1A1A"/>
                </a:solidFill>
                <a:latin typeface="Arial"/>
              </a:rPr>
              <a:t>Separate, sized hosts</a:t>
            </a:r>
          </a:p>
          <a:p>
            <a:pPr>
              <a:spcAft>
                <a:spcPts val="700"/>
              </a:spcAft>
            </a:pPr>
            <a:r>
              <a:rPr sz="1600" b="0" i="0">
                <a:solidFill>
                  <a:srgbClr val="1A1A1A"/>
                </a:solidFill>
                <a:latin typeface="Arial"/>
              </a:rPr>
              <a:t>A real certification authority</a:t>
            </a:r>
          </a:p>
          <a:p>
            <a:pPr>
              <a:spcAft>
                <a:spcPts val="700"/>
              </a:spcAft>
            </a:pPr>
            <a:r>
              <a:rPr sz="1600" b="0" i="0">
                <a:solidFill>
                  <a:srgbClr val="1A1A1A"/>
                </a:solidFill>
                <a:latin typeface="Arial"/>
              </a:rPr>
              <a:t>High availability and redundancy</a:t>
            </a:r>
          </a:p>
          <a:p>
            <a:pPr>
              <a:spcAft>
                <a:spcPts val="700"/>
              </a:spcAft>
            </a:pPr>
            <a:r>
              <a:rPr sz="1600" b="0" i="0">
                <a:solidFill>
                  <a:srgbClr val="1A1A1A"/>
                </a:solidFill>
                <a:latin typeface="Arial"/>
              </a:rPr>
              <a:t>Real monitoring and alerting</a:t>
            </a:r>
          </a:p>
          <a:p>
            <a:pPr>
              <a:spcAft>
                <a:spcPts val="700"/>
              </a:spcAft>
            </a:pPr>
            <a:r>
              <a:rPr sz="1600" b="0" i="0">
                <a:solidFill>
                  <a:srgbClr val="1A1A1A"/>
                </a:solidFill>
                <a:latin typeface="Arial"/>
              </a:rPr>
              <a:t>Capacity for real volumes</a:t>
            </a:r>
          </a:p>
          <a:p>
            <a:pPr>
              <a:spcAft>
                <a:spcPts val="700"/>
              </a:spcAft>
            </a:pPr>
            <a:r>
              <a:rPr sz="1600" b="0" i="0">
                <a:solidFill>
                  <a:srgbClr val="1A1A1A"/>
                </a:solidFill>
                <a:latin typeface="Arial"/>
              </a:rPr>
              <a:t>Round-the-clock operational support</a:t>
            </a:r>
          </a:p>
          <a:p>
            <a:pPr>
              <a:spcAft>
                <a:spcPts val="700"/>
              </a:spcAft>
            </a:pPr>
            <a:r>
              <a:rPr sz="1600" b="0" i="0">
                <a:solidFill>
                  <a:srgbClr val="1A1A1A"/>
                </a:solidFill>
                <a:latin typeface="Arial"/>
              </a:rPr>
              <a:t>Security hardening and audit</a:t>
            </a:r>
          </a:p>
        </p:txBody>
      </p:sp>
      <p:sp>
        <p:nvSpPr>
          <p:cNvPr id="8" name="TextBox 7"/>
          <p:cNvSpPr txBox="1"/>
          <p:nvPr/>
        </p:nvSpPr>
        <p:spPr>
          <a:xfrm>
            <a:off x="658368" y="5486400"/>
            <a:ext cx="10881360" cy="548640"/>
          </a:xfrm>
          <a:prstGeom prst="rect">
            <a:avLst/>
          </a:prstGeom>
          <a:noFill/>
        </p:spPr>
        <p:txBody>
          <a:bodyPr wrap="square">
            <a:spAutoFit/>
          </a:bodyPr>
          <a:lstStyle/>
          <a:p>
            <a:r>
              <a:rPr sz="1550" b="1" i="0">
                <a:solidFill>
                  <a:srgbClr val="006E96"/>
                </a:solidFill>
                <a:latin typeface="Arial"/>
              </a:rPr>
              <a:t>Specific, and plannable.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shape of the configuration does not change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subsystem registrations, the service descriptions, the semantic map — the same in production.</a:t>
            </a:r>
          </a:p>
          <a:p>
            <a:pPr>
              <a:spcAft>
                <a:spcPts val="1200"/>
              </a:spcAft>
            </a:pPr>
            <a:r>
              <a:rPr sz="2000" b="0" i="0">
                <a:solidFill>
                  <a:srgbClr val="1A1A1A"/>
                </a:solidFill>
                <a:latin typeface="Arial"/>
              </a:rPr>
              <a:t>Production changes the scale, the resilience and the operations around them, not the design.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Production is the same pattern, hardened — so the demonstration de-risks the build.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Retire the legacy links the bus replaces — agency by agency</a:t>
            </a:r>
          </a:p>
        </p:txBody>
      </p:sp>
      <p:cxnSp>
        <p:nvCxnSpPr>
          <p:cNvPr id="4" name="Connector 3"/>
          <p:cNvCxnSpPr/>
          <p:nvPr/>
        </p:nvCxnSpPr>
        <p:spPr>
          <a:xfrm>
            <a:off x="31661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664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668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STAND UP</a:t>
            </a:r>
          </a:p>
          <a:p>
            <a:pPr algn="l">
              <a:spcAft>
                <a:spcPts val="300"/>
              </a:spcAft>
            </a:pPr>
            <a:r>
              <a:rPr sz="1600" b="0" i="0">
                <a:solidFill>
                  <a:srgbClr val="1A1A1A"/>
                </a:solidFill>
                <a:latin typeface="Arial"/>
              </a:rPr>
              <a:t>The new once-only exchange</a:t>
            </a:r>
          </a:p>
        </p:txBody>
      </p:sp>
      <p:sp>
        <p:nvSpPr>
          <p:cNvPr id="8" name="Rounded Rectangle 7"/>
          <p:cNvSpPr/>
          <p:nvPr/>
        </p:nvSpPr>
        <p:spPr>
          <a:xfrm>
            <a:off x="345871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PARALLEL-RUN</a:t>
            </a:r>
          </a:p>
          <a:p>
            <a:pPr algn="l">
              <a:spcAft>
                <a:spcPts val="300"/>
              </a:spcAft>
            </a:pPr>
            <a:r>
              <a:rPr sz="1600" b="0" i="0">
                <a:solidFill>
                  <a:srgbClr val="1A1A1A"/>
                </a:solidFill>
                <a:latin typeface="Arial"/>
              </a:rPr>
              <a:t>Beside the agency's old point-to-point link</a:t>
            </a:r>
          </a:p>
        </p:txBody>
      </p:sp>
      <p:sp>
        <p:nvSpPr>
          <p:cNvPr id="9" name="Rounded Rectangle 8"/>
          <p:cNvSpPr/>
          <p:nvPr/>
        </p:nvSpPr>
        <p:spPr>
          <a:xfrm>
            <a:off x="62590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CONFIRM</a:t>
            </a:r>
          </a:p>
          <a:p>
            <a:pPr algn="l">
              <a:spcAft>
                <a:spcPts val="300"/>
              </a:spcAft>
            </a:pPr>
            <a:r>
              <a:rPr sz="1600" b="0" i="0">
                <a:solidFill>
                  <a:srgbClr val="1A1A1A"/>
                </a:solidFill>
                <a:latin typeface="Arial"/>
              </a:rPr>
              <a:t>The two agree</a:t>
            </a:r>
          </a:p>
        </p:txBody>
      </p:sp>
      <p:sp>
        <p:nvSpPr>
          <p:cNvPr id="10" name="Rounded Rectangle 9"/>
          <p:cNvSpPr/>
          <p:nvPr/>
        </p:nvSpPr>
        <p:spPr>
          <a:xfrm>
            <a:off x="9059418" y="1645920"/>
            <a:ext cx="248031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CUT OVER</a:t>
            </a:r>
          </a:p>
          <a:p>
            <a:pPr algn="l">
              <a:spcAft>
                <a:spcPts val="300"/>
              </a:spcAft>
            </a:pPr>
            <a:r>
              <a:rPr sz="1600" b="0" i="0">
                <a:solidFill>
                  <a:srgbClr val="FFFFFF"/>
                </a:solidFill>
                <a:latin typeface="Arial"/>
              </a:rPr>
              <a:t>Switch the consumers across, decommission the old link</a:t>
            </a:r>
          </a:p>
        </p:txBody>
      </p:sp>
      <p:sp>
        <p:nvSpPr>
          <p:cNvPr id="11" name="TextBox 10"/>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Left alone, you run both — worse than either. This is the step that ends the sprawl.</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demonstration names its own gap</a:t>
            </a:r>
          </a:p>
        </p:txBody>
      </p:sp>
      <p:sp>
        <p:nvSpPr>
          <p:cNvPr id="4" name="kp-demo-evidence"/>
          <p:cNvSpPr/>
          <p:nvPr/>
        </p:nvSpPr>
        <p:spPr>
          <a:xfrm>
            <a:off x="621792" y="1261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984687" cy="777240"/>
          </a:xfrm>
          <a:prstGeom prst="rect">
            <a:avLst/>
          </a:prstGeom>
          <a:noFill/>
        </p:spPr>
        <p:txBody>
          <a:bodyPr wrap="square">
            <a:spAutoFit/>
          </a:bodyPr>
          <a:lstStyle/>
          <a:p>
            <a:pPr>
              <a:spcAft>
                <a:spcPts val="300"/>
              </a:spcAft>
            </a:pPr>
            <a:r>
              <a:rPr sz="1600" b="1" i="0">
                <a:solidFill>
                  <a:srgbClr val="1A1A1A"/>
                </a:solidFill>
                <a:latin typeface="Arial"/>
              </a:rPr>
              <a:t>implemented</a:t>
            </a:r>
          </a:p>
          <a:p>
            <a:pPr>
              <a:spcAft>
                <a:spcPts val="300"/>
              </a:spcAft>
            </a:pPr>
            <a:r>
              <a:rPr sz="1400" b="0" i="0">
                <a:solidFill>
                  <a:srgbClr val="595959"/>
                </a:solidFill>
                <a:latin typeface="Arial"/>
              </a:rPr>
              <a:t>41 · 54%</a:t>
            </a:r>
          </a:p>
        </p:txBody>
      </p:sp>
      <p:sp>
        <p:nvSpPr>
          <p:cNvPr id="6" name="Rectangle 5"/>
          <p:cNvSpPr/>
          <p:nvPr/>
        </p:nvSpPr>
        <p:spPr>
          <a:xfrm>
            <a:off x="621792" y="2153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194560"/>
            <a:ext cx="10984687" cy="777240"/>
          </a:xfrm>
          <a:prstGeom prst="rect">
            <a:avLst/>
          </a:prstGeom>
          <a:noFill/>
        </p:spPr>
        <p:txBody>
          <a:bodyPr wrap="square">
            <a:spAutoFit/>
          </a:bodyPr>
          <a:lstStyle/>
          <a:p>
            <a:pPr>
              <a:spcAft>
                <a:spcPts val="300"/>
              </a:spcAft>
            </a:pPr>
            <a:r>
              <a:rPr sz="1600" b="1" i="0">
                <a:solidFill>
                  <a:srgbClr val="1A1A1A"/>
                </a:solidFill>
                <a:latin typeface="Arial"/>
              </a:rPr>
              <a:t>simulated</a:t>
            </a:r>
          </a:p>
          <a:p>
            <a:pPr>
              <a:spcAft>
                <a:spcPts val="300"/>
              </a:spcAft>
            </a:pPr>
            <a:r>
              <a:rPr sz="1400" b="0" i="0">
                <a:solidFill>
                  <a:srgbClr val="595959"/>
                </a:solidFill>
                <a:latin typeface="Arial"/>
              </a:rPr>
              <a:t>6 · 8%</a:t>
            </a:r>
          </a:p>
        </p:txBody>
      </p:sp>
      <p:sp>
        <p:nvSpPr>
          <p:cNvPr id="8" name="Rectangle 7"/>
          <p:cNvSpPr/>
          <p:nvPr/>
        </p:nvSpPr>
        <p:spPr>
          <a:xfrm>
            <a:off x="621792" y="29763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017520"/>
            <a:ext cx="10984687" cy="777240"/>
          </a:xfrm>
          <a:prstGeom prst="rect">
            <a:avLst/>
          </a:prstGeom>
          <a:noFill/>
        </p:spPr>
        <p:txBody>
          <a:bodyPr wrap="square">
            <a:spAutoFit/>
          </a:bodyPr>
          <a:lstStyle/>
          <a:p>
            <a:pPr>
              <a:spcAft>
                <a:spcPts val="300"/>
              </a:spcAft>
            </a:pPr>
            <a:r>
              <a:rPr sz="1600" b="1" i="0">
                <a:solidFill>
                  <a:srgbClr val="1A1A1A"/>
                </a:solidFill>
                <a:latin typeface="Arial"/>
              </a:rPr>
              <a:t>named absence</a:t>
            </a:r>
          </a:p>
          <a:p>
            <a:pPr>
              <a:spcAft>
                <a:spcPts val="300"/>
              </a:spcAft>
            </a:pPr>
            <a:r>
              <a:rPr sz="1400" b="0" i="0">
                <a:solidFill>
                  <a:srgbClr val="595959"/>
                </a:solidFill>
                <a:latin typeface="Arial"/>
              </a:rPr>
              <a:t>24 · 32%</a:t>
            </a:r>
          </a:p>
        </p:txBody>
      </p:sp>
      <p:sp>
        <p:nvSpPr>
          <p:cNvPr id="10" name="Rectangle 9"/>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840480"/>
            <a:ext cx="10984687" cy="777240"/>
          </a:xfrm>
          <a:prstGeom prst="rect">
            <a:avLst/>
          </a:prstGeom>
          <a:noFill/>
        </p:spPr>
        <p:txBody>
          <a:bodyPr wrap="square">
            <a:spAutoFit/>
          </a:bodyPr>
          <a:lstStyle/>
          <a:p>
            <a:pPr>
              <a:spcAft>
                <a:spcPts val="300"/>
              </a:spcAft>
            </a:pPr>
            <a:r>
              <a:rPr sz="1600" b="1" i="0">
                <a:solidFill>
                  <a:srgbClr val="1A1A1A"/>
                </a:solidFill>
                <a:latin typeface="Arial"/>
              </a:rPr>
              <a:t>out of scope</a:t>
            </a:r>
          </a:p>
          <a:p>
            <a:pPr>
              <a:spcAft>
                <a:spcPts val="300"/>
              </a:spcAft>
            </a:pPr>
            <a:r>
              <a:rPr sz="1400" b="0" i="0">
                <a:solidFill>
                  <a:srgbClr val="595959"/>
                </a:solidFill>
                <a:latin typeface="Arial"/>
              </a:rPr>
              <a:t>4 · 5%</a:t>
            </a:r>
          </a:p>
        </p:txBody>
      </p:sp>
      <p:sp>
        <p:nvSpPr>
          <p:cNvPr id="12" name="Rectangle 11"/>
          <p:cNvSpPr/>
          <p:nvPr/>
        </p:nvSpPr>
        <p:spPr>
          <a:xfrm>
            <a:off x="621792" y="4622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663440"/>
            <a:ext cx="10984687" cy="777240"/>
          </a:xfrm>
          <a:prstGeom prst="rect">
            <a:avLst/>
          </a:prstGeom>
          <a:noFill/>
        </p:spPr>
        <p:txBody>
          <a:bodyPr wrap="square">
            <a:spAutoFit/>
          </a:bodyPr>
          <a:lstStyle/>
          <a:p>
            <a:pPr>
              <a:spcAft>
                <a:spcPts val="300"/>
              </a:spcAft>
            </a:pPr>
            <a:r>
              <a:rPr sz="1600" b="1" i="0">
                <a:solidFill>
                  <a:srgbClr val="1A1A1A"/>
                </a:solidFill>
                <a:latin typeface="Arial"/>
              </a:rPr>
              <a:t>**total**</a:t>
            </a:r>
          </a:p>
          <a:p>
            <a:pPr>
              <a:spcAft>
                <a:spcPts val="300"/>
              </a:spcAft>
            </a:pPr>
            <a:r>
              <a:rPr sz="1400" b="0" i="0">
                <a:solidFill>
                  <a:srgbClr val="595959"/>
                </a:solidFill>
                <a:latin typeface="Arial"/>
              </a:rPr>
              <a:t>**75**</a:t>
            </a:r>
          </a:p>
        </p:txBody>
      </p:sp>
      <p:sp>
        <p:nvSpPr>
          <p:cNvPr id="14" name="TextBox 13"/>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What this demonstration is honest about: 41 implemented, 6 simulated, 24 named absences, 4 out of scope.</a:t>
            </a:r>
          </a:p>
        </p:txBody>
      </p:sp>
      <p:sp>
        <p:nvSpPr>
          <p:cNvPr id="15" name="TextBox 14"/>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Never ship the demonstration as production</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PERFECT FOR</a:t>
            </a:r>
          </a:p>
          <a:p>
            <a:pPr>
              <a:spcAft>
                <a:spcPts val="700"/>
              </a:spcAft>
            </a:pPr>
            <a:r>
              <a:rPr sz="1600" b="0" i="0">
                <a:solidFill>
                  <a:srgbClr val="1A1A1A"/>
                </a:solidFill>
                <a:latin typeface="Arial"/>
              </a:rPr>
              <a:t>Proving the pattern.</a:t>
            </a:r>
          </a:p>
          <a:p>
            <a:pPr>
              <a:spcAft>
                <a:spcPts val="700"/>
              </a:spcAft>
            </a:pPr>
            <a:r>
              <a:rPr sz="1600" b="0" i="0">
                <a:solidFill>
                  <a:srgbClr val="1A1A1A"/>
                </a:solidFill>
                <a:latin typeface="Arial"/>
              </a:rPr>
              <a:t>A sandboxed single-VM federation with a test CA.</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WRONG FOR</a:t>
            </a:r>
          </a:p>
          <a:p>
            <a:pPr>
              <a:spcAft>
                <a:spcPts val="700"/>
              </a:spcAft>
            </a:pPr>
            <a:r>
              <a:rPr sz="1600" b="0" i="0">
                <a:solidFill>
                  <a:srgbClr val="1A1A1A"/>
                </a:solidFill>
                <a:latin typeface="Arial"/>
              </a:rPr>
              <a:t>Carrying real citizen data at scale.</a:t>
            </a:r>
          </a:p>
          <a:p>
            <a:pPr>
              <a:spcAft>
                <a:spcPts val="700"/>
              </a:spcAft>
            </a:pPr>
            <a:r>
              <a:rPr sz="1600" b="0" i="0">
                <a:solidFill>
                  <a:srgbClr val="1A1A1A"/>
                </a:solidFill>
                <a:latin typeface="Arial"/>
              </a:rPr>
              <a:t>Anything a country has to run.</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Know the gap, plan it into the phased roadmap, budget it with the cost frame.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Production is the demonstration's pattern, hardened — separate hosts, a real CA, high availability, monitoring, support. Plan the gap; do not ship the demo.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the demonstration-to-production gap checklist.</a:t>
            </a:r>
          </a:p>
          <a:p>
            <a:pPr algn="l">
              <a:spcAft>
                <a:spcPts val="400"/>
              </a:spcAft>
            </a:pPr>
            <a:r>
              <a:rPr sz="1800" b="0" i="0">
                <a:solidFill>
                  <a:srgbClr val="595959"/>
                </a:solidFill>
                <a:latin typeface="Arial"/>
              </a:rPr>
              <a:t>The prompt in the companion material gives you a gap checklist mapped to the phased plan and cost frame.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production and operations guidance (niis.org)</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