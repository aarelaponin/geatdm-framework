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78" r:id="rId100"/>
    <p:sldId id="2779" r:id="rId101"/>
    <p:sldId id="2780" r:id="rId102"/>
    <p:sldId id="2781" r:id="rId103"/>
    <p:sldId id="2782" r:id="rId104"/>
    <p:sldId id="2783" r:id="rId105"/>
    <p:sldId id="2784" r:id="rId10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 Id="rId100" Type="http://schemas.openxmlformats.org/officeDocument/2006/relationships/slide" Target="slides/slide85.xml"/><Relationship Id="rId101" Type="http://schemas.openxmlformats.org/officeDocument/2006/relationships/slide" Target="slides/slide86.xml"/><Relationship Id="rId102" Type="http://schemas.openxmlformats.org/officeDocument/2006/relationships/slide" Target="slides/slide87.xml"/><Relationship Id="rId103" Type="http://schemas.openxmlformats.org/officeDocument/2006/relationships/slide" Target="slides/slide88.xml"/><Relationship Id="rId104" Type="http://schemas.openxmlformats.org/officeDocument/2006/relationships/slide" Target="slides/slide89.xml"/><Relationship Id="rId105" Type="http://schemas.openxmlformats.org/officeDocument/2006/relationships/slide" Target="slides/slide90.xml"/><Relationship Id="rId106" Type="http://schemas.openxmlformats.org/officeDocument/2006/relationships/slide" Target="slides/slide9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Everything in this knowledge product was demonstrated on education — Progressa's schools, learners and credentials. But the framework is not education-specific, and now that it runs, the most important thing a Strategist can know is exactly which parts carry to the next sector unchanged and which parts are new. Get that split right, and the second sector pays only for its own vocabularies and services.</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Split the framework in two. What carries unchanged to health, or agriculture, or social protection: the four-layer model, the decree pattern, the governance — the tiers, the RACI, the Operating Authority — the standards portfolio, and the bus itself, already built and running. What is genuinely new per sector: the semantic layer, because health speaks a different vocabulary than education, and the specific exchanges and services that sector needs. That — the vocabularies and the services — is the whole of the difference. And a word on order. This knowledge product demonstrated on education because the worked case was to hand; most countries sequence the framework the other way round. The first wave is usually tax, civil registration, the business register and health — high-volume, foundational reference data that every other sector reads — with education, justice, social protection and customs in the second wave. Whichever sector goes first pays for the platform; the rule that the next is cheaper holds either way.</a:t>
            </a:r>
          </a:p>
          <a:p/>
          <a:p>
            <a:r>
              <a:t>Production cue: the pivotal slide of this video.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And this is the re-use argument at the scale of the whole framework. The first sector pays to build the bus, the governance and the legal mandate; the second sector reuses all of it and pays only for its own semantics and services; the third reuses more still. This is exactly the whole-of-government planning logic from the very first module, now visible across sectors: build the shared platform once, and every sector after consumes it. The second sector is cheaper than the first, and the third cheaper than the second — and only a framework built deliberately, for the whole of government, makes that compounding possible. A set of separate sector projects never gets cheaper; a planned framework does.</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Portability is built in on purpose, and it is not a footnote — it is the reason an interoperability framework is worth its cost. A platform that served only education would be hard to justify; a platform that serves education first and then every other sector, each paying only for its own vocabularies and services, is the investment a strategist can defend for a decade. So when you take the next sector to your minister, bring the portability map: here is what we reuse, which is most of it, and here is the small, sector-specific part we build new. That map gets cheaper to make every time, and it is the business case for the next sector.</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So the framework you built for education is sector-portable. Most of it — the bus, the governance, the legal mandate, the standards — carries unchanged; only the vocabularies and the services are new per sector. Build the platform once, reuse it everywhere, and let every sector after the first be cheaper than the one before. That compounding re-use is the framework's lasting value.</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1.xml"/></Relationships>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5 · VIDEO 5.10</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5.10</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Carry the framework to the next sector</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The same four-layer framework stands up interoperability beyond education — the method is sector-portable, and the second sector is cheaper than the first.</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The framework was built on education. It is not education-specific.</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Know what carries to the next sector unchanged, and what is new.</a:t>
            </a:r>
          </a:p>
          <a:p>
            <a:pPr>
              <a:spcAft>
                <a:spcPts val="800"/>
              </a:spcAft>
            </a:pPr>
            <a:r>
              <a:rPr sz="1700" b="0" i="0">
                <a:solidFill>
                  <a:srgbClr val="595959"/>
                </a:solidFill>
                <a:latin typeface="Arial"/>
              </a:rPr>
              <a:t>Get that split right, and the second sector pays only for its own vocabularies and services.</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5.10 · Carry the framework to the next sector</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Two things are new per sector — the rest carries unchanged</a:t>
            </a:r>
          </a:p>
        </p:txBody>
      </p:sp>
      <p:sp>
        <p:nvSpPr>
          <p:cNvPr id="4" name="Rounded Rectangle 3"/>
          <p:cNvSpPr/>
          <p:nvPr/>
        </p:nvSpPr>
        <p:spPr>
          <a:xfrm>
            <a:off x="658368" y="1554480"/>
            <a:ext cx="5394960" cy="33832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3108960"/>
          </a:xfrm>
          <a:prstGeom prst="rect">
            <a:avLst/>
          </a:prstGeom>
          <a:noFill/>
        </p:spPr>
        <p:txBody>
          <a:bodyPr wrap="square">
            <a:spAutoFit/>
          </a:bodyPr>
          <a:lstStyle/>
          <a:p>
            <a:pPr>
              <a:spcAft>
                <a:spcPts val="700"/>
              </a:spcAft>
            </a:pPr>
            <a:r>
              <a:rPr sz="1900" b="1" i="0">
                <a:solidFill>
                  <a:srgbClr val="006E96"/>
                </a:solidFill>
                <a:latin typeface="Arial"/>
              </a:rPr>
              <a:t>CARRIES UNCHANGED</a:t>
            </a:r>
          </a:p>
          <a:p>
            <a:pPr>
              <a:spcAft>
                <a:spcPts val="700"/>
              </a:spcAft>
            </a:pPr>
            <a:r>
              <a:rPr sz="1600" b="0" i="0">
                <a:solidFill>
                  <a:srgbClr val="1A1A1A"/>
                </a:solidFill>
                <a:latin typeface="Arial"/>
              </a:rPr>
              <a:t>The four layers</a:t>
            </a:r>
          </a:p>
          <a:p>
            <a:pPr>
              <a:spcAft>
                <a:spcPts val="700"/>
              </a:spcAft>
            </a:pPr>
            <a:r>
              <a:rPr sz="1600" b="0" i="0">
                <a:solidFill>
                  <a:srgbClr val="1A1A1A"/>
                </a:solidFill>
                <a:latin typeface="Arial"/>
              </a:rPr>
              <a:t>The decree pattern</a:t>
            </a:r>
          </a:p>
          <a:p>
            <a:pPr>
              <a:spcAft>
                <a:spcPts val="700"/>
              </a:spcAft>
            </a:pPr>
            <a:r>
              <a:rPr sz="1600" b="0" i="0">
                <a:solidFill>
                  <a:srgbClr val="1A1A1A"/>
                </a:solidFill>
                <a:latin typeface="Arial"/>
              </a:rPr>
              <a:t>The governance — tiers, RACI, Operating Authority</a:t>
            </a:r>
          </a:p>
          <a:p>
            <a:pPr>
              <a:spcAft>
                <a:spcPts val="700"/>
              </a:spcAft>
            </a:pPr>
            <a:r>
              <a:rPr sz="1600" b="0" i="0">
                <a:solidFill>
                  <a:srgbClr val="1A1A1A"/>
                </a:solidFill>
                <a:latin typeface="Arial"/>
              </a:rPr>
              <a:t>The standards portfolio</a:t>
            </a:r>
          </a:p>
          <a:p>
            <a:pPr>
              <a:spcAft>
                <a:spcPts val="700"/>
              </a:spcAft>
            </a:pPr>
            <a:r>
              <a:rPr sz="1600" b="0" i="0">
                <a:solidFill>
                  <a:srgbClr val="1A1A1A"/>
                </a:solidFill>
                <a:latin typeface="Arial"/>
              </a:rPr>
              <a:t>The bus itself, already running</a:t>
            </a:r>
          </a:p>
        </p:txBody>
      </p:sp>
      <p:sp>
        <p:nvSpPr>
          <p:cNvPr id="6" name="Rounded Rectangle 5"/>
          <p:cNvSpPr/>
          <p:nvPr/>
        </p:nvSpPr>
        <p:spPr>
          <a:xfrm>
            <a:off x="6263640" y="1554480"/>
            <a:ext cx="5394960" cy="33832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3108960"/>
          </a:xfrm>
          <a:prstGeom prst="rect">
            <a:avLst/>
          </a:prstGeom>
          <a:noFill/>
        </p:spPr>
        <p:txBody>
          <a:bodyPr wrap="square">
            <a:spAutoFit/>
          </a:bodyPr>
          <a:lstStyle/>
          <a:p>
            <a:pPr>
              <a:spcAft>
                <a:spcPts val="700"/>
              </a:spcAft>
            </a:pPr>
            <a:r>
              <a:rPr sz="1900" b="1" i="0">
                <a:solidFill>
                  <a:srgbClr val="006E96"/>
                </a:solidFill>
                <a:latin typeface="Arial"/>
              </a:rPr>
              <a:t>NEW PER SECTOR</a:t>
            </a:r>
          </a:p>
          <a:p>
            <a:pPr>
              <a:spcAft>
                <a:spcPts val="700"/>
              </a:spcAft>
            </a:pPr>
            <a:r>
              <a:rPr sz="1600" b="0" i="0">
                <a:solidFill>
                  <a:srgbClr val="1A1A1A"/>
                </a:solidFill>
                <a:latin typeface="Arial"/>
              </a:rPr>
              <a:t>The semantic layer — its vocabularies</a:t>
            </a:r>
          </a:p>
          <a:p>
            <a:pPr>
              <a:spcAft>
                <a:spcPts val="700"/>
              </a:spcAft>
            </a:pPr>
            <a:r>
              <a:rPr sz="1600" b="0" i="0">
                <a:solidFill>
                  <a:srgbClr val="1A1A1A"/>
                </a:solidFill>
                <a:latin typeface="Arial"/>
              </a:rPr>
              <a:t>The specific exchanges and services</a:t>
            </a:r>
          </a:p>
        </p:txBody>
      </p:sp>
      <p:sp>
        <p:nvSpPr>
          <p:cNvPr id="8" name="TextBox 7"/>
          <p:cNvSpPr txBox="1"/>
          <p:nvPr/>
        </p:nvSpPr>
        <p:spPr>
          <a:xfrm>
            <a:off x="658368" y="5120640"/>
            <a:ext cx="10881360" cy="548640"/>
          </a:xfrm>
          <a:prstGeom prst="rect">
            <a:avLst/>
          </a:prstGeom>
          <a:noFill/>
        </p:spPr>
        <p:txBody>
          <a:bodyPr wrap="square">
            <a:spAutoFit/>
          </a:bodyPr>
          <a:lstStyle/>
          <a:p>
            <a:r>
              <a:rPr sz="1550" b="1" i="0">
                <a:solidFill>
                  <a:srgbClr val="006E96"/>
                </a:solidFill>
                <a:latin typeface="Arial"/>
              </a:rPr>
              <a:t>Whichever sector goes first pays for the platform. The next is cheaper either way.</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5.10 · Carry the framework to the next sector</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 planned framework gets cheaper with every sector</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The first sector pays for the bus, the governance and the legal mandate.</a:t>
            </a:r>
          </a:p>
          <a:p>
            <a:pPr>
              <a:spcAft>
                <a:spcPts val="1200"/>
              </a:spcAft>
            </a:pPr>
            <a:r>
              <a:rPr sz="2000" b="0" i="0">
                <a:solidFill>
                  <a:srgbClr val="1A1A1A"/>
                </a:solidFill>
                <a:latin typeface="Arial"/>
              </a:rPr>
              <a:t>The second reuses all of it and pays only for its own semantics and services; the third reuses more still.</a:t>
            </a:r>
          </a:p>
        </p:txBody>
      </p:sp>
      <p:sp>
        <p:nvSpPr>
          <p:cNvPr id="5" name="Rounded Rectangle 4"/>
          <p:cNvSpPr/>
          <p:nvPr/>
        </p:nvSpPr>
        <p:spPr>
          <a:xfrm>
            <a:off x="658368" y="3977639"/>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006E96"/>
                </a:solidFill>
                <a:latin typeface="Arial"/>
              </a:rPr>
              <a:t>A set of separate sector projects never gets cheaper.</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5.10 · Carry the framework to the next sector</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portability map is the next sector's business case</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Here is what we reuse — most of it.</a:t>
            </a:r>
          </a:p>
          <a:p>
            <a:pPr>
              <a:spcAft>
                <a:spcPts val="1200"/>
              </a:spcAft>
            </a:pPr>
            <a:r>
              <a:rPr sz="2000" b="0" i="0">
                <a:solidFill>
                  <a:srgbClr val="1A1A1A"/>
                </a:solidFill>
                <a:latin typeface="Arial"/>
              </a:rPr>
              <a:t>Here is the small, sector-specific part we build new.</a:t>
            </a:r>
          </a:p>
        </p:txBody>
      </p:sp>
      <p:sp>
        <p:nvSpPr>
          <p:cNvPr id="5" name="Rounded Rectangle 4"/>
          <p:cNvSpPr/>
          <p:nvPr/>
        </p:nvSpPr>
        <p:spPr>
          <a:xfrm>
            <a:off x="658368" y="3977639"/>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006E96"/>
                </a:solidFill>
                <a:latin typeface="Arial"/>
              </a:rPr>
              <a:t>The investment a strategist can defend for a decade.</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5.10 · Carry the framework to the next sector</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The framework is sector-portable — build the platform once, reuse it everywhere, and the next sector is cheaper than the last.</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Map your framework's sector-portable vs sector-specific parts for a new sector.</a:t>
            </a:r>
          </a:p>
          <a:p>
            <a:pPr algn="l">
              <a:spcAft>
                <a:spcPts val="400"/>
              </a:spcAft>
            </a:pPr>
            <a:r>
              <a:rPr sz="1800" b="0" i="0">
                <a:solidFill>
                  <a:srgbClr val="595959"/>
                </a:solidFill>
                <a:latin typeface="Arial"/>
              </a:rPr>
              <a:t>The prompt in the companion material gives you a sector-portability map (reused / new) plus a minister-ready business case.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5.10 · Carry the framework to the next sector</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Terms of Reference §4.4 — sector portability</a:t>
            </a:r>
          </a:p>
          <a:p>
            <a:pPr>
              <a:spcAft>
                <a:spcPts val="1200"/>
              </a:spcAft>
            </a:pPr>
            <a:r>
              <a:rPr sz="1700" b="0" i="0">
                <a:solidFill>
                  <a:srgbClr val="1A1A1A"/>
                </a:solidFill>
                <a:latin typeface="Arial"/>
              </a:rPr>
              <a:t>•  EU European Interoperability Framework — the four-layer model</a:t>
            </a:r>
          </a:p>
          <a:p>
            <a:pPr>
              <a:spcAft>
                <a:spcPts val="1200"/>
              </a:spcAft>
            </a:pPr>
            <a:r>
              <a:rPr sz="1700" b="0" i="0">
                <a:solidFill>
                  <a:srgbClr val="1A1A1A"/>
                </a:solidFill>
                <a:latin typeface="Arial"/>
              </a:rPr>
              <a:t>•  PAERA v1.0 — §3.4.3 (Interoperability framing)</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5.10 · Carry the framework to the next sector</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