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3" r:id="rId65"/>
    <p:sldId id="2744" r:id="rId66"/>
    <p:sldId id="2745" r:id="rId67"/>
    <p:sldId id="2746" r:id="rId68"/>
    <p:sldId id="2747" r:id="rId69"/>
    <p:sldId id="2748" r:id="rId70"/>
    <p:sldId id="2749" r:id="rId71"/>
    <p:sldId id="2750" r:id="rId72"/>
    <p:sldId id="2751"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exchange the whole framework exists for: the examination authority issues a credential and fetches the learner's identity and enrolment itself, asking the learner once. What follows was recorded from the running federation.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call on screen. The examination authority, PNEA, receives a learner's credential application. Without once-only, PNEA would ask the learner for paper proof of identity and of enrolment. With it, PNEA fetches the identity from the identity authority, PNIA, and the enrolment from the learner registry, PLR, over the bus.</a:t>
            </a:r>
          </a:p>
          <a:p/>
          <a:p>
            <a:r>
              <a:t>Production cue: the picture of what the recording shows. The frames that follow map onto these boxes.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form before and after the call. Before, ten rows, all blank: ten questions the learner answers, and two sets of paper proof. Once PNEA has the learner's national ID, nine rows fill in: five from the identity authority, PNIA, four from the learner registry, PLR, each labelled with its source. One question asked, nine fetched.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second tab reads the exchange by layer. In the legal pane, the identity authority, PNIA, sends five fields and names three it holds but withholds: a mother's name, a birth registration number, an address. The purpose does not need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C6-break-restore.mp4</a:t>
            </a:r>
          </a:p>
          <a:p/>
          <a:p>
            <a:r>
              <a:t>VO: Third, permission. Asked the identical question, the examination authority, PNEA, is allowed, and the learner registry, PLR, is refused by the identity authority's access list. Then the operator withdraws the examination authority's permission: within seconds the identity rows are denied while the enrolment rows still fill. Restore it, and the form is whole. Being on the bus is not permission.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record and the proof. The exchange is written to disk as the assembled application, one line per field with its source; the national ID is the only line the citizen supplied. And the acceptance script runs the exchange as six checks: the call, the right learner, asked once, the denial, a clean not-found, and field conformance. All six pass: the technical half of go-live approval.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exchange is shown, not explained: one field asked, nine fetched, only what the purpose needs, a denial the access list enforces, six checks green. That is the framework, running.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the once-only exchange, live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PNEA issues a credential and pre-fills identity from PNIA and enrolment from PLR — a real cross-server call, the data asked once.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 and a recorded demonstration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moment the whole framework exists for.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examination authority asks the learner once and fetches the rest.</a:t>
            </a:r>
          </a:p>
          <a:p>
            <a:pPr>
              <a:spcAft>
                <a:spcPts val="800"/>
              </a:spcAft>
            </a:pPr>
            <a:r>
              <a:rPr sz="1700" b="0" i="0">
                <a:solidFill>
                  <a:srgbClr val="595959"/>
                </a:solidFill>
                <a:latin typeface="Arial"/>
              </a:rPr>
              <a:t>Recorded from the running federation, exactly as it ran.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call — identity from PNIA, enrolment from PLR</a:t>
            </a:r>
          </a:p>
        </p:txBody>
      </p:sp>
      <p:cxnSp>
        <p:nvCxnSpPr>
          <p:cNvPr id="4" name="Connector 3"/>
          <p:cNvCxnSpPr/>
          <p:nvPr/>
        </p:nvCxnSpPr>
        <p:spPr>
          <a:xfrm>
            <a:off x="2990088" y="3429000"/>
            <a:ext cx="512064" cy="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6629400" y="23317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629400" y="39319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629400" y="3246120"/>
            <a:ext cx="1463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i="0">
                <a:solidFill>
                  <a:srgbClr val="006E96"/>
                </a:solidFill>
                <a:latin typeface="Arial"/>
              </a:rPr>
              <a:t>over the bus</a:t>
            </a:r>
          </a:p>
        </p:txBody>
      </p:sp>
      <p:sp>
        <p:nvSpPr>
          <p:cNvPr id="8" name="Rounded Rectangle 7"/>
          <p:cNvSpPr/>
          <p:nvPr/>
        </p:nvSpPr>
        <p:spPr>
          <a:xfrm>
            <a:off x="658368" y="2377440"/>
            <a:ext cx="2286000" cy="2103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LEARNER</a:t>
            </a:r>
          </a:p>
          <a:p>
            <a:pPr algn="l">
              <a:spcAft>
                <a:spcPts val="300"/>
              </a:spcAft>
            </a:pPr>
            <a:r>
              <a:rPr sz="1600" b="0" i="0">
                <a:solidFill>
                  <a:srgbClr val="1A1A1A"/>
                </a:solidFill>
                <a:latin typeface="Arial"/>
              </a:rPr>
              <a:t>Applies for a credential</a:t>
            </a:r>
          </a:p>
          <a:p>
            <a:pPr algn="l">
              <a:spcAft>
                <a:spcPts val="300"/>
              </a:spcAft>
            </a:pPr>
            <a:r>
              <a:rPr sz="1600" b="0" i="0">
                <a:solidFill>
                  <a:srgbClr val="1A1A1A"/>
                </a:solidFill>
                <a:latin typeface="Arial"/>
              </a:rPr>
              <a:t>Gives a national ID — once</a:t>
            </a:r>
          </a:p>
        </p:txBody>
      </p:sp>
      <p:sp>
        <p:nvSpPr>
          <p:cNvPr id="9" name="Rounded Rectangle 8"/>
          <p:cNvSpPr/>
          <p:nvPr/>
        </p:nvSpPr>
        <p:spPr>
          <a:xfrm>
            <a:off x="3566160" y="2011680"/>
            <a:ext cx="301752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FFFFFF"/>
                </a:solidFill>
                <a:latin typeface="Arial"/>
              </a:rPr>
              <a:t>PNEA</a:t>
            </a:r>
          </a:p>
          <a:p>
            <a:pPr algn="l">
              <a:spcAft>
                <a:spcPts val="300"/>
              </a:spcAft>
            </a:pPr>
            <a:r>
              <a:rPr sz="1700" b="0" i="0">
                <a:solidFill>
                  <a:srgbClr val="FFFFFF"/>
                </a:solidFill>
                <a:latin typeface="Arial"/>
              </a:rPr>
              <a:t>The examination authority</a:t>
            </a:r>
          </a:p>
          <a:p>
            <a:pPr algn="l">
              <a:spcAft>
                <a:spcPts val="300"/>
              </a:spcAft>
            </a:pPr>
            <a:r>
              <a:rPr sz="1700" b="0" i="0">
                <a:solidFill>
                  <a:srgbClr val="FFFFFF"/>
                </a:solidFill>
                <a:latin typeface="Arial"/>
              </a:rPr>
              <a:t>Pre-fills the application — no paper proof</a:t>
            </a:r>
          </a:p>
        </p:txBody>
      </p:sp>
      <p:sp>
        <p:nvSpPr>
          <p:cNvPr id="10" name="Rounded Rectangle 9"/>
          <p:cNvSpPr/>
          <p:nvPr/>
        </p:nvSpPr>
        <p:spPr>
          <a:xfrm>
            <a:off x="8183879" y="155448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PNIA</a:t>
            </a:r>
          </a:p>
          <a:p>
            <a:pPr algn="l">
              <a:spcAft>
                <a:spcPts val="300"/>
              </a:spcAft>
            </a:pPr>
            <a:r>
              <a:rPr sz="1700" b="0" i="0">
                <a:solidFill>
                  <a:srgbClr val="1A1A1A"/>
                </a:solidFill>
                <a:latin typeface="Arial"/>
              </a:rPr>
              <a:t>The identity authority</a:t>
            </a:r>
          </a:p>
          <a:p>
            <a:pPr algn="l">
              <a:spcAft>
                <a:spcPts val="300"/>
              </a:spcAft>
            </a:pPr>
            <a:r>
              <a:rPr sz="1700" b="0" i="0">
                <a:solidFill>
                  <a:srgbClr val="1A1A1A"/>
                </a:solidFill>
                <a:latin typeface="Arial"/>
              </a:rPr>
              <a:t>Returns the identity</a:t>
            </a:r>
          </a:p>
        </p:txBody>
      </p:sp>
      <p:sp>
        <p:nvSpPr>
          <p:cNvPr id="11" name="Rounded Rectangle 10"/>
          <p:cNvSpPr/>
          <p:nvPr/>
        </p:nvSpPr>
        <p:spPr>
          <a:xfrm>
            <a:off x="8183879" y="370332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PLR</a:t>
            </a:r>
          </a:p>
          <a:p>
            <a:pPr algn="l">
              <a:spcAft>
                <a:spcPts val="300"/>
              </a:spcAft>
            </a:pPr>
            <a:r>
              <a:rPr sz="1700" b="0" i="0">
                <a:solidFill>
                  <a:srgbClr val="1A1A1A"/>
                </a:solidFill>
                <a:latin typeface="Arial"/>
              </a:rPr>
              <a:t>The learner registry</a:t>
            </a:r>
          </a:p>
          <a:p>
            <a:pPr algn="l">
              <a:spcAft>
                <a:spcPts val="300"/>
              </a:spcAft>
            </a:pPr>
            <a:r>
              <a:rPr sz="1700" b="0" i="0">
                <a:solidFill>
                  <a:srgbClr val="1A1A1A"/>
                </a:solidFill>
                <a:latin typeface="Arial"/>
              </a:rPr>
              <a:t>Returns the enrolment</a:t>
            </a:r>
          </a:p>
        </p:txBody>
      </p:sp>
      <p:sp>
        <p:nvSpPr>
          <p:cNvPr id="12" name="TextBox 11"/>
          <p:cNvSpPr txBox="1"/>
          <p:nvPr/>
        </p:nvSpPr>
        <p:spPr>
          <a:xfrm>
            <a:off x="658368" y="5577840"/>
            <a:ext cx="10881360" cy="548640"/>
          </a:xfrm>
          <a:prstGeom prst="rect">
            <a:avLst/>
          </a:prstGeom>
          <a:noFill/>
        </p:spPr>
        <p:txBody>
          <a:bodyPr wrap="square">
            <a:spAutoFit/>
          </a:bodyPr>
          <a:lstStyle/>
          <a:p>
            <a:r>
              <a:rPr sz="1550" b="1" i="0">
                <a:solidFill>
                  <a:srgbClr val="006E96"/>
                </a:solidFill>
                <a:latin typeface="Arial"/>
              </a:rPr>
              <a:t>Without once-only, the learner brings paper proof of both. With it, the learner is asked once.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First: ten blank rows, then nine filled</a:t>
            </a:r>
          </a:p>
        </p:txBody>
      </p:sp>
      <p:pic>
        <p:nvPicPr>
          <p:cNvPr id="4" name="kp-demo-evidence" descr="C2-after.png"/>
          <p:cNvPicPr>
            <a:picLocks noChangeAspect="1"/>
          </p:cNvPicPr>
          <p:nvPr/>
        </p:nvPicPr>
        <p:blipFill>
          <a:blip r:embed="rId2"/>
          <a:stretch>
            <a:fillRect/>
          </a:stretch>
        </p:blipFill>
        <p:spPr>
          <a:xfrm>
            <a:off x="3411648" y="1097280"/>
            <a:ext cx="5374798"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Ten blank rows before the call; nine filled after it, each labelled with its source.</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Second: what PNIA sends — and what it withholds</a:t>
            </a:r>
          </a:p>
        </p:txBody>
      </p:sp>
      <p:pic>
        <p:nvPicPr>
          <p:cNvPr id="4" name="kp-demo-evidence" descr="C4-layers.png"/>
          <p:cNvPicPr>
            <a:picLocks noChangeAspect="1"/>
          </p:cNvPicPr>
          <p:nvPr/>
        </p:nvPicPr>
        <p:blipFill>
          <a:blip r:embed="rId2"/>
          <a:stretch>
            <a:fillRect/>
          </a:stretch>
        </p:blipFill>
        <p:spPr>
          <a:xfrm>
            <a:off x="475488" y="2282505"/>
            <a:ext cx="11247120" cy="2064388"/>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Legal, organisational, semantic, technical — read off the live response.</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Third: allowed, refused, then cut off</a:t>
            </a:r>
          </a:p>
        </p:txBody>
      </p:sp>
      <p:pic>
        <p:nvPicPr>
          <p:cNvPr id="4" name="kp-demo-evidence" descr="C6-break-restore.png"/>
          <p:cNvPicPr>
            <a:picLocks noChangeAspect="1"/>
          </p:cNvPicPr>
          <p:nvPr/>
        </p:nvPicPr>
        <p:blipFill>
          <a:blip r:embed="rId2"/>
          <a:stretch>
            <a:fillRect/>
          </a:stretch>
        </p:blipFill>
        <p:spPr>
          <a:xfrm>
            <a:off x="2600452" y="1097280"/>
            <a:ext cx="6997192"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Asked twice: allowed, refused. Grant withdrawn: the identity half fails, enrolment still fills.</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Fourth: on disk, and six checks green</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1200" b="0" i="0">
                <a:solidFill>
                  <a:srgbClr val="1A1A1A"/>
                </a:solidFill>
                <a:latin typeface="Courier New"/>
              </a:rPr>
              <a:t>out/application-02831663233.json — the assembled application, one line per field</a:t>
            </a:r>
          </a:p>
          <a:p>
            <a:r>
              <a:rPr sz="1200" b="0" i="0">
                <a:solidFill>
                  <a:srgbClr val="1A1A1A"/>
                </a:solidFill>
                <a:latin typeface="Courier New"/>
              </a:rPr>
              <a:t/>
            </a:r>
          </a:p>
          <a:p>
            <a:r>
              <a:rPr sz="1200" b="0" i="0">
                <a:solidFill>
                  <a:srgbClr val="1A1A1A"/>
                </a:solidFill>
                <a:latin typeface="Courier New"/>
              </a:rPr>
              <a:t>field           value                          source</a:t>
            </a:r>
          </a:p>
          <a:p>
            <a:r>
              <a:rPr sz="1200" b="0" i="0">
                <a:solidFill>
                  <a:srgbClr val="1A1A1A"/>
                </a:solidFill>
                <a:latin typeface="Courier New"/>
              </a:rPr>
              <a:t>nin             02831663233                    citizen — the one thing asked</a:t>
            </a:r>
          </a:p>
          <a:p>
            <a:r>
              <a:rPr sz="1200" b="0" i="0">
                <a:solidFill>
                  <a:srgbClr val="1A1A1A"/>
                </a:solidFill>
                <a:latin typeface="Courier New"/>
              </a:rPr>
              <a:t>given_name      Bakary                         PNIA identity-api over the bus</a:t>
            </a:r>
          </a:p>
          <a:p>
            <a:r>
              <a:rPr sz="1200" b="0" i="0">
                <a:solidFill>
                  <a:srgbClr val="1A1A1A"/>
                </a:solidFill>
                <a:latin typeface="Courier New"/>
              </a:rPr>
              <a:t>family_name     Faal                           PNIA identity-api over the bus</a:t>
            </a:r>
          </a:p>
          <a:p>
            <a:r>
              <a:rPr sz="1200" b="0" i="0">
                <a:solidFill>
                  <a:srgbClr val="1A1A1A"/>
                </a:solidFill>
                <a:latin typeface="Courier New"/>
              </a:rPr>
              <a:t>date_of_birth   2009-04-12                     PNIA identity-api over the bus</a:t>
            </a:r>
          </a:p>
          <a:p>
            <a:r>
              <a:rPr sz="1200" b="0" i="0">
                <a:solidFill>
                  <a:srgbClr val="1A1A1A"/>
                </a:solidFill>
                <a:latin typeface="Courier New"/>
              </a:rPr>
              <a:t>sex             M                              PNIA identity-api over the bus</a:t>
            </a:r>
          </a:p>
          <a:p>
            <a:r>
              <a:rPr sz="1200" b="0" i="0">
                <a:solidFill>
                  <a:srgbClr val="1A1A1A"/>
                </a:solidFill>
                <a:latin typeface="Courier New"/>
              </a:rPr>
              <a:t>region          Upper River                    PNIA identity-api over the bus</a:t>
            </a:r>
          </a:p>
          <a:p>
            <a:r>
              <a:rPr sz="1200" b="0" i="0">
                <a:solidFill>
                  <a:srgbClr val="1A1A1A"/>
                </a:solidFill>
                <a:latin typeface="Courier New"/>
              </a:rPr>
              <a:t>school          Basse Senior Secondary School  PLR enrolment-api over the bus</a:t>
            </a:r>
          </a:p>
          <a:p>
            <a:r>
              <a:rPr sz="1200" b="0" i="0">
                <a:solidFill>
                  <a:srgbClr val="1A1A1A"/>
                </a:solidFill>
                <a:latin typeface="Courier New"/>
              </a:rPr>
              <a:t>level           Senior Secondary               PLR enrolment-api over the bus</a:t>
            </a:r>
          </a:p>
          <a:p>
            <a:r>
              <a:rPr sz="1200" b="0" i="0">
                <a:solidFill>
                  <a:srgbClr val="1A1A1A"/>
                </a:solidFill>
                <a:latin typeface="Courier New"/>
              </a:rPr>
              <a:t>enrolment_year  2024                           PLR enrolment-api over the bus</a:t>
            </a:r>
          </a:p>
          <a:p>
            <a:r>
              <a:rPr sz="1200" b="0" i="0">
                <a:solidFill>
                  <a:srgbClr val="1A1A1A"/>
                </a:solidFill>
                <a:latin typeface="Courier New"/>
              </a:rPr>
              <a:t>status          active                         PLR enrolment-api over the bus</a:t>
            </a:r>
          </a:p>
          <a:p>
            <a:r>
              <a:rPr sz="1200" b="0" i="0">
                <a:solidFill>
                  <a:srgbClr val="1A1A1A"/>
                </a:solidFill>
                <a:latin typeface="Courier New"/>
              </a:rPr>
              <a:t/>
            </a:r>
          </a:p>
          <a:p>
            <a:r>
              <a:rPr sz="1200" b="0" i="0">
                <a:solidFill>
                  <a:srgbClr val="1A1A1A"/>
                </a:solidFill>
                <a:latin typeface="Courier New"/>
              </a:rPr>
              <a:t>$ scripts/acceptance.sh --summary --only 2.6</a:t>
            </a:r>
          </a:p>
          <a:p>
            <a:r>
              <a:rPr sz="1200" b="0" i="0">
                <a:solidFill>
                  <a:srgbClr val="1A1A1A"/>
                </a:solidFill>
                <a:latin typeface="Courier New"/>
              </a:rPr>
              <a:t>2.6.1  PASS  happy path — both cross-server calls resolve</a:t>
            </a:r>
          </a:p>
          <a:p>
            <a:r>
              <a:rPr sz="1200" b="0" i="0">
                <a:solidFill>
                  <a:srgbClr val="1A1A1A"/>
                </a:solidFill>
                <a:latin typeface="Courier New"/>
              </a:rPr>
              <a:t>2.6.2  PASS  right learner — fields match the seeded record</a:t>
            </a:r>
          </a:p>
          <a:p>
            <a:r>
              <a:rPr sz="1200" b="0" i="0">
                <a:solidFill>
                  <a:srgbClr val="1A1A1A"/>
                </a:solidFill>
                <a:latin typeface="Courier New"/>
              </a:rPr>
              <a:t>2.6.3  PASS  asked once — NIN is the only citizen field; bus pre-fills exactly the rest</a:t>
            </a:r>
          </a:p>
          <a:p>
            <a:r>
              <a:rPr sz="1200" b="0" i="0">
                <a:solidFill>
                  <a:srgbClr val="1A1A1A"/>
                </a:solidFill>
                <a:latin typeface="Courier New"/>
              </a:rPr>
              <a:t>2.6.4  PASS  negative — PROGRESSA/GOV/PLR/ENROLMENT (via its own SS ss-plr) denied by the provider ACL</a:t>
            </a:r>
          </a:p>
          <a:p>
            <a:r>
              <a:rPr sz="1200" b="0" i="0">
                <a:solidFill>
                  <a:srgbClr val="1A1A1A"/>
                </a:solidFill>
                <a:latin typeface="Courier New"/>
              </a:rPr>
              <a:t>2.6.5  PASS  negative — NIN absent from PLR yields a clean 404, not silence</a:t>
            </a:r>
          </a:p>
          <a:p>
            <a:r>
              <a:rPr sz="1200" b="0" i="0">
                <a:solidFill>
                  <a:srgbClr val="1A1A1A"/>
                </a:solidFill>
                <a:latin typeface="Courier New"/>
              </a:rPr>
              <a:t>2.6.6  PASS  field conformance — both responses carry exactly the fields their contract declares (G5.9)</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The application on disk, every field's source; checks 2.6.1 to 2.6.6 green.</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One field asked, nine fetched, only what the purpose needs — and six acceptance checks green.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Script and verify the once-only exchange (the acceptance check).</a:t>
            </a:r>
          </a:p>
          <a:p>
            <a:pPr algn="l">
              <a:spcAft>
                <a:spcPts val="400"/>
              </a:spcAft>
            </a:pPr>
            <a:r>
              <a:rPr sz="1800" b="0" i="0">
                <a:solidFill>
                  <a:srgbClr val="595959"/>
                </a:solidFill>
                <a:latin typeface="Arial"/>
              </a:rPr>
              <a:t>The prompt in the companion material gives you a given/when/then acceptance script with a negative check, mapped to the four layers.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NIIS X-Road (niis.org)</a:t>
            </a:r>
          </a:p>
          <a:p>
            <a:pPr>
              <a:spcAft>
                <a:spcPts val="1200"/>
              </a:spcAft>
            </a:pPr>
            <a:r>
              <a:rPr sz="1700" b="0" i="0">
                <a:solidFill>
                  <a:srgbClr val="1A1A1A"/>
                </a:solidFill>
                <a:latin typeface="Arial"/>
              </a:rPr>
              <a:t>•  The Linkup demonstration federation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