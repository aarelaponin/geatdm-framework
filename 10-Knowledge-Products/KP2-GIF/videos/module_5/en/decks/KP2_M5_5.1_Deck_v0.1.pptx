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  <p:sldMasterId id="2147483709" r:id="rId5"/>
    <p:sldMasterId id="2147483713" r:id="rId6"/>
    <p:sldMasterId id="2147483691" r:id="rId7"/>
  </p:sldMasterIdLst>
  <p:notesMasterIdLst>
    <p:notesMasterId r:id="rId46"/>
  </p:notesMasterIdLst>
  <p:handoutMasterIdLst>
    <p:handoutMasterId r:id="rId47"/>
  </p:handoutMasterIdLst>
  <p:sldIdLst>
    <p:sldId id="2696" r:id="rId18"/>
    <p:sldId id="2697" r:id="rId19"/>
    <p:sldId id="2698" r:id="rId20"/>
    <p:sldId id="2699" r:id="rId21"/>
    <p:sldId id="2700" r:id="rId22"/>
    <p:sldId id="2701" r:id="rId23"/>
    <p:sldId id="2702" r:id="rId24"/>
    <p:sldId id="2703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6A6A6"/>
    <a:srgbClr val="0083B3"/>
    <a:srgbClr val="9D26FF"/>
    <a:srgbClr val="0076A1"/>
    <a:srgbClr val="FFFFFF"/>
    <a:srgbClr val="009CD6"/>
    <a:srgbClr val="A5A5A5"/>
    <a:srgbClr val="757070"/>
    <a:srgbClr val="6F6F6E"/>
    <a:srgbClr val="F5FA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CBC4942-2EA4-48B8-A075-B5F2ABFFFDF6}" v="10" dt="2026-07-22T19:37:31.02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1" d="100"/>
          <a:sy n="71" d="100"/>
        </p:scale>
        <p:origin x="412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4" d="100"/>
          <a:sy n="124" d="100"/>
        </p:scale>
        <p:origin x="4188" y="88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18" Type="http://schemas.openxmlformats.org/officeDocument/2006/relationships/slide" Target="slides/slide3.xml"/><Relationship Id="rId19" Type="http://schemas.openxmlformats.org/officeDocument/2006/relationships/slide" Target="slides/slide4.xml"/><Relationship Id="rId20" Type="http://schemas.openxmlformats.org/officeDocument/2006/relationships/slide" Target="slides/slide5.xml"/><Relationship Id="rId21" Type="http://schemas.openxmlformats.org/officeDocument/2006/relationships/slide" Target="slides/slide6.xml"/><Relationship Id="rId22" Type="http://schemas.openxmlformats.org/officeDocument/2006/relationships/slide" Target="slides/slide7.xml"/><Relationship Id="rId23" Type="http://schemas.openxmlformats.org/officeDocument/2006/relationships/slide" Target="slides/slide8.xml"/><Relationship Id="rId24" Type="http://schemas.openxmlformats.org/officeDocument/2006/relationships/slide" Target="slides/slide9.xml"/><Relationship Id="rId25" Type="http://schemas.openxmlformats.org/officeDocument/2006/relationships/slide" Target="slides/slide10.xml"/><Relationship Id="rId46" Type="http://schemas.openxmlformats.org/officeDocument/2006/relationships/notesMaster" Target="notesMasters/notesMaster1.xml"/><Relationship Id="rId47" Type="http://schemas.openxmlformats.org/officeDocument/2006/relationships/handoutMaster" Target="handoutMasters/handout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Relationship Id="rId52" Type="http://schemas.microsoft.com/office/2016/11/relationships/changesInfo" Target="changesInfos/changesInfo1.xml"/><Relationship Id="rId5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selmino, Carolina" userId="5c3f6dd0-fb53-498d-9f5e-392bc2a3ffc7" providerId="ADAL" clId="{E38CDB5B-0F14-49C4-839B-AE81B7033013}"/>
    <pc:docChg chg="undo custSel addSld delSld modSld">
      <pc:chgData name="Anselmino, Carolina" userId="5c3f6dd0-fb53-498d-9f5e-392bc2a3ffc7" providerId="ADAL" clId="{E38CDB5B-0F14-49C4-839B-AE81B7033013}" dt="2026-07-22T19:37:31.024" v="702" actId="164"/>
      <pc:docMkLst>
        <pc:docMk/>
      </pc:docMkLst>
      <pc:sldChg chg="modSp mod">
        <pc:chgData name="Anselmino, Carolina" userId="5c3f6dd0-fb53-498d-9f5e-392bc2a3ffc7" providerId="ADAL" clId="{E38CDB5B-0F14-49C4-839B-AE81B7033013}" dt="2026-07-22T11:43:29.600" v="14" actId="1076"/>
        <pc:sldMkLst>
          <pc:docMk/>
          <pc:sldMk cId="1405143857" sldId="280"/>
        </pc:sldMkLst>
        <pc:spChg chg="mod">
          <ac:chgData name="Anselmino, Carolina" userId="5c3f6dd0-fb53-498d-9f5e-392bc2a3ffc7" providerId="ADAL" clId="{E38CDB5B-0F14-49C4-839B-AE81B7033013}" dt="2026-07-22T11:43:19.760" v="12" actId="1076"/>
          <ac:spMkLst>
            <pc:docMk/>
            <pc:sldMk cId="1405143857" sldId="280"/>
            <ac:spMk id="45" creationId="{1FF21F3A-03EB-4BF7-B952-9FA7182F69DE}"/>
          </ac:spMkLst>
        </pc:spChg>
        <pc:grpChg chg="mod">
          <ac:chgData name="Anselmino, Carolina" userId="5c3f6dd0-fb53-498d-9f5e-392bc2a3ffc7" providerId="ADAL" clId="{E38CDB5B-0F14-49C4-839B-AE81B7033013}" dt="2026-07-22T11:43:29.600" v="14" actId="1076"/>
          <ac:grpSpMkLst>
            <pc:docMk/>
            <pc:sldMk cId="1405143857" sldId="280"/>
            <ac:grpSpMk id="44" creationId="{B8FF808C-B389-4C00-87CD-F61A6779EE7C}"/>
          </ac:grpSpMkLst>
        </pc:grpChg>
      </pc:sldChg>
      <pc:sldChg chg="addSp delSp modSp mod">
        <pc:chgData name="Anselmino, Carolina" userId="5c3f6dd0-fb53-498d-9f5e-392bc2a3ffc7" providerId="ADAL" clId="{E38CDB5B-0F14-49C4-839B-AE81B7033013}" dt="2026-07-22T19:37:31.024" v="702" actId="164"/>
        <pc:sldMkLst>
          <pc:docMk/>
          <pc:sldMk cId="1196800265" sldId="2681"/>
        </pc:sldMkLst>
        <pc:spChg chg="mod">
          <ac:chgData name="Anselmino, Carolina" userId="5c3f6dd0-fb53-498d-9f5e-392bc2a3ffc7" providerId="ADAL" clId="{E38CDB5B-0F14-49C4-839B-AE81B7033013}" dt="2026-07-22T11:44:01.404" v="22" actId="12788"/>
          <ac:spMkLst>
            <pc:docMk/>
            <pc:sldMk cId="1196800265" sldId="2681"/>
            <ac:spMk id="9" creationId="{A74A033E-F2C4-63F1-935E-B0E00C34458D}"/>
          </ac:spMkLst>
        </pc:spChg>
        <pc:spChg chg="mod">
          <ac:chgData name="Anselmino, Carolina" userId="5c3f6dd0-fb53-498d-9f5e-392bc2a3ffc7" providerId="ADAL" clId="{E38CDB5B-0F14-49C4-839B-AE81B7033013}" dt="2026-07-22T11:46:41.299" v="210" actId="20577"/>
          <ac:spMkLst>
            <pc:docMk/>
            <pc:sldMk cId="1196800265" sldId="2681"/>
            <ac:spMk id="12" creationId="{EEB08032-CE0E-4986-AEDF-A41026C0E8B9}"/>
          </ac:spMkLst>
        </pc:spChg>
        <pc:spChg chg="add mod">
          <ac:chgData name="Anselmino, Carolina" userId="5c3f6dd0-fb53-498d-9f5e-392bc2a3ffc7" providerId="ADAL" clId="{E38CDB5B-0F14-49C4-839B-AE81B7033013}" dt="2026-07-22T11:46:31.178" v="195" actId="20577"/>
          <ac:spMkLst>
            <pc:docMk/>
            <pc:sldMk cId="1196800265" sldId="2681"/>
            <ac:spMk id="14" creationId="{B5087B80-3EE4-1881-0130-ED58CA625092}"/>
          </ac:spMkLst>
        </pc:spChg>
        <pc:spChg chg="add mod">
          <ac:chgData name="Anselmino, Carolina" userId="5c3f6dd0-fb53-498d-9f5e-392bc2a3ffc7" providerId="ADAL" clId="{E38CDB5B-0F14-49C4-839B-AE81B7033013}" dt="2026-07-22T11:51:15.375" v="432" actId="20577"/>
          <ac:spMkLst>
            <pc:docMk/>
            <pc:sldMk cId="1196800265" sldId="2681"/>
            <ac:spMk id="17" creationId="{5E8796F7-DD26-D250-5E97-B38B22298E72}"/>
          </ac:spMkLst>
        </pc:spChg>
        <pc:spChg chg="add mod">
          <ac:chgData name="Anselmino, Carolina" userId="5c3f6dd0-fb53-498d-9f5e-392bc2a3ffc7" providerId="ADAL" clId="{E38CDB5B-0F14-49C4-839B-AE81B7033013}" dt="2026-07-22T19:37:31.024" v="702" actId="164"/>
          <ac:spMkLst>
            <pc:docMk/>
            <pc:sldMk cId="1196800265" sldId="2681"/>
            <ac:spMk id="19" creationId="{352ECD8B-4B24-AB9F-BF07-5E33A295F52D}"/>
          </ac:spMkLst>
        </pc:spChg>
        <pc:grpChg chg="add mod">
          <ac:chgData name="Anselmino, Carolina" userId="5c3f6dd0-fb53-498d-9f5e-392bc2a3ffc7" providerId="ADAL" clId="{E38CDB5B-0F14-49C4-839B-AE81B7033013}" dt="2026-07-22T19:37:31.024" v="702" actId="164"/>
          <ac:grpSpMkLst>
            <pc:docMk/>
            <pc:sldMk cId="1196800265" sldId="2681"/>
            <ac:grpSpMk id="8" creationId="{759E7638-035C-C837-D321-A8C06D48B5DC}"/>
          </ac:grpSpMkLst>
        </pc:grpChg>
        <pc:grpChg chg="add mod">
          <ac:chgData name="Anselmino, Carolina" userId="5c3f6dd0-fb53-498d-9f5e-392bc2a3ffc7" providerId="ADAL" clId="{E38CDB5B-0F14-49C4-839B-AE81B7033013}" dt="2026-07-22T19:37:31.024" v="702" actId="164"/>
          <ac:grpSpMkLst>
            <pc:docMk/>
            <pc:sldMk cId="1196800265" sldId="2681"/>
            <ac:grpSpMk id="20" creationId="{0D0761BD-2F2F-6D79-B3EF-A531E092890D}"/>
          </ac:grpSpMkLst>
        </pc:grpChg>
        <pc:picChg chg="add del">
          <ac:chgData name="Anselmino, Carolina" userId="5c3f6dd0-fb53-498d-9f5e-392bc2a3ffc7" providerId="ADAL" clId="{E38CDB5B-0F14-49C4-839B-AE81B7033013}" dt="2026-07-22T11:42:32.545" v="4" actId="478"/>
          <ac:picMkLst>
            <pc:docMk/>
            <pc:sldMk cId="1196800265" sldId="2681"/>
            <ac:picMk id="3" creationId="{49CB780D-15A3-48FD-506A-45097B8C84EF}"/>
          </ac:picMkLst>
        </pc:picChg>
        <pc:picChg chg="add mod">
          <ac:chgData name="Anselmino, Carolina" userId="5c3f6dd0-fb53-498d-9f5e-392bc2a3ffc7" providerId="ADAL" clId="{E38CDB5B-0F14-49C4-839B-AE81B7033013}" dt="2026-07-22T11:42:43.855" v="6" actId="1076"/>
          <ac:picMkLst>
            <pc:docMk/>
            <pc:sldMk cId="1196800265" sldId="2681"/>
            <ac:picMk id="4" creationId="{69007BE6-4165-6B9F-CABD-19BC8B326D8F}"/>
          </ac:picMkLst>
        </pc:picChg>
        <pc:picChg chg="add del mod">
          <ac:chgData name="Anselmino, Carolina" userId="5c3f6dd0-fb53-498d-9f5e-392bc2a3ffc7" providerId="ADAL" clId="{E38CDB5B-0F14-49C4-839B-AE81B7033013}" dt="2026-07-22T11:43:03.472" v="10" actId="478"/>
          <ac:picMkLst>
            <pc:docMk/>
            <pc:sldMk cId="1196800265" sldId="2681"/>
            <ac:picMk id="6" creationId="{7BDA84B0-A315-5710-DC3F-3108F335D58B}"/>
          </ac:picMkLst>
        </pc:picChg>
        <pc:picChg chg="mod modCrop">
          <ac:chgData name="Anselmino, Carolina" userId="5c3f6dd0-fb53-498d-9f5e-392bc2a3ffc7" providerId="ADAL" clId="{E38CDB5B-0F14-49C4-839B-AE81B7033013}" dt="2026-07-22T11:36:58.998" v="2" actId="732"/>
          <ac:picMkLst>
            <pc:docMk/>
            <pc:sldMk cId="1196800265" sldId="2681"/>
            <ac:picMk id="7" creationId="{A2066351-C569-4C4C-A096-308777FCDC32}"/>
          </ac:picMkLst>
        </pc:picChg>
        <pc:picChg chg="mod">
          <ac:chgData name="Anselmino, Carolina" userId="5c3f6dd0-fb53-498d-9f5e-392bc2a3ffc7" providerId="ADAL" clId="{E38CDB5B-0F14-49C4-839B-AE81B7033013}" dt="2026-07-22T11:44:01.404" v="22" actId="12788"/>
          <ac:picMkLst>
            <pc:docMk/>
            <pc:sldMk cId="1196800265" sldId="2681"/>
            <ac:picMk id="10" creationId="{D4EAC1CC-FDEC-CB2B-4814-426FB9337D67}"/>
          </ac:picMkLst>
        </pc:picChg>
        <pc:cxnChg chg="mod">
          <ac:chgData name="Anselmino, Carolina" userId="5c3f6dd0-fb53-498d-9f5e-392bc2a3ffc7" providerId="ADAL" clId="{E38CDB5B-0F14-49C4-839B-AE81B7033013}" dt="2026-07-22T11:46:16.310" v="179" actId="14100"/>
          <ac:cxnSpMkLst>
            <pc:docMk/>
            <pc:sldMk cId="1196800265" sldId="2681"/>
            <ac:cxnSpMk id="11" creationId="{D9AD66F2-F7C0-4D03-9150-D28F17AC561D}"/>
          </ac:cxnSpMkLst>
        </pc:cxnChg>
      </pc:sldChg>
      <pc:sldChg chg="del">
        <pc:chgData name="Anselmino, Carolina" userId="5c3f6dd0-fb53-498d-9f5e-392bc2a3ffc7" providerId="ADAL" clId="{E38CDB5B-0F14-49C4-839B-AE81B7033013}" dt="2026-07-22T19:26:38.574" v="665" actId="47"/>
        <pc:sldMkLst>
          <pc:docMk/>
          <pc:sldMk cId="1763900471" sldId="2682"/>
        </pc:sldMkLst>
      </pc:sldChg>
      <pc:sldChg chg="del">
        <pc:chgData name="Anselmino, Carolina" userId="5c3f6dd0-fb53-498d-9f5e-392bc2a3ffc7" providerId="ADAL" clId="{E38CDB5B-0F14-49C4-839B-AE81B7033013}" dt="2026-07-22T19:26:35.304" v="664" actId="47"/>
        <pc:sldMkLst>
          <pc:docMk/>
          <pc:sldMk cId="1891845127" sldId="2685"/>
        </pc:sldMkLst>
      </pc:sldChg>
      <pc:sldChg chg="add del">
        <pc:chgData name="Anselmino, Carolina" userId="5c3f6dd0-fb53-498d-9f5e-392bc2a3ffc7" providerId="ADAL" clId="{E38CDB5B-0F14-49C4-839B-AE81B7033013}" dt="2026-07-22T15:50:00.267" v="434" actId="47"/>
        <pc:sldMkLst>
          <pc:docMk/>
          <pc:sldMk cId="2459501262" sldId="2695"/>
        </pc:sldMkLst>
      </pc:sldChg>
      <pc:sldChg chg="modSp add mod">
        <pc:chgData name="Anselmino, Carolina" userId="5c3f6dd0-fb53-498d-9f5e-392bc2a3ffc7" providerId="ADAL" clId="{E38CDB5B-0F14-49C4-839B-AE81B7033013}" dt="2026-07-22T19:17:50.009" v="663" actId="14100"/>
        <pc:sldMkLst>
          <pc:docMk/>
          <pc:sldMk cId="2895905977" sldId="2695"/>
        </pc:sldMkLst>
        <pc:spChg chg="mod">
          <ac:chgData name="Anselmino, Carolina" userId="5c3f6dd0-fb53-498d-9f5e-392bc2a3ffc7" providerId="ADAL" clId="{E38CDB5B-0F14-49C4-839B-AE81B7033013}" dt="2026-07-22T15:51:46.203" v="494" actId="20577"/>
          <ac:spMkLst>
            <pc:docMk/>
            <pc:sldMk cId="2895905977" sldId="2695"/>
            <ac:spMk id="5" creationId="{05ECEA81-427F-77E6-3A96-077D430CC49C}"/>
          </ac:spMkLst>
        </pc:spChg>
        <pc:spChg chg="mod">
          <ac:chgData name="Anselmino, Carolina" userId="5c3f6dd0-fb53-498d-9f5e-392bc2a3ffc7" providerId="ADAL" clId="{E38CDB5B-0F14-49C4-839B-AE81B7033013}" dt="2026-07-22T19:17:50.009" v="663" actId="14100"/>
          <ac:spMkLst>
            <pc:docMk/>
            <pc:sldMk cId="2895905977" sldId="2695"/>
            <ac:spMk id="6" creationId="{F5AB7147-07E3-D061-CD69-902D615A346F}"/>
          </ac:spMkLst>
        </pc:spChg>
        <pc:spChg chg="mod">
          <ac:chgData name="Anselmino, Carolina" userId="5c3f6dd0-fb53-498d-9f5e-392bc2a3ffc7" providerId="ADAL" clId="{E38CDB5B-0F14-49C4-839B-AE81B7033013}" dt="2026-07-22T15:52:40.119" v="519" actId="14100"/>
          <ac:spMkLst>
            <pc:docMk/>
            <pc:sldMk cId="2895905977" sldId="2695"/>
            <ac:spMk id="7" creationId="{645C8C6B-29A8-B1C0-3772-5822CAB07F15}"/>
          </ac:spMkLst>
        </pc:sp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BE192EA-4FB5-417A-96F6-B3058A54AB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D5479-0008-4BFD-BE18-7442B169130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72114D-3A05-4B20-822E-8261653B33D2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BD4BE7-9FD8-4D10-87DD-2B2BC23B46E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0342B2-B657-4BF5-B0C4-8D3FD65073D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E5079B-D1F0-49DB-8DFB-E06CD09EC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5472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F008D2-43B4-45EB-8E80-36DCF9CD046D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A8591F-50F3-4C40-9DA2-D793276CC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9949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 card — the cold open. The hosts name the module, the video number, the title and the single message on this slide; no scripted narration. Hold until the opener begins; the opener is narrated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You do not onboard a whole government at once. You build the framework in four phases, each delivering something real, each with a decision gate before the next is funded — a pattern drawn from how Estonia and others actually built their buses.</a:t>
            </a:r>
          </a:p>
          <a:p/>
          <a:p>
            <a:r>
              <a:t>Retrieval prompt — ask before playing on: from the start of the build, how long until the first citizen-visible once-only exchange? Answer on the next slide: about a year.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First, the honest calendar. The four build phases start when the foundation is laid — the decree, the governance, the architecture and the standards portfolio — and that groundwork is itself a year to eighteen months of team effort, longer in calendar time because legislative and budget cycles do not hurry. Then the phases. Phase one, Foundation, months zero to six — the central platform and its trust anchor go live, two pilot members connect, the first services run. Phase two, Pilot and Validation, seven to twelve — the first real cross-ministry once-only exchanges go live, the first five members are on, conformance testing is operating. Phase three, Expansion, thirteen to eighteen — the first-wave sectors are covered: fifteen members, twenty or more services. Phase four, Optimisation, nineteen to twenty-four — performance, the long tail, the next wave of sectors. So the first citizen-visible once-only exchange lands about a year into the build, and the first real milestone — the platform running with a handful of member services — two to three years from the day the programme starts. National coverage is a four-to-six-year programme. Say that to your minister on day one; it is the number that keeps the programme funded when the launch enthusiasm fades. Each phase ends with a decision gate: a go or no-go where the funder and the Steering Committee confirm the phase actually delivered before the next is funded.</a:t>
            </a:r>
          </a:p>
          <a:p/>
          <a:p>
            <a:r>
              <a:t>Production cue: this slide answers the retrieval prompt set on the opener. Reveal the groundwork first, then the phases left to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The phasing protects the re-use logic: phase one builds the shared bus once, and every phase and every agency after it reuses that one investment. A funder who sees that is paying for a national platform, not a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One caution, because the words collide: these four build phases are not the five-phase enterprise-architecture lifecycle that produced your plan. That lifecycle designs the target; this schedule builds the bus, inside its final phase.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Second, the plan is five documents, not one schedule. The phased schedule — for each phase its outcomes, its gate, its risks. The investment plan — capital and running costs across the years, benchmarked against what comparable platforms cost, and with the state's own budget line for running whatever a donor built, because the commonest failure is a platform funded to launch and not to operate. The procurement plan — one lot per domain, sequenced across the phases, and never a single big-bang contract that hands the architecture to whichever vendor wins; the platform itself is bought as a working, accepted result, with acceptance tests and penalties, against the framework's rules as mandatory requirements. The workforce plan — the operator grows from a first team of eight to fifteen towards thirty to eighty at national scale, and every member needs a named technical focal point. And the risk register with the success metrics — members onboarded, services registered, transactions a quarter, uptime, how long onboarding takes, member satisfaction — reviewed at every gate. A cost frame a funder can check is a cost frame a funder can approve.</a:t>
            </a:r>
          </a:p>
          <a:p/>
          <a:p>
            <a:r>
              <a:t>Production cue: the pivotal slide of this video. Hold it a beat longer.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PRACTICE BOX (on-screen only — never read it, never paraphrase it, never point at it). It replaces the narrated handoff: this video ends on the recap and the Sources slide.</a:t>
            </a:r>
          </a:p>
          <a:p/>
          <a:p>
            <a:r>
              <a:t>VO: So you plan the build in four phases — Foundation, Pilot, Expansion, Optimisation — each with a gate and a benchmarked cost, on a calendar you have told the truth about, with the investment, procurement, workforce and risk plans beside the schedule. That is what turns an ambition into a fundable programme.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 slide, held ~5 seconds at the end of the video. Links are compiled into the YouTube description per ITU convention; no URLs read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margin-Content with Caption (White bg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F752D4-D41F-48C8-BC93-770A10B9CEFC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728691" y="1959151"/>
            <a:ext cx="4090872" cy="4200245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sz="1800" spc="2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3E0F6D26-4165-4298-B9DF-69A0CA57C654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5018432" y="1959150"/>
            <a:ext cx="4090872" cy="4200245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sz="1800" spc="2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CED336FC-6E45-4A2D-A5AB-BE24E693E0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8691" y="1265849"/>
            <a:ext cx="9051731" cy="50288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0EB37B9-0614-41D6-8AFE-EB91B451A9F5}"/>
              </a:ext>
            </a:extLst>
          </p:cNvPr>
          <p:cNvCxnSpPr/>
          <p:nvPr userDrawn="1"/>
        </p:nvCxnSpPr>
        <p:spPr>
          <a:xfrm>
            <a:off x="614783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CFE8CDBB-5A4D-4444-85CC-7578EF050F6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4783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7181760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- Tit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D6A0DE-A965-4E02-8A8B-981E2FDE59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8687" y="1994663"/>
            <a:ext cx="4860830" cy="496095"/>
          </a:xfrm>
        </p:spPr>
        <p:txBody>
          <a:bodyPr anchor="t">
            <a:noAutofit/>
          </a:bodyPr>
          <a:lstStyle>
            <a:lvl1pPr marL="0" indent="0">
              <a:lnSpc>
                <a:spcPts val="2400"/>
              </a:lnSpc>
              <a:buNone/>
              <a:defRPr sz="1800" b="0" spc="3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820F59-7539-405E-B005-C5C92782E90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728687" y="2490758"/>
            <a:ext cx="4860830" cy="3445987"/>
          </a:xfrm>
        </p:spPr>
        <p:txBody>
          <a:bodyPr>
            <a:noAutofit/>
          </a:bodyPr>
          <a:lstStyle>
            <a:lvl1pPr marL="228600" indent="-137160">
              <a:lnSpc>
                <a:spcPts val="2400"/>
              </a:lnSpc>
              <a:buClr>
                <a:srgbClr val="009CD6"/>
              </a:buClr>
              <a:buSzPct val="104000"/>
              <a:buFont typeface="Arial" panose="020B0604020202020204" pitchFamily="34" charset="0"/>
              <a:buChar char="•"/>
              <a:defRPr sz="1800" spc="30" baseline="0"/>
            </a:lvl1pPr>
            <a:lvl2pPr marL="685800" indent="-137160">
              <a:lnSpc>
                <a:spcPts val="2400"/>
              </a:lnSpc>
              <a:buClr>
                <a:srgbClr val="009CD6"/>
              </a:buClr>
              <a:buFont typeface="Arial" panose="020B0604020202020204" pitchFamily="34" charset="0"/>
              <a:buChar char="•"/>
              <a:defRPr sz="1800" spc="30" baseline="0"/>
            </a:lvl2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9AE6D208-1F00-412A-86E9-1A7081F56572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892510" y="1994663"/>
            <a:ext cx="4751106" cy="496095"/>
          </a:xfrm>
        </p:spPr>
        <p:txBody>
          <a:bodyPr anchor="t">
            <a:noAutofit/>
          </a:bodyPr>
          <a:lstStyle>
            <a:lvl1pPr marL="0" indent="0">
              <a:lnSpc>
                <a:spcPts val="2400"/>
              </a:lnSpc>
              <a:buNone/>
              <a:defRPr sz="1800" b="0" spc="3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B8B83478-806A-4C07-A7A7-0CDF7E621EB5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5892510" y="2490758"/>
            <a:ext cx="4751106" cy="3445987"/>
          </a:xfrm>
        </p:spPr>
        <p:txBody>
          <a:bodyPr>
            <a:noAutofit/>
          </a:bodyPr>
          <a:lstStyle>
            <a:lvl1pPr marL="228600" indent="-137160">
              <a:lnSpc>
                <a:spcPts val="2400"/>
              </a:lnSpc>
              <a:buClr>
                <a:srgbClr val="009CD6"/>
              </a:buClr>
              <a:buSzPct val="104000"/>
              <a:buFont typeface="Arial" panose="020B0604020202020204" pitchFamily="34" charset="0"/>
              <a:buChar char="•"/>
              <a:defRPr sz="1800" spc="30" baseline="0"/>
            </a:lvl1pPr>
            <a:lvl2pPr marL="685800" indent="-137160">
              <a:lnSpc>
                <a:spcPts val="2400"/>
              </a:lnSpc>
              <a:buClr>
                <a:srgbClr val="009CD6"/>
              </a:buClr>
              <a:buFont typeface="Arial" panose="020B0604020202020204" pitchFamily="34" charset="0"/>
              <a:buChar char="•"/>
              <a:defRPr sz="1800" spc="30" baseline="0"/>
            </a:lvl2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20A48B77-BCF1-4349-8EF0-B33A178937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8687" y="1238515"/>
            <a:ext cx="9914929" cy="63590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CE4054A-3251-41A6-8BA5-67C64EF3E610}"/>
              </a:ext>
            </a:extLst>
          </p:cNvPr>
          <p:cNvCxnSpPr/>
          <p:nvPr userDrawn="1"/>
        </p:nvCxnSpPr>
        <p:spPr>
          <a:xfrm>
            <a:off x="614780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F8E1AD81-2712-4CFB-B585-60CDC561D6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4780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1880388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078E5A-AB76-4634-8AD9-64C991C6FC0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721372" y="2040524"/>
            <a:ext cx="4393315" cy="4125355"/>
          </a:xfrm>
        </p:spPr>
        <p:txBody>
          <a:bodyPr>
            <a:noAutofit/>
          </a:bodyPr>
          <a:lstStyle>
            <a:lvl1pPr marL="2286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1pPr>
            <a:lvl2pPr marL="6858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2pPr>
            <a:lvl3pPr marL="11430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3pPr>
            <a:lvl4pPr marL="16002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4pPr>
            <a:lvl5pPr>
              <a:buClr>
                <a:srgbClr val="5B9BD5"/>
              </a:buClr>
              <a:defRPr spc="0"/>
            </a:lvl5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98F227-A22B-432C-84DE-6E0A3BE38D6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460255" y="2040523"/>
            <a:ext cx="4393316" cy="4126191"/>
          </a:xfrm>
        </p:spPr>
        <p:txBody>
          <a:bodyPr>
            <a:noAutofit/>
          </a:bodyPr>
          <a:lstStyle>
            <a:lvl1pPr marL="2286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1pPr>
            <a:lvl2pPr marL="6858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2pPr>
            <a:lvl3pPr marL="11430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3pPr>
            <a:lvl4pPr marL="16002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4pPr>
            <a:lvl5pPr>
              <a:buClr>
                <a:srgbClr val="5B9BD5"/>
              </a:buClr>
              <a:defRPr spc="0"/>
            </a:lvl5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346557F-F9B0-433A-9FC1-56C38B19DE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1373" y="1251017"/>
            <a:ext cx="9132198" cy="565079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6157FF2-E1F2-41A6-A3CB-3DE59785DD4D}"/>
              </a:ext>
            </a:extLst>
          </p:cNvPr>
          <p:cNvCxnSpPr/>
          <p:nvPr userDrawn="1"/>
        </p:nvCxnSpPr>
        <p:spPr>
          <a:xfrm>
            <a:off x="614780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E8A78C8E-6713-4582-84CE-8C8A0FE572A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4780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1951374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F752D4-D41F-48C8-BC93-770A10B9CEFC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737226" y="1975104"/>
            <a:ext cx="6256106" cy="4210543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sz="1800" spc="2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3F01D386-9240-4F38-9F1C-4325351B05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7225" y="1261501"/>
            <a:ext cx="7177821" cy="54214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15B0268-1877-4B50-85FE-85F64126C828}"/>
              </a:ext>
            </a:extLst>
          </p:cNvPr>
          <p:cNvCxnSpPr/>
          <p:nvPr userDrawn="1"/>
        </p:nvCxnSpPr>
        <p:spPr>
          <a:xfrm>
            <a:off x="607468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16C6763-4EEE-47FB-A7AD-A329AC03860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7468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11443472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Large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A9A3B-CF71-48AC-B4B0-550E5EC77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483" y="1234865"/>
            <a:ext cx="10313024" cy="635902"/>
          </a:xfrm>
          <a:prstGeom prst="rect">
            <a:avLst/>
          </a:prstGeom>
        </p:spPr>
        <p:txBody>
          <a:bodyPr anchor="t"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5ED55E9E-BFC6-411F-90A8-B7CC917CD1B5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733313" y="1927476"/>
            <a:ext cx="10700345" cy="4218130"/>
          </a:xfrm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image here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B8B0405-4014-43E6-B303-902A4F998E13}"/>
              </a:ext>
            </a:extLst>
          </p:cNvPr>
          <p:cNvCxnSpPr/>
          <p:nvPr userDrawn="1"/>
        </p:nvCxnSpPr>
        <p:spPr>
          <a:xfrm>
            <a:off x="614783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B69F8470-F06D-4D52-9A69-30EBD8DA609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3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41391014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image - 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5ED55E9E-BFC6-411F-90A8-B7CC917CD1B5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0" y="-1"/>
            <a:ext cx="5165650" cy="6858000"/>
          </a:xfrm>
          <a:solidFill>
            <a:srgbClr val="F7F7F7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image here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421150D-F679-4DFA-93CF-0E5480CC49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93557" y="1241625"/>
            <a:ext cx="6000749" cy="48013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F1DE310-EEBE-4571-9348-190C69629E15}"/>
              </a:ext>
            </a:extLst>
          </p:cNvPr>
          <p:cNvCxnSpPr/>
          <p:nvPr userDrawn="1"/>
        </p:nvCxnSpPr>
        <p:spPr>
          <a:xfrm>
            <a:off x="5500046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4C777EF-FC93-4970-9186-9F729BE944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0046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BD03799A-7C35-4CAA-BE06-C4A99AE98261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5593546" y="1796208"/>
            <a:ext cx="6000749" cy="3820167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lang="en-US" sz="1800" dirty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</p:spTree>
    <p:extLst>
      <p:ext uri="{BB962C8B-B14F-4D97-AF65-F5344CB8AC3E}">
        <p14:creationId xmlns:p14="http://schemas.microsoft.com/office/powerpoint/2010/main" val="26527703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image - 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E364E913-4A6A-4F3B-B209-831A75170B72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0" y="-1"/>
            <a:ext cx="6092751" cy="6858000"/>
          </a:xfrm>
          <a:solidFill>
            <a:srgbClr val="F4F4F4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image here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30453B6-BE94-4D10-99CD-4F6557992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61735" y="1241625"/>
            <a:ext cx="5018228" cy="86793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 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76CAFA7-68AE-4EAD-BE3A-A5B16D9D3552}"/>
              </a:ext>
            </a:extLst>
          </p:cNvPr>
          <p:cNvCxnSpPr/>
          <p:nvPr userDrawn="1"/>
        </p:nvCxnSpPr>
        <p:spPr>
          <a:xfrm>
            <a:off x="6468234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A8F2FE0A-3A4C-445D-8290-44FCEA3F59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68234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C9AD2564-EF06-46B2-95AF-0FC81EEDCC98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561734" y="2245766"/>
            <a:ext cx="5018229" cy="3920948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lang="en-US" sz="1800" dirty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</p:spTree>
    <p:extLst>
      <p:ext uri="{BB962C8B-B14F-4D97-AF65-F5344CB8AC3E}">
        <p14:creationId xmlns:p14="http://schemas.microsoft.com/office/powerpoint/2010/main" val="32550041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image - 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B99501-2A5A-45F8-BACF-23701FE68337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6997698" cy="6857999"/>
          </a:xfrm>
          <a:solidFill>
            <a:srgbClr val="F4F4F4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picture here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E260B5-3078-4CFA-A43A-D57EA4E988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404579" y="2228472"/>
            <a:ext cx="4204643" cy="3936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147FA91-C242-46DD-BE23-48F41CC297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04579" y="1218965"/>
            <a:ext cx="4255850" cy="93350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0EEAF69-B649-4DD9-BE4A-CC1FC2864BDE}"/>
              </a:ext>
            </a:extLst>
          </p:cNvPr>
          <p:cNvCxnSpPr/>
          <p:nvPr userDrawn="1"/>
        </p:nvCxnSpPr>
        <p:spPr>
          <a:xfrm>
            <a:off x="7353374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822686E3-ED91-4402-ABE9-E10A74CBDB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353375" y="313371"/>
            <a:ext cx="4307054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4253639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image - 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5ED55E9E-BFC6-411F-90A8-B7CC917CD1B5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7026350" y="-1"/>
            <a:ext cx="5165650" cy="6858000"/>
          </a:xfrm>
          <a:solidFill>
            <a:srgbClr val="F7F7F7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image here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421150D-F679-4DFA-93CF-0E5480CC49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2373" y="1241625"/>
            <a:ext cx="6000749" cy="48013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F1DE310-EEBE-4571-9348-190C69629E15}"/>
              </a:ext>
            </a:extLst>
          </p:cNvPr>
          <p:cNvCxnSpPr/>
          <p:nvPr userDrawn="1"/>
        </p:nvCxnSpPr>
        <p:spPr>
          <a:xfrm>
            <a:off x="598862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4C777EF-FC93-4970-9186-9F729BE944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8862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BD03799A-7C35-4CAA-BE06-C4A99AE98261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92362" y="1796208"/>
            <a:ext cx="6000749" cy="3820167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lang="en-US" sz="1800" dirty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</p:spTree>
    <p:extLst>
      <p:ext uri="{BB962C8B-B14F-4D97-AF65-F5344CB8AC3E}">
        <p14:creationId xmlns:p14="http://schemas.microsoft.com/office/powerpoint/2010/main" val="26823145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image - 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E364E913-4A6A-4F3B-B209-831A75170B72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096000" y="-1"/>
            <a:ext cx="6092751" cy="6858000"/>
          </a:xfrm>
          <a:solidFill>
            <a:srgbClr val="F4F4F4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image here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30453B6-BE94-4D10-99CD-4F6557992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9575" y="1241625"/>
            <a:ext cx="5018228" cy="86793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 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76CAFA7-68AE-4EAD-BE3A-A5B16D9D3552}"/>
              </a:ext>
            </a:extLst>
          </p:cNvPr>
          <p:cNvCxnSpPr/>
          <p:nvPr userDrawn="1"/>
        </p:nvCxnSpPr>
        <p:spPr>
          <a:xfrm>
            <a:off x="616074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A8F2FE0A-3A4C-445D-8290-44FCEA3F59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6074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C9AD2564-EF06-46B2-95AF-0FC81EEDCC98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709574" y="2245766"/>
            <a:ext cx="5018229" cy="3920948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lang="en-US" sz="1800" dirty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</p:spTree>
    <p:extLst>
      <p:ext uri="{BB962C8B-B14F-4D97-AF65-F5344CB8AC3E}">
        <p14:creationId xmlns:p14="http://schemas.microsoft.com/office/powerpoint/2010/main" val="38641133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eft image-L (White bg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B99501-2A5A-45F8-BACF-23701FE68337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194302" y="0"/>
            <a:ext cx="6997698" cy="6857999"/>
          </a:xfrm>
          <a:solidFill>
            <a:srgbClr val="F4F4F4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picture here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E260B5-3078-4CFA-A43A-D57EA4E988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2649" y="2228472"/>
            <a:ext cx="4204643" cy="3936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147FA91-C242-46DD-BE23-48F41CC297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2649" y="1218965"/>
            <a:ext cx="4255850" cy="93350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0EEAF69-B649-4DD9-BE4A-CC1FC2864BDE}"/>
              </a:ext>
            </a:extLst>
          </p:cNvPr>
          <p:cNvCxnSpPr/>
          <p:nvPr userDrawn="1"/>
        </p:nvCxnSpPr>
        <p:spPr>
          <a:xfrm>
            <a:off x="601444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822686E3-ED91-4402-ABE9-E10A74CBDB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1445" y="313371"/>
            <a:ext cx="4307054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12780661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- Footer (white bg)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35543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(white bg)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36622E0-A137-429D-BE75-779E322CE694}"/>
              </a:ext>
            </a:extLst>
          </p:cNvPr>
          <p:cNvSpPr/>
          <p:nvPr userDrawn="1"/>
        </p:nvSpPr>
        <p:spPr>
          <a:xfrm>
            <a:off x="-30161" y="0"/>
            <a:ext cx="1222216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160825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(blue bg)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B0641AD-3AD5-4F67-A775-821CB3080BD2}"/>
              </a:ext>
            </a:extLst>
          </p:cNvPr>
          <p:cNvSpPr/>
          <p:nvPr userDrawn="1"/>
        </p:nvSpPr>
        <p:spPr>
          <a:xfrm>
            <a:off x="-30161" y="0"/>
            <a:ext cx="12222161" cy="6858000"/>
          </a:xfrm>
          <a:prstGeom prst="rect">
            <a:avLst/>
          </a:prstGeom>
          <a:solidFill>
            <a:srgbClr val="F5FA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180227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hank you Slide">
    <p:bg>
      <p:bgPr>
        <a:solidFill>
          <a:srgbClr val="F5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3F35E03-ED1F-4BA6-A9DB-BAA193266DF0}"/>
              </a:ext>
            </a:extLst>
          </p:cNvPr>
          <p:cNvSpPr txBox="1"/>
          <p:nvPr userDrawn="1"/>
        </p:nvSpPr>
        <p:spPr>
          <a:xfrm>
            <a:off x="3457462" y="2905780"/>
            <a:ext cx="52469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tx1"/>
                </a:solidFill>
                <a:cs typeface="Arial" panose="020B0604020202020204" pitchFamily="34" charset="0"/>
              </a:rPr>
              <a:t>Thank you!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5BEDD7-9550-46FC-AAD4-3BCDC60161D9}"/>
              </a:ext>
            </a:extLst>
          </p:cNvPr>
          <p:cNvSpPr/>
          <p:nvPr userDrawn="1"/>
        </p:nvSpPr>
        <p:spPr>
          <a:xfrm>
            <a:off x="0" y="6115986"/>
            <a:ext cx="12192000" cy="742013"/>
          </a:xfrm>
          <a:prstGeom prst="rect">
            <a:avLst/>
          </a:prstGeom>
          <a:solidFill>
            <a:srgbClr val="F5FA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9CD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76078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CD000AF-B921-43E9-B432-355A07B6E46E}"/>
              </a:ext>
            </a:extLst>
          </p:cNvPr>
          <p:cNvSpPr/>
          <p:nvPr userDrawn="1"/>
        </p:nvSpPr>
        <p:spPr>
          <a:xfrm>
            <a:off x="0" y="6115986"/>
            <a:ext cx="10028420" cy="7420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5364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ig text aligned right + Ital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7316B5-C57D-4BFE-9E05-E402A449FF88}"/>
              </a:ext>
            </a:extLst>
          </p:cNvPr>
          <p:cNvCxnSpPr/>
          <p:nvPr userDrawn="1"/>
        </p:nvCxnSpPr>
        <p:spPr>
          <a:xfrm>
            <a:off x="614785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F92057-32FC-4FC9-AF35-02473A8E49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5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section name</a:t>
            </a:r>
            <a:endParaRPr lang="en-US" dirty="0"/>
          </a:p>
        </p:txBody>
      </p:sp>
      <p:sp>
        <p:nvSpPr>
          <p:cNvPr id="6" name="Shape 610" hidden="1">
            <a:extLst>
              <a:ext uri="{FF2B5EF4-FFF2-40B4-BE49-F238E27FC236}">
                <a16:creationId xmlns:a16="http://schemas.microsoft.com/office/drawing/2014/main" id="{C5B068B2-AEB9-41E6-AB3C-EA87FFB0FE76}"/>
              </a:ext>
            </a:extLst>
          </p:cNvPr>
          <p:cNvSpPr/>
          <p:nvPr userDrawn="1"/>
        </p:nvSpPr>
        <p:spPr>
          <a:xfrm>
            <a:off x="510238" y="2132869"/>
            <a:ext cx="6303518" cy="3103212"/>
          </a:xfrm>
          <a:prstGeom prst="rect">
            <a:avLst/>
          </a:prstGeom>
          <a:noFill/>
          <a:ln>
            <a:noFill/>
          </a:ln>
        </p:spPr>
        <p:txBody>
          <a:bodyPr lIns="91412" tIns="45700" rIns="91412" bIns="45700" anchor="t" anchorCtr="0">
            <a:noAutofit/>
          </a:bodyPr>
          <a:lstStyle/>
          <a:p>
            <a:pPr algn="r">
              <a:buSzPct val="25000"/>
            </a:pPr>
            <a:r>
              <a:rPr lang="en-GB" sz="2800" dirty="0"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We have focused on </a:t>
            </a:r>
            <a:r>
              <a:rPr lang="en-GB" sz="2800" b="1" dirty="0"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preparing and empowering BDT staff</a:t>
            </a:r>
            <a:r>
              <a:rPr lang="en-GB" sz="2800" dirty="0"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 with the tools and resources to deliver value and impact, with performance management related objectives being adjusted accordingly</a:t>
            </a:r>
          </a:p>
        </p:txBody>
      </p:sp>
      <p:sp>
        <p:nvSpPr>
          <p:cNvPr id="7" name="Subtitle 8">
            <a:extLst>
              <a:ext uri="{FF2B5EF4-FFF2-40B4-BE49-F238E27FC236}">
                <a16:creationId xmlns:a16="http://schemas.microsoft.com/office/drawing/2014/main" id="{A4620858-2872-44F6-B072-7E678A260322}"/>
              </a:ext>
            </a:extLst>
          </p:cNvPr>
          <p:cNvSpPr txBox="1">
            <a:spLocks/>
          </p:cNvSpPr>
          <p:nvPr userDrawn="1"/>
        </p:nvSpPr>
        <p:spPr>
          <a:xfrm>
            <a:off x="7295839" y="2132869"/>
            <a:ext cx="4663323" cy="430349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1800"/>
              </a:spcBef>
            </a:pPr>
            <a:endParaRPr lang="en-US" i="1" dirty="0">
              <a:solidFill>
                <a:schemeClr val="bg2">
                  <a:lumMod val="25000"/>
                </a:schemeClr>
              </a:solidFill>
              <a:latin typeface="Georgia" panose="02040502050405020303" pitchFamily="18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E0E510D-A28B-40D0-90A9-897A15E93F85}"/>
              </a:ext>
            </a:extLst>
          </p:cNvPr>
          <p:cNvCxnSpPr>
            <a:cxnSpLocks/>
          </p:cNvCxnSpPr>
          <p:nvPr userDrawn="1"/>
        </p:nvCxnSpPr>
        <p:spPr>
          <a:xfrm>
            <a:off x="7069545" y="2248302"/>
            <a:ext cx="0" cy="313372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885EC5-B7E9-4FBB-A4AE-A260C8DCB03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3238" y="2133600"/>
            <a:ext cx="6297612" cy="3079750"/>
          </a:xfrm>
        </p:spPr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We have focused on </a:t>
            </a: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preparing and empowering BDT staff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 with the tools and resources to deliver value and impact, with performance management related objectives being adjusted accordingly</a:t>
            </a:r>
          </a:p>
          <a:p>
            <a:pPr lvl="0"/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EFC6EC8-B366-4C1C-9E18-04E70FF727B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96150" y="2133600"/>
            <a:ext cx="4683125" cy="3856038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Multiple RBM workshops for</a:t>
            </a:r>
            <a:b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</a:b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all HQ-based teams and Regional Offices 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Project Management training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Communication for Development training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Procurement training</a:t>
            </a:r>
            <a:endParaRPr lang="en-US" i="1" dirty="0">
              <a:solidFill>
                <a:schemeClr val="bg2">
                  <a:lumMod val="25000"/>
                </a:schemeClr>
              </a:solidFill>
              <a:latin typeface="Georgia" panose="02040502050405020303" pitchFamily="18" charset="0"/>
            </a:endParaRP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5084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A647C-A7BD-47C9-962C-55289EF4CD8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5414" y="2033625"/>
            <a:ext cx="8999926" cy="4067251"/>
          </a:xfrm>
        </p:spPr>
        <p:txBody>
          <a:bodyPr numCol="2" spcCol="274320">
            <a:noAutofit/>
          </a:bodyPr>
          <a:lstStyle>
            <a:lvl1pPr marL="9144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9CD6"/>
              </a:buClr>
              <a:buSzPct val="110000"/>
              <a:buFontTx/>
              <a:buNone/>
              <a:tabLst/>
              <a:defRPr sz="2400" spc="20"/>
            </a:lvl1pPr>
            <a:lvl2pPr marL="5486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2pPr>
            <a:lvl3pPr marL="10058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3pPr>
            <a:lvl4pPr marL="14630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4pPr>
            <a:lvl5pPr>
              <a:buClr>
                <a:srgbClr val="5B9BD5"/>
              </a:buClr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Aenean </a:t>
            </a:r>
            <a:r>
              <a:rPr lang="en-US" dirty="0" err="1"/>
              <a:t>commodo</a:t>
            </a:r>
            <a:r>
              <a:rPr lang="en-US" dirty="0"/>
              <a:t> ligula </a:t>
            </a:r>
            <a:r>
              <a:rPr lang="en-US" dirty="0" err="1"/>
              <a:t>eget</a:t>
            </a:r>
            <a:r>
              <a:rPr lang="en-US" dirty="0"/>
              <a:t> dolor. Aenean </a:t>
            </a:r>
            <a:r>
              <a:rPr lang="en-US" dirty="0" err="1"/>
              <a:t>massa</a:t>
            </a:r>
            <a:r>
              <a:rPr lang="en-US" dirty="0"/>
              <a:t>. Cum sociis </a:t>
            </a:r>
            <a:r>
              <a:rPr lang="en-US" dirty="0" err="1"/>
              <a:t>natoque</a:t>
            </a:r>
            <a:r>
              <a:rPr lang="en-US" dirty="0"/>
              <a:t> </a:t>
            </a:r>
            <a:r>
              <a:rPr lang="en-US" dirty="0" err="1"/>
              <a:t>penatibus</a:t>
            </a:r>
            <a:r>
              <a:rPr lang="en-US" dirty="0"/>
              <a:t> et </a:t>
            </a:r>
            <a:r>
              <a:rPr lang="en-US" dirty="0" err="1"/>
              <a:t>magnis</a:t>
            </a:r>
            <a:r>
              <a:rPr lang="en-US" dirty="0"/>
              <a:t> dis parturient </a:t>
            </a:r>
            <a:r>
              <a:rPr lang="en-US" dirty="0" err="1"/>
              <a:t>montes</a:t>
            </a:r>
            <a:r>
              <a:rPr lang="en-US" dirty="0"/>
              <a:t>, </a:t>
            </a:r>
            <a:r>
              <a:rPr lang="en-US" dirty="0" err="1"/>
              <a:t>nascetur</a:t>
            </a:r>
            <a:r>
              <a:rPr lang="en-US" dirty="0"/>
              <a:t> </a:t>
            </a:r>
            <a:r>
              <a:rPr lang="en-US" dirty="0" err="1"/>
              <a:t>ridiculus</a:t>
            </a:r>
            <a:r>
              <a:rPr lang="en-US" dirty="0"/>
              <a:t> mus. Donec </a:t>
            </a:r>
            <a:r>
              <a:rPr lang="en-US" dirty="0" err="1"/>
              <a:t>quam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, </a:t>
            </a:r>
            <a:r>
              <a:rPr lang="en-US" dirty="0" err="1"/>
              <a:t>ultricies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,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, </a:t>
            </a:r>
            <a:r>
              <a:rPr lang="en-US" dirty="0" err="1"/>
              <a:t>pretium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, sem. </a:t>
            </a:r>
          </a:p>
          <a:p>
            <a:pPr lvl="0"/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. Donec </a:t>
            </a:r>
            <a:r>
              <a:rPr lang="en-US" dirty="0" err="1"/>
              <a:t>pede</a:t>
            </a:r>
            <a:r>
              <a:rPr lang="en-US" dirty="0"/>
              <a:t> </a:t>
            </a:r>
            <a:r>
              <a:rPr lang="en-US" dirty="0" err="1"/>
              <a:t>justo</a:t>
            </a:r>
            <a:r>
              <a:rPr lang="en-US" dirty="0"/>
              <a:t>, </a:t>
            </a:r>
            <a:r>
              <a:rPr lang="en-US" dirty="0" err="1"/>
              <a:t>fringilla</a:t>
            </a:r>
            <a:r>
              <a:rPr lang="en-US" dirty="0"/>
              <a:t> vel,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.</a:t>
            </a:r>
          </a:p>
          <a:p>
            <a:pPr marL="9144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9CD6"/>
              </a:buClr>
              <a:buSzPct val="110000"/>
              <a:buFontTx/>
              <a:buNone/>
              <a:tabLst/>
              <a:defRPr/>
            </a:pPr>
            <a:r>
              <a:rPr lang="en-US" dirty="0"/>
              <a:t>Cum sociis </a:t>
            </a:r>
            <a:r>
              <a:rPr lang="en-US" dirty="0" err="1"/>
              <a:t>natoque</a:t>
            </a:r>
            <a:r>
              <a:rPr lang="en-US" dirty="0"/>
              <a:t> </a:t>
            </a:r>
            <a:r>
              <a:rPr lang="en-US" dirty="0" err="1"/>
              <a:t>penatibus</a:t>
            </a:r>
            <a:r>
              <a:rPr lang="en-US" dirty="0"/>
              <a:t> et </a:t>
            </a:r>
            <a:r>
              <a:rPr lang="en-US" dirty="0" err="1"/>
              <a:t>magnis</a:t>
            </a:r>
            <a:r>
              <a:rPr lang="en-US" dirty="0"/>
              <a:t> dis parturient </a:t>
            </a:r>
            <a:r>
              <a:rPr lang="en-US" dirty="0" err="1"/>
              <a:t>montes</a:t>
            </a:r>
            <a:r>
              <a:rPr lang="en-US" dirty="0"/>
              <a:t>, </a:t>
            </a:r>
            <a:r>
              <a:rPr lang="en-US" dirty="0" err="1"/>
              <a:t>nascetur</a:t>
            </a:r>
            <a:r>
              <a:rPr lang="en-US" dirty="0"/>
              <a:t> </a:t>
            </a:r>
            <a:r>
              <a:rPr lang="en-US" dirty="0" err="1"/>
              <a:t>ridiculus</a:t>
            </a:r>
            <a:r>
              <a:rPr lang="en-US" dirty="0"/>
              <a:t> mus. Donec </a:t>
            </a:r>
            <a:r>
              <a:rPr lang="en-US" dirty="0" err="1"/>
              <a:t>quam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, </a:t>
            </a:r>
            <a:r>
              <a:rPr lang="en-US" dirty="0" err="1"/>
              <a:t>ultricies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,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, </a:t>
            </a:r>
            <a:r>
              <a:rPr lang="en-US" dirty="0" err="1"/>
              <a:t>pretium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, sem.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068AA50-AAA8-4842-ABF3-40CA7CFE97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9358" y="685156"/>
            <a:ext cx="8999926" cy="59701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7316B5-C57D-4BFE-9E05-E402A449FF88}"/>
              </a:ext>
            </a:extLst>
          </p:cNvPr>
          <p:cNvCxnSpPr/>
          <p:nvPr userDrawn="1"/>
        </p:nvCxnSpPr>
        <p:spPr>
          <a:xfrm>
            <a:off x="614785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F92057-32FC-4FC9-AF35-02473A8E49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5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5067026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A647C-A7BD-47C9-962C-55289EF4CD8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5414" y="2033625"/>
            <a:ext cx="6297178" cy="4067251"/>
          </a:xfrm>
        </p:spPr>
        <p:txBody>
          <a:bodyPr numCol="1" spcCol="274320">
            <a:noAutofit/>
          </a:bodyPr>
          <a:lstStyle>
            <a:lvl1pPr marL="9144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9CD6"/>
              </a:buClr>
              <a:buSzPct val="110000"/>
              <a:buFontTx/>
              <a:buNone/>
              <a:tabLst/>
              <a:defRPr sz="2400" spc="20"/>
            </a:lvl1pPr>
            <a:lvl2pPr marL="5486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2pPr>
            <a:lvl3pPr marL="10058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3pPr>
            <a:lvl4pPr marL="14630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4pPr>
            <a:lvl5pPr>
              <a:buClr>
                <a:srgbClr val="5B9BD5"/>
              </a:buClr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Aenean </a:t>
            </a:r>
            <a:r>
              <a:rPr lang="en-US" dirty="0" err="1"/>
              <a:t>commodo</a:t>
            </a:r>
            <a:r>
              <a:rPr lang="en-US" dirty="0"/>
              <a:t> ligula </a:t>
            </a:r>
            <a:r>
              <a:rPr lang="en-US" dirty="0" err="1"/>
              <a:t>eget</a:t>
            </a:r>
            <a:r>
              <a:rPr lang="en-US" dirty="0"/>
              <a:t> dolor. Aenean </a:t>
            </a:r>
            <a:r>
              <a:rPr lang="en-US" dirty="0" err="1"/>
              <a:t>massa</a:t>
            </a:r>
            <a:r>
              <a:rPr lang="en-US" dirty="0"/>
              <a:t>. Cum sociis </a:t>
            </a:r>
            <a:r>
              <a:rPr lang="en-US" dirty="0" err="1"/>
              <a:t>natoque</a:t>
            </a:r>
            <a:r>
              <a:rPr lang="en-US" dirty="0"/>
              <a:t> </a:t>
            </a:r>
            <a:r>
              <a:rPr lang="en-US" dirty="0" err="1"/>
              <a:t>penatibus</a:t>
            </a:r>
            <a:r>
              <a:rPr lang="en-US" dirty="0"/>
              <a:t> et </a:t>
            </a:r>
            <a:r>
              <a:rPr lang="en-US" dirty="0" err="1"/>
              <a:t>magnis</a:t>
            </a:r>
            <a:r>
              <a:rPr lang="en-US" dirty="0"/>
              <a:t> dis parturient </a:t>
            </a:r>
            <a:r>
              <a:rPr lang="en-US" dirty="0" err="1"/>
              <a:t>montes</a:t>
            </a:r>
            <a:r>
              <a:rPr lang="en-US" dirty="0"/>
              <a:t>, </a:t>
            </a:r>
            <a:r>
              <a:rPr lang="en-US" dirty="0" err="1"/>
              <a:t>nascetur</a:t>
            </a:r>
            <a:r>
              <a:rPr lang="en-US" dirty="0"/>
              <a:t> </a:t>
            </a:r>
            <a:r>
              <a:rPr lang="en-US" dirty="0" err="1"/>
              <a:t>ridiculus</a:t>
            </a:r>
            <a:r>
              <a:rPr lang="en-US" dirty="0"/>
              <a:t> mus. Donec </a:t>
            </a:r>
            <a:r>
              <a:rPr lang="en-US" dirty="0" err="1"/>
              <a:t>quam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, </a:t>
            </a:r>
            <a:r>
              <a:rPr lang="en-US" dirty="0" err="1"/>
              <a:t>ultricies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,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, </a:t>
            </a:r>
            <a:r>
              <a:rPr lang="en-US" dirty="0" err="1"/>
              <a:t>pretium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, sem. 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068AA50-AAA8-4842-ABF3-40CA7CFE97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9358" y="685156"/>
            <a:ext cx="8999926" cy="59701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7316B5-C57D-4BFE-9E05-E402A449FF88}"/>
              </a:ext>
            </a:extLst>
          </p:cNvPr>
          <p:cNvCxnSpPr/>
          <p:nvPr userDrawn="1"/>
        </p:nvCxnSpPr>
        <p:spPr>
          <a:xfrm>
            <a:off x="614785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F92057-32FC-4FC9-AF35-02473A8E49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5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15640743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 aligned right + Ital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7316B5-C57D-4BFE-9E05-E402A449FF88}"/>
              </a:ext>
            </a:extLst>
          </p:cNvPr>
          <p:cNvCxnSpPr/>
          <p:nvPr userDrawn="1"/>
        </p:nvCxnSpPr>
        <p:spPr>
          <a:xfrm>
            <a:off x="614785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F92057-32FC-4FC9-AF35-02473A8E49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5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section name</a:t>
            </a:r>
            <a:endParaRPr lang="en-US" dirty="0"/>
          </a:p>
        </p:txBody>
      </p:sp>
      <p:sp>
        <p:nvSpPr>
          <p:cNvPr id="6" name="Shape 610" hidden="1">
            <a:extLst>
              <a:ext uri="{FF2B5EF4-FFF2-40B4-BE49-F238E27FC236}">
                <a16:creationId xmlns:a16="http://schemas.microsoft.com/office/drawing/2014/main" id="{C5B068B2-AEB9-41E6-AB3C-EA87FFB0FE76}"/>
              </a:ext>
            </a:extLst>
          </p:cNvPr>
          <p:cNvSpPr/>
          <p:nvPr userDrawn="1"/>
        </p:nvSpPr>
        <p:spPr>
          <a:xfrm>
            <a:off x="510238" y="2132869"/>
            <a:ext cx="6303518" cy="3103212"/>
          </a:xfrm>
          <a:prstGeom prst="rect">
            <a:avLst/>
          </a:prstGeom>
          <a:noFill/>
          <a:ln>
            <a:noFill/>
          </a:ln>
        </p:spPr>
        <p:txBody>
          <a:bodyPr lIns="91412" tIns="45700" rIns="91412" bIns="45700" anchor="t" anchorCtr="0">
            <a:noAutofit/>
          </a:bodyPr>
          <a:lstStyle/>
          <a:p>
            <a:pPr algn="r">
              <a:buSzPct val="25000"/>
            </a:pPr>
            <a:r>
              <a:rPr lang="en-GB" sz="2800" dirty="0"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We have focused on </a:t>
            </a:r>
            <a:r>
              <a:rPr lang="en-GB" sz="2800" b="1" dirty="0"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preparing and empowering BDT staff</a:t>
            </a:r>
            <a:r>
              <a:rPr lang="en-GB" sz="2800" dirty="0"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 with the tools and resources to deliver value and impact, with performance management related objectives being adjusted accordingly</a:t>
            </a:r>
          </a:p>
        </p:txBody>
      </p:sp>
      <p:sp>
        <p:nvSpPr>
          <p:cNvPr id="7" name="Subtitle 8">
            <a:extLst>
              <a:ext uri="{FF2B5EF4-FFF2-40B4-BE49-F238E27FC236}">
                <a16:creationId xmlns:a16="http://schemas.microsoft.com/office/drawing/2014/main" id="{A4620858-2872-44F6-B072-7E678A260322}"/>
              </a:ext>
            </a:extLst>
          </p:cNvPr>
          <p:cNvSpPr txBox="1">
            <a:spLocks/>
          </p:cNvSpPr>
          <p:nvPr userDrawn="1"/>
        </p:nvSpPr>
        <p:spPr>
          <a:xfrm>
            <a:off x="7295839" y="2132869"/>
            <a:ext cx="4663323" cy="430349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1800"/>
              </a:spcBef>
            </a:pPr>
            <a:endParaRPr lang="en-US" i="1" dirty="0">
              <a:solidFill>
                <a:schemeClr val="bg2">
                  <a:lumMod val="25000"/>
                </a:schemeClr>
              </a:solidFill>
              <a:latin typeface="Georgia" panose="02040502050405020303" pitchFamily="18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E0E510D-A28B-40D0-90A9-897A15E93F85}"/>
              </a:ext>
            </a:extLst>
          </p:cNvPr>
          <p:cNvCxnSpPr>
            <a:cxnSpLocks/>
          </p:cNvCxnSpPr>
          <p:nvPr userDrawn="1"/>
        </p:nvCxnSpPr>
        <p:spPr>
          <a:xfrm>
            <a:off x="7069545" y="2248302"/>
            <a:ext cx="0" cy="313372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885EC5-B7E9-4FBB-A4AE-A260C8DCB03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3238" y="2133600"/>
            <a:ext cx="6297612" cy="3079750"/>
          </a:xfrm>
        </p:spPr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We have focused on </a:t>
            </a: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preparing and empowering BDT staff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 with the tools and resources to deliver value and impact, with performance management related objectives being adjusted accordingly</a:t>
            </a:r>
          </a:p>
          <a:p>
            <a:pPr lvl="0"/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EFC6EC8-B366-4C1C-9E18-04E70FF727B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96150" y="2133600"/>
            <a:ext cx="4683125" cy="3856038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Multiple RBM workshops for</a:t>
            </a:r>
            <a:b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</a:b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all HQ-based teams and Regional Offices 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Project Management training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Communication for Development training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Procurement training</a:t>
            </a:r>
            <a:endParaRPr lang="en-US" i="1" dirty="0">
              <a:solidFill>
                <a:schemeClr val="bg2">
                  <a:lumMod val="25000"/>
                </a:schemeClr>
              </a:solidFill>
              <a:latin typeface="Georgia" panose="02040502050405020303" pitchFamily="18" charset="0"/>
            </a:endParaRP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376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big quote mar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A647C-A7BD-47C9-962C-55289EF4CD8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20946" y="2336800"/>
            <a:ext cx="9150108" cy="3764076"/>
          </a:xfrm>
        </p:spPr>
        <p:txBody>
          <a:bodyPr numCol="1" spcCol="274320">
            <a:noAutofit/>
          </a:bodyPr>
          <a:lstStyle>
            <a:lvl1pPr marL="91440" indent="0">
              <a:lnSpc>
                <a:spcPct val="100000"/>
              </a:lnSpc>
              <a:buClr>
                <a:srgbClr val="009CD6"/>
              </a:buClr>
              <a:buFontTx/>
              <a:buNone/>
              <a:defRPr sz="3200" i="1" spc="20">
                <a:latin typeface="Georgia" panose="02040502050405020303" pitchFamily="18" charset="0"/>
              </a:defRPr>
            </a:lvl1pPr>
            <a:lvl2pPr marL="5486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2pPr>
            <a:lvl3pPr marL="10058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3pPr>
            <a:lvl4pPr marL="14630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4pPr>
            <a:lvl5pPr>
              <a:buClr>
                <a:srgbClr val="5B9BD5"/>
              </a:buClr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Aenean </a:t>
            </a:r>
            <a:r>
              <a:rPr lang="en-US" dirty="0" err="1"/>
              <a:t>commodo</a:t>
            </a:r>
            <a:r>
              <a:rPr lang="en-US" dirty="0"/>
              <a:t> ligula </a:t>
            </a:r>
            <a:r>
              <a:rPr lang="en-US" dirty="0" err="1"/>
              <a:t>eget</a:t>
            </a:r>
            <a:r>
              <a:rPr lang="en-US" dirty="0"/>
              <a:t> dolor. Aenean </a:t>
            </a:r>
            <a:r>
              <a:rPr lang="en-US" dirty="0" err="1"/>
              <a:t>massa</a:t>
            </a:r>
            <a:r>
              <a:rPr lang="en-US" dirty="0"/>
              <a:t>. Cum sociis </a:t>
            </a:r>
            <a:r>
              <a:rPr lang="en-US" dirty="0" err="1"/>
              <a:t>natoque</a:t>
            </a:r>
            <a:r>
              <a:rPr lang="en-US" dirty="0"/>
              <a:t> </a:t>
            </a:r>
            <a:r>
              <a:rPr lang="en-US" dirty="0" err="1"/>
              <a:t>penatibus</a:t>
            </a:r>
            <a:r>
              <a:rPr lang="en-US" dirty="0"/>
              <a:t> et </a:t>
            </a:r>
            <a:r>
              <a:rPr lang="en-US" dirty="0" err="1"/>
              <a:t>magnis</a:t>
            </a:r>
            <a:r>
              <a:rPr lang="en-US" dirty="0"/>
              <a:t> dis parturient </a:t>
            </a:r>
            <a:r>
              <a:rPr lang="en-US" dirty="0" err="1"/>
              <a:t>montes</a:t>
            </a:r>
            <a:r>
              <a:rPr lang="en-US" dirty="0"/>
              <a:t>, </a:t>
            </a:r>
            <a:r>
              <a:rPr lang="en-US" dirty="0" err="1"/>
              <a:t>nascetur</a:t>
            </a:r>
            <a:r>
              <a:rPr lang="en-US" dirty="0"/>
              <a:t> </a:t>
            </a:r>
            <a:r>
              <a:rPr lang="en-US" dirty="0" err="1"/>
              <a:t>ridiculus</a:t>
            </a:r>
            <a:r>
              <a:rPr lang="en-US" dirty="0"/>
              <a:t> mus.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7316B5-C57D-4BFE-9E05-E402A449FF88}"/>
              </a:ext>
            </a:extLst>
          </p:cNvPr>
          <p:cNvCxnSpPr/>
          <p:nvPr userDrawn="1"/>
        </p:nvCxnSpPr>
        <p:spPr>
          <a:xfrm>
            <a:off x="614785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F92057-32FC-4FC9-AF35-02473A8E49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5" y="313371"/>
            <a:ext cx="4554538" cy="308803"/>
          </a:xfrm>
        </p:spPr>
        <p:txBody>
          <a:bodyPr anchor="ctr"/>
          <a:lstStyle>
            <a:lvl1pPr marL="91440" indent="0" algn="l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19879591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A647C-A7BD-47C9-962C-55289EF4CD8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20946" y="2658534"/>
            <a:ext cx="9150108" cy="3764076"/>
          </a:xfrm>
        </p:spPr>
        <p:txBody>
          <a:bodyPr numCol="1" spcCol="274320">
            <a:noAutofit/>
          </a:bodyPr>
          <a:lstStyle>
            <a:lvl1pPr marL="91440" indent="0">
              <a:lnSpc>
                <a:spcPct val="100000"/>
              </a:lnSpc>
              <a:buClr>
                <a:srgbClr val="009CD6"/>
              </a:buClr>
              <a:buFontTx/>
              <a:buNone/>
              <a:defRPr sz="3200" i="1" spc="20">
                <a:latin typeface="Georgia" panose="02040502050405020303" pitchFamily="18" charset="0"/>
              </a:defRPr>
            </a:lvl1pPr>
            <a:lvl2pPr marL="5486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2pPr>
            <a:lvl3pPr marL="10058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3pPr>
            <a:lvl4pPr marL="14630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4pPr>
            <a:lvl5pPr>
              <a:buClr>
                <a:srgbClr val="5B9BD5"/>
              </a:buClr>
              <a:defRPr/>
            </a:lvl5pPr>
          </a:lstStyle>
          <a:p>
            <a:pPr lvl="0"/>
            <a:r>
              <a:rPr lang="en-US" dirty="0"/>
              <a:t>“Lorem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Aenean </a:t>
            </a:r>
            <a:r>
              <a:rPr lang="en-US" dirty="0" err="1"/>
              <a:t>commodo</a:t>
            </a:r>
            <a:r>
              <a:rPr lang="en-US" dirty="0"/>
              <a:t> ligula </a:t>
            </a:r>
            <a:r>
              <a:rPr lang="en-US" dirty="0" err="1"/>
              <a:t>eget</a:t>
            </a:r>
            <a:r>
              <a:rPr lang="en-US" dirty="0"/>
              <a:t> dolor. Aenean </a:t>
            </a:r>
            <a:r>
              <a:rPr lang="en-US" dirty="0" err="1"/>
              <a:t>massa</a:t>
            </a:r>
            <a:r>
              <a:rPr lang="en-US" dirty="0"/>
              <a:t>. Cum sociis </a:t>
            </a:r>
            <a:r>
              <a:rPr lang="en-US" dirty="0" err="1"/>
              <a:t>natoque</a:t>
            </a:r>
            <a:r>
              <a:rPr lang="en-US" dirty="0"/>
              <a:t> </a:t>
            </a:r>
            <a:r>
              <a:rPr lang="en-US" dirty="0" err="1"/>
              <a:t>penatibus</a:t>
            </a:r>
            <a:r>
              <a:rPr lang="en-US" dirty="0"/>
              <a:t> et </a:t>
            </a:r>
            <a:r>
              <a:rPr lang="en-US" dirty="0" err="1"/>
              <a:t>magnis</a:t>
            </a:r>
            <a:r>
              <a:rPr lang="en-US" dirty="0"/>
              <a:t> dis parturient </a:t>
            </a:r>
            <a:r>
              <a:rPr lang="en-US" dirty="0" err="1"/>
              <a:t>montes</a:t>
            </a:r>
            <a:r>
              <a:rPr lang="en-US" dirty="0"/>
              <a:t>, </a:t>
            </a:r>
            <a:r>
              <a:rPr lang="en-US" dirty="0" err="1"/>
              <a:t>nascetur</a:t>
            </a:r>
            <a:r>
              <a:rPr lang="en-US" dirty="0"/>
              <a:t> </a:t>
            </a:r>
            <a:r>
              <a:rPr lang="en-US" dirty="0" err="1"/>
              <a:t>ridiculus</a:t>
            </a:r>
            <a:r>
              <a:rPr lang="en-US" dirty="0"/>
              <a:t> mus.”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7316B5-C57D-4BFE-9E05-E402A449FF88}"/>
              </a:ext>
            </a:extLst>
          </p:cNvPr>
          <p:cNvCxnSpPr/>
          <p:nvPr userDrawn="1"/>
        </p:nvCxnSpPr>
        <p:spPr>
          <a:xfrm>
            <a:off x="614785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F92057-32FC-4FC9-AF35-02473A8E49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5" y="313371"/>
            <a:ext cx="4554538" cy="308803"/>
          </a:xfrm>
        </p:spPr>
        <p:txBody>
          <a:bodyPr anchor="ctr"/>
          <a:lstStyle>
            <a:lvl1pPr marL="91440" indent="0" algn="l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BE0DB947-B9BF-4F5D-BCB3-A4E551A7C95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473700" y="1215232"/>
            <a:ext cx="1244600" cy="1244600"/>
          </a:xfrm>
          <a:prstGeom prst="flowChartConnector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>
              <a:defRPr sz="1400" b="0"/>
            </a:lvl1pPr>
          </a:lstStyle>
          <a:p>
            <a:r>
              <a:rPr lang="en-US" dirty="0"/>
              <a:t>Insert</a:t>
            </a:r>
            <a:br>
              <a:rPr lang="en-US" dirty="0"/>
            </a:br>
            <a:r>
              <a:rPr lang="en-US" dirty="0"/>
              <a:t>Photo</a:t>
            </a:r>
          </a:p>
        </p:txBody>
      </p:sp>
    </p:spTree>
    <p:extLst>
      <p:ext uri="{BB962C8B-B14F-4D97-AF65-F5344CB8AC3E}">
        <p14:creationId xmlns:p14="http://schemas.microsoft.com/office/powerpoint/2010/main" val="1068319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large image (light blue bg)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5ED55E9E-BFC6-411F-90A8-B7CC917CD1B5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98526" y="1881427"/>
            <a:ext cx="10976290" cy="3985973"/>
          </a:xfrm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image here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7FA0E66-7846-4BCB-AE09-F966602C759F}"/>
              </a:ext>
            </a:extLst>
          </p:cNvPr>
          <p:cNvCxnSpPr/>
          <p:nvPr userDrawn="1"/>
        </p:nvCxnSpPr>
        <p:spPr>
          <a:xfrm>
            <a:off x="607468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CF0B2556-6FCF-4306-988D-12A70352A4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7468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B0DA0626-8521-4B9A-A854-E817A6A12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392" y="1231105"/>
            <a:ext cx="10515600" cy="56843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620815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light blu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55F4467-8115-4C34-B39A-8E571F625EA9}"/>
              </a:ext>
            </a:extLst>
          </p:cNvPr>
          <p:cNvSpPr/>
          <p:nvPr userDrawn="1"/>
        </p:nvSpPr>
        <p:spPr>
          <a:xfrm>
            <a:off x="-30161" y="0"/>
            <a:ext cx="12222161" cy="6858000"/>
          </a:xfrm>
          <a:prstGeom prst="rect">
            <a:avLst/>
          </a:prstGeom>
          <a:solidFill>
            <a:srgbClr val="F5FA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6718066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 (white bg)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36622E0-A137-429D-BE75-779E322CE694}"/>
              </a:ext>
            </a:extLst>
          </p:cNvPr>
          <p:cNvSpPr/>
          <p:nvPr userDrawn="1"/>
        </p:nvSpPr>
        <p:spPr>
          <a:xfrm>
            <a:off x="-30161" y="0"/>
            <a:ext cx="1222216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Next LT Pro" panose="020B05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5035650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9.xml"/><Relationship Id="rId3" Type="http://schemas.openxmlformats.org/officeDocument/2006/relationships/slideLayout" Target="../slideLayouts/slideLayout20.xml"/><Relationship Id="rId4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2.xml"/><Relationship Id="rId3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C4518C-C369-4BCE-93F6-ACF7A0A45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392" y="879975"/>
            <a:ext cx="10515600" cy="74644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28A0EE-5A32-42C1-8C1D-EA2BEF099C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8392" y="180434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A5A063-7EAA-4705-81BD-73270FF5BA28}"/>
              </a:ext>
            </a:extLst>
          </p:cNvPr>
          <p:cNvSpPr txBox="1"/>
          <p:nvPr userDrawn="1"/>
        </p:nvSpPr>
        <p:spPr>
          <a:xfrm>
            <a:off x="9182937" y="6343130"/>
            <a:ext cx="24993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spc="50" baseline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www.itu.int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ED357C-3FA0-42D4-850C-879BB0BE1875}"/>
              </a:ext>
            </a:extLst>
          </p:cNvPr>
          <p:cNvSpPr txBox="1"/>
          <p:nvPr userDrawn="1"/>
        </p:nvSpPr>
        <p:spPr>
          <a:xfrm>
            <a:off x="11420070" y="6345034"/>
            <a:ext cx="55372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88FE18D-1554-4525-B2E9-CBAFE9755A5A}" type="slidenum">
              <a:rPr lang="en-US" sz="1300" smtClean="0">
                <a:solidFill>
                  <a:schemeClr val="tx1"/>
                </a:solidFill>
              </a:rPr>
              <a:t>‹#›</a:t>
            </a:fld>
            <a:endParaRPr lang="en-US" sz="13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2108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3" r:id="rId2"/>
    <p:sldLayoutId id="2147483652" r:id="rId3"/>
    <p:sldLayoutId id="2147483675" r:id="rId4"/>
    <p:sldLayoutId id="2147483676" r:id="rId5"/>
    <p:sldLayoutId id="2147483674" r:id="rId6"/>
    <p:sldLayoutId id="2147483672" r:id="rId7"/>
    <p:sldLayoutId id="2147483657" r:id="rId8"/>
    <p:sldLayoutId id="2147483717" r:id="rId9"/>
    <p:sldLayoutId id="2147483718" r:id="rId10"/>
    <p:sldLayoutId id="2147483719" r:id="rId11"/>
    <p:sldLayoutId id="2147483670" r:id="rId12"/>
    <p:sldLayoutId id="2147483660" r:id="rId13"/>
    <p:sldLayoutId id="2147483687" r:id="rId14"/>
    <p:sldLayoutId id="2147483707" r:id="rId15"/>
    <p:sldLayoutId id="2147483712" r:id="rId16"/>
    <p:sldLayoutId id="2147483721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137160" algn="l" defTabSz="914400" rtl="0" eaLnBrk="1" latinLnBrk="0" hangingPunct="1">
        <a:lnSpc>
          <a:spcPts val="2200"/>
        </a:lnSpc>
        <a:spcBef>
          <a:spcPts val="10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137160" algn="l" defTabSz="914400" rtl="0" eaLnBrk="1" latinLnBrk="0" hangingPunct="1">
        <a:lnSpc>
          <a:spcPts val="2200"/>
        </a:lnSpc>
        <a:spcBef>
          <a:spcPts val="5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137160" algn="l" defTabSz="914400" rtl="0" eaLnBrk="1" latinLnBrk="0" hangingPunct="1">
        <a:lnSpc>
          <a:spcPts val="2200"/>
        </a:lnSpc>
        <a:spcBef>
          <a:spcPts val="5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1800" kern="1200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137160" algn="l" defTabSz="914400" rtl="0" eaLnBrk="1" latinLnBrk="0" hangingPunct="1">
        <a:lnSpc>
          <a:spcPts val="2200"/>
        </a:lnSpc>
        <a:spcBef>
          <a:spcPts val="5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1800" kern="1200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ts val="2200"/>
        </a:lnSpc>
        <a:spcBef>
          <a:spcPts val="500"/>
        </a:spcBef>
        <a:buClr>
          <a:srgbClr val="00B0F0"/>
        </a:buClr>
        <a:buFont typeface="Arial" panose="020B0604020202020204" pitchFamily="34" charset="0"/>
        <a:buChar char="•"/>
        <a:defRPr sz="1800" kern="1200" spc="3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C4518C-C369-4BCE-93F6-ACF7A0A45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392" y="879975"/>
            <a:ext cx="10515600" cy="74644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28A0EE-5A32-42C1-8C1D-EA2BEF099C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8392" y="180434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3ABCAB-1B02-4C7B-89B1-A5BB0E479D06}"/>
              </a:ext>
            </a:extLst>
          </p:cNvPr>
          <p:cNvSpPr txBox="1"/>
          <p:nvPr userDrawn="1"/>
        </p:nvSpPr>
        <p:spPr>
          <a:xfrm>
            <a:off x="9182937" y="6343130"/>
            <a:ext cx="24993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spc="50" baseline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www.itu.int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662A7B-D8AC-460A-9C3E-1872390023D8}"/>
              </a:ext>
            </a:extLst>
          </p:cNvPr>
          <p:cNvSpPr txBox="1"/>
          <p:nvPr userDrawn="1"/>
        </p:nvSpPr>
        <p:spPr>
          <a:xfrm>
            <a:off x="11420070" y="6345034"/>
            <a:ext cx="55372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88FE18D-1554-4525-B2E9-CBAFE9755A5A}" type="slidenum">
              <a:rPr lang="en-US" sz="1300" smtClean="0">
                <a:solidFill>
                  <a:schemeClr val="tx1"/>
                </a:solidFill>
              </a:rPr>
              <a:t>‹#›</a:t>
            </a:fld>
            <a:endParaRPr lang="en-US" sz="13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7039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6" r:id="rId2"/>
    <p:sldLayoutId id="214748371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137160" algn="l" defTabSz="914400" rtl="0" eaLnBrk="1" latinLnBrk="0" hangingPunct="1">
        <a:lnSpc>
          <a:spcPct val="100000"/>
        </a:lnSpc>
        <a:spcBef>
          <a:spcPts val="10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280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137160" algn="l" defTabSz="914400" rtl="0" eaLnBrk="1" latinLnBrk="0" hangingPunct="1">
        <a:lnSpc>
          <a:spcPct val="100000"/>
        </a:lnSpc>
        <a:spcBef>
          <a:spcPts val="5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280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137160" algn="l" defTabSz="914400" rtl="0" eaLnBrk="1" latinLnBrk="0" hangingPunct="1">
        <a:lnSpc>
          <a:spcPct val="100000"/>
        </a:lnSpc>
        <a:spcBef>
          <a:spcPts val="5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2800" kern="1200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137160" algn="l" defTabSz="914400" rtl="0" eaLnBrk="1" latinLnBrk="0" hangingPunct="1">
        <a:lnSpc>
          <a:spcPct val="100000"/>
        </a:lnSpc>
        <a:spcBef>
          <a:spcPts val="5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2800" kern="1200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ts val="2200"/>
        </a:lnSpc>
        <a:spcBef>
          <a:spcPts val="500"/>
        </a:spcBef>
        <a:buClr>
          <a:srgbClr val="00B0F0"/>
        </a:buClr>
        <a:buFont typeface="Arial" panose="020B0604020202020204" pitchFamily="34" charset="0"/>
        <a:buChar char="•"/>
        <a:defRPr sz="1800" kern="1200" spc="3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28A0EE-5A32-42C1-8C1D-EA2BEF099C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16313" y="2209801"/>
            <a:ext cx="8559373" cy="37930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algn="ctr"/>
            <a:r>
              <a:rPr lang="en-US" sz="2800" i="1" dirty="0">
                <a:latin typeface="Georgia" panose="02040502050405020303" pitchFamily="18" charset="0"/>
              </a:rPr>
              <a:t>We grew up with the internet. </a:t>
            </a:r>
            <a:br>
              <a:rPr lang="en-US" sz="2800" i="1" dirty="0">
                <a:latin typeface="Georgia" panose="02040502050405020303" pitchFamily="18" charset="0"/>
              </a:rPr>
            </a:br>
            <a:r>
              <a:rPr lang="en-US" sz="2800" i="1" dirty="0">
                <a:latin typeface="Georgia" panose="02040502050405020303" pitchFamily="18" charset="0"/>
              </a:rPr>
              <a:t>I mean, the internet has always been here with us. The grown-ups are like ‘Wow the internet appeared’, while it is perfectly normal for us.”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FB8933-3AE5-487A-8B03-0B68C8923CB0}"/>
              </a:ext>
            </a:extLst>
          </p:cNvPr>
          <p:cNvSpPr txBox="1"/>
          <p:nvPr userDrawn="1"/>
        </p:nvSpPr>
        <p:spPr>
          <a:xfrm>
            <a:off x="9182937" y="6343130"/>
            <a:ext cx="24993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spc="50" baseline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www.itu.int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9BF5BD-2163-4157-A2AF-C24DDF31C8DA}"/>
              </a:ext>
            </a:extLst>
          </p:cNvPr>
          <p:cNvSpPr txBox="1"/>
          <p:nvPr userDrawn="1"/>
        </p:nvSpPr>
        <p:spPr>
          <a:xfrm>
            <a:off x="11420070" y="6345034"/>
            <a:ext cx="55372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88FE18D-1554-4525-B2E9-CBAFE9755A5A}" type="slidenum">
              <a:rPr lang="en-US" sz="1300" smtClean="0">
                <a:solidFill>
                  <a:schemeClr val="tx1"/>
                </a:solidFill>
              </a:rPr>
              <a:t>‹#›</a:t>
            </a:fld>
            <a:endParaRPr lang="en-US" sz="13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613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91440" indent="0" algn="ctr" defTabSz="914400" rtl="0" eaLnBrk="1" latinLnBrk="0" hangingPunct="1">
        <a:lnSpc>
          <a:spcPct val="100000"/>
        </a:lnSpc>
        <a:spcBef>
          <a:spcPts val="1000"/>
        </a:spcBef>
        <a:buClr>
          <a:srgbClr val="009CD6"/>
        </a:buClr>
        <a:buSzPct val="110000"/>
        <a:buFontTx/>
        <a:buNone/>
        <a:defRPr sz="360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48640" indent="0" algn="l" defTabSz="914400" rtl="0" eaLnBrk="1" latinLnBrk="0" hangingPunct="1">
        <a:lnSpc>
          <a:spcPct val="100000"/>
        </a:lnSpc>
        <a:spcBef>
          <a:spcPts val="500"/>
        </a:spcBef>
        <a:buClr>
          <a:srgbClr val="009CD6"/>
        </a:buClr>
        <a:buSzPct val="110000"/>
        <a:buFontTx/>
        <a:buNone/>
        <a:defRPr sz="280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005840" indent="0" algn="l" defTabSz="914400" rtl="0" eaLnBrk="1" latinLnBrk="0" hangingPunct="1">
        <a:lnSpc>
          <a:spcPct val="100000"/>
        </a:lnSpc>
        <a:spcBef>
          <a:spcPts val="500"/>
        </a:spcBef>
        <a:buClr>
          <a:srgbClr val="009CD6"/>
        </a:buClr>
        <a:buSzPct val="110000"/>
        <a:buFontTx/>
        <a:buNone/>
        <a:defRPr sz="2800" kern="1200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463040" indent="0" algn="l" defTabSz="914400" rtl="0" eaLnBrk="1" latinLnBrk="0" hangingPunct="1">
        <a:lnSpc>
          <a:spcPct val="100000"/>
        </a:lnSpc>
        <a:spcBef>
          <a:spcPts val="500"/>
        </a:spcBef>
        <a:buClr>
          <a:srgbClr val="009CD6"/>
        </a:buClr>
        <a:buSzPct val="110000"/>
        <a:buFontTx/>
        <a:buNone/>
        <a:defRPr sz="2800" kern="1200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ts val="2200"/>
        </a:lnSpc>
        <a:spcBef>
          <a:spcPts val="500"/>
        </a:spcBef>
        <a:buClr>
          <a:srgbClr val="00B0F0"/>
        </a:buClr>
        <a:buFont typeface="Arial" panose="020B0604020202020204" pitchFamily="34" charset="0"/>
        <a:buChar char="•"/>
        <a:defRPr sz="1800" kern="1200" spc="3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903303-232A-4935-AFB3-F7B88DD72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93" y="879975"/>
            <a:ext cx="10515600" cy="74644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383453-70D1-44FB-B9C3-2EEFC15545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8392" y="180434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228600" marR="0" lvl="0" indent="-137160" algn="l" defTabSz="914400" rtl="0" eaLnBrk="1" fontAlgn="auto" latinLnBrk="0" hangingPunct="1">
              <a:lnSpc>
                <a:spcPts val="2200"/>
              </a:lnSpc>
              <a:spcBef>
                <a:spcPts val="1000"/>
              </a:spcBef>
              <a:spcAft>
                <a:spcPts val="0"/>
              </a:spcAft>
              <a:buClr>
                <a:srgbClr val="009CD6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Second level</a:t>
            </a:r>
          </a:p>
          <a:p>
            <a:pPr marL="685800" marR="0" lvl="1" indent="-137160" algn="l" defTabSz="914400" rtl="0" eaLnBrk="1" fontAlgn="auto" latinLnBrk="0" hangingPunct="1">
              <a:lnSpc>
                <a:spcPts val="2200"/>
              </a:lnSpc>
              <a:spcBef>
                <a:spcPts val="500"/>
              </a:spcBef>
              <a:spcAft>
                <a:spcPts val="0"/>
              </a:spcAft>
              <a:buClr>
                <a:srgbClr val="009CD6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Third level</a:t>
            </a:r>
          </a:p>
          <a:p>
            <a:pPr marL="1143000" marR="0" lvl="2" indent="-137160" algn="l" defTabSz="914400" rtl="0" eaLnBrk="1" fontAlgn="auto" latinLnBrk="0" hangingPunct="1">
              <a:lnSpc>
                <a:spcPts val="2200"/>
              </a:lnSpc>
              <a:spcBef>
                <a:spcPts val="500"/>
              </a:spcBef>
              <a:spcAft>
                <a:spcPts val="0"/>
              </a:spcAft>
              <a:buClr>
                <a:srgbClr val="009CD6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Fourth level</a:t>
            </a:r>
          </a:p>
          <a:p>
            <a:pPr marL="1600200" marR="0" lvl="3" indent="-137160" algn="l" defTabSz="914400" rtl="0" eaLnBrk="1" fontAlgn="auto" latinLnBrk="0" hangingPunct="1">
              <a:lnSpc>
                <a:spcPts val="2200"/>
              </a:lnSpc>
              <a:spcBef>
                <a:spcPts val="500"/>
              </a:spcBef>
              <a:spcAft>
                <a:spcPts val="0"/>
              </a:spcAft>
              <a:buClr>
                <a:srgbClr val="009CD6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Fifth level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BFC052-984C-4106-B990-03A1EB3873C1}"/>
              </a:ext>
            </a:extLst>
          </p:cNvPr>
          <p:cNvSpPr txBox="1"/>
          <p:nvPr userDrawn="1"/>
        </p:nvSpPr>
        <p:spPr>
          <a:xfrm>
            <a:off x="9182937" y="6343130"/>
            <a:ext cx="24993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spc="50" baseline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www.itu.int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202A0A-9127-4C98-B796-7DD30E32B3B1}"/>
              </a:ext>
            </a:extLst>
          </p:cNvPr>
          <p:cNvSpPr txBox="1"/>
          <p:nvPr userDrawn="1"/>
        </p:nvSpPr>
        <p:spPr>
          <a:xfrm>
            <a:off x="11420070" y="6345034"/>
            <a:ext cx="55372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88FE18D-1554-4525-B2E9-CBAFE9755A5A}" type="slidenum">
              <a:rPr lang="en-US" sz="1300" smtClean="0">
                <a:solidFill>
                  <a:schemeClr val="tx1"/>
                </a:solidFill>
              </a:rPr>
              <a:t>‹#›</a:t>
            </a:fld>
            <a:endParaRPr lang="en-US" sz="13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103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78" r:id="rId2"/>
    <p:sldLayoutId id="2147483720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595959"/>
                </a:solidFill>
                <a:latin typeface="Arial"/>
              </a:rPr>
              <a:t>KP2 · MODULE 5 · VIDEO 5.1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0" b="1" i="0">
                <a:solidFill>
                  <a:srgbClr val="009CD6"/>
                </a:solidFill>
                <a:latin typeface="Arial"/>
              </a:rPr>
              <a:t>5.1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88036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1A1A1A"/>
                </a:solidFill>
                <a:latin typeface="Arial"/>
              </a:rPr>
              <a:t>Plan the build in four phases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343400"/>
            <a:ext cx="9875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1">
                <a:solidFill>
                  <a:srgbClr val="595959"/>
                </a:solidFill>
                <a:latin typeface="Arial"/>
              </a:rPr>
              <a:t>Foundation, Pilot, Expansion, Optimisation — four phases with decision gates, an honest calendar, and the four plans beside the schedule that a funder actually reads.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595959"/>
                </a:solidFill>
                <a:latin typeface="Arial"/>
              </a:rPr>
              <a:t>standalone video · voice-over on text slides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325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06E96"/>
                </a:solidFill>
                <a:latin typeface="Arial"/>
              </a:rPr>
              <a:t>WHERE WE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783080"/>
            <a:ext cx="10149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A1A1A"/>
                </a:solidFill>
                <a:latin typeface="Arial"/>
              </a:rPr>
              <a:t>You do not onboard a whole government at once.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611880"/>
            <a:ext cx="101498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595959"/>
                </a:solidFill>
                <a:latin typeface="Arial"/>
              </a:rPr>
              <a:t>Four phases, each delivering something real.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595959"/>
                </a:solidFill>
                <a:latin typeface="Arial"/>
              </a:rPr>
              <a:t>A decision gate before the next phase is funded.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5.1 · Plan the build in four phases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73952"/>
            <a:ext cx="1673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Arial"/>
              </a:rPr>
              <a:t>www.itu.int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45720" cy="25603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Arial"/>
              </a:rPr>
              <a:t>Four phases, a gate at each, on an honest calendar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07207" y="3108960"/>
            <a:ext cx="365761" cy="0"/>
          </a:xfrm>
          <a:prstGeom prst="line">
            <a:avLst/>
          </a:prstGeom>
          <a:ln w="19050">
            <a:solidFill>
              <a:srgbClr val="006E9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58368" y="1600200"/>
            <a:ext cx="2103120" cy="30175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8016" rIns="128016" tIns="91440" bIns="54864" wrap="square"/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006E96"/>
                </a:solidFill>
                <a:latin typeface="Arial"/>
              </a:rPr>
              <a:t>BEFORE MONTH 0</a:t>
            </a:r>
          </a:p>
          <a:p>
            <a:pPr algn="l">
              <a:spcAft>
                <a:spcPts val="300"/>
              </a:spcAft>
            </a:pPr>
            <a:r>
              <a:rPr sz="1450" b="0" i="0">
                <a:solidFill>
                  <a:srgbClr val="1A1A1A"/>
                </a:solidFill>
                <a:latin typeface="Arial"/>
              </a:rPr>
              <a:t>The groundwork: decree, governance, architecture, standards</a:t>
            </a:r>
          </a:p>
          <a:p>
            <a:pPr algn="l">
              <a:spcAft>
                <a:spcPts val="300"/>
              </a:spcAft>
            </a:pPr>
            <a:r>
              <a:rPr sz="1450" b="0" i="0">
                <a:solidFill>
                  <a:srgbClr val="1A1A1A"/>
                </a:solidFill>
                <a:latin typeface="Arial"/>
              </a:rPr>
              <a:t>A year to eighteen months of 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18687" y="1600200"/>
            <a:ext cx="1737360" cy="3017520"/>
          </a:xfrm>
          <a:prstGeom prst="roundRect">
            <a:avLst>
              <a:gd name="adj" fmla="val 8000"/>
            </a:avLst>
          </a:prstGeom>
          <a:solidFill>
            <a:srgbClr val="E5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8016" rIns="128016" tIns="91440" bIns="54864" wrap="square"/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006E96"/>
                </a:solidFill>
                <a:latin typeface="Arial"/>
              </a:rPr>
              <a:t>PHASE 1 · MONTHS 0–6</a:t>
            </a:r>
          </a:p>
          <a:p>
            <a:pPr algn="l">
              <a:spcAft>
                <a:spcPts val="300"/>
              </a:spcAft>
            </a:pPr>
            <a:r>
              <a:rPr sz="1450" b="0" i="0">
                <a:solidFill>
                  <a:srgbClr val="1A1A1A"/>
                </a:solidFill>
                <a:latin typeface="Arial"/>
              </a:rPr>
              <a:t>Foundation</a:t>
            </a:r>
          </a:p>
          <a:p>
            <a:pPr algn="l">
              <a:spcAft>
                <a:spcPts val="300"/>
              </a:spcAft>
            </a:pPr>
            <a:r>
              <a:rPr sz="1450" b="0" i="0">
                <a:solidFill>
                  <a:srgbClr val="1A1A1A"/>
                </a:solidFill>
                <a:latin typeface="Arial"/>
              </a:rPr>
              <a:t>Platform and trust anchor live</a:t>
            </a:r>
          </a:p>
          <a:p>
            <a:pPr algn="l">
              <a:spcAft>
                <a:spcPts val="300"/>
              </a:spcAft>
            </a:pPr>
            <a:r>
              <a:rPr sz="1450" b="0" i="0">
                <a:solidFill>
                  <a:srgbClr val="1A1A1A"/>
                </a:solidFill>
                <a:latin typeface="Arial"/>
              </a:rPr>
              <a:t>Two pilot members</a:t>
            </a:r>
          </a:p>
        </p:txBody>
      </p:sp>
      <p:sp>
        <p:nvSpPr>
          <p:cNvPr id="7" name="Diamond 6"/>
          <p:cNvSpPr/>
          <p:nvPr/>
        </p:nvSpPr>
        <p:spPr>
          <a:xfrm>
            <a:off x="5029200" y="2953512"/>
            <a:ext cx="310896" cy="310896"/>
          </a:xfrm>
          <a:prstGeom prst="diamond">
            <a:avLst/>
          </a:prstGeom>
          <a:solidFill>
            <a:srgbClr val="006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13248" y="1600200"/>
            <a:ext cx="1737360" cy="3017520"/>
          </a:xfrm>
          <a:prstGeom prst="roundRect">
            <a:avLst>
              <a:gd name="adj" fmla="val 8000"/>
            </a:avLst>
          </a:prstGeom>
          <a:solidFill>
            <a:srgbClr val="E5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8016" rIns="128016" tIns="91440" bIns="54864" wrap="square"/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006E96"/>
                </a:solidFill>
                <a:latin typeface="Arial"/>
              </a:rPr>
              <a:t>PHASE 2 · MONTHS 7–12</a:t>
            </a:r>
          </a:p>
          <a:p>
            <a:pPr algn="l">
              <a:spcAft>
                <a:spcPts val="300"/>
              </a:spcAft>
            </a:pPr>
            <a:r>
              <a:rPr sz="1450" b="0" i="0">
                <a:solidFill>
                  <a:srgbClr val="1A1A1A"/>
                </a:solidFill>
                <a:latin typeface="Arial"/>
              </a:rPr>
              <a:t>Pilot and Validation</a:t>
            </a:r>
          </a:p>
          <a:p>
            <a:pPr algn="l">
              <a:spcAft>
                <a:spcPts val="300"/>
              </a:spcAft>
            </a:pPr>
            <a:r>
              <a:rPr sz="1450" b="0" i="0">
                <a:solidFill>
                  <a:srgbClr val="1A1A1A"/>
                </a:solidFill>
                <a:latin typeface="Arial"/>
              </a:rPr>
              <a:t>First cross-ministry once-only exchanges</a:t>
            </a:r>
          </a:p>
          <a:p>
            <a:pPr algn="l">
              <a:spcAft>
                <a:spcPts val="300"/>
              </a:spcAft>
            </a:pPr>
            <a:r>
              <a:rPr sz="1450" b="0" i="0">
                <a:solidFill>
                  <a:srgbClr val="1A1A1A"/>
                </a:solidFill>
                <a:latin typeface="Arial"/>
              </a:rPr>
              <a:t>Five members</a:t>
            </a:r>
          </a:p>
        </p:txBody>
      </p:sp>
      <p:sp>
        <p:nvSpPr>
          <p:cNvPr id="9" name="Diamond 8"/>
          <p:cNvSpPr/>
          <p:nvPr/>
        </p:nvSpPr>
        <p:spPr>
          <a:xfrm>
            <a:off x="7223760" y="2953512"/>
            <a:ext cx="310896" cy="310896"/>
          </a:xfrm>
          <a:prstGeom prst="diamond">
            <a:avLst/>
          </a:prstGeom>
          <a:solidFill>
            <a:srgbClr val="006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607808" y="1600200"/>
            <a:ext cx="1737360" cy="3017520"/>
          </a:xfrm>
          <a:prstGeom prst="roundRect">
            <a:avLst>
              <a:gd name="adj" fmla="val 8000"/>
            </a:avLst>
          </a:prstGeom>
          <a:solidFill>
            <a:srgbClr val="E5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8016" rIns="128016" tIns="91440" bIns="54864" wrap="square"/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006E96"/>
                </a:solidFill>
                <a:latin typeface="Arial"/>
              </a:rPr>
              <a:t>PHASE 3 · MONTHS 13–18</a:t>
            </a:r>
          </a:p>
          <a:p>
            <a:pPr algn="l">
              <a:spcAft>
                <a:spcPts val="300"/>
              </a:spcAft>
            </a:pPr>
            <a:r>
              <a:rPr sz="1450" b="0" i="0">
                <a:solidFill>
                  <a:srgbClr val="1A1A1A"/>
                </a:solidFill>
                <a:latin typeface="Arial"/>
              </a:rPr>
              <a:t>Expansion</a:t>
            </a:r>
          </a:p>
          <a:p>
            <a:pPr algn="l">
              <a:spcAft>
                <a:spcPts val="300"/>
              </a:spcAft>
            </a:pPr>
            <a:r>
              <a:rPr sz="1450" b="0" i="0">
                <a:solidFill>
                  <a:srgbClr val="1A1A1A"/>
                </a:solidFill>
                <a:latin typeface="Arial"/>
              </a:rPr>
              <a:t>First-wave sectors covered</a:t>
            </a:r>
          </a:p>
          <a:p>
            <a:pPr algn="l">
              <a:spcAft>
                <a:spcPts val="300"/>
              </a:spcAft>
            </a:pPr>
            <a:r>
              <a:rPr sz="1450" b="0" i="0">
                <a:solidFill>
                  <a:srgbClr val="1A1A1A"/>
                </a:solidFill>
                <a:latin typeface="Arial"/>
              </a:rPr>
              <a:t>Fifteen members, 20+ services</a:t>
            </a:r>
          </a:p>
        </p:txBody>
      </p:sp>
      <p:sp>
        <p:nvSpPr>
          <p:cNvPr id="11" name="Diamond 10"/>
          <p:cNvSpPr/>
          <p:nvPr/>
        </p:nvSpPr>
        <p:spPr>
          <a:xfrm>
            <a:off x="9418320" y="2953512"/>
            <a:ext cx="310896" cy="310896"/>
          </a:xfrm>
          <a:prstGeom prst="diamond">
            <a:avLst/>
          </a:prstGeom>
          <a:solidFill>
            <a:srgbClr val="006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802367" y="1600200"/>
            <a:ext cx="1737360" cy="3017520"/>
          </a:xfrm>
          <a:prstGeom prst="roundRect">
            <a:avLst>
              <a:gd name="adj" fmla="val 8000"/>
            </a:avLst>
          </a:prstGeom>
          <a:solidFill>
            <a:srgbClr val="E5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8016" rIns="128016" tIns="91440" bIns="54864" wrap="square"/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006E96"/>
                </a:solidFill>
                <a:latin typeface="Arial"/>
              </a:rPr>
              <a:t>PHASE 4 · MONTHS 19–24</a:t>
            </a:r>
          </a:p>
          <a:p>
            <a:pPr algn="l">
              <a:spcAft>
                <a:spcPts val="300"/>
              </a:spcAft>
            </a:pPr>
            <a:r>
              <a:rPr sz="1450" b="0" i="0">
                <a:solidFill>
                  <a:srgbClr val="1A1A1A"/>
                </a:solidFill>
                <a:latin typeface="Arial"/>
              </a:rPr>
              <a:t>Optimisation</a:t>
            </a:r>
          </a:p>
          <a:p>
            <a:pPr algn="l">
              <a:spcAft>
                <a:spcPts val="300"/>
              </a:spcAft>
            </a:pPr>
            <a:r>
              <a:rPr sz="1450" b="0" i="0">
                <a:solidFill>
                  <a:srgbClr val="1A1A1A"/>
                </a:solidFill>
                <a:latin typeface="Arial"/>
              </a:rPr>
              <a:t>Performance, the long tail, the next wave</a:t>
            </a:r>
          </a:p>
        </p:txBody>
      </p:sp>
      <p:sp>
        <p:nvSpPr>
          <p:cNvPr id="13" name="Diamond 12"/>
          <p:cNvSpPr/>
          <p:nvPr/>
        </p:nvSpPr>
        <p:spPr>
          <a:xfrm>
            <a:off x="658368" y="4800600"/>
            <a:ext cx="237744" cy="237744"/>
          </a:xfrm>
          <a:prstGeom prst="diamond">
            <a:avLst/>
          </a:prstGeom>
          <a:solidFill>
            <a:srgbClr val="006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4745736"/>
            <a:ext cx="5486400" cy="34747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/>
            <a:r>
              <a:rPr sz="1250" b="1" i="0">
                <a:solidFill>
                  <a:srgbClr val="006E96"/>
                </a:solidFill>
                <a:latin typeface="Arial"/>
              </a:rPr>
              <a:t>a go / no-go gate — the next phase is funded only if this one delivered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539496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1" i="0">
                <a:solidFill>
                  <a:srgbClr val="006E96"/>
                </a:solidFill>
                <a:latin typeface="Arial"/>
              </a:rPr>
              <a:t>First citizen-visible once-only exchange: about a year in. National coverage: a four-to-six-year programme — say so on day one.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5.1 · Plan the build in four phases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45720" cy="25603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Arial"/>
              </a:rPr>
              <a:t>Phase one builds the bus once — everything after reuses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00200"/>
            <a:ext cx="10881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Every later phase and every agency that joins consumes that one investment.</a:t>
            </a:r>
          </a:p>
          <a:p>
            <a:pPr>
              <a:spcAft>
                <a:spcPts val="12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That is what a funder should see in the plan.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3977639"/>
            <a:ext cx="10881360" cy="1325880"/>
          </a:xfrm>
          <a:prstGeom prst="roundRect">
            <a:avLst>
              <a:gd name="adj" fmla="val 4500"/>
            </a:avLst>
          </a:prstGeom>
          <a:solidFill>
            <a:srgbClr val="E5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4169663"/>
            <a:ext cx="10479024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300" b="1" i="0">
                <a:solidFill>
                  <a:srgbClr val="006E96"/>
                </a:solidFill>
                <a:latin typeface="Arial"/>
              </a:rPr>
              <a:t>A funder paying for a national platform, not a project.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5.1 · Plan the build in four phases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45720" cy="25603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Arial"/>
              </a:rPr>
              <a:t>These build phases are not the enterprise-architecture lifecycle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554480"/>
            <a:ext cx="5394960" cy="2926080"/>
          </a:xfrm>
          <a:prstGeom prst="roundRect">
            <a:avLst>
              <a:gd name="adj" fmla="val 4500"/>
            </a:avLst>
          </a:prstGeom>
          <a:solidFill>
            <a:srgbClr val="E5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1700784"/>
            <a:ext cx="4992624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900" b="1" i="0">
                <a:solidFill>
                  <a:srgbClr val="006E96"/>
                </a:solidFill>
                <a:latin typeface="Arial"/>
              </a:rPr>
              <a:t>THE FIVE-PHASE LIFECYCLE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Produced your plan.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Designs the target.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554480"/>
            <a:ext cx="5394960" cy="2926080"/>
          </a:xfrm>
          <a:prstGeom prst="roundRect">
            <a:avLst>
              <a:gd name="adj" fmla="val 45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64808" y="1700784"/>
            <a:ext cx="4992624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900" b="1" i="0">
                <a:solidFill>
                  <a:srgbClr val="006E96"/>
                </a:solidFill>
                <a:latin typeface="Arial"/>
              </a:rPr>
              <a:t>THE FOUR BUILD PHASES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Build the bus.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Run inside the lifecycle's final phase.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66344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1" i="0">
                <a:solidFill>
                  <a:srgbClr val="006E96"/>
                </a:solidFill>
                <a:latin typeface="Arial"/>
              </a:rPr>
              <a:t>Same word, two different things — keep them apart in every briefing.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5.1 · Plan the build in four phases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45720" cy="25603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Arial"/>
              </a:rPr>
              <a:t>The plan is five documents, not one schedule</a:t>
            </a:r>
          </a:p>
        </p:txBody>
      </p:sp>
      <p:sp>
        <p:nvSpPr>
          <p:cNvPr id="4" name="Oval 3"/>
          <p:cNvSpPr/>
          <p:nvPr/>
        </p:nvSpPr>
        <p:spPr>
          <a:xfrm>
            <a:off x="621792" y="1463040"/>
            <a:ext cx="310896" cy="310896"/>
          </a:xfrm>
          <a:prstGeom prst="ellipse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" y="1417320"/>
            <a:ext cx="10527487" cy="83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The phased schedule</a:t>
            </a:r>
          </a:p>
          <a:p>
            <a:pPr>
              <a:spcAft>
                <a:spcPts val="300"/>
              </a:spcAft>
            </a:pPr>
            <a:r>
              <a:rPr sz="1550" b="0" i="0">
                <a:solidFill>
                  <a:srgbClr val="595959"/>
                </a:solidFill>
                <a:latin typeface="Arial"/>
              </a:rPr>
              <a:t>Outcomes, a go / no-go gate and the risks, per phase.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2253996"/>
            <a:ext cx="10881360" cy="12700"/>
          </a:xfrm>
          <a:prstGeom prst="rect">
            <a:avLst/>
          </a:prstGeom>
          <a:solidFill>
            <a:srgbClr val="DD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21792" y="2340863"/>
            <a:ext cx="310896" cy="310896"/>
          </a:xfrm>
          <a:prstGeom prst="ellipse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295144"/>
            <a:ext cx="10527487" cy="83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The investment plan</a:t>
            </a:r>
          </a:p>
          <a:p>
            <a:pPr>
              <a:spcAft>
                <a:spcPts val="300"/>
              </a:spcAft>
            </a:pPr>
            <a:r>
              <a:rPr sz="1550" b="0" i="0">
                <a:solidFill>
                  <a:srgbClr val="595959"/>
                </a:solidFill>
                <a:latin typeface="Arial"/>
              </a:rPr>
              <a:t>Capital and running costs, benchmarked — and the state's line to run what a donor built.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" y="3131820"/>
            <a:ext cx="10881360" cy="12700"/>
          </a:xfrm>
          <a:prstGeom prst="rect">
            <a:avLst/>
          </a:prstGeom>
          <a:solidFill>
            <a:srgbClr val="DD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21792" y="3218687"/>
            <a:ext cx="310896" cy="310896"/>
          </a:xfrm>
          <a:prstGeom prst="ellipse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3172968"/>
            <a:ext cx="10527487" cy="83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The procurement plan</a:t>
            </a:r>
          </a:p>
          <a:p>
            <a:pPr>
              <a:spcAft>
                <a:spcPts val="300"/>
              </a:spcAft>
            </a:pPr>
            <a:r>
              <a:rPr sz="1550" b="0" i="0">
                <a:solidFill>
                  <a:srgbClr val="595959"/>
                </a:solidFill>
                <a:latin typeface="Arial"/>
              </a:rPr>
              <a:t>One lot per domain, never one big-bang contract; the platform bought as an accepted result.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" y="4009644"/>
            <a:ext cx="10881360" cy="12700"/>
          </a:xfrm>
          <a:prstGeom prst="rect">
            <a:avLst/>
          </a:prstGeom>
          <a:solidFill>
            <a:srgbClr val="DD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21792" y="4096511"/>
            <a:ext cx="310896" cy="310896"/>
          </a:xfrm>
          <a:prstGeom prst="ellipse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4050791"/>
            <a:ext cx="10527487" cy="83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The workforce plan</a:t>
            </a:r>
          </a:p>
          <a:p>
            <a:pPr>
              <a:spcAft>
                <a:spcPts val="300"/>
              </a:spcAft>
            </a:pPr>
            <a:r>
              <a:rPr sz="1550" b="0" i="0">
                <a:solidFill>
                  <a:srgbClr val="595959"/>
                </a:solidFill>
                <a:latin typeface="Arial"/>
              </a:rPr>
              <a:t>The operator from eight to fifteen people towards thirty to eighty; a focal point per member.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" y="4887468"/>
            <a:ext cx="10881360" cy="12700"/>
          </a:xfrm>
          <a:prstGeom prst="rect">
            <a:avLst/>
          </a:prstGeom>
          <a:solidFill>
            <a:srgbClr val="DD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1792" y="4974336"/>
            <a:ext cx="310896" cy="310896"/>
          </a:xfrm>
          <a:prstGeom prst="ellipse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4928616"/>
            <a:ext cx="10527487" cy="83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The risk register and the success metrics</a:t>
            </a:r>
          </a:p>
          <a:p>
            <a:pPr>
              <a:spcAft>
                <a:spcPts val="300"/>
              </a:spcAft>
            </a:pPr>
            <a:r>
              <a:rPr sz="1550" b="0" i="0">
                <a:solidFill>
                  <a:srgbClr val="595959"/>
                </a:solidFill>
                <a:latin typeface="Arial"/>
              </a:rPr>
              <a:t>Members, services, transactions, uptime, onboarding time, satisfaction.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5916168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1" i="0">
                <a:solidFill>
                  <a:srgbClr val="006E96"/>
                </a:solidFill>
                <a:latin typeface="Arial"/>
              </a:rPr>
              <a:t>A cost frame a funder can check is a cost frame a funder can approve.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5.1 · Plan the build in four phases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2103120"/>
            <a:ext cx="101498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A1A1A"/>
                </a:solidFill>
                <a:latin typeface="Arial"/>
              </a:rPr>
              <a:t>Four phases after the foundation, a gate at each, an honest calendar, and the four plans beside the schedule — a programme a funder can approve.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554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06E96"/>
                </a:solidFill>
                <a:latin typeface="Arial"/>
              </a:rPr>
              <a:t>IN ONE SENTENCE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4709160"/>
            <a:ext cx="10881360" cy="15544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009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 bIns="109728">
            <a:no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06E96"/>
                </a:solidFill>
                <a:latin typeface="Arial"/>
              </a:rPr>
              <a:t>Do this on your own sector. </a:t>
            </a:r>
            <a:r>
              <a:rPr sz="1800" b="1" i="0">
                <a:solidFill>
                  <a:srgbClr val="1A1A1A"/>
                </a:solidFill>
                <a:latin typeface="Arial"/>
              </a:rPr>
              <a:t>Draft your implementation plan — the phased schedule and the four plans beside it.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595959"/>
                </a:solidFill>
                <a:latin typeface="Arial"/>
              </a:rPr>
              <a:t>The prompt in the companion material gives you the phased schedule plus the investment, procurement, workforce and risk plans. Before the next video.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5.1 · Plan the build in four phases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73952"/>
            <a:ext cx="1673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Arial"/>
              </a:rPr>
              <a:t>www.itu.int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45720" cy="25603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Arial"/>
              </a:rPr>
              <a:t>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54480"/>
            <a:ext cx="10789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Estonia — X-Road build-out (cost and timeline benchmark)</a:t>
            </a:r>
          </a:p>
          <a:p>
            <a:pPr>
              <a:spcAft>
                <a:spcPts val="1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ITU DPI Safeguards</a:t>
            </a:r>
          </a:p>
          <a:p>
            <a:pPr>
              <a:spcAft>
                <a:spcPts val="1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NIIS X-Road implementation guidance (niis.org)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8064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006E96"/>
                </a:solidFill>
                <a:latin typeface="Arial"/>
              </a:rPr>
              <a:t>Find the link in the description.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5.1 · Plan the build in four phases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TU Theme - White bg">
  <a:themeElements>
    <a:clrScheme name="ITU Template">
      <a:dk1>
        <a:sysClr val="windowText" lastClr="000000"/>
      </a:dk1>
      <a:lt1>
        <a:sysClr val="window" lastClr="FFFFFF"/>
      </a:lt1>
      <a:dk2>
        <a:srgbClr val="3A3838"/>
      </a:dk2>
      <a:lt2>
        <a:srgbClr val="F5FAFC"/>
      </a:lt2>
      <a:accent1>
        <a:srgbClr val="009CD6"/>
      </a:accent1>
      <a:accent2>
        <a:srgbClr val="757070"/>
      </a:accent2>
      <a:accent3>
        <a:srgbClr val="A5A5A5"/>
      </a:accent3>
      <a:accent4>
        <a:srgbClr val="595959"/>
      </a:accent4>
      <a:accent5>
        <a:srgbClr val="005EB8"/>
      </a:accent5>
      <a:accent6>
        <a:srgbClr val="E5F5FB"/>
      </a:accent6>
      <a:hlink>
        <a:srgbClr val="000000"/>
      </a:hlink>
      <a:folHlink>
        <a:srgbClr val="757070"/>
      </a:folHlink>
    </a:clrScheme>
    <a:fontScheme name="ITU Powerpoint Tempo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TU_Powerpoint_Standard_template_July_2022.potx" id="{034C4141-8F63-40F4-9DEE-E5766630A6A8}" vid="{A0500DBE-3369-4A4A-B28D-9AE5003E2570}"/>
    </a:ext>
  </a:extLst>
</a:theme>
</file>

<file path=ppt/theme/theme2.xml><?xml version="1.0" encoding="utf-8"?>
<a:theme xmlns:a="http://schemas.openxmlformats.org/drawingml/2006/main" name="Big text">
  <a:themeElements>
    <a:clrScheme name="ITU Template">
      <a:dk1>
        <a:sysClr val="windowText" lastClr="000000"/>
      </a:dk1>
      <a:lt1>
        <a:sysClr val="window" lastClr="FFFFFF"/>
      </a:lt1>
      <a:dk2>
        <a:srgbClr val="3A3838"/>
      </a:dk2>
      <a:lt2>
        <a:srgbClr val="F5FAFC"/>
      </a:lt2>
      <a:accent1>
        <a:srgbClr val="009CD6"/>
      </a:accent1>
      <a:accent2>
        <a:srgbClr val="757070"/>
      </a:accent2>
      <a:accent3>
        <a:srgbClr val="A5A5A5"/>
      </a:accent3>
      <a:accent4>
        <a:srgbClr val="595959"/>
      </a:accent4>
      <a:accent5>
        <a:srgbClr val="005EB8"/>
      </a:accent5>
      <a:accent6>
        <a:srgbClr val="E5F5FB"/>
      </a:accent6>
      <a:hlink>
        <a:srgbClr val="009CD6"/>
      </a:hlink>
      <a:folHlink>
        <a:srgbClr val="009CD6"/>
      </a:folHlink>
    </a:clrScheme>
    <a:fontScheme name="ITU Powerpoint Tempo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TU_Powerpoint_Standard_template_July_2022.potx" id="{034C4141-8F63-40F4-9DEE-E5766630A6A8}" vid="{EA5A528F-177A-4F34-B410-08836428AF20}"/>
    </a:ext>
  </a:extLst>
</a:theme>
</file>

<file path=ppt/theme/theme3.xml><?xml version="1.0" encoding="utf-8"?>
<a:theme xmlns:a="http://schemas.openxmlformats.org/drawingml/2006/main" name="Quote Slide">
  <a:themeElements>
    <a:clrScheme name="ITU Template">
      <a:dk1>
        <a:sysClr val="windowText" lastClr="000000"/>
      </a:dk1>
      <a:lt1>
        <a:sysClr val="window" lastClr="FFFFFF"/>
      </a:lt1>
      <a:dk2>
        <a:srgbClr val="3A3838"/>
      </a:dk2>
      <a:lt2>
        <a:srgbClr val="F5FAFC"/>
      </a:lt2>
      <a:accent1>
        <a:srgbClr val="009CD6"/>
      </a:accent1>
      <a:accent2>
        <a:srgbClr val="757070"/>
      </a:accent2>
      <a:accent3>
        <a:srgbClr val="A5A5A5"/>
      </a:accent3>
      <a:accent4>
        <a:srgbClr val="595959"/>
      </a:accent4>
      <a:accent5>
        <a:srgbClr val="005EB8"/>
      </a:accent5>
      <a:accent6>
        <a:srgbClr val="E5F5FB"/>
      </a:accent6>
      <a:hlink>
        <a:srgbClr val="009CD6"/>
      </a:hlink>
      <a:folHlink>
        <a:srgbClr val="009CD6"/>
      </a:folHlink>
    </a:clrScheme>
    <a:fontScheme name="ITU Powerpoint Tempo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TU_Powerpoint_Standard_template_July_2022.potx" id="{034C4141-8F63-40F4-9DEE-E5766630A6A8}" vid="{B0771621-B97B-4C13-9C8D-7F1D735791AC}"/>
    </a:ext>
  </a:extLst>
</a:theme>
</file>

<file path=ppt/theme/theme4.xml><?xml version="1.0" encoding="utf-8"?>
<a:theme xmlns:a="http://schemas.openxmlformats.org/drawingml/2006/main" name="ITU Theme light blue bg">
  <a:themeElements>
    <a:clrScheme name="ITU Template">
      <a:dk1>
        <a:sysClr val="windowText" lastClr="000000"/>
      </a:dk1>
      <a:lt1>
        <a:sysClr val="window" lastClr="FFFFFF"/>
      </a:lt1>
      <a:dk2>
        <a:srgbClr val="3A3838"/>
      </a:dk2>
      <a:lt2>
        <a:srgbClr val="F5FAFC"/>
      </a:lt2>
      <a:accent1>
        <a:srgbClr val="009CD6"/>
      </a:accent1>
      <a:accent2>
        <a:srgbClr val="757070"/>
      </a:accent2>
      <a:accent3>
        <a:srgbClr val="A5A5A5"/>
      </a:accent3>
      <a:accent4>
        <a:srgbClr val="595959"/>
      </a:accent4>
      <a:accent5>
        <a:srgbClr val="005EB8"/>
      </a:accent5>
      <a:accent6>
        <a:srgbClr val="E5F5FB"/>
      </a:accent6>
      <a:hlink>
        <a:srgbClr val="009CD6"/>
      </a:hlink>
      <a:folHlink>
        <a:srgbClr val="009CD6"/>
      </a:folHlink>
    </a:clrScheme>
    <a:fontScheme name="ITU Powerpoint Tempo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TU_Powerpoint_Standard_template_July_2022.potx" id="{034C4141-8F63-40F4-9DEE-E5766630A6A8}" vid="{D1ECFA71-5D53-4A3F-BEBD-1C69573B5224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d7f0f61-51dd-499b-8f04-7c837a526382">
      <Terms xmlns="http://schemas.microsoft.com/office/infopath/2007/PartnerControls"/>
    </lcf76f155ced4ddcb4097134ff3c332f>
    <TaxCatchAll xmlns="ab90e5c9-10d8-4476-84ba-6005a25f4984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3A3A08329EEE04EB33D96A577905A26" ma:contentTypeVersion="19" ma:contentTypeDescription="Create a new document." ma:contentTypeScope="" ma:versionID="a8087e2cbe64624dcde6ca4894bfb0b6">
  <xsd:schema xmlns:xsd="http://www.w3.org/2001/XMLSchema" xmlns:xs="http://www.w3.org/2001/XMLSchema" xmlns:p="http://schemas.microsoft.com/office/2006/metadata/properties" xmlns:ns2="ed7f0f61-51dd-499b-8f04-7c837a526382" xmlns:ns3="ab90e5c9-10d8-4476-84ba-6005a25f4984" targetNamespace="http://schemas.microsoft.com/office/2006/metadata/properties" ma:root="true" ma:fieldsID="2701f39123c6a01fbf026076f5c6add9" ns2:_="" ns3:_="">
    <xsd:import namespace="ed7f0f61-51dd-499b-8f04-7c837a526382"/>
    <xsd:import namespace="ab90e5c9-10d8-4476-84ba-6005a25f498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7f0f61-51dd-499b-8f04-7c837a52638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0e895586-ec57-4162-862b-45953123501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b90e5c9-10d8-4476-84ba-6005a25f4984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f45fae84-f8a8-4d35-b240-8a5cf95bb259}" ma:internalName="TaxCatchAll" ma:showField="CatchAllData" ma:web="ab90e5c9-10d8-4476-84ba-6005a25f498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F615F30-55BC-4400-8171-49B6C1A1BF7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ed7f0f61-51dd-499b-8f04-7c837a526382"/>
    <ds:schemaRef ds:uri="ab90e5c9-10d8-4476-84ba-6005a25f4984"/>
  </ds:schemaRefs>
</ds:datastoreItem>
</file>

<file path=customXml/itemProps2.xml><?xml version="1.0" encoding="utf-8"?>
<ds:datastoreItem xmlns:ds="http://schemas.openxmlformats.org/officeDocument/2006/customXml" ds:itemID="{A48191B6-3A4E-47E8-99A3-94A5982E1B4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8C4513F-118C-4668-805A-58D1CE3FDA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d7f0f61-51dd-499b-8f04-7c837a526382"/>
    <ds:schemaRef ds:uri="ab90e5c9-10d8-4476-84ba-6005a25f498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ITU_Powerpoint_standard_template_16x9__July_2022</Template>
  <TotalTime>462</TotalTime>
  <Words>2240</Words>
  <Application>Microsoft Office PowerPoint</Application>
  <PresentationFormat>Widescreen</PresentationFormat>
  <Paragraphs>473</Paragraphs>
  <Slides>38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38</vt:i4>
      </vt:variant>
    </vt:vector>
  </HeadingPairs>
  <TitlesOfParts>
    <vt:vector size="48" baseType="lpstr">
      <vt:lpstr>Arial</vt:lpstr>
      <vt:lpstr>Avenir Next LT Pro</vt:lpstr>
      <vt:lpstr>Calibri</vt:lpstr>
      <vt:lpstr>Georgia</vt:lpstr>
      <vt:lpstr>Lato Light</vt:lpstr>
      <vt:lpstr>Roboto</vt:lpstr>
      <vt:lpstr>ITU Theme - White bg</vt:lpstr>
      <vt:lpstr>Big text</vt:lpstr>
      <vt:lpstr>Quote Slide</vt:lpstr>
      <vt:lpstr>ITU Theme light blue bg</vt:lpstr>
      <vt:lpstr>PowerPoint Presentation</vt:lpstr>
      <vt:lpstr>PowerPoint Presentation</vt:lpstr>
      <vt:lpstr>Slide title text Arial Bold 28pt</vt:lpstr>
      <vt:lpstr>PowerPoint Presentation</vt:lpstr>
      <vt:lpstr>Long slide title  goes here second line here</vt:lpstr>
      <vt:lpstr>Slide title goes here second line of slide title goes here </vt:lpstr>
      <vt:lpstr>Long slide title goes here second line here</vt:lpstr>
      <vt:lpstr>Long slide title goes here second line of slide title here third line goes here</vt:lpstr>
      <vt:lpstr>Long slide title goes here second line of slide title here third line goes here</vt:lpstr>
      <vt:lpstr>Slide title goes here</vt:lpstr>
      <vt:lpstr>PowerPoint Presentation</vt:lpstr>
      <vt:lpstr>Click to add slide title here  </vt:lpstr>
      <vt:lpstr>Click to add slide title here </vt:lpstr>
      <vt:lpstr>PowerPoint Presentation</vt:lpstr>
      <vt:lpstr>PowerPoint Presentation</vt:lpstr>
      <vt:lpstr>PowerPoint Presentation</vt:lpstr>
      <vt:lpstr>PowerPoint Presentation</vt:lpstr>
      <vt:lpstr>Placeholder text for slide title</vt:lpstr>
      <vt:lpstr>Simple table</vt:lpstr>
      <vt:lpstr>PowerPoint Presentation</vt:lpstr>
      <vt:lpstr>Figure 1: Figure title</vt:lpstr>
      <vt:lpstr>Graphics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Figure Title</vt:lpstr>
      <vt:lpstr>Figure Title</vt:lpstr>
      <vt:lpstr>Figure Title</vt:lpstr>
      <vt:lpstr>Key figures</vt:lpstr>
      <vt:lpstr>PowerPoint Presentation</vt:lpstr>
      <vt:lpstr>Timeline title</vt:lpstr>
      <vt:lpstr>Timeline title</vt:lpstr>
      <vt:lpstr>Timeline title</vt:lpstr>
      <vt:lpstr>PowerPoint Presentation</vt:lpstr>
      <vt:lpstr>ITU Blue</vt:lpstr>
      <vt:lpstr>PowerPoint Presentation</vt:lpstr>
    </vt:vector>
  </TitlesOfParts>
  <Company>ITU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CHIMA HERNANDEZ, Maria Fernanda</dc:creator>
  <cp:lastModifiedBy>Anselmino, Carolina</cp:lastModifiedBy>
  <cp:revision>1</cp:revision>
  <dcterms:created xsi:type="dcterms:W3CDTF">2026-05-08T11:19:41Z</dcterms:created>
  <dcterms:modified xsi:type="dcterms:W3CDTF">2026-07-22T19:37:40Z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0x01010053A3A08329EEE04EB33D96A577905A26</vt:lpwstr>
  </property>
  <property fmtid="{D5CDD505-2E9C-101B-9397-08002B2CF9AE}" pid="3" name="MediaServiceImageTags">
    <vt:lpwstr/>
  </property>
</Properties>
</file>