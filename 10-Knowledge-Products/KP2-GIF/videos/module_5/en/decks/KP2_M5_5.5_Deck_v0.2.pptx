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7" r:id="rId14"/>
    <p:sldId id="2728" r:id="rId13"/>
    <p:sldId id="2729" r:id="rId12"/>
    <p:sldId id="2730" r:id="rId11"/>
    <p:sldId id="2731" r:id="rId10"/>
    <p:sldId id="2732" r:id="rId54"/>
    <p:sldId id="273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members registered, you stand up the federation itself — the live platform they connect to. For our demonstration this is Linkup, an X-Road federation that runs on a single host in sandboxed containers. It has a small set of components, each with a clear job, and you bring it up from a run book, so that anyone with the build pack can reproduce the same federation rather than admire a one-off.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federation has three kinds of component. The Central Server, operated by PDGA, is the registry of who is a member and what services exist — the heart that every security server checks with before it routes a call. The four Security Servers — one for PDGA, which owns the federation and runs its management services, and one each for the examination authority PNEA, the learner registry PLR, and the identity authority PNIA — are the gateways, the devices that carry the trust burden at each edge. And the Test CA, the certification authority that issues the certificates the security servers use to prove who they are. In production that is a real certification authority; in the demonstration, a test one.</a:t>
            </a:r>
          </a:p>
          <a:p/>
          <a:p>
            <a:r>
              <a:t>On screen: the member list and the hosting line live in MEMBERS and HOSTING at the top of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Standing it up is a run-book exercise, deliberately. Each component is brought up in order — the Central Server first, then the Test CA with its certificate-status and time-stamping services, then each Security Server registers with the Central Server, receives its certificate, and waits for the Central Server to approve that registration explicitly — the technical footprint of the admission decision. The run book makes this reproducible: anyone with the build pack can stand up the same federation, which is exactly what makes the demonstration a template rather than a one-off. For the demonstration, Linkup runs all of this on a single host — a laptop or one VM — in sandboxed containers, sized for showing cross-agency calls, not for production volumes.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federation is up, you have something concrete: four real security servers, registered with a central server, trusting a common certification authority, ready to carry a real call. The configuration that does this — the federation config and each member's registration — lives in the build pack, and the build pack's acceptance check is what confirms the federation actually stands up, not merely that the files exist. This is the moment the abstract becomes real: up to now this knowledge product has produced documents and configuration; standing up the federation turns that configuration into a running platform. The bus exists, the members are on it, and the only thing left is to make a real call across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stand up the federation from a run book: the Central Server at PDGA, four Security Servers for PDGA and the three Progressa members, the Test CA that anchors trust. Reproducible from the build pack, confirmed by its acceptance check. With the federation running, the framework has stopped being a design and become a platform — ready for the call that proves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the federation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Central Server, four Security Servers, a Test CA — the Linkup federation, stood up from the run book.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Now the live platform the members connect to.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small set of components, each with a clear job.</a:t>
            </a:r>
          </a:p>
          <a:p>
            <a:pPr>
              <a:spcAft>
                <a:spcPts val="800"/>
              </a:spcAft>
            </a:pPr>
            <a:r>
              <a:rPr sz="1700" b="0" i="0">
                <a:solidFill>
                  <a:srgbClr val="595959"/>
                </a:solidFill>
                <a:latin typeface="Arial"/>
              </a:rPr>
              <a:t>Brought up from a run book, so anyone with the build pack can reproduce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registry, one gateway per member, one trust anchor</a:t>
            </a:r>
          </a:p>
        </p:txBody>
      </p:sp>
      <p:sp>
        <p:nvSpPr>
          <p:cNvPr id="4" name="Rounded Rectangle 3"/>
          <p:cNvSpPr/>
          <p:nvPr/>
        </p:nvSpPr>
        <p:spPr>
          <a:xfrm>
            <a:off x="658368" y="1554480"/>
            <a:ext cx="6766560" cy="1371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CENTRAL SERVER — OPERATED BY PDGA</a:t>
            </a:r>
          </a:p>
          <a:p>
            <a:pPr algn="l">
              <a:spcAft>
                <a:spcPts val="300"/>
              </a:spcAft>
            </a:pPr>
            <a:r>
              <a:rPr sz="1600" b="0" i="0">
                <a:solidFill>
                  <a:srgbClr val="FFFFFF"/>
                </a:solidFill>
                <a:latin typeface="Arial"/>
              </a:rPr>
              <a:t>The registry of members and services — every security server checks with it.</a:t>
            </a:r>
          </a:p>
        </p:txBody>
      </p:sp>
      <p:sp>
        <p:nvSpPr>
          <p:cNvPr id="5" name="Rounded Rectangle 4"/>
          <p:cNvSpPr/>
          <p:nvPr/>
        </p:nvSpPr>
        <p:spPr>
          <a:xfrm>
            <a:off x="7680960" y="1554480"/>
            <a:ext cx="3858768"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TEST CA — THE TRUST ANCHOR</a:t>
            </a:r>
          </a:p>
          <a:p>
            <a:pPr algn="l">
              <a:spcAft>
                <a:spcPts val="300"/>
              </a:spcAft>
            </a:pPr>
            <a:r>
              <a:rPr sz="1600" b="0" i="0">
                <a:solidFill>
                  <a:srgbClr val="1A1A1A"/>
                </a:solidFill>
                <a:latin typeface="Arial"/>
              </a:rPr>
              <a:t>Issues the certificates. A real CA in production.</a:t>
            </a:r>
          </a:p>
        </p:txBody>
      </p:sp>
      <p:sp>
        <p:nvSpPr>
          <p:cNvPr id="6" name="Rectangle 5"/>
          <p:cNvSpPr/>
          <p:nvPr/>
        </p:nvSpPr>
        <p:spPr>
          <a:xfrm>
            <a:off x="658368" y="3108960"/>
            <a:ext cx="10881360" cy="411480"/>
          </a:xfrm>
          <a:prstGeom prst="rect">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i="0">
                <a:solidFill>
                  <a:srgbClr val="006E96"/>
                </a:solidFill>
                <a:latin typeface="Arial"/>
              </a:rPr>
              <a:t>each Security Server registers with the Central Server and receives its certificate from the Test CA</a:t>
            </a:r>
          </a:p>
        </p:txBody>
      </p:sp>
      <p:sp>
        <p:nvSpPr>
          <p:cNvPr id="7" name="Rounded Rectangle 6"/>
          <p:cNvSpPr/>
          <p:nvPr/>
        </p:nvSpPr>
        <p:spPr>
          <a:xfrm>
            <a:off x="65836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PDGA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federation owner</a:t>
            </a:r>
          </a:p>
        </p:txBody>
      </p:sp>
      <p:sp>
        <p:nvSpPr>
          <p:cNvPr id="8" name="Rounded Rectangle 7"/>
          <p:cNvSpPr/>
          <p:nvPr/>
        </p:nvSpPr>
        <p:spPr>
          <a:xfrm>
            <a:off x="344728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PNEA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examination authority</a:t>
            </a:r>
          </a:p>
        </p:txBody>
      </p:sp>
      <p:sp>
        <p:nvSpPr>
          <p:cNvPr id="9" name="Rounded Rectangle 8"/>
          <p:cNvSpPr/>
          <p:nvPr/>
        </p:nvSpPr>
        <p:spPr>
          <a:xfrm>
            <a:off x="623620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PLR</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learner registry</a:t>
            </a:r>
          </a:p>
        </p:txBody>
      </p:sp>
      <p:sp>
        <p:nvSpPr>
          <p:cNvPr id="10" name="Rounded Rectangle 9"/>
          <p:cNvSpPr/>
          <p:nvPr/>
        </p:nvSpPr>
        <p:spPr>
          <a:xfrm>
            <a:off x="902512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PNIA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identity authority</a:t>
            </a:r>
          </a:p>
        </p:txBody>
      </p:sp>
      <p:sp>
        <p:nvSpPr>
          <p:cNvPr id="11" name="TextBox 10"/>
          <p:cNvSpPr txBox="1"/>
          <p:nvPr/>
        </p:nvSpPr>
        <p:spPr>
          <a:xfrm>
            <a:off x="658368" y="5623560"/>
            <a:ext cx="10881360" cy="548640"/>
          </a:xfrm>
          <a:prstGeom prst="rect">
            <a:avLst/>
          </a:prstGeom>
          <a:noFill/>
        </p:spPr>
        <p:txBody>
          <a:bodyPr wrap="square">
            <a:spAutoFit/>
          </a:bodyPr>
          <a:lstStyle/>
          <a:p>
            <a:r>
              <a:rPr sz="1550" b="1" i="0">
                <a:solidFill>
                  <a:srgbClr val="006E96"/>
                </a:solidFill>
                <a:latin typeface="Arial"/>
              </a:rPr>
              <a:t>The Security Servers carry the trust burden at each edge.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Bring it up from the run book,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73480"/>
          </a:xfrm>
          <a:prstGeom prst="rect">
            <a:avLst/>
          </a:prstGeom>
          <a:noFill/>
        </p:spPr>
        <p:txBody>
          <a:bodyPr wrap="square">
            <a:spAutoFit/>
          </a:bodyPr>
          <a:lstStyle/>
          <a:p>
            <a:pPr>
              <a:spcAft>
                <a:spcPts val="300"/>
              </a:spcAft>
            </a:pPr>
            <a:r>
              <a:rPr sz="1900" b="1" i="0">
                <a:solidFill>
                  <a:srgbClr val="1A1A1A"/>
                </a:solidFill>
                <a:latin typeface="Arial"/>
              </a:rPr>
              <a:t>The Central Server first</a:t>
            </a:r>
          </a:p>
          <a:p>
            <a:pPr>
              <a:spcAft>
                <a:spcPts val="300"/>
              </a:spcAft>
            </a:pPr>
            <a:r>
              <a:rPr sz="1550" b="0" i="0">
                <a:solidFill>
                  <a:srgbClr val="595959"/>
                </a:solidFill>
                <a:latin typeface="Arial"/>
              </a:rPr>
              <a:t>The registry every other component checks with.</a:t>
            </a:r>
          </a:p>
        </p:txBody>
      </p:sp>
      <p:sp>
        <p:nvSpPr>
          <p:cNvPr id="6" name="Rectangle 5"/>
          <p:cNvSpPr/>
          <p:nvPr/>
        </p:nvSpPr>
        <p:spPr>
          <a:xfrm>
            <a:off x="621792" y="2641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727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822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the Test CA</a:t>
            </a:r>
          </a:p>
          <a:p>
            <a:pPr>
              <a:spcAft>
                <a:spcPts val="300"/>
              </a:spcAft>
            </a:pPr>
            <a:r>
              <a:rPr sz="1550" b="0" i="0">
                <a:solidFill>
                  <a:srgbClr val="595959"/>
                </a:solidFill>
                <a:latin typeface="Arial"/>
              </a:rPr>
              <a:t>Issues the certificates, with its certificate-status and time-stamping services.</a:t>
            </a:r>
          </a:p>
        </p:txBody>
      </p:sp>
      <p:sp>
        <p:nvSpPr>
          <p:cNvPr id="9" name="Rectangle 8"/>
          <p:cNvSpPr/>
          <p:nvPr/>
        </p:nvSpPr>
        <p:spPr>
          <a:xfrm>
            <a:off x="621792" y="3860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9471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014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each Security Server</a:t>
            </a:r>
          </a:p>
          <a:p>
            <a:pPr>
              <a:spcAft>
                <a:spcPts val="300"/>
              </a:spcAft>
            </a:pPr>
            <a:r>
              <a:rPr sz="1550" b="0" i="0">
                <a:solidFill>
                  <a:srgbClr val="595959"/>
                </a:solidFill>
                <a:latin typeface="Arial"/>
              </a:rPr>
              <a:t>Registers, receives its certificate — and the Central Server approves it explicitly.</a:t>
            </a:r>
          </a:p>
        </p:txBody>
      </p:sp>
      <p:sp>
        <p:nvSpPr>
          <p:cNvPr id="12" name="TextBox 11"/>
          <p:cNvSpPr txBox="1"/>
          <p:nvPr/>
        </p:nvSpPr>
        <p:spPr>
          <a:xfrm>
            <a:off x="658368" y="5230368"/>
            <a:ext cx="10881360" cy="548640"/>
          </a:xfrm>
          <a:prstGeom prst="rect">
            <a:avLst/>
          </a:prstGeom>
          <a:noFill/>
        </p:spPr>
        <p:txBody>
          <a:bodyPr wrap="square">
            <a:spAutoFit/>
          </a:bodyPr>
          <a:lstStyle/>
          <a:p>
            <a:r>
              <a:rPr sz="1550" b="1" i="0">
                <a:solidFill>
                  <a:srgbClr val="006E96"/>
                </a:solidFill>
                <a:latin typeface="Arial"/>
              </a:rPr>
              <a:t>For the demonstration, Linkup runs on a single host — a laptop or one VM — in sandboxed containers, sized for cross-agency calls, not production volumes.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up the federation is where the abstract becomes real</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Four real security servers, registered with a central server, trusting a common certification authority.</a:t>
            </a:r>
          </a:p>
          <a:p>
            <a:pPr>
              <a:spcAft>
                <a:spcPts val="1200"/>
              </a:spcAft>
            </a:pPr>
            <a:r>
              <a:rPr sz="2000" b="0" i="0">
                <a:solidFill>
                  <a:srgbClr val="1A1A1A"/>
                </a:solidFill>
                <a:latin typeface="Arial"/>
              </a:rPr>
              <a:t>The build pack's acceptance check confirms it actually stands up — not merely that the files exist.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bus exists, the members are on it — only the call is left.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Central Server, four Security Servers, a Test CA — stood up from the run book, the federation is real and ready to carry a call.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federation stand-up run book.</a:t>
            </a:r>
          </a:p>
          <a:p>
            <a:pPr algn="l">
              <a:spcAft>
                <a:spcPts val="400"/>
              </a:spcAft>
            </a:pPr>
            <a:r>
              <a:rPr sz="1800" b="0" i="0">
                <a:solidFill>
                  <a:srgbClr val="595959"/>
                </a:solidFill>
                <a:latin typeface="Arial"/>
              </a:rPr>
              <a:t>The prompt in the companion material gives you an ordered, reproducible stand-up run book with production-difference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federation — Central Server, Security Server, Test CA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