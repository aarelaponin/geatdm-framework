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733" r:id="rId55"/>
    <p:sldId id="2734" r:id="rId56"/>
    <p:sldId id="2735" r:id="rId57"/>
    <p:sldId id="2736" r:id="rId58"/>
    <p:sldId id="2737" r:id="rId59"/>
    <p:sldId id="2738" r:id="rId60"/>
    <p:sldId id="2739" r:id="rId61"/>
    <p:sldId id="2740" r:id="rId62"/>
    <p:sldId id="2741" r:id="rId63"/>
    <p:sldId id="2742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Relationship Id="rId55" Type="http://schemas.openxmlformats.org/officeDocument/2006/relationships/slide" Target="slides/slide40.xml"/><Relationship Id="rId56" Type="http://schemas.openxmlformats.org/officeDocument/2006/relationships/slide" Target="slides/slide41.xml"/><Relationship Id="rId57" Type="http://schemas.openxmlformats.org/officeDocument/2006/relationships/slide" Target="slides/slide42.xml"/><Relationship Id="rId58" Type="http://schemas.openxmlformats.org/officeDocument/2006/relationships/slide" Target="slides/slide43.xml"/><Relationship Id="rId59" Type="http://schemas.openxmlformats.org/officeDocument/2006/relationships/slide" Target="slides/slide44.xml"/><Relationship Id="rId60" Type="http://schemas.openxmlformats.org/officeDocument/2006/relationships/slide" Target="slides/slide45.xml"/><Relationship Id="rId61" Type="http://schemas.openxmlformats.org/officeDocument/2006/relationships/slide" Target="slides/slide46.xml"/><Relationship Id="rId62" Type="http://schemas.openxmlformats.org/officeDocument/2006/relationships/slide" Target="slides/slide47.xml"/><Relationship Id="rId63" Type="http://schemas.openxmlformats.org/officeDocument/2006/relationships/slide" Target="slides/slide48.xml"/><Relationship Id="rId64" Type="http://schemas.openxmlformats.org/officeDocument/2006/relationships/slide" Target="slides/slide4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With the members admitted, they need the platform they connect to: the federation. For the demonstration it is Linkup, an X-Road federation on a single host. It has a small set of components, each with one job, and it is brought up from a run book, so anyone with the build pack can reproduce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federation has three kinds of component. The Central Server, operated by PDGA, is the registry of members and services that every security server checks with. The four Security Servers — PDGA's, as the owner, and one each for PNEA, PLR and PNIA — are the gateways that carry the trust burden at each member's edge. And the Test CA issues the certificates they prove who they are with; in production, a real certification authority.</a:t>
            </a:r>
          </a:p>
          <a:p/>
          <a:p>
            <a:r>
              <a:t>On screen: the member list and the hosting line live in MEMBERS and HOSTING at the top of the build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Standing it up is a run-book exercise, in order. The Central Server first. Then the Test CA, with its certificate-status and time-stamping services. Then the members on the registry, and the configuration anchor every server imports. Then each Security Server: its certificate, and its registration, approved explicitly on the Central Server — the technical footprint of the admission decision. Then the services, and the grants that say who may call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First, the containers: one Central Server, one Test CA, and four Security Servers, all reporting healthy.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Second, the run book itself: five steps, from checking the host to the exchange proving itself. The deploy times itself: on the recorded run, about a hundred seconds until the containers were healthy, and six and a half minutes in all, from zero to a running federation.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Third, the members: the learner registry, the examination authority and the identity authority, each behind its own Security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Fourth, the checks: each member's client registered on its own server, each service granting exactly the examination authority and no one else, each catalogue entry linking its service-level agreement, and the monitoring add-ons running on all four servers.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So the federation is brought up from a run book, in order, and then shown to be real: every server healthy, every member registered, every grant exact. The bus exists, and it is ready to carry a real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MODULE 5 · VIDEO 5.5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Stand up the federation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Central Server, Test CA, four Security Servers — the Linkup federation, stood up from the run book and shown healthy, registered and granted exactly.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 and a recorded demonstration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Now the live platform the members connect 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A small set of components, each with a clear job.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Brought up from a run book, so anyone with the build pack can reproduce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5.5 · Stand up the federation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One registry, one gateway per member, one trust anchor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54480"/>
            <a:ext cx="6766560" cy="1371600"/>
          </a:xfrm>
          <a:prstGeom prst="roundRect">
            <a:avLst>
              <a:gd name="adj" fmla="val 8000"/>
            </a:avLst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CENTRAL SERVER — OPERATED BY PDGA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FFFFFF"/>
                </a:solidFill>
                <a:latin typeface="Arial"/>
              </a:rPr>
              <a:t>The registry of members and services — every security server checks with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554480"/>
            <a:ext cx="3858768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6E96"/>
                </a:solidFill>
                <a:latin typeface="Arial"/>
              </a:rPr>
              <a:t>TEST CA — THE TRUST ANCHOR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Issues the certificates. A real CA in production.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108960"/>
            <a:ext cx="10881360" cy="411480"/>
          </a:xfrm>
          <a:prstGeom prst="rect">
            <a:avLst/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300" b="1" i="0">
                <a:solidFill>
                  <a:srgbClr val="006E96"/>
                </a:solidFill>
                <a:latin typeface="Arial"/>
              </a:rPr>
              <a:t>each Security Server registers with the Central Server and receives its certificate from the Test 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03320"/>
            <a:ext cx="2514600" cy="169164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PDGA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Security Server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federation owner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7" y="3703320"/>
            <a:ext cx="2514600" cy="169164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PNEA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Security Server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examination authority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3703320"/>
            <a:ext cx="2514600" cy="169164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PLR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Security Server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learner registry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25128" y="3703320"/>
            <a:ext cx="2514600" cy="169164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PNIA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Security Server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identity authority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235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The Security Servers carry the trust burden at each edge.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5.5 · Stand up the federation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Bring it up from the run book, in order</a:t>
            </a:r>
          </a:p>
        </p:txBody>
      </p:sp>
      <p:sp>
        <p:nvSpPr>
          <p:cNvPr id="4" name="Oval 3"/>
          <p:cNvSpPr/>
          <p:nvPr/>
        </p:nvSpPr>
        <p:spPr>
          <a:xfrm>
            <a:off x="621792" y="141732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371600"/>
            <a:ext cx="10527487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The Central Server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The registry every other component checks with.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080260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2167127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121408"/>
            <a:ext cx="10527487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The Test CA, with certificate status and time-stamping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Registered as trust services.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2830068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2916935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871215"/>
            <a:ext cx="10527487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The members on the registry, then the anchor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The configuration every server imports.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3579876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792" y="3666744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621024"/>
            <a:ext cx="10527487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Each Security Server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Its certificate — and its registration approved on the Central Server.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4329683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" y="4416551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70831"/>
            <a:ext cx="10527487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The services and the grants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What each member publishes, and who may call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2303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For the demonstration, Linkup runs on a single host — a laptop or one VM — in sandboxed containers, sized for cross-agency calls, not production volumes.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5.5 · Stand up the federation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First: six containers, all healthy</a:t>
            </a:r>
          </a:p>
        </p:txBody>
      </p:sp>
      <p:sp>
        <p:nvSpPr>
          <p:cNvPr id="4" name="kp-demo-evidence"/>
          <p:cNvSpPr/>
          <p:nvPr/>
        </p:nvSpPr>
        <p:spPr>
          <a:xfrm>
            <a:off x="658368" y="1280160"/>
            <a:ext cx="10881360" cy="4224528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1046988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1A1A1A"/>
                </a:solidFill>
                <a:latin typeface="Courier New"/>
              </a:rPr>
              <a:t>$ docker compose ps --format "{{.Name}}  {{.Health}}"</a:t>
            </a:r>
          </a:p>
          <a:p>
            <a:r>
              <a:rPr sz="2000" b="0" i="0">
                <a:solidFill>
                  <a:srgbClr val="1A1A1A"/>
                </a:solidFill>
                <a:latin typeface="Courier New"/>
              </a:rPr>
              <a:t>cs        healthy</a:t>
            </a:r>
          </a:p>
          <a:p>
            <a:r>
              <a:rPr sz="2000" b="0" i="0">
                <a:solidFill>
                  <a:srgbClr val="1A1A1A"/>
                </a:solidFill>
                <a:latin typeface="Courier New"/>
              </a:rPr>
              <a:t>ca        healthy</a:t>
            </a:r>
          </a:p>
          <a:p>
            <a:r>
              <a:rPr sz="2000" b="0" i="0">
                <a:solidFill>
                  <a:srgbClr val="1A1A1A"/>
                </a:solidFill>
                <a:latin typeface="Courier New"/>
              </a:rPr>
              <a:t>ss-pdga   healthy</a:t>
            </a:r>
          </a:p>
          <a:p>
            <a:r>
              <a:rPr sz="2000" b="0" i="0">
                <a:solidFill>
                  <a:srgbClr val="1A1A1A"/>
                </a:solidFill>
                <a:latin typeface="Courier New"/>
              </a:rPr>
              <a:t>ss-plr    healthy</a:t>
            </a:r>
          </a:p>
          <a:p>
            <a:r>
              <a:rPr sz="2000" b="0" i="0">
                <a:solidFill>
                  <a:srgbClr val="1A1A1A"/>
                </a:solidFill>
                <a:latin typeface="Courier New"/>
              </a:rPr>
              <a:t>ss-pnea   healthy</a:t>
            </a:r>
          </a:p>
          <a:p>
            <a:r>
              <a:rPr sz="2000" b="0" i="0">
                <a:solidFill>
                  <a:srgbClr val="1A1A1A"/>
                </a:solidFill>
                <a:latin typeface="Courier New"/>
              </a:rPr>
              <a:t>ss-pnia   healthy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614416"/>
            <a:ext cx="10881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One Central Server, one Test CA, four Security Servers — all healthy.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captured from the demonstration federation · X-Road 7.7.0 · pack a28b74c · 2026-09-30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5.5 · Stand up the federation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Second: from zero to running, measured</a:t>
            </a:r>
          </a:p>
        </p:txBody>
      </p:sp>
      <p:sp>
        <p:nvSpPr>
          <p:cNvPr id="4" name="kp-demo-evidence"/>
          <p:cNvSpPr/>
          <p:nvPr/>
        </p:nvSpPr>
        <p:spPr>
          <a:xfrm>
            <a:off x="658368" y="1280160"/>
            <a:ext cx="10881360" cy="4224528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1046988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 i="0">
                <a:solidFill>
                  <a:srgbClr val="1A1A1A"/>
                </a:solidFill>
                <a:latin typeface="Courier New"/>
              </a:rPr>
              <a:t>$ scripts/demo.sh</a:t>
            </a:r>
          </a:p>
          <a:p>
            <a:r>
              <a:rPr sz="1800" b="0" i="0">
                <a:solidFill>
                  <a:srgbClr val="1A1A1A"/>
                </a:solidFill>
                <a:latin typeface="Courier New"/>
              </a:rPr>
              <a:t>step 0 -- scripts/preflight.sh (host dependencies, .env, clock, RAM)</a:t>
            </a:r>
          </a:p>
          <a:p>
            <a:r>
              <a:rPr sz="1800" b="0" i="0">
                <a:solidFill>
                  <a:srgbClr val="1A1A1A"/>
                </a:solidFill>
                <a:latin typeface="Courier New"/>
              </a:rPr>
              <a:t>step 1 -- scripts/gen-secrets.sh (a real .env, mode 600)</a:t>
            </a:r>
          </a:p>
          <a:p>
            <a:r>
              <a:rPr sz="1800" b="0" i="0">
                <a:solidFill>
                  <a:srgbClr val="1A1A1A"/>
                </a:solidFill>
                <a:latin typeface="Courier New"/>
              </a:rPr>
              <a:t>step 2 -- scripts/deploy.sh (the federation, from zero)</a:t>
            </a:r>
          </a:p>
          <a:p>
            <a:r>
              <a:rPr sz="1800" b="0" i="0">
                <a:solidFill>
                  <a:srgbClr val="1A1A1A"/>
                </a:solidFill>
                <a:latin typeface="Courier New"/>
              </a:rPr>
              <a:t>step 3 -- scripts/seed.sh (Progressa demonstration data)</a:t>
            </a:r>
          </a:p>
          <a:p>
            <a:r>
              <a:rPr sz="1800" b="0" i="0">
                <a:solidFill>
                  <a:srgbClr val="1A1A1A"/>
                </a:solidFill>
                <a:latin typeface="Courier New"/>
              </a:rPr>
              <a:t>step 4 -- scripts/acceptance.sh (the once-only exchange proves itself)</a:t>
            </a:r>
          </a:p>
          <a:p>
            <a:r>
              <a:rPr sz="1800" b="0" i="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800" b="0" i="0">
                <a:solidFill>
                  <a:srgbClr val="1A1A1A"/>
                </a:solidFill>
                <a:latin typeface="Courier New"/>
              </a:rPr>
              <a:t>$ cat out/deploy-timings.txt   # measured by scripts/deploy.sh</a:t>
            </a:r>
          </a:p>
          <a:p>
            <a:r>
              <a:rPr sz="1800" b="0" i="0">
                <a:solidFill>
                  <a:srgbClr val="1A1A1A"/>
                </a:solidFill>
                <a:latin typeface="Courier New"/>
              </a:rPr>
              <a:t>containers healthy 100 s · Hurl run 290 s · total 390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614416"/>
            <a:ext cx="10881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From zero to a running federation: measured, not estimated.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captured from the demonstration federation · X-Road 7.7.0 · pack a28b74c · 2026-09-30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5.5 · Stand up the federation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Third: three members, each behind its own server</a:t>
            </a:r>
          </a:p>
        </p:txBody>
      </p:sp>
      <p:sp>
        <p:nvSpPr>
          <p:cNvPr id="4" name="kp-demo-evidence"/>
          <p:cNvSpPr/>
          <p:nvPr/>
        </p:nvSpPr>
        <p:spPr>
          <a:xfrm>
            <a:off x="658368" y="1280160"/>
            <a:ext cx="10881360" cy="4224528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1046988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1A1A1A"/>
                </a:solidFill>
                <a:latin typeface="Courier New"/>
              </a:rPr>
              <a:t>$ scripts/member.sh list</a:t>
            </a:r>
          </a:p>
          <a:p>
            <a:r>
              <a:rPr sz="2000" b="0" i="0">
                <a:solidFill>
                  <a:srgbClr val="1A1A1A"/>
                </a:solidFill>
                <a:latin typeface="Courier New"/>
              </a:rPr>
              <a:t>KEY      ORIGIN     SERVER     UI              REST</a:t>
            </a:r>
          </a:p>
          <a:p>
            <a:r>
              <a:rPr sz="2000" b="0" i="0">
                <a:solidFill>
                  <a:srgbClr val="1A1A1A"/>
                </a:solidFill>
                <a:latin typeface="Courier New"/>
              </a:rPr>
              <a:t>plr      canonical  ss-plr     127.0.0.1:3000   127.0.0.1:3080</a:t>
            </a:r>
          </a:p>
          <a:p>
            <a:r>
              <a:rPr sz="2000" b="0" i="0">
                <a:solidFill>
                  <a:srgbClr val="1A1A1A"/>
                </a:solidFill>
                <a:latin typeface="Courier New"/>
              </a:rPr>
              <a:t>pnea     canonical  ss-pnea    127.0.0.1:2000   127.0.0.1:2080</a:t>
            </a:r>
          </a:p>
          <a:p>
            <a:r>
              <a:rPr sz="2000" b="0" i="0">
                <a:solidFill>
                  <a:srgbClr val="1A1A1A"/>
                </a:solidFill>
                <a:latin typeface="Courier New"/>
              </a:rPr>
              <a:t>pnia     canonical  ss-pnia    127.0.0.1:5100   127.0.0.1:5180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614416"/>
            <a:ext cx="10881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Three members, each behind its own Security Server.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captured from the demonstration federation · X-Road 7.7.0 · pack a28b74c · 2026-09-30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5.5 · Stand up the federation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Fourth: registered, grants exact, monitoring running</a:t>
            </a:r>
          </a:p>
        </p:txBody>
      </p:sp>
      <p:sp>
        <p:nvSpPr>
          <p:cNvPr id="4" name="kp-demo-evidence"/>
          <p:cNvSpPr/>
          <p:nvPr/>
        </p:nvSpPr>
        <p:spPr>
          <a:xfrm>
            <a:off x="658368" y="1280160"/>
            <a:ext cx="10881360" cy="4224528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89888"/>
            <a:ext cx="10469880" cy="3977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1A1A1A"/>
                </a:solidFill>
                <a:latin typeface="Courier New"/>
              </a:rPr>
              <a:t>$ scripts/acceptance.sh --summary --only 2.x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2.x.addons(ss-pdga)  PASS  operational + environmental monitoring add-ons RUNNING on ss-pdga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2.x.addons(ss-pnea)  PASS  operational + environmental monitoring add-ons RUNNING on ss-pnea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2.x.addons(ss-plr)  PASS  operational + environmental monitoring add-ons RUNNING on ss-plr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2.x.addons(ss-pnia)  PASS  operational + environmental monitoring add-ons RUNNING on ss-pnia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2.x(PLR:ENROLMENT)  PASS  client REGISTERED on ss-plr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2.x(PNEA:EXAMS)  PASS  client REGISTERED on ss-pnea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2.x(PNIA:IDENTITY)  PASS  client REGISTERED on ss-pnia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2.x.acl(identity-api)  PASS  identity-api grants exactly PROGRESSA:GOV:PNEA:EXAMS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2.x.acl(enrolment-api)  PASS  enrolment-api grants exactly PROGRESSA:GOV:PNEA:EXAMS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2.x.catalogue(PROGRESSA/GOV/PLR/ENROLMENT/enrolment-api)  PASS  PROGRESSA/GOV/PLR/ENROLMENT/enrolment-api'…</a:t>
            </a:r>
          </a:p>
          <a:p>
            <a:r>
              <a:rPr sz="1200" b="0" i="0">
                <a:solidFill>
                  <a:srgbClr val="1A1A1A"/>
                </a:solidFill>
                <a:latin typeface="Courier New"/>
              </a:rPr>
              <a:t>2.x.catalogue(PROGRESSA/GOV/PNIA/IDENTITY/identity-api)  PASS  PROGRESSA/GOV/PNIA/IDENTITY/identity-api's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614416"/>
            <a:ext cx="10881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Registered on the Central Server, grants exact, monitoring add-ons running — the federation is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025896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captured from the demonstration federation · X-Road 7.7.0 · pack a28b74c · 2026-09-30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5.5 · Stand up the federation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Central Server, Test CA, four Security Servers — stood up from the run book, in order, and shown running, registered and granted exactly.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Draft the federation stand-up run book.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an ordered, reproducible stand-up run book with production-difference notes. Before the next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5.5 · Stand up the federation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NIIS X-Road federation — Central Server, Security Server, Test CA (niis.org)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Linkup demonstration federation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5.5 · Stand up the federation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