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96" r:id="rId18"/>
    <p:sldId id="2697" r:id="rId19"/>
    <p:sldId id="2698" r:id="rId20"/>
    <p:sldId id="2699" r:id="rId21"/>
    <p:sldId id="2700" r:id="rId22"/>
    <p:sldId id="2701" r:id="rId23"/>
    <p:sldId id="2702" r:id="rId24"/>
    <p:sldId id="270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You do not onboard a whole government at once. You build the framework in four phases, each delivering something real, each with a decision gate before the next is funded — a pattern drawn from how Estonia and others actually built their buses.</a:t>
            </a:r>
          </a:p>
          <a:p/>
          <a:p>
            <a:r>
              <a:t>Retrieval prompt — ask before playing on: from the start of the build, how long until the first citizen-visible once-only exchange? Answer on the next slide: about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the honest calendar. The four build phases start when the foundation is laid — the decree, the governance, the architecture and the standards portfolio — and that groundwork is itself a year to eighteen months of team effort, longer in calendar time because legislative and budget cycles do not hurry. Then the phases. Phase one, Foundation, months zero to six — the central platform and its trust anchor go live, two pilot members connect, the first services run. Phase two, Pilot and Validation, seven to twelve — the first real cross-ministry once-only exchanges go live, the first five members are on, conformance testing is operating. Phase three, Expansion, thirteen to eighteen — the first-wave sectors are covered: fifteen members, twenty or more services. Phase four, Optimisation, nineteen to twenty-four — performance, the long tail, the next wave of sectors. So the first citizen-visible once-only exchange lands about a year into the build, and the first real milestone — the platform running with a handful of member services — two to three years from the day the programme starts. National coverage is a four-to-six-year programme. Say that to your minister on day one; it is the number that keeps the programme funded when the launch enthusiasm fades. Each phase ends with a decision gate: a go or no-go where the funder and the Steering Committee confirm the phase actually delivered before the next is funded.</a:t>
            </a:r>
          </a:p>
          <a:p/>
          <a:p>
            <a:r>
              <a:t>Production cue: this slide answers the retrieval prompt set on the opener. Reveal the groundwork first, then the phases left to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phasing protects the re-use logic: phase one builds the shared bus once, and every phase and every agency after it reuses that one investment. A funder who sees that is paying for a national platform, not a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One caution, because the words collide: these four build phases are not the five-phase enterprise-architecture lifecycle that produced your plan. That lifecycle designs the target; this schedule builds the bus, inside its final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Second, the plan is five documents, not one schedule. The phased schedule — for each phase its outcomes, its gate, its risks. The investment plan — capital and running costs across the years, benchmarked against what comparable platforms cost, and with the state's own budget line for running whatever a donor built, because the commonest failure is a platform funded to launch and not to operate. The procurement plan — one lot per domain, sequenced across the phases, and never a single big-bang contract that hands the architecture to whichever vendor wins; the platform itself is bought as a working, accepted result, with acceptance tests and penalties, against the framework's rules as mandatory requirements. The workforce plan — the operator grows from a first team of eight to fifteen towards thirty to eighty at national scale, and every member needs a named technical focal point. And the risk register with the success metrics — members onboarded, services registered, transactions a quarter, uptime, how long onboarding takes, member satisfaction — reviewed at every gate. A cost frame a funder can check is a cost frame a funder can approve.</a:t>
            </a:r>
          </a:p>
          <a:p/>
          <a:p>
            <a:r>
              <a:t>Production cue: the pivotal slide of this video.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So you plan the build in four phases — Foundation, Pilot, Expansion, Optimisation — each with a gate and a benchmarked cost, on a calendar you have told the truth about, with the investment, procurement, workforce and risk plans beside the schedule. That is what turns an ambition into a fundable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KP2 · MODULE 5 · VIDEO 5.1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Plan the build in four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Foundation, Pilot, Expansion, Optimisation — four phases with decision gates, an honest calendar, and the four plans beside the schedule that a funder actually reads.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You do not onboard a whole government at once.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Four phases, each delivering something real.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 decision gate before the next phase is funded.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5.1 · Plan the build in four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phases, a gate at each, on an honest calendar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807207" y="3108960"/>
            <a:ext cx="365761" cy="0"/>
          </a:xfrm>
          <a:prstGeom prst="line">
            <a:avLst/>
          </a:prstGeom>
          <a:ln w="1905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58368" y="1600200"/>
            <a:ext cx="2103120" cy="30175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6E96"/>
                </a:solidFill>
                <a:latin typeface="Arial"/>
              </a:rPr>
              <a:t>BEFORE MONTH 0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The groundwork: decree, governance, architecture, standards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A year to eighteen months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18687" y="1600200"/>
            <a:ext cx="1737360" cy="301752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6E96"/>
                </a:solidFill>
                <a:latin typeface="Arial"/>
              </a:rPr>
              <a:t>PHASE 1 · MONTHS 0–6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Foundation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Platform and trust anchor live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Two pilot members</a:t>
            </a:r>
          </a:p>
        </p:txBody>
      </p:sp>
      <p:sp>
        <p:nvSpPr>
          <p:cNvPr id="7" name="Diamond 6"/>
          <p:cNvSpPr/>
          <p:nvPr/>
        </p:nvSpPr>
        <p:spPr>
          <a:xfrm>
            <a:off x="5029200" y="2953512"/>
            <a:ext cx="310896" cy="310896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13248" y="1600200"/>
            <a:ext cx="1737360" cy="301752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6E96"/>
                </a:solidFill>
                <a:latin typeface="Arial"/>
              </a:rPr>
              <a:t>PHASE 2 · MONTHS 7–12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Pilot and Validation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First cross-ministry once-only exchanges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Five members</a:t>
            </a:r>
          </a:p>
        </p:txBody>
      </p:sp>
      <p:sp>
        <p:nvSpPr>
          <p:cNvPr id="9" name="Diamond 8"/>
          <p:cNvSpPr/>
          <p:nvPr/>
        </p:nvSpPr>
        <p:spPr>
          <a:xfrm>
            <a:off x="7223760" y="2953512"/>
            <a:ext cx="310896" cy="310896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07808" y="1600200"/>
            <a:ext cx="1737360" cy="301752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6E96"/>
                </a:solidFill>
                <a:latin typeface="Arial"/>
              </a:rPr>
              <a:t>PHASE 3 · MONTHS 13–18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Expansion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First-wave sectors covered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Fifteen members, 20+ services</a:t>
            </a:r>
          </a:p>
        </p:txBody>
      </p:sp>
      <p:sp>
        <p:nvSpPr>
          <p:cNvPr id="11" name="Diamond 10"/>
          <p:cNvSpPr/>
          <p:nvPr/>
        </p:nvSpPr>
        <p:spPr>
          <a:xfrm>
            <a:off x="9418320" y="2953512"/>
            <a:ext cx="310896" cy="310896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02367" y="1600200"/>
            <a:ext cx="1737360" cy="301752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6E96"/>
                </a:solidFill>
                <a:latin typeface="Arial"/>
              </a:rPr>
              <a:t>PHASE 4 · MONTHS 19–24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Optimisation</a:t>
            </a:r>
          </a:p>
          <a:p>
            <a:pPr algn="l">
              <a:spcAft>
                <a:spcPts val="300"/>
              </a:spcAft>
            </a:pPr>
            <a:r>
              <a:rPr sz="1450" b="0" i="0">
                <a:solidFill>
                  <a:srgbClr val="1A1A1A"/>
                </a:solidFill>
                <a:latin typeface="Arial"/>
              </a:rPr>
              <a:t>Performance, the long tail, the next wave</a:t>
            </a:r>
          </a:p>
        </p:txBody>
      </p:sp>
      <p:sp>
        <p:nvSpPr>
          <p:cNvPr id="13" name="Diamond 12"/>
          <p:cNvSpPr/>
          <p:nvPr/>
        </p:nvSpPr>
        <p:spPr>
          <a:xfrm>
            <a:off x="658368" y="4800600"/>
            <a:ext cx="237744" cy="237744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45736"/>
            <a:ext cx="5486400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06E96"/>
                </a:solidFill>
                <a:latin typeface="Arial"/>
              </a:rPr>
              <a:t>a go / no-go gate — the next phase is funded only if this one delivered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First citizen-visible once-only exchange: about a year in. National coverage: a four-to-six-year programme — say so on day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5.1 · Plan the build in four phases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Phase one builds the bus once — everything after reuses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Every later phase and every agency that joins consumes that one investment.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That is what a funder should see in the plan.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 funder paying for a national platform, not a project.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5.1 · Plan the build in four phases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These build phases are not the enterprise-architecture lifecycle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29260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THE FIVE-PHASE LIFECYCLE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Produced your plan.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Designs the target.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292608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THE FOUR BUILD PHASES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Build the bus.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Run inside the lifecycle's final phase.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63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Same word, two different things — keep them apart in every briefing.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5.1 · Plan the build in four phases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plan is five documents, not one schedule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630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17320"/>
            <a:ext cx="105274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phased schedule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Outcomes, a go / no-go gate and the risks, per phase.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25399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340863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95144"/>
            <a:ext cx="105274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investment plan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Capital and running costs, benchmarked — and the state's line to run what a donor built.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13182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218687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172968"/>
            <a:ext cx="105274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procurement plan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One lot per domain, never one big-bang contract; the platform bought as an accepted result.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009644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096511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050791"/>
            <a:ext cx="105274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workforce plan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operator from eight to fifteen people towards thirty to eighty; a focal point per member.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488746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4974336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928616"/>
            <a:ext cx="105274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risk register and the success metrics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Members, services, transactions, uptime, onboarding time, satisfaction.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9161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cost frame a funder can check is a cost frame a funder can approve.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5.1 · Plan the build in four phases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Four phases after the foundation, a gate at each, an honest calendar, and the four plans beside the schedule — a programme a funder can approve.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your implementation plan — the phased schedule and the four plans beside it.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the phased schedule plus the investment, procurement, workforce and risk plans.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5.1 · Plan the build in four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Estonia — X-Road build-out (cost and timeline benchmark)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ITU DPI Safeguards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NIIS X-Road implementation guidance (niis.org)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5.1 · Plan the build in four phases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