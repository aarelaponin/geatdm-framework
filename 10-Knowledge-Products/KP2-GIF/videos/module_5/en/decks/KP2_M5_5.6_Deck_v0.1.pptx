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4" r:id="rId56"/>
    <p:sldId id="2735" r:id="rId57"/>
    <p:sldId id="2736" r:id="rId58"/>
    <p:sldId id="2737" r:id="rId59"/>
    <p:sldId id="2738" r:id="rId60"/>
    <p:sldId id="2739" r:id="rId61"/>
    <p:sldId id="2740" r:id="rId62"/>
    <p:sldId id="27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moment the whole framework exists for: a real once-only exchange, running across the federation, for an ordinary citizen scenario. Not a mock, not a diagram — a genuine cross-server call in which the state asks the citizen once and fetches the rest. Everything in this knowledge product has been leading to this single call.</a:t>
            </a:r>
          </a:p>
          <a:p/>
          <a:p>
            <a:r>
              <a:t>Retrieval prompt — ask before playing on: of the four layers — technical, semantic, organisational, legal — which are at work in this one call? Answer on the layers slide: all four.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scenario is concrete and ordinary. A learner applies for a credential at the national examination authority, PNEA. Without once-only, PNEA asks the learner to bring paper proof of who they are and proof that they were enrolled. With once-only, the moment the learner gives their national ID, PNEA's service pre-fills their identity from the national identity authority, PNIA, and their enrolment from the learner registry, PLR — both fetched over the bus, with a lawful basis, in seconds. The learner is asked once. That is the promise from the very first module of this knowledge product, now actually running.</a:t>
            </a:r>
          </a:p>
          <a:p/>
          <a:p>
            <a:r>
              <a:t>Production cue: the centrepiece of the module. Reveal the learner and PNEA, then the two fetches.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every layer you built is in that single call. The call routes across the trust zones, secured by mutual TLS — the technical layer. It returns only the fields the purpose needs, under the decree's lawful basis — the legal layer. It runs between members the governance admitted, under their obligations — the organisational layer. And it returns meaning, not just bytes, because it resolves only thanks to the semantic map: PNEA, PNIA and PLR agree what 'learner' and 'enrolment' mean. That agreement came from the data owners and the architects sitting together — the shared language between business and IT — and without it the call would return confident nonsense. One exchange, all four layers, all at once.</a:t>
            </a:r>
          </a:p>
          <a:p/>
          <a:p>
            <a:r>
              <a:t>Production cue: this slide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build pack's acceptance check, and it is deliberately a single, observable thing: the cross-server call resolves, the identity and the enrolment come back, the learner is not asked twice. An automated check runs exactly this — it deploys the federation, the members, the service and the demonstration data, then makes the call and confirms once-only actually happens. When that check passes, this knowledge product stops being a framework explained and becomes a framework that runs. That distinction — explained versus running — is the entire reason this is an implementation Knowledge Product. In a real federation this moment has a name: the dual go-live approval. The regulator confirms the member's compliance readiness, the operator confirms its technical readiness, and both confirmations are recorded before the production connection is switched on. The acceptance check is the technical half of that approval; the compliance half is the gate register the member completed on the way here.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why one small exchange is the proving slice for this whole knowledge product and for the work that builds on it. Prove once-only here, on four members, and you have proven the pattern that your country's shared digital public infrastructure, and the services built on top of it, will reuse. The smallest real once-only call is the largest possible proof that the framework works — because if the state can ask once and fetch the rest for one learner, lawfully and securely, it can do it for every service a country builds on the bus.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once-only exchange, live, is where this knowledge product proves itself. PNEA pre-fills identity from PNIA and enrolment from PLR, over the bus, for a real learner asked once. Technical, legal, organisational and semantic — all four layers in one resolving call, confirmed by the acceptance check. That single exchange is the acceptance of the whole framework, and the template every later service reuses.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the once-only exchange, live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PNEA issues a credential and pre-fills identity from PNIA and enrolment from PLR — a real cross-server call, the data asked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moment the whole framework exists for.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real once-only exchange, running across the federation.</a:t>
            </a:r>
          </a:p>
          <a:p>
            <a:pPr>
              <a:spcAft>
                <a:spcPts val="800"/>
              </a:spcAft>
            </a:pPr>
            <a:r>
              <a:rPr sz="1700" b="0" i="0">
                <a:solidFill>
                  <a:srgbClr val="595959"/>
                </a:solidFill>
                <a:latin typeface="Arial"/>
              </a:rPr>
              <a:t>Not a mock, not a diagram — a genuine cross-server call.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call — identity from PNIA, enrolment from PLR</a:t>
            </a:r>
          </a:p>
        </p:txBody>
      </p:sp>
      <p:cxnSp>
        <p:nvCxnSpPr>
          <p:cNvPr id="4" name="Connector 3"/>
          <p:cNvCxnSpPr/>
          <p:nvPr/>
        </p:nvCxnSpPr>
        <p:spPr>
          <a:xfrm>
            <a:off x="2990088" y="3429000"/>
            <a:ext cx="512064"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629400" y="23317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29400" y="39319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29400" y="3246120"/>
            <a:ext cx="1463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i="0">
                <a:solidFill>
                  <a:srgbClr val="006E96"/>
                </a:solidFill>
                <a:latin typeface="Arial"/>
              </a:rPr>
              <a:t>over the bus</a:t>
            </a:r>
          </a:p>
        </p:txBody>
      </p:sp>
      <p:sp>
        <p:nvSpPr>
          <p:cNvPr id="8" name="Rounded Rectangle 7"/>
          <p:cNvSpPr/>
          <p:nvPr/>
        </p:nvSpPr>
        <p:spPr>
          <a:xfrm>
            <a:off x="658368" y="2377440"/>
            <a:ext cx="228600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LEARNER</a:t>
            </a:r>
          </a:p>
          <a:p>
            <a:pPr algn="l">
              <a:spcAft>
                <a:spcPts val="300"/>
              </a:spcAft>
            </a:pPr>
            <a:r>
              <a:rPr sz="1600" b="0" i="0">
                <a:solidFill>
                  <a:srgbClr val="1A1A1A"/>
                </a:solidFill>
                <a:latin typeface="Arial"/>
              </a:rPr>
              <a:t>Applies for a credential</a:t>
            </a:r>
          </a:p>
          <a:p>
            <a:pPr algn="l">
              <a:spcAft>
                <a:spcPts val="300"/>
              </a:spcAft>
            </a:pPr>
            <a:r>
              <a:rPr sz="1600" b="0" i="0">
                <a:solidFill>
                  <a:srgbClr val="1A1A1A"/>
                </a:solidFill>
                <a:latin typeface="Arial"/>
              </a:rPr>
              <a:t>Gives a national ID — once</a:t>
            </a:r>
          </a:p>
        </p:txBody>
      </p:sp>
      <p:sp>
        <p:nvSpPr>
          <p:cNvPr id="9" name="Rounded Rectangle 8"/>
          <p:cNvSpPr/>
          <p:nvPr/>
        </p:nvSpPr>
        <p:spPr>
          <a:xfrm>
            <a:off x="3566160" y="2011680"/>
            <a:ext cx="301752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FFFFFF"/>
                </a:solidFill>
                <a:latin typeface="Arial"/>
              </a:rPr>
              <a:t>PNEA</a:t>
            </a:r>
          </a:p>
          <a:p>
            <a:pPr algn="l">
              <a:spcAft>
                <a:spcPts val="300"/>
              </a:spcAft>
            </a:pPr>
            <a:r>
              <a:rPr sz="1700" b="0" i="0">
                <a:solidFill>
                  <a:srgbClr val="FFFFFF"/>
                </a:solidFill>
                <a:latin typeface="Arial"/>
              </a:rPr>
              <a:t>The examination authority</a:t>
            </a:r>
          </a:p>
          <a:p>
            <a:pPr algn="l">
              <a:spcAft>
                <a:spcPts val="300"/>
              </a:spcAft>
            </a:pPr>
            <a:r>
              <a:rPr sz="1700" b="0" i="0">
                <a:solidFill>
                  <a:srgbClr val="FFFFFF"/>
                </a:solidFill>
                <a:latin typeface="Arial"/>
              </a:rPr>
              <a:t>Pre-fills the application — no paper proof</a:t>
            </a:r>
          </a:p>
        </p:txBody>
      </p:sp>
      <p:sp>
        <p:nvSpPr>
          <p:cNvPr id="10" name="Rounded Rectangle 9"/>
          <p:cNvSpPr/>
          <p:nvPr/>
        </p:nvSpPr>
        <p:spPr>
          <a:xfrm>
            <a:off x="8183879" y="155448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PNIA</a:t>
            </a:r>
          </a:p>
          <a:p>
            <a:pPr algn="l">
              <a:spcAft>
                <a:spcPts val="300"/>
              </a:spcAft>
            </a:pPr>
            <a:r>
              <a:rPr sz="1700" b="0" i="0">
                <a:solidFill>
                  <a:srgbClr val="1A1A1A"/>
                </a:solidFill>
                <a:latin typeface="Arial"/>
              </a:rPr>
              <a:t>The identity authority</a:t>
            </a:r>
          </a:p>
          <a:p>
            <a:pPr algn="l">
              <a:spcAft>
                <a:spcPts val="300"/>
              </a:spcAft>
            </a:pPr>
            <a:r>
              <a:rPr sz="1700" b="0" i="0">
                <a:solidFill>
                  <a:srgbClr val="1A1A1A"/>
                </a:solidFill>
                <a:latin typeface="Arial"/>
              </a:rPr>
              <a:t>Returns the identity</a:t>
            </a:r>
          </a:p>
        </p:txBody>
      </p:sp>
      <p:sp>
        <p:nvSpPr>
          <p:cNvPr id="11" name="Rounded Rectangle 10"/>
          <p:cNvSpPr/>
          <p:nvPr/>
        </p:nvSpPr>
        <p:spPr>
          <a:xfrm>
            <a:off x="8183879" y="370332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PLR</a:t>
            </a:r>
          </a:p>
          <a:p>
            <a:pPr algn="l">
              <a:spcAft>
                <a:spcPts val="300"/>
              </a:spcAft>
            </a:pPr>
            <a:r>
              <a:rPr sz="1700" b="0" i="0">
                <a:solidFill>
                  <a:srgbClr val="1A1A1A"/>
                </a:solidFill>
                <a:latin typeface="Arial"/>
              </a:rPr>
              <a:t>The learner registry</a:t>
            </a:r>
          </a:p>
          <a:p>
            <a:pPr algn="l">
              <a:spcAft>
                <a:spcPts val="300"/>
              </a:spcAft>
            </a:pPr>
            <a:r>
              <a:rPr sz="1700" b="0" i="0">
                <a:solidFill>
                  <a:srgbClr val="1A1A1A"/>
                </a:solidFill>
                <a:latin typeface="Arial"/>
              </a:rPr>
              <a:t>Returns the enrolment</a:t>
            </a:r>
          </a:p>
        </p:txBody>
      </p:sp>
      <p:sp>
        <p:nvSpPr>
          <p:cNvPr id="12" name="TextBox 11"/>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Without once-only, the learner brings paper proof of both. With it, the learner is asked once.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layer you built is in this one call</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Routed across the trust zones, secured by mutual TLS.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Only the fields the purpose needs, under the decree's lawful basis.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Between members the governance admitted, under their obligations.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It resolves because the agencies agree what "learner" and "enrolment" mean.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One exchange, all four layers, all at once.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acceptance check is the technical half of going live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ACCEPTANCE CHECK</a:t>
            </a:r>
          </a:p>
          <a:p>
            <a:pPr>
              <a:spcAft>
                <a:spcPts val="700"/>
              </a:spcAft>
            </a:pPr>
            <a:r>
              <a:rPr sz="1600" b="0" i="0">
                <a:solidFill>
                  <a:srgbClr val="1A1A1A"/>
                </a:solidFill>
                <a:latin typeface="Arial"/>
              </a:rPr>
              <a:t>Deploys the federation, the members, the service and the data.</a:t>
            </a:r>
          </a:p>
          <a:p>
            <a:pPr>
              <a:spcAft>
                <a:spcPts val="700"/>
              </a:spcAft>
            </a:pPr>
            <a:r>
              <a:rPr sz="1600" b="0" i="0">
                <a:solidFill>
                  <a:srgbClr val="1A1A1A"/>
                </a:solidFill>
                <a:latin typeface="Arial"/>
              </a:rPr>
              <a:t>Makes the call; confirms the learner is not asked twice.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DUAL GO-LIVE APPROVAL</a:t>
            </a:r>
          </a:p>
          <a:p>
            <a:pPr>
              <a:spcAft>
                <a:spcPts val="700"/>
              </a:spcAft>
            </a:pPr>
            <a:r>
              <a:rPr sz="1600" b="0" i="0">
                <a:solidFill>
                  <a:srgbClr val="1A1A1A"/>
                </a:solidFill>
                <a:latin typeface="Arial"/>
              </a:rPr>
              <a:t>The regulator confirms compliance readiness.</a:t>
            </a:r>
          </a:p>
          <a:p>
            <a:pPr>
              <a:spcAft>
                <a:spcPts val="700"/>
              </a:spcAft>
            </a:pPr>
            <a:r>
              <a:rPr sz="1600" b="0" i="0">
                <a:solidFill>
                  <a:srgbClr val="1A1A1A"/>
                </a:solidFill>
                <a:latin typeface="Arial"/>
              </a:rPr>
              <a:t>The operator confirms technical readiness — both recorded.</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When it passes, this is not a framework explained — it is a framework that runs.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small exchange is the proving slice for everything after it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Prove once-only on four members, and you have proven the pattern your country's shared digital public infrastructure will reuse.</a:t>
            </a:r>
          </a:p>
          <a:p>
            <a:pPr>
              <a:spcAft>
                <a:spcPts val="1200"/>
              </a:spcAft>
            </a:pPr>
            <a:r>
              <a:rPr sz="2000" b="0" i="0">
                <a:solidFill>
                  <a:srgbClr val="1A1A1A"/>
                </a:solidFill>
                <a:latin typeface="Arial"/>
              </a:rPr>
              <a:t>If the state can ask once and fetch the rest for one learner, it can do it for every service on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smallest real once-only call is the largest proof the framework works.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real cross-server call, the learner asked once — every layer proven in a single exchange, and both go-live approvals recorded.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Script and verify the once-only exchange (the acceptance check).</a:t>
            </a:r>
          </a:p>
          <a:p>
            <a:pPr algn="l">
              <a:spcAft>
                <a:spcPts val="400"/>
              </a:spcAft>
            </a:pPr>
            <a:r>
              <a:rPr sz="1800" b="0" i="0">
                <a:solidFill>
                  <a:srgbClr val="595959"/>
                </a:solidFill>
                <a:latin typeface="Arial"/>
              </a:rPr>
              <a:t>The prompt in the companion material gives you a given/when/then acceptance script with a negative check, mapped to the four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NIIS X-Road (niis.org)</a:t>
            </a:r>
          </a:p>
          <a:p>
            <a:pPr>
              <a:spcAft>
                <a:spcPts val="1200"/>
              </a:spcAft>
            </a:pPr>
            <a:r>
              <a:rPr sz="1700" b="0" i="0">
                <a:solidFill>
                  <a:srgbClr val="1A1A1A"/>
                </a:solidFill>
                <a:latin typeface="Arial"/>
              </a:rPr>
              <a:t>•  The build pack's acceptance check</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