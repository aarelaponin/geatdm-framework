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34" r:id="rId56"/>
    <p:sldId id="2735" r:id="rId57"/>
    <p:sldId id="2736" r:id="rId58"/>
    <p:sldId id="2737" r:id="rId59"/>
    <p:sldId id="2738" r:id="rId60"/>
    <p:sldId id="2739" r:id="rId61"/>
    <p:sldId id="2740" r:id="rId62"/>
    <p:sldId id="2741" r:id="rId63"/>
    <p:sldId id="2742" r:id="rId64"/>
    <p:sldId id="2743" r:id="rId65"/>
    <p:sldId id="2744" r:id="rId66"/>
    <p:sldId id="2745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48.xml"/><Relationship Id="rId64" Type="http://schemas.openxmlformats.org/officeDocument/2006/relationships/slide" Target="slides/slide49.xml"/><Relationship Id="rId65" Type="http://schemas.openxmlformats.org/officeDocument/2006/relationships/slide" Target="slides/slide50.xml"/><Relationship Id="rId66" Type="http://schemas.openxmlformats.org/officeDocument/2006/relationships/slide" Target="slides/slide51.xml"/><Relationship Id="rId67" Type="http://schemas.openxmlformats.org/officeDocument/2006/relationships/slide" Target="slides/slide5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This is the moment the whole framework exists for: a learner applies for a credential, gives one number, and the state fetches the rest. What you are about to see was recorded from the running federation, exactly as it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Here is the call you are about to watch. A learner applies for a credential at PNEA, the examination authority. Without once-only, the learner brings paper proof of identity and of enrolment. With it, PNEA fetches the identity from PNIA and the enrolment from PLR, over the bus.</a:t>
            </a:r>
          </a:p>
          <a:p/>
          <a:p>
            <a:r>
              <a:t>Production cue: the picture of what the recording shows. The frames that follow map onto these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form before the call: ten rows, all blank. Without the bus, that is ten questions the learner answers, and two sets of paper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same form once the learner gives the national ID. Nine rows fill in: five from PNIA, four from PLR, each labelled with its source. One question asked, nine fetched.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second tab reads the same exchange by layer. In the legal pane, PNIA sends five fields and names three it holds but withholds: a mother's name, a birth registration number, an address. The purpose does not need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third tab asks PNIA the identical question from two callers. PNEA is allowed. PLR, a member of the same bus, gets an access-denied fault from PNIA's access list. Being on the bus is not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CLIP: C6-break-restore.mp4</a:t>
            </a:r>
          </a:p>
          <a:p/>
          <a:p>
            <a:r>
              <a:t>VO: Now the operator withdraws PNEA's permission and runs the form again. Within seconds the PNIA rows are denied, while the PLR rows still fill: one grant withdrawn, one source broken. Restore it, and the form is whole.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exchange is also written to disk as the assembled application: one line per field, each with its source. The national ID is the only line the citizen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Last, the acceptance script runs this exchange as six checks: the call, the right learner, asked once, the denial, a clean not-found, and field conformance. All six pass — the technical half of go-live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the exchange is shown, not explained: one field asked, nine fetched, only what the purpose needs, a denial the access list enforces, six checks green. That is the framework,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5 · VIDEO 5.6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Run the once-only exchange,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PNEA issues a credential and pre-fills identity from PNIA and enrolment from PLR — a real cross-server call, the data asked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 and a recorded demonstration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The moment the whole framework exists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 learner gives one number; the state fetches the rest.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Recorded from the running federation, exactly as it ran.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One call — identity from PNIA, enrolment from PLR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990088" y="3429000"/>
            <a:ext cx="512064" cy="0"/>
          </a:xfrm>
          <a:prstGeom prst="line">
            <a:avLst/>
          </a:prstGeom>
          <a:ln w="317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629400" y="2331720"/>
            <a:ext cx="1481327" cy="594360"/>
          </a:xfrm>
          <a:prstGeom prst="line">
            <a:avLst/>
          </a:prstGeom>
          <a:ln w="317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29400" y="3931920"/>
            <a:ext cx="1481327" cy="594360"/>
          </a:xfrm>
          <a:prstGeom prst="line">
            <a:avLst/>
          </a:prstGeom>
          <a:ln w="317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629400" y="3246120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400" b="1" i="0">
                <a:solidFill>
                  <a:srgbClr val="006E96"/>
                </a:solidFill>
                <a:latin typeface="Arial"/>
              </a:rPr>
              <a:t>over the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77440"/>
            <a:ext cx="228600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6E96"/>
                </a:solidFill>
                <a:latin typeface="Arial"/>
              </a:rPr>
              <a:t>THE LEARNER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Applies for a credential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Gives a national ID — once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3017520" cy="2834640"/>
          </a:xfrm>
          <a:prstGeom prst="roundRect">
            <a:avLst>
              <a:gd name="adj" fmla="val 8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PNEA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The examination authority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FFFFFF"/>
                </a:solidFill>
                <a:latin typeface="Arial"/>
              </a:rPr>
              <a:t>Pre-fills the application — no paper proof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54480"/>
            <a:ext cx="3355848" cy="160020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006E96"/>
                </a:solidFill>
                <a:latin typeface="Arial"/>
              </a:rPr>
              <a:t>PNIA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identity authority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Returns the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703320"/>
            <a:ext cx="3355848" cy="160020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006E96"/>
                </a:solidFill>
                <a:latin typeface="Arial"/>
              </a:rPr>
              <a:t>PLR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learner registry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Returns the enrolment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5778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Without once-only, the learner brings paper proof of both. With it, the learner is asked once.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Before the bus: ten blank rows</a:t>
            </a:r>
          </a:p>
        </p:txBody>
      </p:sp>
      <p:pic>
        <p:nvPicPr>
          <p:cNvPr id="4" name="kp-demo-evidence" descr="C1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968" y="1097280"/>
            <a:ext cx="7884160" cy="4434840"/>
          </a:xfrm>
          <a:prstGeom prst="rect">
            <a:avLst/>
          </a:prstGeom>
          <a:ln w="12700">
            <a:solidFill>
              <a:srgbClr val="DDECF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Ten blank rows: without the bus, ten questions to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771c946 · 2026-09-13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One question asked, nine rows filled</a:t>
            </a:r>
          </a:p>
        </p:txBody>
      </p:sp>
      <p:pic>
        <p:nvPicPr>
          <p:cNvPr id="4" name="kp-demo-evidence" descr="C2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968" y="1097280"/>
            <a:ext cx="7884160" cy="4434840"/>
          </a:xfrm>
          <a:prstGeom prst="rect">
            <a:avLst/>
          </a:prstGeom>
          <a:ln w="12700">
            <a:solidFill>
              <a:srgbClr val="DDECF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Nine fields arrive the learner was never asked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771c946 · 2026-09-13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What PNIA sends — and what it withholds</a:t>
            </a:r>
          </a:p>
        </p:txBody>
      </p:sp>
      <p:pic>
        <p:nvPicPr>
          <p:cNvPr id="4" name="kp-demo-evidence" descr="C4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968" y="1097280"/>
            <a:ext cx="7884160" cy="4434840"/>
          </a:xfrm>
          <a:prstGeom prst="rect">
            <a:avLst/>
          </a:prstGeom>
          <a:ln w="12700">
            <a:solidFill>
              <a:srgbClr val="DDECF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Legal, organisational, semantic, technical — read off the live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771c946 · 2026-09-13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Same question, two callers, two answers</a:t>
            </a:r>
          </a:p>
        </p:txBody>
      </p:sp>
      <p:pic>
        <p:nvPicPr>
          <p:cNvPr id="4" name="kp-demo-evidence" descr="C5-allowed-den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968" y="1097280"/>
            <a:ext cx="7884160" cy="4434840"/>
          </a:xfrm>
          <a:prstGeom prst="rect">
            <a:avLst/>
          </a:prstGeom>
          <a:ln w="12700">
            <a:solidFill>
              <a:srgbClr val="DDECF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PNEA: allowed. PLR, asking the identical question: AccessDenied.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771c946 · 2026-09-13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One grant withdrawn, one source broken</a:t>
            </a:r>
          </a:p>
        </p:txBody>
      </p:sp>
      <p:pic>
        <p:nvPicPr>
          <p:cNvPr id="4" name="kp-demo-evidence" descr="C6-break-re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968" y="1097280"/>
            <a:ext cx="7884160" cy="4434840"/>
          </a:xfrm>
          <a:prstGeom prst="rect">
            <a:avLst/>
          </a:prstGeom>
          <a:ln w="12700">
            <a:solidFill>
              <a:srgbClr val="DDECF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Grant withdrawn: the PNIA half fails, PLR still fills. Grant back: whole again.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771c946 · 2026-09-13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application, with every field's source</a:t>
            </a:r>
          </a:p>
        </p:txBody>
      </p:sp>
      <p:sp>
        <p:nvSpPr>
          <p:cNvPr id="4" name="kp-demo-evidence"/>
          <p:cNvSpPr/>
          <p:nvPr/>
        </p:nvSpPr>
        <p:spPr>
          <a:xfrm>
            <a:off x="658368" y="1280160"/>
            <a:ext cx="10881360" cy="4224528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46988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1A1A1A"/>
                </a:solidFill>
                <a:latin typeface="Courier New"/>
              </a:rPr>
              <a:t>out/application-02831663233.json — the assembled application, one line per field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field           value                          source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nin             02831663233                    citizen — the one thing asked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given_name      Bakary                         PNIA identity-api over the bus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family_name     Faal                           PNIA identity-api over the bus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date_of_birth   2009-04-12                     PNIA identity-api over the bus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sex             M                              PNIA identity-api over the bus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region          Upper River                    PNIA identity-api over the bus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school          Basse Senior Secondary School  PLR enrolment-api over the bus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level           Senior Secondary               PLR enrolment-api over the bus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enrolment_year  2024                           PLR enrolment-api over the bus</a:t>
            </a:r>
          </a:p>
          <a:p>
            <a:r>
              <a:rPr sz="1600" b="0" i="0">
                <a:solidFill>
                  <a:srgbClr val="1A1A1A"/>
                </a:solidFill>
                <a:latin typeface="Courier New"/>
              </a:rPr>
              <a:t>status          active                         PLR enrolment-api over the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application on disk: where every field came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771c946 · 2026-09-13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Six acceptance checks, all green</a:t>
            </a:r>
          </a:p>
        </p:txBody>
      </p:sp>
      <p:sp>
        <p:nvSpPr>
          <p:cNvPr id="4" name="kp-demo-evidence"/>
          <p:cNvSpPr/>
          <p:nvPr/>
        </p:nvSpPr>
        <p:spPr>
          <a:xfrm>
            <a:off x="658368" y="1280160"/>
            <a:ext cx="10881360" cy="4224528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46988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ourier New"/>
              </a:rPr>
              <a:t>$ scripts/acceptance.sh --summary --only 2.6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2.6.1  PASS  happy path — both cross-server calls resolve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2.6.2  PASS  right learner — fields match the seeded record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2.6.3  PASS  asked once — NIN is the only citizen field; bus pre-fills exactly the rest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2.6.4  PASS  negative — PROGRESSA/GOV/PLR/ENROLMENT (via its own SS ss-plr) denied by the provider ACL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2.6.5  PASS  negative — NIN absent from PLR yields a clean 404, not silence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2.6.6  PASS  field conformance — both responses carry exactly the fields their contract declares (G5.9)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Checks 2.6.1 to 2.6.6 green — the technical half of the go-live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771c946 · 2026-09-13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One field asked, nine fetched, only what the purpose needs — and six acceptance checks green.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Script and verify the once-only exchange (the acceptance check).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given/when/then acceptance script with a negative check, mapped to the four layers.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§5.2, Principle #5 (Once-Only)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NIIS X-Road (niis.org)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Linkup demonstration federation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5.6 · Run the once-only exchange,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