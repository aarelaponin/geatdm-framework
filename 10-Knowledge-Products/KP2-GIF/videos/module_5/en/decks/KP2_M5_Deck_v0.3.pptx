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 id="2743" r:id="rId65"/>
    <p:sldId id="2744" r:id="rId66"/>
    <p:sldId id="2745" r:id="rId67"/>
    <p:sldId id="2746" r:id="rId68"/>
    <p:sldId id="2747" r:id="rId69"/>
    <p:sldId id="2748" r:id="rId70"/>
    <p:sldId id="2749" r:id="rId71"/>
    <p:sldId id="2750" r:id="rId72"/>
    <p:sldId id="2751" r:id="rId73"/>
    <p:sldId id="2752" r:id="rId74"/>
    <p:sldId id="2753" r:id="rId75"/>
    <p:sldId id="2754" r:id="rId76"/>
    <p:sldId id="2755" r:id="rId77"/>
    <p:sldId id="2756" r:id="rId78"/>
    <p:sldId id="2757" r:id="rId79"/>
    <p:sldId id="2758" r:id="rId80"/>
    <p:sldId id="2759" r:id="rId81"/>
    <p:sldId id="2760" r:id="rId82"/>
    <p:sldId id="2761" r:id="rId83"/>
    <p:sldId id="2762" r:id="rId84"/>
    <p:sldId id="2763" r:id="rId85"/>
    <p:sldId id="2764" r:id="rId86"/>
    <p:sldId id="2765" r:id="rId87"/>
    <p:sldId id="2766" r:id="rId88"/>
    <p:sldId id="2767" r:id="rId89"/>
    <p:sldId id="2768" r:id="rId90"/>
    <p:sldId id="2769" r:id="rId91"/>
    <p:sldId id="2770" r:id="rId92"/>
    <p:sldId id="2771" r:id="rId93"/>
    <p:sldId id="2772" r:id="rId94"/>
    <p:sldId id="2773" r:id="rId95"/>
    <p:sldId id="2774" r:id="rId96"/>
    <p:sldId id="2775" r:id="rId97"/>
    <p:sldId id="2776" r:id="rId98"/>
    <p:sldId id="2777" r:id="rId99"/>
    <p:sldId id="2778" r:id="rId100"/>
    <p:sldId id="2779" r:id="rId101"/>
    <p:sldId id="2780" r:id="rId102"/>
    <p:sldId id="2781" r:id="rId10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 Id="rId75" Type="http://schemas.openxmlformats.org/officeDocument/2006/relationships/slide" Target="slides/slide60.xml"/><Relationship Id="rId76" Type="http://schemas.openxmlformats.org/officeDocument/2006/relationships/slide" Target="slides/slide61.xml"/><Relationship Id="rId77" Type="http://schemas.openxmlformats.org/officeDocument/2006/relationships/slide" Target="slides/slide62.xml"/><Relationship Id="rId78" Type="http://schemas.openxmlformats.org/officeDocument/2006/relationships/slide" Target="slides/slide63.xml"/><Relationship Id="rId79" Type="http://schemas.openxmlformats.org/officeDocument/2006/relationships/slide" Target="slides/slide64.xml"/><Relationship Id="rId80" Type="http://schemas.openxmlformats.org/officeDocument/2006/relationships/slide" Target="slides/slide65.xml"/><Relationship Id="rId81" Type="http://schemas.openxmlformats.org/officeDocument/2006/relationships/slide" Target="slides/slide66.xml"/><Relationship Id="rId82" Type="http://schemas.openxmlformats.org/officeDocument/2006/relationships/slide" Target="slides/slide67.xml"/><Relationship Id="rId83" Type="http://schemas.openxmlformats.org/officeDocument/2006/relationships/slide" Target="slides/slide68.xml"/><Relationship Id="rId84" Type="http://schemas.openxmlformats.org/officeDocument/2006/relationships/slide" Target="slides/slide69.xml"/><Relationship Id="rId85" Type="http://schemas.openxmlformats.org/officeDocument/2006/relationships/slide" Target="slides/slide70.xml"/><Relationship Id="rId86" Type="http://schemas.openxmlformats.org/officeDocument/2006/relationships/slide" Target="slides/slide71.xml"/><Relationship Id="rId87" Type="http://schemas.openxmlformats.org/officeDocument/2006/relationships/slide" Target="slides/slide72.xml"/><Relationship Id="rId88" Type="http://schemas.openxmlformats.org/officeDocument/2006/relationships/slide" Target="slides/slide73.xml"/><Relationship Id="rId89" Type="http://schemas.openxmlformats.org/officeDocument/2006/relationships/slide" Target="slides/slide74.xml"/><Relationship Id="rId90" Type="http://schemas.openxmlformats.org/officeDocument/2006/relationships/slide" Target="slides/slide75.xml"/><Relationship Id="rId91" Type="http://schemas.openxmlformats.org/officeDocument/2006/relationships/slide" Target="slides/slide76.xml"/><Relationship Id="rId92" Type="http://schemas.openxmlformats.org/officeDocument/2006/relationships/slide" Target="slides/slide77.xml"/><Relationship Id="rId93" Type="http://schemas.openxmlformats.org/officeDocument/2006/relationships/slide" Target="slides/slide78.xml"/><Relationship Id="rId94" Type="http://schemas.openxmlformats.org/officeDocument/2006/relationships/slide" Target="slides/slide79.xml"/><Relationship Id="rId95" Type="http://schemas.openxmlformats.org/officeDocument/2006/relationships/slide" Target="slides/slide80.xml"/><Relationship Id="rId96" Type="http://schemas.openxmlformats.org/officeDocument/2006/relationships/slide" Target="slides/slide81.xml"/><Relationship Id="rId97" Type="http://schemas.openxmlformats.org/officeDocument/2006/relationships/slide" Target="slides/slide82.xml"/><Relationship Id="rId98" Type="http://schemas.openxmlformats.org/officeDocument/2006/relationships/slide" Target="slides/slide83.xml"/><Relationship Id="rId99" Type="http://schemas.openxmlformats.org/officeDocument/2006/relationships/slide" Target="slides/slide84.xml"/><Relationship Id="rId100" Type="http://schemas.openxmlformats.org/officeDocument/2006/relationships/slide" Target="slides/slide85.xml"/><Relationship Id="rId101" Type="http://schemas.openxmlformats.org/officeDocument/2006/relationships/slide" Target="slides/slide86.xml"/><Relationship Id="rId102" Type="http://schemas.openxmlformats.org/officeDocument/2006/relationships/slide" Target="slides/slide87.xml"/><Relationship Id="rId103" Type="http://schemas.openxmlformats.org/officeDocument/2006/relationships/slide" Target="slides/slide8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SLA operationalises the member obligations from the governance module. Those obligations said, in principle, that a member meets service levels; the SLA is where the service levels become specific numbers, agreed and signed. Without the SLA, 'meets service levels' is a wish. With it, it is a commitment the Operating Authority can hold a member to — and a number a consumer can plan around. And the SLA belongs to a service, not to a member: every service a provider publishes carries its own, and a member that only consumes publishes nothing, so it signs none.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SLA sets the numbers a consumer can rely on. Availability — the uptime the provider commits to. Response time — how fast a call returns. Support hours — when there is someone to help. Incident response — who to call when the service fails, and how quickly they will respond. And change notice — how much warning a provider gives before changing the service, so no consumer is caught out by a surprise change. These are the numbers that turn a connection into a dependency a consumer can build a real citizen service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onboard a whole government at once. You build the framework in four phases, each delivering something real, each with a decision gate before the next is funded — a pattern drawn from how Estonia and others actually built their buses.</a:t>
            </a:r>
          </a:p>
          <a:p/>
          <a:p>
            <a:r>
              <a:t>Retrieval prompt — ask before playing on: from the start of the build, how long until the first citizen-visible once-only exchange? Answer on the next slide: about a year.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the honest calendar. The four build phases start when the foundation is laid — the decree, the governance, the architecture and the standards portfolio — and that groundwork is itself a year to eighteen months of team effort, longer in calendar time because legislative and budget cycles do not hurry. Then the phases. Phase one, Foundation, months zero to six — the central platform and its trust anchor go live, two pilot members connect, the first services run. Phase two, Pilot and Validation, seven to twelve — the first real cross-ministry once-only exchanges go live, the first five members are on, conformance testing is operating. Phase three, Expansion, thirteen to eighteen — the first-wave sectors are covered: fifteen members, twenty or more services. Phase four, Optimisation, nineteen to twenty-four — performance, the long tail, the next wave of sectors. So the first citizen-visible once-only exchange lands about a year into the build, and the first real milestone — the platform running with a handful of member services — two to three years from the day the programme starts. National coverage is a four-to-six-year programme. Say that to your minister on day one; it is the number that keeps the programme funded when the launch enthusiasm fades. Each phase ends with a decision gate: a go or no-go where the funder and the Steering Committee confirm the phase actually delivered before the next is funded.</a:t>
            </a:r>
          </a:p>
          <a:p/>
          <a:p>
            <a:r>
              <a:t>Production cue: this slide answers the retrieval prompt set on the opener. Reveal the groundwork first, then the phases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phasing protects the re-use logic: phase one builds the shared bus once, and every phase and every agency after it reuses that one investment. A funder who sees that is paying for a national platform, not a project.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caution, because the words collide: these four build phases are not the five-phase enterprise-architecture lifecycle that produced your plan. That lifecycle designs the target; this schedule builds the bus, inside its final phase.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the plan is five documents, not one schedule. The phased schedule — for each phase its outcomes, its gate, its risks. The investment plan — capital and running costs across the years, benchmarked against what comparable platforms cost, and with the state's own budget line for running whatever a donor built, because the commonest failure is a platform funded to launch and not to operate. The procurement plan — one lot per domain, sequenced across the phases, and never a single big-bang contract that hands the architecture to whichever vendor wins; the platform itself is bought as a working, accepted result, with acceptance tests and penalties, against the framework's rules as mandatory requirements. The workforce plan — the operator grows from a first team of eight to fifteen towards thirty to eighty at national scale, and every member needs a named technical focal point. And the risk register with the success metrics — members onboarded, services registered, transactions a quarter, uptime, how long onboarding takes, member satisfaction — reviewed at every gate. A cost frame a funder can check is a cost frame a funder can approve.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you plan the build in four phases — Foundation, Pilot, Expansion, Optimisation — each with a gate and a benchmarked cost, on a calendar you have told the truth about, with the investment, procurement, workforce and risk plans beside the schedule. That is what turns an ambition into a fundable programme.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fastest way to wreck an onboarding schedule is to discover, on go-live day, that the joining agency is not actually ready — no security server, no adopted standards, no lawful basis. The Member Requirements template prevents that. It states, up front, exactly what an agency must have in place before it can join, so readiness is checked weeks ahead, not discovered at the deadline.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requirements are concrete. A security server — the gateway device at the agency's edge. A registered identity on the bus — its subsystem. The standards portfolio adopted, so its services speak the framework's language. Its data cleaned and conformed to the agreed schema, because a member with stale or malformed data poisons every exchange that uses it. A lawful basis for the exchanges it will take part in, drawn from the decree. And a named technical contact who can actually fix things when they break. Miss any one, and the agency is not ready, however willing it 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template turns readiness from a judgement call into an objective checklist. Instead of an architect deciding, agency by agency, whether someone seems ready, the agency works through the list and either meets each item or does not. That objectivity is what lets you schedule onboarding with confidence, and it protects the framework from a member that joins half-ready and breaks the exchanges it touches. It also takes the awkwardness out of saying 'not yet' — the list says it for you.</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the checklist is not a separate form that gets filed and forgotten. In the build pack it is the front of the join request itself: the six answers travel in the request an applying agency submits, and they are checked before any operator can approve it. Two things sit beside it on purpose — the signed membership agreement and the named data-protection officer — and the pack says plainly where it does not hold them. An agency that passes the Member Requirements is an agency ready to be registered on the bus, which is the technical step that admits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one such record, the examination authority's, rendered from its join request: each of the six items with what the agency stated, down to the named contact, its Head of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before any agency is registered on the bus, it passes the Member Requirements: a security server, a registered identity, the standards adopted, clean data, a lawful basis, a named contact. The checklist makes readiness objective, lets you schedule onboarding instead of gambling on it, and is reused for every member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member being connected is not the same as a member being dependable. A service that is up most of the time, answers slowly, and has no one to call when it breaks is connected but useless to a consumer whose citizen service depends on it at the moment it runs. The Service-Level Agreement is what turns connected into dependable — and a template turns writing one from a negotiation into a fill-in.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5 deck. Each section that follows is one standalone ~4–5 minute video. 5.1 to 5.8 are for the Architect who builds and runs the bus; 5.9 and 5.10 return to the Strategist and close the knowledge product.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on YouTube. 5.1 is the plan. 5.2 to 5.4 onboard a member. 5.5 and 5.6 stand the federation up and prove it. 5.7 is the road to production. 5.8 to 5.10 run the framework and carry it 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rule of fairness, and it is the rule that actually gets SLAs signed: set the numbers with the provider, not for them. A target the provider cannot meet is a target the provider will quietly ignore, and an SLA everyone ignores is worse than none. Agree numbers the provider can genuinely hit — and raise them over time as the platform matures — and the SLA becomes real rather than decorative. The template then makes it fast: fill in the targets for each service, agree them with the provider, sign, and reuse the same template for every service on the bus.</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one, signed for the learner registry's enrolment service: ninety-nine and a half per cent monthly availability, weekday support hours, the most serious incidents acknowledged within an hour and resolved within eight, and five business days' notice before a planned change.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Service-Level Agreement is what turns a connected member into a dependable one. Availability, response time, support, incident response, change notice — the numbers a consumer can rely on, made specific from the governance obligations, agreed with the provider so they are real, and captured in a template you reuse for every service. That is the difference between a bus that works in a demonstration and one a country can run citizen services 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Everything so far has been preparation — the plan, the Member Requirements, the Service-Level Agreement. This step admits an agency to the bus. It produces real configuration, and nobody types that configuration by hand: the agency applies, the operator admits it, and the join runs itself.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Admitting a member produces two configuration artefacts. The subsystem is the member's identity on the bus — its member class, member code and subsystem code, the identifiers a call is routed by. The access-control list says which other members may call each of its services. Being on the bus does not mean everyone may call everything.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same pattern admits every member, wrapped in a repeatable process. The Member Requirements confirm the agency is ready. The RACI names the body that approves. Admission records that decision. Registration writes the configuration. A conformance test is the gate, and then the first service goes live.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a join request whose member code has a space in it. The validator refuses it before anything reaches the bus, and says which characters a member key may use.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the corrected request from the tertiary scholarship board, PTSB. The screen shows the exact files the join would write — its member configuration and the federation manifest — and nothing is written yet.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the operator tries to approve it with the decision reference left empty. Refused: admission is a committee decision, and the join cannot run ahead of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CLIP: J3-join.mp4</a:t>
            </a:r>
          </a:p>
          <a:p/>
          <a:p>
            <a:r>
              <a:t>VO: Fourth, the operator enters the committee's minute reference and approves. The steps run themselves — the member and its server registered, its certificate, its service published, its access granted — and then a real call proves the backend answers.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Fifth, the admission record the join leaves behind: the request, the decision reference that admitted it, and when.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Sixth, the proof. The scholarship board is listed as a joined member, hosted on the learner registry's server. And the acceptance checks pass: the examination authority reaches its service, every other caller is refused, the response carries exactly the contract's fields, and the service is listed on the bus.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Registration is not the last gate. Before its first service goes live, the member proves conformance against the standards portfolio: a self-assessment for routine services, a third-party check for high-risk ones, or the operator's own test suite. And it is re-tested every two years, and whenever a binding standard changes.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admitting a member is where onboarding becomes configuration: a validated request, an approval that cites the committee's decision, a join that runs itself and proves itself with a real call, and a conformance test before the first service goes live.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With the members admitted, they need the platform they connect to: the federation. For the demonstration it is Linkup, an X-Road federation on a single host. It has a small set of components, each with one job, and it is brought up from a run book, so anyone with the build pack can reproduce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federation has three kinds of component. The Central Server, operated by PDGA, is the registry of members and services that every security server checks with. The four Security Servers — PDGA's, as the owner, and one each for PNEA, PLR and PNIA — are the gateways that carry the trust burden at each member's edge. And the Test CA issues the certificates they prove who they are with; in production, a real certification authority.</a:t>
            </a:r>
          </a:p>
          <a:p/>
          <a:p>
            <a:r>
              <a:t>On screen: the member list and the hosting line live in MEMBERS and HOSTING at the top of the build script.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Standing it up is a run-book exercise, in order. The Central Server first. Then the Test CA, with its certificate-status and time-stamping services. Then the members on the registry, and the configuration anchor every server imports. Then each Security Server: its certificate, and its registration, approved explicitly on the Central Server — the technical footprint of the admission decision. Then the services, and the grants that say who may call them.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the containers: one Central Server, one Test CA, and four Security Servers, all reporting healthy.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the run book itself: five steps, from checking the host to the exchange proving itself. The deploy times itself: on the recorded run, about a hundred seconds until the containers were healthy, and six and a half minutes in all, from zero to a running federation.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the members: the learner registry, the examination authority and the identity authority, each behind its own Security Server.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Fourth, the checks: each member's client registered on its own server, each service granting exactly the examination authority and no one else, each catalogue entry linking its service-level agreement, and the monitoring add-ons running on all four servers.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federation is brought up from a run book, in order, and then shown to be real: every server healthy, every member registered, every grant exact. The bus exists, and it is ready to carry a real call.</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exchange the whole framework exists for: the examination authority issues a credential and fetches the learner's identity and enrolment itself, asking the learner once. What follows was recorded from the running federation.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call on screen. The examination authority, PNEA, receives a learner's credential application. Without once-only, PNEA would ask the learner for paper proof of identity and of enrolment. With it, PNEA fetches the identity from the identity authority, PNIA, and the enrolment from the learner registry, PLR, over the bus.</a:t>
            </a:r>
          </a:p>
          <a:p/>
          <a:p>
            <a:r>
              <a:t>Production cue: the picture of what the recording shows. The frames that follow map onto these boxes.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the form before and after the call. Before, ten rows, all blank: ten questions the learner answers, and two sets of paper proof. Once PNEA has the learner's national ID, nine rows fill in: five from the identity authority, PNIA, four from the learner registry, PLR, each labelled with its source. One question asked, nine fetched.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the second tab reads the exchange by layer. In the legal pane, the identity authority, PNIA, sends five fields and names three it holds but withholds: a mother's name, a birth registration number, an address. The purpose does not need them.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CLIP: C6-break-restore.mp4</a:t>
            </a:r>
          </a:p>
          <a:p/>
          <a:p>
            <a:r>
              <a:t>VO: Third, permission. Asked the identical question, the examination authority, PNEA, is allowed, and the learner registry, PLR, is refused by the identity authority's access list. Then the operator withdraws the examination authority's permission: within seconds the identity rows are denied while the enrolment rows still fill. Restore it, and the form is whole. Being on the bus is not permission.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Fourth, the record and the proof. The exchange is written to disk as the assembled application, one line per field with its source; the national ID is the only line the citizen supplied. And the acceptance script runs the exchange as six checks: the call, the right learner, asked once, the denial, a clean not-found, and field conformance. All six pass: the technical half of go-live approval.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exchange is shown, not explained: one field asked, nine fetched, only what the purpose needs, a denial the access list enforces, six checks green. That is the framework, running.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demonstration proves the pattern. It is not, and must not be mistaken for, a production system. The architect's last job in this module is to know exactly what changes between the demonstration and a production-grade federation, so the country plans and budgets for that gap rather than discovering it after go-live — which is the moment it is most expensive to discover.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differences are specific. The demonstration runs everything on one VM; production separates the components onto real, sized hosts. The demonstration uses a Test CA; production uses a real certification authority. Production adds high availability and redundancy, so a failed component does not stop the bus. It adds real monitoring and alerting, so problems are caught before citizens notice them. It is sized for real transaction volumes, not a handful of demonstration calls. It has round-the-clock operational support — the Operating Authority's standing team. And it is security-hardened and audited to the standard a national platform carrying citizen data must meet.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the reassuring part, and it is the point of building a demonstration at all: none of this changes the shape of the configuration. The subsystem registrations, the service descriptions, the semantic map — they are the same in production. Production changes the scale, the resilience and the operations around the configuration, not the design of it. So the demonstration genuinely de-risks the production build. You have proven the pattern works; production is the same pattern, hardened and operated. The later phases of your four-phase plan are exactly where that production build is funded and delivered, against the cost frame.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There is one more production task, and it does not appear on the hardening list because it concerns the old world rather than the new: migrating each agency off the legacy point-to-point links the bus replaces, and retiring them. A new bus does not retire the old links by itself — left alone, you run both, which is worse than either. So per agency the pattern is parallel-run then cut over: stand up the new once-only exchange, run it beside the agency's existing point-to-point link until you have confirmed the two agree, then switch the consumers across and decommission the old link. Retiring those links is the step that actually ends the point-to-point sprawl Module 1 diagnosed — schedule it, agency by agency, in the multi-agency phase of the plan, with a migration-and-retirement step in each onboarding.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demonstration is honest about its own gap. Its conformance record sorts seventy-five clauses: forty-one implemented, six simulated, twenty-four named as absent, and four out of scope. That list is where the production plan starts.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one thing not to do is ship the demonstration as production. A sandboxed single-VM federation with a test certification authority is perfect for proving the pattern and wrong for carrying real citizen data at scale. Know the gap, plan it into the phased roadmap, budget it with the cost frame — and the move from demonstration to production becomes an engineering exercise the team can plan, not a surprise that derails go-live.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you close the implementation module by being honest about the gap between demonstration and production. Separate hosts, a real certification authority, high availability, monitoring, capacity, support, hardening — the production differences are specific and plannable. The configuration's shape does not change, so the demonstration de-risks the build. Plan the gap into the roadmap, budget it with the cost frame, and never ship the demonstration as the production platform. That is how a proven pattern becomes a system a country runs.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running bus is not finished — it is operating, every day. Every call it carries leaves a record in the bus's operational monitoring data: which agency called which service, whether the call worked, and how long it took. Reading those records by hand does not scale past a few services. The monitoring play points Claude at that data and turns it into a plain-language picture of the bus's health, with a flag when something looks wrong.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data shows three things. Which exchanges failed, and how often. Whether calls are getting slower — a sign of a service under strain. And unusual patterns — a sudden spike, an agency calling a service it never called before, a surge of activity at three in the morning. The play writes a plain-language health report and flags what deserves a human's attention this week. That is early warning: a failing service is fixed before it becomes a complaint, and a slowdown is addressed before it becomes an outage. The same reading feeds a slower loop. Each quarter, the Operating Authority tells the Steering Committee which members show sustained failures that call for a conformance re-check. Monitoring that reaches a governance table is accountability; the rest is a dashboard.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Two safeguards matter here, and neither is optional. First, the AI flags and a human investigates: an anomaly is a question to look into, not a verdict to act on automatically. Second, only the traffic goes into the prompt, never the cargo. Every server on the bus keeps two records. The operational monitoring data says which service was called, whether it worked, and how fast. The message log keeps the messages themselves — and the citizen data they carried. Only the first belongs anywhere near an AI. Even then, check the request addresses: when a service looks a person up by their ID number, that number can sit in the address itself. Remove it before the data leaves the server. Monitor the traffic, never the cargo.</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monitoring is how a framework stays healthy as it grows from one exchange to hundreds. The bus records how it is doing in its monitoring data; the AI play makes that legible; the Operating Authority acts on the flags; and the messages themselves never enter the prompt. Monitoring is the difference between a federation someone is watching and one that fails silently until a citizen complains.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mature framework produces three big documents that must agree with each other: the decree, which is the legal layer; the Governance Pack, which is the organisational layer; and the standards portfolio, which is the technical layer. The trouble is that, separately maintained, they drift apart over time — a standard updated in the portfolio but not reflected in the decree, a role the Governance Pack renames but the decree still names the old way. The consistency cross-check reads the three for contradictions before a reviewer or a member finds them for you.</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Drift is specific and predictable. The standards portfolio adopts a new version, but the decree still references the old one. The RACI names a body the Governance Pack no longer describes. The decree authorises an exchange that no service in the catalogue implements, or a service exists that the decree never authorised. And the same term — 'member', 'service', 'authority' — is used to mean slightly different things in the three documents. Each of these is a contradiction that quietly undermines the framework's credibility the moment someone notices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play reads all three documents and reports the contradictions — where they disagree, and on what. It is the document analogue of the bus monitoring in the previous video: instead of watching the live traffic, it watches the documents for inconsistency. The value is catching drift before a Ministry of Justice reviewer, a joining member, or an auditor catches it for you — because a framework whose own three foundational documents contradict each other loses trust faster than almost anything else can cost it.</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safeguard is the same shape as always. The AI flags the contradiction; a human decides which of the three documents is correct and fixes it. The play does not edit the decree on its own, because deciding whether the catalogue or the decree is right is a judgement with legal and governance consequences. The play finds the drift; a person resolves it. Run it whenever any of the three documents changes, and the framework's documents stay honest with each other as it evolves.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consistency cross-check keeps the framework's three foundational documents telling the same story. The AI reads the decree, the Governance Pack and the standards portfolio together and flags where they have drifted apart; a human decides which is right and fixes it. Run it on every change, and you catch the contradictions yourself, before the reviewer, the member or the auditor does.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Everything in this knowledge product was demonstrated on education — Progressa's schools, learners and credentials. But the framework is not education-specific, and now that it runs, the most important thing a Strategist can know is exactly which parts carry to the next sector unchanged and which parts are new. Get that split right, and the second sector pays only for its own vocabularies and services.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Split the framework in two. What carries unchanged to health, or agriculture, or social protection: the four-layer model, the decree pattern, the governance — the tiers, the RACI, the Operating Authority — the standards portfolio, and the bus itself, already built and running. What is genuinely new per sector: the semantic layer, because health speaks a different vocabulary than education, and the specific exchanges and services that sector needs. That — the vocabularies and the services — is the whole of the difference. And a word on order. This knowledge product demonstrated on education because the worked case was to hand; most countries sequence the framework the other way round. The first wave is usually tax, civil registration, the business register and health — high-volume, foundational reference data that every other sector reads — with education, justice, social protection and customs in the second wave. Whichever sector goes first pays for the platform; the rule that the next is cheaper holds either way.</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this is the re-use argument at the scale of the whole framework. The first sector pays to build the bus, the governance and the legal mandate; the second sector reuses all of it and pays only for its own semantics and services; the third reuses more still. This is exactly the whole-of-government planning logic from the very first module, now visible across sectors: build the shared platform once, and every sector after consumes it. The second sector is cheaper than the first, and the third cheaper than the second — and only a framework built deliberately, for the whole of government, makes that compounding possible. A set of separate sector projects never gets cheaper; a planned framework does.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Portability is built in on purpose, and it is not a footnote — it is the reason an interoperability framework is worth its cost. A platform that served only education would be hard to justify; a platform that serves education first and then every other sector, each paying only for its own vocabularies and services, is the investment a strategist can defend for a decade. So when you take the next sector to your minister, bring the portability map: here is what we reuse, which is most of it, and here is the small, sector-specific part we build new. That map gets cheaper to make every time, and it is the business case for the next sector.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framework you built for education is sector-portable. Most of it — the bus, the governance, the legal mandate, the standards — carries unchanged; only the vocabularies and the services are new per sector. Build the platform once, reuse it everywhere, and let every sector after the first be cheaper than the one before. That compounding re-use is the framework's lasting value.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5.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7.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9.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Stand it up, prove it,
run it</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Government Interoperability Framework · Module 5</a:t>
            </a:r>
          </a:p>
          <a:p>
            <a:r>
              <a:rPr sz="1400" b="0" i="0">
                <a:solidFill>
                  <a:srgbClr val="595959"/>
                </a:solidFill>
                <a:latin typeface="Arial"/>
              </a:rPr>
              <a:t>Ten standalone videos that take the framework live: the four-phase plan a funder can approve, the Member Requirements and the SLA, registering a member, standing up the federation, the once-only exchange running for real, the road to production — then watching the bus, keeping the documents consistent, and carrying it to the next sector.</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~47 mins across 10 videos (5.1 – 5.10)</a:t>
            </a:r>
          </a:p>
          <a:p>
            <a:r>
              <a:rPr sz="1400" b="1" i="0">
                <a:solidFill>
                  <a:srgbClr val="1A1A1A"/>
                </a:solidFill>
                <a:latin typeface="Arial"/>
              </a:rPr>
              <a:t>Target audience: </a:t>
            </a:r>
            <a:r>
              <a:rPr sz="1400" b="0" i="0">
                <a:solidFill>
                  <a:srgbClr val="1A1A1A"/>
                </a:solidFill>
                <a:latin typeface="Arial"/>
              </a:rPr>
              <a:t>Chief or senior architect · integration lead · agency technical lead — and, for 5.9–5.10, the strategist</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FROM PLAN TO A RUNNING FRAMEWORK</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 plan a funder can approve</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Members admitted, and conforming</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 federation, stood up</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One call — the learner asked once</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Watched, consistent, portable</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phases · 2 go-live approvals · 1 call that proves it</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5 — ten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5.1  Plan the build in four phases</a:t>
            </a:r>
            <a:r>
              <a:rPr sz="1200" b="0" i="0">
                <a:solidFill>
                  <a:srgbClr val="595959"/>
                </a:solidFill>
                <a:latin typeface="Arial"/>
              </a:rPr>
              <a:t>   ~5 min</a:t>
            </a:r>
          </a:p>
          <a:p>
            <a:pPr algn="l">
              <a:spcAft>
                <a:spcPts val="900"/>
              </a:spcAft>
            </a:pPr>
            <a:r>
              <a:rPr sz="1500" b="1" i="0">
                <a:solidFill>
                  <a:srgbClr val="1A1A1A"/>
                </a:solidFill>
                <a:latin typeface="Arial"/>
              </a:rPr>
              <a:t>5.2  The Member Requirements</a:t>
            </a:r>
            <a:r>
              <a:rPr sz="1200" b="0" i="0">
                <a:solidFill>
                  <a:srgbClr val="595959"/>
                </a:solidFill>
                <a:latin typeface="Arial"/>
              </a:rPr>
              <a:t>   ~4 min</a:t>
            </a:r>
          </a:p>
          <a:p>
            <a:pPr algn="l">
              <a:spcAft>
                <a:spcPts val="900"/>
              </a:spcAft>
            </a:pPr>
            <a:r>
              <a:rPr sz="1500" b="1" i="0">
                <a:solidFill>
                  <a:srgbClr val="1A1A1A"/>
                </a:solidFill>
                <a:latin typeface="Arial"/>
              </a:rPr>
              <a:t>5.3  The SLA — connected to dependable</a:t>
            </a:r>
            <a:r>
              <a:rPr sz="1200" b="0" i="0">
                <a:solidFill>
                  <a:srgbClr val="595959"/>
                </a:solidFill>
                <a:latin typeface="Arial"/>
              </a:rPr>
              <a:t>   ~4 min</a:t>
            </a:r>
          </a:p>
          <a:p>
            <a:pPr algn="l">
              <a:spcAft>
                <a:spcPts val="900"/>
              </a:spcAft>
            </a:pPr>
            <a:r>
              <a:rPr sz="1500" b="1" i="0">
                <a:solidFill>
                  <a:srgbClr val="1A1A1A"/>
                </a:solidFill>
                <a:latin typeface="Arial"/>
              </a:rPr>
              <a:t>5.4  Admit a member to the bus</a:t>
            </a:r>
            <a:r>
              <a:rPr sz="1200" b="0" i="0">
                <a:solidFill>
                  <a:srgbClr val="595959"/>
                </a:solidFill>
                <a:latin typeface="Arial"/>
              </a:rPr>
              <a:t>   ~5 min</a:t>
            </a:r>
          </a:p>
          <a:p>
            <a:pPr algn="l">
              <a:spcAft>
                <a:spcPts val="900"/>
              </a:spcAft>
            </a:pPr>
            <a:r>
              <a:rPr sz="1500" b="1" i="0">
                <a:solidFill>
                  <a:srgbClr val="1A1A1A"/>
                </a:solidFill>
                <a:latin typeface="Arial"/>
              </a:rPr>
              <a:t>5.5  Stand up the federation</a:t>
            </a:r>
            <a:r>
              <a:rPr sz="1200" b="0" i="0">
                <a:solidFill>
                  <a:srgbClr val="595959"/>
                </a:solidFill>
                <a:latin typeface="Arial"/>
              </a:rPr>
              <a:t>   ~5 min</a:t>
            </a:r>
          </a:p>
          <a:p>
            <a:pPr algn="l">
              <a:spcAft>
                <a:spcPts val="900"/>
              </a:spcAft>
            </a:pPr>
            <a:r>
              <a:rPr sz="1500" b="1" i="0">
                <a:solidFill>
                  <a:srgbClr val="1A1A1A"/>
                </a:solidFill>
                <a:latin typeface="Arial"/>
              </a:rPr>
              <a:t>5.6  Run the once-only exchange, live</a:t>
            </a:r>
            <a:r>
              <a:rPr sz="1200" b="0" i="0">
                <a:solidFill>
                  <a:srgbClr val="595959"/>
                </a:solidFill>
                <a:latin typeface="Arial"/>
              </a:rPr>
              <a:t>   ~3 min</a:t>
            </a:r>
          </a:p>
          <a:p>
            <a:pPr algn="l">
              <a:spcAft>
                <a:spcPts val="900"/>
              </a:spcAft>
            </a:pPr>
            <a:r>
              <a:rPr sz="1500" b="1" i="0">
                <a:solidFill>
                  <a:srgbClr val="1A1A1A"/>
                </a:solidFill>
                <a:latin typeface="Arial"/>
              </a:rPr>
              <a:t>5.7  From demonstration to production</a:t>
            </a:r>
            <a:r>
              <a:rPr sz="1200" b="0" i="0">
                <a:solidFill>
                  <a:srgbClr val="595959"/>
                </a:solidFill>
                <a:latin typeface="Arial"/>
              </a:rPr>
              <a:t>   ~5 min</a:t>
            </a:r>
          </a:p>
          <a:p>
            <a:pPr algn="l">
              <a:spcAft>
                <a:spcPts val="900"/>
              </a:spcAft>
            </a:pPr>
            <a:r>
              <a:rPr sz="1500" b="1" i="0">
                <a:solidFill>
                  <a:srgbClr val="1A1A1A"/>
                </a:solidFill>
                <a:latin typeface="Arial"/>
              </a:rPr>
              <a:t>5.8  Watch the bus — monitoring</a:t>
            </a:r>
            <a:r>
              <a:rPr sz="1200" b="0" i="0">
                <a:solidFill>
                  <a:srgbClr val="595959"/>
                </a:solidFill>
                <a:latin typeface="Arial"/>
              </a:rPr>
              <a:t>   ~5 min</a:t>
            </a:r>
          </a:p>
          <a:p>
            <a:pPr algn="l">
              <a:spcAft>
                <a:spcPts val="900"/>
              </a:spcAft>
            </a:pPr>
            <a:r>
              <a:rPr sz="1500" b="1" i="0">
                <a:solidFill>
                  <a:srgbClr val="1A1A1A"/>
                </a:solidFill>
                <a:latin typeface="Arial"/>
              </a:rPr>
              <a:t>5.9  Keep the documents consistent</a:t>
            </a:r>
            <a:r>
              <a:rPr sz="1200" b="0" i="0">
                <a:solidFill>
                  <a:srgbClr val="595959"/>
                </a:solidFill>
                <a:latin typeface="Arial"/>
              </a:rPr>
              <a:t>   ~5 min</a:t>
            </a:r>
          </a:p>
          <a:p>
            <a:pPr algn="l">
              <a:spcAft>
                <a:spcPts val="900"/>
              </a:spcAft>
            </a:pPr>
            <a:r>
              <a:rPr sz="1500" b="1" i="0">
                <a:solidFill>
                  <a:srgbClr val="1A1A1A"/>
                </a:solidFill>
                <a:latin typeface="Arial"/>
              </a:rPr>
              <a:t>5.10  Carry it to the next sector</a:t>
            </a:r>
            <a:r>
              <a:rPr sz="1200" b="0" i="0">
                <a:solidFill>
                  <a:srgbClr val="595959"/>
                </a:solidFill>
                <a:latin typeface="Arial"/>
              </a:rPr>
              <a:t>   ~4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Plan it so a funder can approve it, admit members who are ready, and prove it with one real call.</a:t>
            </a:r>
          </a:p>
          <a:p>
            <a:pPr>
              <a:spcAft>
                <a:spcPts val="1000"/>
              </a:spcAft>
            </a:pPr>
            <a:r>
              <a:rPr sz="1900" b="0" i="1">
                <a:solidFill>
                  <a:srgbClr val="1A1A1A"/>
                </a:solidFill>
                <a:latin typeface="Arial"/>
              </a:rPr>
              <a:t>Then run it: watch the bus, keep the documents honest, and reuse it for every sector after.</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5 · VIDEO 5.1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Plan the build in four phases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Foundation, Pilot, Expansion, Optimisation — four phases with decision gates, an honest calendar, and the four plans beside the schedule that a funder actually reads.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You do not onboard a whole government at once.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Four phases, each delivering something real.</a:t>
            </a:r>
          </a:p>
          <a:p>
            <a:pPr>
              <a:spcAft>
                <a:spcPts val="800"/>
              </a:spcAft>
            </a:pPr>
            <a:r>
              <a:rPr sz="1700" b="0" i="0">
                <a:solidFill>
                  <a:srgbClr val="595959"/>
                </a:solidFill>
                <a:latin typeface="Arial"/>
              </a:rPr>
              <a:t>A decision gate before the next phase is funded.</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Plan the build in four phases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phases, a gate at each, on an honest calendar</a:t>
            </a:r>
          </a:p>
        </p:txBody>
      </p:sp>
      <p:cxnSp>
        <p:nvCxnSpPr>
          <p:cNvPr id="4" name="Connector 3"/>
          <p:cNvCxnSpPr/>
          <p:nvPr/>
        </p:nvCxnSpPr>
        <p:spPr>
          <a:xfrm>
            <a:off x="2807207" y="3108960"/>
            <a:ext cx="365761"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658368" y="1600200"/>
            <a:ext cx="2103120" cy="301752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BEFORE MONTH 0</a:t>
            </a:r>
          </a:p>
          <a:p>
            <a:pPr algn="l">
              <a:spcAft>
                <a:spcPts val="300"/>
              </a:spcAft>
            </a:pPr>
            <a:r>
              <a:rPr sz="1450" b="0" i="0">
                <a:solidFill>
                  <a:srgbClr val="1A1A1A"/>
                </a:solidFill>
                <a:latin typeface="Arial"/>
              </a:rPr>
              <a:t>The groundwork: decree, governance, architecture, standards</a:t>
            </a:r>
          </a:p>
          <a:p>
            <a:pPr algn="l">
              <a:spcAft>
                <a:spcPts val="300"/>
              </a:spcAft>
            </a:pPr>
            <a:r>
              <a:rPr sz="1450" b="0" i="0">
                <a:solidFill>
                  <a:srgbClr val="1A1A1A"/>
                </a:solidFill>
                <a:latin typeface="Arial"/>
              </a:rPr>
              <a:t>A year to eighteen months of work</a:t>
            </a:r>
          </a:p>
        </p:txBody>
      </p:sp>
      <p:sp>
        <p:nvSpPr>
          <p:cNvPr id="6" name="Rounded Rectangle 5"/>
          <p:cNvSpPr/>
          <p:nvPr/>
        </p:nvSpPr>
        <p:spPr>
          <a:xfrm>
            <a:off x="3218687" y="1600200"/>
            <a:ext cx="1737360" cy="30175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PHASE 1 · MONTHS 0–6</a:t>
            </a:r>
          </a:p>
          <a:p>
            <a:pPr algn="l">
              <a:spcAft>
                <a:spcPts val="300"/>
              </a:spcAft>
            </a:pPr>
            <a:r>
              <a:rPr sz="1450" b="0" i="0">
                <a:solidFill>
                  <a:srgbClr val="1A1A1A"/>
                </a:solidFill>
                <a:latin typeface="Arial"/>
              </a:rPr>
              <a:t>Foundation</a:t>
            </a:r>
          </a:p>
          <a:p>
            <a:pPr algn="l">
              <a:spcAft>
                <a:spcPts val="300"/>
              </a:spcAft>
            </a:pPr>
            <a:r>
              <a:rPr sz="1450" b="0" i="0">
                <a:solidFill>
                  <a:srgbClr val="1A1A1A"/>
                </a:solidFill>
                <a:latin typeface="Arial"/>
              </a:rPr>
              <a:t>Platform and trust anchor live</a:t>
            </a:r>
          </a:p>
          <a:p>
            <a:pPr algn="l">
              <a:spcAft>
                <a:spcPts val="300"/>
              </a:spcAft>
            </a:pPr>
            <a:r>
              <a:rPr sz="1450" b="0" i="0">
                <a:solidFill>
                  <a:srgbClr val="1A1A1A"/>
                </a:solidFill>
                <a:latin typeface="Arial"/>
              </a:rPr>
              <a:t>Two pilot members</a:t>
            </a:r>
          </a:p>
        </p:txBody>
      </p:sp>
      <p:sp>
        <p:nvSpPr>
          <p:cNvPr id="7" name="Diamond 6"/>
          <p:cNvSpPr/>
          <p:nvPr/>
        </p:nvSpPr>
        <p:spPr>
          <a:xfrm>
            <a:off x="5029200" y="2953512"/>
            <a:ext cx="310896" cy="310896"/>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13248" y="1600200"/>
            <a:ext cx="1737360" cy="30175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PHASE 2 · MONTHS 7–12</a:t>
            </a:r>
          </a:p>
          <a:p>
            <a:pPr algn="l">
              <a:spcAft>
                <a:spcPts val="300"/>
              </a:spcAft>
            </a:pPr>
            <a:r>
              <a:rPr sz="1450" b="0" i="0">
                <a:solidFill>
                  <a:srgbClr val="1A1A1A"/>
                </a:solidFill>
                <a:latin typeface="Arial"/>
              </a:rPr>
              <a:t>Pilot and Validation</a:t>
            </a:r>
          </a:p>
          <a:p>
            <a:pPr algn="l">
              <a:spcAft>
                <a:spcPts val="300"/>
              </a:spcAft>
            </a:pPr>
            <a:r>
              <a:rPr sz="1450" b="0" i="0">
                <a:solidFill>
                  <a:srgbClr val="1A1A1A"/>
                </a:solidFill>
                <a:latin typeface="Arial"/>
              </a:rPr>
              <a:t>First cross-ministry once-only exchanges</a:t>
            </a:r>
          </a:p>
          <a:p>
            <a:pPr algn="l">
              <a:spcAft>
                <a:spcPts val="300"/>
              </a:spcAft>
            </a:pPr>
            <a:r>
              <a:rPr sz="1450" b="0" i="0">
                <a:solidFill>
                  <a:srgbClr val="1A1A1A"/>
                </a:solidFill>
                <a:latin typeface="Arial"/>
              </a:rPr>
              <a:t>Five members</a:t>
            </a:r>
          </a:p>
        </p:txBody>
      </p:sp>
      <p:sp>
        <p:nvSpPr>
          <p:cNvPr id="9" name="Diamond 8"/>
          <p:cNvSpPr/>
          <p:nvPr/>
        </p:nvSpPr>
        <p:spPr>
          <a:xfrm>
            <a:off x="7223760" y="2953512"/>
            <a:ext cx="310896" cy="310896"/>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607808" y="1600200"/>
            <a:ext cx="1737360" cy="30175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PHASE 3 · MONTHS 13–18</a:t>
            </a:r>
          </a:p>
          <a:p>
            <a:pPr algn="l">
              <a:spcAft>
                <a:spcPts val="300"/>
              </a:spcAft>
            </a:pPr>
            <a:r>
              <a:rPr sz="1450" b="0" i="0">
                <a:solidFill>
                  <a:srgbClr val="1A1A1A"/>
                </a:solidFill>
                <a:latin typeface="Arial"/>
              </a:rPr>
              <a:t>Expansion</a:t>
            </a:r>
          </a:p>
          <a:p>
            <a:pPr algn="l">
              <a:spcAft>
                <a:spcPts val="300"/>
              </a:spcAft>
            </a:pPr>
            <a:r>
              <a:rPr sz="1450" b="0" i="0">
                <a:solidFill>
                  <a:srgbClr val="1A1A1A"/>
                </a:solidFill>
                <a:latin typeface="Arial"/>
              </a:rPr>
              <a:t>First-wave sectors covered</a:t>
            </a:r>
          </a:p>
          <a:p>
            <a:pPr algn="l">
              <a:spcAft>
                <a:spcPts val="300"/>
              </a:spcAft>
            </a:pPr>
            <a:r>
              <a:rPr sz="1450" b="0" i="0">
                <a:solidFill>
                  <a:srgbClr val="1A1A1A"/>
                </a:solidFill>
                <a:latin typeface="Arial"/>
              </a:rPr>
              <a:t>Fifteen members, 20+ services</a:t>
            </a:r>
          </a:p>
        </p:txBody>
      </p:sp>
      <p:sp>
        <p:nvSpPr>
          <p:cNvPr id="11" name="Diamond 10"/>
          <p:cNvSpPr/>
          <p:nvPr/>
        </p:nvSpPr>
        <p:spPr>
          <a:xfrm>
            <a:off x="9418320" y="2953512"/>
            <a:ext cx="310896" cy="310896"/>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802367" y="1600200"/>
            <a:ext cx="1737360" cy="30175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PHASE 4 · MONTHS 19–24</a:t>
            </a:r>
          </a:p>
          <a:p>
            <a:pPr algn="l">
              <a:spcAft>
                <a:spcPts val="300"/>
              </a:spcAft>
            </a:pPr>
            <a:r>
              <a:rPr sz="1450" b="0" i="0">
                <a:solidFill>
                  <a:srgbClr val="1A1A1A"/>
                </a:solidFill>
                <a:latin typeface="Arial"/>
              </a:rPr>
              <a:t>Optimisation</a:t>
            </a:r>
          </a:p>
          <a:p>
            <a:pPr algn="l">
              <a:spcAft>
                <a:spcPts val="300"/>
              </a:spcAft>
            </a:pPr>
            <a:r>
              <a:rPr sz="1450" b="0" i="0">
                <a:solidFill>
                  <a:srgbClr val="1A1A1A"/>
                </a:solidFill>
                <a:latin typeface="Arial"/>
              </a:rPr>
              <a:t>Performance, the long tail, the next wave</a:t>
            </a:r>
          </a:p>
        </p:txBody>
      </p:sp>
      <p:sp>
        <p:nvSpPr>
          <p:cNvPr id="13" name="Diamond 12"/>
          <p:cNvSpPr/>
          <p:nvPr/>
        </p:nvSpPr>
        <p:spPr>
          <a:xfrm>
            <a:off x="658368" y="4800600"/>
            <a:ext cx="237744" cy="237744"/>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7552" y="4745736"/>
            <a:ext cx="5486400" cy="347472"/>
          </a:xfrm>
          <a:prstGeom prst="rect">
            <a:avLst/>
          </a:prstGeom>
          <a:noFill/>
        </p:spPr>
        <p:txBody>
          <a:bodyPr wrap="square" lIns="36576" rIns="36576" tIns="0" bIns="0" anchor="ctr">
            <a:spAutoFit/>
          </a:bodyPr>
          <a:lstStyle/>
          <a:p>
            <a:pPr algn="l"/>
            <a:r>
              <a:rPr sz="1250" b="1" i="0">
                <a:solidFill>
                  <a:srgbClr val="006E96"/>
                </a:solidFill>
                <a:latin typeface="Arial"/>
              </a:rPr>
              <a:t>a go / no-go gate — the next phase is funded only if this one delivered</a:t>
            </a:r>
          </a:p>
        </p:txBody>
      </p:sp>
      <p:sp>
        <p:nvSpPr>
          <p:cNvPr id="15" name="TextBox 14"/>
          <p:cNvSpPr txBox="1"/>
          <p:nvPr/>
        </p:nvSpPr>
        <p:spPr>
          <a:xfrm>
            <a:off x="658368" y="5394960"/>
            <a:ext cx="10881360" cy="822960"/>
          </a:xfrm>
          <a:prstGeom prst="rect">
            <a:avLst/>
          </a:prstGeom>
          <a:noFill/>
        </p:spPr>
        <p:txBody>
          <a:bodyPr wrap="square">
            <a:spAutoFit/>
          </a:bodyPr>
          <a:lstStyle/>
          <a:p>
            <a:r>
              <a:rPr sz="1550" b="1" i="0">
                <a:solidFill>
                  <a:srgbClr val="006E96"/>
                </a:solidFill>
                <a:latin typeface="Arial"/>
              </a:rPr>
              <a:t>First citizen-visible once-only exchange: about a year in. National coverage: a four-to-six-year programme — say so on day one.</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Plan the build in four phases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Phase one builds the bus once — everything after reuses it</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Every later phase and every agency that joins consumes that one investment.</a:t>
            </a:r>
          </a:p>
          <a:p>
            <a:pPr>
              <a:spcAft>
                <a:spcPts val="1200"/>
              </a:spcAft>
            </a:pPr>
            <a:r>
              <a:rPr sz="2000" b="0" i="0">
                <a:solidFill>
                  <a:srgbClr val="1A1A1A"/>
                </a:solidFill>
                <a:latin typeface="Arial"/>
              </a:rPr>
              <a:t>That is what a funder should see in the plan.</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 funder paying for a national platform, not a project.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Plan the build in four phases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These build phases are not the enterprise-architecture lifecycle</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FIVE-PHASE LIFECYCLE</a:t>
            </a:r>
          </a:p>
          <a:p>
            <a:pPr>
              <a:spcAft>
                <a:spcPts val="700"/>
              </a:spcAft>
            </a:pPr>
            <a:r>
              <a:rPr sz="1600" b="0" i="0">
                <a:solidFill>
                  <a:srgbClr val="1A1A1A"/>
                </a:solidFill>
                <a:latin typeface="Arial"/>
              </a:rPr>
              <a:t>Produced your plan.</a:t>
            </a:r>
          </a:p>
          <a:p>
            <a:pPr>
              <a:spcAft>
                <a:spcPts val="700"/>
              </a:spcAft>
            </a:pPr>
            <a:r>
              <a:rPr sz="1600" b="0" i="0">
                <a:solidFill>
                  <a:srgbClr val="1A1A1A"/>
                </a:solidFill>
                <a:latin typeface="Arial"/>
              </a:rPr>
              <a:t>Designs the target.</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FOUR BUILD PHASES</a:t>
            </a:r>
          </a:p>
          <a:p>
            <a:pPr>
              <a:spcAft>
                <a:spcPts val="700"/>
              </a:spcAft>
            </a:pPr>
            <a:r>
              <a:rPr sz="1600" b="0" i="0">
                <a:solidFill>
                  <a:srgbClr val="1A1A1A"/>
                </a:solidFill>
                <a:latin typeface="Arial"/>
              </a:rPr>
              <a:t>Build the bus.</a:t>
            </a:r>
          </a:p>
          <a:p>
            <a:pPr>
              <a:spcAft>
                <a:spcPts val="700"/>
              </a:spcAft>
            </a:pPr>
            <a:r>
              <a:rPr sz="1600" b="0" i="0">
                <a:solidFill>
                  <a:srgbClr val="1A1A1A"/>
                </a:solidFill>
                <a:latin typeface="Arial"/>
              </a:rPr>
              <a:t>Run inside the lifecycle's final phase.</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Same word, two different things — keep them apart in every briefing.</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Plan the build in four phases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plan is five documents, not one schedule</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832103"/>
          </a:xfrm>
          <a:prstGeom prst="rect">
            <a:avLst/>
          </a:prstGeom>
          <a:noFill/>
        </p:spPr>
        <p:txBody>
          <a:bodyPr wrap="square">
            <a:spAutoFit/>
          </a:bodyPr>
          <a:lstStyle/>
          <a:p>
            <a:pPr>
              <a:spcAft>
                <a:spcPts val="300"/>
              </a:spcAft>
            </a:pPr>
            <a:r>
              <a:rPr sz="1700" b="1" i="0">
                <a:solidFill>
                  <a:srgbClr val="1A1A1A"/>
                </a:solidFill>
                <a:latin typeface="Arial"/>
              </a:rPr>
              <a:t>The phased schedule</a:t>
            </a:r>
          </a:p>
          <a:p>
            <a:pPr>
              <a:spcAft>
                <a:spcPts val="300"/>
              </a:spcAft>
            </a:pPr>
            <a:r>
              <a:rPr sz="1550" b="0" i="0">
                <a:solidFill>
                  <a:srgbClr val="595959"/>
                </a:solidFill>
                <a:latin typeface="Arial"/>
              </a:rPr>
              <a:t>Outcomes, a go / no-go gate and the risks, per phase.</a:t>
            </a:r>
          </a:p>
        </p:txBody>
      </p:sp>
      <p:sp>
        <p:nvSpPr>
          <p:cNvPr id="6" name="Rectangle 5"/>
          <p:cNvSpPr/>
          <p:nvPr/>
        </p:nvSpPr>
        <p:spPr>
          <a:xfrm>
            <a:off x="621792" y="225399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340863"/>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295144"/>
            <a:ext cx="10527487" cy="832103"/>
          </a:xfrm>
          <a:prstGeom prst="rect">
            <a:avLst/>
          </a:prstGeom>
          <a:noFill/>
        </p:spPr>
        <p:txBody>
          <a:bodyPr wrap="square">
            <a:spAutoFit/>
          </a:bodyPr>
          <a:lstStyle/>
          <a:p>
            <a:pPr>
              <a:spcAft>
                <a:spcPts val="300"/>
              </a:spcAft>
            </a:pPr>
            <a:r>
              <a:rPr sz="1700" b="1" i="0">
                <a:solidFill>
                  <a:srgbClr val="1A1A1A"/>
                </a:solidFill>
                <a:latin typeface="Arial"/>
              </a:rPr>
              <a:t>The investment plan</a:t>
            </a:r>
          </a:p>
          <a:p>
            <a:pPr>
              <a:spcAft>
                <a:spcPts val="300"/>
              </a:spcAft>
            </a:pPr>
            <a:r>
              <a:rPr sz="1550" b="0" i="0">
                <a:solidFill>
                  <a:srgbClr val="595959"/>
                </a:solidFill>
                <a:latin typeface="Arial"/>
              </a:rPr>
              <a:t>Capital and running costs, benchmarked — and the state's line to run what a donor built.</a:t>
            </a:r>
          </a:p>
        </p:txBody>
      </p:sp>
      <p:sp>
        <p:nvSpPr>
          <p:cNvPr id="9" name="Rectangle 8"/>
          <p:cNvSpPr/>
          <p:nvPr/>
        </p:nvSpPr>
        <p:spPr>
          <a:xfrm>
            <a:off x="621792" y="313182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218687"/>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172968"/>
            <a:ext cx="10527487" cy="832103"/>
          </a:xfrm>
          <a:prstGeom prst="rect">
            <a:avLst/>
          </a:prstGeom>
          <a:noFill/>
        </p:spPr>
        <p:txBody>
          <a:bodyPr wrap="square">
            <a:spAutoFit/>
          </a:bodyPr>
          <a:lstStyle/>
          <a:p>
            <a:pPr>
              <a:spcAft>
                <a:spcPts val="300"/>
              </a:spcAft>
            </a:pPr>
            <a:r>
              <a:rPr sz="1700" b="1" i="0">
                <a:solidFill>
                  <a:srgbClr val="1A1A1A"/>
                </a:solidFill>
                <a:latin typeface="Arial"/>
              </a:rPr>
              <a:t>The procurement plan</a:t>
            </a:r>
          </a:p>
          <a:p>
            <a:pPr>
              <a:spcAft>
                <a:spcPts val="300"/>
              </a:spcAft>
            </a:pPr>
            <a:r>
              <a:rPr sz="1550" b="0" i="0">
                <a:solidFill>
                  <a:srgbClr val="595959"/>
                </a:solidFill>
                <a:latin typeface="Arial"/>
              </a:rPr>
              <a:t>One lot per domain, never one big-bang contract; the platform bought as an accepted result.</a:t>
            </a:r>
          </a:p>
        </p:txBody>
      </p:sp>
      <p:sp>
        <p:nvSpPr>
          <p:cNvPr id="12" name="Rectangle 11"/>
          <p:cNvSpPr/>
          <p:nvPr/>
        </p:nvSpPr>
        <p:spPr>
          <a:xfrm>
            <a:off x="621792" y="400964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096511"/>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050791"/>
            <a:ext cx="10527487" cy="832103"/>
          </a:xfrm>
          <a:prstGeom prst="rect">
            <a:avLst/>
          </a:prstGeom>
          <a:noFill/>
        </p:spPr>
        <p:txBody>
          <a:bodyPr wrap="square">
            <a:spAutoFit/>
          </a:bodyPr>
          <a:lstStyle/>
          <a:p>
            <a:pPr>
              <a:spcAft>
                <a:spcPts val="300"/>
              </a:spcAft>
            </a:pPr>
            <a:r>
              <a:rPr sz="1700" b="1" i="0">
                <a:solidFill>
                  <a:srgbClr val="1A1A1A"/>
                </a:solidFill>
                <a:latin typeface="Arial"/>
              </a:rPr>
              <a:t>The workforce plan</a:t>
            </a:r>
          </a:p>
          <a:p>
            <a:pPr>
              <a:spcAft>
                <a:spcPts val="300"/>
              </a:spcAft>
            </a:pPr>
            <a:r>
              <a:rPr sz="1550" b="0" i="0">
                <a:solidFill>
                  <a:srgbClr val="595959"/>
                </a:solidFill>
                <a:latin typeface="Arial"/>
              </a:rPr>
              <a:t>The operator from eight to fifteen people towards thirty to eighty; a focal point per member.</a:t>
            </a:r>
          </a:p>
        </p:txBody>
      </p:sp>
      <p:sp>
        <p:nvSpPr>
          <p:cNvPr id="15" name="Rectangle 14"/>
          <p:cNvSpPr/>
          <p:nvPr/>
        </p:nvSpPr>
        <p:spPr>
          <a:xfrm>
            <a:off x="621792" y="488746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97433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928616"/>
            <a:ext cx="10527487" cy="832103"/>
          </a:xfrm>
          <a:prstGeom prst="rect">
            <a:avLst/>
          </a:prstGeom>
          <a:noFill/>
        </p:spPr>
        <p:txBody>
          <a:bodyPr wrap="square">
            <a:spAutoFit/>
          </a:bodyPr>
          <a:lstStyle/>
          <a:p>
            <a:pPr>
              <a:spcAft>
                <a:spcPts val="300"/>
              </a:spcAft>
            </a:pPr>
            <a:r>
              <a:rPr sz="1700" b="1" i="0">
                <a:solidFill>
                  <a:srgbClr val="1A1A1A"/>
                </a:solidFill>
                <a:latin typeface="Arial"/>
              </a:rPr>
              <a:t>The risk register and the success metrics</a:t>
            </a:r>
          </a:p>
          <a:p>
            <a:pPr>
              <a:spcAft>
                <a:spcPts val="300"/>
              </a:spcAft>
            </a:pPr>
            <a:r>
              <a:rPr sz="1550" b="0" i="0">
                <a:solidFill>
                  <a:srgbClr val="595959"/>
                </a:solidFill>
                <a:latin typeface="Arial"/>
              </a:rPr>
              <a:t>Members, services, transactions, uptime, onboarding time, satisfaction.</a:t>
            </a:r>
          </a:p>
        </p:txBody>
      </p:sp>
      <p:sp>
        <p:nvSpPr>
          <p:cNvPr id="18" name="TextBox 17"/>
          <p:cNvSpPr txBox="1"/>
          <p:nvPr/>
        </p:nvSpPr>
        <p:spPr>
          <a:xfrm>
            <a:off x="658368" y="5916168"/>
            <a:ext cx="10881360" cy="548640"/>
          </a:xfrm>
          <a:prstGeom prst="rect">
            <a:avLst/>
          </a:prstGeom>
          <a:noFill/>
        </p:spPr>
        <p:txBody>
          <a:bodyPr wrap="square">
            <a:spAutoFit/>
          </a:bodyPr>
          <a:lstStyle/>
          <a:p>
            <a:r>
              <a:rPr sz="1550" b="1" i="0">
                <a:solidFill>
                  <a:srgbClr val="006E96"/>
                </a:solidFill>
                <a:latin typeface="Arial"/>
              </a:rPr>
              <a:t>A cost frame a funder can check is a cost frame a funder can approve.</a:t>
            </a:r>
          </a:p>
        </p:txBody>
      </p:sp>
      <p:sp>
        <p:nvSpPr>
          <p:cNvPr id="19" name="TextBox 1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Plan the build in four phases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Four phases after the foundation, a gate at each, an honest calendar, and the four plans beside the schedule — a programme a funder can approve.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your implementation plan — the phased schedule and the four plans beside it.</a:t>
            </a:r>
          </a:p>
          <a:p>
            <a:pPr algn="l">
              <a:spcAft>
                <a:spcPts val="400"/>
              </a:spcAft>
            </a:pPr>
            <a:r>
              <a:rPr sz="1800" b="0" i="0">
                <a:solidFill>
                  <a:srgbClr val="595959"/>
                </a:solidFill>
                <a:latin typeface="Arial"/>
              </a:rPr>
              <a:t>The prompt in the companion material gives you the phased schedule plus the investment, procurement, workforce and risk plans.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Plan the build in four phases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Estonia — X-Road build-out (cost and timeline benchmark)</a:t>
            </a:r>
          </a:p>
          <a:p>
            <a:pPr>
              <a:spcAft>
                <a:spcPts val="1200"/>
              </a:spcAft>
            </a:pPr>
            <a:r>
              <a:rPr sz="1700" b="0" i="0">
                <a:solidFill>
                  <a:srgbClr val="1A1A1A"/>
                </a:solidFill>
                <a:latin typeface="Arial"/>
              </a:rPr>
              <a:t>•  ITU DPI Safeguards</a:t>
            </a:r>
          </a:p>
          <a:p>
            <a:pPr>
              <a:spcAft>
                <a:spcPts val="1200"/>
              </a:spcAft>
            </a:pPr>
            <a:r>
              <a:rPr sz="1700" b="0" i="0">
                <a:solidFill>
                  <a:srgbClr val="1A1A1A"/>
                </a:solidFill>
                <a:latin typeface="Arial"/>
              </a:rPr>
              <a:t>•  NIIS X-Road implementation guidance (niis.org)</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Plan the build in four phases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5 · VIDEO 5.2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State what a member must have — the Member Requirements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Member Requirements template tells an agency exactly what it must have before it can join — no surprises at go-live.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fastest way to wreck an onboarding: find out on go-live day.</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No security server. No adopted standards. No lawful basis.</a:t>
            </a:r>
          </a:p>
          <a:p>
            <a:pPr>
              <a:spcAft>
                <a:spcPts val="800"/>
              </a:spcAft>
            </a:pPr>
            <a:r>
              <a:rPr sz="1700" b="0" i="0">
                <a:solidFill>
                  <a:srgbClr val="595959"/>
                </a:solidFill>
                <a:latin typeface="Arial"/>
              </a:rPr>
              <a:t>State what a member must have — and check it weeks ahead.</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State what a member must have — the Member Requirements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Six things a member must have before it joins</a:t>
            </a:r>
          </a:p>
        </p:txBody>
      </p:sp>
      <p:sp>
        <p:nvSpPr>
          <p:cNvPr id="4" name="Oval 3"/>
          <p:cNvSpPr/>
          <p:nvPr/>
        </p:nvSpPr>
        <p:spPr>
          <a:xfrm>
            <a:off x="621792" y="14173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371600"/>
            <a:ext cx="10527487" cy="701040"/>
          </a:xfrm>
          <a:prstGeom prst="rect">
            <a:avLst/>
          </a:prstGeom>
          <a:noFill/>
        </p:spPr>
        <p:txBody>
          <a:bodyPr wrap="square">
            <a:spAutoFit/>
          </a:bodyPr>
          <a:lstStyle/>
          <a:p>
            <a:pPr>
              <a:spcAft>
                <a:spcPts val="300"/>
              </a:spcAft>
            </a:pPr>
            <a:r>
              <a:rPr sz="1700" b="1" i="0">
                <a:solidFill>
                  <a:srgbClr val="1A1A1A"/>
                </a:solidFill>
                <a:latin typeface="Arial"/>
              </a:rPr>
              <a:t>A security server</a:t>
            </a:r>
          </a:p>
          <a:p>
            <a:pPr>
              <a:spcAft>
                <a:spcPts val="300"/>
              </a:spcAft>
            </a:pPr>
            <a:r>
              <a:rPr sz="1550" b="0" i="0">
                <a:solidFill>
                  <a:srgbClr val="595959"/>
                </a:solidFill>
                <a:latin typeface="Arial"/>
              </a:rPr>
              <a:t>Its gateway at the edge.</a:t>
            </a:r>
          </a:p>
        </p:txBody>
      </p:sp>
      <p:sp>
        <p:nvSpPr>
          <p:cNvPr id="6" name="Rectangle 5"/>
          <p:cNvSpPr/>
          <p:nvPr/>
        </p:nvSpPr>
        <p:spPr>
          <a:xfrm>
            <a:off x="621792" y="20772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1640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118360"/>
            <a:ext cx="10527487" cy="701040"/>
          </a:xfrm>
          <a:prstGeom prst="rect">
            <a:avLst/>
          </a:prstGeom>
          <a:noFill/>
        </p:spPr>
        <p:txBody>
          <a:bodyPr wrap="square">
            <a:spAutoFit/>
          </a:bodyPr>
          <a:lstStyle/>
          <a:p>
            <a:pPr>
              <a:spcAft>
                <a:spcPts val="300"/>
              </a:spcAft>
            </a:pPr>
            <a:r>
              <a:rPr sz="1700" b="1" i="0">
                <a:solidFill>
                  <a:srgbClr val="1A1A1A"/>
                </a:solidFill>
                <a:latin typeface="Arial"/>
              </a:rPr>
              <a:t>A registered identity on the bus</a:t>
            </a:r>
          </a:p>
          <a:p>
            <a:pPr>
              <a:spcAft>
                <a:spcPts val="300"/>
              </a:spcAft>
            </a:pPr>
            <a:r>
              <a:rPr sz="1550" b="0" i="0">
                <a:solidFill>
                  <a:srgbClr val="595959"/>
                </a:solidFill>
                <a:latin typeface="Arial"/>
              </a:rPr>
              <a:t>Its subsystem.</a:t>
            </a:r>
          </a:p>
        </p:txBody>
      </p:sp>
      <p:sp>
        <p:nvSpPr>
          <p:cNvPr id="9" name="Rectangle 8"/>
          <p:cNvSpPr/>
          <p:nvPr/>
        </p:nvSpPr>
        <p:spPr>
          <a:xfrm>
            <a:off x="621792" y="28239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29108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2865120"/>
            <a:ext cx="10527487" cy="701040"/>
          </a:xfrm>
          <a:prstGeom prst="rect">
            <a:avLst/>
          </a:prstGeom>
          <a:noFill/>
        </p:spPr>
        <p:txBody>
          <a:bodyPr wrap="square">
            <a:spAutoFit/>
          </a:bodyPr>
          <a:lstStyle/>
          <a:p>
            <a:pPr>
              <a:spcAft>
                <a:spcPts val="300"/>
              </a:spcAft>
            </a:pPr>
            <a:r>
              <a:rPr sz="1700" b="1" i="0">
                <a:solidFill>
                  <a:srgbClr val="1A1A1A"/>
                </a:solidFill>
                <a:latin typeface="Arial"/>
              </a:rPr>
              <a:t>The standards portfolio, adopted</a:t>
            </a:r>
          </a:p>
          <a:p>
            <a:pPr>
              <a:spcAft>
                <a:spcPts val="300"/>
              </a:spcAft>
            </a:pPr>
            <a:r>
              <a:rPr sz="1550" b="0" i="0">
                <a:solidFill>
                  <a:srgbClr val="595959"/>
                </a:solidFill>
                <a:latin typeface="Arial"/>
              </a:rPr>
              <a:t>So its services speak the framework's language.</a:t>
            </a:r>
          </a:p>
        </p:txBody>
      </p:sp>
      <p:sp>
        <p:nvSpPr>
          <p:cNvPr id="12" name="Rectangle 11"/>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3657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3611880"/>
            <a:ext cx="10527487" cy="701040"/>
          </a:xfrm>
          <a:prstGeom prst="rect">
            <a:avLst/>
          </a:prstGeom>
          <a:noFill/>
        </p:spPr>
        <p:txBody>
          <a:bodyPr wrap="square">
            <a:spAutoFit/>
          </a:bodyPr>
          <a:lstStyle/>
          <a:p>
            <a:pPr>
              <a:spcAft>
                <a:spcPts val="300"/>
              </a:spcAft>
            </a:pPr>
            <a:r>
              <a:rPr sz="1700" b="1" i="0">
                <a:solidFill>
                  <a:srgbClr val="1A1A1A"/>
                </a:solidFill>
                <a:latin typeface="Arial"/>
              </a:rPr>
              <a:t>Its data cleaned and conformed to the schema</a:t>
            </a:r>
          </a:p>
          <a:p>
            <a:pPr>
              <a:spcAft>
                <a:spcPts val="300"/>
              </a:spcAft>
            </a:pPr>
            <a:r>
              <a:rPr sz="1550" b="0" i="0">
                <a:solidFill>
                  <a:srgbClr val="595959"/>
                </a:solidFill>
                <a:latin typeface="Arial"/>
              </a:rPr>
              <a:t>Stale or malformed data poisons every exchange.</a:t>
            </a:r>
          </a:p>
        </p:txBody>
      </p:sp>
      <p:sp>
        <p:nvSpPr>
          <p:cNvPr id="15" name="Rectangle 14"/>
          <p:cNvSpPr/>
          <p:nvPr/>
        </p:nvSpPr>
        <p:spPr>
          <a:xfrm>
            <a:off x="621792" y="43174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4043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358640"/>
            <a:ext cx="10527487" cy="701040"/>
          </a:xfrm>
          <a:prstGeom prst="rect">
            <a:avLst/>
          </a:prstGeom>
          <a:noFill/>
        </p:spPr>
        <p:txBody>
          <a:bodyPr wrap="square">
            <a:spAutoFit/>
          </a:bodyPr>
          <a:lstStyle/>
          <a:p>
            <a:pPr>
              <a:spcAft>
                <a:spcPts val="300"/>
              </a:spcAft>
            </a:pPr>
            <a:r>
              <a:rPr sz="1700" b="1" i="0">
                <a:solidFill>
                  <a:srgbClr val="1A1A1A"/>
                </a:solidFill>
                <a:latin typeface="Arial"/>
              </a:rPr>
              <a:t>A lawful basis for its exchanges</a:t>
            </a:r>
          </a:p>
          <a:p>
            <a:pPr>
              <a:spcAft>
                <a:spcPts val="300"/>
              </a:spcAft>
            </a:pPr>
            <a:r>
              <a:rPr sz="1550" b="0" i="0">
                <a:solidFill>
                  <a:srgbClr val="595959"/>
                </a:solidFill>
                <a:latin typeface="Arial"/>
              </a:rPr>
              <a:t>From the decree.</a:t>
            </a:r>
          </a:p>
        </p:txBody>
      </p:sp>
      <p:sp>
        <p:nvSpPr>
          <p:cNvPr id="18" name="Rectangle 17"/>
          <p:cNvSpPr/>
          <p:nvPr/>
        </p:nvSpPr>
        <p:spPr>
          <a:xfrm>
            <a:off x="621792" y="50642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1792" y="51511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6</a:t>
            </a:r>
          </a:p>
        </p:txBody>
      </p:sp>
      <p:sp>
        <p:nvSpPr>
          <p:cNvPr id="20" name="TextBox 19"/>
          <p:cNvSpPr txBox="1"/>
          <p:nvPr/>
        </p:nvSpPr>
        <p:spPr>
          <a:xfrm>
            <a:off x="1115568" y="5105400"/>
            <a:ext cx="10527487" cy="701040"/>
          </a:xfrm>
          <a:prstGeom prst="rect">
            <a:avLst/>
          </a:prstGeom>
          <a:noFill/>
        </p:spPr>
        <p:txBody>
          <a:bodyPr wrap="square">
            <a:spAutoFit/>
          </a:bodyPr>
          <a:lstStyle/>
          <a:p>
            <a:pPr>
              <a:spcAft>
                <a:spcPts val="300"/>
              </a:spcAft>
            </a:pPr>
            <a:r>
              <a:rPr sz="1700" b="1" i="0">
                <a:solidFill>
                  <a:srgbClr val="1A1A1A"/>
                </a:solidFill>
                <a:latin typeface="Arial"/>
              </a:rPr>
              <a:t>A named technical contact</a:t>
            </a:r>
          </a:p>
          <a:p>
            <a:pPr>
              <a:spcAft>
                <a:spcPts val="300"/>
              </a:spcAft>
            </a:pPr>
            <a:r>
              <a:rPr sz="1550" b="0" i="0">
                <a:solidFill>
                  <a:srgbClr val="595959"/>
                </a:solidFill>
                <a:latin typeface="Arial"/>
              </a:rPr>
              <a:t>Someone who can fix things when they break.</a:t>
            </a:r>
          </a:p>
        </p:txBody>
      </p:sp>
      <p:sp>
        <p:nvSpPr>
          <p:cNvPr id="21" name="TextBox 20"/>
          <p:cNvSpPr txBox="1"/>
          <p:nvPr/>
        </p:nvSpPr>
        <p:spPr>
          <a:xfrm>
            <a:off x="658368" y="5961888"/>
            <a:ext cx="10881360" cy="548640"/>
          </a:xfrm>
          <a:prstGeom prst="rect">
            <a:avLst/>
          </a:prstGeom>
          <a:noFill/>
        </p:spPr>
        <p:txBody>
          <a:bodyPr wrap="square">
            <a:spAutoFit/>
          </a:bodyPr>
          <a:lstStyle/>
          <a:p>
            <a:r>
              <a:rPr sz="1550" b="1" i="0">
                <a:solidFill>
                  <a:srgbClr val="006E96"/>
                </a:solidFill>
                <a:latin typeface="Arial"/>
              </a:rPr>
              <a:t>Miss any one, and the agency is not ready — however willing it is.</a:t>
            </a:r>
          </a:p>
        </p:txBody>
      </p:sp>
      <p:sp>
        <p:nvSpPr>
          <p:cNvPr id="22" name="TextBox 2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State what a member must have — the Member Requirements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Readiness becomes a checklist, not a judgement</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agency works the list and either meets each item or does not — no architect guessing whether someone seems ready.</a:t>
            </a:r>
          </a:p>
          <a:p>
            <a:pPr>
              <a:spcAft>
                <a:spcPts val="1200"/>
              </a:spcAft>
            </a:pPr>
            <a:r>
              <a:rPr sz="2000" b="0" i="0">
                <a:solidFill>
                  <a:srgbClr val="1A1A1A"/>
                </a:solidFill>
                <a:latin typeface="Arial"/>
              </a:rPr>
              <a:t>That objectivity lets you schedule onboarding with confidence, and keeps a half-ready member from breaking the exchanges it touches.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And the list says "not yet" for you.</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State what a member must have — the Member Requirements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Member Requirements are the front end of onboarding</a:t>
            </a:r>
          </a:p>
        </p:txBody>
      </p:sp>
      <p:cxnSp>
        <p:nvCxnSpPr>
          <p:cNvPr id="4" name="Connector 3"/>
          <p:cNvCxnSpPr/>
          <p:nvPr/>
        </p:nvCxnSpPr>
        <p:spPr>
          <a:xfrm>
            <a:off x="223266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99560" y="3063240"/>
            <a:ext cx="265175"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96646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7833359"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970026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58368" y="1645920"/>
            <a:ext cx="1546860" cy="283464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050" b="1" i="0">
                <a:solidFill>
                  <a:srgbClr val="FFFFFF"/>
                </a:solidFill>
                <a:latin typeface="Arial"/>
              </a:rPr>
              <a:t>REQUIREMENTS</a:t>
            </a:r>
          </a:p>
          <a:p>
            <a:pPr algn="l">
              <a:spcAft>
                <a:spcPts val="300"/>
              </a:spcAft>
            </a:pPr>
            <a:r>
              <a:rPr sz="1500" b="0" i="0">
                <a:solidFill>
                  <a:srgbClr val="FFFFFF"/>
                </a:solidFill>
                <a:latin typeface="Arial"/>
              </a:rPr>
              <a:t>Is the agency ready?</a:t>
            </a:r>
          </a:p>
        </p:txBody>
      </p:sp>
      <p:sp>
        <p:nvSpPr>
          <p:cNvPr id="10" name="TextBox 9"/>
          <p:cNvSpPr txBox="1"/>
          <p:nvPr/>
        </p:nvSpPr>
        <p:spPr>
          <a:xfrm>
            <a:off x="658368" y="4572000"/>
            <a:ext cx="1546860" cy="365760"/>
          </a:xfrm>
          <a:prstGeom prst="rect">
            <a:avLst/>
          </a:prstGeom>
          <a:noFill/>
        </p:spPr>
        <p:txBody>
          <a:bodyPr wrap="square" lIns="36576" rIns="36576" tIns="0" bIns="0" anchor="ctr">
            <a:spAutoFit/>
          </a:bodyPr>
          <a:lstStyle/>
          <a:p>
            <a:pPr algn="ctr"/>
            <a:r>
              <a:rPr sz="1300" b="1" i="0">
                <a:solidFill>
                  <a:srgbClr val="006E96"/>
                </a:solidFill>
                <a:latin typeface="Arial"/>
              </a:rPr>
              <a:t>video 5.2</a:t>
            </a:r>
          </a:p>
        </p:txBody>
      </p:sp>
      <p:sp>
        <p:nvSpPr>
          <p:cNvPr id="11" name="Rounded Rectangle 10"/>
          <p:cNvSpPr/>
          <p:nvPr/>
        </p:nvSpPr>
        <p:spPr>
          <a:xfrm>
            <a:off x="2525268" y="1645920"/>
            <a:ext cx="154686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050" b="1" i="0">
                <a:solidFill>
                  <a:srgbClr val="006E96"/>
                </a:solidFill>
                <a:latin typeface="Arial"/>
              </a:rPr>
              <a:t>APPROVAL</a:t>
            </a:r>
          </a:p>
          <a:p>
            <a:pPr algn="l">
              <a:spcAft>
                <a:spcPts val="300"/>
              </a:spcAft>
            </a:pPr>
            <a:r>
              <a:rPr sz="1500" b="0" i="0">
                <a:solidFill>
                  <a:srgbClr val="1A1A1A"/>
                </a:solidFill>
                <a:latin typeface="Arial"/>
              </a:rPr>
              <a:t>The RACI names who approves</a:t>
            </a:r>
          </a:p>
        </p:txBody>
      </p:sp>
      <p:sp>
        <p:nvSpPr>
          <p:cNvPr id="12" name="TextBox 11"/>
          <p:cNvSpPr txBox="1"/>
          <p:nvPr/>
        </p:nvSpPr>
        <p:spPr>
          <a:xfrm>
            <a:off x="2525268" y="4572000"/>
            <a:ext cx="1546860" cy="365760"/>
          </a:xfrm>
          <a:prstGeom prst="rect">
            <a:avLst/>
          </a:prstGeom>
          <a:noFill/>
        </p:spPr>
        <p:txBody>
          <a:bodyPr wrap="square" lIns="36576" rIns="36576" tIns="0" bIns="0" anchor="ctr">
            <a:spAutoFit/>
          </a:bodyPr>
          <a:lstStyle/>
          <a:p>
            <a:pPr algn="ctr"/>
            <a:r>
              <a:rPr sz="1300" b="1" i="0">
                <a:solidFill>
                  <a:srgbClr val="006E96"/>
                </a:solidFill>
                <a:latin typeface="Arial"/>
              </a:rPr>
              <a:t>Module 3</a:t>
            </a:r>
          </a:p>
        </p:txBody>
      </p:sp>
      <p:sp>
        <p:nvSpPr>
          <p:cNvPr id="13" name="Rounded Rectangle 12"/>
          <p:cNvSpPr/>
          <p:nvPr/>
        </p:nvSpPr>
        <p:spPr>
          <a:xfrm>
            <a:off x="4392167" y="1645920"/>
            <a:ext cx="154686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050" b="1" i="0">
                <a:solidFill>
                  <a:srgbClr val="006E96"/>
                </a:solidFill>
                <a:latin typeface="Arial"/>
              </a:rPr>
              <a:t>ADMISSION</a:t>
            </a:r>
          </a:p>
          <a:p>
            <a:pPr algn="l">
              <a:spcAft>
                <a:spcPts val="300"/>
              </a:spcAft>
            </a:pPr>
            <a:r>
              <a:rPr sz="1500" b="0" i="0">
                <a:solidFill>
                  <a:srgbClr val="1A1A1A"/>
                </a:solidFill>
                <a:latin typeface="Arial"/>
              </a:rPr>
              <a:t>The decision, recorded</a:t>
            </a:r>
          </a:p>
        </p:txBody>
      </p:sp>
      <p:sp>
        <p:nvSpPr>
          <p:cNvPr id="14" name="TextBox 13"/>
          <p:cNvSpPr txBox="1"/>
          <p:nvPr/>
        </p:nvSpPr>
        <p:spPr>
          <a:xfrm>
            <a:off x="4392167" y="4572000"/>
            <a:ext cx="1546860" cy="365760"/>
          </a:xfrm>
          <a:prstGeom prst="rect">
            <a:avLst/>
          </a:prstGeom>
          <a:noFill/>
        </p:spPr>
        <p:txBody>
          <a:bodyPr wrap="square" lIns="36576" rIns="36576" tIns="0" bIns="0" anchor="ctr">
            <a:spAutoFit/>
          </a:bodyPr>
          <a:lstStyle/>
          <a:p>
            <a:pPr algn="ctr"/>
            <a:r>
              <a:rPr sz="1300" b="1" i="0">
                <a:solidFill>
                  <a:srgbClr val="006E96"/>
                </a:solidFill>
                <a:latin typeface="Arial"/>
              </a:rPr>
              <a:t>video 5.4</a:t>
            </a:r>
          </a:p>
        </p:txBody>
      </p:sp>
      <p:sp>
        <p:nvSpPr>
          <p:cNvPr id="15" name="Rounded Rectangle 14"/>
          <p:cNvSpPr/>
          <p:nvPr/>
        </p:nvSpPr>
        <p:spPr>
          <a:xfrm>
            <a:off x="6259068" y="1645920"/>
            <a:ext cx="154686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050" b="1" i="0">
                <a:solidFill>
                  <a:srgbClr val="006E96"/>
                </a:solidFill>
                <a:latin typeface="Arial"/>
              </a:rPr>
              <a:t>REGISTRATION</a:t>
            </a:r>
          </a:p>
          <a:p>
            <a:pPr algn="l">
              <a:spcAft>
                <a:spcPts val="300"/>
              </a:spcAft>
            </a:pPr>
            <a:r>
              <a:rPr sz="1500" b="0" i="0">
                <a:solidFill>
                  <a:srgbClr val="1A1A1A"/>
                </a:solidFill>
                <a:latin typeface="Arial"/>
              </a:rPr>
              <a:t>The configuration, written</a:t>
            </a:r>
          </a:p>
        </p:txBody>
      </p:sp>
      <p:sp>
        <p:nvSpPr>
          <p:cNvPr id="16" name="TextBox 15"/>
          <p:cNvSpPr txBox="1"/>
          <p:nvPr/>
        </p:nvSpPr>
        <p:spPr>
          <a:xfrm>
            <a:off x="6259068" y="4572000"/>
            <a:ext cx="1546860" cy="365760"/>
          </a:xfrm>
          <a:prstGeom prst="rect">
            <a:avLst/>
          </a:prstGeom>
          <a:noFill/>
        </p:spPr>
        <p:txBody>
          <a:bodyPr wrap="square" lIns="36576" rIns="36576" tIns="0" bIns="0" anchor="ctr">
            <a:spAutoFit/>
          </a:bodyPr>
          <a:lstStyle/>
          <a:p>
            <a:pPr algn="ctr"/>
            <a:r>
              <a:rPr sz="1300" b="1" i="0">
                <a:solidFill>
                  <a:srgbClr val="006E96"/>
                </a:solidFill>
                <a:latin typeface="Arial"/>
              </a:rPr>
              <a:t>video 5.4</a:t>
            </a:r>
          </a:p>
        </p:txBody>
      </p:sp>
      <p:sp>
        <p:nvSpPr>
          <p:cNvPr id="17" name="Rounded Rectangle 16"/>
          <p:cNvSpPr/>
          <p:nvPr/>
        </p:nvSpPr>
        <p:spPr>
          <a:xfrm>
            <a:off x="8125968" y="1645920"/>
            <a:ext cx="154686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050" b="1" i="0">
                <a:solidFill>
                  <a:srgbClr val="006E96"/>
                </a:solidFill>
                <a:latin typeface="Arial"/>
              </a:rPr>
              <a:t>CONFORMANCE</a:t>
            </a:r>
          </a:p>
          <a:p>
            <a:pPr algn="l">
              <a:spcAft>
                <a:spcPts val="300"/>
              </a:spcAft>
            </a:pPr>
            <a:r>
              <a:rPr sz="1500" b="0" i="0">
                <a:solidFill>
                  <a:srgbClr val="1A1A1A"/>
                </a:solidFill>
                <a:latin typeface="Arial"/>
              </a:rPr>
              <a:t>The gate before going live</a:t>
            </a:r>
          </a:p>
        </p:txBody>
      </p:sp>
      <p:sp>
        <p:nvSpPr>
          <p:cNvPr id="18" name="TextBox 17"/>
          <p:cNvSpPr txBox="1"/>
          <p:nvPr/>
        </p:nvSpPr>
        <p:spPr>
          <a:xfrm>
            <a:off x="8125968" y="4572000"/>
            <a:ext cx="1546860" cy="365760"/>
          </a:xfrm>
          <a:prstGeom prst="rect">
            <a:avLst/>
          </a:prstGeom>
          <a:noFill/>
        </p:spPr>
        <p:txBody>
          <a:bodyPr wrap="square" lIns="36576" rIns="36576" tIns="0" bIns="0" anchor="ctr">
            <a:spAutoFit/>
          </a:bodyPr>
          <a:lstStyle/>
          <a:p>
            <a:pPr algn="ctr"/>
            <a:r>
              <a:rPr sz="1300" b="1" i="0">
                <a:solidFill>
                  <a:srgbClr val="006E96"/>
                </a:solidFill>
                <a:latin typeface="Arial"/>
              </a:rPr>
              <a:t>video 5.4</a:t>
            </a:r>
          </a:p>
        </p:txBody>
      </p:sp>
      <p:sp>
        <p:nvSpPr>
          <p:cNvPr id="19" name="Rounded Rectangle 18"/>
          <p:cNvSpPr/>
          <p:nvPr/>
        </p:nvSpPr>
        <p:spPr>
          <a:xfrm>
            <a:off x="9992868" y="1645920"/>
            <a:ext cx="154686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050" b="1" i="0">
                <a:solidFill>
                  <a:srgbClr val="006E96"/>
                </a:solidFill>
                <a:latin typeface="Arial"/>
              </a:rPr>
              <a:t>FIRST SERVICE</a:t>
            </a:r>
          </a:p>
          <a:p>
            <a:pPr algn="l">
              <a:spcAft>
                <a:spcPts val="300"/>
              </a:spcAft>
            </a:pPr>
            <a:r>
              <a:rPr sz="1500" b="0" i="0">
                <a:solidFill>
                  <a:srgbClr val="1A1A1A"/>
                </a:solidFill>
                <a:latin typeface="Arial"/>
              </a:rPr>
              <a:t>Live</a:t>
            </a:r>
          </a:p>
        </p:txBody>
      </p:sp>
      <p:sp>
        <p:nvSpPr>
          <p:cNvPr id="20" name="TextBox 19"/>
          <p:cNvSpPr txBox="1"/>
          <p:nvPr/>
        </p:nvSpPr>
        <p:spPr>
          <a:xfrm>
            <a:off x="658368" y="5074920"/>
            <a:ext cx="10881360" cy="548640"/>
          </a:xfrm>
          <a:prstGeom prst="rect">
            <a:avLst/>
          </a:prstGeom>
          <a:noFill/>
        </p:spPr>
        <p:txBody>
          <a:bodyPr wrap="square">
            <a:spAutoFit/>
          </a:bodyPr>
          <a:lstStyle/>
          <a:p>
            <a:r>
              <a:rPr sz="1550" b="1" i="0">
                <a:solidFill>
                  <a:srgbClr val="006E96"/>
                </a:solidFill>
                <a:latin typeface="Arial"/>
              </a:rPr>
              <a:t>The six answers travel in the join request — checked before anyone approves it.</a:t>
            </a:r>
          </a:p>
        </p:txBody>
      </p:sp>
      <p:sp>
        <p:nvSpPr>
          <p:cNvPr id="21" name="TextBox 2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State what a member must have — the Member Requirements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agency's answers, rendered into its record</a:t>
            </a:r>
          </a:p>
        </p:txBody>
      </p:sp>
      <p:sp>
        <p:nvSpPr>
          <p:cNvPr id="4" name="kp-demo-evidence"/>
          <p:cNvSpPr/>
          <p:nvPr/>
        </p:nvSpPr>
        <p:spPr>
          <a:xfrm>
            <a:off x="621792" y="12618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0984687" cy="640080"/>
          </a:xfrm>
          <a:prstGeom prst="rect">
            <a:avLst/>
          </a:prstGeom>
          <a:noFill/>
        </p:spPr>
        <p:txBody>
          <a:bodyPr wrap="square">
            <a:spAutoFit/>
          </a:bodyPr>
          <a:lstStyle/>
          <a:p>
            <a:pPr>
              <a:spcAft>
                <a:spcPts val="300"/>
              </a:spcAft>
            </a:pPr>
            <a:r>
              <a:rPr sz="1600" b="1" i="0">
                <a:solidFill>
                  <a:srgbClr val="1A1A1A"/>
                </a:solidFill>
                <a:latin typeface="Arial"/>
              </a:rPr>
              <a:t>Security Server in place</a:t>
            </a:r>
          </a:p>
          <a:p>
            <a:pPr>
              <a:spcAft>
                <a:spcPts val="300"/>
              </a:spcAft>
            </a:pPr>
            <a:r>
              <a:rPr sz="1400" b="0" i="0">
                <a:solidFill>
                  <a:srgbClr val="595959"/>
                </a:solidFill>
                <a:latin typeface="Arial"/>
              </a:rPr>
              <a:t>yes</a:t>
            </a:r>
          </a:p>
        </p:txBody>
      </p:sp>
      <p:sp>
        <p:nvSpPr>
          <p:cNvPr id="6" name="Rectangle 5"/>
          <p:cNvSpPr/>
          <p:nvPr/>
        </p:nvSpPr>
        <p:spPr>
          <a:xfrm>
            <a:off x="621792" y="20162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057400"/>
            <a:ext cx="10984687" cy="640080"/>
          </a:xfrm>
          <a:prstGeom prst="rect">
            <a:avLst/>
          </a:prstGeom>
          <a:noFill/>
        </p:spPr>
        <p:txBody>
          <a:bodyPr wrap="square">
            <a:spAutoFit/>
          </a:bodyPr>
          <a:lstStyle/>
          <a:p>
            <a:pPr>
              <a:spcAft>
                <a:spcPts val="300"/>
              </a:spcAft>
            </a:pPr>
            <a:r>
              <a:rPr sz="1600" b="1" i="0">
                <a:solidFill>
                  <a:srgbClr val="1A1A1A"/>
                </a:solidFill>
                <a:latin typeface="Arial"/>
              </a:rPr>
              <a:t>Registered identity on the bus</a:t>
            </a:r>
          </a:p>
          <a:p>
            <a:pPr>
              <a:spcAft>
                <a:spcPts val="300"/>
              </a:spcAft>
            </a:pPr>
            <a:r>
              <a:rPr sz="1400" b="0" i="0">
                <a:solidFill>
                  <a:srgbClr val="595959"/>
                </a:solidFill>
                <a:latin typeface="Arial"/>
              </a:rPr>
              <a:t>yes</a:t>
            </a:r>
          </a:p>
        </p:txBody>
      </p:sp>
      <p:sp>
        <p:nvSpPr>
          <p:cNvPr id="8" name="Rectangle 7"/>
          <p:cNvSpPr/>
          <p:nvPr/>
        </p:nvSpPr>
        <p:spPr>
          <a:xfrm>
            <a:off x="621792" y="2702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743200"/>
            <a:ext cx="10984687" cy="640080"/>
          </a:xfrm>
          <a:prstGeom prst="rect">
            <a:avLst/>
          </a:prstGeom>
          <a:noFill/>
        </p:spPr>
        <p:txBody>
          <a:bodyPr wrap="square">
            <a:spAutoFit/>
          </a:bodyPr>
          <a:lstStyle/>
          <a:p>
            <a:pPr>
              <a:spcAft>
                <a:spcPts val="300"/>
              </a:spcAft>
            </a:pPr>
            <a:r>
              <a:rPr sz="1600" b="1" i="0">
                <a:solidFill>
                  <a:srgbClr val="1A1A1A"/>
                </a:solidFill>
                <a:latin typeface="Arial"/>
              </a:rPr>
              <a:t>Standards portfolio adopted</a:t>
            </a:r>
          </a:p>
          <a:p>
            <a:pPr>
              <a:spcAft>
                <a:spcPts val="300"/>
              </a:spcAft>
            </a:pPr>
            <a:r>
              <a:rPr sz="1400" b="0" i="0">
                <a:solidFill>
                  <a:srgbClr val="595959"/>
                </a:solidFill>
                <a:latin typeface="Arial"/>
              </a:rPr>
              <a:t>yes</a:t>
            </a:r>
          </a:p>
        </p:txBody>
      </p:sp>
      <p:sp>
        <p:nvSpPr>
          <p:cNvPr id="10" name="Rectangle 9"/>
          <p:cNvSpPr/>
          <p:nvPr/>
        </p:nvSpPr>
        <p:spPr>
          <a:xfrm>
            <a:off x="621792" y="33878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429000"/>
            <a:ext cx="10984687" cy="640080"/>
          </a:xfrm>
          <a:prstGeom prst="rect">
            <a:avLst/>
          </a:prstGeom>
          <a:noFill/>
        </p:spPr>
        <p:txBody>
          <a:bodyPr wrap="square">
            <a:spAutoFit/>
          </a:bodyPr>
          <a:lstStyle/>
          <a:p>
            <a:pPr>
              <a:spcAft>
                <a:spcPts val="300"/>
              </a:spcAft>
            </a:pPr>
            <a:r>
              <a:rPr sz="1600" b="1" i="0">
                <a:solidFill>
                  <a:srgbClr val="1A1A1A"/>
                </a:solidFill>
                <a:latin typeface="Arial"/>
              </a:rPr>
              <a:t>Data cleaned and conformed to the schema</a:t>
            </a:r>
          </a:p>
          <a:p>
            <a:pPr>
              <a:spcAft>
                <a:spcPts val="300"/>
              </a:spcAft>
            </a:pPr>
            <a:r>
              <a:rPr sz="1400" b="0" i="0">
                <a:solidFill>
                  <a:srgbClr val="595959"/>
                </a:solidFill>
                <a:latin typeface="Arial"/>
              </a:rPr>
              <a:t>yes</a:t>
            </a:r>
          </a:p>
        </p:txBody>
      </p:sp>
      <p:sp>
        <p:nvSpPr>
          <p:cNvPr id="12" name="Rectangle 11"/>
          <p:cNvSpPr/>
          <p:nvPr/>
        </p:nvSpPr>
        <p:spPr>
          <a:xfrm>
            <a:off x="621792" y="40736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4114800"/>
            <a:ext cx="10984687" cy="640080"/>
          </a:xfrm>
          <a:prstGeom prst="rect">
            <a:avLst/>
          </a:prstGeom>
          <a:noFill/>
        </p:spPr>
        <p:txBody>
          <a:bodyPr wrap="square">
            <a:spAutoFit/>
          </a:bodyPr>
          <a:lstStyle/>
          <a:p>
            <a:pPr>
              <a:spcAft>
                <a:spcPts val="300"/>
              </a:spcAft>
            </a:pPr>
            <a:r>
              <a:rPr sz="1600" b="1" i="0">
                <a:solidFill>
                  <a:srgbClr val="1A1A1A"/>
                </a:solidFill>
                <a:latin typeface="Arial"/>
              </a:rPr>
              <a:t>Lawful basis for its exchanges</a:t>
            </a:r>
          </a:p>
          <a:p>
            <a:pPr>
              <a:spcAft>
                <a:spcPts val="300"/>
              </a:spcAft>
            </a:pPr>
            <a:r>
              <a:rPr sz="1400" b="0" i="0">
                <a:solidFill>
                  <a:srgbClr val="595959"/>
                </a:solidFill>
                <a:latin typeface="Arial"/>
              </a:rPr>
              <a:t>statutory function</a:t>
            </a:r>
          </a:p>
        </p:txBody>
      </p:sp>
      <p:sp>
        <p:nvSpPr>
          <p:cNvPr id="14" name="Rectangle 13"/>
          <p:cNvSpPr/>
          <p:nvPr/>
        </p:nvSpPr>
        <p:spPr>
          <a:xfrm>
            <a:off x="621792" y="4759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4800600"/>
            <a:ext cx="10984687" cy="640080"/>
          </a:xfrm>
          <a:prstGeom prst="rect">
            <a:avLst/>
          </a:prstGeom>
          <a:noFill/>
        </p:spPr>
        <p:txBody>
          <a:bodyPr wrap="square">
            <a:spAutoFit/>
          </a:bodyPr>
          <a:lstStyle/>
          <a:p>
            <a:pPr>
              <a:spcAft>
                <a:spcPts val="300"/>
              </a:spcAft>
            </a:pPr>
            <a:r>
              <a:rPr sz="1600" b="1" i="0">
                <a:solidFill>
                  <a:srgbClr val="1A1A1A"/>
                </a:solidFill>
                <a:latin typeface="Arial"/>
              </a:rPr>
              <a:t>Named technical contact</a:t>
            </a:r>
          </a:p>
          <a:p>
            <a:pPr>
              <a:spcAft>
                <a:spcPts val="300"/>
              </a:spcAft>
            </a:pPr>
            <a:r>
              <a:rPr sz="1400" b="0" i="0">
                <a:solidFill>
                  <a:srgbClr val="595959"/>
                </a:solidFill>
                <a:latin typeface="Arial"/>
              </a:rPr>
              <a:t>Head of IT, PNEA</a:t>
            </a:r>
          </a:p>
        </p:txBody>
      </p:sp>
      <p:sp>
        <p:nvSpPr>
          <p:cNvPr id="16" name="TextBox 15"/>
          <p:cNvSpPr txBox="1"/>
          <p:nvPr/>
        </p:nvSpPr>
        <p:spPr>
          <a:xfrm>
            <a:off x="658368" y="5614416"/>
            <a:ext cx="10881360" cy="420624"/>
          </a:xfrm>
          <a:prstGeom prst="rect">
            <a:avLst/>
          </a:prstGeom>
          <a:noFill/>
        </p:spPr>
        <p:txBody>
          <a:bodyPr wrap="square">
            <a:spAutoFit/>
          </a:bodyPr>
          <a:lstStyle/>
          <a:p>
            <a:r>
              <a:rPr sz="1550" b="1" i="0">
                <a:solidFill>
                  <a:srgbClr val="006E96"/>
                </a:solidFill>
                <a:latin typeface="Arial"/>
              </a:rPr>
              <a:t>Six items, stated by the applicant, rendered into its record.</a:t>
            </a:r>
          </a:p>
        </p:txBody>
      </p:sp>
      <p:sp>
        <p:nvSpPr>
          <p:cNvPr id="17" name="TextBox 16"/>
          <p:cNvSpPr txBox="1"/>
          <p:nvPr/>
        </p:nvSpPr>
        <p:spPr>
          <a:xfrm>
            <a:off x="658368" y="6025896"/>
            <a:ext cx="10881360" cy="274320"/>
          </a:xfrm>
          <a:prstGeom prst="rect">
            <a:avLst/>
          </a:prstGeom>
          <a:noFill/>
        </p:spPr>
        <p:txBody>
          <a:bodyPr wrap="square">
            <a:spAutoFit/>
          </a:bodyPr>
          <a:lstStyle/>
          <a:p>
            <a:r>
              <a:rPr sz="900" b="0" i="0">
                <a:solidFill>
                  <a:srgbClr val="595959"/>
                </a:solidFill>
                <a:latin typeface="Arial"/>
              </a:rPr>
              <a:t>captured from the demonstration federation · X-Road 7.7.0 · pack a28b74c · 2026-09-30</a:t>
            </a:r>
          </a:p>
        </p:txBody>
      </p:sp>
      <p:sp>
        <p:nvSpPr>
          <p:cNvPr id="18" name="TextBox 1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State what a member must have — the Member Requirements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Member Requirements checklist makes readiness objective and checkable weeks before go-live — so onboarding is scheduled, not gambled.</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Member Requirements checklist.</a:t>
            </a:r>
          </a:p>
          <a:p>
            <a:pPr algn="l">
              <a:spcAft>
                <a:spcPts val="400"/>
              </a:spcAft>
            </a:pPr>
            <a:r>
              <a:rPr sz="1800" b="0" i="0">
                <a:solidFill>
                  <a:srgbClr val="595959"/>
                </a:solidFill>
                <a:latin typeface="Arial"/>
              </a:rPr>
              <a:t>The prompt in the companion material gives you a reusable Member Requirements checklist with evidence and a readiness verdict.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State what a member must have — the Member Requirements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NIIS X-Road member requirements and onboarding (niis.org)</a:t>
            </a:r>
          </a:p>
          <a:p>
            <a:pPr>
              <a:spcAft>
                <a:spcPts val="1200"/>
              </a:spcAft>
            </a:pPr>
            <a:r>
              <a:rPr sz="1700" b="0" i="0">
                <a:solidFill>
                  <a:srgbClr val="1A1A1A"/>
                </a:solidFill>
                <a:latin typeface="Arial"/>
              </a:rPr>
              <a:t>•  EU European Interoperability Framework (EIF)</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State what a member must have — the Member Requirements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5 · VIDEO 5.3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Make 'connected' mean 'dependable' — the SLA</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Service-Level Agreement turns 'connected' into 'dependable' — the template makes it a fill-in, not a negotiation from scratch.</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Connected is not the same as dependable.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Up most of the time, slow to answer, and nobody to call when it breaks.</a:t>
            </a:r>
          </a:p>
          <a:p>
            <a:pPr>
              <a:spcAft>
                <a:spcPts val="800"/>
              </a:spcAft>
            </a:pPr>
            <a:r>
              <a:rPr sz="1700" b="0" i="0">
                <a:solidFill>
                  <a:srgbClr val="595959"/>
                </a:solidFill>
                <a:latin typeface="Arial"/>
              </a:rPr>
              <a:t>The Service-Level Agreement turns connected into dependable.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Make 'connected' mean 'dependable' — the SLA</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SLA sets five numbers a consumer can rely on</a:t>
            </a:r>
          </a:p>
        </p:txBody>
      </p:sp>
      <p:sp>
        <p:nvSpPr>
          <p:cNvPr id="4" name="TextBox 3"/>
          <p:cNvSpPr txBox="1"/>
          <p:nvPr/>
        </p:nvSpPr>
        <p:spPr>
          <a:xfrm>
            <a:off x="658368" y="1463040"/>
            <a:ext cx="10984687" cy="813815"/>
          </a:xfrm>
          <a:prstGeom prst="rect">
            <a:avLst/>
          </a:prstGeom>
          <a:noFill/>
        </p:spPr>
        <p:txBody>
          <a:bodyPr wrap="square">
            <a:spAutoFit/>
          </a:bodyPr>
          <a:lstStyle/>
          <a:p>
            <a:pPr>
              <a:spcAft>
                <a:spcPts val="300"/>
              </a:spcAft>
            </a:pPr>
            <a:r>
              <a:rPr sz="1900" b="1" i="0">
                <a:solidFill>
                  <a:srgbClr val="1A1A1A"/>
                </a:solidFill>
                <a:latin typeface="Arial"/>
              </a:rPr>
              <a:t>Availability</a:t>
            </a:r>
          </a:p>
          <a:p>
            <a:pPr>
              <a:spcAft>
                <a:spcPts val="300"/>
              </a:spcAft>
            </a:pPr>
            <a:r>
              <a:rPr sz="1550" b="0" i="0">
                <a:solidFill>
                  <a:srgbClr val="595959"/>
                </a:solidFill>
                <a:latin typeface="Arial"/>
              </a:rPr>
              <a:t>The uptime the provider commits to.</a:t>
            </a:r>
          </a:p>
        </p:txBody>
      </p:sp>
      <p:sp>
        <p:nvSpPr>
          <p:cNvPr id="5" name="Rectangle 4"/>
          <p:cNvSpPr/>
          <p:nvPr/>
        </p:nvSpPr>
        <p:spPr>
          <a:xfrm>
            <a:off x="621792" y="228142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322576"/>
            <a:ext cx="10984687" cy="813815"/>
          </a:xfrm>
          <a:prstGeom prst="rect">
            <a:avLst/>
          </a:prstGeom>
          <a:noFill/>
        </p:spPr>
        <p:txBody>
          <a:bodyPr wrap="square">
            <a:spAutoFit/>
          </a:bodyPr>
          <a:lstStyle/>
          <a:p>
            <a:pPr>
              <a:spcAft>
                <a:spcPts val="300"/>
              </a:spcAft>
            </a:pPr>
            <a:r>
              <a:rPr sz="1900" b="1" i="0">
                <a:solidFill>
                  <a:srgbClr val="1A1A1A"/>
                </a:solidFill>
                <a:latin typeface="Arial"/>
              </a:rPr>
              <a:t>Response time</a:t>
            </a:r>
          </a:p>
          <a:p>
            <a:pPr>
              <a:spcAft>
                <a:spcPts val="300"/>
              </a:spcAft>
            </a:pPr>
            <a:r>
              <a:rPr sz="1550" b="0" i="0">
                <a:solidFill>
                  <a:srgbClr val="595959"/>
                </a:solidFill>
                <a:latin typeface="Arial"/>
              </a:rPr>
              <a:t>How fast a call returns.</a:t>
            </a:r>
          </a:p>
        </p:txBody>
      </p:sp>
      <p:sp>
        <p:nvSpPr>
          <p:cNvPr id="7" name="Rectangle 6"/>
          <p:cNvSpPr/>
          <p:nvPr/>
        </p:nvSpPr>
        <p:spPr>
          <a:xfrm>
            <a:off x="621792" y="3140963"/>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182111"/>
            <a:ext cx="10984687" cy="813815"/>
          </a:xfrm>
          <a:prstGeom prst="rect">
            <a:avLst/>
          </a:prstGeom>
          <a:noFill/>
        </p:spPr>
        <p:txBody>
          <a:bodyPr wrap="square">
            <a:spAutoFit/>
          </a:bodyPr>
          <a:lstStyle/>
          <a:p>
            <a:pPr>
              <a:spcAft>
                <a:spcPts val="300"/>
              </a:spcAft>
            </a:pPr>
            <a:r>
              <a:rPr sz="1900" b="1" i="0">
                <a:solidFill>
                  <a:srgbClr val="1A1A1A"/>
                </a:solidFill>
                <a:latin typeface="Arial"/>
              </a:rPr>
              <a:t>Support hours</a:t>
            </a:r>
          </a:p>
          <a:p>
            <a:pPr>
              <a:spcAft>
                <a:spcPts val="300"/>
              </a:spcAft>
            </a:pPr>
            <a:r>
              <a:rPr sz="1550" b="0" i="0">
                <a:solidFill>
                  <a:srgbClr val="595959"/>
                </a:solidFill>
                <a:latin typeface="Arial"/>
              </a:rPr>
              <a:t>When there is someone to help.</a:t>
            </a:r>
          </a:p>
        </p:txBody>
      </p:sp>
      <p:sp>
        <p:nvSpPr>
          <p:cNvPr id="9" name="Rectangle 8"/>
          <p:cNvSpPr/>
          <p:nvPr/>
        </p:nvSpPr>
        <p:spPr>
          <a:xfrm>
            <a:off x="621792" y="40005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041648"/>
            <a:ext cx="10984687" cy="813815"/>
          </a:xfrm>
          <a:prstGeom prst="rect">
            <a:avLst/>
          </a:prstGeom>
          <a:noFill/>
        </p:spPr>
        <p:txBody>
          <a:bodyPr wrap="square">
            <a:spAutoFit/>
          </a:bodyPr>
          <a:lstStyle/>
          <a:p>
            <a:pPr>
              <a:spcAft>
                <a:spcPts val="300"/>
              </a:spcAft>
            </a:pPr>
            <a:r>
              <a:rPr sz="1900" b="1" i="0">
                <a:solidFill>
                  <a:srgbClr val="1A1A1A"/>
                </a:solidFill>
                <a:latin typeface="Arial"/>
              </a:rPr>
              <a:t>Incident response</a:t>
            </a:r>
          </a:p>
          <a:p>
            <a:pPr>
              <a:spcAft>
                <a:spcPts val="300"/>
              </a:spcAft>
            </a:pPr>
            <a:r>
              <a:rPr sz="1550" b="0" i="0">
                <a:solidFill>
                  <a:srgbClr val="595959"/>
                </a:solidFill>
                <a:latin typeface="Arial"/>
              </a:rPr>
              <a:t>Who to call when it fails — and how fast they respond.</a:t>
            </a:r>
          </a:p>
        </p:txBody>
      </p:sp>
      <p:sp>
        <p:nvSpPr>
          <p:cNvPr id="11" name="Rectangle 10"/>
          <p:cNvSpPr/>
          <p:nvPr/>
        </p:nvSpPr>
        <p:spPr>
          <a:xfrm>
            <a:off x="621792" y="48600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901183"/>
            <a:ext cx="10984687" cy="813815"/>
          </a:xfrm>
          <a:prstGeom prst="rect">
            <a:avLst/>
          </a:prstGeom>
          <a:noFill/>
        </p:spPr>
        <p:txBody>
          <a:bodyPr wrap="square">
            <a:spAutoFit/>
          </a:bodyPr>
          <a:lstStyle/>
          <a:p>
            <a:pPr>
              <a:spcAft>
                <a:spcPts val="300"/>
              </a:spcAft>
            </a:pPr>
            <a:r>
              <a:rPr sz="1900" b="1" i="0">
                <a:solidFill>
                  <a:srgbClr val="1A1A1A"/>
                </a:solidFill>
                <a:latin typeface="Arial"/>
              </a:rPr>
              <a:t>Change notice</a:t>
            </a:r>
          </a:p>
          <a:p>
            <a:pPr>
              <a:spcAft>
                <a:spcPts val="300"/>
              </a:spcAft>
            </a:pPr>
            <a:r>
              <a:rPr sz="1550" b="0" i="0">
                <a:solidFill>
                  <a:srgbClr val="595959"/>
                </a:solidFill>
                <a:latin typeface="Arial"/>
              </a:rPr>
              <a:t>How much warning before the service changes.</a:t>
            </a:r>
          </a:p>
        </p:txBody>
      </p:sp>
      <p:sp>
        <p:nvSpPr>
          <p:cNvPr id="13" name="TextBox 12"/>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numbers that turn a connection into a dependency.</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Make 'connected' mean 'dependable' — the SLA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SLA makes the member obligations specific</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OBLIGATION SAYS</a:t>
            </a:r>
          </a:p>
          <a:p>
            <a:pPr>
              <a:spcAft>
                <a:spcPts val="700"/>
              </a:spcAft>
            </a:pPr>
            <a:r>
              <a:rPr sz="1600" b="0" i="0">
                <a:solidFill>
                  <a:srgbClr val="1A1A1A"/>
                </a:solidFill>
                <a:latin typeface="Arial"/>
              </a:rPr>
              <a:t>"A member meets service levels."</a:t>
            </a:r>
          </a:p>
          <a:p>
            <a:pPr>
              <a:spcAft>
                <a:spcPts val="700"/>
              </a:spcAft>
            </a:pPr>
            <a:r>
              <a:rPr sz="1600" b="0" i="0">
                <a:solidFill>
                  <a:srgbClr val="1A1A1A"/>
                </a:solidFill>
                <a:latin typeface="Arial"/>
              </a:rPr>
              <a:t>In principle — a wish.</a:t>
            </a:r>
          </a:p>
        </p:txBody>
      </p:sp>
      <p:sp>
        <p:nvSpPr>
          <p:cNvPr id="6" name="Rounded Rectangle 5"/>
          <p:cNvSpPr/>
          <p:nvPr/>
        </p:nvSpPr>
        <p:spPr>
          <a:xfrm>
            <a:off x="6263640"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SLA SAYS</a:t>
            </a:r>
          </a:p>
          <a:p>
            <a:pPr>
              <a:spcAft>
                <a:spcPts val="700"/>
              </a:spcAft>
            </a:pPr>
            <a:r>
              <a:rPr sz="1600" b="0" i="0">
                <a:solidFill>
                  <a:srgbClr val="1A1A1A"/>
                </a:solidFill>
                <a:latin typeface="Arial"/>
              </a:rPr>
              <a:t>Specific numbers, agreed and signed.</a:t>
            </a:r>
          </a:p>
          <a:p>
            <a:pPr>
              <a:spcAft>
                <a:spcPts val="700"/>
              </a:spcAft>
            </a:pPr>
            <a:r>
              <a:rPr sz="1600" b="0" i="0">
                <a:solidFill>
                  <a:srgbClr val="1A1A1A"/>
                </a:solidFill>
                <a:latin typeface="Arial"/>
              </a:rPr>
              <a:t>A commitment the Operating Authority can hold a member to.</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One SLA per published service — a member that only consumes signs none.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Make 'connected' mean 'dependable' — the SLA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Set the numbers with the provider, not for them</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A target the provider cannot meet is a target it will quietly ignore.</a:t>
            </a:r>
          </a:p>
          <a:p>
            <a:pPr>
              <a:spcAft>
                <a:spcPts val="1200"/>
              </a:spcAft>
            </a:pPr>
            <a:r>
              <a:rPr sz="2000" b="0" i="0">
                <a:solidFill>
                  <a:srgbClr val="1A1A1A"/>
                </a:solidFill>
                <a:latin typeface="Arial"/>
              </a:rPr>
              <a:t>Agree numbers it can genuinely hit, raise them as the platform matures — and reuse the template for every service on the bus.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An SLA everyone ignores is worse than none.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Make 'connected' mean 'dependable' — the SLA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service's SLA, as signed</a:t>
            </a:r>
          </a:p>
        </p:txBody>
      </p:sp>
      <p:sp>
        <p:nvSpPr>
          <p:cNvPr id="4" name="kp-demo-evidence"/>
          <p:cNvSpPr/>
          <p:nvPr/>
        </p:nvSpPr>
        <p:spPr>
          <a:xfrm>
            <a:off x="621792" y="12618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0984687" cy="777240"/>
          </a:xfrm>
          <a:prstGeom prst="rect">
            <a:avLst/>
          </a:prstGeom>
          <a:noFill/>
        </p:spPr>
        <p:txBody>
          <a:bodyPr wrap="square">
            <a:spAutoFit/>
          </a:bodyPr>
          <a:lstStyle/>
          <a:p>
            <a:pPr>
              <a:spcAft>
                <a:spcPts val="300"/>
              </a:spcAft>
            </a:pPr>
            <a:r>
              <a:rPr sz="1600" b="1" i="0">
                <a:solidFill>
                  <a:srgbClr val="1A1A1A"/>
                </a:solidFill>
                <a:latin typeface="Arial"/>
              </a:rPr>
              <a:t>Availability</a:t>
            </a:r>
          </a:p>
          <a:p>
            <a:pPr>
              <a:spcAft>
                <a:spcPts val="300"/>
              </a:spcAft>
            </a:pPr>
            <a:r>
              <a:rPr sz="1400" b="0" i="0">
                <a:solidFill>
                  <a:srgbClr val="595959"/>
                </a:solidFill>
                <a:latin typeface="Arial"/>
              </a:rPr>
              <a:t>99.5% monthly uptime</a:t>
            </a:r>
          </a:p>
        </p:txBody>
      </p:sp>
      <p:sp>
        <p:nvSpPr>
          <p:cNvPr id="6" name="Rectangle 5"/>
          <p:cNvSpPr/>
          <p:nvPr/>
        </p:nvSpPr>
        <p:spPr>
          <a:xfrm>
            <a:off x="621792" y="21534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194560"/>
            <a:ext cx="10984687" cy="777240"/>
          </a:xfrm>
          <a:prstGeom prst="rect">
            <a:avLst/>
          </a:prstGeom>
          <a:noFill/>
        </p:spPr>
        <p:txBody>
          <a:bodyPr wrap="square">
            <a:spAutoFit/>
          </a:bodyPr>
          <a:lstStyle/>
          <a:p>
            <a:pPr>
              <a:spcAft>
                <a:spcPts val="300"/>
              </a:spcAft>
            </a:pPr>
            <a:r>
              <a:rPr sz="1600" b="1" i="0">
                <a:solidFill>
                  <a:srgbClr val="1A1A1A"/>
                </a:solidFill>
                <a:latin typeface="Arial"/>
              </a:rPr>
              <a:t>Response time</a:t>
            </a:r>
          </a:p>
          <a:p>
            <a:pPr>
              <a:spcAft>
                <a:spcPts val="300"/>
              </a:spcAft>
            </a:pPr>
            <a:r>
              <a:rPr sz="1400" b="0" i="0">
                <a:solidFill>
                  <a:srgbClr val="595959"/>
                </a:solidFill>
                <a:latin typeface="Arial"/>
              </a:rPr>
              <a:t>4 business hours; 1 hour for a P1 incident</a:t>
            </a:r>
          </a:p>
        </p:txBody>
      </p:sp>
      <p:sp>
        <p:nvSpPr>
          <p:cNvPr id="8" name="Rectangle 7"/>
          <p:cNvSpPr/>
          <p:nvPr/>
        </p:nvSpPr>
        <p:spPr>
          <a:xfrm>
            <a:off x="621792" y="29763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017520"/>
            <a:ext cx="10984687" cy="777240"/>
          </a:xfrm>
          <a:prstGeom prst="rect">
            <a:avLst/>
          </a:prstGeom>
          <a:noFill/>
        </p:spPr>
        <p:txBody>
          <a:bodyPr wrap="square">
            <a:spAutoFit/>
          </a:bodyPr>
          <a:lstStyle/>
          <a:p>
            <a:pPr>
              <a:spcAft>
                <a:spcPts val="300"/>
              </a:spcAft>
            </a:pPr>
            <a:r>
              <a:rPr sz="1600" b="1" i="0">
                <a:solidFill>
                  <a:srgbClr val="1A1A1A"/>
                </a:solidFill>
                <a:latin typeface="Arial"/>
              </a:rPr>
              <a:t>Support hours</a:t>
            </a:r>
          </a:p>
          <a:p>
            <a:pPr>
              <a:spcAft>
                <a:spcPts val="300"/>
              </a:spcAft>
            </a:pPr>
            <a:r>
              <a:rPr sz="1400" b="0" i="0">
                <a:solidFill>
                  <a:srgbClr val="595959"/>
                </a:solidFill>
                <a:latin typeface="Arial"/>
              </a:rPr>
              <a:t>Mon-Fri 08:00-18:00 ICT</a:t>
            </a:r>
          </a:p>
        </p:txBody>
      </p:sp>
      <p:sp>
        <p:nvSpPr>
          <p:cNvPr id="10" name="Rectangle 9"/>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840480"/>
            <a:ext cx="10984687" cy="777240"/>
          </a:xfrm>
          <a:prstGeom prst="rect">
            <a:avLst/>
          </a:prstGeom>
          <a:noFill/>
        </p:spPr>
        <p:txBody>
          <a:bodyPr wrap="square">
            <a:spAutoFit/>
          </a:bodyPr>
          <a:lstStyle/>
          <a:p>
            <a:pPr>
              <a:spcAft>
                <a:spcPts val="300"/>
              </a:spcAft>
            </a:pPr>
            <a:r>
              <a:rPr sz="1600" b="1" i="0">
                <a:solidFill>
                  <a:srgbClr val="1A1A1A"/>
                </a:solidFill>
                <a:latin typeface="Arial"/>
              </a:rPr>
              <a:t>Incident response</a:t>
            </a:r>
          </a:p>
          <a:p>
            <a:pPr>
              <a:spcAft>
                <a:spcPts val="300"/>
              </a:spcAft>
            </a:pPr>
            <a:r>
              <a:rPr sz="1400" b="0" i="0">
                <a:solidFill>
                  <a:srgbClr val="595959"/>
                </a:solidFill>
                <a:latin typeface="Arial"/>
              </a:rPr>
              <a:t>P1 acknowledged within 1 hour, resolution target 8 hours</a:t>
            </a:r>
          </a:p>
        </p:txBody>
      </p:sp>
      <p:sp>
        <p:nvSpPr>
          <p:cNvPr id="12" name="Rectangle 11"/>
          <p:cNvSpPr/>
          <p:nvPr/>
        </p:nvSpPr>
        <p:spPr>
          <a:xfrm>
            <a:off x="621792" y="46222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4663440"/>
            <a:ext cx="10984687" cy="777240"/>
          </a:xfrm>
          <a:prstGeom prst="rect">
            <a:avLst/>
          </a:prstGeom>
          <a:noFill/>
        </p:spPr>
        <p:txBody>
          <a:bodyPr wrap="square">
            <a:spAutoFit/>
          </a:bodyPr>
          <a:lstStyle/>
          <a:p>
            <a:pPr>
              <a:spcAft>
                <a:spcPts val="300"/>
              </a:spcAft>
            </a:pPr>
            <a:r>
              <a:rPr sz="1600" b="1" i="0">
                <a:solidFill>
                  <a:srgbClr val="1A1A1A"/>
                </a:solidFill>
                <a:latin typeface="Arial"/>
              </a:rPr>
              <a:t>Change notice</a:t>
            </a:r>
          </a:p>
          <a:p>
            <a:pPr>
              <a:spcAft>
                <a:spcPts val="300"/>
              </a:spcAft>
            </a:pPr>
            <a:r>
              <a:rPr sz="1400" b="0" i="0">
                <a:solidFill>
                  <a:srgbClr val="595959"/>
                </a:solidFill>
                <a:latin typeface="Arial"/>
              </a:rPr>
              <a:t>5 business days for a planned change</a:t>
            </a:r>
          </a:p>
        </p:txBody>
      </p:sp>
      <p:sp>
        <p:nvSpPr>
          <p:cNvPr id="14" name="TextBox 13"/>
          <p:cNvSpPr txBox="1"/>
          <p:nvPr/>
        </p:nvSpPr>
        <p:spPr>
          <a:xfrm>
            <a:off x="658368" y="5614416"/>
            <a:ext cx="10881360" cy="420624"/>
          </a:xfrm>
          <a:prstGeom prst="rect">
            <a:avLst/>
          </a:prstGeom>
          <a:noFill/>
        </p:spPr>
        <p:txBody>
          <a:bodyPr wrap="square">
            <a:spAutoFit/>
          </a:bodyPr>
          <a:lstStyle/>
          <a:p>
            <a:r>
              <a:rPr sz="1550" b="1" i="0">
                <a:solidFill>
                  <a:srgbClr val="006E96"/>
                </a:solidFill>
                <a:latin typeface="Arial"/>
              </a:rPr>
              <a:t>Five terms, one record per published service.</a:t>
            </a:r>
          </a:p>
        </p:txBody>
      </p:sp>
      <p:sp>
        <p:nvSpPr>
          <p:cNvPr id="15" name="TextBox 14"/>
          <p:cNvSpPr txBox="1"/>
          <p:nvPr/>
        </p:nvSpPr>
        <p:spPr>
          <a:xfrm>
            <a:off x="658368" y="6025896"/>
            <a:ext cx="10881360" cy="274320"/>
          </a:xfrm>
          <a:prstGeom prst="rect">
            <a:avLst/>
          </a:prstGeom>
          <a:noFill/>
        </p:spPr>
        <p:txBody>
          <a:bodyPr wrap="square">
            <a:spAutoFit/>
          </a:bodyPr>
          <a:lstStyle/>
          <a:p>
            <a:r>
              <a:rPr sz="900" b="0" i="0">
                <a:solidFill>
                  <a:srgbClr val="595959"/>
                </a:solidFill>
                <a:latin typeface="Arial"/>
              </a:rPr>
              <a:t>captured from the demonstration federation · X-Road 7.7.0 · pack a28b74c · 2026-09-30</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Make 'connected' mean 'dependable' — the SLA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SLA is the numbers that make a connection dependable — agreed with the provider, signed, and reused for every service.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Service-Level Agreement template.</a:t>
            </a:r>
          </a:p>
          <a:p>
            <a:pPr algn="l">
              <a:spcAft>
                <a:spcPts val="400"/>
              </a:spcAft>
            </a:pPr>
            <a:r>
              <a:rPr sz="1800" b="0" i="0">
                <a:solidFill>
                  <a:srgbClr val="595959"/>
                </a:solidFill>
                <a:latin typeface="Arial"/>
              </a:rPr>
              <a:t>The prompt in the companion material gives you an SLA template with pilot and production targets per service.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Make 'connected' mean 'dependable' — the SLA</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NIIS X-Road service-level guidance (niis.org)</a:t>
            </a:r>
          </a:p>
          <a:p>
            <a:pPr>
              <a:spcAft>
                <a:spcPts val="1200"/>
              </a:spcAft>
            </a:pPr>
            <a:r>
              <a:rPr sz="1700" b="0" i="0">
                <a:solidFill>
                  <a:srgbClr val="1A1A1A"/>
                </a:solidFill>
                <a:latin typeface="Arial"/>
              </a:rPr>
              <a:t>•  The member obligations — Module 3</a:t>
            </a:r>
          </a:p>
          <a:p>
            <a:pPr>
              <a:spcAft>
                <a:spcPts val="1200"/>
              </a:spcAft>
            </a:pPr>
            <a:r>
              <a:rPr sz="1700" b="0" i="0">
                <a:solidFill>
                  <a:srgbClr val="1A1A1A"/>
                </a:solidFill>
                <a:latin typeface="Arial"/>
              </a:rPr>
              <a:t>•  EU European Interoperability Framework (EIF)</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Make 'connected' mean 'dependable' — the SLA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5 · VIDEO 5.4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Admit a member to the bus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agency is admitted by a validated request and a recorded committee decision — then the join runs itself and proves itself with a real call.</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 and a recorded demonstration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Everything so far was preparation. This step admits an agency.</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agency applies, a validator checks it, the operator admits it by citing a decision.</a:t>
            </a:r>
          </a:p>
          <a:p>
            <a:pPr>
              <a:spcAft>
                <a:spcPts val="800"/>
              </a:spcAft>
            </a:pPr>
            <a:r>
              <a:rPr sz="1700" b="0" i="0">
                <a:solidFill>
                  <a:srgbClr val="595959"/>
                </a:solidFill>
                <a:latin typeface="Arial"/>
              </a:rPr>
              <a:t>Then the join runs itself — and proves itself with a real call.</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Admit a member to the bus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Admission produces two configuration artefacts</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SUBSYSTEM — WHO IT IS</a:t>
            </a:r>
          </a:p>
          <a:p>
            <a:pPr>
              <a:spcAft>
                <a:spcPts val="700"/>
              </a:spcAft>
            </a:pPr>
            <a:r>
              <a:rPr sz="1600" b="0" i="0">
                <a:solidFill>
                  <a:srgbClr val="1A1A1A"/>
                </a:solidFill>
                <a:latin typeface="Arial"/>
              </a:rPr>
              <a:t>The member's registered identity on the bus.</a:t>
            </a:r>
          </a:p>
          <a:p>
            <a:pPr>
              <a:spcAft>
                <a:spcPts val="700"/>
              </a:spcAft>
            </a:pPr>
            <a:r>
              <a:rPr sz="1600" b="0" i="0">
                <a:solidFill>
                  <a:srgbClr val="1A1A1A"/>
                </a:solidFill>
                <a:latin typeface="Arial"/>
              </a:rPr>
              <a:t>Member class, member code, subsystem code — what the bus routes a call by.</a:t>
            </a:r>
          </a:p>
        </p:txBody>
      </p:sp>
      <p:sp>
        <p:nvSpPr>
          <p:cNvPr id="6" name="Rounded Rectangle 5"/>
          <p:cNvSpPr/>
          <p:nvPr/>
        </p:nvSpPr>
        <p:spPr>
          <a:xfrm>
            <a:off x="6263640"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ACCESS-CONTROL LIST — WHO MAY CALL IT</a:t>
            </a:r>
          </a:p>
          <a:p>
            <a:pPr>
              <a:spcAft>
                <a:spcPts val="700"/>
              </a:spcAft>
            </a:pPr>
            <a:r>
              <a:rPr sz="1600" b="0" i="0">
                <a:solidFill>
                  <a:srgbClr val="1A1A1A"/>
                </a:solidFill>
                <a:latin typeface="Arial"/>
              </a:rPr>
              <a:t>Which other members may call its services.</a:t>
            </a:r>
          </a:p>
          <a:p>
            <a:pPr>
              <a:spcAft>
                <a:spcPts val="700"/>
              </a:spcAft>
            </a:pPr>
            <a:r>
              <a:rPr sz="1600" b="0" i="0">
                <a:solidFill>
                  <a:srgbClr val="1A1A1A"/>
                </a:solidFill>
                <a:latin typeface="Arial"/>
              </a:rPr>
              <a:t>Granted deliberately, service by service.</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Being on the bus does not mean everyone may call everything.</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Admit a member to the bus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pattern for every member, wrapped in a repeatable process</a:t>
            </a:r>
          </a:p>
        </p:txBody>
      </p:sp>
      <p:cxnSp>
        <p:nvCxnSpPr>
          <p:cNvPr id="4" name="Connector 3"/>
          <p:cNvCxnSpPr/>
          <p:nvPr/>
        </p:nvCxnSpPr>
        <p:spPr>
          <a:xfrm>
            <a:off x="223266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99560" y="3063240"/>
            <a:ext cx="265175"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96646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7833359"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970026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58368" y="1645920"/>
            <a:ext cx="154686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050" b="1" i="0">
                <a:solidFill>
                  <a:srgbClr val="006E96"/>
                </a:solidFill>
                <a:latin typeface="Arial"/>
              </a:rPr>
              <a:t>REQUIREMENTS</a:t>
            </a:r>
          </a:p>
          <a:p>
            <a:pPr algn="l">
              <a:spcAft>
                <a:spcPts val="300"/>
              </a:spcAft>
            </a:pPr>
            <a:r>
              <a:rPr sz="1500" b="0" i="0">
                <a:solidFill>
                  <a:srgbClr val="1A1A1A"/>
                </a:solidFill>
                <a:latin typeface="Arial"/>
              </a:rPr>
              <a:t>Is the agency ready?</a:t>
            </a:r>
          </a:p>
        </p:txBody>
      </p:sp>
      <p:sp>
        <p:nvSpPr>
          <p:cNvPr id="10" name="TextBox 9"/>
          <p:cNvSpPr txBox="1"/>
          <p:nvPr/>
        </p:nvSpPr>
        <p:spPr>
          <a:xfrm>
            <a:off x="658368" y="4572000"/>
            <a:ext cx="1546860" cy="365760"/>
          </a:xfrm>
          <a:prstGeom prst="rect">
            <a:avLst/>
          </a:prstGeom>
          <a:noFill/>
        </p:spPr>
        <p:txBody>
          <a:bodyPr wrap="square" lIns="36576" rIns="36576" tIns="0" bIns="0" anchor="ctr">
            <a:spAutoFit/>
          </a:bodyPr>
          <a:lstStyle/>
          <a:p>
            <a:pPr algn="ctr"/>
            <a:r>
              <a:rPr sz="1300" b="1" i="0">
                <a:solidFill>
                  <a:srgbClr val="006E96"/>
                </a:solidFill>
                <a:latin typeface="Arial"/>
              </a:rPr>
              <a:t>video 5.2</a:t>
            </a:r>
          </a:p>
        </p:txBody>
      </p:sp>
      <p:sp>
        <p:nvSpPr>
          <p:cNvPr id="11" name="Rounded Rectangle 10"/>
          <p:cNvSpPr/>
          <p:nvPr/>
        </p:nvSpPr>
        <p:spPr>
          <a:xfrm>
            <a:off x="2525268" y="1645920"/>
            <a:ext cx="154686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050" b="1" i="0">
                <a:solidFill>
                  <a:srgbClr val="006E96"/>
                </a:solidFill>
                <a:latin typeface="Arial"/>
              </a:rPr>
              <a:t>APPROVAL</a:t>
            </a:r>
          </a:p>
          <a:p>
            <a:pPr algn="l">
              <a:spcAft>
                <a:spcPts val="300"/>
              </a:spcAft>
            </a:pPr>
            <a:r>
              <a:rPr sz="1500" b="0" i="0">
                <a:solidFill>
                  <a:srgbClr val="1A1A1A"/>
                </a:solidFill>
                <a:latin typeface="Arial"/>
              </a:rPr>
              <a:t>The RACI names who approves</a:t>
            </a:r>
          </a:p>
        </p:txBody>
      </p:sp>
      <p:sp>
        <p:nvSpPr>
          <p:cNvPr id="12" name="TextBox 11"/>
          <p:cNvSpPr txBox="1"/>
          <p:nvPr/>
        </p:nvSpPr>
        <p:spPr>
          <a:xfrm>
            <a:off x="2525268" y="4572000"/>
            <a:ext cx="1546860" cy="365760"/>
          </a:xfrm>
          <a:prstGeom prst="rect">
            <a:avLst/>
          </a:prstGeom>
          <a:noFill/>
        </p:spPr>
        <p:txBody>
          <a:bodyPr wrap="square" lIns="36576" rIns="36576" tIns="0" bIns="0" anchor="ctr">
            <a:spAutoFit/>
          </a:bodyPr>
          <a:lstStyle/>
          <a:p>
            <a:pPr algn="ctr"/>
            <a:r>
              <a:rPr sz="1300" b="1" i="0">
                <a:solidFill>
                  <a:srgbClr val="006E96"/>
                </a:solidFill>
                <a:latin typeface="Arial"/>
              </a:rPr>
              <a:t>Module 3</a:t>
            </a:r>
          </a:p>
        </p:txBody>
      </p:sp>
      <p:sp>
        <p:nvSpPr>
          <p:cNvPr id="13" name="Rounded Rectangle 12"/>
          <p:cNvSpPr/>
          <p:nvPr/>
        </p:nvSpPr>
        <p:spPr>
          <a:xfrm>
            <a:off x="4392167" y="1645920"/>
            <a:ext cx="1546860" cy="283464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050" b="1" i="0">
                <a:solidFill>
                  <a:srgbClr val="FFFFFF"/>
                </a:solidFill>
                <a:latin typeface="Arial"/>
              </a:rPr>
              <a:t>ADMISSION</a:t>
            </a:r>
          </a:p>
          <a:p>
            <a:pPr algn="l">
              <a:spcAft>
                <a:spcPts val="300"/>
              </a:spcAft>
            </a:pPr>
            <a:r>
              <a:rPr sz="1500" b="0" i="0">
                <a:solidFill>
                  <a:srgbClr val="FFFFFF"/>
                </a:solidFill>
                <a:latin typeface="Arial"/>
              </a:rPr>
              <a:t>The decision, recorded</a:t>
            </a:r>
          </a:p>
        </p:txBody>
      </p:sp>
      <p:sp>
        <p:nvSpPr>
          <p:cNvPr id="14" name="TextBox 13"/>
          <p:cNvSpPr txBox="1"/>
          <p:nvPr/>
        </p:nvSpPr>
        <p:spPr>
          <a:xfrm>
            <a:off x="4392167" y="4572000"/>
            <a:ext cx="1546860" cy="365760"/>
          </a:xfrm>
          <a:prstGeom prst="rect">
            <a:avLst/>
          </a:prstGeom>
          <a:noFill/>
        </p:spPr>
        <p:txBody>
          <a:bodyPr wrap="square" lIns="36576" rIns="36576" tIns="0" bIns="0" anchor="ctr">
            <a:spAutoFit/>
          </a:bodyPr>
          <a:lstStyle/>
          <a:p>
            <a:pPr algn="ctr"/>
            <a:r>
              <a:rPr sz="1300" b="1" i="0">
                <a:solidFill>
                  <a:srgbClr val="006E96"/>
                </a:solidFill>
                <a:latin typeface="Arial"/>
              </a:rPr>
              <a:t>video 5.4</a:t>
            </a:r>
          </a:p>
        </p:txBody>
      </p:sp>
      <p:sp>
        <p:nvSpPr>
          <p:cNvPr id="15" name="Rounded Rectangle 14"/>
          <p:cNvSpPr/>
          <p:nvPr/>
        </p:nvSpPr>
        <p:spPr>
          <a:xfrm>
            <a:off x="6259068" y="1645920"/>
            <a:ext cx="154686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050" b="1" i="0">
                <a:solidFill>
                  <a:srgbClr val="006E96"/>
                </a:solidFill>
                <a:latin typeface="Arial"/>
              </a:rPr>
              <a:t>REGISTRATION</a:t>
            </a:r>
          </a:p>
          <a:p>
            <a:pPr algn="l">
              <a:spcAft>
                <a:spcPts val="300"/>
              </a:spcAft>
            </a:pPr>
            <a:r>
              <a:rPr sz="1500" b="0" i="0">
                <a:solidFill>
                  <a:srgbClr val="1A1A1A"/>
                </a:solidFill>
                <a:latin typeface="Arial"/>
              </a:rPr>
              <a:t>The configuration, written</a:t>
            </a:r>
          </a:p>
        </p:txBody>
      </p:sp>
      <p:sp>
        <p:nvSpPr>
          <p:cNvPr id="16" name="TextBox 15"/>
          <p:cNvSpPr txBox="1"/>
          <p:nvPr/>
        </p:nvSpPr>
        <p:spPr>
          <a:xfrm>
            <a:off x="6259068" y="4572000"/>
            <a:ext cx="1546860" cy="365760"/>
          </a:xfrm>
          <a:prstGeom prst="rect">
            <a:avLst/>
          </a:prstGeom>
          <a:noFill/>
        </p:spPr>
        <p:txBody>
          <a:bodyPr wrap="square" lIns="36576" rIns="36576" tIns="0" bIns="0" anchor="ctr">
            <a:spAutoFit/>
          </a:bodyPr>
          <a:lstStyle/>
          <a:p>
            <a:pPr algn="ctr"/>
            <a:r>
              <a:rPr sz="1300" b="1" i="0">
                <a:solidFill>
                  <a:srgbClr val="006E96"/>
                </a:solidFill>
                <a:latin typeface="Arial"/>
              </a:rPr>
              <a:t>video 5.4</a:t>
            </a:r>
          </a:p>
        </p:txBody>
      </p:sp>
      <p:sp>
        <p:nvSpPr>
          <p:cNvPr id="17" name="Rounded Rectangle 16"/>
          <p:cNvSpPr/>
          <p:nvPr/>
        </p:nvSpPr>
        <p:spPr>
          <a:xfrm>
            <a:off x="8125968" y="1645920"/>
            <a:ext cx="154686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050" b="1" i="0">
                <a:solidFill>
                  <a:srgbClr val="006E96"/>
                </a:solidFill>
                <a:latin typeface="Arial"/>
              </a:rPr>
              <a:t>CONFORMANCE</a:t>
            </a:r>
          </a:p>
          <a:p>
            <a:pPr algn="l">
              <a:spcAft>
                <a:spcPts val="300"/>
              </a:spcAft>
            </a:pPr>
            <a:r>
              <a:rPr sz="1500" b="0" i="0">
                <a:solidFill>
                  <a:srgbClr val="1A1A1A"/>
                </a:solidFill>
                <a:latin typeface="Arial"/>
              </a:rPr>
              <a:t>The gate before going live</a:t>
            </a:r>
          </a:p>
        </p:txBody>
      </p:sp>
      <p:sp>
        <p:nvSpPr>
          <p:cNvPr id="18" name="TextBox 17"/>
          <p:cNvSpPr txBox="1"/>
          <p:nvPr/>
        </p:nvSpPr>
        <p:spPr>
          <a:xfrm>
            <a:off x="8125968" y="4572000"/>
            <a:ext cx="1546860" cy="365760"/>
          </a:xfrm>
          <a:prstGeom prst="rect">
            <a:avLst/>
          </a:prstGeom>
          <a:noFill/>
        </p:spPr>
        <p:txBody>
          <a:bodyPr wrap="square" lIns="36576" rIns="36576" tIns="0" bIns="0" anchor="ctr">
            <a:spAutoFit/>
          </a:bodyPr>
          <a:lstStyle/>
          <a:p>
            <a:pPr algn="ctr"/>
            <a:r>
              <a:rPr sz="1300" b="1" i="0">
                <a:solidFill>
                  <a:srgbClr val="006E96"/>
                </a:solidFill>
                <a:latin typeface="Arial"/>
              </a:rPr>
              <a:t>video 5.4</a:t>
            </a:r>
          </a:p>
        </p:txBody>
      </p:sp>
      <p:sp>
        <p:nvSpPr>
          <p:cNvPr id="19" name="Rounded Rectangle 18"/>
          <p:cNvSpPr/>
          <p:nvPr/>
        </p:nvSpPr>
        <p:spPr>
          <a:xfrm>
            <a:off x="9992868" y="1645920"/>
            <a:ext cx="154686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050" b="1" i="0">
                <a:solidFill>
                  <a:srgbClr val="006E96"/>
                </a:solidFill>
                <a:latin typeface="Arial"/>
              </a:rPr>
              <a:t>FIRST SERVICE</a:t>
            </a:r>
          </a:p>
          <a:p>
            <a:pPr algn="l">
              <a:spcAft>
                <a:spcPts val="300"/>
              </a:spcAft>
            </a:pPr>
            <a:r>
              <a:rPr sz="1500" b="0" i="0">
                <a:solidFill>
                  <a:srgbClr val="1A1A1A"/>
                </a:solidFill>
                <a:latin typeface="Arial"/>
              </a:rPr>
              <a:t>Live</a:t>
            </a:r>
          </a:p>
        </p:txBody>
      </p:sp>
      <p:sp>
        <p:nvSpPr>
          <p:cNvPr id="20" name="TextBox 19"/>
          <p:cNvSpPr txBox="1"/>
          <p:nvPr/>
        </p:nvSpPr>
        <p:spPr>
          <a:xfrm>
            <a:off x="658368" y="5074920"/>
            <a:ext cx="10881360" cy="548640"/>
          </a:xfrm>
          <a:prstGeom prst="rect">
            <a:avLst/>
          </a:prstGeom>
          <a:noFill/>
        </p:spPr>
        <p:txBody>
          <a:bodyPr wrap="square">
            <a:spAutoFit/>
          </a:bodyPr>
          <a:lstStyle/>
          <a:p>
            <a:r>
              <a:rPr sz="1550" b="1" i="0">
                <a:solidFill>
                  <a:srgbClr val="006E96"/>
                </a:solidFill>
                <a:latin typeface="Arial"/>
              </a:rPr>
              <a:t>The twentieth agency is admitted as cleanly as the second.</a:t>
            </a:r>
          </a:p>
        </p:txBody>
      </p:sp>
      <p:sp>
        <p:nvSpPr>
          <p:cNvPr id="21" name="TextBox 2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Admit a member to the bus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First: a member code with a space is refused</a:t>
            </a:r>
          </a:p>
        </p:txBody>
      </p:sp>
      <p:pic>
        <p:nvPicPr>
          <p:cNvPr id="4" name="kp-demo-evidence" descr="J0-refused.png"/>
          <p:cNvPicPr>
            <a:picLocks noChangeAspect="1"/>
          </p:cNvPicPr>
          <p:nvPr/>
        </p:nvPicPr>
        <p:blipFill>
          <a:blip r:embed="rId2"/>
          <a:stretch>
            <a:fillRect/>
          </a:stretch>
        </p:blipFill>
        <p:spPr>
          <a:xfrm>
            <a:off x="475488" y="2714025"/>
            <a:ext cx="11247120" cy="1201349"/>
          </a:xfrm>
          <a:prstGeom prst="rect">
            <a:avLst/>
          </a:prstGeom>
          <a:ln w="12700">
            <a:solidFill>
              <a:srgbClr val="DDECF4"/>
            </a:solidFill>
          </a:ln>
        </p:spPr>
      </p:pic>
      <p:sp>
        <p:nvSpPr>
          <p:cNvPr id="5" name="TextBox 4"/>
          <p:cNvSpPr txBox="1"/>
          <p:nvPr/>
        </p:nvSpPr>
        <p:spPr>
          <a:xfrm>
            <a:off x="658368" y="5614416"/>
            <a:ext cx="10881360" cy="420624"/>
          </a:xfrm>
          <a:prstGeom prst="rect">
            <a:avLst/>
          </a:prstGeom>
          <a:noFill/>
        </p:spPr>
        <p:txBody>
          <a:bodyPr wrap="square">
            <a:spAutoFit/>
          </a:bodyPr>
          <a:lstStyle/>
          <a:p>
            <a:r>
              <a:rPr sz="1550" b="1" i="0">
                <a:solidFill>
                  <a:srgbClr val="006E96"/>
                </a:solidFill>
                <a:latin typeface="Arial"/>
              </a:rPr>
              <a:t>A member code with a space: refused before anything reaches the bus.</a:t>
            </a:r>
          </a:p>
        </p:txBody>
      </p:sp>
      <p:sp>
        <p:nvSpPr>
          <p:cNvPr id="6" name="TextBox 5"/>
          <p:cNvSpPr txBox="1"/>
          <p:nvPr/>
        </p:nvSpPr>
        <p:spPr>
          <a:xfrm>
            <a:off x="658368" y="6025896"/>
            <a:ext cx="10881360" cy="274320"/>
          </a:xfrm>
          <a:prstGeom prst="rect">
            <a:avLst/>
          </a:prstGeom>
          <a:noFill/>
        </p:spPr>
        <p:txBody>
          <a:bodyPr wrap="square">
            <a:spAutoFit/>
          </a:bodyPr>
          <a:lstStyle/>
          <a:p>
            <a:r>
              <a:rPr sz="900" b="0" i="0">
                <a:solidFill>
                  <a:srgbClr val="595959"/>
                </a:solidFill>
                <a:latin typeface="Arial"/>
              </a:rPr>
              <a:t>captured from the demonstration federation · X-Road 7.7.0 · pack a28b74c · 2026-09-30</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Admit a member to the bus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Second: the request, and the diff it would write</a:t>
            </a:r>
          </a:p>
        </p:txBody>
      </p:sp>
      <p:pic>
        <p:nvPicPr>
          <p:cNvPr id="4" name="kp-demo-evidence" descr="J1-submitted.png"/>
          <p:cNvPicPr>
            <a:picLocks noChangeAspect="1"/>
          </p:cNvPicPr>
          <p:nvPr/>
        </p:nvPicPr>
        <p:blipFill>
          <a:blip r:embed="rId2"/>
          <a:stretch>
            <a:fillRect/>
          </a:stretch>
        </p:blipFill>
        <p:spPr>
          <a:xfrm>
            <a:off x="475488" y="1315902"/>
            <a:ext cx="11247120" cy="3997595"/>
          </a:xfrm>
          <a:prstGeom prst="rect">
            <a:avLst/>
          </a:prstGeom>
          <a:ln w="12700">
            <a:solidFill>
              <a:srgbClr val="DDECF4"/>
            </a:solidFill>
          </a:ln>
        </p:spPr>
      </p:pic>
      <p:sp>
        <p:nvSpPr>
          <p:cNvPr id="5" name="TextBox 4"/>
          <p:cNvSpPr txBox="1"/>
          <p:nvPr/>
        </p:nvSpPr>
        <p:spPr>
          <a:xfrm>
            <a:off x="658368" y="5614416"/>
            <a:ext cx="10881360" cy="420624"/>
          </a:xfrm>
          <a:prstGeom prst="rect">
            <a:avLst/>
          </a:prstGeom>
          <a:noFill/>
        </p:spPr>
        <p:txBody>
          <a:bodyPr wrap="square">
            <a:spAutoFit/>
          </a:bodyPr>
          <a:lstStyle/>
          <a:p>
            <a:r>
              <a:rPr sz="1550" b="1" i="0">
                <a:solidFill>
                  <a:srgbClr val="006E96"/>
                </a:solidFill>
                <a:latin typeface="Arial"/>
              </a:rPr>
              <a:t>The request and the exact diff it would write — nothing written yet.</a:t>
            </a:r>
          </a:p>
        </p:txBody>
      </p:sp>
      <p:sp>
        <p:nvSpPr>
          <p:cNvPr id="6" name="TextBox 5"/>
          <p:cNvSpPr txBox="1"/>
          <p:nvPr/>
        </p:nvSpPr>
        <p:spPr>
          <a:xfrm>
            <a:off x="658368" y="6025896"/>
            <a:ext cx="10881360" cy="274320"/>
          </a:xfrm>
          <a:prstGeom prst="rect">
            <a:avLst/>
          </a:prstGeom>
          <a:noFill/>
        </p:spPr>
        <p:txBody>
          <a:bodyPr wrap="square">
            <a:spAutoFit/>
          </a:bodyPr>
          <a:lstStyle/>
          <a:p>
            <a:r>
              <a:rPr sz="900" b="0" i="0">
                <a:solidFill>
                  <a:srgbClr val="595959"/>
                </a:solidFill>
                <a:latin typeface="Arial"/>
              </a:rPr>
              <a:t>captured from the demonstration federation · X-Road 7.7.0 · pack a28b74c · 2026-09-30</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Admit a member to the bus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Third: approve without a minute — refused</a:t>
            </a:r>
          </a:p>
        </p:txBody>
      </p:sp>
      <p:pic>
        <p:nvPicPr>
          <p:cNvPr id="4" name="kp-demo-evidence" descr="J2-no-minute.png"/>
          <p:cNvPicPr>
            <a:picLocks noChangeAspect="1"/>
          </p:cNvPicPr>
          <p:nvPr/>
        </p:nvPicPr>
        <p:blipFill>
          <a:blip r:embed="rId2"/>
          <a:stretch>
            <a:fillRect/>
          </a:stretch>
        </p:blipFill>
        <p:spPr>
          <a:xfrm>
            <a:off x="475488" y="1122581"/>
            <a:ext cx="11247120" cy="4384236"/>
          </a:xfrm>
          <a:prstGeom prst="rect">
            <a:avLst/>
          </a:prstGeom>
          <a:ln w="12700">
            <a:solidFill>
              <a:srgbClr val="DDECF4"/>
            </a:solidFill>
          </a:ln>
        </p:spPr>
      </p:pic>
      <p:sp>
        <p:nvSpPr>
          <p:cNvPr id="5" name="TextBox 4"/>
          <p:cNvSpPr txBox="1"/>
          <p:nvPr/>
        </p:nvSpPr>
        <p:spPr>
          <a:xfrm>
            <a:off x="658368" y="5614416"/>
            <a:ext cx="10881360" cy="420624"/>
          </a:xfrm>
          <a:prstGeom prst="rect">
            <a:avLst/>
          </a:prstGeom>
          <a:noFill/>
        </p:spPr>
        <p:txBody>
          <a:bodyPr wrap="square">
            <a:spAutoFit/>
          </a:bodyPr>
          <a:lstStyle/>
          <a:p>
            <a:r>
              <a:rPr sz="1550" b="1" i="0">
                <a:solidFill>
                  <a:srgbClr val="006E96"/>
                </a:solidFill>
                <a:latin typeface="Arial"/>
              </a:rPr>
              <a:t>Approve without a minute reference: refused. Admission is a committee decision.</a:t>
            </a:r>
          </a:p>
        </p:txBody>
      </p:sp>
      <p:sp>
        <p:nvSpPr>
          <p:cNvPr id="6" name="TextBox 5"/>
          <p:cNvSpPr txBox="1"/>
          <p:nvPr/>
        </p:nvSpPr>
        <p:spPr>
          <a:xfrm>
            <a:off x="658368" y="6025896"/>
            <a:ext cx="10881360" cy="274320"/>
          </a:xfrm>
          <a:prstGeom prst="rect">
            <a:avLst/>
          </a:prstGeom>
          <a:noFill/>
        </p:spPr>
        <p:txBody>
          <a:bodyPr wrap="square">
            <a:spAutoFit/>
          </a:bodyPr>
          <a:lstStyle/>
          <a:p>
            <a:r>
              <a:rPr sz="900" b="0" i="0">
                <a:solidFill>
                  <a:srgbClr val="595959"/>
                </a:solidFill>
                <a:latin typeface="Arial"/>
              </a:rPr>
              <a:t>captured from the demonstration federation · X-Road 7.7.0 · pack a28b74c · 2026-09-30</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Admit a member to the bus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Fourth: the join runs itself, then proves the backend answers</a:t>
            </a:r>
          </a:p>
        </p:txBody>
      </p:sp>
      <p:pic>
        <p:nvPicPr>
          <p:cNvPr id="4" name="kp-demo-evidence" descr="J3-join.png"/>
          <p:cNvPicPr>
            <a:picLocks noChangeAspect="1"/>
          </p:cNvPicPr>
          <p:nvPr/>
        </p:nvPicPr>
        <p:blipFill>
          <a:blip r:embed="rId2"/>
          <a:stretch>
            <a:fillRect/>
          </a:stretch>
        </p:blipFill>
        <p:spPr>
          <a:xfrm>
            <a:off x="1266969" y="1097280"/>
            <a:ext cx="9664156" cy="4434840"/>
          </a:xfrm>
          <a:prstGeom prst="rect">
            <a:avLst/>
          </a:prstGeom>
          <a:ln w="12700">
            <a:solidFill>
              <a:srgbClr val="DDECF4"/>
            </a:solidFill>
          </a:ln>
        </p:spPr>
      </p:pic>
      <p:sp>
        <p:nvSpPr>
          <p:cNvPr id="5" name="TextBox 4"/>
          <p:cNvSpPr txBox="1"/>
          <p:nvPr/>
        </p:nvSpPr>
        <p:spPr>
          <a:xfrm>
            <a:off x="658368" y="5614416"/>
            <a:ext cx="10881360" cy="420624"/>
          </a:xfrm>
          <a:prstGeom prst="rect">
            <a:avLst/>
          </a:prstGeom>
          <a:noFill/>
        </p:spPr>
        <p:txBody>
          <a:bodyPr wrap="square">
            <a:spAutoFit/>
          </a:bodyPr>
          <a:lstStyle/>
          <a:p>
            <a:r>
              <a:rPr sz="1550" b="1" i="0">
                <a:solidFill>
                  <a:srgbClr val="006E96"/>
                </a:solidFill>
                <a:latin typeface="Arial"/>
              </a:rPr>
              <a:t>Minute RIHA-2026-001 recorded: the steps run themselves, then a real call proves the backend answers.</a:t>
            </a:r>
          </a:p>
        </p:txBody>
      </p:sp>
      <p:sp>
        <p:nvSpPr>
          <p:cNvPr id="6" name="TextBox 5"/>
          <p:cNvSpPr txBox="1"/>
          <p:nvPr/>
        </p:nvSpPr>
        <p:spPr>
          <a:xfrm>
            <a:off x="658368" y="6025896"/>
            <a:ext cx="10881360" cy="274320"/>
          </a:xfrm>
          <a:prstGeom prst="rect">
            <a:avLst/>
          </a:prstGeom>
          <a:noFill/>
        </p:spPr>
        <p:txBody>
          <a:bodyPr wrap="square">
            <a:spAutoFit/>
          </a:bodyPr>
          <a:lstStyle/>
          <a:p>
            <a:r>
              <a:rPr sz="900" b="0" i="0">
                <a:solidFill>
                  <a:srgbClr val="595959"/>
                </a:solidFill>
                <a:latin typeface="Arial"/>
              </a:rPr>
              <a:t>captured from the demonstration federation · X-Road 7.7.0 · pack a28b74c · 2026-09-30</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Admit a member to the bus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Fifth: the admission record</a:t>
            </a:r>
          </a:p>
        </p:txBody>
      </p:sp>
      <p:sp>
        <p:nvSpPr>
          <p:cNvPr id="4" name="kp-demo-evidence"/>
          <p:cNvSpPr/>
          <p:nvPr/>
        </p:nvSpPr>
        <p:spPr>
          <a:xfrm>
            <a:off x="658368" y="1280160"/>
            <a:ext cx="10881360" cy="4224528"/>
          </a:xfrm>
          <a:prstGeom prst="roundRect">
            <a:avLst>
              <a:gd name="adj" fmla="val 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389888"/>
            <a:ext cx="10469880" cy="3977639"/>
          </a:xfrm>
          <a:prstGeom prst="rect">
            <a:avLst/>
          </a:prstGeom>
          <a:noFill/>
        </p:spPr>
        <p:txBody>
          <a:bodyPr wrap="none">
            <a:spAutoFit/>
          </a:bodyPr>
          <a:lstStyle/>
          <a:p>
            <a:r>
              <a:rPr sz="1200" b="0" i="0">
                <a:solidFill>
                  <a:srgbClr val="1A1A1A"/>
                </a:solidFill>
                <a:latin typeface="Courier New"/>
              </a:rPr>
              <a:t>$ cat onboarding/ptsb/01-admission.md</a:t>
            </a:r>
          </a:p>
          <a:p>
            <a:r>
              <a:rPr sz="1200" b="0" i="0">
                <a:solidFill>
                  <a:srgbClr val="1A1A1A"/>
                </a:solidFill>
                <a:latin typeface="Courier New"/>
              </a:rPr>
              <a:t># Admission -- G1</a:t>
            </a:r>
          </a:p>
          <a:p>
            <a:r>
              <a:rPr sz="1200" b="0" i="0">
                <a:solidFill>
                  <a:srgbClr val="1A1A1A"/>
                </a:solidFill>
                <a:latin typeface="Courier New"/>
              </a:rPr>
              <a:t/>
            </a:r>
          </a:p>
          <a:p>
            <a:r>
              <a:rPr sz="1200" b="0" i="0">
                <a:solidFill>
                  <a:srgbClr val="1A1A1A"/>
                </a:solidFill>
                <a:latin typeface="Courier New"/>
              </a:rPr>
              <a:t>The admission decision itself is taken outside this system (Ref Model §5.3's Steering Committee) -- this f…</a:t>
            </a:r>
          </a:p>
          <a:p>
            <a:r>
              <a:rPr sz="1200" b="0" i="0">
                <a:solidFill>
                  <a:srgbClr val="1A1A1A"/>
                </a:solidFill>
                <a:latin typeface="Courier New"/>
              </a:rPr>
              <a:t/>
            </a:r>
          </a:p>
          <a:p>
            <a:r>
              <a:rPr sz="1200" b="0" i="0">
                <a:solidFill>
                  <a:srgbClr val="1A1A1A"/>
                </a:solidFill>
                <a:latin typeface="Courier New"/>
              </a:rPr>
              <a:t>| Field | Value |</a:t>
            </a:r>
          </a:p>
          <a:p>
            <a:r>
              <a:rPr sz="1200" b="0" i="0">
                <a:solidFill>
                  <a:srgbClr val="1A1A1A"/>
                </a:solidFill>
                <a:latin typeface="Courier New"/>
              </a:rPr>
              <a:t>| --- | --- |</a:t>
            </a:r>
          </a:p>
          <a:p>
            <a:r>
              <a:rPr sz="1200" b="0" i="0">
                <a:solidFill>
                  <a:srgbClr val="1A1A1A"/>
                </a:solidFill>
                <a:latin typeface="Courier New"/>
              </a:rPr>
              <a:t>| Join request id | `2zNu5ioIviU` |</a:t>
            </a:r>
          </a:p>
          <a:p>
            <a:r>
              <a:rPr sz="1200" b="0" i="0">
                <a:solidFill>
                  <a:srgbClr val="1A1A1A"/>
                </a:solidFill>
                <a:latin typeface="Courier New"/>
              </a:rPr>
              <a:t>| Decision reference | RIHA-2026-001 |</a:t>
            </a:r>
          </a:p>
          <a:p>
            <a:r>
              <a:rPr sz="1200" b="0" i="0">
                <a:solidFill>
                  <a:srgbClr val="1A1A1A"/>
                </a:solidFill>
                <a:latin typeface="Courier New"/>
              </a:rPr>
              <a:t>| Approved at | 2026-09-30T18:11:08.786950+00:00 |</a:t>
            </a:r>
          </a:p>
          <a:p>
            <a:r>
              <a:rPr sz="1200" b="0" i="0">
                <a:solidFill>
                  <a:srgbClr val="1A1A1A"/>
                </a:solidFill>
                <a:latin typeface="Courier New"/>
              </a:rPr>
              <a:t>| Approving role | operator |</a:t>
            </a:r>
          </a:p>
        </p:txBody>
      </p:sp>
      <p:sp>
        <p:nvSpPr>
          <p:cNvPr id="6" name="TextBox 5"/>
          <p:cNvSpPr txBox="1"/>
          <p:nvPr/>
        </p:nvSpPr>
        <p:spPr>
          <a:xfrm>
            <a:off x="658368" y="5614416"/>
            <a:ext cx="10881360" cy="420624"/>
          </a:xfrm>
          <a:prstGeom prst="rect">
            <a:avLst/>
          </a:prstGeom>
          <a:noFill/>
        </p:spPr>
        <p:txBody>
          <a:bodyPr wrap="square">
            <a:spAutoFit/>
          </a:bodyPr>
          <a:lstStyle/>
          <a:p>
            <a:r>
              <a:rPr sz="1550" b="1" i="0">
                <a:solidFill>
                  <a:srgbClr val="006E96"/>
                </a:solidFill>
                <a:latin typeface="Arial"/>
              </a:rPr>
              <a:t>The admission record: which decision admitted PTSB, and when.</a:t>
            </a:r>
          </a:p>
        </p:txBody>
      </p:sp>
      <p:sp>
        <p:nvSpPr>
          <p:cNvPr id="7" name="TextBox 6"/>
          <p:cNvSpPr txBox="1"/>
          <p:nvPr/>
        </p:nvSpPr>
        <p:spPr>
          <a:xfrm>
            <a:off x="658368" y="6025896"/>
            <a:ext cx="10881360" cy="274320"/>
          </a:xfrm>
          <a:prstGeom prst="rect">
            <a:avLst/>
          </a:prstGeom>
          <a:noFill/>
        </p:spPr>
        <p:txBody>
          <a:bodyPr wrap="square">
            <a:spAutoFit/>
          </a:bodyPr>
          <a:lstStyle/>
          <a:p>
            <a:r>
              <a:rPr sz="900" b="0" i="0">
                <a:solidFill>
                  <a:srgbClr val="595959"/>
                </a:solidFill>
                <a:latin typeface="Arial"/>
              </a:rPr>
              <a:t>captured from the demonstration federation · X-Road 7.7.0 · pack a28b74c · 2026-09-30</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Admit a member to the bus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Sixth: on the bus, hosted, and proved</a:t>
            </a:r>
          </a:p>
        </p:txBody>
      </p:sp>
      <p:sp>
        <p:nvSpPr>
          <p:cNvPr id="4" name="kp-demo-evidence"/>
          <p:cNvSpPr/>
          <p:nvPr/>
        </p:nvSpPr>
        <p:spPr>
          <a:xfrm>
            <a:off x="658368" y="1280160"/>
            <a:ext cx="10881360" cy="4224528"/>
          </a:xfrm>
          <a:prstGeom prst="roundRect">
            <a:avLst>
              <a:gd name="adj" fmla="val 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389888"/>
            <a:ext cx="10469880" cy="3977639"/>
          </a:xfrm>
          <a:prstGeom prst="rect">
            <a:avLst/>
          </a:prstGeom>
          <a:noFill/>
        </p:spPr>
        <p:txBody>
          <a:bodyPr wrap="none">
            <a:spAutoFit/>
          </a:bodyPr>
          <a:lstStyle/>
          <a:p>
            <a:r>
              <a:rPr sz="1200" b="0" i="0">
                <a:solidFill>
                  <a:srgbClr val="1A1A1A"/>
                </a:solidFill>
                <a:latin typeface="Courier New"/>
              </a:rPr>
              <a:t>$ scripts/member.sh list</a:t>
            </a:r>
          </a:p>
          <a:p>
            <a:r>
              <a:rPr sz="1200" b="0" i="0">
                <a:solidFill>
                  <a:srgbClr val="1A1A1A"/>
                </a:solidFill>
                <a:latin typeface="Courier New"/>
              </a:rPr>
              <a:t>KEY      ORIGIN     SERVER     UI              REST</a:t>
            </a:r>
          </a:p>
          <a:p>
            <a:r>
              <a:rPr sz="1200" b="0" i="0">
                <a:solidFill>
                  <a:srgbClr val="1A1A1A"/>
                </a:solidFill>
                <a:latin typeface="Courier New"/>
              </a:rPr>
              <a:t>plr      canonical  ss-plr     127.0.0.1:3000   127.0.0.1:3080</a:t>
            </a:r>
          </a:p>
          <a:p>
            <a:r>
              <a:rPr sz="1200" b="0" i="0">
                <a:solidFill>
                  <a:srgbClr val="1A1A1A"/>
                </a:solidFill>
                <a:latin typeface="Courier New"/>
              </a:rPr>
              <a:t>pnea     canonical  ss-pnea    127.0.0.1:2000   127.0.0.1:2080</a:t>
            </a:r>
          </a:p>
          <a:p>
            <a:r>
              <a:rPr sz="1200" b="0" i="0">
                <a:solidFill>
                  <a:srgbClr val="1A1A1A"/>
                </a:solidFill>
                <a:latin typeface="Courier New"/>
              </a:rPr>
              <a:t>pnia     canonical  ss-pnia    127.0.0.1:5100   127.0.0.1:5180</a:t>
            </a:r>
          </a:p>
          <a:p>
            <a:r>
              <a:rPr sz="1200" b="0" i="0">
                <a:solidFill>
                  <a:srgbClr val="1A1A1A"/>
                </a:solidFill>
                <a:latin typeface="Courier New"/>
              </a:rPr>
              <a:t>ptsb     joined     ss-plr     127.0.0.1:3000   127.0.0.1:3080</a:t>
            </a:r>
          </a:p>
          <a:p>
            <a:r>
              <a:rPr sz="1200" b="0" i="0">
                <a:solidFill>
                  <a:srgbClr val="1A1A1A"/>
                </a:solidFill>
                <a:latin typeface="Courier New"/>
              </a:rPr>
              <a:t/>
            </a:r>
          </a:p>
          <a:p>
            <a:r>
              <a:rPr sz="1200" b="0" i="0">
                <a:solidFill>
                  <a:srgbClr val="1A1A1A"/>
                </a:solidFill>
                <a:latin typeface="Courier New"/>
              </a:rPr>
              <a:t>$ scripts/acceptance.sh --summary --only 2.7</a:t>
            </a:r>
          </a:p>
          <a:p>
            <a:r>
              <a:rPr sz="1200" b="0" i="0">
                <a:solidFill>
                  <a:srgbClr val="1A1A1A"/>
                </a:solidFill>
                <a:latin typeface="Courier New"/>
              </a:rPr>
              <a:t>2.7.1  PASS  join-api deploys and reports healthy</a:t>
            </a:r>
          </a:p>
          <a:p>
            <a:r>
              <a:rPr sz="1200" b="0" i="0">
                <a:solidFill>
                  <a:srgbClr val="1A1A1A"/>
                </a:solidFill>
                <a:latin typeface="Courier New"/>
              </a:rPr>
              <a:t>2.7.2  PASS  spec-fetcher reachable from join-api, admin :4000 (cs) NOT reachable from spec-fetcher</a:t>
            </a:r>
          </a:p>
          <a:p>
            <a:r>
              <a:rPr sz="1200" b="0" i="0">
                <a:solidFill>
                  <a:srgbClr val="1A1A1A"/>
                </a:solidFill>
                <a:latin typeface="Courier New"/>
              </a:rPr>
              <a:t>2.7.r1(PTSB.awards-api)  PASS  PROGRESSA/GOV/PNEA/EXAMS r1 call to awards-api reaches the backend (no X-Ro…</a:t>
            </a:r>
          </a:p>
          <a:p>
            <a:r>
              <a:rPr sz="1200" b="0" i="0">
                <a:solidFill>
                  <a:srgbClr val="1A1A1A"/>
                </a:solidFill>
                <a:latin typeface="Courier New"/>
              </a:rPr>
              <a:t>2.7.deny(PTSB.awards-api)  PASS  PROGRESSA/GOV/PNIA/IDENTITY (via its own SS ss-pnia) denied by the provid…</a:t>
            </a:r>
          </a:p>
          <a:p>
            <a:r>
              <a:rPr sz="1200" b="0" i="0">
                <a:solidFill>
                  <a:srgbClr val="1A1A1A"/>
                </a:solidFill>
                <a:latin typeface="Courier New"/>
              </a:rPr>
              <a:t>2.7.fields(PTSB.awards-api)  PASS  PROGRESSA/GOV/PNEA/EXAMS r1 call to awards-api carries exactly its cont…</a:t>
            </a:r>
          </a:p>
          <a:p>
            <a:r>
              <a:rPr sz="1200" b="0" i="0">
                <a:solidFill>
                  <a:srgbClr val="1A1A1A"/>
                </a:solidFill>
                <a:latin typeface="Courier New"/>
              </a:rPr>
              <a:t>2.7.catalogue(PTSB.awards-api)  PASS  PTSB's awards-api appears in GET /catalogue</a:t>
            </a:r>
          </a:p>
        </p:txBody>
      </p:sp>
      <p:sp>
        <p:nvSpPr>
          <p:cNvPr id="6" name="TextBox 5"/>
          <p:cNvSpPr txBox="1"/>
          <p:nvPr/>
        </p:nvSpPr>
        <p:spPr>
          <a:xfrm>
            <a:off x="658368" y="5614416"/>
            <a:ext cx="10881360" cy="420624"/>
          </a:xfrm>
          <a:prstGeom prst="rect">
            <a:avLst/>
          </a:prstGeom>
          <a:noFill/>
        </p:spPr>
        <p:txBody>
          <a:bodyPr wrap="square">
            <a:spAutoFit/>
          </a:bodyPr>
          <a:lstStyle/>
          <a:p>
            <a:r>
              <a:rPr sz="1550" b="1" i="0">
                <a:solidFill>
                  <a:srgbClr val="006E96"/>
                </a:solidFill>
                <a:latin typeface="Arial"/>
              </a:rPr>
              <a:t>Reachable by PNEA, refused to everyone else, exactly the contract's fields, listed on the bus.</a:t>
            </a:r>
          </a:p>
        </p:txBody>
      </p:sp>
      <p:sp>
        <p:nvSpPr>
          <p:cNvPr id="7" name="TextBox 6"/>
          <p:cNvSpPr txBox="1"/>
          <p:nvPr/>
        </p:nvSpPr>
        <p:spPr>
          <a:xfrm>
            <a:off x="658368" y="6025896"/>
            <a:ext cx="10881360" cy="274320"/>
          </a:xfrm>
          <a:prstGeom prst="rect">
            <a:avLst/>
          </a:prstGeom>
          <a:noFill/>
        </p:spPr>
        <p:txBody>
          <a:bodyPr wrap="square">
            <a:spAutoFit/>
          </a:bodyPr>
          <a:lstStyle/>
          <a:p>
            <a:r>
              <a:rPr sz="900" b="0" i="0">
                <a:solidFill>
                  <a:srgbClr val="595959"/>
                </a:solidFill>
                <a:latin typeface="Arial"/>
              </a:rPr>
              <a:t>captured from the demonstration federation · X-Road 7.7.0 · pack a28b74c · 2026-09-30</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Admit a member to the bus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Conformance is the gate between registration and going live</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800" b="1" i="0">
                <a:solidFill>
                  <a:srgbClr val="1A1A1A"/>
                </a:solidFill>
                <a:latin typeface="Arial"/>
              </a:rPr>
              <a:t>It proves it meets the standards portfolio</a:t>
            </a:r>
          </a:p>
          <a:p>
            <a:pPr>
              <a:spcAft>
                <a:spcPts val="300"/>
              </a:spcAft>
            </a:pPr>
            <a:r>
              <a:rPr sz="1550" b="0" i="0">
                <a:solidFill>
                  <a:srgbClr val="595959"/>
                </a:solidFill>
                <a:latin typeface="Arial"/>
              </a:rPr>
              <a:t>Its server, its certificates and its services do what the framework requires.</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800" b="1" i="0">
                <a:solidFill>
                  <a:srgbClr val="1A1A1A"/>
                </a:solidFill>
                <a:latin typeface="Arial"/>
              </a:rPr>
              <a:t>Checked in proportion to the risk</a:t>
            </a:r>
          </a:p>
          <a:p>
            <a:pPr>
              <a:spcAft>
                <a:spcPts val="300"/>
              </a:spcAft>
            </a:pPr>
            <a:r>
              <a:rPr sz="1550" b="0" i="0">
                <a:solidFill>
                  <a:srgbClr val="595959"/>
                </a:solidFill>
                <a:latin typeface="Arial"/>
              </a:rPr>
              <a:t>Self-assessment for the routine, a third-party check for high-risk, the operator's test suite.</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800" b="1" i="0">
                <a:solidFill>
                  <a:srgbClr val="1A1A1A"/>
                </a:solidFill>
                <a:latin typeface="Arial"/>
              </a:rPr>
              <a:t>Not a certificate for life</a:t>
            </a:r>
          </a:p>
          <a:p>
            <a:pPr>
              <a:spcAft>
                <a:spcPts val="300"/>
              </a:spcAft>
            </a:pPr>
            <a:r>
              <a:rPr sz="1550" b="0" i="0">
                <a:solidFill>
                  <a:srgbClr val="595959"/>
                </a:solidFill>
                <a:latin typeface="Arial"/>
              </a:rPr>
              <a:t>Re-tested every two years, and on every change to a binding standard.</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step programmes skip in a hurry — and discover when one member's data breaks everyone's.</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Admit a member to the bus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agency is admitted by a validated request and a recorded decision — then the join runs itself, proves itself, and a conformance test gates its first service.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Generate the X-Road member registration (subsystem + ACL).</a:t>
            </a:r>
          </a:p>
          <a:p>
            <a:pPr algn="l">
              <a:spcAft>
                <a:spcPts val="400"/>
              </a:spcAft>
            </a:pPr>
            <a:r>
              <a:rPr sz="1800" b="0" i="0">
                <a:solidFill>
                  <a:srgbClr val="595959"/>
                </a:solidFill>
                <a:latin typeface="Arial"/>
              </a:rPr>
              <a:t>The prompt in the companion material gives you the subsystem registration and access-control list with [confirm] placeholders, and an onboarding checklist.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Admit a member to the bus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NIIS X-Road member and subsystem registration (niis.org)</a:t>
            </a:r>
          </a:p>
          <a:p>
            <a:pPr>
              <a:spcAft>
                <a:spcPts val="1200"/>
              </a:spcAft>
            </a:pPr>
            <a:r>
              <a:rPr sz="1700" b="0" i="0">
                <a:solidFill>
                  <a:srgbClr val="1A1A1A"/>
                </a:solidFill>
                <a:latin typeface="Arial"/>
              </a:rPr>
              <a:t>•  X-Road access-control list configuration</a:t>
            </a:r>
          </a:p>
          <a:p>
            <a:pPr>
              <a:spcAft>
                <a:spcPts val="1200"/>
              </a:spcAft>
            </a:pPr>
            <a:r>
              <a:rPr sz="1700" b="0" i="0">
                <a:solidFill>
                  <a:srgbClr val="1A1A1A"/>
                </a:solidFill>
                <a:latin typeface="Arial"/>
              </a:rPr>
              <a:t>•  The Linkup demonstration federation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Admit a member to the bus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5 · VIDEO 5.5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Stand up the federation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Central Server, Test CA, four Security Servers — the Linkup federation, stood up from the run book and shown healthy, registered and granted exactly.</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 and a recorded demonstration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Now the live platform the members connect to.</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small set of components, each with a clear job.</a:t>
            </a:r>
          </a:p>
          <a:p>
            <a:pPr>
              <a:spcAft>
                <a:spcPts val="800"/>
              </a:spcAft>
            </a:pPr>
            <a:r>
              <a:rPr sz="1700" b="0" i="0">
                <a:solidFill>
                  <a:srgbClr val="595959"/>
                </a:solidFill>
                <a:latin typeface="Arial"/>
              </a:rPr>
              <a:t>Brought up from a run book, so anyone with the build pack can reproduce it.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Stand up the federation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registry, one gateway per member, one trust anchor</a:t>
            </a:r>
          </a:p>
        </p:txBody>
      </p:sp>
      <p:sp>
        <p:nvSpPr>
          <p:cNvPr id="4" name="Rounded Rectangle 3"/>
          <p:cNvSpPr/>
          <p:nvPr/>
        </p:nvSpPr>
        <p:spPr>
          <a:xfrm>
            <a:off x="658368" y="1554480"/>
            <a:ext cx="6766560" cy="137160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FFFFFF"/>
                </a:solidFill>
                <a:latin typeface="Arial"/>
              </a:rPr>
              <a:t>CENTRAL SERVER — OPERATED BY PDGA</a:t>
            </a:r>
          </a:p>
          <a:p>
            <a:pPr algn="l">
              <a:spcAft>
                <a:spcPts val="300"/>
              </a:spcAft>
            </a:pPr>
            <a:r>
              <a:rPr sz="1600" b="0" i="0">
                <a:solidFill>
                  <a:srgbClr val="FFFFFF"/>
                </a:solidFill>
                <a:latin typeface="Arial"/>
              </a:rPr>
              <a:t>The registry of members and services — every security server checks with it.</a:t>
            </a:r>
          </a:p>
        </p:txBody>
      </p:sp>
      <p:sp>
        <p:nvSpPr>
          <p:cNvPr id="5" name="Rounded Rectangle 4"/>
          <p:cNvSpPr/>
          <p:nvPr/>
        </p:nvSpPr>
        <p:spPr>
          <a:xfrm>
            <a:off x="7680960" y="1554480"/>
            <a:ext cx="3858768" cy="13716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006E96"/>
                </a:solidFill>
                <a:latin typeface="Arial"/>
              </a:rPr>
              <a:t>TEST CA — THE TRUST ANCHOR</a:t>
            </a:r>
          </a:p>
          <a:p>
            <a:pPr algn="l">
              <a:spcAft>
                <a:spcPts val="300"/>
              </a:spcAft>
            </a:pPr>
            <a:r>
              <a:rPr sz="1600" b="0" i="0">
                <a:solidFill>
                  <a:srgbClr val="1A1A1A"/>
                </a:solidFill>
                <a:latin typeface="Arial"/>
              </a:rPr>
              <a:t>Issues the certificates. A real CA in production.</a:t>
            </a:r>
          </a:p>
        </p:txBody>
      </p:sp>
      <p:sp>
        <p:nvSpPr>
          <p:cNvPr id="6" name="Rectangle 5"/>
          <p:cNvSpPr/>
          <p:nvPr/>
        </p:nvSpPr>
        <p:spPr>
          <a:xfrm>
            <a:off x="658368" y="3108960"/>
            <a:ext cx="10881360" cy="411480"/>
          </a:xfrm>
          <a:prstGeom prst="rect">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i="0">
                <a:solidFill>
                  <a:srgbClr val="006E96"/>
                </a:solidFill>
                <a:latin typeface="Arial"/>
              </a:rPr>
              <a:t>each Security Server registers with the Central Server and receives its certificate from the Test CA</a:t>
            </a:r>
          </a:p>
        </p:txBody>
      </p:sp>
      <p:sp>
        <p:nvSpPr>
          <p:cNvPr id="7" name="Rounded Rectangle 6"/>
          <p:cNvSpPr/>
          <p:nvPr/>
        </p:nvSpPr>
        <p:spPr>
          <a:xfrm>
            <a:off x="658368" y="3703320"/>
            <a:ext cx="2514600" cy="1691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800" b="1" i="0">
                <a:solidFill>
                  <a:srgbClr val="006E96"/>
                </a:solidFill>
                <a:latin typeface="Arial"/>
              </a:rPr>
              <a:t>PDGA</a:t>
            </a:r>
          </a:p>
          <a:p>
            <a:pPr algn="l">
              <a:spcAft>
                <a:spcPts val="300"/>
              </a:spcAft>
            </a:pPr>
            <a:r>
              <a:rPr sz="1600" b="0" i="0">
                <a:solidFill>
                  <a:srgbClr val="1A1A1A"/>
                </a:solidFill>
                <a:latin typeface="Arial"/>
              </a:rPr>
              <a:t>Security Server</a:t>
            </a:r>
          </a:p>
          <a:p>
            <a:pPr algn="l">
              <a:spcAft>
                <a:spcPts val="300"/>
              </a:spcAft>
            </a:pPr>
            <a:r>
              <a:rPr sz="1600" b="0" i="0">
                <a:solidFill>
                  <a:srgbClr val="1A1A1A"/>
                </a:solidFill>
                <a:latin typeface="Arial"/>
              </a:rPr>
              <a:t>the federation owner</a:t>
            </a:r>
          </a:p>
        </p:txBody>
      </p:sp>
      <p:sp>
        <p:nvSpPr>
          <p:cNvPr id="8" name="Rounded Rectangle 7"/>
          <p:cNvSpPr/>
          <p:nvPr/>
        </p:nvSpPr>
        <p:spPr>
          <a:xfrm>
            <a:off x="3447287" y="3703320"/>
            <a:ext cx="2514600" cy="1691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800" b="1" i="0">
                <a:solidFill>
                  <a:srgbClr val="006E96"/>
                </a:solidFill>
                <a:latin typeface="Arial"/>
              </a:rPr>
              <a:t>PNEA</a:t>
            </a:r>
          </a:p>
          <a:p>
            <a:pPr algn="l">
              <a:spcAft>
                <a:spcPts val="300"/>
              </a:spcAft>
            </a:pPr>
            <a:r>
              <a:rPr sz="1600" b="0" i="0">
                <a:solidFill>
                  <a:srgbClr val="1A1A1A"/>
                </a:solidFill>
                <a:latin typeface="Arial"/>
              </a:rPr>
              <a:t>Security Server</a:t>
            </a:r>
          </a:p>
          <a:p>
            <a:pPr algn="l">
              <a:spcAft>
                <a:spcPts val="300"/>
              </a:spcAft>
            </a:pPr>
            <a:r>
              <a:rPr sz="1600" b="0" i="0">
                <a:solidFill>
                  <a:srgbClr val="1A1A1A"/>
                </a:solidFill>
                <a:latin typeface="Arial"/>
              </a:rPr>
              <a:t>the examination authority</a:t>
            </a:r>
          </a:p>
        </p:txBody>
      </p:sp>
      <p:sp>
        <p:nvSpPr>
          <p:cNvPr id="9" name="Rounded Rectangle 8"/>
          <p:cNvSpPr/>
          <p:nvPr/>
        </p:nvSpPr>
        <p:spPr>
          <a:xfrm>
            <a:off x="6236207" y="3703320"/>
            <a:ext cx="2514600" cy="1691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800" b="1" i="0">
                <a:solidFill>
                  <a:srgbClr val="006E96"/>
                </a:solidFill>
                <a:latin typeface="Arial"/>
              </a:rPr>
              <a:t>PLR</a:t>
            </a:r>
          </a:p>
          <a:p>
            <a:pPr algn="l">
              <a:spcAft>
                <a:spcPts val="300"/>
              </a:spcAft>
            </a:pPr>
            <a:r>
              <a:rPr sz="1600" b="0" i="0">
                <a:solidFill>
                  <a:srgbClr val="1A1A1A"/>
                </a:solidFill>
                <a:latin typeface="Arial"/>
              </a:rPr>
              <a:t>Security Server</a:t>
            </a:r>
          </a:p>
          <a:p>
            <a:pPr algn="l">
              <a:spcAft>
                <a:spcPts val="300"/>
              </a:spcAft>
            </a:pPr>
            <a:r>
              <a:rPr sz="1600" b="0" i="0">
                <a:solidFill>
                  <a:srgbClr val="1A1A1A"/>
                </a:solidFill>
                <a:latin typeface="Arial"/>
              </a:rPr>
              <a:t>the learner registry</a:t>
            </a:r>
          </a:p>
        </p:txBody>
      </p:sp>
      <p:sp>
        <p:nvSpPr>
          <p:cNvPr id="10" name="Rounded Rectangle 9"/>
          <p:cNvSpPr/>
          <p:nvPr/>
        </p:nvSpPr>
        <p:spPr>
          <a:xfrm>
            <a:off x="9025128" y="3703320"/>
            <a:ext cx="2514600" cy="1691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800" b="1" i="0">
                <a:solidFill>
                  <a:srgbClr val="006E96"/>
                </a:solidFill>
                <a:latin typeface="Arial"/>
              </a:rPr>
              <a:t>PNIA</a:t>
            </a:r>
          </a:p>
          <a:p>
            <a:pPr algn="l">
              <a:spcAft>
                <a:spcPts val="300"/>
              </a:spcAft>
            </a:pPr>
            <a:r>
              <a:rPr sz="1600" b="0" i="0">
                <a:solidFill>
                  <a:srgbClr val="1A1A1A"/>
                </a:solidFill>
                <a:latin typeface="Arial"/>
              </a:rPr>
              <a:t>Security Server</a:t>
            </a:r>
          </a:p>
          <a:p>
            <a:pPr algn="l">
              <a:spcAft>
                <a:spcPts val="300"/>
              </a:spcAft>
            </a:pPr>
            <a:r>
              <a:rPr sz="1600" b="0" i="0">
                <a:solidFill>
                  <a:srgbClr val="1A1A1A"/>
                </a:solidFill>
                <a:latin typeface="Arial"/>
              </a:rPr>
              <a:t>the identity authority</a:t>
            </a:r>
          </a:p>
        </p:txBody>
      </p:sp>
      <p:sp>
        <p:nvSpPr>
          <p:cNvPr id="11" name="TextBox 10"/>
          <p:cNvSpPr txBox="1"/>
          <p:nvPr/>
        </p:nvSpPr>
        <p:spPr>
          <a:xfrm>
            <a:off x="658368" y="5623560"/>
            <a:ext cx="10881360" cy="548640"/>
          </a:xfrm>
          <a:prstGeom prst="rect">
            <a:avLst/>
          </a:prstGeom>
          <a:noFill/>
        </p:spPr>
        <p:txBody>
          <a:bodyPr wrap="square">
            <a:spAutoFit/>
          </a:bodyPr>
          <a:lstStyle/>
          <a:p>
            <a:r>
              <a:rPr sz="1550" b="1" i="0">
                <a:solidFill>
                  <a:srgbClr val="006E96"/>
                </a:solidFill>
                <a:latin typeface="Arial"/>
              </a:rPr>
              <a:t>The Security Servers carry the trust burden at each edge.</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Stand up the federation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Bring it up from the run book, in order</a:t>
            </a:r>
          </a:p>
        </p:txBody>
      </p:sp>
      <p:sp>
        <p:nvSpPr>
          <p:cNvPr id="4" name="Oval 3"/>
          <p:cNvSpPr/>
          <p:nvPr/>
        </p:nvSpPr>
        <p:spPr>
          <a:xfrm>
            <a:off x="621792" y="14173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371600"/>
            <a:ext cx="10527487" cy="704087"/>
          </a:xfrm>
          <a:prstGeom prst="rect">
            <a:avLst/>
          </a:prstGeom>
          <a:noFill/>
        </p:spPr>
        <p:txBody>
          <a:bodyPr wrap="square">
            <a:spAutoFit/>
          </a:bodyPr>
          <a:lstStyle/>
          <a:p>
            <a:pPr>
              <a:spcAft>
                <a:spcPts val="300"/>
              </a:spcAft>
            </a:pPr>
            <a:r>
              <a:rPr sz="1700" b="1" i="0">
                <a:solidFill>
                  <a:srgbClr val="1A1A1A"/>
                </a:solidFill>
                <a:latin typeface="Arial"/>
              </a:rPr>
              <a:t>The Central Server</a:t>
            </a:r>
          </a:p>
          <a:p>
            <a:pPr>
              <a:spcAft>
                <a:spcPts val="300"/>
              </a:spcAft>
            </a:pPr>
            <a:r>
              <a:rPr sz="1550" b="0" i="0">
                <a:solidFill>
                  <a:srgbClr val="595959"/>
                </a:solidFill>
                <a:latin typeface="Arial"/>
              </a:rPr>
              <a:t>The registry every other component checks with.</a:t>
            </a:r>
          </a:p>
        </p:txBody>
      </p:sp>
      <p:sp>
        <p:nvSpPr>
          <p:cNvPr id="6" name="Rectangle 5"/>
          <p:cNvSpPr/>
          <p:nvPr/>
        </p:nvSpPr>
        <p:spPr>
          <a:xfrm>
            <a:off x="621792" y="208026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167127"/>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121408"/>
            <a:ext cx="10527487" cy="704087"/>
          </a:xfrm>
          <a:prstGeom prst="rect">
            <a:avLst/>
          </a:prstGeom>
          <a:noFill/>
        </p:spPr>
        <p:txBody>
          <a:bodyPr wrap="square">
            <a:spAutoFit/>
          </a:bodyPr>
          <a:lstStyle/>
          <a:p>
            <a:pPr>
              <a:spcAft>
                <a:spcPts val="300"/>
              </a:spcAft>
            </a:pPr>
            <a:r>
              <a:rPr sz="1700" b="1" i="0">
                <a:solidFill>
                  <a:srgbClr val="1A1A1A"/>
                </a:solidFill>
                <a:latin typeface="Arial"/>
              </a:rPr>
              <a:t>The Test CA, with certificate status and time-stamping</a:t>
            </a:r>
          </a:p>
          <a:p>
            <a:pPr>
              <a:spcAft>
                <a:spcPts val="300"/>
              </a:spcAft>
            </a:pPr>
            <a:r>
              <a:rPr sz="1550" b="0" i="0">
                <a:solidFill>
                  <a:srgbClr val="595959"/>
                </a:solidFill>
                <a:latin typeface="Arial"/>
              </a:rPr>
              <a:t>Registered as trust services.</a:t>
            </a:r>
          </a:p>
        </p:txBody>
      </p:sp>
      <p:sp>
        <p:nvSpPr>
          <p:cNvPr id="9" name="Rectangle 8"/>
          <p:cNvSpPr/>
          <p:nvPr/>
        </p:nvSpPr>
        <p:spPr>
          <a:xfrm>
            <a:off x="621792" y="283006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2916935"/>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2871215"/>
            <a:ext cx="10527487" cy="704087"/>
          </a:xfrm>
          <a:prstGeom prst="rect">
            <a:avLst/>
          </a:prstGeom>
          <a:noFill/>
        </p:spPr>
        <p:txBody>
          <a:bodyPr wrap="square">
            <a:spAutoFit/>
          </a:bodyPr>
          <a:lstStyle/>
          <a:p>
            <a:pPr>
              <a:spcAft>
                <a:spcPts val="300"/>
              </a:spcAft>
            </a:pPr>
            <a:r>
              <a:rPr sz="1700" b="1" i="0">
                <a:solidFill>
                  <a:srgbClr val="1A1A1A"/>
                </a:solidFill>
                <a:latin typeface="Arial"/>
              </a:rPr>
              <a:t>The members on the registry, then the anchor</a:t>
            </a:r>
          </a:p>
          <a:p>
            <a:pPr>
              <a:spcAft>
                <a:spcPts val="300"/>
              </a:spcAft>
            </a:pPr>
            <a:r>
              <a:rPr sz="1550" b="0" i="0">
                <a:solidFill>
                  <a:srgbClr val="595959"/>
                </a:solidFill>
                <a:latin typeface="Arial"/>
              </a:rPr>
              <a:t>The configuration every server imports.</a:t>
            </a:r>
          </a:p>
        </p:txBody>
      </p:sp>
      <p:sp>
        <p:nvSpPr>
          <p:cNvPr id="12" name="Rectangle 11"/>
          <p:cNvSpPr/>
          <p:nvPr/>
        </p:nvSpPr>
        <p:spPr>
          <a:xfrm>
            <a:off x="621792" y="357987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366674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3621024"/>
            <a:ext cx="10527487" cy="704087"/>
          </a:xfrm>
          <a:prstGeom prst="rect">
            <a:avLst/>
          </a:prstGeom>
          <a:noFill/>
        </p:spPr>
        <p:txBody>
          <a:bodyPr wrap="square">
            <a:spAutoFit/>
          </a:bodyPr>
          <a:lstStyle/>
          <a:p>
            <a:pPr>
              <a:spcAft>
                <a:spcPts val="300"/>
              </a:spcAft>
            </a:pPr>
            <a:r>
              <a:rPr sz="1700" b="1" i="0">
                <a:solidFill>
                  <a:srgbClr val="1A1A1A"/>
                </a:solidFill>
                <a:latin typeface="Arial"/>
              </a:rPr>
              <a:t>Each Security Server</a:t>
            </a:r>
          </a:p>
          <a:p>
            <a:pPr>
              <a:spcAft>
                <a:spcPts val="300"/>
              </a:spcAft>
            </a:pPr>
            <a:r>
              <a:rPr sz="1550" b="0" i="0">
                <a:solidFill>
                  <a:srgbClr val="595959"/>
                </a:solidFill>
                <a:latin typeface="Arial"/>
              </a:rPr>
              <a:t>Its certificate — and its registration approved on the Central Server.</a:t>
            </a:r>
          </a:p>
        </p:txBody>
      </p:sp>
      <p:sp>
        <p:nvSpPr>
          <p:cNvPr id="15" name="Rectangle 14"/>
          <p:cNvSpPr/>
          <p:nvPr/>
        </p:nvSpPr>
        <p:spPr>
          <a:xfrm>
            <a:off x="621792" y="4329683"/>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416551"/>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370831"/>
            <a:ext cx="10527487" cy="704087"/>
          </a:xfrm>
          <a:prstGeom prst="rect">
            <a:avLst/>
          </a:prstGeom>
          <a:noFill/>
        </p:spPr>
        <p:txBody>
          <a:bodyPr wrap="square">
            <a:spAutoFit/>
          </a:bodyPr>
          <a:lstStyle/>
          <a:p>
            <a:pPr>
              <a:spcAft>
                <a:spcPts val="300"/>
              </a:spcAft>
            </a:pPr>
            <a:r>
              <a:rPr sz="1700" b="1" i="0">
                <a:solidFill>
                  <a:srgbClr val="1A1A1A"/>
                </a:solidFill>
                <a:latin typeface="Arial"/>
              </a:rPr>
              <a:t>The services and the grants</a:t>
            </a:r>
          </a:p>
          <a:p>
            <a:pPr>
              <a:spcAft>
                <a:spcPts val="300"/>
              </a:spcAft>
            </a:pPr>
            <a:r>
              <a:rPr sz="1550" b="0" i="0">
                <a:solidFill>
                  <a:srgbClr val="595959"/>
                </a:solidFill>
                <a:latin typeface="Arial"/>
              </a:rPr>
              <a:t>What each member publishes, and who may call it.</a:t>
            </a:r>
          </a:p>
        </p:txBody>
      </p:sp>
      <p:sp>
        <p:nvSpPr>
          <p:cNvPr id="18" name="TextBox 17"/>
          <p:cNvSpPr txBox="1"/>
          <p:nvPr/>
        </p:nvSpPr>
        <p:spPr>
          <a:xfrm>
            <a:off x="658368" y="5230368"/>
            <a:ext cx="10881360" cy="548640"/>
          </a:xfrm>
          <a:prstGeom prst="rect">
            <a:avLst/>
          </a:prstGeom>
          <a:noFill/>
        </p:spPr>
        <p:txBody>
          <a:bodyPr wrap="square">
            <a:spAutoFit/>
          </a:bodyPr>
          <a:lstStyle/>
          <a:p>
            <a:r>
              <a:rPr sz="1550" b="1" i="0">
                <a:solidFill>
                  <a:srgbClr val="006E96"/>
                </a:solidFill>
                <a:latin typeface="Arial"/>
              </a:rPr>
              <a:t>For the demonstration, Linkup runs on a single host — a laptop or one VM — in sandboxed containers, sized for cross-agency calls, not production volumes.</a:t>
            </a:r>
          </a:p>
        </p:txBody>
      </p:sp>
      <p:sp>
        <p:nvSpPr>
          <p:cNvPr id="19" name="TextBox 1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Stand up the federation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First: six containers, all healthy</a:t>
            </a:r>
          </a:p>
        </p:txBody>
      </p:sp>
      <p:sp>
        <p:nvSpPr>
          <p:cNvPr id="4" name="kp-demo-evidence"/>
          <p:cNvSpPr/>
          <p:nvPr/>
        </p:nvSpPr>
        <p:spPr>
          <a:xfrm>
            <a:off x="658368" y="1280160"/>
            <a:ext cx="10881360" cy="4224528"/>
          </a:xfrm>
          <a:prstGeom prst="roundRect">
            <a:avLst>
              <a:gd name="adj" fmla="val 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389888"/>
            <a:ext cx="10469880" cy="3977639"/>
          </a:xfrm>
          <a:prstGeom prst="rect">
            <a:avLst/>
          </a:prstGeom>
          <a:noFill/>
        </p:spPr>
        <p:txBody>
          <a:bodyPr wrap="none">
            <a:spAutoFit/>
          </a:bodyPr>
          <a:lstStyle/>
          <a:p>
            <a:r>
              <a:rPr sz="2000" b="0" i="0">
                <a:solidFill>
                  <a:srgbClr val="1A1A1A"/>
                </a:solidFill>
                <a:latin typeface="Courier New"/>
              </a:rPr>
              <a:t>$ docker compose ps --format "{{.Name}}  {{.Health}}"</a:t>
            </a:r>
          </a:p>
          <a:p>
            <a:r>
              <a:rPr sz="2000" b="0" i="0">
                <a:solidFill>
                  <a:srgbClr val="1A1A1A"/>
                </a:solidFill>
                <a:latin typeface="Courier New"/>
              </a:rPr>
              <a:t>cs        healthy</a:t>
            </a:r>
          </a:p>
          <a:p>
            <a:r>
              <a:rPr sz="2000" b="0" i="0">
                <a:solidFill>
                  <a:srgbClr val="1A1A1A"/>
                </a:solidFill>
                <a:latin typeface="Courier New"/>
              </a:rPr>
              <a:t>ca        healthy</a:t>
            </a:r>
          </a:p>
          <a:p>
            <a:r>
              <a:rPr sz="2000" b="0" i="0">
                <a:solidFill>
                  <a:srgbClr val="1A1A1A"/>
                </a:solidFill>
                <a:latin typeface="Courier New"/>
              </a:rPr>
              <a:t>ss-pdga   healthy</a:t>
            </a:r>
          </a:p>
          <a:p>
            <a:r>
              <a:rPr sz="2000" b="0" i="0">
                <a:solidFill>
                  <a:srgbClr val="1A1A1A"/>
                </a:solidFill>
                <a:latin typeface="Courier New"/>
              </a:rPr>
              <a:t>ss-plr    healthy</a:t>
            </a:r>
          </a:p>
          <a:p>
            <a:r>
              <a:rPr sz="2000" b="0" i="0">
                <a:solidFill>
                  <a:srgbClr val="1A1A1A"/>
                </a:solidFill>
                <a:latin typeface="Courier New"/>
              </a:rPr>
              <a:t>ss-pnea   healthy</a:t>
            </a:r>
          </a:p>
          <a:p>
            <a:r>
              <a:rPr sz="2000" b="0" i="0">
                <a:solidFill>
                  <a:srgbClr val="1A1A1A"/>
                </a:solidFill>
                <a:latin typeface="Courier New"/>
              </a:rPr>
              <a:t>ss-pnia   healthy</a:t>
            </a:r>
          </a:p>
        </p:txBody>
      </p:sp>
      <p:sp>
        <p:nvSpPr>
          <p:cNvPr id="6" name="TextBox 5"/>
          <p:cNvSpPr txBox="1"/>
          <p:nvPr/>
        </p:nvSpPr>
        <p:spPr>
          <a:xfrm>
            <a:off x="658368" y="5614416"/>
            <a:ext cx="10881360" cy="420624"/>
          </a:xfrm>
          <a:prstGeom prst="rect">
            <a:avLst/>
          </a:prstGeom>
          <a:noFill/>
        </p:spPr>
        <p:txBody>
          <a:bodyPr wrap="square">
            <a:spAutoFit/>
          </a:bodyPr>
          <a:lstStyle/>
          <a:p>
            <a:r>
              <a:rPr sz="1550" b="1" i="0">
                <a:solidFill>
                  <a:srgbClr val="006E96"/>
                </a:solidFill>
                <a:latin typeface="Arial"/>
              </a:rPr>
              <a:t>One Central Server, one Test CA, four Security Servers — all healthy.</a:t>
            </a:r>
          </a:p>
        </p:txBody>
      </p:sp>
      <p:sp>
        <p:nvSpPr>
          <p:cNvPr id="7" name="TextBox 6"/>
          <p:cNvSpPr txBox="1"/>
          <p:nvPr/>
        </p:nvSpPr>
        <p:spPr>
          <a:xfrm>
            <a:off x="658368" y="6025896"/>
            <a:ext cx="10881360" cy="274320"/>
          </a:xfrm>
          <a:prstGeom prst="rect">
            <a:avLst/>
          </a:prstGeom>
          <a:noFill/>
        </p:spPr>
        <p:txBody>
          <a:bodyPr wrap="square">
            <a:spAutoFit/>
          </a:bodyPr>
          <a:lstStyle/>
          <a:p>
            <a:r>
              <a:rPr sz="900" b="0" i="0">
                <a:solidFill>
                  <a:srgbClr val="595959"/>
                </a:solidFill>
                <a:latin typeface="Arial"/>
              </a:rPr>
              <a:t>captured from the demonstration federation · X-Road 7.7.0 · pack a28b74c · 2026-09-30</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Stand up the federation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Second: from zero to running, measured</a:t>
            </a:r>
          </a:p>
        </p:txBody>
      </p:sp>
      <p:sp>
        <p:nvSpPr>
          <p:cNvPr id="4" name="kp-demo-evidence"/>
          <p:cNvSpPr/>
          <p:nvPr/>
        </p:nvSpPr>
        <p:spPr>
          <a:xfrm>
            <a:off x="658368" y="1280160"/>
            <a:ext cx="10881360" cy="4224528"/>
          </a:xfrm>
          <a:prstGeom prst="roundRect">
            <a:avLst>
              <a:gd name="adj" fmla="val 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389888"/>
            <a:ext cx="10469880" cy="3977639"/>
          </a:xfrm>
          <a:prstGeom prst="rect">
            <a:avLst/>
          </a:prstGeom>
          <a:noFill/>
        </p:spPr>
        <p:txBody>
          <a:bodyPr wrap="none">
            <a:spAutoFit/>
          </a:bodyPr>
          <a:lstStyle/>
          <a:p>
            <a:r>
              <a:rPr sz="1800" b="0" i="0">
                <a:solidFill>
                  <a:srgbClr val="1A1A1A"/>
                </a:solidFill>
                <a:latin typeface="Courier New"/>
              </a:rPr>
              <a:t>$ scripts/demo.sh</a:t>
            </a:r>
          </a:p>
          <a:p>
            <a:r>
              <a:rPr sz="1800" b="0" i="0">
                <a:solidFill>
                  <a:srgbClr val="1A1A1A"/>
                </a:solidFill>
                <a:latin typeface="Courier New"/>
              </a:rPr>
              <a:t>step 0 -- scripts/preflight.sh (host dependencies, .env, clock, RAM)</a:t>
            </a:r>
          </a:p>
          <a:p>
            <a:r>
              <a:rPr sz="1800" b="0" i="0">
                <a:solidFill>
                  <a:srgbClr val="1A1A1A"/>
                </a:solidFill>
                <a:latin typeface="Courier New"/>
              </a:rPr>
              <a:t>step 1 -- scripts/gen-secrets.sh (a real .env, mode 600)</a:t>
            </a:r>
          </a:p>
          <a:p>
            <a:r>
              <a:rPr sz="1800" b="0" i="0">
                <a:solidFill>
                  <a:srgbClr val="1A1A1A"/>
                </a:solidFill>
                <a:latin typeface="Courier New"/>
              </a:rPr>
              <a:t>step 2 -- scripts/deploy.sh (the federation, from zero)</a:t>
            </a:r>
          </a:p>
          <a:p>
            <a:r>
              <a:rPr sz="1800" b="0" i="0">
                <a:solidFill>
                  <a:srgbClr val="1A1A1A"/>
                </a:solidFill>
                <a:latin typeface="Courier New"/>
              </a:rPr>
              <a:t>step 3 -- scripts/seed.sh (Progressa demonstration data)</a:t>
            </a:r>
          </a:p>
          <a:p>
            <a:r>
              <a:rPr sz="1800" b="0" i="0">
                <a:solidFill>
                  <a:srgbClr val="1A1A1A"/>
                </a:solidFill>
                <a:latin typeface="Courier New"/>
              </a:rPr>
              <a:t>step 4 -- scripts/acceptance.sh (the once-only exchange proves itself)</a:t>
            </a:r>
          </a:p>
          <a:p>
            <a:r>
              <a:rPr sz="1800" b="0" i="0">
                <a:solidFill>
                  <a:srgbClr val="1A1A1A"/>
                </a:solidFill>
                <a:latin typeface="Courier New"/>
              </a:rPr>
              <a:t/>
            </a:r>
          </a:p>
          <a:p>
            <a:r>
              <a:rPr sz="1800" b="0" i="0">
                <a:solidFill>
                  <a:srgbClr val="1A1A1A"/>
                </a:solidFill>
                <a:latin typeface="Courier New"/>
              </a:rPr>
              <a:t>$ cat out/deploy-timings.txt   # measured by scripts/deploy.sh</a:t>
            </a:r>
          </a:p>
          <a:p>
            <a:r>
              <a:rPr sz="1800" b="0" i="0">
                <a:solidFill>
                  <a:srgbClr val="1A1A1A"/>
                </a:solidFill>
                <a:latin typeface="Courier New"/>
              </a:rPr>
              <a:t>containers healthy 100 s · Hurl run 290 s · total 390 s</a:t>
            </a:r>
          </a:p>
        </p:txBody>
      </p:sp>
      <p:sp>
        <p:nvSpPr>
          <p:cNvPr id="6" name="TextBox 5"/>
          <p:cNvSpPr txBox="1"/>
          <p:nvPr/>
        </p:nvSpPr>
        <p:spPr>
          <a:xfrm>
            <a:off x="658368" y="5614416"/>
            <a:ext cx="10881360" cy="420624"/>
          </a:xfrm>
          <a:prstGeom prst="rect">
            <a:avLst/>
          </a:prstGeom>
          <a:noFill/>
        </p:spPr>
        <p:txBody>
          <a:bodyPr wrap="square">
            <a:spAutoFit/>
          </a:bodyPr>
          <a:lstStyle/>
          <a:p>
            <a:r>
              <a:rPr sz="1550" b="1" i="0">
                <a:solidFill>
                  <a:srgbClr val="006E96"/>
                </a:solidFill>
                <a:latin typeface="Arial"/>
              </a:rPr>
              <a:t>From zero to a running federation: measured, not estimated.</a:t>
            </a:r>
          </a:p>
        </p:txBody>
      </p:sp>
      <p:sp>
        <p:nvSpPr>
          <p:cNvPr id="7" name="TextBox 6"/>
          <p:cNvSpPr txBox="1"/>
          <p:nvPr/>
        </p:nvSpPr>
        <p:spPr>
          <a:xfrm>
            <a:off x="658368" y="6025896"/>
            <a:ext cx="10881360" cy="274320"/>
          </a:xfrm>
          <a:prstGeom prst="rect">
            <a:avLst/>
          </a:prstGeom>
          <a:noFill/>
        </p:spPr>
        <p:txBody>
          <a:bodyPr wrap="square">
            <a:spAutoFit/>
          </a:bodyPr>
          <a:lstStyle/>
          <a:p>
            <a:r>
              <a:rPr sz="900" b="0" i="0">
                <a:solidFill>
                  <a:srgbClr val="595959"/>
                </a:solidFill>
                <a:latin typeface="Arial"/>
              </a:rPr>
              <a:t>captured from the demonstration federation · X-Road 7.7.0 · pack a28b74c · 2026-09-30</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Stand up the federation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Third: three members, each behind its own server</a:t>
            </a:r>
          </a:p>
        </p:txBody>
      </p:sp>
      <p:sp>
        <p:nvSpPr>
          <p:cNvPr id="4" name="kp-demo-evidence"/>
          <p:cNvSpPr/>
          <p:nvPr/>
        </p:nvSpPr>
        <p:spPr>
          <a:xfrm>
            <a:off x="658368" y="1280160"/>
            <a:ext cx="10881360" cy="4224528"/>
          </a:xfrm>
          <a:prstGeom prst="roundRect">
            <a:avLst>
              <a:gd name="adj" fmla="val 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389888"/>
            <a:ext cx="10469880" cy="3977639"/>
          </a:xfrm>
          <a:prstGeom prst="rect">
            <a:avLst/>
          </a:prstGeom>
          <a:noFill/>
        </p:spPr>
        <p:txBody>
          <a:bodyPr wrap="none">
            <a:spAutoFit/>
          </a:bodyPr>
          <a:lstStyle/>
          <a:p>
            <a:r>
              <a:rPr sz="2000" b="0" i="0">
                <a:solidFill>
                  <a:srgbClr val="1A1A1A"/>
                </a:solidFill>
                <a:latin typeface="Courier New"/>
              </a:rPr>
              <a:t>$ scripts/member.sh list</a:t>
            </a:r>
          </a:p>
          <a:p>
            <a:r>
              <a:rPr sz="2000" b="0" i="0">
                <a:solidFill>
                  <a:srgbClr val="1A1A1A"/>
                </a:solidFill>
                <a:latin typeface="Courier New"/>
              </a:rPr>
              <a:t>KEY      ORIGIN     SERVER     UI              REST</a:t>
            </a:r>
          </a:p>
          <a:p>
            <a:r>
              <a:rPr sz="2000" b="0" i="0">
                <a:solidFill>
                  <a:srgbClr val="1A1A1A"/>
                </a:solidFill>
                <a:latin typeface="Courier New"/>
              </a:rPr>
              <a:t>plr      canonical  ss-plr     127.0.0.1:3000   127.0.0.1:3080</a:t>
            </a:r>
          </a:p>
          <a:p>
            <a:r>
              <a:rPr sz="2000" b="0" i="0">
                <a:solidFill>
                  <a:srgbClr val="1A1A1A"/>
                </a:solidFill>
                <a:latin typeface="Courier New"/>
              </a:rPr>
              <a:t>pnea     canonical  ss-pnea    127.0.0.1:2000   127.0.0.1:2080</a:t>
            </a:r>
          </a:p>
          <a:p>
            <a:r>
              <a:rPr sz="2000" b="0" i="0">
                <a:solidFill>
                  <a:srgbClr val="1A1A1A"/>
                </a:solidFill>
                <a:latin typeface="Courier New"/>
              </a:rPr>
              <a:t>pnia     canonical  ss-pnia    127.0.0.1:5100   127.0.0.1:5180</a:t>
            </a:r>
          </a:p>
        </p:txBody>
      </p:sp>
      <p:sp>
        <p:nvSpPr>
          <p:cNvPr id="6" name="TextBox 5"/>
          <p:cNvSpPr txBox="1"/>
          <p:nvPr/>
        </p:nvSpPr>
        <p:spPr>
          <a:xfrm>
            <a:off x="658368" y="5614416"/>
            <a:ext cx="10881360" cy="420624"/>
          </a:xfrm>
          <a:prstGeom prst="rect">
            <a:avLst/>
          </a:prstGeom>
          <a:noFill/>
        </p:spPr>
        <p:txBody>
          <a:bodyPr wrap="square">
            <a:spAutoFit/>
          </a:bodyPr>
          <a:lstStyle/>
          <a:p>
            <a:r>
              <a:rPr sz="1550" b="1" i="0">
                <a:solidFill>
                  <a:srgbClr val="006E96"/>
                </a:solidFill>
                <a:latin typeface="Arial"/>
              </a:rPr>
              <a:t>Three members, each behind its own Security Server.</a:t>
            </a:r>
          </a:p>
        </p:txBody>
      </p:sp>
      <p:sp>
        <p:nvSpPr>
          <p:cNvPr id="7" name="TextBox 6"/>
          <p:cNvSpPr txBox="1"/>
          <p:nvPr/>
        </p:nvSpPr>
        <p:spPr>
          <a:xfrm>
            <a:off x="658368" y="6025896"/>
            <a:ext cx="10881360" cy="274320"/>
          </a:xfrm>
          <a:prstGeom prst="rect">
            <a:avLst/>
          </a:prstGeom>
          <a:noFill/>
        </p:spPr>
        <p:txBody>
          <a:bodyPr wrap="square">
            <a:spAutoFit/>
          </a:bodyPr>
          <a:lstStyle/>
          <a:p>
            <a:r>
              <a:rPr sz="900" b="0" i="0">
                <a:solidFill>
                  <a:srgbClr val="595959"/>
                </a:solidFill>
                <a:latin typeface="Arial"/>
              </a:rPr>
              <a:t>captured from the demonstration federation · X-Road 7.7.0 · pack a28b74c · 2026-09-30</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Stand up the federation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Fourth: registered, grants exact, monitoring running</a:t>
            </a:r>
          </a:p>
        </p:txBody>
      </p:sp>
      <p:sp>
        <p:nvSpPr>
          <p:cNvPr id="4" name="kp-demo-evidence"/>
          <p:cNvSpPr/>
          <p:nvPr/>
        </p:nvSpPr>
        <p:spPr>
          <a:xfrm>
            <a:off x="658368" y="1280160"/>
            <a:ext cx="10881360" cy="4224528"/>
          </a:xfrm>
          <a:prstGeom prst="roundRect">
            <a:avLst>
              <a:gd name="adj" fmla="val 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389888"/>
            <a:ext cx="10469880" cy="3977639"/>
          </a:xfrm>
          <a:prstGeom prst="rect">
            <a:avLst/>
          </a:prstGeom>
          <a:noFill/>
        </p:spPr>
        <p:txBody>
          <a:bodyPr wrap="none">
            <a:spAutoFit/>
          </a:bodyPr>
          <a:lstStyle/>
          <a:p>
            <a:r>
              <a:rPr sz="1200" b="0" i="0">
                <a:solidFill>
                  <a:srgbClr val="1A1A1A"/>
                </a:solidFill>
                <a:latin typeface="Courier New"/>
              </a:rPr>
              <a:t>$ scripts/acceptance.sh --summary --only 2.x</a:t>
            </a:r>
          </a:p>
          <a:p>
            <a:r>
              <a:rPr sz="1200" b="0" i="0">
                <a:solidFill>
                  <a:srgbClr val="1A1A1A"/>
                </a:solidFill>
                <a:latin typeface="Courier New"/>
              </a:rPr>
              <a:t>2.x.addons(ss-pdga)  PASS  operational + environmental monitoring add-ons RUNNING on ss-pdga</a:t>
            </a:r>
          </a:p>
          <a:p>
            <a:r>
              <a:rPr sz="1200" b="0" i="0">
                <a:solidFill>
                  <a:srgbClr val="1A1A1A"/>
                </a:solidFill>
                <a:latin typeface="Courier New"/>
              </a:rPr>
              <a:t>2.x.addons(ss-pnea)  PASS  operational + environmental monitoring add-ons RUNNING on ss-pnea</a:t>
            </a:r>
          </a:p>
          <a:p>
            <a:r>
              <a:rPr sz="1200" b="0" i="0">
                <a:solidFill>
                  <a:srgbClr val="1A1A1A"/>
                </a:solidFill>
                <a:latin typeface="Courier New"/>
              </a:rPr>
              <a:t>2.x.addons(ss-plr)  PASS  operational + environmental monitoring add-ons RUNNING on ss-plr</a:t>
            </a:r>
          </a:p>
          <a:p>
            <a:r>
              <a:rPr sz="1200" b="0" i="0">
                <a:solidFill>
                  <a:srgbClr val="1A1A1A"/>
                </a:solidFill>
                <a:latin typeface="Courier New"/>
              </a:rPr>
              <a:t>2.x.addons(ss-pnia)  PASS  operational + environmental monitoring add-ons RUNNING on ss-pnia</a:t>
            </a:r>
          </a:p>
          <a:p>
            <a:r>
              <a:rPr sz="1200" b="0" i="0">
                <a:solidFill>
                  <a:srgbClr val="1A1A1A"/>
                </a:solidFill>
                <a:latin typeface="Courier New"/>
              </a:rPr>
              <a:t>2.x(PLR:ENROLMENT)  PASS  client REGISTERED on ss-plr</a:t>
            </a:r>
          </a:p>
          <a:p>
            <a:r>
              <a:rPr sz="1200" b="0" i="0">
                <a:solidFill>
                  <a:srgbClr val="1A1A1A"/>
                </a:solidFill>
                <a:latin typeface="Courier New"/>
              </a:rPr>
              <a:t>2.x(PNEA:EXAMS)  PASS  client REGISTERED on ss-pnea</a:t>
            </a:r>
          </a:p>
          <a:p>
            <a:r>
              <a:rPr sz="1200" b="0" i="0">
                <a:solidFill>
                  <a:srgbClr val="1A1A1A"/>
                </a:solidFill>
                <a:latin typeface="Courier New"/>
              </a:rPr>
              <a:t>2.x(PNIA:IDENTITY)  PASS  client REGISTERED on ss-pnia</a:t>
            </a:r>
          </a:p>
          <a:p>
            <a:r>
              <a:rPr sz="1200" b="0" i="0">
                <a:solidFill>
                  <a:srgbClr val="1A1A1A"/>
                </a:solidFill>
                <a:latin typeface="Courier New"/>
              </a:rPr>
              <a:t>2.x.acl(identity-api)  PASS  identity-api grants exactly PROGRESSA:GOV:PNEA:EXAMS</a:t>
            </a:r>
          </a:p>
          <a:p>
            <a:r>
              <a:rPr sz="1200" b="0" i="0">
                <a:solidFill>
                  <a:srgbClr val="1A1A1A"/>
                </a:solidFill>
                <a:latin typeface="Courier New"/>
              </a:rPr>
              <a:t>2.x.acl(enrolment-api)  PASS  enrolment-api grants exactly PROGRESSA:GOV:PNEA:EXAMS</a:t>
            </a:r>
          </a:p>
          <a:p>
            <a:r>
              <a:rPr sz="1200" b="0" i="0">
                <a:solidFill>
                  <a:srgbClr val="1A1A1A"/>
                </a:solidFill>
                <a:latin typeface="Courier New"/>
              </a:rPr>
              <a:t>2.x.catalogue(PROGRESSA/GOV/PLR/ENROLMENT/enrolment-api)  PASS  PROGRESSA/GOV/PLR/ENROLMENT/enrolment-api'…</a:t>
            </a:r>
          </a:p>
          <a:p>
            <a:r>
              <a:rPr sz="1200" b="0" i="0">
                <a:solidFill>
                  <a:srgbClr val="1A1A1A"/>
                </a:solidFill>
                <a:latin typeface="Courier New"/>
              </a:rPr>
              <a:t>2.x.catalogue(PROGRESSA/GOV/PNIA/IDENTITY/identity-api)  PASS  PROGRESSA/GOV/PNIA/IDENTITY/identity-api's …</a:t>
            </a:r>
          </a:p>
        </p:txBody>
      </p:sp>
      <p:sp>
        <p:nvSpPr>
          <p:cNvPr id="6" name="TextBox 5"/>
          <p:cNvSpPr txBox="1"/>
          <p:nvPr/>
        </p:nvSpPr>
        <p:spPr>
          <a:xfrm>
            <a:off x="658368" y="5614416"/>
            <a:ext cx="10881360" cy="420624"/>
          </a:xfrm>
          <a:prstGeom prst="rect">
            <a:avLst/>
          </a:prstGeom>
          <a:noFill/>
        </p:spPr>
        <p:txBody>
          <a:bodyPr wrap="square">
            <a:spAutoFit/>
          </a:bodyPr>
          <a:lstStyle/>
          <a:p>
            <a:r>
              <a:rPr sz="1550" b="1" i="0">
                <a:solidFill>
                  <a:srgbClr val="006E96"/>
                </a:solidFill>
                <a:latin typeface="Arial"/>
              </a:rPr>
              <a:t>Registered on the Central Server, grants exact, monitoring add-ons running — the federation is real.</a:t>
            </a:r>
          </a:p>
        </p:txBody>
      </p:sp>
      <p:sp>
        <p:nvSpPr>
          <p:cNvPr id="7" name="TextBox 6"/>
          <p:cNvSpPr txBox="1"/>
          <p:nvPr/>
        </p:nvSpPr>
        <p:spPr>
          <a:xfrm>
            <a:off x="658368" y="6025896"/>
            <a:ext cx="10881360" cy="274320"/>
          </a:xfrm>
          <a:prstGeom prst="rect">
            <a:avLst/>
          </a:prstGeom>
          <a:noFill/>
        </p:spPr>
        <p:txBody>
          <a:bodyPr wrap="square">
            <a:spAutoFit/>
          </a:bodyPr>
          <a:lstStyle/>
          <a:p>
            <a:r>
              <a:rPr sz="900" b="0" i="0">
                <a:solidFill>
                  <a:srgbClr val="595959"/>
                </a:solidFill>
                <a:latin typeface="Arial"/>
              </a:rPr>
              <a:t>captured from the demonstration federation · X-Road 7.7.0 · pack a28b74c · 2026-09-30</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Stand up the federation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Central Server, Test CA, four Security Servers — stood up from the run book, in order, and shown running, registered and granted exactly.</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federation stand-up run book.</a:t>
            </a:r>
          </a:p>
          <a:p>
            <a:pPr algn="l">
              <a:spcAft>
                <a:spcPts val="400"/>
              </a:spcAft>
            </a:pPr>
            <a:r>
              <a:rPr sz="1800" b="0" i="0">
                <a:solidFill>
                  <a:srgbClr val="595959"/>
                </a:solidFill>
                <a:latin typeface="Arial"/>
              </a:rPr>
              <a:t>The prompt in the companion material gives you an ordered, reproducible stand-up run book with production-difference notes.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Stand up the federation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NIIS X-Road federation — Central Server, Security Server, Test CA (niis.org)</a:t>
            </a:r>
          </a:p>
          <a:p>
            <a:pPr>
              <a:spcAft>
                <a:spcPts val="1200"/>
              </a:spcAft>
            </a:pPr>
            <a:r>
              <a:rPr sz="1700" b="0" i="0">
                <a:solidFill>
                  <a:srgbClr val="1A1A1A"/>
                </a:solidFill>
                <a:latin typeface="Arial"/>
              </a:rPr>
              <a:t>•  The Linkup demonstration federation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Stand up the federation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5 · VIDEO 5.6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Run the once-only exchange, live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PNEA issues a credential and pre-fills identity from PNIA and enrolment from PLR — a real cross-server call, the data asked once.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 and a recorded demonstration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moment the whole framework exists for.</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examination authority asks the learner once and fetches the rest.</a:t>
            </a:r>
          </a:p>
          <a:p>
            <a:pPr>
              <a:spcAft>
                <a:spcPts val="800"/>
              </a:spcAft>
            </a:pPr>
            <a:r>
              <a:rPr sz="1700" b="0" i="0">
                <a:solidFill>
                  <a:srgbClr val="595959"/>
                </a:solidFill>
                <a:latin typeface="Arial"/>
              </a:rPr>
              <a:t>Recorded from the running federation, exactly as it ran.</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Run the once-only exchange, live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call — identity from PNIA, enrolment from PLR</a:t>
            </a:r>
          </a:p>
        </p:txBody>
      </p:sp>
      <p:cxnSp>
        <p:nvCxnSpPr>
          <p:cNvPr id="4" name="Connector 3"/>
          <p:cNvCxnSpPr/>
          <p:nvPr/>
        </p:nvCxnSpPr>
        <p:spPr>
          <a:xfrm>
            <a:off x="2990088" y="3429000"/>
            <a:ext cx="512064" cy="0"/>
          </a:xfrm>
          <a:prstGeom prst="line">
            <a:avLst/>
          </a:prstGeom>
          <a:ln w="317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6629400" y="2331720"/>
            <a:ext cx="1481327" cy="594360"/>
          </a:xfrm>
          <a:prstGeom prst="line">
            <a:avLst/>
          </a:prstGeom>
          <a:ln w="317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629400" y="3931920"/>
            <a:ext cx="1481327" cy="594360"/>
          </a:xfrm>
          <a:prstGeom prst="line">
            <a:avLst/>
          </a:prstGeom>
          <a:ln w="317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629400" y="3246120"/>
            <a:ext cx="146304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i="0">
                <a:solidFill>
                  <a:srgbClr val="006E96"/>
                </a:solidFill>
                <a:latin typeface="Arial"/>
              </a:rPr>
              <a:t>over the bus</a:t>
            </a:r>
          </a:p>
        </p:txBody>
      </p:sp>
      <p:sp>
        <p:nvSpPr>
          <p:cNvPr id="8" name="Rounded Rectangle 7"/>
          <p:cNvSpPr/>
          <p:nvPr/>
        </p:nvSpPr>
        <p:spPr>
          <a:xfrm>
            <a:off x="658368" y="2377440"/>
            <a:ext cx="2286000" cy="210312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006E96"/>
                </a:solidFill>
                <a:latin typeface="Arial"/>
              </a:rPr>
              <a:t>THE LEARNER</a:t>
            </a:r>
          </a:p>
          <a:p>
            <a:pPr algn="l">
              <a:spcAft>
                <a:spcPts val="300"/>
              </a:spcAft>
            </a:pPr>
            <a:r>
              <a:rPr sz="1600" b="0" i="0">
                <a:solidFill>
                  <a:srgbClr val="1A1A1A"/>
                </a:solidFill>
                <a:latin typeface="Arial"/>
              </a:rPr>
              <a:t>Applies for a credential</a:t>
            </a:r>
          </a:p>
          <a:p>
            <a:pPr algn="l">
              <a:spcAft>
                <a:spcPts val="300"/>
              </a:spcAft>
            </a:pPr>
            <a:r>
              <a:rPr sz="1600" b="0" i="0">
                <a:solidFill>
                  <a:srgbClr val="1A1A1A"/>
                </a:solidFill>
                <a:latin typeface="Arial"/>
              </a:rPr>
              <a:t>Gives a national ID — once</a:t>
            </a:r>
          </a:p>
        </p:txBody>
      </p:sp>
      <p:sp>
        <p:nvSpPr>
          <p:cNvPr id="9" name="Rounded Rectangle 8"/>
          <p:cNvSpPr/>
          <p:nvPr/>
        </p:nvSpPr>
        <p:spPr>
          <a:xfrm>
            <a:off x="3566160" y="2011680"/>
            <a:ext cx="3017520" cy="283464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2200" b="1" i="0">
                <a:solidFill>
                  <a:srgbClr val="FFFFFF"/>
                </a:solidFill>
                <a:latin typeface="Arial"/>
              </a:rPr>
              <a:t>PNEA</a:t>
            </a:r>
          </a:p>
          <a:p>
            <a:pPr algn="l">
              <a:spcAft>
                <a:spcPts val="300"/>
              </a:spcAft>
            </a:pPr>
            <a:r>
              <a:rPr sz="1700" b="0" i="0">
                <a:solidFill>
                  <a:srgbClr val="FFFFFF"/>
                </a:solidFill>
                <a:latin typeface="Arial"/>
              </a:rPr>
              <a:t>The examination authority</a:t>
            </a:r>
          </a:p>
          <a:p>
            <a:pPr algn="l">
              <a:spcAft>
                <a:spcPts val="300"/>
              </a:spcAft>
            </a:pPr>
            <a:r>
              <a:rPr sz="1700" b="0" i="0">
                <a:solidFill>
                  <a:srgbClr val="FFFFFF"/>
                </a:solidFill>
                <a:latin typeface="Arial"/>
              </a:rPr>
              <a:t>Pre-fills the application — no paper proof</a:t>
            </a:r>
          </a:p>
        </p:txBody>
      </p:sp>
      <p:sp>
        <p:nvSpPr>
          <p:cNvPr id="10" name="Rounded Rectangle 9"/>
          <p:cNvSpPr/>
          <p:nvPr/>
        </p:nvSpPr>
        <p:spPr>
          <a:xfrm>
            <a:off x="8183879" y="1554480"/>
            <a:ext cx="3355848" cy="160020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2200" b="1" i="0">
                <a:solidFill>
                  <a:srgbClr val="006E96"/>
                </a:solidFill>
                <a:latin typeface="Arial"/>
              </a:rPr>
              <a:t>PNIA</a:t>
            </a:r>
          </a:p>
          <a:p>
            <a:pPr algn="l">
              <a:spcAft>
                <a:spcPts val="300"/>
              </a:spcAft>
            </a:pPr>
            <a:r>
              <a:rPr sz="1700" b="0" i="0">
                <a:solidFill>
                  <a:srgbClr val="1A1A1A"/>
                </a:solidFill>
                <a:latin typeface="Arial"/>
              </a:rPr>
              <a:t>The identity authority</a:t>
            </a:r>
          </a:p>
          <a:p>
            <a:pPr algn="l">
              <a:spcAft>
                <a:spcPts val="300"/>
              </a:spcAft>
            </a:pPr>
            <a:r>
              <a:rPr sz="1700" b="0" i="0">
                <a:solidFill>
                  <a:srgbClr val="1A1A1A"/>
                </a:solidFill>
                <a:latin typeface="Arial"/>
              </a:rPr>
              <a:t>Returns the identity</a:t>
            </a:r>
          </a:p>
        </p:txBody>
      </p:sp>
      <p:sp>
        <p:nvSpPr>
          <p:cNvPr id="11" name="Rounded Rectangle 10"/>
          <p:cNvSpPr/>
          <p:nvPr/>
        </p:nvSpPr>
        <p:spPr>
          <a:xfrm>
            <a:off x="8183879" y="3703320"/>
            <a:ext cx="3355848" cy="160020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2200" b="1" i="0">
                <a:solidFill>
                  <a:srgbClr val="006E96"/>
                </a:solidFill>
                <a:latin typeface="Arial"/>
              </a:rPr>
              <a:t>PLR</a:t>
            </a:r>
          </a:p>
          <a:p>
            <a:pPr algn="l">
              <a:spcAft>
                <a:spcPts val="300"/>
              </a:spcAft>
            </a:pPr>
            <a:r>
              <a:rPr sz="1700" b="0" i="0">
                <a:solidFill>
                  <a:srgbClr val="1A1A1A"/>
                </a:solidFill>
                <a:latin typeface="Arial"/>
              </a:rPr>
              <a:t>The learner registry</a:t>
            </a:r>
          </a:p>
          <a:p>
            <a:pPr algn="l">
              <a:spcAft>
                <a:spcPts val="300"/>
              </a:spcAft>
            </a:pPr>
            <a:r>
              <a:rPr sz="1700" b="0" i="0">
                <a:solidFill>
                  <a:srgbClr val="1A1A1A"/>
                </a:solidFill>
                <a:latin typeface="Arial"/>
              </a:rPr>
              <a:t>Returns the enrolment</a:t>
            </a:r>
          </a:p>
        </p:txBody>
      </p:sp>
      <p:sp>
        <p:nvSpPr>
          <p:cNvPr id="12" name="TextBox 11"/>
          <p:cNvSpPr txBox="1"/>
          <p:nvPr/>
        </p:nvSpPr>
        <p:spPr>
          <a:xfrm>
            <a:off x="658368" y="5577840"/>
            <a:ext cx="10881360" cy="548640"/>
          </a:xfrm>
          <a:prstGeom prst="rect">
            <a:avLst/>
          </a:prstGeom>
          <a:noFill/>
        </p:spPr>
        <p:txBody>
          <a:bodyPr wrap="square">
            <a:spAutoFit/>
          </a:bodyPr>
          <a:lstStyle/>
          <a:p>
            <a:r>
              <a:rPr sz="1550" b="1" i="0">
                <a:solidFill>
                  <a:srgbClr val="006E96"/>
                </a:solidFill>
                <a:latin typeface="Arial"/>
              </a:rPr>
              <a:t>Without once-only, the learner brings paper proof of both. With it, the learner is asked once.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Run the once-only exchange, live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First: ten blank rows, then nine filled</a:t>
            </a:r>
          </a:p>
        </p:txBody>
      </p:sp>
      <p:pic>
        <p:nvPicPr>
          <p:cNvPr id="4" name="kp-demo-evidence" descr="C2-after.png"/>
          <p:cNvPicPr>
            <a:picLocks noChangeAspect="1"/>
          </p:cNvPicPr>
          <p:nvPr/>
        </p:nvPicPr>
        <p:blipFill>
          <a:blip r:embed="rId2"/>
          <a:stretch>
            <a:fillRect/>
          </a:stretch>
        </p:blipFill>
        <p:spPr>
          <a:xfrm>
            <a:off x="3411648" y="1097280"/>
            <a:ext cx="5374798" cy="4434840"/>
          </a:xfrm>
          <a:prstGeom prst="rect">
            <a:avLst/>
          </a:prstGeom>
          <a:ln w="12700">
            <a:solidFill>
              <a:srgbClr val="DDECF4"/>
            </a:solidFill>
          </a:ln>
        </p:spPr>
      </p:pic>
      <p:sp>
        <p:nvSpPr>
          <p:cNvPr id="5" name="TextBox 4"/>
          <p:cNvSpPr txBox="1"/>
          <p:nvPr/>
        </p:nvSpPr>
        <p:spPr>
          <a:xfrm>
            <a:off x="658368" y="5614416"/>
            <a:ext cx="10881360" cy="420624"/>
          </a:xfrm>
          <a:prstGeom prst="rect">
            <a:avLst/>
          </a:prstGeom>
          <a:noFill/>
        </p:spPr>
        <p:txBody>
          <a:bodyPr wrap="square">
            <a:spAutoFit/>
          </a:bodyPr>
          <a:lstStyle/>
          <a:p>
            <a:r>
              <a:rPr sz="1550" b="1" i="0">
                <a:solidFill>
                  <a:srgbClr val="006E96"/>
                </a:solidFill>
                <a:latin typeface="Arial"/>
              </a:rPr>
              <a:t>Ten blank rows before the call; nine filled after it, each labelled with its source.</a:t>
            </a:r>
          </a:p>
        </p:txBody>
      </p:sp>
      <p:sp>
        <p:nvSpPr>
          <p:cNvPr id="6" name="TextBox 5"/>
          <p:cNvSpPr txBox="1"/>
          <p:nvPr/>
        </p:nvSpPr>
        <p:spPr>
          <a:xfrm>
            <a:off x="658368" y="6025896"/>
            <a:ext cx="10881360" cy="274320"/>
          </a:xfrm>
          <a:prstGeom prst="rect">
            <a:avLst/>
          </a:prstGeom>
          <a:noFill/>
        </p:spPr>
        <p:txBody>
          <a:bodyPr wrap="square">
            <a:spAutoFit/>
          </a:bodyPr>
          <a:lstStyle/>
          <a:p>
            <a:r>
              <a:rPr sz="900" b="0" i="0">
                <a:solidFill>
                  <a:srgbClr val="595959"/>
                </a:solidFill>
                <a:latin typeface="Arial"/>
              </a:rPr>
              <a:t>captured from the demonstration federation · X-Road 7.7.0 · pack a28b74c · 2026-09-30</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Run the once-only exchange, live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Second: what PNIA sends — and what it withholds</a:t>
            </a:r>
          </a:p>
        </p:txBody>
      </p:sp>
      <p:pic>
        <p:nvPicPr>
          <p:cNvPr id="4" name="kp-demo-evidence" descr="C4-layers.png"/>
          <p:cNvPicPr>
            <a:picLocks noChangeAspect="1"/>
          </p:cNvPicPr>
          <p:nvPr/>
        </p:nvPicPr>
        <p:blipFill>
          <a:blip r:embed="rId2"/>
          <a:stretch>
            <a:fillRect/>
          </a:stretch>
        </p:blipFill>
        <p:spPr>
          <a:xfrm>
            <a:off x="475488" y="2282505"/>
            <a:ext cx="11247120" cy="2064388"/>
          </a:xfrm>
          <a:prstGeom prst="rect">
            <a:avLst/>
          </a:prstGeom>
          <a:ln w="12700">
            <a:solidFill>
              <a:srgbClr val="DDECF4"/>
            </a:solidFill>
          </a:ln>
        </p:spPr>
      </p:pic>
      <p:sp>
        <p:nvSpPr>
          <p:cNvPr id="5" name="TextBox 4"/>
          <p:cNvSpPr txBox="1"/>
          <p:nvPr/>
        </p:nvSpPr>
        <p:spPr>
          <a:xfrm>
            <a:off x="658368" y="5614416"/>
            <a:ext cx="10881360" cy="420624"/>
          </a:xfrm>
          <a:prstGeom prst="rect">
            <a:avLst/>
          </a:prstGeom>
          <a:noFill/>
        </p:spPr>
        <p:txBody>
          <a:bodyPr wrap="square">
            <a:spAutoFit/>
          </a:bodyPr>
          <a:lstStyle/>
          <a:p>
            <a:r>
              <a:rPr sz="1550" b="1" i="0">
                <a:solidFill>
                  <a:srgbClr val="006E96"/>
                </a:solidFill>
                <a:latin typeface="Arial"/>
              </a:rPr>
              <a:t>Legal, organisational, semantic, technical — read off the live response.</a:t>
            </a:r>
          </a:p>
        </p:txBody>
      </p:sp>
      <p:sp>
        <p:nvSpPr>
          <p:cNvPr id="6" name="TextBox 5"/>
          <p:cNvSpPr txBox="1"/>
          <p:nvPr/>
        </p:nvSpPr>
        <p:spPr>
          <a:xfrm>
            <a:off x="658368" y="6025896"/>
            <a:ext cx="10881360" cy="274320"/>
          </a:xfrm>
          <a:prstGeom prst="rect">
            <a:avLst/>
          </a:prstGeom>
          <a:noFill/>
        </p:spPr>
        <p:txBody>
          <a:bodyPr wrap="square">
            <a:spAutoFit/>
          </a:bodyPr>
          <a:lstStyle/>
          <a:p>
            <a:r>
              <a:rPr sz="900" b="0" i="0">
                <a:solidFill>
                  <a:srgbClr val="595959"/>
                </a:solidFill>
                <a:latin typeface="Arial"/>
              </a:rPr>
              <a:t>captured from the demonstration federation · X-Road 7.7.0 · pack a28b74c · 2026-09-30</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Run the once-only exchange, live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Third: allowed, refused, then cut off</a:t>
            </a:r>
          </a:p>
        </p:txBody>
      </p:sp>
      <p:pic>
        <p:nvPicPr>
          <p:cNvPr id="4" name="kp-demo-evidence" descr="C6-break-restore.png"/>
          <p:cNvPicPr>
            <a:picLocks noChangeAspect="1"/>
          </p:cNvPicPr>
          <p:nvPr/>
        </p:nvPicPr>
        <p:blipFill>
          <a:blip r:embed="rId2"/>
          <a:stretch>
            <a:fillRect/>
          </a:stretch>
        </p:blipFill>
        <p:spPr>
          <a:xfrm>
            <a:off x="2600452" y="1097280"/>
            <a:ext cx="6997192" cy="4434840"/>
          </a:xfrm>
          <a:prstGeom prst="rect">
            <a:avLst/>
          </a:prstGeom>
          <a:ln w="12700">
            <a:solidFill>
              <a:srgbClr val="DDECF4"/>
            </a:solidFill>
          </a:ln>
        </p:spPr>
      </p:pic>
      <p:sp>
        <p:nvSpPr>
          <p:cNvPr id="5" name="TextBox 4"/>
          <p:cNvSpPr txBox="1"/>
          <p:nvPr/>
        </p:nvSpPr>
        <p:spPr>
          <a:xfrm>
            <a:off x="658368" y="5614416"/>
            <a:ext cx="10881360" cy="420624"/>
          </a:xfrm>
          <a:prstGeom prst="rect">
            <a:avLst/>
          </a:prstGeom>
          <a:noFill/>
        </p:spPr>
        <p:txBody>
          <a:bodyPr wrap="square">
            <a:spAutoFit/>
          </a:bodyPr>
          <a:lstStyle/>
          <a:p>
            <a:r>
              <a:rPr sz="1550" b="1" i="0">
                <a:solidFill>
                  <a:srgbClr val="006E96"/>
                </a:solidFill>
                <a:latin typeface="Arial"/>
              </a:rPr>
              <a:t>Asked twice: allowed, refused. Grant withdrawn: the identity half fails, enrolment still fills.</a:t>
            </a:r>
          </a:p>
        </p:txBody>
      </p:sp>
      <p:sp>
        <p:nvSpPr>
          <p:cNvPr id="6" name="TextBox 5"/>
          <p:cNvSpPr txBox="1"/>
          <p:nvPr/>
        </p:nvSpPr>
        <p:spPr>
          <a:xfrm>
            <a:off x="658368" y="6025896"/>
            <a:ext cx="10881360" cy="274320"/>
          </a:xfrm>
          <a:prstGeom prst="rect">
            <a:avLst/>
          </a:prstGeom>
          <a:noFill/>
        </p:spPr>
        <p:txBody>
          <a:bodyPr wrap="square">
            <a:spAutoFit/>
          </a:bodyPr>
          <a:lstStyle/>
          <a:p>
            <a:r>
              <a:rPr sz="900" b="0" i="0">
                <a:solidFill>
                  <a:srgbClr val="595959"/>
                </a:solidFill>
                <a:latin typeface="Arial"/>
              </a:rPr>
              <a:t>captured from the demonstration federation · X-Road 7.7.0 · pack a28b74c · 2026-09-30</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Run the once-only exchange, live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Fourth: on disk, and six checks green</a:t>
            </a:r>
          </a:p>
        </p:txBody>
      </p:sp>
      <p:sp>
        <p:nvSpPr>
          <p:cNvPr id="4" name="kp-demo-evidence"/>
          <p:cNvSpPr/>
          <p:nvPr/>
        </p:nvSpPr>
        <p:spPr>
          <a:xfrm>
            <a:off x="658368" y="1280160"/>
            <a:ext cx="10881360" cy="4224528"/>
          </a:xfrm>
          <a:prstGeom prst="roundRect">
            <a:avLst>
              <a:gd name="adj" fmla="val 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389888"/>
            <a:ext cx="10469880" cy="3977639"/>
          </a:xfrm>
          <a:prstGeom prst="rect">
            <a:avLst/>
          </a:prstGeom>
          <a:noFill/>
        </p:spPr>
        <p:txBody>
          <a:bodyPr wrap="none">
            <a:spAutoFit/>
          </a:bodyPr>
          <a:lstStyle/>
          <a:p>
            <a:r>
              <a:rPr sz="1200" b="0" i="0">
                <a:solidFill>
                  <a:srgbClr val="1A1A1A"/>
                </a:solidFill>
                <a:latin typeface="Courier New"/>
              </a:rPr>
              <a:t>out/application-02831663233.json — the assembled application, one line per field</a:t>
            </a:r>
          </a:p>
          <a:p>
            <a:r>
              <a:rPr sz="1200" b="0" i="0">
                <a:solidFill>
                  <a:srgbClr val="1A1A1A"/>
                </a:solidFill>
                <a:latin typeface="Courier New"/>
              </a:rPr>
              <a:t/>
            </a:r>
          </a:p>
          <a:p>
            <a:r>
              <a:rPr sz="1200" b="0" i="0">
                <a:solidFill>
                  <a:srgbClr val="1A1A1A"/>
                </a:solidFill>
                <a:latin typeface="Courier New"/>
              </a:rPr>
              <a:t>field           value                          source</a:t>
            </a:r>
          </a:p>
          <a:p>
            <a:r>
              <a:rPr sz="1200" b="0" i="0">
                <a:solidFill>
                  <a:srgbClr val="1A1A1A"/>
                </a:solidFill>
                <a:latin typeface="Courier New"/>
              </a:rPr>
              <a:t>nin             02831663233                    citizen — the one thing asked</a:t>
            </a:r>
          </a:p>
          <a:p>
            <a:r>
              <a:rPr sz="1200" b="0" i="0">
                <a:solidFill>
                  <a:srgbClr val="1A1A1A"/>
                </a:solidFill>
                <a:latin typeface="Courier New"/>
              </a:rPr>
              <a:t>given_name      Bakary                         PNIA identity-api over the bus</a:t>
            </a:r>
          </a:p>
          <a:p>
            <a:r>
              <a:rPr sz="1200" b="0" i="0">
                <a:solidFill>
                  <a:srgbClr val="1A1A1A"/>
                </a:solidFill>
                <a:latin typeface="Courier New"/>
              </a:rPr>
              <a:t>family_name     Faal                           PNIA identity-api over the bus</a:t>
            </a:r>
          </a:p>
          <a:p>
            <a:r>
              <a:rPr sz="1200" b="0" i="0">
                <a:solidFill>
                  <a:srgbClr val="1A1A1A"/>
                </a:solidFill>
                <a:latin typeface="Courier New"/>
              </a:rPr>
              <a:t>date_of_birth   2009-04-12                     PNIA identity-api over the bus</a:t>
            </a:r>
          </a:p>
          <a:p>
            <a:r>
              <a:rPr sz="1200" b="0" i="0">
                <a:solidFill>
                  <a:srgbClr val="1A1A1A"/>
                </a:solidFill>
                <a:latin typeface="Courier New"/>
              </a:rPr>
              <a:t>sex             M                              PNIA identity-api over the bus</a:t>
            </a:r>
          </a:p>
          <a:p>
            <a:r>
              <a:rPr sz="1200" b="0" i="0">
                <a:solidFill>
                  <a:srgbClr val="1A1A1A"/>
                </a:solidFill>
                <a:latin typeface="Courier New"/>
              </a:rPr>
              <a:t>region          Upper River                    PNIA identity-api over the bus</a:t>
            </a:r>
          </a:p>
          <a:p>
            <a:r>
              <a:rPr sz="1200" b="0" i="0">
                <a:solidFill>
                  <a:srgbClr val="1A1A1A"/>
                </a:solidFill>
                <a:latin typeface="Courier New"/>
              </a:rPr>
              <a:t>school          Basse Senior Secondary School  PLR enrolment-api over the bus</a:t>
            </a:r>
          </a:p>
          <a:p>
            <a:r>
              <a:rPr sz="1200" b="0" i="0">
                <a:solidFill>
                  <a:srgbClr val="1A1A1A"/>
                </a:solidFill>
                <a:latin typeface="Courier New"/>
              </a:rPr>
              <a:t>level           Senior Secondary               PLR enrolment-api over the bus</a:t>
            </a:r>
          </a:p>
          <a:p>
            <a:r>
              <a:rPr sz="1200" b="0" i="0">
                <a:solidFill>
                  <a:srgbClr val="1A1A1A"/>
                </a:solidFill>
                <a:latin typeface="Courier New"/>
              </a:rPr>
              <a:t>enrolment_year  2024                           PLR enrolment-api over the bus</a:t>
            </a:r>
          </a:p>
          <a:p>
            <a:r>
              <a:rPr sz="1200" b="0" i="0">
                <a:solidFill>
                  <a:srgbClr val="1A1A1A"/>
                </a:solidFill>
                <a:latin typeface="Courier New"/>
              </a:rPr>
              <a:t>status          active                         PLR enrolment-api over the bus</a:t>
            </a:r>
          </a:p>
          <a:p>
            <a:r>
              <a:rPr sz="1200" b="0" i="0">
                <a:solidFill>
                  <a:srgbClr val="1A1A1A"/>
                </a:solidFill>
                <a:latin typeface="Courier New"/>
              </a:rPr>
              <a:t/>
            </a:r>
          </a:p>
          <a:p>
            <a:r>
              <a:rPr sz="1200" b="0" i="0">
                <a:solidFill>
                  <a:srgbClr val="1A1A1A"/>
                </a:solidFill>
                <a:latin typeface="Courier New"/>
              </a:rPr>
              <a:t>$ scripts/acceptance.sh --summary --only 2.6</a:t>
            </a:r>
          </a:p>
          <a:p>
            <a:r>
              <a:rPr sz="1200" b="0" i="0">
                <a:solidFill>
                  <a:srgbClr val="1A1A1A"/>
                </a:solidFill>
                <a:latin typeface="Courier New"/>
              </a:rPr>
              <a:t>2.6.1  PASS  happy path — both cross-server calls resolve</a:t>
            </a:r>
          </a:p>
          <a:p>
            <a:r>
              <a:rPr sz="1200" b="0" i="0">
                <a:solidFill>
                  <a:srgbClr val="1A1A1A"/>
                </a:solidFill>
                <a:latin typeface="Courier New"/>
              </a:rPr>
              <a:t>2.6.2  PASS  right learner — fields match the seeded record</a:t>
            </a:r>
          </a:p>
          <a:p>
            <a:r>
              <a:rPr sz="1200" b="0" i="0">
                <a:solidFill>
                  <a:srgbClr val="1A1A1A"/>
                </a:solidFill>
                <a:latin typeface="Courier New"/>
              </a:rPr>
              <a:t>2.6.3  PASS  asked once — NIN is the only citizen field; bus pre-fills exactly the rest</a:t>
            </a:r>
          </a:p>
          <a:p>
            <a:r>
              <a:rPr sz="1200" b="0" i="0">
                <a:solidFill>
                  <a:srgbClr val="1A1A1A"/>
                </a:solidFill>
                <a:latin typeface="Courier New"/>
              </a:rPr>
              <a:t>2.6.4  PASS  negative — PROGRESSA/GOV/PLR/ENROLMENT (via its own SS ss-plr) denied by the provider ACL</a:t>
            </a:r>
          </a:p>
          <a:p>
            <a:r>
              <a:rPr sz="1200" b="0" i="0">
                <a:solidFill>
                  <a:srgbClr val="1A1A1A"/>
                </a:solidFill>
                <a:latin typeface="Courier New"/>
              </a:rPr>
              <a:t>2.6.5  PASS  negative — NIN absent from PLR yields a clean 404, not silence</a:t>
            </a:r>
          </a:p>
          <a:p>
            <a:r>
              <a:rPr sz="1200" b="0" i="0">
                <a:solidFill>
                  <a:srgbClr val="1A1A1A"/>
                </a:solidFill>
                <a:latin typeface="Courier New"/>
              </a:rPr>
              <a:t>2.6.6  PASS  field conformance — both responses carry exactly the fields their contract declares (G5.9)</a:t>
            </a:r>
          </a:p>
        </p:txBody>
      </p:sp>
      <p:sp>
        <p:nvSpPr>
          <p:cNvPr id="6" name="TextBox 5"/>
          <p:cNvSpPr txBox="1"/>
          <p:nvPr/>
        </p:nvSpPr>
        <p:spPr>
          <a:xfrm>
            <a:off x="658368" y="5614416"/>
            <a:ext cx="10881360" cy="420624"/>
          </a:xfrm>
          <a:prstGeom prst="rect">
            <a:avLst/>
          </a:prstGeom>
          <a:noFill/>
        </p:spPr>
        <p:txBody>
          <a:bodyPr wrap="square">
            <a:spAutoFit/>
          </a:bodyPr>
          <a:lstStyle/>
          <a:p>
            <a:r>
              <a:rPr sz="1550" b="1" i="0">
                <a:solidFill>
                  <a:srgbClr val="006E96"/>
                </a:solidFill>
                <a:latin typeface="Arial"/>
              </a:rPr>
              <a:t>The application on disk, every field's source; checks 2.6.1 to 2.6.6 green.</a:t>
            </a:r>
          </a:p>
        </p:txBody>
      </p:sp>
      <p:sp>
        <p:nvSpPr>
          <p:cNvPr id="7" name="TextBox 6"/>
          <p:cNvSpPr txBox="1"/>
          <p:nvPr/>
        </p:nvSpPr>
        <p:spPr>
          <a:xfrm>
            <a:off x="658368" y="6025896"/>
            <a:ext cx="10881360" cy="274320"/>
          </a:xfrm>
          <a:prstGeom prst="rect">
            <a:avLst/>
          </a:prstGeom>
          <a:noFill/>
        </p:spPr>
        <p:txBody>
          <a:bodyPr wrap="square">
            <a:spAutoFit/>
          </a:bodyPr>
          <a:lstStyle/>
          <a:p>
            <a:r>
              <a:rPr sz="900" b="0" i="0">
                <a:solidFill>
                  <a:srgbClr val="595959"/>
                </a:solidFill>
                <a:latin typeface="Arial"/>
              </a:rPr>
              <a:t>captured from the demonstration federation · X-Road 7.7.0 · pack a28b74c · 2026-09-30</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Run the once-only exchange, live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One field asked, nine fetched, only what the purpose needs — and six acceptance checks green.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Script and verify the once-only exchange (the acceptance check).</a:t>
            </a:r>
          </a:p>
          <a:p>
            <a:pPr algn="l">
              <a:spcAft>
                <a:spcPts val="400"/>
              </a:spcAft>
            </a:pPr>
            <a:r>
              <a:rPr sz="1800" b="0" i="0">
                <a:solidFill>
                  <a:srgbClr val="595959"/>
                </a:solidFill>
                <a:latin typeface="Arial"/>
              </a:rPr>
              <a:t>The prompt in the companion material gives you a given/when/then acceptance script with a negative check, mapped to the four layers.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Run the once-only exchange, live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§5.2, Principle #5 (Once-Only)</a:t>
            </a:r>
          </a:p>
          <a:p>
            <a:pPr>
              <a:spcAft>
                <a:spcPts val="1200"/>
              </a:spcAft>
            </a:pPr>
            <a:r>
              <a:rPr sz="1700" b="0" i="0">
                <a:solidFill>
                  <a:srgbClr val="1A1A1A"/>
                </a:solidFill>
                <a:latin typeface="Arial"/>
              </a:rPr>
              <a:t>•  NIIS X-Road (niis.org)</a:t>
            </a:r>
          </a:p>
          <a:p>
            <a:pPr>
              <a:spcAft>
                <a:spcPts val="1200"/>
              </a:spcAft>
            </a:pPr>
            <a:r>
              <a:rPr sz="1700" b="0" i="0">
                <a:solidFill>
                  <a:srgbClr val="1A1A1A"/>
                </a:solidFill>
                <a:latin typeface="Arial"/>
              </a:rPr>
              <a:t>•  The Linkup demonstration federation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Run the once-only exchange, live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5 · VIDEO 5.7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From demonstration to production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What changes between the sandboxed Linkup demonstration and a production-grade federation a country would actually run.</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demonstration proves the pattern. It is not production.</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Know exactly what changes before go-live.</a:t>
            </a:r>
          </a:p>
          <a:p>
            <a:pPr>
              <a:spcAft>
                <a:spcPts val="800"/>
              </a:spcAft>
            </a:pPr>
            <a:r>
              <a:rPr sz="1700" b="0" i="0">
                <a:solidFill>
                  <a:srgbClr val="595959"/>
                </a:solidFill>
                <a:latin typeface="Arial"/>
              </a:rPr>
              <a:t>After go-live is when the gap is most expensive to discover.</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From demonstration to production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Production adds seven things around the same configuration</a:t>
            </a:r>
          </a:p>
        </p:txBody>
      </p:sp>
      <p:sp>
        <p:nvSpPr>
          <p:cNvPr id="4" name="Rounded Rectangle 3"/>
          <p:cNvSpPr/>
          <p:nvPr/>
        </p:nvSpPr>
        <p:spPr>
          <a:xfrm>
            <a:off x="658368" y="1554480"/>
            <a:ext cx="5394960" cy="37490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474720"/>
          </a:xfrm>
          <a:prstGeom prst="rect">
            <a:avLst/>
          </a:prstGeom>
          <a:noFill/>
        </p:spPr>
        <p:txBody>
          <a:bodyPr wrap="square">
            <a:spAutoFit/>
          </a:bodyPr>
          <a:lstStyle/>
          <a:p>
            <a:pPr>
              <a:spcAft>
                <a:spcPts val="700"/>
              </a:spcAft>
            </a:pPr>
            <a:r>
              <a:rPr sz="1900" b="1" i="0">
                <a:solidFill>
                  <a:srgbClr val="006E96"/>
                </a:solidFill>
                <a:latin typeface="Arial"/>
              </a:rPr>
              <a:t>THE DEMONSTRATION</a:t>
            </a:r>
          </a:p>
          <a:p>
            <a:pPr>
              <a:spcAft>
                <a:spcPts val="700"/>
              </a:spcAft>
            </a:pPr>
            <a:r>
              <a:rPr sz="1600" b="0" i="0">
                <a:solidFill>
                  <a:srgbClr val="1A1A1A"/>
                </a:solidFill>
                <a:latin typeface="Arial"/>
              </a:rPr>
              <a:t>Everything on one VM, in sandboxed containers</a:t>
            </a:r>
          </a:p>
          <a:p>
            <a:pPr>
              <a:spcAft>
                <a:spcPts val="700"/>
              </a:spcAft>
            </a:pPr>
            <a:r>
              <a:rPr sz="1600" b="0" i="0">
                <a:solidFill>
                  <a:srgbClr val="1A1A1A"/>
                </a:solidFill>
                <a:latin typeface="Arial"/>
              </a:rPr>
              <a:t>A Test CA</a:t>
            </a:r>
          </a:p>
          <a:p>
            <a:pPr>
              <a:spcAft>
                <a:spcPts val="700"/>
              </a:spcAft>
            </a:pPr>
            <a:r>
              <a:rPr sz="1600" b="0" i="0">
                <a:solidFill>
                  <a:srgbClr val="1A1A1A"/>
                </a:solidFill>
                <a:latin typeface="Arial"/>
              </a:rPr>
              <a:t>A handful of demonstration calls</a:t>
            </a:r>
          </a:p>
        </p:txBody>
      </p:sp>
      <p:sp>
        <p:nvSpPr>
          <p:cNvPr id="6" name="Rounded Rectangle 5"/>
          <p:cNvSpPr/>
          <p:nvPr/>
        </p:nvSpPr>
        <p:spPr>
          <a:xfrm>
            <a:off x="6263640" y="1554480"/>
            <a:ext cx="5394960" cy="37490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474720"/>
          </a:xfrm>
          <a:prstGeom prst="rect">
            <a:avLst/>
          </a:prstGeom>
          <a:noFill/>
        </p:spPr>
        <p:txBody>
          <a:bodyPr wrap="square">
            <a:spAutoFit/>
          </a:bodyPr>
          <a:lstStyle/>
          <a:p>
            <a:pPr>
              <a:spcAft>
                <a:spcPts val="700"/>
              </a:spcAft>
            </a:pPr>
            <a:r>
              <a:rPr sz="1900" b="1" i="0">
                <a:solidFill>
                  <a:srgbClr val="006E96"/>
                </a:solidFill>
                <a:latin typeface="Arial"/>
              </a:rPr>
              <a:t>PRODUCTION</a:t>
            </a:r>
          </a:p>
          <a:p>
            <a:pPr>
              <a:spcAft>
                <a:spcPts val="700"/>
              </a:spcAft>
            </a:pPr>
            <a:r>
              <a:rPr sz="1600" b="0" i="0">
                <a:solidFill>
                  <a:srgbClr val="1A1A1A"/>
                </a:solidFill>
                <a:latin typeface="Arial"/>
              </a:rPr>
              <a:t>Separate, sized hosts</a:t>
            </a:r>
          </a:p>
          <a:p>
            <a:pPr>
              <a:spcAft>
                <a:spcPts val="700"/>
              </a:spcAft>
            </a:pPr>
            <a:r>
              <a:rPr sz="1600" b="0" i="0">
                <a:solidFill>
                  <a:srgbClr val="1A1A1A"/>
                </a:solidFill>
                <a:latin typeface="Arial"/>
              </a:rPr>
              <a:t>A real certification authority</a:t>
            </a:r>
          </a:p>
          <a:p>
            <a:pPr>
              <a:spcAft>
                <a:spcPts val="700"/>
              </a:spcAft>
            </a:pPr>
            <a:r>
              <a:rPr sz="1600" b="0" i="0">
                <a:solidFill>
                  <a:srgbClr val="1A1A1A"/>
                </a:solidFill>
                <a:latin typeface="Arial"/>
              </a:rPr>
              <a:t>High availability and redundancy</a:t>
            </a:r>
          </a:p>
          <a:p>
            <a:pPr>
              <a:spcAft>
                <a:spcPts val="700"/>
              </a:spcAft>
            </a:pPr>
            <a:r>
              <a:rPr sz="1600" b="0" i="0">
                <a:solidFill>
                  <a:srgbClr val="1A1A1A"/>
                </a:solidFill>
                <a:latin typeface="Arial"/>
              </a:rPr>
              <a:t>Real monitoring and alerting</a:t>
            </a:r>
          </a:p>
          <a:p>
            <a:pPr>
              <a:spcAft>
                <a:spcPts val="700"/>
              </a:spcAft>
            </a:pPr>
            <a:r>
              <a:rPr sz="1600" b="0" i="0">
                <a:solidFill>
                  <a:srgbClr val="1A1A1A"/>
                </a:solidFill>
                <a:latin typeface="Arial"/>
              </a:rPr>
              <a:t>Capacity for real volumes</a:t>
            </a:r>
          </a:p>
          <a:p>
            <a:pPr>
              <a:spcAft>
                <a:spcPts val="700"/>
              </a:spcAft>
            </a:pPr>
            <a:r>
              <a:rPr sz="1600" b="0" i="0">
                <a:solidFill>
                  <a:srgbClr val="1A1A1A"/>
                </a:solidFill>
                <a:latin typeface="Arial"/>
              </a:rPr>
              <a:t>Round-the-clock operational support</a:t>
            </a:r>
          </a:p>
          <a:p>
            <a:pPr>
              <a:spcAft>
                <a:spcPts val="700"/>
              </a:spcAft>
            </a:pPr>
            <a:r>
              <a:rPr sz="1600" b="0" i="0">
                <a:solidFill>
                  <a:srgbClr val="1A1A1A"/>
                </a:solidFill>
                <a:latin typeface="Arial"/>
              </a:rPr>
              <a:t>Security hardening and audit</a:t>
            </a:r>
          </a:p>
        </p:txBody>
      </p:sp>
      <p:sp>
        <p:nvSpPr>
          <p:cNvPr id="8" name="TextBox 7"/>
          <p:cNvSpPr txBox="1"/>
          <p:nvPr/>
        </p:nvSpPr>
        <p:spPr>
          <a:xfrm>
            <a:off x="658368" y="5486400"/>
            <a:ext cx="10881360" cy="548640"/>
          </a:xfrm>
          <a:prstGeom prst="rect">
            <a:avLst/>
          </a:prstGeom>
          <a:noFill/>
        </p:spPr>
        <p:txBody>
          <a:bodyPr wrap="square">
            <a:spAutoFit/>
          </a:bodyPr>
          <a:lstStyle/>
          <a:p>
            <a:r>
              <a:rPr sz="1550" b="1" i="0">
                <a:solidFill>
                  <a:srgbClr val="006E96"/>
                </a:solidFill>
                <a:latin typeface="Arial"/>
              </a:rPr>
              <a:t>Specific, and plannable.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From demonstration to production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shape of the configuration does not change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subsystem registrations, the service descriptions, the semantic map — the same in production.</a:t>
            </a:r>
          </a:p>
          <a:p>
            <a:pPr>
              <a:spcAft>
                <a:spcPts val="1200"/>
              </a:spcAft>
            </a:pPr>
            <a:r>
              <a:rPr sz="2000" b="0" i="0">
                <a:solidFill>
                  <a:srgbClr val="1A1A1A"/>
                </a:solidFill>
                <a:latin typeface="Arial"/>
              </a:rPr>
              <a:t>Production changes the scale, the resilience and the operations around them, not the design.</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Production is the same pattern, hardened — so the demonstration de-risks the build.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From demonstration to production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Retire the legacy links the bus replaces — agency by agency</a:t>
            </a:r>
          </a:p>
        </p:txBody>
      </p:sp>
      <p:cxnSp>
        <p:nvCxnSpPr>
          <p:cNvPr id="4" name="Connector 3"/>
          <p:cNvCxnSpPr/>
          <p:nvPr/>
        </p:nvCxnSpPr>
        <p:spPr>
          <a:xfrm>
            <a:off x="316611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6646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76681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58368" y="1645920"/>
            <a:ext cx="248031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STAND UP</a:t>
            </a:r>
          </a:p>
          <a:p>
            <a:pPr algn="l">
              <a:spcAft>
                <a:spcPts val="300"/>
              </a:spcAft>
            </a:pPr>
            <a:r>
              <a:rPr sz="1600" b="0" i="0">
                <a:solidFill>
                  <a:srgbClr val="1A1A1A"/>
                </a:solidFill>
                <a:latin typeface="Arial"/>
              </a:rPr>
              <a:t>The new once-only exchange</a:t>
            </a:r>
          </a:p>
        </p:txBody>
      </p:sp>
      <p:sp>
        <p:nvSpPr>
          <p:cNvPr id="8" name="Rounded Rectangle 7"/>
          <p:cNvSpPr/>
          <p:nvPr/>
        </p:nvSpPr>
        <p:spPr>
          <a:xfrm>
            <a:off x="3458718" y="1645920"/>
            <a:ext cx="248031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PARALLEL-RUN</a:t>
            </a:r>
          </a:p>
          <a:p>
            <a:pPr algn="l">
              <a:spcAft>
                <a:spcPts val="300"/>
              </a:spcAft>
            </a:pPr>
            <a:r>
              <a:rPr sz="1600" b="0" i="0">
                <a:solidFill>
                  <a:srgbClr val="1A1A1A"/>
                </a:solidFill>
                <a:latin typeface="Arial"/>
              </a:rPr>
              <a:t>Beside the agency's old point-to-point link</a:t>
            </a:r>
          </a:p>
        </p:txBody>
      </p:sp>
      <p:sp>
        <p:nvSpPr>
          <p:cNvPr id="9" name="Rounded Rectangle 8"/>
          <p:cNvSpPr/>
          <p:nvPr/>
        </p:nvSpPr>
        <p:spPr>
          <a:xfrm>
            <a:off x="6259068" y="1645920"/>
            <a:ext cx="248031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CONFIRM</a:t>
            </a:r>
          </a:p>
          <a:p>
            <a:pPr algn="l">
              <a:spcAft>
                <a:spcPts val="300"/>
              </a:spcAft>
            </a:pPr>
            <a:r>
              <a:rPr sz="1600" b="0" i="0">
                <a:solidFill>
                  <a:srgbClr val="1A1A1A"/>
                </a:solidFill>
                <a:latin typeface="Arial"/>
              </a:rPr>
              <a:t>The two agree</a:t>
            </a:r>
          </a:p>
        </p:txBody>
      </p:sp>
      <p:sp>
        <p:nvSpPr>
          <p:cNvPr id="10" name="Rounded Rectangle 9"/>
          <p:cNvSpPr/>
          <p:nvPr/>
        </p:nvSpPr>
        <p:spPr>
          <a:xfrm>
            <a:off x="9059418" y="1645920"/>
            <a:ext cx="2480310" cy="283464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FFFFFF"/>
                </a:solidFill>
                <a:latin typeface="Arial"/>
              </a:rPr>
              <a:t>CUT OVER</a:t>
            </a:r>
          </a:p>
          <a:p>
            <a:pPr algn="l">
              <a:spcAft>
                <a:spcPts val="300"/>
              </a:spcAft>
            </a:pPr>
            <a:r>
              <a:rPr sz="1600" b="0" i="0">
                <a:solidFill>
                  <a:srgbClr val="FFFFFF"/>
                </a:solidFill>
                <a:latin typeface="Arial"/>
              </a:rPr>
              <a:t>Switch the consumers across, decommission the old link</a:t>
            </a:r>
          </a:p>
        </p:txBody>
      </p:sp>
      <p:sp>
        <p:nvSpPr>
          <p:cNvPr id="11" name="TextBox 10"/>
          <p:cNvSpPr txBox="1"/>
          <p:nvPr/>
        </p:nvSpPr>
        <p:spPr>
          <a:xfrm>
            <a:off x="658368" y="5074920"/>
            <a:ext cx="10881360" cy="548640"/>
          </a:xfrm>
          <a:prstGeom prst="rect">
            <a:avLst/>
          </a:prstGeom>
          <a:noFill/>
        </p:spPr>
        <p:txBody>
          <a:bodyPr wrap="square">
            <a:spAutoFit/>
          </a:bodyPr>
          <a:lstStyle/>
          <a:p>
            <a:r>
              <a:rPr sz="1550" b="1" i="0">
                <a:solidFill>
                  <a:srgbClr val="006E96"/>
                </a:solidFill>
                <a:latin typeface="Arial"/>
              </a:rPr>
              <a:t>Left alone, you run both — worse than either. This is the step that ends the sprawl.</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From demonstration to production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demonstration names its own gap</a:t>
            </a:r>
          </a:p>
        </p:txBody>
      </p:sp>
      <p:sp>
        <p:nvSpPr>
          <p:cNvPr id="4" name="kp-demo-evidence"/>
          <p:cNvSpPr/>
          <p:nvPr/>
        </p:nvSpPr>
        <p:spPr>
          <a:xfrm>
            <a:off x="621792" y="12618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0984687" cy="777240"/>
          </a:xfrm>
          <a:prstGeom prst="rect">
            <a:avLst/>
          </a:prstGeom>
          <a:noFill/>
        </p:spPr>
        <p:txBody>
          <a:bodyPr wrap="square">
            <a:spAutoFit/>
          </a:bodyPr>
          <a:lstStyle/>
          <a:p>
            <a:pPr>
              <a:spcAft>
                <a:spcPts val="300"/>
              </a:spcAft>
            </a:pPr>
            <a:r>
              <a:rPr sz="1600" b="1" i="0">
                <a:solidFill>
                  <a:srgbClr val="1A1A1A"/>
                </a:solidFill>
                <a:latin typeface="Arial"/>
              </a:rPr>
              <a:t>implemented</a:t>
            </a:r>
          </a:p>
          <a:p>
            <a:pPr>
              <a:spcAft>
                <a:spcPts val="300"/>
              </a:spcAft>
            </a:pPr>
            <a:r>
              <a:rPr sz="1400" b="0" i="0">
                <a:solidFill>
                  <a:srgbClr val="595959"/>
                </a:solidFill>
                <a:latin typeface="Arial"/>
              </a:rPr>
              <a:t>41 · 54%</a:t>
            </a:r>
          </a:p>
        </p:txBody>
      </p:sp>
      <p:sp>
        <p:nvSpPr>
          <p:cNvPr id="6" name="Rectangle 5"/>
          <p:cNvSpPr/>
          <p:nvPr/>
        </p:nvSpPr>
        <p:spPr>
          <a:xfrm>
            <a:off x="621792" y="21534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194560"/>
            <a:ext cx="10984687" cy="777240"/>
          </a:xfrm>
          <a:prstGeom prst="rect">
            <a:avLst/>
          </a:prstGeom>
          <a:noFill/>
        </p:spPr>
        <p:txBody>
          <a:bodyPr wrap="square">
            <a:spAutoFit/>
          </a:bodyPr>
          <a:lstStyle/>
          <a:p>
            <a:pPr>
              <a:spcAft>
                <a:spcPts val="300"/>
              </a:spcAft>
            </a:pPr>
            <a:r>
              <a:rPr sz="1600" b="1" i="0">
                <a:solidFill>
                  <a:srgbClr val="1A1A1A"/>
                </a:solidFill>
                <a:latin typeface="Arial"/>
              </a:rPr>
              <a:t>simulated</a:t>
            </a:r>
          </a:p>
          <a:p>
            <a:pPr>
              <a:spcAft>
                <a:spcPts val="300"/>
              </a:spcAft>
            </a:pPr>
            <a:r>
              <a:rPr sz="1400" b="0" i="0">
                <a:solidFill>
                  <a:srgbClr val="595959"/>
                </a:solidFill>
                <a:latin typeface="Arial"/>
              </a:rPr>
              <a:t>6 · 8%</a:t>
            </a:r>
          </a:p>
        </p:txBody>
      </p:sp>
      <p:sp>
        <p:nvSpPr>
          <p:cNvPr id="8" name="Rectangle 7"/>
          <p:cNvSpPr/>
          <p:nvPr/>
        </p:nvSpPr>
        <p:spPr>
          <a:xfrm>
            <a:off x="621792" y="29763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017520"/>
            <a:ext cx="10984687" cy="777240"/>
          </a:xfrm>
          <a:prstGeom prst="rect">
            <a:avLst/>
          </a:prstGeom>
          <a:noFill/>
        </p:spPr>
        <p:txBody>
          <a:bodyPr wrap="square">
            <a:spAutoFit/>
          </a:bodyPr>
          <a:lstStyle/>
          <a:p>
            <a:pPr>
              <a:spcAft>
                <a:spcPts val="300"/>
              </a:spcAft>
            </a:pPr>
            <a:r>
              <a:rPr sz="1600" b="1" i="0">
                <a:solidFill>
                  <a:srgbClr val="1A1A1A"/>
                </a:solidFill>
                <a:latin typeface="Arial"/>
              </a:rPr>
              <a:t>named absence</a:t>
            </a:r>
          </a:p>
          <a:p>
            <a:pPr>
              <a:spcAft>
                <a:spcPts val="300"/>
              </a:spcAft>
            </a:pPr>
            <a:r>
              <a:rPr sz="1400" b="0" i="0">
                <a:solidFill>
                  <a:srgbClr val="595959"/>
                </a:solidFill>
                <a:latin typeface="Arial"/>
              </a:rPr>
              <a:t>24 · 32%</a:t>
            </a:r>
          </a:p>
        </p:txBody>
      </p:sp>
      <p:sp>
        <p:nvSpPr>
          <p:cNvPr id="10" name="Rectangle 9"/>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840480"/>
            <a:ext cx="10984687" cy="777240"/>
          </a:xfrm>
          <a:prstGeom prst="rect">
            <a:avLst/>
          </a:prstGeom>
          <a:noFill/>
        </p:spPr>
        <p:txBody>
          <a:bodyPr wrap="square">
            <a:spAutoFit/>
          </a:bodyPr>
          <a:lstStyle/>
          <a:p>
            <a:pPr>
              <a:spcAft>
                <a:spcPts val="300"/>
              </a:spcAft>
            </a:pPr>
            <a:r>
              <a:rPr sz="1600" b="1" i="0">
                <a:solidFill>
                  <a:srgbClr val="1A1A1A"/>
                </a:solidFill>
                <a:latin typeface="Arial"/>
              </a:rPr>
              <a:t>out of scope</a:t>
            </a:r>
          </a:p>
          <a:p>
            <a:pPr>
              <a:spcAft>
                <a:spcPts val="300"/>
              </a:spcAft>
            </a:pPr>
            <a:r>
              <a:rPr sz="1400" b="0" i="0">
                <a:solidFill>
                  <a:srgbClr val="595959"/>
                </a:solidFill>
                <a:latin typeface="Arial"/>
              </a:rPr>
              <a:t>4 · 5%</a:t>
            </a:r>
          </a:p>
        </p:txBody>
      </p:sp>
      <p:sp>
        <p:nvSpPr>
          <p:cNvPr id="12" name="Rectangle 11"/>
          <p:cNvSpPr/>
          <p:nvPr/>
        </p:nvSpPr>
        <p:spPr>
          <a:xfrm>
            <a:off x="621792" y="46222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4663440"/>
            <a:ext cx="10984687" cy="777240"/>
          </a:xfrm>
          <a:prstGeom prst="rect">
            <a:avLst/>
          </a:prstGeom>
          <a:noFill/>
        </p:spPr>
        <p:txBody>
          <a:bodyPr wrap="square">
            <a:spAutoFit/>
          </a:bodyPr>
          <a:lstStyle/>
          <a:p>
            <a:pPr>
              <a:spcAft>
                <a:spcPts val="300"/>
              </a:spcAft>
            </a:pPr>
            <a:r>
              <a:rPr sz="1600" b="1" i="0">
                <a:solidFill>
                  <a:srgbClr val="1A1A1A"/>
                </a:solidFill>
                <a:latin typeface="Arial"/>
              </a:rPr>
              <a:t>**total**</a:t>
            </a:r>
          </a:p>
          <a:p>
            <a:pPr>
              <a:spcAft>
                <a:spcPts val="300"/>
              </a:spcAft>
            </a:pPr>
            <a:r>
              <a:rPr sz="1400" b="0" i="0">
                <a:solidFill>
                  <a:srgbClr val="595959"/>
                </a:solidFill>
                <a:latin typeface="Arial"/>
              </a:rPr>
              <a:t>**75**</a:t>
            </a:r>
          </a:p>
        </p:txBody>
      </p:sp>
      <p:sp>
        <p:nvSpPr>
          <p:cNvPr id="14" name="TextBox 13"/>
          <p:cNvSpPr txBox="1"/>
          <p:nvPr/>
        </p:nvSpPr>
        <p:spPr>
          <a:xfrm>
            <a:off x="658368" y="5614416"/>
            <a:ext cx="10881360" cy="420624"/>
          </a:xfrm>
          <a:prstGeom prst="rect">
            <a:avLst/>
          </a:prstGeom>
          <a:noFill/>
        </p:spPr>
        <p:txBody>
          <a:bodyPr wrap="square">
            <a:spAutoFit/>
          </a:bodyPr>
          <a:lstStyle/>
          <a:p>
            <a:r>
              <a:rPr sz="1550" b="1" i="0">
                <a:solidFill>
                  <a:srgbClr val="006E96"/>
                </a:solidFill>
                <a:latin typeface="Arial"/>
              </a:rPr>
              <a:t>What this demonstration is honest about: 41 implemented, 6 simulated, 24 named absences, 4 out of scope.</a:t>
            </a:r>
          </a:p>
        </p:txBody>
      </p:sp>
      <p:sp>
        <p:nvSpPr>
          <p:cNvPr id="15" name="TextBox 14"/>
          <p:cNvSpPr txBox="1"/>
          <p:nvPr/>
        </p:nvSpPr>
        <p:spPr>
          <a:xfrm>
            <a:off x="658368" y="6025896"/>
            <a:ext cx="10881360" cy="274320"/>
          </a:xfrm>
          <a:prstGeom prst="rect">
            <a:avLst/>
          </a:prstGeom>
          <a:noFill/>
        </p:spPr>
        <p:txBody>
          <a:bodyPr wrap="square">
            <a:spAutoFit/>
          </a:bodyPr>
          <a:lstStyle/>
          <a:p>
            <a:r>
              <a:rPr sz="900" b="0" i="0">
                <a:solidFill>
                  <a:srgbClr val="595959"/>
                </a:solidFill>
                <a:latin typeface="Arial"/>
              </a:rPr>
              <a:t>captured from the demonstration federation · X-Road 7.7.0 · pack a28b74c · 2026-09-30</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From demonstration to production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Never ship the demonstration as production</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PERFECT FOR</a:t>
            </a:r>
          </a:p>
          <a:p>
            <a:pPr>
              <a:spcAft>
                <a:spcPts val="700"/>
              </a:spcAft>
            </a:pPr>
            <a:r>
              <a:rPr sz="1600" b="0" i="0">
                <a:solidFill>
                  <a:srgbClr val="1A1A1A"/>
                </a:solidFill>
                <a:latin typeface="Arial"/>
              </a:rPr>
              <a:t>Proving the pattern.</a:t>
            </a:r>
          </a:p>
          <a:p>
            <a:pPr>
              <a:spcAft>
                <a:spcPts val="700"/>
              </a:spcAft>
            </a:pPr>
            <a:r>
              <a:rPr sz="1600" b="0" i="0">
                <a:solidFill>
                  <a:srgbClr val="1A1A1A"/>
                </a:solidFill>
                <a:latin typeface="Arial"/>
              </a:rPr>
              <a:t>A sandboxed single-VM federation with a test CA.</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WRONG FOR</a:t>
            </a:r>
          </a:p>
          <a:p>
            <a:pPr>
              <a:spcAft>
                <a:spcPts val="700"/>
              </a:spcAft>
            </a:pPr>
            <a:r>
              <a:rPr sz="1600" b="0" i="0">
                <a:solidFill>
                  <a:srgbClr val="1A1A1A"/>
                </a:solidFill>
                <a:latin typeface="Arial"/>
              </a:rPr>
              <a:t>Carrying real citizen data at scale.</a:t>
            </a:r>
          </a:p>
          <a:p>
            <a:pPr>
              <a:spcAft>
                <a:spcPts val="700"/>
              </a:spcAft>
            </a:pPr>
            <a:r>
              <a:rPr sz="1600" b="0" i="0">
                <a:solidFill>
                  <a:srgbClr val="1A1A1A"/>
                </a:solidFill>
                <a:latin typeface="Arial"/>
              </a:rPr>
              <a:t>Anything a country has to run.</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Know the gap, plan it into the phased roadmap, budget it with the cost frame.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From demonstration to production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Production is the demonstration's pattern, hardened — separate hosts, a real CA, high availability, monitoring, support. Plan the gap; do not ship the demo.</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the demonstration-to-production gap checklist.</a:t>
            </a:r>
          </a:p>
          <a:p>
            <a:pPr algn="l">
              <a:spcAft>
                <a:spcPts val="400"/>
              </a:spcAft>
            </a:pPr>
            <a:r>
              <a:rPr sz="1800" b="0" i="0">
                <a:solidFill>
                  <a:srgbClr val="595959"/>
                </a:solidFill>
                <a:latin typeface="Arial"/>
              </a:rPr>
              <a:t>The prompt in the companion material gives you a gap checklist mapped to the phased plan and cost frame.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From demonstration to production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NIIS X-Road production and operations guidance (niis.org)</a:t>
            </a:r>
          </a:p>
          <a:p>
            <a:pPr>
              <a:spcAft>
                <a:spcPts val="1200"/>
              </a:spcAft>
            </a:pPr>
            <a:r>
              <a:rPr sz="1700" b="0" i="0">
                <a:solidFill>
                  <a:srgbClr val="1A1A1A"/>
                </a:solidFill>
                <a:latin typeface="Arial"/>
              </a:rPr>
              <a:t>•  ITU DPI Safeguards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From demonstration to production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5 · VIDEO 5.8</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5.8</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Watch the bus — monitoring and anomaly detection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Point Claude at the bus's operational monitoring data — never its message log — to spot a failing or unusual exchange early.</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running bus is not finished. It is operating, every day.</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Every call leaves a record in the bus's monitoring data.</a:t>
            </a:r>
          </a:p>
          <a:p>
            <a:pPr>
              <a:spcAft>
                <a:spcPts val="800"/>
              </a:spcAft>
            </a:pPr>
            <a:r>
              <a:rPr sz="1700" b="0" i="0">
                <a:solidFill>
                  <a:srgbClr val="595959"/>
                </a:solidFill>
                <a:latin typeface="Arial"/>
              </a:rPr>
              <a:t>Reading it by hand does not scale past a few services.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5.8 · Watch the bus — monitoring and anomaly detection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the monitoring data shows</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Which exchanges failed</a:t>
            </a:r>
          </a:p>
          <a:p>
            <a:pPr>
              <a:spcAft>
                <a:spcPts val="300"/>
              </a:spcAft>
            </a:pPr>
            <a:r>
              <a:rPr sz="1550" b="0" i="0">
                <a:solidFill>
                  <a:srgbClr val="595959"/>
                </a:solidFill>
                <a:latin typeface="Arial"/>
              </a:rPr>
              <a:t>And how often, service by service.</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Latency</a:t>
            </a:r>
          </a:p>
          <a:p>
            <a:pPr>
              <a:spcAft>
                <a:spcPts val="300"/>
              </a:spcAft>
            </a:pPr>
            <a:r>
              <a:rPr sz="1550" b="0" i="0">
                <a:solidFill>
                  <a:srgbClr val="595959"/>
                </a:solidFill>
                <a:latin typeface="Arial"/>
              </a:rPr>
              <a:t>Whether calls are getting slower — a service under strain.</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Unusual patterns</a:t>
            </a:r>
          </a:p>
          <a:p>
            <a:pPr>
              <a:spcAft>
                <a:spcPts val="300"/>
              </a:spcAft>
            </a:pPr>
            <a:r>
              <a:rPr sz="1550" b="0" i="0">
                <a:solidFill>
                  <a:srgbClr val="595959"/>
                </a:solidFill>
                <a:latin typeface="Arial"/>
              </a:rPr>
              <a:t>A spike, a new caller, a surge at three in the morning.</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Read daily for health. Summarised each quarter for the Steering Committee.</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5.8 · Watch the bus — monitoring and anomaly detection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safeguards that are not optional</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AI FLAGS, A HUMAN INVESTIGATES</a:t>
            </a:r>
          </a:p>
          <a:p>
            <a:pPr>
              <a:spcAft>
                <a:spcPts val="700"/>
              </a:spcAft>
            </a:pPr>
            <a:r>
              <a:rPr sz="1600" b="0" i="0">
                <a:solidFill>
                  <a:srgbClr val="1A1A1A"/>
                </a:solidFill>
                <a:latin typeface="Arial"/>
              </a:rPr>
              <a:t>An anomaly is a question to look into.</a:t>
            </a:r>
          </a:p>
          <a:p>
            <a:pPr>
              <a:spcAft>
                <a:spcPts val="700"/>
              </a:spcAft>
            </a:pPr>
            <a:r>
              <a:rPr sz="1600" b="0" i="0">
                <a:solidFill>
                  <a:srgbClr val="1A1A1A"/>
                </a:solidFill>
                <a:latin typeface="Arial"/>
              </a:rPr>
              <a:t>Not a verdict to act on automatically.</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TRAFFIC, NEVER THE CARGO</a:t>
            </a:r>
          </a:p>
          <a:p>
            <a:pPr>
              <a:spcAft>
                <a:spcPts val="700"/>
              </a:spcAft>
            </a:pPr>
            <a:r>
              <a:rPr sz="1600" b="0" i="0">
                <a:solidFill>
                  <a:srgbClr val="1A1A1A"/>
                </a:solidFill>
                <a:latin typeface="Arial"/>
              </a:rPr>
              <a:t>Monitoring data: which service, whether it worked, how fast.</a:t>
            </a:r>
          </a:p>
          <a:p>
            <a:pPr>
              <a:spcAft>
                <a:spcPts val="700"/>
              </a:spcAft>
            </a:pPr>
            <a:r>
              <a:rPr sz="1600" b="0" i="0">
                <a:solidFill>
                  <a:srgbClr val="1A1A1A"/>
                </a:solidFill>
                <a:latin typeface="Arial"/>
              </a:rPr>
              <a:t>Never the message log — it keeps the messages themselves.</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Monitor the traffic, never the cargo.</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5.8 · Watch the bus — monitoring and anomaly detection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monitoring data holds the bus's health — the AI makes it legible, a human acts on the flags, and the cargo never enters the prompt.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Summarise bus health and flag anomalies from the monitoring data.</a:t>
            </a:r>
          </a:p>
          <a:p>
            <a:pPr algn="l">
              <a:spcAft>
                <a:spcPts val="400"/>
              </a:spcAft>
            </a:pPr>
            <a:r>
              <a:rPr sz="1800" b="0" i="0">
                <a:solidFill>
                  <a:srgbClr val="595959"/>
                </a:solidFill>
                <a:latin typeface="Arial"/>
              </a:rPr>
              <a:t>The prompt in the companion material gives you a health summary plus a prioritised list of anomalies to investigate.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5.8 · Watch the bus — monitoring and anomaly detection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NIIS X-Road operational monitoring (niis.org)</a:t>
            </a:r>
          </a:p>
          <a:p>
            <a:pPr>
              <a:spcAft>
                <a:spcPts val="1200"/>
              </a:spcAft>
            </a:pPr>
            <a:r>
              <a:rPr sz="1700" b="0" i="0">
                <a:solidFill>
                  <a:srgbClr val="1A1A1A"/>
                </a:solidFill>
                <a:latin typeface="Arial"/>
              </a:rPr>
              <a:t>•  NIIS X-Road message log (niis.org)</a:t>
            </a:r>
          </a:p>
          <a:p>
            <a:pPr>
              <a:spcAft>
                <a:spcPts val="1200"/>
              </a:spcAft>
            </a:pPr>
            <a:r>
              <a:rPr sz="1700" b="0" i="0">
                <a:solidFill>
                  <a:srgbClr val="1A1A1A"/>
                </a:solidFill>
                <a:latin typeface="Arial"/>
              </a:rPr>
              <a:t>•  ITU DPI Safeguards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5.8 · Watch the bus — monitoring and anomaly detection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5 · VIDEO 5.9</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5.9</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Keep the documents honest — the consistency cross-check</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Keep the decree, the Governance Pack and the standards portfolio saying the same thing — a cross-check that catches drift across the three.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Three documents that must agree — and, left alone, drift apart.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decree, the Governance Pack, the standards portfolio.</a:t>
            </a:r>
          </a:p>
          <a:p>
            <a:pPr>
              <a:spcAft>
                <a:spcPts val="800"/>
              </a:spcAft>
            </a:pPr>
            <a:r>
              <a:rPr sz="1700" b="0" i="0">
                <a:solidFill>
                  <a:srgbClr val="595959"/>
                </a:solidFill>
                <a:latin typeface="Arial"/>
              </a:rPr>
              <a:t>Find the contradictions before a reviewer does.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5.9 · Keep the documents honest — the consistency cross-check</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Drift is specific and predictable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A standard updated in the portfolio</a:t>
            </a:r>
          </a:p>
          <a:p>
            <a:pPr>
              <a:spcAft>
                <a:spcPts val="300"/>
              </a:spcAft>
            </a:pPr>
            <a:r>
              <a:rPr sz="1550" b="0" i="0">
                <a:solidFill>
                  <a:srgbClr val="595959"/>
                </a:solidFill>
                <a:latin typeface="Arial"/>
              </a:rPr>
              <a:t>But the decree still references the old version.</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A body in the RACI</a:t>
            </a:r>
          </a:p>
          <a:p>
            <a:pPr>
              <a:spcAft>
                <a:spcPts val="300"/>
              </a:spcAft>
            </a:pPr>
            <a:r>
              <a:rPr sz="1550" b="0" i="0">
                <a:solidFill>
                  <a:srgbClr val="595959"/>
                </a:solidFill>
                <a:latin typeface="Arial"/>
              </a:rPr>
              <a:t>That the Governance Pack no longer describes.</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An exchange the decree authorises</a:t>
            </a:r>
          </a:p>
          <a:p>
            <a:pPr>
              <a:spcAft>
                <a:spcPts val="300"/>
              </a:spcAft>
            </a:pPr>
            <a:r>
              <a:rPr sz="1550" b="0" i="0">
                <a:solidFill>
                  <a:srgbClr val="595959"/>
                </a:solidFill>
                <a:latin typeface="Arial"/>
              </a:rPr>
              <a:t>That no service implements — or a service the decree never authorised.</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One term, three meanings</a:t>
            </a:r>
          </a:p>
          <a:p>
            <a:pPr>
              <a:spcAft>
                <a:spcPts val="300"/>
              </a:spcAft>
            </a:pPr>
            <a:r>
              <a:rPr sz="1550" b="0" i="0">
                <a:solidFill>
                  <a:srgbClr val="595959"/>
                </a:solidFill>
                <a:latin typeface="Arial"/>
              </a:rPr>
              <a:t>"Member", "service", "authority" — used slightly differently in each.</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Each one quietly undermines the framework the moment someone notices.</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5.9 · Keep the documents honest — the consistency cross-check</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Read the three together — before a reviewer does</a:t>
            </a:r>
          </a:p>
        </p:txBody>
      </p:sp>
      <p:cxnSp>
        <p:nvCxnSpPr>
          <p:cNvPr id="4" name="Connector 3"/>
          <p:cNvCxnSpPr/>
          <p:nvPr/>
        </p:nvCxnSpPr>
        <p:spPr>
          <a:xfrm>
            <a:off x="4544568" y="2125980"/>
            <a:ext cx="1719072" cy="121158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544568" y="3337560"/>
            <a:ext cx="1719072" cy="2286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544568" y="3337560"/>
            <a:ext cx="1719072" cy="125730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58368" y="1600200"/>
            <a:ext cx="3840480" cy="105156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006E96"/>
                </a:solidFill>
                <a:latin typeface="Arial"/>
              </a:rPr>
              <a:t>THE DECREE</a:t>
            </a:r>
          </a:p>
          <a:p>
            <a:pPr algn="l">
              <a:spcAft>
                <a:spcPts val="300"/>
              </a:spcAft>
            </a:pPr>
            <a:r>
              <a:rPr sz="1600" b="0" i="0">
                <a:solidFill>
                  <a:srgbClr val="1A1A1A"/>
                </a:solidFill>
                <a:latin typeface="Arial"/>
              </a:rPr>
              <a:t>The legal layer</a:t>
            </a:r>
          </a:p>
        </p:txBody>
      </p:sp>
      <p:sp>
        <p:nvSpPr>
          <p:cNvPr id="8" name="Rounded Rectangle 7"/>
          <p:cNvSpPr/>
          <p:nvPr/>
        </p:nvSpPr>
        <p:spPr>
          <a:xfrm>
            <a:off x="658368" y="2834640"/>
            <a:ext cx="3840480" cy="105156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006E96"/>
                </a:solidFill>
                <a:latin typeface="Arial"/>
              </a:rPr>
              <a:t>THE GOVERNANCE PACK</a:t>
            </a:r>
          </a:p>
          <a:p>
            <a:pPr algn="l">
              <a:spcAft>
                <a:spcPts val="300"/>
              </a:spcAft>
            </a:pPr>
            <a:r>
              <a:rPr sz="1600" b="0" i="0">
                <a:solidFill>
                  <a:srgbClr val="1A1A1A"/>
                </a:solidFill>
                <a:latin typeface="Arial"/>
              </a:rPr>
              <a:t>The organisational layer</a:t>
            </a:r>
          </a:p>
        </p:txBody>
      </p:sp>
      <p:sp>
        <p:nvSpPr>
          <p:cNvPr id="9" name="Rounded Rectangle 8"/>
          <p:cNvSpPr/>
          <p:nvPr/>
        </p:nvSpPr>
        <p:spPr>
          <a:xfrm>
            <a:off x="658368" y="4069080"/>
            <a:ext cx="3840480" cy="105156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006E96"/>
                </a:solidFill>
                <a:latin typeface="Arial"/>
              </a:rPr>
              <a:t>THE STANDARDS PORTFOLIO</a:t>
            </a:r>
          </a:p>
          <a:p>
            <a:pPr algn="l">
              <a:spcAft>
                <a:spcPts val="300"/>
              </a:spcAft>
            </a:pPr>
            <a:r>
              <a:rPr sz="1600" b="0" i="0">
                <a:solidFill>
                  <a:srgbClr val="1A1A1A"/>
                </a:solidFill>
                <a:latin typeface="Arial"/>
              </a:rPr>
              <a:t>The technical layer</a:t>
            </a:r>
          </a:p>
        </p:txBody>
      </p:sp>
      <p:sp>
        <p:nvSpPr>
          <p:cNvPr id="10" name="Rounded Rectangle 9"/>
          <p:cNvSpPr/>
          <p:nvPr/>
        </p:nvSpPr>
        <p:spPr>
          <a:xfrm>
            <a:off x="6309360" y="2194560"/>
            <a:ext cx="5230368" cy="228600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900" b="1" i="0">
                <a:solidFill>
                  <a:srgbClr val="FFFFFF"/>
                </a:solidFill>
                <a:latin typeface="Arial"/>
              </a:rPr>
              <a:t>THE CROSS-CHECK</a:t>
            </a:r>
          </a:p>
          <a:p>
            <a:pPr algn="l">
              <a:spcAft>
                <a:spcPts val="300"/>
              </a:spcAft>
            </a:pPr>
            <a:r>
              <a:rPr sz="1700" b="0" i="0">
                <a:solidFill>
                  <a:srgbClr val="FFFFFF"/>
                </a:solidFill>
                <a:latin typeface="Arial"/>
              </a:rPr>
              <a:t>Reads all three documents together.</a:t>
            </a:r>
          </a:p>
          <a:p>
            <a:pPr algn="l">
              <a:spcAft>
                <a:spcPts val="300"/>
              </a:spcAft>
            </a:pPr>
            <a:r>
              <a:rPr sz="1700" b="0" i="0">
                <a:solidFill>
                  <a:srgbClr val="FFFFFF"/>
                </a:solidFill>
                <a:latin typeface="Arial"/>
              </a:rPr>
              <a:t>Reports where they disagree, and on what.</a:t>
            </a:r>
          </a:p>
          <a:p>
            <a:pPr algn="l">
              <a:spcAft>
                <a:spcPts val="300"/>
              </a:spcAft>
            </a:pPr>
            <a:r>
              <a:rPr sz="1700" b="0" i="0">
                <a:solidFill>
                  <a:srgbClr val="FFFFFF"/>
                </a:solidFill>
                <a:latin typeface="Arial"/>
              </a:rPr>
              <a:t>Bus monitoring watches the traffic; this watches the documents.</a:t>
            </a:r>
          </a:p>
        </p:txBody>
      </p:sp>
      <p:sp>
        <p:nvSpPr>
          <p:cNvPr id="11" name="TextBox 10"/>
          <p:cNvSpPr txBox="1"/>
          <p:nvPr/>
        </p:nvSpPr>
        <p:spPr>
          <a:xfrm>
            <a:off x="658368" y="5440680"/>
            <a:ext cx="10881360" cy="548640"/>
          </a:xfrm>
          <a:prstGeom prst="rect">
            <a:avLst/>
          </a:prstGeom>
          <a:noFill/>
        </p:spPr>
        <p:txBody>
          <a:bodyPr wrap="square">
            <a:spAutoFit/>
          </a:bodyPr>
          <a:lstStyle/>
          <a:p>
            <a:r>
              <a:rPr sz="1550" b="1" i="0">
                <a:solidFill>
                  <a:srgbClr val="006E96"/>
                </a:solidFill>
                <a:latin typeface="Arial"/>
              </a:rPr>
              <a:t>Caught by you — not by a Ministry of Justice reviewer, a joining member or an auditor.</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5.9 · Keep the documents honest — the consistency cross-check</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AI finds the drift — a person decides which is right</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Whether the catalogue or the decree is correct is a judgement with legal and governance consequences.</a:t>
            </a:r>
          </a:p>
          <a:p>
            <a:pPr>
              <a:spcAft>
                <a:spcPts val="1200"/>
              </a:spcAft>
            </a:pPr>
            <a:r>
              <a:rPr sz="2000" b="0" i="0">
                <a:solidFill>
                  <a:srgbClr val="1A1A1A"/>
                </a:solidFill>
                <a:latin typeface="Arial"/>
              </a:rPr>
              <a:t>So the play never edits the decree on its own. Run it whenever any of the three changes.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Consistency is a direction, not an automatic edit.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5.9 · Keep the documents honest — the consistency cross-check</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Cross-check the decree, the Governance Pack and the standards portfolio — the AI finds the drift, a human resolves which document is right.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Cross-check the decree, Governance Pack and standards portfolio for drift.</a:t>
            </a:r>
          </a:p>
          <a:p>
            <a:pPr algn="l">
              <a:spcAft>
                <a:spcPts val="400"/>
              </a:spcAft>
            </a:pPr>
            <a:r>
              <a:rPr sz="1800" b="0" i="0">
                <a:solidFill>
                  <a:srgbClr val="595959"/>
                </a:solidFill>
                <a:latin typeface="Arial"/>
              </a:rPr>
              <a:t>The prompt in the companion material gives you a contradiction table with a human question for each, ordered by risk.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5.9 · Keep the documents honest — the consistency cross-check</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The decree — Module 2</a:t>
            </a:r>
          </a:p>
          <a:p>
            <a:pPr>
              <a:spcAft>
                <a:spcPts val="1200"/>
              </a:spcAft>
            </a:pPr>
            <a:r>
              <a:rPr sz="1700" b="0" i="0">
                <a:solidFill>
                  <a:srgbClr val="1A1A1A"/>
                </a:solidFill>
                <a:latin typeface="Arial"/>
              </a:rPr>
              <a:t>•  The Governance Pack — Module 3</a:t>
            </a:r>
          </a:p>
          <a:p>
            <a:pPr>
              <a:spcAft>
                <a:spcPts val="1200"/>
              </a:spcAft>
            </a:pPr>
            <a:r>
              <a:rPr sz="1700" b="0" i="0">
                <a:solidFill>
                  <a:srgbClr val="1A1A1A"/>
                </a:solidFill>
                <a:latin typeface="Arial"/>
              </a:rPr>
              <a:t>•  The standards portfolio — Module 4</a:t>
            </a:r>
          </a:p>
          <a:p>
            <a:pPr>
              <a:spcAft>
                <a:spcPts val="1200"/>
              </a:spcAft>
            </a:pPr>
            <a:r>
              <a:rPr sz="1700" b="0" i="0">
                <a:solidFill>
                  <a:srgbClr val="1A1A1A"/>
                </a:solidFill>
                <a:latin typeface="Arial"/>
              </a:rPr>
              <a:t>•  EU European Interoperability Framework (EIF)</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5.9 · Keep the documents honest — the consistency cross-check</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5 · VIDEO 5.10</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5.10</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Carry the framework to the next sector</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same four-layer framework stands up interoperability beyond education — the method is sector-portable, and the second sector is cheaper than the first.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framework was built on education. It is not education-specific.</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Know what carries to the next sector unchanged, and what is new.</a:t>
            </a:r>
          </a:p>
          <a:p>
            <a:pPr>
              <a:spcAft>
                <a:spcPts val="800"/>
              </a:spcAft>
            </a:pPr>
            <a:r>
              <a:rPr sz="1700" b="0" i="0">
                <a:solidFill>
                  <a:srgbClr val="595959"/>
                </a:solidFill>
                <a:latin typeface="Arial"/>
              </a:rPr>
              <a:t>Get that split right, and the second sector pays only for its own vocabularies and services.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5.10 · Carry the framework to the next sector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things are new per sector — the rest carries unchanged</a:t>
            </a:r>
          </a:p>
        </p:txBody>
      </p:sp>
      <p:sp>
        <p:nvSpPr>
          <p:cNvPr id="4" name="Rounded Rectangle 3"/>
          <p:cNvSpPr/>
          <p:nvPr/>
        </p:nvSpPr>
        <p:spPr>
          <a:xfrm>
            <a:off x="658368" y="1554480"/>
            <a:ext cx="5394960" cy="3383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108960"/>
          </a:xfrm>
          <a:prstGeom prst="rect">
            <a:avLst/>
          </a:prstGeom>
          <a:noFill/>
        </p:spPr>
        <p:txBody>
          <a:bodyPr wrap="square">
            <a:spAutoFit/>
          </a:bodyPr>
          <a:lstStyle/>
          <a:p>
            <a:pPr>
              <a:spcAft>
                <a:spcPts val="700"/>
              </a:spcAft>
            </a:pPr>
            <a:r>
              <a:rPr sz="1900" b="1" i="0">
                <a:solidFill>
                  <a:srgbClr val="006E96"/>
                </a:solidFill>
                <a:latin typeface="Arial"/>
              </a:rPr>
              <a:t>CARRIES UNCHANGED</a:t>
            </a:r>
          </a:p>
          <a:p>
            <a:pPr>
              <a:spcAft>
                <a:spcPts val="700"/>
              </a:spcAft>
            </a:pPr>
            <a:r>
              <a:rPr sz="1600" b="0" i="0">
                <a:solidFill>
                  <a:srgbClr val="1A1A1A"/>
                </a:solidFill>
                <a:latin typeface="Arial"/>
              </a:rPr>
              <a:t>The four layers</a:t>
            </a:r>
          </a:p>
          <a:p>
            <a:pPr>
              <a:spcAft>
                <a:spcPts val="700"/>
              </a:spcAft>
            </a:pPr>
            <a:r>
              <a:rPr sz="1600" b="0" i="0">
                <a:solidFill>
                  <a:srgbClr val="1A1A1A"/>
                </a:solidFill>
                <a:latin typeface="Arial"/>
              </a:rPr>
              <a:t>The decree pattern</a:t>
            </a:r>
          </a:p>
          <a:p>
            <a:pPr>
              <a:spcAft>
                <a:spcPts val="700"/>
              </a:spcAft>
            </a:pPr>
            <a:r>
              <a:rPr sz="1600" b="0" i="0">
                <a:solidFill>
                  <a:srgbClr val="1A1A1A"/>
                </a:solidFill>
                <a:latin typeface="Arial"/>
              </a:rPr>
              <a:t>The governance — tiers, RACI, Operating Authority</a:t>
            </a:r>
          </a:p>
          <a:p>
            <a:pPr>
              <a:spcAft>
                <a:spcPts val="700"/>
              </a:spcAft>
            </a:pPr>
            <a:r>
              <a:rPr sz="1600" b="0" i="0">
                <a:solidFill>
                  <a:srgbClr val="1A1A1A"/>
                </a:solidFill>
                <a:latin typeface="Arial"/>
              </a:rPr>
              <a:t>The standards portfolio</a:t>
            </a:r>
          </a:p>
          <a:p>
            <a:pPr>
              <a:spcAft>
                <a:spcPts val="700"/>
              </a:spcAft>
            </a:pPr>
            <a:r>
              <a:rPr sz="1600" b="0" i="0">
                <a:solidFill>
                  <a:srgbClr val="1A1A1A"/>
                </a:solidFill>
                <a:latin typeface="Arial"/>
              </a:rPr>
              <a:t>The bus itself, already running</a:t>
            </a:r>
          </a:p>
        </p:txBody>
      </p:sp>
      <p:sp>
        <p:nvSpPr>
          <p:cNvPr id="6" name="Rounded Rectangle 5"/>
          <p:cNvSpPr/>
          <p:nvPr/>
        </p:nvSpPr>
        <p:spPr>
          <a:xfrm>
            <a:off x="6263640" y="1554480"/>
            <a:ext cx="5394960" cy="3383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108960"/>
          </a:xfrm>
          <a:prstGeom prst="rect">
            <a:avLst/>
          </a:prstGeom>
          <a:noFill/>
        </p:spPr>
        <p:txBody>
          <a:bodyPr wrap="square">
            <a:spAutoFit/>
          </a:bodyPr>
          <a:lstStyle/>
          <a:p>
            <a:pPr>
              <a:spcAft>
                <a:spcPts val="700"/>
              </a:spcAft>
            </a:pPr>
            <a:r>
              <a:rPr sz="1900" b="1" i="0">
                <a:solidFill>
                  <a:srgbClr val="006E96"/>
                </a:solidFill>
                <a:latin typeface="Arial"/>
              </a:rPr>
              <a:t>NEW PER SECTOR</a:t>
            </a:r>
          </a:p>
          <a:p>
            <a:pPr>
              <a:spcAft>
                <a:spcPts val="700"/>
              </a:spcAft>
            </a:pPr>
            <a:r>
              <a:rPr sz="1600" b="0" i="0">
                <a:solidFill>
                  <a:srgbClr val="1A1A1A"/>
                </a:solidFill>
                <a:latin typeface="Arial"/>
              </a:rPr>
              <a:t>The semantic layer — its vocabularies</a:t>
            </a:r>
          </a:p>
          <a:p>
            <a:pPr>
              <a:spcAft>
                <a:spcPts val="700"/>
              </a:spcAft>
            </a:pPr>
            <a:r>
              <a:rPr sz="1600" b="0" i="0">
                <a:solidFill>
                  <a:srgbClr val="1A1A1A"/>
                </a:solidFill>
                <a:latin typeface="Arial"/>
              </a:rPr>
              <a:t>The specific exchanges and services</a:t>
            </a:r>
          </a:p>
        </p:txBody>
      </p:sp>
      <p:sp>
        <p:nvSpPr>
          <p:cNvPr id="8" name="TextBox 7"/>
          <p:cNvSpPr txBox="1"/>
          <p:nvPr/>
        </p:nvSpPr>
        <p:spPr>
          <a:xfrm>
            <a:off x="658368" y="5120640"/>
            <a:ext cx="10881360" cy="548640"/>
          </a:xfrm>
          <a:prstGeom prst="rect">
            <a:avLst/>
          </a:prstGeom>
          <a:noFill/>
        </p:spPr>
        <p:txBody>
          <a:bodyPr wrap="square">
            <a:spAutoFit/>
          </a:bodyPr>
          <a:lstStyle/>
          <a:p>
            <a:r>
              <a:rPr sz="1550" b="1" i="0">
                <a:solidFill>
                  <a:srgbClr val="006E96"/>
                </a:solidFill>
                <a:latin typeface="Arial"/>
              </a:rPr>
              <a:t>Whichever sector goes first pays for the platform. The next is cheaper either way.</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5.10 · Carry the framework to the next sector</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planned framework gets cheaper with every sector</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first sector pays for the bus, the governance and the legal mandate.</a:t>
            </a:r>
          </a:p>
          <a:p>
            <a:pPr>
              <a:spcAft>
                <a:spcPts val="1200"/>
              </a:spcAft>
            </a:pPr>
            <a:r>
              <a:rPr sz="2000" b="0" i="0">
                <a:solidFill>
                  <a:srgbClr val="1A1A1A"/>
                </a:solidFill>
                <a:latin typeface="Arial"/>
              </a:rPr>
              <a:t>The second reuses all of it and pays only for its own semantics and services; the third reuses more still.</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 set of separate sector projects never gets cheaper.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5.10 · Carry the framework to the next sector</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portability map is the next sector's business case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Here is what we reuse — most of it.</a:t>
            </a:r>
          </a:p>
          <a:p>
            <a:pPr>
              <a:spcAft>
                <a:spcPts val="1200"/>
              </a:spcAft>
            </a:pPr>
            <a:r>
              <a:rPr sz="2000" b="0" i="0">
                <a:solidFill>
                  <a:srgbClr val="1A1A1A"/>
                </a:solidFill>
                <a:latin typeface="Arial"/>
              </a:rPr>
              <a:t>Here is the small, sector-specific part we build new.</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investment a strategist can defend for a decade.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5.10 · Carry the framework to the next sector</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framework is sector-portable — build the platform once, reuse it everywhere, and the next sector is cheaper than the last.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Map your framework's sector-portable vs sector-specific parts for a new sector.</a:t>
            </a:r>
          </a:p>
          <a:p>
            <a:pPr algn="l">
              <a:spcAft>
                <a:spcPts val="400"/>
              </a:spcAft>
            </a:pPr>
            <a:r>
              <a:rPr sz="1800" b="0" i="0">
                <a:solidFill>
                  <a:srgbClr val="595959"/>
                </a:solidFill>
                <a:latin typeface="Arial"/>
              </a:rPr>
              <a:t>The prompt in the companion material gives you a sector-portability map (reused / new) plus a minister-ready business case.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5.10 · Carry the framework to the next sector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Terms of Reference §4.4 — sector portability</a:t>
            </a:r>
          </a:p>
          <a:p>
            <a:pPr>
              <a:spcAft>
                <a:spcPts val="1200"/>
              </a:spcAft>
            </a:pPr>
            <a:r>
              <a:rPr sz="1700" b="0" i="0">
                <a:solidFill>
                  <a:srgbClr val="1A1A1A"/>
                </a:solidFill>
                <a:latin typeface="Arial"/>
              </a:rPr>
              <a:t>•  EU European Interoperability Framework — the four-layer model</a:t>
            </a:r>
          </a:p>
          <a:p>
            <a:pPr>
              <a:spcAft>
                <a:spcPts val="1200"/>
              </a:spcAft>
            </a:pPr>
            <a:r>
              <a:rPr sz="1700" b="0" i="0">
                <a:solidFill>
                  <a:srgbClr val="1A1A1A"/>
                </a:solidFill>
                <a:latin typeface="Arial"/>
              </a:rPr>
              <a:t>•  PAERA v1.0 — §3.4.3 (Interoperability framing)</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5.10 · Carry the framework to the next sector</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