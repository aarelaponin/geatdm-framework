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 id="271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wreck an onboarding schedule is to discover, on go-live day, that the joining agency is not actually ready — no security server, no adopted standards, no lawful basis. The Member Requirements template prevents that. It states, up front, exactly what an agency must have in place before it can join, so readiness is checked weeks ahead, not discovered at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requirements are concrete. A security server — the gateway device at the agency's edge. A registered identity on the bus — its subsystem. The standards portfolio adopted, so its services speak the framework's language. Its data cleaned and conformed to the agreed schema, because a member with stale or malformed data poisons every exchange that uses it. A lawful basis for the exchanges it will take part in, drawn from the decree. And a named technical contact who can actually fix things when they break. Miss any one, and the agency is not ready, however willing it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template turns readiness from a judgement call into an objective checklist. Instead of an architect deciding, agency by agency, whether someone seems ready, the agency works through the list and either meets each item or does not. That objectivity is what lets you schedule onboarding with confidence, and it protects the framework from a member that joins half-ready and breaks the exchanges it touches. It also takes the awkwardness out of saying 'not yet' — the list says it for you.</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checklist is not a separate form that gets filed and forgotten. In the build pack it is the front of the join request itself: the six answers travel in the request an applying agency submits, and they are checked before any operator can approve it. Two things sit beside it on purpose — the signed membership agreement and the named data-protection officer — and the pack says plainly where it does not hold them. An agency that passes the Member Requirements is an agency ready to be registered on the bus, which is the technical step that admits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such record, the examination authority's, rendered from its join request: each of the six items with what the agency stated, down to the named contact, its Head of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any agency is registered on the bus, it passes the Member Requirements: a security server, a registered identity, the standards adopted, clean data, a lawful basis, a named contact. The checklist makes readiness objective, lets you schedule onboarding instead of gambling on it, and is reused for every member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State what a member must have — the Member Requirements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Member Requirements template tells an agency exactly what it must have before it can join — no surprises at go-live.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fastest way to wreck an onboarding: find out on go-live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security server. No adopted standards. No lawful basis.</a:t>
            </a:r>
          </a:p>
          <a:p>
            <a:pPr>
              <a:spcAft>
                <a:spcPts val="800"/>
              </a:spcAft>
            </a:pPr>
            <a:r>
              <a:rPr sz="1700" b="0" i="0">
                <a:solidFill>
                  <a:srgbClr val="595959"/>
                </a:solidFill>
                <a:latin typeface="Arial"/>
              </a:rPr>
              <a:t>State what a member must have — and check it weeks ahead.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things a member must have before it joins</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701040"/>
          </a:xfrm>
          <a:prstGeom prst="rect">
            <a:avLst/>
          </a:prstGeom>
          <a:noFill/>
        </p:spPr>
        <p:txBody>
          <a:bodyPr wrap="square">
            <a:spAutoFit/>
          </a:bodyPr>
          <a:lstStyle/>
          <a:p>
            <a:pPr>
              <a:spcAft>
                <a:spcPts val="300"/>
              </a:spcAft>
            </a:pPr>
            <a:r>
              <a:rPr sz="1700" b="1" i="0">
                <a:solidFill>
                  <a:srgbClr val="1A1A1A"/>
                </a:solidFill>
                <a:latin typeface="Arial"/>
              </a:rPr>
              <a:t>A security server</a:t>
            </a:r>
          </a:p>
          <a:p>
            <a:pPr>
              <a:spcAft>
                <a:spcPts val="300"/>
              </a:spcAft>
            </a:pPr>
            <a:r>
              <a:rPr sz="1550" b="0" i="0">
                <a:solidFill>
                  <a:srgbClr val="595959"/>
                </a:solidFill>
                <a:latin typeface="Arial"/>
              </a:rPr>
              <a:t>Its gateway at the edge.</a:t>
            </a:r>
          </a:p>
        </p:txBody>
      </p:sp>
      <p:sp>
        <p:nvSpPr>
          <p:cNvPr id="6" name="Rectangle 5"/>
          <p:cNvSpPr/>
          <p:nvPr/>
        </p:nvSpPr>
        <p:spPr>
          <a:xfrm>
            <a:off x="621792" y="2077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640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18360"/>
            <a:ext cx="10527487" cy="701040"/>
          </a:xfrm>
          <a:prstGeom prst="rect">
            <a:avLst/>
          </a:prstGeom>
          <a:noFill/>
        </p:spPr>
        <p:txBody>
          <a:bodyPr wrap="square">
            <a:spAutoFit/>
          </a:bodyPr>
          <a:lstStyle/>
          <a:p>
            <a:pPr>
              <a:spcAft>
                <a:spcPts val="300"/>
              </a:spcAft>
            </a:pPr>
            <a:r>
              <a:rPr sz="1700" b="1" i="0">
                <a:solidFill>
                  <a:srgbClr val="1A1A1A"/>
                </a:solidFill>
                <a:latin typeface="Arial"/>
              </a:rPr>
              <a:t>A registered identity on the bus</a:t>
            </a:r>
          </a:p>
          <a:p>
            <a:pPr>
              <a:spcAft>
                <a:spcPts val="300"/>
              </a:spcAft>
            </a:pPr>
            <a:r>
              <a:rPr sz="1550" b="0" i="0">
                <a:solidFill>
                  <a:srgbClr val="595959"/>
                </a:solidFill>
                <a:latin typeface="Arial"/>
              </a:rPr>
              <a:t>Its subsystem.</a:t>
            </a:r>
          </a:p>
        </p:txBody>
      </p:sp>
      <p:sp>
        <p:nvSpPr>
          <p:cNvPr id="9" name="Rectangle 8"/>
          <p:cNvSpPr/>
          <p:nvPr/>
        </p:nvSpPr>
        <p:spPr>
          <a:xfrm>
            <a:off x="621792" y="2823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108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65120"/>
            <a:ext cx="10527487" cy="701040"/>
          </a:xfrm>
          <a:prstGeom prst="rect">
            <a:avLst/>
          </a:prstGeom>
          <a:noFill/>
        </p:spPr>
        <p:txBody>
          <a:bodyPr wrap="square">
            <a:spAutoFit/>
          </a:bodyPr>
          <a:lstStyle/>
          <a:p>
            <a:pPr>
              <a:spcAft>
                <a:spcPts val="300"/>
              </a:spcAft>
            </a:pPr>
            <a:r>
              <a:rPr sz="1700" b="1" i="0">
                <a:solidFill>
                  <a:srgbClr val="1A1A1A"/>
                </a:solidFill>
                <a:latin typeface="Arial"/>
              </a:rPr>
              <a:t>The standards portfolio, adopted</a:t>
            </a:r>
          </a:p>
          <a:p>
            <a:pPr>
              <a:spcAft>
                <a:spcPts val="300"/>
              </a:spcAft>
            </a:pPr>
            <a:r>
              <a:rPr sz="1550" b="0" i="0">
                <a:solidFill>
                  <a:srgbClr val="595959"/>
                </a:solidFill>
                <a:latin typeface="Arial"/>
              </a:rPr>
              <a:t>So its services speak the framework's language.</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701040"/>
          </a:xfrm>
          <a:prstGeom prst="rect">
            <a:avLst/>
          </a:prstGeom>
          <a:noFill/>
        </p:spPr>
        <p:txBody>
          <a:bodyPr wrap="square">
            <a:spAutoFit/>
          </a:bodyPr>
          <a:lstStyle/>
          <a:p>
            <a:pPr>
              <a:spcAft>
                <a:spcPts val="300"/>
              </a:spcAft>
            </a:pPr>
            <a:r>
              <a:rPr sz="1700" b="1" i="0">
                <a:solidFill>
                  <a:srgbClr val="1A1A1A"/>
                </a:solidFill>
                <a:latin typeface="Arial"/>
              </a:rPr>
              <a:t>Its data cleaned and conformed to the schema</a:t>
            </a:r>
          </a:p>
          <a:p>
            <a:pPr>
              <a:spcAft>
                <a:spcPts val="300"/>
              </a:spcAft>
            </a:pPr>
            <a:r>
              <a:rPr sz="1550" b="0" i="0">
                <a:solidFill>
                  <a:srgbClr val="595959"/>
                </a:solidFill>
                <a:latin typeface="Arial"/>
              </a:rPr>
              <a:t>Stale or malformed data poisons every exchange.</a:t>
            </a:r>
          </a:p>
        </p:txBody>
      </p:sp>
      <p:sp>
        <p:nvSpPr>
          <p:cNvPr id="15" name="Rectangle 14"/>
          <p:cNvSpPr/>
          <p:nvPr/>
        </p:nvSpPr>
        <p:spPr>
          <a:xfrm>
            <a:off x="621792" y="4317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404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58640"/>
            <a:ext cx="10527487" cy="701040"/>
          </a:xfrm>
          <a:prstGeom prst="rect">
            <a:avLst/>
          </a:prstGeom>
          <a:noFill/>
        </p:spPr>
        <p:txBody>
          <a:bodyPr wrap="square">
            <a:spAutoFit/>
          </a:bodyPr>
          <a:lstStyle/>
          <a:p>
            <a:pPr>
              <a:spcAft>
                <a:spcPts val="300"/>
              </a:spcAft>
            </a:pPr>
            <a:r>
              <a:rPr sz="1700" b="1" i="0">
                <a:solidFill>
                  <a:srgbClr val="1A1A1A"/>
                </a:solidFill>
                <a:latin typeface="Arial"/>
              </a:rPr>
              <a:t>A lawful basis for its exchanges</a:t>
            </a:r>
          </a:p>
          <a:p>
            <a:pPr>
              <a:spcAft>
                <a:spcPts val="300"/>
              </a:spcAft>
            </a:pPr>
            <a:r>
              <a:rPr sz="1550" b="0" i="0">
                <a:solidFill>
                  <a:srgbClr val="595959"/>
                </a:solidFill>
                <a:latin typeface="Arial"/>
              </a:rPr>
              <a:t>From the decree.</a:t>
            </a:r>
          </a:p>
        </p:txBody>
      </p:sp>
      <p:sp>
        <p:nvSpPr>
          <p:cNvPr id="18" name="Rectangle 17"/>
          <p:cNvSpPr/>
          <p:nvPr/>
        </p:nvSpPr>
        <p:spPr>
          <a:xfrm>
            <a:off x="621792" y="5064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51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105400"/>
            <a:ext cx="10527487" cy="701040"/>
          </a:xfrm>
          <a:prstGeom prst="rect">
            <a:avLst/>
          </a:prstGeom>
          <a:noFill/>
        </p:spPr>
        <p:txBody>
          <a:bodyPr wrap="square">
            <a:spAutoFit/>
          </a:bodyPr>
          <a:lstStyle/>
          <a:p>
            <a:pPr>
              <a:spcAft>
                <a:spcPts val="300"/>
              </a:spcAft>
            </a:pPr>
            <a:r>
              <a:rPr sz="1700" b="1" i="0">
                <a:solidFill>
                  <a:srgbClr val="1A1A1A"/>
                </a:solidFill>
                <a:latin typeface="Arial"/>
              </a:rPr>
              <a:t>A named technical contact</a:t>
            </a:r>
          </a:p>
          <a:p>
            <a:pPr>
              <a:spcAft>
                <a:spcPts val="300"/>
              </a:spcAft>
            </a:pPr>
            <a:r>
              <a:rPr sz="1550" b="0" i="0">
                <a:solidFill>
                  <a:srgbClr val="595959"/>
                </a:solidFill>
                <a:latin typeface="Arial"/>
              </a:rPr>
              <a:t>Someone who can fix things when they break.</a:t>
            </a:r>
          </a:p>
        </p:txBody>
      </p:sp>
      <p:sp>
        <p:nvSpPr>
          <p:cNvPr id="21" name="TextBox 20"/>
          <p:cNvSpPr txBox="1"/>
          <p:nvPr/>
        </p:nvSpPr>
        <p:spPr>
          <a:xfrm>
            <a:off x="658368" y="5961888"/>
            <a:ext cx="10881360" cy="548640"/>
          </a:xfrm>
          <a:prstGeom prst="rect">
            <a:avLst/>
          </a:prstGeom>
          <a:noFill/>
        </p:spPr>
        <p:txBody>
          <a:bodyPr wrap="square">
            <a:spAutoFit/>
          </a:bodyPr>
          <a:lstStyle/>
          <a:p>
            <a:r>
              <a:rPr sz="1550" b="1" i="0">
                <a:solidFill>
                  <a:srgbClr val="006E96"/>
                </a:solidFill>
                <a:latin typeface="Arial"/>
              </a:rPr>
              <a:t>Miss any one, and the agency is not ready — however willing it is.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Readiness becomes a checklist, not a judgement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works the list and either meets each item or does not — no architect guessing whether someone seems ready.</a:t>
            </a:r>
          </a:p>
          <a:p>
            <a:pPr>
              <a:spcAft>
                <a:spcPts val="1200"/>
              </a:spcAft>
            </a:pPr>
            <a:r>
              <a:rPr sz="2000" b="0" i="0">
                <a:solidFill>
                  <a:srgbClr val="1A1A1A"/>
                </a:solidFill>
                <a:latin typeface="Arial"/>
              </a:rPr>
              <a:t>That objectivity lets you schedule onboarding with confidence, and keeps a half-ready member from breaking the exchanges it touches.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And the list says "not yet" for you.</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Member Requirements are the front end of onboarding</a:t>
            </a:r>
          </a:p>
        </p:txBody>
      </p:sp>
      <p:cxnSp>
        <p:nvCxnSpPr>
          <p:cNvPr id="4" name="Connector 3"/>
          <p:cNvCxnSpPr/>
          <p:nvPr/>
        </p:nvCxnSpPr>
        <p:spPr>
          <a:xfrm>
            <a:off x="22326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9956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833359"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7002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645920"/>
            <a:ext cx="154686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FFFFFF"/>
                </a:solidFill>
                <a:latin typeface="Arial"/>
              </a:rPr>
              <a:t>REQUIREMENTS</a:t>
            </a:r>
          </a:p>
          <a:p>
            <a:pPr algn="l">
              <a:spcAft>
                <a:spcPts val="300"/>
              </a:spcAft>
            </a:pPr>
            <a:r>
              <a:rPr sz="1500" b="0" i="0">
                <a:solidFill>
                  <a:srgbClr val="FFFFFF"/>
                </a:solidFill>
                <a:latin typeface="Arial"/>
              </a:rPr>
              <a:t>Is the agency ready?</a:t>
            </a:r>
          </a:p>
        </p:txBody>
      </p:sp>
      <p:sp>
        <p:nvSpPr>
          <p:cNvPr id="10" name="TextBox 9"/>
          <p:cNvSpPr txBox="1"/>
          <p:nvPr/>
        </p:nvSpPr>
        <p:spPr>
          <a:xfrm>
            <a:off x="6583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1" name="Rounded Rectangle 10"/>
          <p:cNvSpPr/>
          <p:nvPr/>
        </p:nvSpPr>
        <p:spPr>
          <a:xfrm>
            <a:off x="25252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APPROVAL</a:t>
            </a:r>
          </a:p>
          <a:p>
            <a:pPr algn="l">
              <a:spcAft>
                <a:spcPts val="300"/>
              </a:spcAft>
            </a:pPr>
            <a:r>
              <a:rPr sz="1500" b="0" i="0">
                <a:solidFill>
                  <a:srgbClr val="1A1A1A"/>
                </a:solidFill>
                <a:latin typeface="Arial"/>
              </a:rPr>
              <a:t>The RACI names who approves</a:t>
            </a:r>
          </a:p>
        </p:txBody>
      </p:sp>
      <p:sp>
        <p:nvSpPr>
          <p:cNvPr id="12" name="TextBox 11"/>
          <p:cNvSpPr txBox="1"/>
          <p:nvPr/>
        </p:nvSpPr>
        <p:spPr>
          <a:xfrm>
            <a:off x="25252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3" name="Rounded Rectangle 12"/>
          <p:cNvSpPr/>
          <p:nvPr/>
        </p:nvSpPr>
        <p:spPr>
          <a:xfrm>
            <a:off x="4392167"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ADMISSION</a:t>
            </a:r>
          </a:p>
          <a:p>
            <a:pPr algn="l">
              <a:spcAft>
                <a:spcPts val="300"/>
              </a:spcAft>
            </a:pPr>
            <a:r>
              <a:rPr sz="1500" b="0" i="0">
                <a:solidFill>
                  <a:srgbClr val="1A1A1A"/>
                </a:solidFill>
                <a:latin typeface="Arial"/>
              </a:rPr>
              <a:t>The decision, recorded</a:t>
            </a:r>
          </a:p>
        </p:txBody>
      </p:sp>
      <p:sp>
        <p:nvSpPr>
          <p:cNvPr id="14" name="TextBox 13"/>
          <p:cNvSpPr txBox="1"/>
          <p:nvPr/>
        </p:nvSpPr>
        <p:spPr>
          <a:xfrm>
            <a:off x="4392167"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5" name="Rounded Rectangle 14"/>
          <p:cNvSpPr/>
          <p:nvPr/>
        </p:nvSpPr>
        <p:spPr>
          <a:xfrm>
            <a:off x="62590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REGISTRATION</a:t>
            </a:r>
          </a:p>
          <a:p>
            <a:pPr algn="l">
              <a:spcAft>
                <a:spcPts val="300"/>
              </a:spcAft>
            </a:pPr>
            <a:r>
              <a:rPr sz="1500" b="0" i="0">
                <a:solidFill>
                  <a:srgbClr val="1A1A1A"/>
                </a:solidFill>
                <a:latin typeface="Arial"/>
              </a:rPr>
              <a:t>The configuration, written</a:t>
            </a:r>
          </a:p>
        </p:txBody>
      </p:sp>
      <p:sp>
        <p:nvSpPr>
          <p:cNvPr id="16" name="TextBox 15"/>
          <p:cNvSpPr txBox="1"/>
          <p:nvPr/>
        </p:nvSpPr>
        <p:spPr>
          <a:xfrm>
            <a:off x="62590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7" name="Rounded Rectangle 16"/>
          <p:cNvSpPr/>
          <p:nvPr/>
        </p:nvSpPr>
        <p:spPr>
          <a:xfrm>
            <a:off x="81259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CONFORMANCE</a:t>
            </a:r>
          </a:p>
          <a:p>
            <a:pPr algn="l">
              <a:spcAft>
                <a:spcPts val="300"/>
              </a:spcAft>
            </a:pPr>
            <a:r>
              <a:rPr sz="1500" b="0" i="0">
                <a:solidFill>
                  <a:srgbClr val="1A1A1A"/>
                </a:solidFill>
                <a:latin typeface="Arial"/>
              </a:rPr>
              <a:t>The gate before going live</a:t>
            </a:r>
          </a:p>
        </p:txBody>
      </p:sp>
      <p:sp>
        <p:nvSpPr>
          <p:cNvPr id="18" name="TextBox 17"/>
          <p:cNvSpPr txBox="1"/>
          <p:nvPr/>
        </p:nvSpPr>
        <p:spPr>
          <a:xfrm>
            <a:off x="81259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9" name="Rounded Rectangle 18"/>
          <p:cNvSpPr/>
          <p:nvPr/>
        </p:nvSpPr>
        <p:spPr>
          <a:xfrm>
            <a:off x="99928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FIRST SERVICE</a:t>
            </a:r>
          </a:p>
          <a:p>
            <a:pPr algn="l">
              <a:spcAft>
                <a:spcPts val="300"/>
              </a:spcAft>
            </a:pPr>
            <a:r>
              <a:rPr sz="1500" b="0" i="0">
                <a:solidFill>
                  <a:srgbClr val="1A1A1A"/>
                </a:solidFill>
                <a:latin typeface="Arial"/>
              </a:rPr>
              <a:t>Live</a:t>
            </a:r>
          </a:p>
        </p:txBody>
      </p:sp>
      <p:sp>
        <p:nvSpPr>
          <p:cNvPr id="20" name="TextBox 19"/>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six answers travel in the join request — checked before anyone approves it.</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agency's answers, rendered into its record</a:t>
            </a:r>
          </a:p>
        </p:txBody>
      </p:sp>
      <p:sp>
        <p:nvSpPr>
          <p:cNvPr id="4" name="kp-demo-evidence"/>
          <p:cNvSpPr/>
          <p:nvPr/>
        </p:nvSpPr>
        <p:spPr>
          <a:xfrm>
            <a:off x="621792" y="1261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984687" cy="640080"/>
          </a:xfrm>
          <a:prstGeom prst="rect">
            <a:avLst/>
          </a:prstGeom>
          <a:noFill/>
        </p:spPr>
        <p:txBody>
          <a:bodyPr wrap="square">
            <a:spAutoFit/>
          </a:bodyPr>
          <a:lstStyle/>
          <a:p>
            <a:pPr>
              <a:spcAft>
                <a:spcPts val="300"/>
              </a:spcAft>
            </a:pPr>
            <a:r>
              <a:rPr sz="1600" b="1" i="0">
                <a:solidFill>
                  <a:srgbClr val="1A1A1A"/>
                </a:solidFill>
                <a:latin typeface="Arial"/>
              </a:rPr>
              <a:t>Security Server in place</a:t>
            </a:r>
          </a:p>
          <a:p>
            <a:pPr>
              <a:spcAft>
                <a:spcPts val="300"/>
              </a:spcAft>
            </a:pPr>
            <a:r>
              <a:rPr sz="1400" b="0" i="0">
                <a:solidFill>
                  <a:srgbClr val="595959"/>
                </a:solidFill>
                <a:latin typeface="Arial"/>
              </a:rPr>
              <a:t>yes</a:t>
            </a:r>
          </a:p>
        </p:txBody>
      </p:sp>
      <p:sp>
        <p:nvSpPr>
          <p:cNvPr id="6" name="Rectangle 5"/>
          <p:cNvSpPr/>
          <p:nvPr/>
        </p:nvSpPr>
        <p:spPr>
          <a:xfrm>
            <a:off x="621792" y="2016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57400"/>
            <a:ext cx="10984687" cy="640080"/>
          </a:xfrm>
          <a:prstGeom prst="rect">
            <a:avLst/>
          </a:prstGeom>
          <a:noFill/>
        </p:spPr>
        <p:txBody>
          <a:bodyPr wrap="square">
            <a:spAutoFit/>
          </a:bodyPr>
          <a:lstStyle/>
          <a:p>
            <a:pPr>
              <a:spcAft>
                <a:spcPts val="300"/>
              </a:spcAft>
            </a:pPr>
            <a:r>
              <a:rPr sz="1600" b="1" i="0">
                <a:solidFill>
                  <a:srgbClr val="1A1A1A"/>
                </a:solidFill>
                <a:latin typeface="Arial"/>
              </a:rPr>
              <a:t>Registered identity on the bus</a:t>
            </a:r>
          </a:p>
          <a:p>
            <a:pPr>
              <a:spcAft>
                <a:spcPts val="300"/>
              </a:spcAft>
            </a:pPr>
            <a:r>
              <a:rPr sz="1400" b="0" i="0">
                <a:solidFill>
                  <a:srgbClr val="595959"/>
                </a:solidFill>
                <a:latin typeface="Arial"/>
              </a:rPr>
              <a:t>yes</a:t>
            </a:r>
          </a:p>
        </p:txBody>
      </p:sp>
      <p:sp>
        <p:nvSpPr>
          <p:cNvPr id="8" name="Rectangle 7"/>
          <p:cNvSpPr/>
          <p:nvPr/>
        </p:nvSpPr>
        <p:spPr>
          <a:xfrm>
            <a:off x="621792" y="2702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743200"/>
            <a:ext cx="10984687" cy="640080"/>
          </a:xfrm>
          <a:prstGeom prst="rect">
            <a:avLst/>
          </a:prstGeom>
          <a:noFill/>
        </p:spPr>
        <p:txBody>
          <a:bodyPr wrap="square">
            <a:spAutoFit/>
          </a:bodyPr>
          <a:lstStyle/>
          <a:p>
            <a:pPr>
              <a:spcAft>
                <a:spcPts val="300"/>
              </a:spcAft>
            </a:pPr>
            <a:r>
              <a:rPr sz="1600" b="1" i="0">
                <a:solidFill>
                  <a:srgbClr val="1A1A1A"/>
                </a:solidFill>
                <a:latin typeface="Arial"/>
              </a:rPr>
              <a:t>Standards portfolio adopted</a:t>
            </a:r>
          </a:p>
          <a:p>
            <a:pPr>
              <a:spcAft>
                <a:spcPts val="300"/>
              </a:spcAft>
            </a:pPr>
            <a:r>
              <a:rPr sz="1400" b="0" i="0">
                <a:solidFill>
                  <a:srgbClr val="595959"/>
                </a:solidFill>
                <a:latin typeface="Arial"/>
              </a:rPr>
              <a:t>yes</a:t>
            </a:r>
          </a:p>
        </p:txBody>
      </p:sp>
      <p:sp>
        <p:nvSpPr>
          <p:cNvPr id="10" name="Rectangle 9"/>
          <p:cNvSpPr/>
          <p:nvPr/>
        </p:nvSpPr>
        <p:spPr>
          <a:xfrm>
            <a:off x="621792" y="3387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429000"/>
            <a:ext cx="10984687" cy="640080"/>
          </a:xfrm>
          <a:prstGeom prst="rect">
            <a:avLst/>
          </a:prstGeom>
          <a:noFill/>
        </p:spPr>
        <p:txBody>
          <a:bodyPr wrap="square">
            <a:spAutoFit/>
          </a:bodyPr>
          <a:lstStyle/>
          <a:p>
            <a:pPr>
              <a:spcAft>
                <a:spcPts val="300"/>
              </a:spcAft>
            </a:pPr>
            <a:r>
              <a:rPr sz="1600" b="1" i="0">
                <a:solidFill>
                  <a:srgbClr val="1A1A1A"/>
                </a:solidFill>
                <a:latin typeface="Arial"/>
              </a:rPr>
              <a:t>Data cleaned and conformed to the schema</a:t>
            </a:r>
          </a:p>
          <a:p>
            <a:pPr>
              <a:spcAft>
                <a:spcPts val="300"/>
              </a:spcAft>
            </a:pPr>
            <a:r>
              <a:rPr sz="1400" b="0" i="0">
                <a:solidFill>
                  <a:srgbClr val="595959"/>
                </a:solidFill>
                <a:latin typeface="Arial"/>
              </a:rPr>
              <a:t>yes</a:t>
            </a:r>
          </a:p>
        </p:txBody>
      </p:sp>
      <p:sp>
        <p:nvSpPr>
          <p:cNvPr id="12" name="Rectangle 11"/>
          <p:cNvSpPr/>
          <p:nvPr/>
        </p:nvSpPr>
        <p:spPr>
          <a:xfrm>
            <a:off x="621792" y="4073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114800"/>
            <a:ext cx="10984687" cy="640080"/>
          </a:xfrm>
          <a:prstGeom prst="rect">
            <a:avLst/>
          </a:prstGeom>
          <a:noFill/>
        </p:spPr>
        <p:txBody>
          <a:bodyPr wrap="square">
            <a:spAutoFit/>
          </a:bodyPr>
          <a:lstStyle/>
          <a:p>
            <a:pPr>
              <a:spcAft>
                <a:spcPts val="300"/>
              </a:spcAft>
            </a:pPr>
            <a:r>
              <a:rPr sz="1600" b="1" i="0">
                <a:solidFill>
                  <a:srgbClr val="1A1A1A"/>
                </a:solidFill>
                <a:latin typeface="Arial"/>
              </a:rPr>
              <a:t>Lawful basis for its exchanges</a:t>
            </a:r>
          </a:p>
          <a:p>
            <a:pPr>
              <a:spcAft>
                <a:spcPts val="300"/>
              </a:spcAft>
            </a:pPr>
            <a:r>
              <a:rPr sz="1400" b="0" i="0">
                <a:solidFill>
                  <a:srgbClr val="595959"/>
                </a:solidFill>
                <a:latin typeface="Arial"/>
              </a:rPr>
              <a:t>statutory function</a:t>
            </a:r>
          </a:p>
        </p:txBody>
      </p:sp>
      <p:sp>
        <p:nvSpPr>
          <p:cNvPr id="14" name="Rectangle 13"/>
          <p:cNvSpPr/>
          <p:nvPr/>
        </p:nvSpPr>
        <p:spPr>
          <a:xfrm>
            <a:off x="621792" y="4759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800600"/>
            <a:ext cx="10984687" cy="640080"/>
          </a:xfrm>
          <a:prstGeom prst="rect">
            <a:avLst/>
          </a:prstGeom>
          <a:noFill/>
        </p:spPr>
        <p:txBody>
          <a:bodyPr wrap="square">
            <a:spAutoFit/>
          </a:bodyPr>
          <a:lstStyle/>
          <a:p>
            <a:pPr>
              <a:spcAft>
                <a:spcPts val="300"/>
              </a:spcAft>
            </a:pPr>
            <a:r>
              <a:rPr sz="1600" b="1" i="0">
                <a:solidFill>
                  <a:srgbClr val="1A1A1A"/>
                </a:solidFill>
                <a:latin typeface="Arial"/>
              </a:rPr>
              <a:t>Named technical contact</a:t>
            </a:r>
          </a:p>
          <a:p>
            <a:pPr>
              <a:spcAft>
                <a:spcPts val="300"/>
              </a:spcAft>
            </a:pPr>
            <a:r>
              <a:rPr sz="1400" b="0" i="0">
                <a:solidFill>
                  <a:srgbClr val="595959"/>
                </a:solidFill>
                <a:latin typeface="Arial"/>
              </a:rPr>
              <a:t>Head of IT, PNEA</a:t>
            </a:r>
          </a:p>
        </p:txBody>
      </p:sp>
      <p:sp>
        <p:nvSpPr>
          <p:cNvPr id="16" name="TextBox 1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Six items, stated by the applicant, rendered into its record.</a:t>
            </a:r>
          </a:p>
        </p:txBody>
      </p:sp>
      <p:sp>
        <p:nvSpPr>
          <p:cNvPr id="17" name="TextBox 1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Member Requirements checklist makes readiness objective and checkable weeks before go-live — so onboarding is scheduled, not gambled.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Requirements checklist.</a:t>
            </a:r>
          </a:p>
          <a:p>
            <a:pPr algn="l">
              <a:spcAft>
                <a:spcPts val="400"/>
              </a:spcAft>
            </a:pPr>
            <a:r>
              <a:rPr sz="1800" b="0" i="0">
                <a:solidFill>
                  <a:srgbClr val="595959"/>
                </a:solidFill>
                <a:latin typeface="Arial"/>
              </a:rPr>
              <a:t>The prompt in the companion material gives you a reusable Member Requirements checklist with evidence and a readiness verdict.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requirements and onboarding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