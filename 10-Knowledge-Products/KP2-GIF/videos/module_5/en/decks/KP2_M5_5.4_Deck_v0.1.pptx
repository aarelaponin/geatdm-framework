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8" r:id="rId40"/>
    <p:sldId id="2719" r:id="rId41"/>
    <p:sldId id="2720" r:id="rId42"/>
    <p:sldId id="2721" r:id="rId43"/>
    <p:sldId id="2722" r:id="rId44"/>
    <p:sldId id="2723" r:id="rId45"/>
    <p:sldId id="2724" r:id="rId17"/>
    <p:sldId id="2725" r:id="rId16"/>
    <p:sldId id="27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preparation — the phased plan, the Member Requirements, the Service-Level Agreement. Registering a member on X-Road is the technical step that actually admits an agency to the bus, and it produces real configuration: the subsystem registration and the access-control list. This is a build step, and you can generate the configuration with Claude — then confirm it against the live registry before it goes anywhere.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Registering a member produces two configuration artefacts. The subsystem — the member's registered identity on the bus, made of its member class, member code and subsystem code, the identifiers the bus uses to route a call to it. And the access-control list — which other members are allowed to call this member's services, because being on the bus does not mean everyone may call everything; access is granted deliberately, service by service. Together, these two artefacts admit the agency and say exactly who may talk to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generates these from the member's details and the access policy. But every identifier — the member code, the subsystem code, the certificate references — is a [confirm] until you check it against the live X-Road registry. This is the place the confirm discipline matters most in the whole framework: a wrong member code does not throw a clear error. It silently routes nowhere, or worse, to the wrong agency, which in an interoperability bus means one citizen's data going to a service that asked about another. Generate the registration; confirm every identifier against the registry before you deploy it.</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same registration shape for every member — fill the member's details into the same template, generate the same two artefacts. The onboarding workflow and the governance RACI wrap it into a repeatable process: the Member Requirements confirm the agency is ready, the RACI says which body approves, and this registration configuration admits it. You produce the executable configuration here; the workflow and the approvals from the earlier modules surround it. That reuse — one registration pattern applied to every member — is what lets the framework onboard its twentieth agency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Registration is not the last gate. Between a member's security server going up and its first service going live sits the conformance test: the member proves, against the standards portfolio, that its server, its certificates and its services do what the framework requires. For routine members that is a self-assessment against a published checklist; for high-risk services a third-party check; and where the operator has built one, a conformance test suite it runs itself. A member that fails fixes and re-tests until it passes. And it is not a certificate for life — members are re-tested on a cycle, typically every two years, and whenever a binding standard changes. This is the step programmes skip when they are in a hurry, and the step whose absence is discovered when one member's malformed data breaks everyone else's service.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configuration goes straight into the build pack, under the member's folder — it is part of the runnable proving slice, the thing the build pack's acceptance check deploys and tests. So registering a member is not paperwork that describes an intention. It is executable configuration that puts a real agency on the bus, ready to provide and consume services. When you have registered the four Progressa members this way, the federation has the participants it needs for a real exchange.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registering a member is where onboarding becomes configuration. Generate the subsystem and the access-control list with the AI prompt, confirm every identifier against the live registry, and deploy them into the build pack. Two artefacts, the same shape for every member, admitting one agency to the bus and naming who may call it. That is the technical core of onboarding — and the configuration the demonstration runs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Register a member on X-Road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Generate the subsystem registration and the access-control list — the configuration that admits one agency to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so far was preparation. This step admits an agency.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Registering a member produces real configuration.</a:t>
            </a:r>
          </a:p>
          <a:p>
            <a:pPr>
              <a:spcAft>
                <a:spcPts val="800"/>
              </a:spcAft>
            </a:pPr>
            <a:r>
              <a:rPr sz="1700" b="0" i="0">
                <a:solidFill>
                  <a:srgbClr val="595959"/>
                </a:solidFill>
                <a:latin typeface="Arial"/>
              </a:rPr>
              <a:t>Generate it with AI — then confirm it against the live registry.</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Registration produces two configuration artefacts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SUBSYSTEM — WHO IT IS</a:t>
            </a:r>
          </a:p>
          <a:p>
            <a:pPr>
              <a:spcAft>
                <a:spcPts val="700"/>
              </a:spcAft>
            </a:pPr>
            <a:r>
              <a:rPr sz="1600" b="0" i="0">
                <a:solidFill>
                  <a:srgbClr val="1A1A1A"/>
                </a:solidFill>
                <a:latin typeface="Arial"/>
              </a:rPr>
              <a:t>The member's registered identity on the bus.</a:t>
            </a:r>
          </a:p>
          <a:p>
            <a:pPr>
              <a:spcAft>
                <a:spcPts val="700"/>
              </a:spcAft>
            </a:pPr>
            <a:r>
              <a:rPr sz="1600" b="0" i="0">
                <a:solidFill>
                  <a:srgbClr val="1A1A1A"/>
                </a:solidFill>
                <a:latin typeface="Arial"/>
              </a:rPr>
              <a:t>Member class, member code, subsystem code — what the bus routes a call by.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ACCESS-CONTROL LIST — WHO MAY CALL IT</a:t>
            </a:r>
          </a:p>
          <a:p>
            <a:pPr>
              <a:spcAft>
                <a:spcPts val="700"/>
              </a:spcAft>
            </a:pPr>
            <a:r>
              <a:rPr sz="1600" b="0" i="0">
                <a:solidFill>
                  <a:srgbClr val="1A1A1A"/>
                </a:solidFill>
                <a:latin typeface="Arial"/>
              </a:rPr>
              <a:t>Which other members may call its services.</a:t>
            </a:r>
          </a:p>
          <a:p>
            <a:pPr>
              <a:spcAft>
                <a:spcPts val="700"/>
              </a:spcAft>
            </a:pPr>
            <a:r>
              <a:rPr sz="1600" b="0" i="0">
                <a:solidFill>
                  <a:srgbClr val="1A1A1A"/>
                </a:solidFill>
                <a:latin typeface="Arial"/>
              </a:rPr>
              <a:t>Granted deliberately, service by service.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the registration, then confirm every identifier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AI prompt drafts the subsystem and the access-control entries from the member's details and the access policy.</a:t>
            </a:r>
          </a:p>
          <a:p>
            <a:pPr>
              <a:spcAft>
                <a:spcPts val="1200"/>
              </a:spcAft>
            </a:pPr>
            <a:r>
              <a:rPr sz="2000" b="0" i="0">
                <a:solidFill>
                  <a:srgbClr val="1A1A1A"/>
                </a:solidFill>
                <a:latin typeface="Arial"/>
              </a:rPr>
              <a:t>The member code, the subsystem code, the certificate references: each is a [confirm] until checked against the live X-Road registry.</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A wrong member code throws no error. It routes one citizen's data to the wrong agency.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registration pattern, wrapped in a repeatable process</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MEMBER REQUIREMENTS</a:t>
            </a:r>
          </a:p>
          <a:p>
            <a:pPr algn="l">
              <a:spcAft>
                <a:spcPts val="300"/>
              </a:spcAft>
            </a:pPr>
            <a:r>
              <a:rPr sz="1600" b="0" i="0">
                <a:solidFill>
                  <a:srgbClr val="1A1A1A"/>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REGISTRATION</a:t>
            </a:r>
          </a:p>
          <a:p>
            <a:pPr algn="l">
              <a:spcAft>
                <a:spcPts val="300"/>
              </a:spcAft>
            </a:pPr>
            <a:r>
              <a:rPr sz="1600" b="0" i="0">
                <a:solidFill>
                  <a:srgbClr val="FFFFFF"/>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twentieth agency onboards as cleanly as the second.</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Conformance is the gate between registration and going live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800" b="1" i="0">
                <a:solidFill>
                  <a:srgbClr val="1A1A1A"/>
                </a:solidFill>
                <a:latin typeface="Arial"/>
              </a:rPr>
              <a:t>It proves it meets the standards portfolio</a:t>
            </a:r>
          </a:p>
          <a:p>
            <a:pPr>
              <a:spcAft>
                <a:spcPts val="300"/>
              </a:spcAft>
            </a:pPr>
            <a:r>
              <a:rPr sz="1550" b="0" i="0">
                <a:solidFill>
                  <a:srgbClr val="595959"/>
                </a:solidFill>
                <a:latin typeface="Arial"/>
              </a:rPr>
              <a:t>Its server, its certificates and its services do what the framework requires.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800" b="1" i="0">
                <a:solidFill>
                  <a:srgbClr val="1A1A1A"/>
                </a:solidFill>
                <a:latin typeface="Arial"/>
              </a:rPr>
              <a:t>Checked in proportion to the risk</a:t>
            </a:r>
          </a:p>
          <a:p>
            <a:pPr>
              <a:spcAft>
                <a:spcPts val="300"/>
              </a:spcAft>
            </a:pPr>
            <a:r>
              <a:rPr sz="1550" b="0" i="0">
                <a:solidFill>
                  <a:srgbClr val="595959"/>
                </a:solidFill>
                <a:latin typeface="Arial"/>
              </a:rPr>
              <a:t>Self-assessment for the routine, a third-party check for high-risk, the operator's test suite.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800" b="1" i="0">
                <a:solidFill>
                  <a:srgbClr val="1A1A1A"/>
                </a:solidFill>
                <a:latin typeface="Arial"/>
              </a:rPr>
              <a:t>Not a certificate for life</a:t>
            </a:r>
          </a:p>
          <a:p>
            <a:pPr>
              <a:spcAft>
                <a:spcPts val="300"/>
              </a:spcAft>
            </a:pPr>
            <a:r>
              <a:rPr sz="1550" b="0" i="0">
                <a:solidFill>
                  <a:srgbClr val="595959"/>
                </a:solidFill>
                <a:latin typeface="Arial"/>
              </a:rPr>
              <a:t>Re-tested every two years, and on every change to a binding standard.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step programmes skip in a hurry — and discover when one member's data breaks everyone's.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Registering a member is configuration, not paperwork</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and the access-control list go straight into the build pack, under the member's folder.</a:t>
            </a:r>
          </a:p>
          <a:p>
            <a:pPr>
              <a:spcAft>
                <a:spcPts val="1200"/>
              </a:spcAft>
            </a:pPr>
            <a:r>
              <a:rPr sz="2000" b="0" i="0">
                <a:solidFill>
                  <a:srgbClr val="1A1A1A"/>
                </a:solidFill>
                <a:latin typeface="Arial"/>
              </a:rPr>
              <a:t>They are part of the runnable proving slice — what the build pack's acceptance check deploys and tests.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Executable configuration that puts a real agency on the bus.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subsystem registration and the access-control list admit a member — generated, confirmed, deployed — and a conformance test is the gate before it goes live.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member registration (subsystem + ACL).</a:t>
            </a:r>
          </a:p>
          <a:p>
            <a:pPr algn="l">
              <a:spcAft>
                <a:spcPts val="400"/>
              </a:spcAft>
            </a:pPr>
            <a:r>
              <a:rPr sz="1800" b="0" i="0">
                <a:solidFill>
                  <a:srgbClr val="595959"/>
                </a:solidFill>
                <a:latin typeface="Arial"/>
              </a:rPr>
              <a:t>The prompt in the companion material gives you the subsystem registration and access-control list with [confirm] placeholders, and an onboarding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and subsystem registration (niis.org)</a:t>
            </a:r>
          </a:p>
          <a:p>
            <a:pPr>
              <a:spcAft>
                <a:spcPts val="1200"/>
              </a:spcAft>
            </a:pPr>
            <a:r>
              <a:rPr sz="1700" b="0" i="0">
                <a:solidFill>
                  <a:srgbClr val="1A1A1A"/>
                </a:solidFill>
                <a:latin typeface="Arial"/>
              </a:rPr>
              <a:t>•  X-Road access-control list configuration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