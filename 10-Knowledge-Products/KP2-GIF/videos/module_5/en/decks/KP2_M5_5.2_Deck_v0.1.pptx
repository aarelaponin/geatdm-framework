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704" r:id="rId26"/>
    <p:sldId id="2705" r:id="rId27"/>
    <p:sldId id="2706" r:id="rId28"/>
    <p:sldId id="2707" r:id="rId29"/>
    <p:sldId id="2708" r:id="rId30"/>
    <p:sldId id="2709" r:id="rId31"/>
    <p:sldId id="2710"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26" Type="http://schemas.openxmlformats.org/officeDocument/2006/relationships/slide" Target="slides/slide11.xml"/><Relationship Id="rId27" Type="http://schemas.openxmlformats.org/officeDocument/2006/relationships/slide" Target="slides/slide12.xml"/><Relationship Id="rId28" Type="http://schemas.openxmlformats.org/officeDocument/2006/relationships/slide" Target="slides/slide13.xml"/><Relationship Id="rId29" Type="http://schemas.openxmlformats.org/officeDocument/2006/relationships/slide" Target="slides/slide14.xml"/><Relationship Id="rId30" Type="http://schemas.openxmlformats.org/officeDocument/2006/relationships/slide" Target="slides/slide15.xml"/><Relationship Id="rId31" Type="http://schemas.openxmlformats.org/officeDocument/2006/relationships/slide" Target="slides/slide16.xml"/><Relationship Id="rId32" Type="http://schemas.openxmlformats.org/officeDocument/2006/relationships/slide" Target="slides/slide17.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fastest way to wreck an onboarding schedule is to discover, on go-live day, that the joining agency is not actually ready — no security server, no adopted standards, no lawful basis. The Member Requirements template prevents that. It states, up front, exactly what an agency must have in place before it can join, so readiness is checked weeks ahead, not discovered at the deadline.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requirements are concrete. A security server — the gateway device at the agency's edge. A registered identity on the bus — its subsystem. The standards portfolio adopted, so its services speak the framework's language. Its data cleaned and conformed to the agreed schema, because a member with stale or malformed data poisons every exchange that uses it. A lawful basis for the exchanges it will take part in, drawn from the decree. And a named technical contact who can actually fix things when they break. Miss any one, and the agency is not ready, however willing it is.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template turns readiness from a judgement call into an objective checklist. Instead of an architect deciding, agency by agency, whether someone seems ready, the agency works through the list and either meets each item or does not. That objectivity is what lets you schedule onboarding with confidence, and it protects the framework from a member that joins half-ready and breaks the exchanges it touches. It also takes the awkwardness out of saying 'not yet' — the list says it for you.</a:t>
            </a:r>
          </a:p>
          <a:p/>
          <a:p>
            <a:r>
              <a:t>Production cue: the pivotal slide of this video. Hold it a beat longer.</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And the template is reused for every member: fill it once as a template, apply it to each joining agency in turn. It is the front end of the onboarding workflow — an agency that passes the Member Requirements is an agency ready to be registered on the bus, which is the technical step that admits it.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So before any agency is registered on the bus, it passes the Member Requirements: a security server, a registered identity, the standards adopted, clean data, a lawful basis, a named contact. The checklist makes readiness objective, lets you schedule onboarding instead of gambling on it, and is reused for every member that follows.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s>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KP2 · MODULE 5 · VIDEO 5.2</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5.2</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State what a member must have — the Member Requirements</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The Member Requirements template tells an agency exactly what it must have before it can join — no surprises at go-live.</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The fastest way to wreck an onboarding: find out on go-live day.</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No security server. No adopted standards. No lawful basis.</a:t>
            </a:r>
          </a:p>
          <a:p>
            <a:pPr>
              <a:spcAft>
                <a:spcPts val="800"/>
              </a:spcAft>
            </a:pPr>
            <a:r>
              <a:rPr sz="1700" b="0" i="0">
                <a:solidFill>
                  <a:srgbClr val="595959"/>
                </a:solidFill>
                <a:latin typeface="Arial"/>
              </a:rPr>
              <a:t>State what a member must have — and check it weeks ahead.</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5.2 · State what a member must have — the Member Requirements</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Six things a member must have before it joins</a:t>
            </a:r>
          </a:p>
        </p:txBody>
      </p:sp>
      <p:sp>
        <p:nvSpPr>
          <p:cNvPr id="4" name="Oval 3"/>
          <p:cNvSpPr/>
          <p:nvPr/>
        </p:nvSpPr>
        <p:spPr>
          <a:xfrm>
            <a:off x="621792" y="141732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371600"/>
            <a:ext cx="10527487" cy="701040"/>
          </a:xfrm>
          <a:prstGeom prst="rect">
            <a:avLst/>
          </a:prstGeom>
          <a:noFill/>
        </p:spPr>
        <p:txBody>
          <a:bodyPr wrap="square">
            <a:spAutoFit/>
          </a:bodyPr>
          <a:lstStyle/>
          <a:p>
            <a:pPr>
              <a:spcAft>
                <a:spcPts val="300"/>
              </a:spcAft>
            </a:pPr>
            <a:r>
              <a:rPr sz="1700" b="1" i="0">
                <a:solidFill>
                  <a:srgbClr val="1A1A1A"/>
                </a:solidFill>
                <a:latin typeface="Arial"/>
              </a:rPr>
              <a:t>A security server</a:t>
            </a:r>
          </a:p>
          <a:p>
            <a:pPr>
              <a:spcAft>
                <a:spcPts val="300"/>
              </a:spcAft>
            </a:pPr>
            <a:r>
              <a:rPr sz="1550" b="0" i="0">
                <a:solidFill>
                  <a:srgbClr val="595959"/>
                </a:solidFill>
                <a:latin typeface="Arial"/>
              </a:rPr>
              <a:t>Its gateway at the edge.</a:t>
            </a:r>
          </a:p>
        </p:txBody>
      </p:sp>
      <p:sp>
        <p:nvSpPr>
          <p:cNvPr id="6" name="Rectangle 5"/>
          <p:cNvSpPr/>
          <p:nvPr/>
        </p:nvSpPr>
        <p:spPr>
          <a:xfrm>
            <a:off x="621792" y="20772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16408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118360"/>
            <a:ext cx="10527487" cy="701040"/>
          </a:xfrm>
          <a:prstGeom prst="rect">
            <a:avLst/>
          </a:prstGeom>
          <a:noFill/>
        </p:spPr>
        <p:txBody>
          <a:bodyPr wrap="square">
            <a:spAutoFit/>
          </a:bodyPr>
          <a:lstStyle/>
          <a:p>
            <a:pPr>
              <a:spcAft>
                <a:spcPts val="300"/>
              </a:spcAft>
            </a:pPr>
            <a:r>
              <a:rPr sz="1700" b="1" i="0">
                <a:solidFill>
                  <a:srgbClr val="1A1A1A"/>
                </a:solidFill>
                <a:latin typeface="Arial"/>
              </a:rPr>
              <a:t>A registered identity on the bus</a:t>
            </a:r>
          </a:p>
          <a:p>
            <a:pPr>
              <a:spcAft>
                <a:spcPts val="300"/>
              </a:spcAft>
            </a:pPr>
            <a:r>
              <a:rPr sz="1550" b="0" i="0">
                <a:solidFill>
                  <a:srgbClr val="595959"/>
                </a:solidFill>
                <a:latin typeface="Arial"/>
              </a:rPr>
              <a:t>Its subsystem.</a:t>
            </a:r>
          </a:p>
        </p:txBody>
      </p:sp>
      <p:sp>
        <p:nvSpPr>
          <p:cNvPr id="9" name="Rectangle 8"/>
          <p:cNvSpPr/>
          <p:nvPr/>
        </p:nvSpPr>
        <p:spPr>
          <a:xfrm>
            <a:off x="621792" y="28239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291084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2865120"/>
            <a:ext cx="10527487" cy="701040"/>
          </a:xfrm>
          <a:prstGeom prst="rect">
            <a:avLst/>
          </a:prstGeom>
          <a:noFill/>
        </p:spPr>
        <p:txBody>
          <a:bodyPr wrap="square">
            <a:spAutoFit/>
          </a:bodyPr>
          <a:lstStyle/>
          <a:p>
            <a:pPr>
              <a:spcAft>
                <a:spcPts val="300"/>
              </a:spcAft>
            </a:pPr>
            <a:r>
              <a:rPr sz="1700" b="1" i="0">
                <a:solidFill>
                  <a:srgbClr val="1A1A1A"/>
                </a:solidFill>
                <a:latin typeface="Arial"/>
              </a:rPr>
              <a:t>The standards portfolio, adopted</a:t>
            </a:r>
          </a:p>
          <a:p>
            <a:pPr>
              <a:spcAft>
                <a:spcPts val="300"/>
              </a:spcAft>
            </a:pPr>
            <a:r>
              <a:rPr sz="1550" b="0" i="0">
                <a:solidFill>
                  <a:srgbClr val="595959"/>
                </a:solidFill>
                <a:latin typeface="Arial"/>
              </a:rPr>
              <a:t>So its services speak the framework's language.</a:t>
            </a:r>
          </a:p>
        </p:txBody>
      </p:sp>
      <p:sp>
        <p:nvSpPr>
          <p:cNvPr id="12" name="Rectangle 11"/>
          <p:cNvSpPr/>
          <p:nvPr/>
        </p:nvSpPr>
        <p:spPr>
          <a:xfrm>
            <a:off x="621792" y="35707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21792" y="365760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4</a:t>
            </a:r>
          </a:p>
        </p:txBody>
      </p:sp>
      <p:sp>
        <p:nvSpPr>
          <p:cNvPr id="14" name="TextBox 13"/>
          <p:cNvSpPr txBox="1"/>
          <p:nvPr/>
        </p:nvSpPr>
        <p:spPr>
          <a:xfrm>
            <a:off x="1115568" y="3611880"/>
            <a:ext cx="10527487" cy="701040"/>
          </a:xfrm>
          <a:prstGeom prst="rect">
            <a:avLst/>
          </a:prstGeom>
          <a:noFill/>
        </p:spPr>
        <p:txBody>
          <a:bodyPr wrap="square">
            <a:spAutoFit/>
          </a:bodyPr>
          <a:lstStyle/>
          <a:p>
            <a:pPr>
              <a:spcAft>
                <a:spcPts val="300"/>
              </a:spcAft>
            </a:pPr>
            <a:r>
              <a:rPr sz="1700" b="1" i="0">
                <a:solidFill>
                  <a:srgbClr val="1A1A1A"/>
                </a:solidFill>
                <a:latin typeface="Arial"/>
              </a:rPr>
              <a:t>Its data cleaned and conformed to the schema</a:t>
            </a:r>
          </a:p>
          <a:p>
            <a:pPr>
              <a:spcAft>
                <a:spcPts val="300"/>
              </a:spcAft>
            </a:pPr>
            <a:r>
              <a:rPr sz="1550" b="0" i="0">
                <a:solidFill>
                  <a:srgbClr val="595959"/>
                </a:solidFill>
                <a:latin typeface="Arial"/>
              </a:rPr>
              <a:t>Stale or malformed data poisons every exchange.</a:t>
            </a:r>
          </a:p>
        </p:txBody>
      </p:sp>
      <p:sp>
        <p:nvSpPr>
          <p:cNvPr id="15" name="Rectangle 14"/>
          <p:cNvSpPr/>
          <p:nvPr/>
        </p:nvSpPr>
        <p:spPr>
          <a:xfrm>
            <a:off x="621792" y="431749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21792" y="44043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5</a:t>
            </a:r>
          </a:p>
        </p:txBody>
      </p:sp>
      <p:sp>
        <p:nvSpPr>
          <p:cNvPr id="17" name="TextBox 16"/>
          <p:cNvSpPr txBox="1"/>
          <p:nvPr/>
        </p:nvSpPr>
        <p:spPr>
          <a:xfrm>
            <a:off x="1115568" y="4358640"/>
            <a:ext cx="10527487" cy="701040"/>
          </a:xfrm>
          <a:prstGeom prst="rect">
            <a:avLst/>
          </a:prstGeom>
          <a:noFill/>
        </p:spPr>
        <p:txBody>
          <a:bodyPr wrap="square">
            <a:spAutoFit/>
          </a:bodyPr>
          <a:lstStyle/>
          <a:p>
            <a:pPr>
              <a:spcAft>
                <a:spcPts val="300"/>
              </a:spcAft>
            </a:pPr>
            <a:r>
              <a:rPr sz="1700" b="1" i="0">
                <a:solidFill>
                  <a:srgbClr val="1A1A1A"/>
                </a:solidFill>
                <a:latin typeface="Arial"/>
              </a:rPr>
              <a:t>A lawful basis for its exchanges</a:t>
            </a:r>
          </a:p>
          <a:p>
            <a:pPr>
              <a:spcAft>
                <a:spcPts val="300"/>
              </a:spcAft>
            </a:pPr>
            <a:r>
              <a:rPr sz="1550" b="0" i="0">
                <a:solidFill>
                  <a:srgbClr val="595959"/>
                </a:solidFill>
                <a:latin typeface="Arial"/>
              </a:rPr>
              <a:t>From the decree.</a:t>
            </a:r>
          </a:p>
        </p:txBody>
      </p:sp>
      <p:sp>
        <p:nvSpPr>
          <p:cNvPr id="18" name="Rectangle 17"/>
          <p:cNvSpPr/>
          <p:nvPr/>
        </p:nvSpPr>
        <p:spPr>
          <a:xfrm>
            <a:off x="621792" y="50642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21792" y="515112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6</a:t>
            </a:r>
          </a:p>
        </p:txBody>
      </p:sp>
      <p:sp>
        <p:nvSpPr>
          <p:cNvPr id="20" name="TextBox 19"/>
          <p:cNvSpPr txBox="1"/>
          <p:nvPr/>
        </p:nvSpPr>
        <p:spPr>
          <a:xfrm>
            <a:off x="1115568" y="5105400"/>
            <a:ext cx="10527487" cy="701040"/>
          </a:xfrm>
          <a:prstGeom prst="rect">
            <a:avLst/>
          </a:prstGeom>
          <a:noFill/>
        </p:spPr>
        <p:txBody>
          <a:bodyPr wrap="square">
            <a:spAutoFit/>
          </a:bodyPr>
          <a:lstStyle/>
          <a:p>
            <a:pPr>
              <a:spcAft>
                <a:spcPts val="300"/>
              </a:spcAft>
            </a:pPr>
            <a:r>
              <a:rPr sz="1700" b="1" i="0">
                <a:solidFill>
                  <a:srgbClr val="1A1A1A"/>
                </a:solidFill>
                <a:latin typeface="Arial"/>
              </a:rPr>
              <a:t>A named technical contact</a:t>
            </a:r>
          </a:p>
          <a:p>
            <a:pPr>
              <a:spcAft>
                <a:spcPts val="300"/>
              </a:spcAft>
            </a:pPr>
            <a:r>
              <a:rPr sz="1550" b="0" i="0">
                <a:solidFill>
                  <a:srgbClr val="595959"/>
                </a:solidFill>
                <a:latin typeface="Arial"/>
              </a:rPr>
              <a:t>Someone who can fix things when they break.</a:t>
            </a:r>
          </a:p>
        </p:txBody>
      </p:sp>
      <p:sp>
        <p:nvSpPr>
          <p:cNvPr id="21" name="TextBox 20"/>
          <p:cNvSpPr txBox="1"/>
          <p:nvPr/>
        </p:nvSpPr>
        <p:spPr>
          <a:xfrm>
            <a:off x="658368" y="5961888"/>
            <a:ext cx="10881360" cy="548640"/>
          </a:xfrm>
          <a:prstGeom prst="rect">
            <a:avLst/>
          </a:prstGeom>
          <a:noFill/>
        </p:spPr>
        <p:txBody>
          <a:bodyPr wrap="square">
            <a:spAutoFit/>
          </a:bodyPr>
          <a:lstStyle/>
          <a:p>
            <a:r>
              <a:rPr sz="1550" b="1" i="0">
                <a:solidFill>
                  <a:srgbClr val="006E96"/>
                </a:solidFill>
                <a:latin typeface="Arial"/>
              </a:rPr>
              <a:t>Miss any one, and the agency is not ready — however willing it is.</a:t>
            </a:r>
          </a:p>
        </p:txBody>
      </p:sp>
      <p:sp>
        <p:nvSpPr>
          <p:cNvPr id="22" name="TextBox 21"/>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5.2 · State what a member must have — the Member Requirements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Readiness becomes a checklist, not a judgement</a:t>
            </a:r>
          </a:p>
        </p:txBody>
      </p:sp>
      <p:sp>
        <p:nvSpPr>
          <p:cNvPr id="4" name="TextBox 3"/>
          <p:cNvSpPr txBox="1"/>
          <p:nvPr/>
        </p:nvSpPr>
        <p:spPr>
          <a:xfrm>
            <a:off x="658368" y="1600200"/>
            <a:ext cx="10881360" cy="2194560"/>
          </a:xfrm>
          <a:prstGeom prst="rect">
            <a:avLst/>
          </a:prstGeom>
          <a:noFill/>
        </p:spPr>
        <p:txBody>
          <a:bodyPr wrap="square">
            <a:spAutoFit/>
          </a:bodyPr>
          <a:lstStyle/>
          <a:p>
            <a:pPr>
              <a:spcAft>
                <a:spcPts val="1200"/>
              </a:spcAft>
            </a:pPr>
            <a:r>
              <a:rPr sz="2000" b="0" i="0">
                <a:solidFill>
                  <a:srgbClr val="1A1A1A"/>
                </a:solidFill>
                <a:latin typeface="Arial"/>
              </a:rPr>
              <a:t>The agency works the list and either meets each item or does not — no architect guessing whether someone seems ready.</a:t>
            </a:r>
          </a:p>
          <a:p>
            <a:pPr>
              <a:spcAft>
                <a:spcPts val="1200"/>
              </a:spcAft>
            </a:pPr>
            <a:r>
              <a:rPr sz="2000" b="0" i="0">
                <a:solidFill>
                  <a:srgbClr val="1A1A1A"/>
                </a:solidFill>
                <a:latin typeface="Arial"/>
              </a:rPr>
              <a:t>That objectivity lets you schedule onboarding with confidence, and keeps a half-ready member from breaking the exchanges it touches.</a:t>
            </a:r>
          </a:p>
        </p:txBody>
      </p:sp>
      <p:sp>
        <p:nvSpPr>
          <p:cNvPr id="5" name="Rounded Rectangle 4"/>
          <p:cNvSpPr/>
          <p:nvPr/>
        </p:nvSpPr>
        <p:spPr>
          <a:xfrm>
            <a:off x="658368" y="3977639"/>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169663"/>
            <a:ext cx="10479024" cy="1051560"/>
          </a:xfrm>
          <a:prstGeom prst="rect">
            <a:avLst/>
          </a:prstGeom>
          <a:noFill/>
        </p:spPr>
        <p:txBody>
          <a:bodyPr wrap="square">
            <a:spAutoFit/>
          </a:bodyPr>
          <a:lstStyle/>
          <a:p>
            <a:pPr>
              <a:spcAft>
                <a:spcPts val="700"/>
              </a:spcAft>
            </a:pPr>
            <a:r>
              <a:rPr sz="2300" b="1" i="0">
                <a:solidFill>
                  <a:srgbClr val="006E96"/>
                </a:solidFill>
                <a:latin typeface="Arial"/>
              </a:rPr>
              <a:t>And the list says "not yet" for you.</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5.2 · State what a member must have — the Member Requirements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Member Requirements are the front end of onboarding</a:t>
            </a:r>
          </a:p>
        </p:txBody>
      </p:sp>
      <p:cxnSp>
        <p:nvCxnSpPr>
          <p:cNvPr id="4" name="Connector 3"/>
          <p:cNvCxnSpPr/>
          <p:nvPr/>
        </p:nvCxnSpPr>
        <p:spPr>
          <a:xfrm>
            <a:off x="2606040" y="3063240"/>
            <a:ext cx="265176" cy="0"/>
          </a:xfrm>
          <a:prstGeom prst="line">
            <a:avLst/>
          </a:prstGeom>
          <a:ln w="19050">
            <a:solidFill>
              <a:srgbClr val="006E9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4846320" y="3063240"/>
            <a:ext cx="265175" cy="0"/>
          </a:xfrm>
          <a:prstGeom prst="line">
            <a:avLst/>
          </a:prstGeom>
          <a:ln w="19050">
            <a:solidFill>
              <a:srgbClr val="006E9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7086600" y="3063240"/>
            <a:ext cx="265176" cy="0"/>
          </a:xfrm>
          <a:prstGeom prst="line">
            <a:avLst/>
          </a:prstGeom>
          <a:ln w="19050">
            <a:solidFill>
              <a:srgbClr val="006E9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9326880" y="3063240"/>
            <a:ext cx="265176" cy="0"/>
          </a:xfrm>
          <a:prstGeom prst="line">
            <a:avLst/>
          </a:prstGeom>
          <a:ln w="19050">
            <a:solidFill>
              <a:srgbClr val="006E96"/>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658368" y="1645920"/>
            <a:ext cx="1920240" cy="2834640"/>
          </a:xfrm>
          <a:prstGeom prst="roundRect">
            <a:avLst>
              <a:gd name="adj" fmla="val 8000"/>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400" b="1" i="0">
                <a:solidFill>
                  <a:srgbClr val="FFFFFF"/>
                </a:solidFill>
                <a:latin typeface="Arial"/>
              </a:rPr>
              <a:t>MEMBER REQUIREMENTS</a:t>
            </a:r>
          </a:p>
          <a:p>
            <a:pPr algn="l">
              <a:spcAft>
                <a:spcPts val="300"/>
              </a:spcAft>
            </a:pPr>
            <a:r>
              <a:rPr sz="1600" b="0" i="0">
                <a:solidFill>
                  <a:srgbClr val="FFFFFF"/>
                </a:solidFill>
                <a:latin typeface="Arial"/>
              </a:rPr>
              <a:t>Is the agency ready?</a:t>
            </a:r>
          </a:p>
        </p:txBody>
      </p:sp>
      <p:sp>
        <p:nvSpPr>
          <p:cNvPr id="9" name="TextBox 8"/>
          <p:cNvSpPr txBox="1"/>
          <p:nvPr/>
        </p:nvSpPr>
        <p:spPr>
          <a:xfrm>
            <a:off x="658368" y="4572000"/>
            <a:ext cx="1920240" cy="365760"/>
          </a:xfrm>
          <a:prstGeom prst="rect">
            <a:avLst/>
          </a:prstGeom>
          <a:noFill/>
        </p:spPr>
        <p:txBody>
          <a:bodyPr wrap="square" lIns="36576" rIns="36576" tIns="0" bIns="0" anchor="ctr">
            <a:spAutoFit/>
          </a:bodyPr>
          <a:lstStyle/>
          <a:p>
            <a:pPr algn="ctr"/>
            <a:r>
              <a:rPr sz="1300" b="1" i="0">
                <a:solidFill>
                  <a:srgbClr val="006E96"/>
                </a:solidFill>
                <a:latin typeface="Arial"/>
              </a:rPr>
              <a:t>video 5.2</a:t>
            </a:r>
          </a:p>
        </p:txBody>
      </p:sp>
      <p:sp>
        <p:nvSpPr>
          <p:cNvPr id="10" name="Rounded Rectangle 9"/>
          <p:cNvSpPr/>
          <p:nvPr/>
        </p:nvSpPr>
        <p:spPr>
          <a:xfrm>
            <a:off x="2898648" y="1645920"/>
            <a:ext cx="1920240" cy="283464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400" b="1" i="0">
                <a:solidFill>
                  <a:srgbClr val="006E96"/>
                </a:solidFill>
                <a:latin typeface="Arial"/>
              </a:rPr>
              <a:t>APPROVAL</a:t>
            </a:r>
          </a:p>
          <a:p>
            <a:pPr algn="l">
              <a:spcAft>
                <a:spcPts val="300"/>
              </a:spcAft>
            </a:pPr>
            <a:r>
              <a:rPr sz="1600" b="0" i="0">
                <a:solidFill>
                  <a:srgbClr val="1A1A1A"/>
                </a:solidFill>
                <a:latin typeface="Arial"/>
              </a:rPr>
              <a:t>The RACI names the body that approves</a:t>
            </a:r>
          </a:p>
        </p:txBody>
      </p:sp>
      <p:sp>
        <p:nvSpPr>
          <p:cNvPr id="11" name="TextBox 10"/>
          <p:cNvSpPr txBox="1"/>
          <p:nvPr/>
        </p:nvSpPr>
        <p:spPr>
          <a:xfrm>
            <a:off x="2898648" y="4572000"/>
            <a:ext cx="1920240" cy="365760"/>
          </a:xfrm>
          <a:prstGeom prst="rect">
            <a:avLst/>
          </a:prstGeom>
          <a:noFill/>
        </p:spPr>
        <p:txBody>
          <a:bodyPr wrap="square" lIns="36576" rIns="36576" tIns="0" bIns="0" anchor="ctr">
            <a:spAutoFit/>
          </a:bodyPr>
          <a:lstStyle/>
          <a:p>
            <a:pPr algn="ctr"/>
            <a:r>
              <a:rPr sz="1300" b="1" i="0">
                <a:solidFill>
                  <a:srgbClr val="006E96"/>
                </a:solidFill>
                <a:latin typeface="Arial"/>
              </a:rPr>
              <a:t>Module 3</a:t>
            </a:r>
          </a:p>
        </p:txBody>
      </p:sp>
      <p:sp>
        <p:nvSpPr>
          <p:cNvPr id="12" name="Rounded Rectangle 11"/>
          <p:cNvSpPr/>
          <p:nvPr/>
        </p:nvSpPr>
        <p:spPr>
          <a:xfrm>
            <a:off x="5138928" y="1645920"/>
            <a:ext cx="1920240" cy="283464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400" b="1" i="0">
                <a:solidFill>
                  <a:srgbClr val="006E96"/>
                </a:solidFill>
                <a:latin typeface="Arial"/>
              </a:rPr>
              <a:t>REGISTRATION</a:t>
            </a:r>
          </a:p>
          <a:p>
            <a:pPr algn="l">
              <a:spcAft>
                <a:spcPts val="300"/>
              </a:spcAft>
            </a:pPr>
            <a:r>
              <a:rPr sz="1600" b="0" i="0">
                <a:solidFill>
                  <a:srgbClr val="1A1A1A"/>
                </a:solidFill>
                <a:latin typeface="Arial"/>
              </a:rPr>
              <a:t>Subsystem and access-control list admit it</a:t>
            </a:r>
          </a:p>
        </p:txBody>
      </p:sp>
      <p:sp>
        <p:nvSpPr>
          <p:cNvPr id="13" name="TextBox 12"/>
          <p:cNvSpPr txBox="1"/>
          <p:nvPr/>
        </p:nvSpPr>
        <p:spPr>
          <a:xfrm>
            <a:off x="5138928" y="4572000"/>
            <a:ext cx="1920240" cy="365760"/>
          </a:xfrm>
          <a:prstGeom prst="rect">
            <a:avLst/>
          </a:prstGeom>
          <a:noFill/>
        </p:spPr>
        <p:txBody>
          <a:bodyPr wrap="square" lIns="36576" rIns="36576" tIns="0" bIns="0" anchor="ctr">
            <a:spAutoFit/>
          </a:bodyPr>
          <a:lstStyle/>
          <a:p>
            <a:pPr algn="ctr"/>
            <a:r>
              <a:rPr sz="1300" b="1" i="0">
                <a:solidFill>
                  <a:srgbClr val="006E96"/>
                </a:solidFill>
                <a:latin typeface="Arial"/>
              </a:rPr>
              <a:t>video 5.4</a:t>
            </a:r>
          </a:p>
        </p:txBody>
      </p:sp>
      <p:sp>
        <p:nvSpPr>
          <p:cNvPr id="14" name="Rounded Rectangle 13"/>
          <p:cNvSpPr/>
          <p:nvPr/>
        </p:nvSpPr>
        <p:spPr>
          <a:xfrm>
            <a:off x="7379208" y="1645920"/>
            <a:ext cx="1920240" cy="283464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400" b="1" i="0">
                <a:solidFill>
                  <a:srgbClr val="006E96"/>
                </a:solidFill>
                <a:latin typeface="Arial"/>
              </a:rPr>
              <a:t>CONFORMANCE TEST</a:t>
            </a:r>
          </a:p>
          <a:p>
            <a:pPr algn="l">
              <a:spcAft>
                <a:spcPts val="300"/>
              </a:spcAft>
            </a:pPr>
            <a:r>
              <a:rPr sz="1600" b="0" i="0">
                <a:solidFill>
                  <a:srgbClr val="1A1A1A"/>
                </a:solidFill>
                <a:latin typeface="Arial"/>
              </a:rPr>
              <a:t>The gate before its first service</a:t>
            </a:r>
          </a:p>
        </p:txBody>
      </p:sp>
      <p:sp>
        <p:nvSpPr>
          <p:cNvPr id="15" name="TextBox 14"/>
          <p:cNvSpPr txBox="1"/>
          <p:nvPr/>
        </p:nvSpPr>
        <p:spPr>
          <a:xfrm>
            <a:off x="7379208" y="4572000"/>
            <a:ext cx="1920240" cy="365760"/>
          </a:xfrm>
          <a:prstGeom prst="rect">
            <a:avLst/>
          </a:prstGeom>
          <a:noFill/>
        </p:spPr>
        <p:txBody>
          <a:bodyPr wrap="square" lIns="36576" rIns="36576" tIns="0" bIns="0" anchor="ctr">
            <a:spAutoFit/>
          </a:bodyPr>
          <a:lstStyle/>
          <a:p>
            <a:pPr algn="ctr"/>
            <a:r>
              <a:rPr sz="1300" b="1" i="0">
                <a:solidFill>
                  <a:srgbClr val="006E96"/>
                </a:solidFill>
                <a:latin typeface="Arial"/>
              </a:rPr>
              <a:t>video 5.4</a:t>
            </a:r>
          </a:p>
        </p:txBody>
      </p:sp>
      <p:sp>
        <p:nvSpPr>
          <p:cNvPr id="16" name="Rounded Rectangle 15"/>
          <p:cNvSpPr/>
          <p:nvPr/>
        </p:nvSpPr>
        <p:spPr>
          <a:xfrm>
            <a:off x="9619488" y="1645920"/>
            <a:ext cx="1920240" cy="283464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400" b="1" i="0">
                <a:solidFill>
                  <a:srgbClr val="006E96"/>
                </a:solidFill>
                <a:latin typeface="Arial"/>
              </a:rPr>
              <a:t>FIRST SERVICE LIVE</a:t>
            </a:r>
          </a:p>
        </p:txBody>
      </p:sp>
      <p:sp>
        <p:nvSpPr>
          <p:cNvPr id="17" name="TextBox 16"/>
          <p:cNvSpPr txBox="1"/>
          <p:nvPr/>
        </p:nvSpPr>
        <p:spPr>
          <a:xfrm>
            <a:off x="658368" y="5074920"/>
            <a:ext cx="10881360" cy="548640"/>
          </a:xfrm>
          <a:prstGeom prst="rect">
            <a:avLst/>
          </a:prstGeom>
          <a:noFill/>
        </p:spPr>
        <p:txBody>
          <a:bodyPr wrap="square">
            <a:spAutoFit/>
          </a:bodyPr>
          <a:lstStyle/>
          <a:p>
            <a:r>
              <a:rPr sz="1550" b="1" i="0">
                <a:solidFill>
                  <a:srgbClr val="006E96"/>
                </a:solidFill>
                <a:latin typeface="Arial"/>
              </a:rPr>
              <a:t>One template, applied to every joining agency in turn.</a:t>
            </a:r>
          </a:p>
        </p:txBody>
      </p:sp>
      <p:sp>
        <p:nvSpPr>
          <p:cNvPr id="18" name="TextBox 17"/>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5.2 · State what a member must have — the Member Requirements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A Member Requirements checklist makes readiness objective and checkable weeks before go-live — so onboarding is scheduled, not gambled.</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Draft the Member Requirements checklist.</a:t>
            </a:r>
          </a:p>
          <a:p>
            <a:pPr algn="l">
              <a:spcAft>
                <a:spcPts val="400"/>
              </a:spcAft>
            </a:pPr>
            <a:r>
              <a:rPr sz="1800" b="0" i="0">
                <a:solidFill>
                  <a:srgbClr val="595959"/>
                </a:solidFill>
                <a:latin typeface="Arial"/>
              </a:rPr>
              <a:t>The prompt in the companion material gives you a reusable Member Requirements checklist with evidence and a readiness verdict.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5.2 · State what a member must have — the Member Requirements</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NIIS X-Road member requirements and onboarding (niis.org)</a:t>
            </a:r>
          </a:p>
          <a:p>
            <a:pPr>
              <a:spcAft>
                <a:spcPts val="1200"/>
              </a:spcAft>
            </a:pPr>
            <a:r>
              <a:rPr sz="1700" b="0" i="0">
                <a:solidFill>
                  <a:srgbClr val="1A1A1A"/>
                </a:solidFill>
                <a:latin typeface="Arial"/>
              </a:rPr>
              <a:t>•  EU European Interoperability Framework (EIF)</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5.2 · State what a member must have — the Member Requirements</a:t>
            </a:r>
          </a:p>
        </p:txBody>
      </p:sp>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