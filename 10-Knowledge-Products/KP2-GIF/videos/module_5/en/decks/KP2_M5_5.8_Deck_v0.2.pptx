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54" r:id="rId76"/>
    <p:sldId id="2755" r:id="rId77"/>
    <p:sldId id="2756" r:id="rId78"/>
    <p:sldId id="2757" r:id="rId79"/>
    <p:sldId id="2758" r:id="rId80"/>
    <p:sldId id="2759" r:id="rId81"/>
    <p:sldId id="2760"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 Id="rId82" Type="http://schemas.openxmlformats.org/officeDocument/2006/relationships/slide" Target="slides/slide6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production bus needs real monitoring and alerting, and this is what that monitoring is for. A running bus is not finished — it is operating, every day. Every call leaves a trace in the logs: success or failure, fast or slow, who called whom. Reading those logs by hand does not scale past a few services. The monitoring play points Claude at the real bus logs and turns them into something a Strategist can act on — a plain-language picture of the bus's health, and a flag when something looks wrong.</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logs hold the operational truth. Which exchanges ran and which failed, and how often. Whether calls are getting slower — a sign of a service under strain. And unusual patterns — a sudden spike, an agency calling a service it never called before, a surge of activity at three in the morning. The play reads all of this and writes a plain-language health report, flagging the things that deserve a human's attention this week.</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value is early warning. A failing service, caught in the logs, is fixed before a citizen standing at a counter is turned away. A creeping slowdown, spotted early, is addressed before it becomes an outage. The Operating Authority's team uses this to watch a growing federation without drowning in raw logs — the AI does the reading, the team does the acting. That is what lets a small operations team keep a hundred-service bus healthy. And the same reading serves a second, slower loop. Operational health is watched daily; member compliance is reviewed quarterly — which members still meet the binding standards, whose conformance has lapsed, what breaches occurred and what was done. That review goes to the Steering Committee each quarter, to the Council each year, and, where the country's transparency policy asks for it, to citizens twice a year. Monitoring that never reaches a governance table is a dashboard; monitoring that does is accountability.</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Two safeguards matter here, and neither is optional. The AI flags; a human investigates — an anomaly is a question to look into, not a verdict to act on automatically. And, critically, the logs you feed the play must carry no citizen personal data. You monitor the metadata of exchanges — which service, success or failure, how fast — not the contents of what was exchanged. A monitoring tool that ingested citizen data would itself become a data-protection risk, the very thing the framework exists to prevent. Monitor the traffic, never the cargo.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monitoring is how a framework stays healthy as it grows from one exchange to hundreds. The bus tells you how it is doing, in its logs; the AI play makes that legible; the Operating Authority acts on the flags; and citizen data never enters the prompt. Monitoring is the difference between a federation someone is watching and one that fails silently until a citizen complains.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s>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5 · VIDEO 5.8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Watch the bus — monitoring and anomaly detection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Point Claude at the real bus logs to spot a failing or unusual exchange before a citizen does.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running bus is not finished. It is operating, every 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Every call leaves a trace in the logs.</a:t>
            </a:r>
          </a:p>
          <a:p>
            <a:pPr>
              <a:spcAft>
                <a:spcPts val="800"/>
              </a:spcAft>
            </a:pPr>
            <a:r>
              <a:rPr sz="1700" b="0" i="0">
                <a:solidFill>
                  <a:srgbClr val="595959"/>
                </a:solidFill>
                <a:latin typeface="Arial"/>
              </a:rPr>
              <a:t>Reading them by hand does not scale past a few services.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logs hold the operational truth</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Which exchanges ran, and which failed</a:t>
            </a:r>
          </a:p>
          <a:p>
            <a:pPr>
              <a:spcAft>
                <a:spcPts val="300"/>
              </a:spcAft>
            </a:pPr>
            <a:r>
              <a:rPr sz="1550" b="0" i="0">
                <a:solidFill>
                  <a:srgbClr val="595959"/>
                </a:solidFill>
                <a:latin typeface="Arial"/>
              </a:rPr>
              <a:t>And how often.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Latency</a:t>
            </a:r>
          </a:p>
          <a:p>
            <a:pPr>
              <a:spcAft>
                <a:spcPts val="300"/>
              </a:spcAft>
            </a:pPr>
            <a:r>
              <a:rPr sz="1550" b="0" i="0">
                <a:solidFill>
                  <a:srgbClr val="595959"/>
                </a:solidFill>
                <a:latin typeface="Arial"/>
              </a:rPr>
              <a:t>Whether calls are getting slower — a service under strain.</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Unusual patterns</a:t>
            </a:r>
          </a:p>
          <a:p>
            <a:pPr>
              <a:spcAft>
                <a:spcPts val="300"/>
              </a:spcAft>
            </a:pPr>
            <a:r>
              <a:rPr sz="1550" b="0" i="0">
                <a:solidFill>
                  <a:srgbClr val="595959"/>
                </a:solidFill>
                <a:latin typeface="Arial"/>
              </a:rPr>
              <a:t>A spike, a new caller, a surge at three in the morning.</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Compliance</a:t>
            </a:r>
          </a:p>
          <a:p>
            <a:pPr>
              <a:spcAft>
                <a:spcPts val="300"/>
              </a:spcAft>
            </a:pPr>
            <a:r>
              <a:rPr sz="1550" b="0" i="0">
                <a:solidFill>
                  <a:srgbClr val="595959"/>
                </a:solidFill>
                <a:latin typeface="Arial"/>
              </a:rPr>
              <a:t>Which members still meet the binding standards, and which are drifting.</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metadata of exchanges — never their contents.</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loops: health every day, compliance every quarter</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DAILY — OPERATIONAL HEALTH</a:t>
            </a:r>
          </a:p>
          <a:p>
            <a:pPr>
              <a:spcAft>
                <a:spcPts val="700"/>
              </a:spcAft>
            </a:pPr>
            <a:r>
              <a:rPr sz="1600" b="0" i="0">
                <a:solidFill>
                  <a:srgbClr val="1A1A1A"/>
                </a:solidFill>
                <a:latin typeface="Arial"/>
              </a:rPr>
              <a:t>A failing service caught before a citizen is turned away.</a:t>
            </a:r>
          </a:p>
          <a:p>
            <a:pPr>
              <a:spcAft>
                <a:spcPts val="700"/>
              </a:spcAft>
            </a:pPr>
            <a:r>
              <a:rPr sz="1600" b="0" i="0">
                <a:solidFill>
                  <a:srgbClr val="1A1A1A"/>
                </a:solidFill>
                <a:latin typeface="Arial"/>
              </a:rPr>
              <a:t>A slowdown addressed before it becomes an outage.</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QUARTERLY — MEMBER COMPLIANCE</a:t>
            </a:r>
          </a:p>
          <a:p>
            <a:pPr>
              <a:spcAft>
                <a:spcPts val="700"/>
              </a:spcAft>
            </a:pPr>
            <a:r>
              <a:rPr sz="1600" b="0" i="0">
                <a:solidFill>
                  <a:srgbClr val="1A1A1A"/>
                </a:solidFill>
                <a:latin typeface="Arial"/>
              </a:rPr>
              <a:t>To the Steering Committee each quarter, the Council each year.</a:t>
            </a:r>
          </a:p>
          <a:p>
            <a:pPr>
              <a:spcAft>
                <a:spcPts val="700"/>
              </a:spcAft>
            </a:pPr>
            <a:r>
              <a:rPr sz="1600" b="0" i="0">
                <a:solidFill>
                  <a:srgbClr val="1A1A1A"/>
                </a:solidFill>
                <a:latin typeface="Arial"/>
              </a:rPr>
              <a:t>To citizens twice a year, where transparency policy asks.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Monitoring that reaches a governance table is accountability. The rest is a dashboard.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safeguards that are not optional</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AI FLAGS, A HUMAN INVESTIGATES</a:t>
            </a:r>
          </a:p>
          <a:p>
            <a:pPr>
              <a:spcAft>
                <a:spcPts val="700"/>
              </a:spcAft>
            </a:pPr>
            <a:r>
              <a:rPr sz="1600" b="0" i="0">
                <a:solidFill>
                  <a:srgbClr val="1A1A1A"/>
                </a:solidFill>
                <a:latin typeface="Arial"/>
              </a:rPr>
              <a:t>An anomaly is a question to look into.</a:t>
            </a:r>
          </a:p>
          <a:p>
            <a:pPr>
              <a:spcAft>
                <a:spcPts val="700"/>
              </a:spcAft>
            </a:pPr>
            <a:r>
              <a:rPr sz="1600" b="0" i="0">
                <a:solidFill>
                  <a:srgbClr val="1A1A1A"/>
                </a:solidFill>
                <a:latin typeface="Arial"/>
              </a:rPr>
              <a:t>Not a verdict to act on automatically.</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NO CITIZEN DATA IN THE PROMPT</a:t>
            </a:r>
          </a:p>
          <a:p>
            <a:pPr>
              <a:spcAft>
                <a:spcPts val="700"/>
              </a:spcAft>
            </a:pPr>
            <a:r>
              <a:rPr sz="1600" b="0" i="0">
                <a:solidFill>
                  <a:srgbClr val="1A1A1A"/>
                </a:solidFill>
                <a:latin typeface="Arial"/>
              </a:rPr>
              <a:t>Which service, success or failure, how fast.</a:t>
            </a:r>
          </a:p>
          <a:p>
            <a:pPr>
              <a:spcAft>
                <a:spcPts val="700"/>
              </a:spcAft>
            </a:pPr>
            <a:r>
              <a:rPr sz="1600" b="0" i="0">
                <a:solidFill>
                  <a:srgbClr val="1A1A1A"/>
                </a:solidFill>
                <a:latin typeface="Arial"/>
              </a:rPr>
              <a:t>A monitoring tool that ingests citizen data becomes the risk.</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Monitor the traffic, never the cargo.</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logs hold the bus's health — the AI makes it legible, a human acts on the flags, and citizen data never enters the prompt.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Summarise bus health and flag anomalies from the logs.</a:t>
            </a:r>
          </a:p>
          <a:p>
            <a:pPr algn="l">
              <a:spcAft>
                <a:spcPts val="400"/>
              </a:spcAft>
            </a:pPr>
            <a:r>
              <a:rPr sz="1800" b="0" i="0">
                <a:solidFill>
                  <a:srgbClr val="595959"/>
                </a:solidFill>
                <a:latin typeface="Arial"/>
              </a:rPr>
              <a:t>The prompt in the companion material gives you a health summary plus a prioritised list of anomalies to investigate.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NIIS X-Road monitoring and operational logs (niis.org)</a:t>
            </a:r>
          </a:p>
          <a:p>
            <a:pPr>
              <a:spcAft>
                <a:spcPts val="1200"/>
              </a:spcAft>
            </a:pPr>
            <a:r>
              <a:rPr sz="1700" b="0" i="0">
                <a:solidFill>
                  <a:srgbClr val="1A1A1A"/>
                </a:solidFill>
                <a:latin typeface="Arial"/>
              </a:rPr>
              <a:t>•  The Linkup demonstration federation</a:t>
            </a:r>
          </a:p>
          <a:p>
            <a:pPr>
              <a:spcAft>
                <a:spcPts val="1200"/>
              </a:spcAft>
            </a:pPr>
            <a:r>
              <a:rPr sz="1700" b="0" i="0">
                <a:solidFill>
                  <a:srgbClr val="1A1A1A"/>
                </a:solidFill>
                <a:latin typeface="Arial"/>
              </a:rPr>
              <a:t>•  ITU DPI Safeguards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5.8 · Watch the bus — monitoring and anomaly detection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