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 id="2757" r:id="rId79"/>
    <p:sldId id="2758" r:id="rId80"/>
    <p:sldId id="2759" r:id="rId81"/>
    <p:sldId id="2760" r:id="rId82"/>
    <p:sldId id="2761" r:id="rId83"/>
    <p:sldId id="2762" r:id="rId84"/>
    <p:sldId id="2763" r:id="rId85"/>
    <p:sldId id="2764" r:id="rId86"/>
    <p:sldId id="2765" r:id="rId87"/>
    <p:sldId id="2766" r:id="rId88"/>
    <p:sldId id="2767" r:id="rId89"/>
    <p:sldId id="2768" r:id="rId90"/>
    <p:sldId id="2769" r:id="rId91"/>
    <p:sldId id="2770" r:id="rId92"/>
    <p:sldId id="2771"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 Id="rId93" Type="http://schemas.openxmlformats.org/officeDocument/2006/relationships/slide" Target="slides/slide7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rule of fairness, and it is the rule that actually gets SLAs signed: set the numbers with the provider, not for them. A target the provider cannot meet is a target the provider will quietly ignore, and an SLA everyone ignores is worse than none. Agree numbers the provider can genuinely hit — and raise them over time as the platform matures — and the SLA becomes real rather than decorative. The template then makes it fast: fill in the targets for each service, agree them with the provider, sign, and reuse the same template for every service on the bus.</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SLA operationalises the member obligations from the governance module. Those obligations said, in principle, that a member meets service levels; the SLA is where the service levels become specific numbers, agreed and signed. Without the SLA, 'meets service levels' is a wish. With it, it is a commitment the Operating Authority can hold a member to — and a number a consumer can plan around.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onboard a whole government at once. You build the framework in four phases, each delivering something real, each with a decision gate before the next is funded — a pattern drawn from how Estonia and others actually built their buses.</a:t>
            </a:r>
          </a:p>
          <a:p/>
          <a:p>
            <a:r>
              <a:t>Retrieval prompt — ask before playing on: from the start of the build, how long until the first citizen-visible once-only exchange? Answer on the next slide: about a year.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honest calendar. The four build phases start when the foundation is laid — the decree, the governance, the architecture and the standards portfolio — and that groundwork is itself a year to eighteen months of team effort, longer in calendar time because legislative and budget cycles do not hurry. Then the phases. Phase one, Foundation, months zero to six — the central platform and its trust anchor go live, two pilot members connect, the first services run. Phase two, Pilot and Validation, seven to twelve — the first real cross-ministry once-only exchanges go live, the first five members are on, conformance testing is operating. Phase three, Expansion, thirteen to eighteen — the first-wave sectors are covered: fifteen members, twenty or more services. Phase four, Optimisation, nineteen to twenty-four — performance, the long tail, the next wave of sectors. So the first citizen-visible once-only exchange lands about a year into the build, and the first real milestone — the platform running with a handful of member services — two to three years from the day the programme starts. National coverage is a four-to-six-year programme. Say that to your minister on day one; it is the number that keeps the programme funded when the launch enthusiasm fades. Each phase ends with a decision gate: a go or no-go where the funder and the Steering Committee confirm the phase actually delivered before the next is funded.</a:t>
            </a:r>
          </a:p>
          <a:p/>
          <a:p>
            <a:r>
              <a:t>Production cue: this slide answers the retrieval prompt set on the opener. Reveal the groundwork first, then the phases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phasing protects the re-use logic: phase one builds the shared bus once, and every phase and every agency after it reuses that one investment. A funder who sees that is paying for a national platform, not a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caution, because the words collide: these four build phases are not the five-phase enterprise-architecture lifecycle that produced your plan. That lifecycle designs the target; this schedule builds the bus, inside its final phase.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plan is five documents, not one schedule. The phased schedule — for each phase its outcomes, its gate, its risks. The investment plan — capital and running costs across the years, benchmarked against what comparable platforms cost, and with the state's own budget line for running whatever a donor built, because the commonest failure is a platform funded to launch and not to operate. The procurement plan — one lot per domain, sequenced across the phases, and never a single big-bang contract that hands the architecture to whichever vendor wins; the platform itself is bought as a working, accepted result, with acceptance tests and penalties, against the framework's rules as mandatory requirements. The workforce plan — the operator grows from a first team of eight to fifteen towards thirty to eighty at national scale, and every member needs a named technical focal point. And the risk register with the success metrics — members onboarded, services registered, transactions a quarter, uptime, how long onboarding takes, member satisfaction — reviewed at every gate. A cost frame a funder can check is a cost frame a funder can approve.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plan the build in four phases — Foundation, Pilot, Expansion, Optimisation — each with a gate and a benchmarked cost, on a calendar you have told the truth about, with the investment, procurement, workforce and risk plans beside the schedule. That is what turns an ambition into a fundable programme.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fastest way to wreck an onboarding schedule is to discover, on go-live day, that the joining agency is not actually ready — no security server, no adopted standards, no lawful basis. The Member Requirements template prevents that. It states, up front, exactly what an agency must have in place before it can join, so readiness is checked weeks ahead, not discovered at the deadline.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requirements are concrete. A security server — the gateway device at the agency's edge. A registered identity on the bus — its subsystem. The standards portfolio adopted, so its services speak the framework's language. Its data cleaned and conformed to the agreed schema, because a member with stale or malformed data poisons every exchange that uses it. A lawful basis for the exchanges it will take part in, drawn from the decree. And a named technical contact who can actually fix things when they break. Miss any one, and the agency is not ready, however willing it 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template turns readiness from a judgement call into an objective checklist. Instead of an architect deciding, agency by agency, whether someone seems ready, the agency works through the list and either meets each item or does not. That objectivity is what lets you schedule onboarding with confidence, and it protects the framework from a member that joins half-ready and breaks the exchanges it touches. It also takes the awkwardness out of saying 'not yet' — the list says it for you.</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template is reused for every member: fill it once as a template, apply it to each joining agency in turn. It is the front end of the onboarding workflow — an agency that passes the Member Requirements is an agency ready to be registered on the bus, which is the technical step that admits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before any agency is registered on the bus, it passes the Member Requirements: a security server, a registered identity, the standards adopted, clean data, a lawful basis, a named contact. The checklist makes readiness objective, lets you schedule onboarding instead of gambling on it, and is reused for every member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member being connected is not the same as a member being dependable. A service that is up most of the time, answers slowly, and has no one to call when it breaks is connected but useless to a consumer who needs the data at the moment a citizen is standing at the counter. The Service-Level Agreement is what turns connected into dependable — and a template turns writing one from a negotiation into a fill-in.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SLA sets the numbers a consumer can rely on. Availability — the uptime the provider commits to. Response time — how fast a call returns. Support hours — when there is someone to help. Incident response — who to call when the service fails, and how quickly they will respond. And change notice — how much warning a provider gives before changing the service, so consumers are not broken by a surprise. These are the numbers that turn a connection into a dependency a consumer can build a real citizen service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5 deck. Each section that follows is one standalone ~4–5 minute video. 5.1 to 5.8 are for the Architect who builds and runs the bus; 5.9 and 5.10 return to the Strategist and close the knowledge product.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5.1 is the plan. 5.2 to 5.4 onboard a member. 5.5 and 5.6 stand the federation up and prove it. 5.7 is the road to production. 5.8 to 5.10 run the framework and carry it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Service-Level Agreement is what turns a connected member into a dependable one. Availability, response time, support, incident response, change notice — the numbers a consumer can rely on, made specific from the governance obligations, agreed with the provider so they are real, and captured in a template you reuse for every service. That is the difference between a bus that works in a demonstration and one a country can run citizen services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so far has been preparation — the phased plan, the Member Requirements, the Service-Level Agreement. Registering a member on X-Road is the technical step that actually admits an agency to the bus, and it produces real configuration: the subsystem registration and the access-control list. This is a build step, and you can generate the configuration with Claude — then confirm it against the live registry before it goes anywhere.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Registering a member produces two configuration artefacts. The subsystem — the member's registered identity on the bus, made of its member class, member code and subsystem code, the identifiers the bus uses to route a call to it. And the access-control list — which other members are allowed to call this member's services, because being on the bus does not mean everyone may call everything; access is granted deliberately, service by service. Together, these two artefacts admit the agency and say exactly who may talk to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AI prompt for this video generates these from the member's details and the access policy. But every identifier — the member code, the subsystem code, the certificate references — is a [confirm] until you check it against the live X-Road registry. This is the place the confirm discipline matters most in the whole framework: a wrong member code does not throw a clear error. It silently routes nowhere, or worse, to the wrong agency, which in an interoperability bus means one citizen's data going to a service that asked about another. Generate the registration; confirm every identifier against the registry before you deploy it.</a:t>
            </a:r>
          </a:p>
          <a:p/>
          <a:p>
            <a:r>
              <a:t>Production cue: the pivotal slide of this video,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the same registration shape for every member — fill the member's details into the same template, generate the same two artefacts. The onboarding workflow and the governance RACI wrap it into a repeatable process: the Member Requirements confirm the agency is ready, the RACI says which body approves, and this registration configuration admits it. You produce the executable configuration here; the workflow and the approvals from the earlier modules surround it. That reuse — one registration pattern applied to every member — is what lets the framework onboard its twentieth agency as cleanly as its second.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Registration is not the last gate. Between a member's security server going up and its first service going live sits the conformance test: the member proves, against the standards portfolio, that its server, its certificates and its services do what the framework requires. For routine members that is a self-assessment against a published checklist; for high-risk services a third-party check; and where the operator has built one, a conformance test suite it runs itself. A member that fails fixes and re-tests until it passes. And it is not a certificate for life — members are re-tested on a cycle, typically every two years, and whenever a binding standard changes. This is the step programmes skip when they are in a hurry, and the step whose absence is discovered when one member's malformed data breaks everyone else's service.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configuration goes straight into the build pack, under the member's folder — it is part of the runnable proving slice, the thing the build pack's acceptance check deploys and tests. So registering a member is not paperwork that describes an intention. It is executable configuration that puts a real agency on the bus, ready to provide and consume services. When you have registered the four Progressa members this way, the federation has the participants it needs for a real exchange.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registering a member is where onboarding becomes configuration. Generate the subsystem and the access-control list with the AI prompt, confirm every identifier against the live registry, and deploy them into the build pack. Two artefacts, the same shape for every member, admitting one agency to the bus and naming who may call it. That is the technical core of onboarding — and the configuration the demonstration runs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 members registered, you stand up the federation itself — the live platform they connect to. For our demonstration this is Linkup, the X-Road federation on the ITU cloud. It has a small set of components, each with a clear job, and you bring it up from a run book, so that anyone with the build pack can reproduce the same federation rather than admire a one-off.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federation has three kinds of component. The Central Server, operated by PDGA, is the registry of who is a member and what services exist — the heart that every security server checks with before it routes a call. The four Security Servers — one each at MoEYS with its school-information system PEMIS, the examination authority PNEA, the learner registry PLR, and the identity authority PNIA — are the members' gateways, the devices that carry the trust burden at each edge. And the Test CA, the certification authority that issues the certificates the security servers use to prove who they are. In production that is a real certification authority; in the demonstration, a test one.</a:t>
            </a:r>
          </a:p>
          <a:p/>
          <a:p>
            <a:r>
              <a:t>On screen: the member list and the hosting line are pending the demonstration-membership decision — they live in MEMBERS and HOSTING at the top of the build script.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Standing it up is a run-book exercise, deliberately. Each component is brought up in order — the Central Server first, then the Test CA, then each Security Server registers with the Central Server and receives its certificate. The run book makes this reproducible: anyone with the build pack can stand up the same federation, which is exactly what makes the demonstration a template rather than a one-off. For the demonstration, Linkup runs all of this on a single cloud VM in sandboxed containers — sized for showing cross-agency calls, not for production volumes.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federation is up, you have something concrete: four real security servers, registered with a central server, trusting a common certification authority, ready to carry a real call. The configuration that does this — the federation config and each member's registration — lives in the build pack, and the build pack's acceptance check is what confirms the federation actually stands up, not merely that the files exist. This is the moment the abstract becomes real: up to now this knowledge product has produced documents and configuration; standing up the federation turns that configuration into a running platform. The bus exists, the members are on it, and the only thing left is to make a real call across it.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stand up the federation from a run book: the Central Server at PDGA, the four Security Servers at the Progressa members, the Test CA that anchors trust. Reproducible from the build pack, confirmed by its acceptance check. With the federation running, the framework has stopped being a design and become a platform — ready for the call that proves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moment the whole framework exists for: a real once-only exchange, running across the federation, for an ordinary citizen scenario. Not a mock, not a diagram — a genuine cross-server call in which the state asks the citizen once and fetches the rest. Everything in this knowledge product has been leading to this single call.</a:t>
            </a:r>
          </a:p>
          <a:p/>
          <a:p>
            <a:r>
              <a:t>Retrieval prompt — ask before playing on: of the four layers — technical, semantic, organisational, legal — which are at work in this one call? Answer on the layers slide: all four.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scenario is concrete and ordinary. A learner applies for a credential at the national examination authority, PNEA. Without once-only, PNEA asks the learner to bring paper proof of who they are and proof that they were enrolled. With once-only, the moment the learner gives their national ID, PNEA's service pre-fills their identity from the national identity authority, PNIA, and their enrolment from the learner registry, PLR — both fetched over the bus, with a lawful basis, in seconds. The learner is asked once. That is the promise from the very first module of this knowledge product, now actually running.</a:t>
            </a:r>
          </a:p>
          <a:p/>
          <a:p>
            <a:r>
              <a:t>Production cue: the centrepiece of the module. Reveal the learner and PNEA, then the two fetches.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every layer you built is in that single call. The call routes across the trust zones, secured by mutual TLS — the technical layer. It returns only the fields the purpose needs, under the decree's lawful basis — the legal layer. It runs between members the governance admitted, under their obligations — the organisational layer. And it returns meaning, not just bytes, because it resolves only thanks to the semantic map: PNEA, PNIA and PLR agree what 'learner' and 'enrolment' mean. That agreement came from the data owners and the architects sitting together — the shared language between business and IT — and without it the call would return confident nonsense. One exchange, all four layers, all at once.</a:t>
            </a:r>
          </a:p>
          <a:p/>
          <a:p>
            <a:r>
              <a:t>Production cue: this slide answers the retrieval prompt set on the opener.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build pack's acceptance check, and it is deliberately a single, observable thing: the cross-server call resolves, the identity and the enrolment come back, the learner is not asked twice. An automated check runs exactly this — it deploys the federation, the members, the service and the demonstration data, then makes the call and confirms once-only actually happens. When that check passes, this knowledge product stops being a framework explained and becomes a framework that runs. That distinction — explained versus running — is the entire reason this is an implementation Knowledge Product. In a real federation this moment has a name: the dual go-live approval. The regulator confirms the member's compliance readiness, the operator confirms its technical readiness, and both confirmations are recorded before the production connection is switched on. The acceptance check is the technical half of that approval; the compliance half is the gate register the member completed on the way here.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why one small exchange is the proving slice for this whole knowledge product and for the work that builds on it. Prove once-only here, on four members, and you have proven the pattern that your country's shared digital public infrastructure, and the services built on top of it, will reuse. The smallest real once-only call is the largest possible proof that the framework works — because if the state can ask once and fetch the rest for one learner, lawfully and securely, it can do it for every service a country builds on the bus.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once-only exchange, live, is where this knowledge product proves itself. PNEA pre-fills identity from PNIA and enrolment from PLR, over the bus, for a real learner asked once. Technical, legal, organisational and semantic — all four layers in one resolving call, confirmed by the acceptance check. That single exchange is the acceptance of the whole framework, and the template every later service reuses.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proves the pattern. It is not, and must not be mistaken for, a production system. The architect's last job in this module is to know exactly what changes between the demonstration and a production-grade federation, so the country plans and budgets for that gap rather than discovering it after go-live — which is the moment it is most expensive to discover.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differences are specific. The demonstration runs everything on one VM; production separates the components onto real, sized hosts. The demonstration uses a Test CA; production uses a real certification authority. Production adds high availability and redundancy, so a failed component does not stop the bus. It adds real monitoring and alerting, so problems are caught before citizens notice them. It is sized for real transaction volumes, not a handful of demonstration calls. It has round-the-clock operational support — the Operating Authority's standing team. And it is security-hardened and audited to the standard a national platform carrying citizen data must meet.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one more production task, and it does not appear on the hardening list because it concerns the old world rather than the new: migrating each agency off the legacy point-to-point links the bus replaces, and retiring them. A new bus does not retire the old links by itself — left alone, you run both, which is worse than either. So per agency the pattern is parallel-run then cut over: stand up the new once-only exchange, run it beside the agency's existing point-to-point link until you have confirmed the two agree, then switch the consumers across and decommission the old link. Retiring those links is the step that actually ends the point-to-point sprawl Module 1 diagnosed — schedule it, agency by agency, in the multi-agency phase of the plan, with a migration-and-retirement step in each onboarding.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reassuring part, and it is the point of building a demonstration at all: none of this changes the shape of the configuration. The subsystem registrations, the service descriptions, the semantic map — they are the same in production. Production changes the scale, the resilience and the operations around the configuration, not the design of it. So the demonstration genuinely de-risks the production build. You have proven the pattern works; production is the same pattern, hardened and operated. The later phases of your four-phase plan are exactly where that production build is funded and delivered, against the cost frame.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one thing not to do is ship the demonstration as production. A sandboxed single-VM federation with a test certification authority is perfect for proving the pattern and wrong for carrying real citizen data at scale. Know the gap, plan it into the phased roadmap, budget it with the cost frame — and the move from demonstration to production becomes an engineering exercise the team can plan, not a surprise that derails go-live.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close the implementation module by being honest about the gap between demonstration and production. Separate hosts, a real certification authority, high availability, monitoring, capacity, support, hardening — the production differences are specific and plannable. The configuration's shape does not change, so the demonstration de-risks the build. Plan the gap into the roadmap, budget it with the cost frame, and never ship the demonstration as the production platform. That is how a proven pattern becomes a system a country runs.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production bus needs real monitoring and alerting, and this is what that monitoring is for. A running bus is not finished — it is operating, every day. Every call leaves a trace in the logs: success or failure, fast or slow, who called whom. Reading those logs by hand does not scale past a few services. The monitoring play points Claude at the real bus logs and turns them into something a Strategist can act on — a plain-language picture of the bus's health, and a flag when something looks wrong.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logs hold the operational truth. Which exchanges ran and which failed, and how often. Whether calls are getting slower — a sign of a service under strain. And unusual patterns — a sudden spike, an agency calling a service it never called before, a surge of activity at three in the morning. The play reads all of this and writes a plain-language health report, flagging the things that deserve a human's attention this week.</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value is early warning. A failing service, caught in the logs, is fixed before a citizen standing at a counter is turned away. A creeping slowdown, spotted early, is addressed before it becomes an outage. The Operating Authority's team uses this to watch a growing federation without drowning in raw logs — the AI does the reading, the team does the acting. That is what lets a small operations team keep a hundred-service bus healthy. And the same reading serves a second, slower loop. Operational health is watched daily; member compliance is reviewed quarterly — which members still meet the binding standards, whose conformance has lapsed, what breaches occurred and what was done. That review goes to the Steering Committee each quarter, to the Council each year, and, where the country's transparency policy asks for it, to citizens twice a year. Monitoring that never reaches a governance table is a dashboard; monitoring that does is accountability.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safeguards matter here, and neither is optional. The AI flags; a human investigates — an anomaly is a question to look into, not a verdict to act on automatically. And, critically, the logs you feed the play must carry no citizen personal data. You monitor the metadata of exchanges — which service, success or failure, how fast — not the contents of what was exchanged. A monitoring tool that ingested citizen data would itself become a data-protection risk, the very thing the framework exists to prevent. Monitor the traffic, never the cargo.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monitoring is how a framework stays healthy as it grows from one exchange to hundreds. The bus tells you how it is doing, in its logs; the AI play makes that legible; the Operating Authority acts on the flags; and citizen data never enters the prompt. Monitoring is the difference between a federation someone is watching and one that fails silently until a citizen complains.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mature framework produces three big documents that must agree with each other: the decree, which is the legal layer; the Governance Pack, which is the organisational layer; and the standards portfolio, which is the technical layer. The trouble is that, separately maintained, they drift apart over time — a standard updated in the portfolio but not reflected in the decree, a role the Governance Pack renames but the decree still names the old way. The consistency cross-check reads the three for contradictions before a reviewer or a member finds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Drift is specific and predictable. The standards portfolio adopts a new version, but the decree still references the old one. The RACI names a body the Governance Pack no longer describes. The decree authorises an exchange that no service in the catalogue implements, or a service exists that the decree never authorised. And the same term — 'member', 'service', 'authority' — is used to mean slightly different things in the three documents. Each of these is a contradiction that quietly undermines the framework's credibility the moment someone notices it.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play reads all three documents and reports the contradictions — where they disagree, and on what. It is the document analogue of the bus monitoring in the previous video: instead of watching the live traffic, it watches the documents for inconsistency. The value is catching drift before a Ministry of Justice reviewer, a joining member, or an auditor catches it for you — because a framework whose own three foundational documents contradict each other loses trust faster than almost anything else can cost it.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safeguard is the same shape as always. The AI flags the contradiction; a human decides which of the three documents is correct and fixes it. The play does not edit the decree on its own, because deciding whether the catalogue or the decree is right is a judgement with legal and governance consequences. The play finds the drift; a person resolves it. Run it whenever any of the three documents changes, and the framework's documents stay honest with each other as it evolves.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consistency cross-check keeps the framework's three foundational documents telling the same story. The AI reads the decree, the Governance Pack and the standards portfolio together and flags where they have drifted apart; a human decides which is right and fixes it. Run it on every change, and you catch the contradictions yourself, before the reviewer, the member or the auditor does.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in this knowledge product was demonstrated on education — Progressa's schools, learners and credentials. But the framework is not education-specific, and now that it runs, the most important thing a Strategist can know is exactly which parts carry to the next sector unchanged and which parts are new. Get that split right, and the second sector costs a fraction of the first.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Split the framework in two. What carries unchanged to health, or agriculture, or social protection: the four-layer model, the decree pattern, the governance — the tiers, the RACI, the Operating Authority — the standards portfolio, and the bus itself, already built and running. What is genuinely new per sector: the semantic layer, because health speaks a different vocabulary than education, and the specific exchanges and services that sector needs. That — the vocabularies and the services — is the whole of the difference. And a word on order. This knowledge product demonstrated on education because the worked case was to hand; most countries sequence the framework the other way round. The first wave is usually tax, civil registration, the business register and health — high-volume, foundational reference data that every other sector reads — with education, justice, social protection and customs in the second wave. Whichever sector goes first pays for the platform; the rule that the next is cheaper holds either way.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the re-use argument at the scale of the whole framework. The first sector pays to build the bus, the governance and the legal mandate; the second sector reuses all of it and pays only for its own semantics and services; the third reuses more still. This is exactly the whole-of-government planning logic from the very first module, now visible across sectors: build the shared platform once, and every sector after consumes it. The second sector is cheaper than the first, and the third cheaper than the second — and only a framework built deliberately, for the whole of government, makes that compounding possible. A set of separate sector projects never gets cheaper; a planned framework does.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Portability is built in on purpose, and it is not a footnote — it is the reason an interoperability framework is worth its cost. A platform that served only education would be hard to justify; a platform that serves education first and then every other sector at a fraction of the cost is the investment a strategist can defend for a decade. So when you take the next sector to your minister, bring the portability map: here is what we reuse, which is most of it, and here is the small, sector-specific part we build new. That map gets cheaper to make every time, and it is the business case for the next sector.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framework you built for education is sector-portable. Most of it — the bus, the governance, the legal mandate, the standards — carries unchanged; only the vocabularies and the services are new per sector. Build the platform once, reuse it everywhere, and let every sector after the first be cheaper than the one before. That compounding re-use is the framework's lasting value.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Stand it up, prove it,
run it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Government Interoperability Framework · Module 5</a:t>
            </a:r>
          </a:p>
          <a:p>
            <a:r>
              <a:rPr sz="1400" b="0" i="0">
                <a:solidFill>
                  <a:srgbClr val="595959"/>
                </a:solidFill>
                <a:latin typeface="Arial"/>
              </a:rPr>
              <a:t>Ten standalone videos that take the framework live: the four-phase plan a funder can approve, the Member Requirements and the SLA, registering a member, standing up the federation, the once-only exchange running for real, the road to production — then watching the bus, keeping the documents consistent, and carrying it to the next sector.</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~47 mins across 10 videos (5.1 – 5.10)</a:t>
            </a:r>
          </a:p>
          <a:p>
            <a:r>
              <a:rPr sz="1400" b="1" i="0">
                <a:solidFill>
                  <a:srgbClr val="1A1A1A"/>
                </a:solidFill>
                <a:latin typeface="Arial"/>
              </a:rPr>
              <a:t>Target audience: </a:t>
            </a:r>
            <a:r>
              <a:rPr sz="1400" b="0" i="0">
                <a:solidFill>
                  <a:srgbClr val="1A1A1A"/>
                </a:solidFill>
                <a:latin typeface="Arial"/>
              </a:rPr>
              <a:t>Chief or senior architect · integration lead · agency technical lead — and, for 5.9–5.10, the strategist</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FROM PLAN TO A RUNNING FRAMEWORK</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plan a funder can approve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Members admitted, and conforming</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federation, stood up</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call — the learner asked once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Watched, consistent, portable</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phases · 2 go-live approvals · 1 call that proves it</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5 — ten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5.1  Plan the build in four phases</a:t>
            </a:r>
            <a:r>
              <a:rPr sz="1200" b="0" i="0">
                <a:solidFill>
                  <a:srgbClr val="595959"/>
                </a:solidFill>
                <a:latin typeface="Arial"/>
              </a:rPr>
              <a:t>   ~5 min</a:t>
            </a:r>
          </a:p>
          <a:p>
            <a:pPr algn="l">
              <a:spcAft>
                <a:spcPts val="900"/>
              </a:spcAft>
            </a:pPr>
            <a:r>
              <a:rPr sz="1500" b="1" i="0">
                <a:solidFill>
                  <a:srgbClr val="1A1A1A"/>
                </a:solidFill>
                <a:latin typeface="Arial"/>
              </a:rPr>
              <a:t>5.2  The Member Requirements</a:t>
            </a:r>
            <a:r>
              <a:rPr sz="1200" b="0" i="0">
                <a:solidFill>
                  <a:srgbClr val="595959"/>
                </a:solidFill>
                <a:latin typeface="Arial"/>
              </a:rPr>
              <a:t>   ~4 min</a:t>
            </a:r>
          </a:p>
          <a:p>
            <a:pPr algn="l">
              <a:spcAft>
                <a:spcPts val="900"/>
              </a:spcAft>
            </a:pPr>
            <a:r>
              <a:rPr sz="1500" b="1" i="0">
                <a:solidFill>
                  <a:srgbClr val="1A1A1A"/>
                </a:solidFill>
                <a:latin typeface="Arial"/>
              </a:rPr>
              <a:t>5.3  The SLA — connected to dependable</a:t>
            </a:r>
            <a:r>
              <a:rPr sz="1200" b="0" i="0">
                <a:solidFill>
                  <a:srgbClr val="595959"/>
                </a:solidFill>
                <a:latin typeface="Arial"/>
              </a:rPr>
              <a:t>   ~4 min</a:t>
            </a:r>
          </a:p>
          <a:p>
            <a:pPr algn="l">
              <a:spcAft>
                <a:spcPts val="900"/>
              </a:spcAft>
            </a:pPr>
            <a:r>
              <a:rPr sz="1500" b="1" i="0">
                <a:solidFill>
                  <a:srgbClr val="1A1A1A"/>
                </a:solidFill>
                <a:latin typeface="Arial"/>
              </a:rPr>
              <a:t>5.4  Register a member on X-Road</a:t>
            </a:r>
            <a:r>
              <a:rPr sz="1200" b="0" i="0">
                <a:solidFill>
                  <a:srgbClr val="595959"/>
                </a:solidFill>
                <a:latin typeface="Arial"/>
              </a:rPr>
              <a:t>   ~5 min</a:t>
            </a:r>
          </a:p>
          <a:p>
            <a:pPr algn="l">
              <a:spcAft>
                <a:spcPts val="900"/>
              </a:spcAft>
            </a:pPr>
            <a:r>
              <a:rPr sz="1500" b="1" i="0">
                <a:solidFill>
                  <a:srgbClr val="1A1A1A"/>
                </a:solidFill>
                <a:latin typeface="Arial"/>
              </a:rPr>
              <a:t>5.5  Stand up the federation</a:t>
            </a:r>
            <a:r>
              <a:rPr sz="1200" b="0" i="0">
                <a:solidFill>
                  <a:srgbClr val="595959"/>
                </a:solidFill>
                <a:latin typeface="Arial"/>
              </a:rPr>
              <a:t>   ~5 min</a:t>
            </a:r>
          </a:p>
          <a:p>
            <a:pPr algn="l">
              <a:spcAft>
                <a:spcPts val="900"/>
              </a:spcAft>
            </a:pPr>
            <a:r>
              <a:rPr sz="1500" b="1" i="0">
                <a:solidFill>
                  <a:srgbClr val="1A1A1A"/>
                </a:solidFill>
                <a:latin typeface="Arial"/>
              </a:rPr>
              <a:t>5.6  Run the once-only exchange, live</a:t>
            </a:r>
            <a:r>
              <a:rPr sz="1200" b="0" i="0">
                <a:solidFill>
                  <a:srgbClr val="595959"/>
                </a:solidFill>
                <a:latin typeface="Arial"/>
              </a:rPr>
              <a:t>   ~5 min</a:t>
            </a:r>
          </a:p>
          <a:p>
            <a:pPr algn="l">
              <a:spcAft>
                <a:spcPts val="900"/>
              </a:spcAft>
            </a:pPr>
            <a:r>
              <a:rPr sz="1500" b="1" i="0">
                <a:solidFill>
                  <a:srgbClr val="1A1A1A"/>
                </a:solidFill>
                <a:latin typeface="Arial"/>
              </a:rPr>
              <a:t>5.7  From demonstration to production</a:t>
            </a:r>
            <a:r>
              <a:rPr sz="1200" b="0" i="0">
                <a:solidFill>
                  <a:srgbClr val="595959"/>
                </a:solidFill>
                <a:latin typeface="Arial"/>
              </a:rPr>
              <a:t>   ~5 min</a:t>
            </a:r>
          </a:p>
          <a:p>
            <a:pPr algn="l">
              <a:spcAft>
                <a:spcPts val="900"/>
              </a:spcAft>
            </a:pPr>
            <a:r>
              <a:rPr sz="1500" b="1" i="0">
                <a:solidFill>
                  <a:srgbClr val="1A1A1A"/>
                </a:solidFill>
                <a:latin typeface="Arial"/>
              </a:rPr>
              <a:t>5.8  Watch the bus — monitoring</a:t>
            </a:r>
            <a:r>
              <a:rPr sz="1200" b="0" i="0">
                <a:solidFill>
                  <a:srgbClr val="595959"/>
                </a:solidFill>
                <a:latin typeface="Arial"/>
              </a:rPr>
              <a:t>   ~5 min</a:t>
            </a:r>
          </a:p>
          <a:p>
            <a:pPr algn="l">
              <a:spcAft>
                <a:spcPts val="900"/>
              </a:spcAft>
            </a:pPr>
            <a:r>
              <a:rPr sz="1500" b="1" i="0">
                <a:solidFill>
                  <a:srgbClr val="1A1A1A"/>
                </a:solidFill>
                <a:latin typeface="Arial"/>
              </a:rPr>
              <a:t>5.9  Keep the documents consistent</a:t>
            </a:r>
            <a:r>
              <a:rPr sz="1200" b="0" i="0">
                <a:solidFill>
                  <a:srgbClr val="595959"/>
                </a:solidFill>
                <a:latin typeface="Arial"/>
              </a:rPr>
              <a:t>   ~5 min</a:t>
            </a:r>
          </a:p>
          <a:p>
            <a:pPr algn="l">
              <a:spcAft>
                <a:spcPts val="900"/>
              </a:spcAft>
            </a:pPr>
            <a:r>
              <a:rPr sz="1500" b="1" i="0">
                <a:solidFill>
                  <a:srgbClr val="1A1A1A"/>
                </a:solidFill>
                <a:latin typeface="Arial"/>
              </a:rPr>
              <a:t>5.10  Carry it to the next sector</a:t>
            </a:r>
            <a:r>
              <a:rPr sz="1200" b="0" i="0">
                <a:solidFill>
                  <a:srgbClr val="595959"/>
                </a:solidFill>
                <a:latin typeface="Arial"/>
              </a:rPr>
              <a:t>   ~4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Plan it so a funder can approve it, admit members who are ready, and prove it with one real call.</a:t>
            </a:r>
          </a:p>
          <a:p>
            <a:pPr>
              <a:spcAft>
                <a:spcPts val="1000"/>
              </a:spcAft>
            </a:pPr>
            <a:r>
              <a:rPr sz="1900" b="0" i="1">
                <a:solidFill>
                  <a:srgbClr val="1A1A1A"/>
                </a:solidFill>
                <a:latin typeface="Arial"/>
              </a:rPr>
              <a:t>Then run it: watch the bus, keep the documents honest, and reuse it for every sector after.</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Plan the build in four phases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Foundation, Pilot, Expansion, Optimisation — four phases with decision gates, an honest calendar, and the four plans beside the schedule that a funder actually reads.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 do not onboard a whole government at once.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Four phases, each delivering something real.</a:t>
            </a:r>
          </a:p>
          <a:p>
            <a:pPr>
              <a:spcAft>
                <a:spcPts val="800"/>
              </a:spcAft>
            </a:pPr>
            <a:r>
              <a:rPr sz="1700" b="0" i="0">
                <a:solidFill>
                  <a:srgbClr val="595959"/>
                </a:solidFill>
                <a:latin typeface="Arial"/>
              </a:rPr>
              <a:t>A decision gate before the next phase is funded.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phases, a gate at each, on an honest calendar</a:t>
            </a:r>
          </a:p>
        </p:txBody>
      </p:sp>
      <p:cxnSp>
        <p:nvCxnSpPr>
          <p:cNvPr id="4" name="Connector 3"/>
          <p:cNvCxnSpPr/>
          <p:nvPr/>
        </p:nvCxnSpPr>
        <p:spPr>
          <a:xfrm>
            <a:off x="2807207" y="3108960"/>
            <a:ext cx="365761"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600200"/>
            <a:ext cx="2103120" cy="30175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BEFORE MONTH 0</a:t>
            </a:r>
          </a:p>
          <a:p>
            <a:pPr algn="l">
              <a:spcAft>
                <a:spcPts val="300"/>
              </a:spcAft>
            </a:pPr>
            <a:r>
              <a:rPr sz="1450" b="0" i="0">
                <a:solidFill>
                  <a:srgbClr val="1A1A1A"/>
                </a:solidFill>
                <a:latin typeface="Arial"/>
              </a:rPr>
              <a:t>The groundwork: decree, governance, architecture, standards</a:t>
            </a:r>
          </a:p>
          <a:p>
            <a:pPr algn="l">
              <a:spcAft>
                <a:spcPts val="300"/>
              </a:spcAft>
            </a:pPr>
            <a:r>
              <a:rPr sz="1450" b="0" i="0">
                <a:solidFill>
                  <a:srgbClr val="1A1A1A"/>
                </a:solidFill>
                <a:latin typeface="Arial"/>
              </a:rPr>
              <a:t>A year to eighteen months of work</a:t>
            </a:r>
          </a:p>
        </p:txBody>
      </p:sp>
      <p:sp>
        <p:nvSpPr>
          <p:cNvPr id="6" name="Rounded Rectangle 5"/>
          <p:cNvSpPr/>
          <p:nvPr/>
        </p:nvSpPr>
        <p:spPr>
          <a:xfrm>
            <a:off x="3218687"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1 · MONTHS 0–6</a:t>
            </a:r>
          </a:p>
          <a:p>
            <a:pPr algn="l">
              <a:spcAft>
                <a:spcPts val="300"/>
              </a:spcAft>
            </a:pPr>
            <a:r>
              <a:rPr sz="1450" b="0" i="0">
                <a:solidFill>
                  <a:srgbClr val="1A1A1A"/>
                </a:solidFill>
                <a:latin typeface="Arial"/>
              </a:rPr>
              <a:t>Foundation</a:t>
            </a:r>
          </a:p>
          <a:p>
            <a:pPr algn="l">
              <a:spcAft>
                <a:spcPts val="300"/>
              </a:spcAft>
            </a:pPr>
            <a:r>
              <a:rPr sz="1450" b="0" i="0">
                <a:solidFill>
                  <a:srgbClr val="1A1A1A"/>
                </a:solidFill>
                <a:latin typeface="Arial"/>
              </a:rPr>
              <a:t>Platform and trust anchor live</a:t>
            </a:r>
          </a:p>
          <a:p>
            <a:pPr algn="l">
              <a:spcAft>
                <a:spcPts val="300"/>
              </a:spcAft>
            </a:pPr>
            <a:r>
              <a:rPr sz="1450" b="0" i="0">
                <a:solidFill>
                  <a:srgbClr val="1A1A1A"/>
                </a:solidFill>
                <a:latin typeface="Arial"/>
              </a:rPr>
              <a:t>Two pilot members</a:t>
            </a:r>
          </a:p>
        </p:txBody>
      </p:sp>
      <p:sp>
        <p:nvSpPr>
          <p:cNvPr id="7" name="Diamond 6"/>
          <p:cNvSpPr/>
          <p:nvPr/>
        </p:nvSpPr>
        <p:spPr>
          <a:xfrm>
            <a:off x="5029200" y="2953512"/>
            <a:ext cx="310896" cy="310896"/>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13248"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2 · MONTHS 7–12</a:t>
            </a:r>
          </a:p>
          <a:p>
            <a:pPr algn="l">
              <a:spcAft>
                <a:spcPts val="300"/>
              </a:spcAft>
            </a:pPr>
            <a:r>
              <a:rPr sz="1450" b="0" i="0">
                <a:solidFill>
                  <a:srgbClr val="1A1A1A"/>
                </a:solidFill>
                <a:latin typeface="Arial"/>
              </a:rPr>
              <a:t>Pilot and Validation</a:t>
            </a:r>
          </a:p>
          <a:p>
            <a:pPr algn="l">
              <a:spcAft>
                <a:spcPts val="300"/>
              </a:spcAft>
            </a:pPr>
            <a:r>
              <a:rPr sz="1450" b="0" i="0">
                <a:solidFill>
                  <a:srgbClr val="1A1A1A"/>
                </a:solidFill>
                <a:latin typeface="Arial"/>
              </a:rPr>
              <a:t>First cross-ministry once-only exchanges</a:t>
            </a:r>
          </a:p>
          <a:p>
            <a:pPr algn="l">
              <a:spcAft>
                <a:spcPts val="300"/>
              </a:spcAft>
            </a:pPr>
            <a:r>
              <a:rPr sz="1450" b="0" i="0">
                <a:solidFill>
                  <a:srgbClr val="1A1A1A"/>
                </a:solidFill>
                <a:latin typeface="Arial"/>
              </a:rPr>
              <a:t>Five members</a:t>
            </a:r>
          </a:p>
        </p:txBody>
      </p:sp>
      <p:sp>
        <p:nvSpPr>
          <p:cNvPr id="9" name="Diamond 8"/>
          <p:cNvSpPr/>
          <p:nvPr/>
        </p:nvSpPr>
        <p:spPr>
          <a:xfrm>
            <a:off x="7223760" y="2953512"/>
            <a:ext cx="310896" cy="310896"/>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07808"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3 · MONTHS 13–18</a:t>
            </a:r>
          </a:p>
          <a:p>
            <a:pPr algn="l">
              <a:spcAft>
                <a:spcPts val="300"/>
              </a:spcAft>
            </a:pPr>
            <a:r>
              <a:rPr sz="1450" b="0" i="0">
                <a:solidFill>
                  <a:srgbClr val="1A1A1A"/>
                </a:solidFill>
                <a:latin typeface="Arial"/>
              </a:rPr>
              <a:t>Expansion</a:t>
            </a:r>
          </a:p>
          <a:p>
            <a:pPr algn="l">
              <a:spcAft>
                <a:spcPts val="300"/>
              </a:spcAft>
            </a:pPr>
            <a:r>
              <a:rPr sz="1450" b="0" i="0">
                <a:solidFill>
                  <a:srgbClr val="1A1A1A"/>
                </a:solidFill>
                <a:latin typeface="Arial"/>
              </a:rPr>
              <a:t>First-wave sectors covered</a:t>
            </a:r>
          </a:p>
          <a:p>
            <a:pPr algn="l">
              <a:spcAft>
                <a:spcPts val="300"/>
              </a:spcAft>
            </a:pPr>
            <a:r>
              <a:rPr sz="1450" b="0" i="0">
                <a:solidFill>
                  <a:srgbClr val="1A1A1A"/>
                </a:solidFill>
                <a:latin typeface="Arial"/>
              </a:rPr>
              <a:t>Fifteen members, 20+ services</a:t>
            </a:r>
          </a:p>
        </p:txBody>
      </p:sp>
      <p:sp>
        <p:nvSpPr>
          <p:cNvPr id="11" name="Diamond 10"/>
          <p:cNvSpPr/>
          <p:nvPr/>
        </p:nvSpPr>
        <p:spPr>
          <a:xfrm>
            <a:off x="9418320" y="2953512"/>
            <a:ext cx="310896" cy="310896"/>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802367"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4 · MONTHS 19–24</a:t>
            </a:r>
          </a:p>
          <a:p>
            <a:pPr algn="l">
              <a:spcAft>
                <a:spcPts val="300"/>
              </a:spcAft>
            </a:pPr>
            <a:r>
              <a:rPr sz="1450" b="0" i="0">
                <a:solidFill>
                  <a:srgbClr val="1A1A1A"/>
                </a:solidFill>
                <a:latin typeface="Arial"/>
              </a:rPr>
              <a:t>Optimisation</a:t>
            </a:r>
          </a:p>
          <a:p>
            <a:pPr algn="l">
              <a:spcAft>
                <a:spcPts val="300"/>
              </a:spcAft>
            </a:pPr>
            <a:r>
              <a:rPr sz="1450" b="0" i="0">
                <a:solidFill>
                  <a:srgbClr val="1A1A1A"/>
                </a:solidFill>
                <a:latin typeface="Arial"/>
              </a:rPr>
              <a:t>Performance, the long tail, the next wave</a:t>
            </a:r>
          </a:p>
        </p:txBody>
      </p:sp>
      <p:sp>
        <p:nvSpPr>
          <p:cNvPr id="13" name="Diamond 12"/>
          <p:cNvSpPr/>
          <p:nvPr/>
        </p:nvSpPr>
        <p:spPr>
          <a:xfrm>
            <a:off x="658368" y="4800600"/>
            <a:ext cx="237744" cy="237744"/>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4745736"/>
            <a:ext cx="5486400" cy="347472"/>
          </a:xfrm>
          <a:prstGeom prst="rect">
            <a:avLst/>
          </a:prstGeom>
          <a:noFill/>
        </p:spPr>
        <p:txBody>
          <a:bodyPr wrap="square" lIns="36576" rIns="36576" tIns="0" bIns="0" anchor="ctr">
            <a:spAutoFit/>
          </a:bodyPr>
          <a:lstStyle/>
          <a:p>
            <a:pPr algn="l"/>
            <a:r>
              <a:rPr sz="1250" b="1" i="0">
                <a:solidFill>
                  <a:srgbClr val="006E96"/>
                </a:solidFill>
                <a:latin typeface="Arial"/>
              </a:rPr>
              <a:t>a go / no-go gate — the next phase is funded only if this one delivered</a:t>
            </a:r>
          </a:p>
        </p:txBody>
      </p:sp>
      <p:sp>
        <p:nvSpPr>
          <p:cNvPr id="15" name="TextBox 14"/>
          <p:cNvSpPr txBox="1"/>
          <p:nvPr/>
        </p:nvSpPr>
        <p:spPr>
          <a:xfrm>
            <a:off x="658368" y="5394960"/>
            <a:ext cx="10881360" cy="822960"/>
          </a:xfrm>
          <a:prstGeom prst="rect">
            <a:avLst/>
          </a:prstGeom>
          <a:noFill/>
        </p:spPr>
        <p:txBody>
          <a:bodyPr wrap="square">
            <a:spAutoFit/>
          </a:bodyPr>
          <a:lstStyle/>
          <a:p>
            <a:r>
              <a:rPr sz="1550" b="1" i="0">
                <a:solidFill>
                  <a:srgbClr val="006E96"/>
                </a:solidFill>
                <a:latin typeface="Arial"/>
              </a:rPr>
              <a:t>First citizen-visible once-only exchange: about a year in. National coverage: a four-to-six-year programme — say so on day one.</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one builds the bus once — everything after reuses it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Every later phase and every agency that joins consumes that one investment.</a:t>
            </a:r>
          </a:p>
          <a:p>
            <a:pPr>
              <a:spcAft>
                <a:spcPts val="1200"/>
              </a:spcAft>
            </a:pPr>
            <a:r>
              <a:rPr sz="2000" b="0" i="0">
                <a:solidFill>
                  <a:srgbClr val="1A1A1A"/>
                </a:solidFill>
                <a:latin typeface="Arial"/>
              </a:rPr>
              <a:t>That is what a funder should see in the plan.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funder paying for a national platform, not a project.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These build phases are not the enterprise-architecture lifecycle</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FIVE-PHASE LIFECYCLE</a:t>
            </a:r>
          </a:p>
          <a:p>
            <a:pPr>
              <a:spcAft>
                <a:spcPts val="700"/>
              </a:spcAft>
            </a:pPr>
            <a:r>
              <a:rPr sz="1600" b="0" i="0">
                <a:solidFill>
                  <a:srgbClr val="1A1A1A"/>
                </a:solidFill>
                <a:latin typeface="Arial"/>
              </a:rPr>
              <a:t>Produced your plan.</a:t>
            </a:r>
          </a:p>
          <a:p>
            <a:pPr>
              <a:spcAft>
                <a:spcPts val="700"/>
              </a:spcAft>
            </a:pPr>
            <a:r>
              <a:rPr sz="1600" b="0" i="0">
                <a:solidFill>
                  <a:srgbClr val="1A1A1A"/>
                </a:solidFill>
                <a:latin typeface="Arial"/>
              </a:rPr>
              <a:t>Designs the target.</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FOUR BUILD PHASES</a:t>
            </a:r>
          </a:p>
          <a:p>
            <a:pPr>
              <a:spcAft>
                <a:spcPts val="700"/>
              </a:spcAft>
            </a:pPr>
            <a:r>
              <a:rPr sz="1600" b="0" i="0">
                <a:solidFill>
                  <a:srgbClr val="1A1A1A"/>
                </a:solidFill>
                <a:latin typeface="Arial"/>
              </a:rPr>
              <a:t>Build the bus.</a:t>
            </a:r>
          </a:p>
          <a:p>
            <a:pPr>
              <a:spcAft>
                <a:spcPts val="700"/>
              </a:spcAft>
            </a:pPr>
            <a:r>
              <a:rPr sz="1600" b="0" i="0">
                <a:solidFill>
                  <a:srgbClr val="1A1A1A"/>
                </a:solidFill>
                <a:latin typeface="Arial"/>
              </a:rPr>
              <a:t>Run inside the lifecycle's final phase.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Same word, two different things — keep them apart in every briefing.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plan is five documents, not one schedule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832103"/>
          </a:xfrm>
          <a:prstGeom prst="rect">
            <a:avLst/>
          </a:prstGeom>
          <a:noFill/>
        </p:spPr>
        <p:txBody>
          <a:bodyPr wrap="square">
            <a:spAutoFit/>
          </a:bodyPr>
          <a:lstStyle/>
          <a:p>
            <a:pPr>
              <a:spcAft>
                <a:spcPts val="300"/>
              </a:spcAft>
            </a:pPr>
            <a:r>
              <a:rPr sz="1700" b="1" i="0">
                <a:solidFill>
                  <a:srgbClr val="1A1A1A"/>
                </a:solidFill>
                <a:latin typeface="Arial"/>
              </a:rPr>
              <a:t>The phased schedule</a:t>
            </a:r>
          </a:p>
          <a:p>
            <a:pPr>
              <a:spcAft>
                <a:spcPts val="300"/>
              </a:spcAft>
            </a:pPr>
            <a:r>
              <a:rPr sz="1550" b="0" i="0">
                <a:solidFill>
                  <a:srgbClr val="595959"/>
                </a:solidFill>
                <a:latin typeface="Arial"/>
              </a:rPr>
              <a:t>Outcomes, a go / no-go gate and the risks, per phase.</a:t>
            </a:r>
          </a:p>
        </p:txBody>
      </p:sp>
      <p:sp>
        <p:nvSpPr>
          <p:cNvPr id="6" name="Rectangle 5"/>
          <p:cNvSpPr/>
          <p:nvPr/>
        </p:nvSpPr>
        <p:spPr>
          <a:xfrm>
            <a:off x="621792" y="22539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40863"/>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95144"/>
            <a:ext cx="10527487" cy="832103"/>
          </a:xfrm>
          <a:prstGeom prst="rect">
            <a:avLst/>
          </a:prstGeom>
          <a:noFill/>
        </p:spPr>
        <p:txBody>
          <a:bodyPr wrap="square">
            <a:spAutoFit/>
          </a:bodyPr>
          <a:lstStyle/>
          <a:p>
            <a:pPr>
              <a:spcAft>
                <a:spcPts val="300"/>
              </a:spcAft>
            </a:pPr>
            <a:r>
              <a:rPr sz="1700" b="1" i="0">
                <a:solidFill>
                  <a:srgbClr val="1A1A1A"/>
                </a:solidFill>
                <a:latin typeface="Arial"/>
              </a:rPr>
              <a:t>The investment plan</a:t>
            </a:r>
          </a:p>
          <a:p>
            <a:pPr>
              <a:spcAft>
                <a:spcPts val="300"/>
              </a:spcAft>
            </a:pPr>
            <a:r>
              <a:rPr sz="1550" b="0" i="0">
                <a:solidFill>
                  <a:srgbClr val="595959"/>
                </a:solidFill>
                <a:latin typeface="Arial"/>
              </a:rPr>
              <a:t>Capital and running costs, benchmarked — and the state's line to run what a donor built.</a:t>
            </a:r>
          </a:p>
        </p:txBody>
      </p:sp>
      <p:sp>
        <p:nvSpPr>
          <p:cNvPr id="9" name="Rectangle 8"/>
          <p:cNvSpPr/>
          <p:nvPr/>
        </p:nvSpPr>
        <p:spPr>
          <a:xfrm>
            <a:off x="621792" y="31318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21868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72968"/>
            <a:ext cx="10527487" cy="832103"/>
          </a:xfrm>
          <a:prstGeom prst="rect">
            <a:avLst/>
          </a:prstGeom>
          <a:noFill/>
        </p:spPr>
        <p:txBody>
          <a:bodyPr wrap="square">
            <a:spAutoFit/>
          </a:bodyPr>
          <a:lstStyle/>
          <a:p>
            <a:pPr>
              <a:spcAft>
                <a:spcPts val="300"/>
              </a:spcAft>
            </a:pPr>
            <a:r>
              <a:rPr sz="1700" b="1" i="0">
                <a:solidFill>
                  <a:srgbClr val="1A1A1A"/>
                </a:solidFill>
                <a:latin typeface="Arial"/>
              </a:rPr>
              <a:t>The procurement plan</a:t>
            </a:r>
          </a:p>
          <a:p>
            <a:pPr>
              <a:spcAft>
                <a:spcPts val="300"/>
              </a:spcAft>
            </a:pPr>
            <a:r>
              <a:rPr sz="1550" b="0" i="0">
                <a:solidFill>
                  <a:srgbClr val="595959"/>
                </a:solidFill>
                <a:latin typeface="Arial"/>
              </a:rPr>
              <a:t>One lot per domain, never one big-bang contract; the platform bought as an accepted result.</a:t>
            </a:r>
          </a:p>
        </p:txBody>
      </p:sp>
      <p:sp>
        <p:nvSpPr>
          <p:cNvPr id="12" name="Rectangle 11"/>
          <p:cNvSpPr/>
          <p:nvPr/>
        </p:nvSpPr>
        <p:spPr>
          <a:xfrm>
            <a:off x="621792" y="40096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9651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050791"/>
            <a:ext cx="10527487" cy="832103"/>
          </a:xfrm>
          <a:prstGeom prst="rect">
            <a:avLst/>
          </a:prstGeom>
          <a:noFill/>
        </p:spPr>
        <p:txBody>
          <a:bodyPr wrap="square">
            <a:spAutoFit/>
          </a:bodyPr>
          <a:lstStyle/>
          <a:p>
            <a:pPr>
              <a:spcAft>
                <a:spcPts val="300"/>
              </a:spcAft>
            </a:pPr>
            <a:r>
              <a:rPr sz="1700" b="1" i="0">
                <a:solidFill>
                  <a:srgbClr val="1A1A1A"/>
                </a:solidFill>
                <a:latin typeface="Arial"/>
              </a:rPr>
              <a:t>The workforce plan</a:t>
            </a:r>
          </a:p>
          <a:p>
            <a:pPr>
              <a:spcAft>
                <a:spcPts val="300"/>
              </a:spcAft>
            </a:pPr>
            <a:r>
              <a:rPr sz="1550" b="0" i="0">
                <a:solidFill>
                  <a:srgbClr val="595959"/>
                </a:solidFill>
                <a:latin typeface="Arial"/>
              </a:rPr>
              <a:t>The operator from eight to fifteen people towards thirty to eighty; a focal point per member.</a:t>
            </a:r>
          </a:p>
        </p:txBody>
      </p:sp>
      <p:sp>
        <p:nvSpPr>
          <p:cNvPr id="15" name="Rectangle 14"/>
          <p:cNvSpPr/>
          <p:nvPr/>
        </p:nvSpPr>
        <p:spPr>
          <a:xfrm>
            <a:off x="621792" y="48874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9743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928616"/>
            <a:ext cx="10527487" cy="832103"/>
          </a:xfrm>
          <a:prstGeom prst="rect">
            <a:avLst/>
          </a:prstGeom>
          <a:noFill/>
        </p:spPr>
        <p:txBody>
          <a:bodyPr wrap="square">
            <a:spAutoFit/>
          </a:bodyPr>
          <a:lstStyle/>
          <a:p>
            <a:pPr>
              <a:spcAft>
                <a:spcPts val="300"/>
              </a:spcAft>
            </a:pPr>
            <a:r>
              <a:rPr sz="1700" b="1" i="0">
                <a:solidFill>
                  <a:srgbClr val="1A1A1A"/>
                </a:solidFill>
                <a:latin typeface="Arial"/>
              </a:rPr>
              <a:t>The risk register and the success metrics</a:t>
            </a:r>
          </a:p>
          <a:p>
            <a:pPr>
              <a:spcAft>
                <a:spcPts val="300"/>
              </a:spcAft>
            </a:pPr>
            <a:r>
              <a:rPr sz="1550" b="0" i="0">
                <a:solidFill>
                  <a:srgbClr val="595959"/>
                </a:solidFill>
                <a:latin typeface="Arial"/>
              </a:rPr>
              <a:t>Members, services, transactions, uptime, onboarding time, satisfaction.</a:t>
            </a:r>
          </a:p>
        </p:txBody>
      </p:sp>
      <p:sp>
        <p:nvSpPr>
          <p:cNvPr id="18" name="TextBox 17"/>
          <p:cNvSpPr txBox="1"/>
          <p:nvPr/>
        </p:nvSpPr>
        <p:spPr>
          <a:xfrm>
            <a:off x="658368" y="5916168"/>
            <a:ext cx="10881360" cy="548640"/>
          </a:xfrm>
          <a:prstGeom prst="rect">
            <a:avLst/>
          </a:prstGeom>
          <a:noFill/>
        </p:spPr>
        <p:txBody>
          <a:bodyPr wrap="square">
            <a:spAutoFit/>
          </a:bodyPr>
          <a:lstStyle/>
          <a:p>
            <a:r>
              <a:rPr sz="1550" b="1" i="0">
                <a:solidFill>
                  <a:srgbClr val="006E96"/>
                </a:solidFill>
                <a:latin typeface="Arial"/>
              </a:rPr>
              <a:t>A cost frame a funder can check is a cost frame a funder can approve.</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Four phases after the foundation, a gate at each, an honest calendar, and the four plans beside the schedule — a programme a funder can approve.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implementation plan — the phased schedule and the four plans beside it.</a:t>
            </a:r>
          </a:p>
          <a:p>
            <a:pPr algn="l">
              <a:spcAft>
                <a:spcPts val="400"/>
              </a:spcAft>
            </a:pPr>
            <a:r>
              <a:rPr sz="1800" b="0" i="0">
                <a:solidFill>
                  <a:srgbClr val="595959"/>
                </a:solidFill>
                <a:latin typeface="Arial"/>
              </a:rPr>
              <a:t>The prompt in the companion material gives you the phased schedule plus the investment, procurement, workforce and risk plans.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Estonia — X-Road build-out (cost and timeline benchmark)</a:t>
            </a:r>
          </a:p>
          <a:p>
            <a:pPr>
              <a:spcAft>
                <a:spcPts val="1200"/>
              </a:spcAft>
            </a:pPr>
            <a:r>
              <a:rPr sz="1700" b="0" i="0">
                <a:solidFill>
                  <a:srgbClr val="1A1A1A"/>
                </a:solidFill>
                <a:latin typeface="Arial"/>
              </a:rPr>
              <a:t>•  ITU DPI Safeguards</a:t>
            </a:r>
          </a:p>
          <a:p>
            <a:pPr>
              <a:spcAft>
                <a:spcPts val="1200"/>
              </a:spcAft>
            </a:pPr>
            <a:r>
              <a:rPr sz="1700" b="0" i="0">
                <a:solidFill>
                  <a:srgbClr val="1A1A1A"/>
                </a:solidFill>
                <a:latin typeface="Arial"/>
              </a:rPr>
              <a:t>•  NIIS X-Road implementation guidance (niis.org)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State what a member must have — the Member Requirements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Member Requirements template tells an agency exactly what it must have before it can join — no surprises at go-live.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fastest way to wreck an onboarding: find out on go-live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 security server. No adopted standards. No lawful basis.</a:t>
            </a:r>
          </a:p>
          <a:p>
            <a:pPr>
              <a:spcAft>
                <a:spcPts val="800"/>
              </a:spcAft>
            </a:pPr>
            <a:r>
              <a:rPr sz="1700" b="0" i="0">
                <a:solidFill>
                  <a:srgbClr val="595959"/>
                </a:solidFill>
                <a:latin typeface="Arial"/>
              </a:rPr>
              <a:t>State what a member must have — and check it weeks ahead.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things a member must have before it joins</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701040"/>
          </a:xfrm>
          <a:prstGeom prst="rect">
            <a:avLst/>
          </a:prstGeom>
          <a:noFill/>
        </p:spPr>
        <p:txBody>
          <a:bodyPr wrap="square">
            <a:spAutoFit/>
          </a:bodyPr>
          <a:lstStyle/>
          <a:p>
            <a:pPr>
              <a:spcAft>
                <a:spcPts val="300"/>
              </a:spcAft>
            </a:pPr>
            <a:r>
              <a:rPr sz="1700" b="1" i="0">
                <a:solidFill>
                  <a:srgbClr val="1A1A1A"/>
                </a:solidFill>
                <a:latin typeface="Arial"/>
              </a:rPr>
              <a:t>A security server</a:t>
            </a:r>
          </a:p>
          <a:p>
            <a:pPr>
              <a:spcAft>
                <a:spcPts val="300"/>
              </a:spcAft>
            </a:pPr>
            <a:r>
              <a:rPr sz="1550" b="0" i="0">
                <a:solidFill>
                  <a:srgbClr val="595959"/>
                </a:solidFill>
                <a:latin typeface="Arial"/>
              </a:rPr>
              <a:t>Its gateway at the edge.</a:t>
            </a:r>
          </a:p>
        </p:txBody>
      </p:sp>
      <p:sp>
        <p:nvSpPr>
          <p:cNvPr id="6" name="Rectangle 5"/>
          <p:cNvSpPr/>
          <p:nvPr/>
        </p:nvSpPr>
        <p:spPr>
          <a:xfrm>
            <a:off x="621792" y="2077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640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18360"/>
            <a:ext cx="10527487" cy="701040"/>
          </a:xfrm>
          <a:prstGeom prst="rect">
            <a:avLst/>
          </a:prstGeom>
          <a:noFill/>
        </p:spPr>
        <p:txBody>
          <a:bodyPr wrap="square">
            <a:spAutoFit/>
          </a:bodyPr>
          <a:lstStyle/>
          <a:p>
            <a:pPr>
              <a:spcAft>
                <a:spcPts val="300"/>
              </a:spcAft>
            </a:pPr>
            <a:r>
              <a:rPr sz="1700" b="1" i="0">
                <a:solidFill>
                  <a:srgbClr val="1A1A1A"/>
                </a:solidFill>
                <a:latin typeface="Arial"/>
              </a:rPr>
              <a:t>A registered identity on the bus</a:t>
            </a:r>
          </a:p>
          <a:p>
            <a:pPr>
              <a:spcAft>
                <a:spcPts val="300"/>
              </a:spcAft>
            </a:pPr>
            <a:r>
              <a:rPr sz="1550" b="0" i="0">
                <a:solidFill>
                  <a:srgbClr val="595959"/>
                </a:solidFill>
                <a:latin typeface="Arial"/>
              </a:rPr>
              <a:t>Its subsystem.</a:t>
            </a:r>
          </a:p>
        </p:txBody>
      </p:sp>
      <p:sp>
        <p:nvSpPr>
          <p:cNvPr id="9" name="Rectangle 8"/>
          <p:cNvSpPr/>
          <p:nvPr/>
        </p:nvSpPr>
        <p:spPr>
          <a:xfrm>
            <a:off x="621792" y="28239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108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65120"/>
            <a:ext cx="10527487" cy="701040"/>
          </a:xfrm>
          <a:prstGeom prst="rect">
            <a:avLst/>
          </a:prstGeom>
          <a:noFill/>
        </p:spPr>
        <p:txBody>
          <a:bodyPr wrap="square">
            <a:spAutoFit/>
          </a:bodyPr>
          <a:lstStyle/>
          <a:p>
            <a:pPr>
              <a:spcAft>
                <a:spcPts val="300"/>
              </a:spcAft>
            </a:pPr>
            <a:r>
              <a:rPr sz="1700" b="1" i="0">
                <a:solidFill>
                  <a:srgbClr val="1A1A1A"/>
                </a:solidFill>
                <a:latin typeface="Arial"/>
              </a:rPr>
              <a:t>The standards portfolio, adopted</a:t>
            </a:r>
          </a:p>
          <a:p>
            <a:pPr>
              <a:spcAft>
                <a:spcPts val="300"/>
              </a:spcAft>
            </a:pPr>
            <a:r>
              <a:rPr sz="1550" b="0" i="0">
                <a:solidFill>
                  <a:srgbClr val="595959"/>
                </a:solidFill>
                <a:latin typeface="Arial"/>
              </a:rPr>
              <a:t>So its services speak the framework's language.</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701040"/>
          </a:xfrm>
          <a:prstGeom prst="rect">
            <a:avLst/>
          </a:prstGeom>
          <a:noFill/>
        </p:spPr>
        <p:txBody>
          <a:bodyPr wrap="square">
            <a:spAutoFit/>
          </a:bodyPr>
          <a:lstStyle/>
          <a:p>
            <a:pPr>
              <a:spcAft>
                <a:spcPts val="300"/>
              </a:spcAft>
            </a:pPr>
            <a:r>
              <a:rPr sz="1700" b="1" i="0">
                <a:solidFill>
                  <a:srgbClr val="1A1A1A"/>
                </a:solidFill>
                <a:latin typeface="Arial"/>
              </a:rPr>
              <a:t>Its data cleaned and conformed to the schema</a:t>
            </a:r>
          </a:p>
          <a:p>
            <a:pPr>
              <a:spcAft>
                <a:spcPts val="300"/>
              </a:spcAft>
            </a:pPr>
            <a:r>
              <a:rPr sz="1550" b="0" i="0">
                <a:solidFill>
                  <a:srgbClr val="595959"/>
                </a:solidFill>
                <a:latin typeface="Arial"/>
              </a:rPr>
              <a:t>Stale or malformed data poisons every exchange.</a:t>
            </a:r>
          </a:p>
        </p:txBody>
      </p:sp>
      <p:sp>
        <p:nvSpPr>
          <p:cNvPr id="15" name="Rectangle 14"/>
          <p:cNvSpPr/>
          <p:nvPr/>
        </p:nvSpPr>
        <p:spPr>
          <a:xfrm>
            <a:off x="621792" y="4317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4043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58640"/>
            <a:ext cx="10527487" cy="701040"/>
          </a:xfrm>
          <a:prstGeom prst="rect">
            <a:avLst/>
          </a:prstGeom>
          <a:noFill/>
        </p:spPr>
        <p:txBody>
          <a:bodyPr wrap="square">
            <a:spAutoFit/>
          </a:bodyPr>
          <a:lstStyle/>
          <a:p>
            <a:pPr>
              <a:spcAft>
                <a:spcPts val="300"/>
              </a:spcAft>
            </a:pPr>
            <a:r>
              <a:rPr sz="1700" b="1" i="0">
                <a:solidFill>
                  <a:srgbClr val="1A1A1A"/>
                </a:solidFill>
                <a:latin typeface="Arial"/>
              </a:rPr>
              <a:t>A lawful basis for its exchanges</a:t>
            </a:r>
          </a:p>
          <a:p>
            <a:pPr>
              <a:spcAft>
                <a:spcPts val="300"/>
              </a:spcAft>
            </a:pPr>
            <a:r>
              <a:rPr sz="1550" b="0" i="0">
                <a:solidFill>
                  <a:srgbClr val="595959"/>
                </a:solidFill>
                <a:latin typeface="Arial"/>
              </a:rPr>
              <a:t>From the decree.</a:t>
            </a:r>
          </a:p>
        </p:txBody>
      </p:sp>
      <p:sp>
        <p:nvSpPr>
          <p:cNvPr id="18" name="Rectangle 17"/>
          <p:cNvSpPr/>
          <p:nvPr/>
        </p:nvSpPr>
        <p:spPr>
          <a:xfrm>
            <a:off x="621792" y="5064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51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105400"/>
            <a:ext cx="10527487" cy="701040"/>
          </a:xfrm>
          <a:prstGeom prst="rect">
            <a:avLst/>
          </a:prstGeom>
          <a:noFill/>
        </p:spPr>
        <p:txBody>
          <a:bodyPr wrap="square">
            <a:spAutoFit/>
          </a:bodyPr>
          <a:lstStyle/>
          <a:p>
            <a:pPr>
              <a:spcAft>
                <a:spcPts val="300"/>
              </a:spcAft>
            </a:pPr>
            <a:r>
              <a:rPr sz="1700" b="1" i="0">
                <a:solidFill>
                  <a:srgbClr val="1A1A1A"/>
                </a:solidFill>
                <a:latin typeface="Arial"/>
              </a:rPr>
              <a:t>A named technical contact</a:t>
            </a:r>
          </a:p>
          <a:p>
            <a:pPr>
              <a:spcAft>
                <a:spcPts val="300"/>
              </a:spcAft>
            </a:pPr>
            <a:r>
              <a:rPr sz="1550" b="0" i="0">
                <a:solidFill>
                  <a:srgbClr val="595959"/>
                </a:solidFill>
                <a:latin typeface="Arial"/>
              </a:rPr>
              <a:t>Someone who can fix things when they break.</a:t>
            </a:r>
          </a:p>
        </p:txBody>
      </p:sp>
      <p:sp>
        <p:nvSpPr>
          <p:cNvPr id="21" name="TextBox 20"/>
          <p:cNvSpPr txBox="1"/>
          <p:nvPr/>
        </p:nvSpPr>
        <p:spPr>
          <a:xfrm>
            <a:off x="658368" y="5961888"/>
            <a:ext cx="10881360" cy="548640"/>
          </a:xfrm>
          <a:prstGeom prst="rect">
            <a:avLst/>
          </a:prstGeom>
          <a:noFill/>
        </p:spPr>
        <p:txBody>
          <a:bodyPr wrap="square">
            <a:spAutoFit/>
          </a:bodyPr>
          <a:lstStyle/>
          <a:p>
            <a:r>
              <a:rPr sz="1550" b="1" i="0">
                <a:solidFill>
                  <a:srgbClr val="006E96"/>
                </a:solidFill>
                <a:latin typeface="Arial"/>
              </a:rPr>
              <a:t>Miss any one, and the agency is not ready — however willing it is.</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Readiness becomes a checklist, not a judgement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agency works the list and either meets each item or does not — no architect guessing whether someone seems ready.</a:t>
            </a:r>
          </a:p>
          <a:p>
            <a:pPr>
              <a:spcAft>
                <a:spcPts val="1200"/>
              </a:spcAft>
            </a:pPr>
            <a:r>
              <a:rPr sz="2000" b="0" i="0">
                <a:solidFill>
                  <a:srgbClr val="1A1A1A"/>
                </a:solidFill>
                <a:latin typeface="Arial"/>
              </a:rPr>
              <a:t>That objectivity lets you schedule onboarding with confidence, and keeps a half-ready member from breaking the exchanges it touches.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And the list says "not yet" for you.</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Member Requirements are the front end of onboarding</a:t>
            </a:r>
          </a:p>
        </p:txBody>
      </p:sp>
      <p:cxnSp>
        <p:nvCxnSpPr>
          <p:cNvPr id="4" name="Connector 3"/>
          <p:cNvCxnSpPr/>
          <p:nvPr/>
        </p:nvCxnSpPr>
        <p:spPr>
          <a:xfrm>
            <a:off x="260604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306324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8660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688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1645920"/>
            <a:ext cx="192024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MEMBER REQUIREMENTS</a:t>
            </a:r>
          </a:p>
          <a:p>
            <a:pPr algn="l">
              <a:spcAft>
                <a:spcPts val="300"/>
              </a:spcAft>
            </a:pPr>
            <a:r>
              <a:rPr sz="1600" b="0" i="0">
                <a:solidFill>
                  <a:srgbClr val="FFFFFF"/>
                </a:solidFill>
                <a:latin typeface="Arial"/>
              </a:rPr>
              <a:t>Is the agency ready?</a:t>
            </a:r>
          </a:p>
        </p:txBody>
      </p:sp>
      <p:sp>
        <p:nvSpPr>
          <p:cNvPr id="9" name="TextBox 8"/>
          <p:cNvSpPr txBox="1"/>
          <p:nvPr/>
        </p:nvSpPr>
        <p:spPr>
          <a:xfrm>
            <a:off x="65836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5.2</a:t>
            </a:r>
          </a:p>
        </p:txBody>
      </p:sp>
      <p:sp>
        <p:nvSpPr>
          <p:cNvPr id="10" name="Rounded Rectangle 9"/>
          <p:cNvSpPr/>
          <p:nvPr/>
        </p:nvSpPr>
        <p:spPr>
          <a:xfrm>
            <a:off x="289864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APPROVAL</a:t>
            </a:r>
          </a:p>
          <a:p>
            <a:pPr algn="l">
              <a:spcAft>
                <a:spcPts val="300"/>
              </a:spcAft>
            </a:pPr>
            <a:r>
              <a:rPr sz="1600" b="0" i="0">
                <a:solidFill>
                  <a:srgbClr val="1A1A1A"/>
                </a:solidFill>
                <a:latin typeface="Arial"/>
              </a:rPr>
              <a:t>The RACI names the body that approves</a:t>
            </a:r>
          </a:p>
        </p:txBody>
      </p:sp>
      <p:sp>
        <p:nvSpPr>
          <p:cNvPr id="11" name="TextBox 10"/>
          <p:cNvSpPr txBox="1"/>
          <p:nvPr/>
        </p:nvSpPr>
        <p:spPr>
          <a:xfrm>
            <a:off x="289864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Module 3</a:t>
            </a:r>
          </a:p>
        </p:txBody>
      </p:sp>
      <p:sp>
        <p:nvSpPr>
          <p:cNvPr id="12" name="Rounded Rectangle 11"/>
          <p:cNvSpPr/>
          <p:nvPr/>
        </p:nvSpPr>
        <p:spPr>
          <a:xfrm>
            <a:off x="513892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REGISTRATION</a:t>
            </a:r>
          </a:p>
          <a:p>
            <a:pPr algn="l">
              <a:spcAft>
                <a:spcPts val="300"/>
              </a:spcAft>
            </a:pPr>
            <a:r>
              <a:rPr sz="1600" b="0" i="0">
                <a:solidFill>
                  <a:srgbClr val="1A1A1A"/>
                </a:solidFill>
                <a:latin typeface="Arial"/>
              </a:rPr>
              <a:t>Subsystem and access-control list admit it</a:t>
            </a:r>
          </a:p>
        </p:txBody>
      </p:sp>
      <p:sp>
        <p:nvSpPr>
          <p:cNvPr id="13" name="TextBox 12"/>
          <p:cNvSpPr txBox="1"/>
          <p:nvPr/>
        </p:nvSpPr>
        <p:spPr>
          <a:xfrm>
            <a:off x="513892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4" name="Rounded Rectangle 13"/>
          <p:cNvSpPr/>
          <p:nvPr/>
        </p:nvSpPr>
        <p:spPr>
          <a:xfrm>
            <a:off x="737920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CONFORMANCE TEST</a:t>
            </a:r>
          </a:p>
          <a:p>
            <a:pPr algn="l">
              <a:spcAft>
                <a:spcPts val="300"/>
              </a:spcAft>
            </a:pPr>
            <a:r>
              <a:rPr sz="1600" b="0" i="0">
                <a:solidFill>
                  <a:srgbClr val="1A1A1A"/>
                </a:solidFill>
                <a:latin typeface="Arial"/>
              </a:rPr>
              <a:t>The gate before its first service</a:t>
            </a:r>
          </a:p>
        </p:txBody>
      </p:sp>
      <p:sp>
        <p:nvSpPr>
          <p:cNvPr id="15" name="TextBox 14"/>
          <p:cNvSpPr txBox="1"/>
          <p:nvPr/>
        </p:nvSpPr>
        <p:spPr>
          <a:xfrm>
            <a:off x="737920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6" name="Rounded Rectangle 15"/>
          <p:cNvSpPr/>
          <p:nvPr/>
        </p:nvSpPr>
        <p:spPr>
          <a:xfrm>
            <a:off x="961948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FIRST SERVICE LIVE</a:t>
            </a:r>
          </a:p>
        </p:txBody>
      </p:sp>
      <p:sp>
        <p:nvSpPr>
          <p:cNvPr id="17" name="TextBox 16"/>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One template, applied to every joining agency in turn.</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Member Requirements checklist makes readiness objective and checkable weeks before go-live — so onboarding is scheduled, not gambled.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Member Requirements checklist.</a:t>
            </a:r>
          </a:p>
          <a:p>
            <a:pPr algn="l">
              <a:spcAft>
                <a:spcPts val="400"/>
              </a:spcAft>
            </a:pPr>
            <a:r>
              <a:rPr sz="1800" b="0" i="0">
                <a:solidFill>
                  <a:srgbClr val="595959"/>
                </a:solidFill>
                <a:latin typeface="Arial"/>
              </a:rPr>
              <a:t>The prompt in the companion material gives you a reusable Member Requirements checklist with evidence and a readiness verdict.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member requirements and onboarding (niis.org)</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Make 'connected' mean 'dependable' — the SLA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Service-Level Agreement turns 'connected' into 'dependable' — the template makes it a fill-in, not a negotiation from scratch.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Connected is not the same as dependable.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Up most of the time, slow to answer, and nobody to call when it breaks.</a:t>
            </a:r>
          </a:p>
          <a:p>
            <a:pPr>
              <a:spcAft>
                <a:spcPts val="800"/>
              </a:spcAft>
            </a:pPr>
            <a:r>
              <a:rPr sz="1700" b="0" i="0">
                <a:solidFill>
                  <a:srgbClr val="595959"/>
                </a:solidFill>
                <a:latin typeface="Arial"/>
              </a:rPr>
              <a:t>The Service-Level Agreement turns connected into dependable.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SLA sets five numbers a consumer can rely on</a:t>
            </a:r>
          </a:p>
        </p:txBody>
      </p:sp>
      <p:sp>
        <p:nvSpPr>
          <p:cNvPr id="4" name="TextBox 3"/>
          <p:cNvSpPr txBox="1"/>
          <p:nvPr/>
        </p:nvSpPr>
        <p:spPr>
          <a:xfrm>
            <a:off x="658368" y="1463040"/>
            <a:ext cx="10984687" cy="813815"/>
          </a:xfrm>
          <a:prstGeom prst="rect">
            <a:avLst/>
          </a:prstGeom>
          <a:noFill/>
        </p:spPr>
        <p:txBody>
          <a:bodyPr wrap="square">
            <a:spAutoFit/>
          </a:bodyPr>
          <a:lstStyle/>
          <a:p>
            <a:pPr>
              <a:spcAft>
                <a:spcPts val="300"/>
              </a:spcAft>
            </a:pPr>
            <a:r>
              <a:rPr sz="1900" b="1" i="0">
                <a:solidFill>
                  <a:srgbClr val="1A1A1A"/>
                </a:solidFill>
                <a:latin typeface="Arial"/>
              </a:rPr>
              <a:t>Availability</a:t>
            </a:r>
          </a:p>
          <a:p>
            <a:pPr>
              <a:spcAft>
                <a:spcPts val="300"/>
              </a:spcAft>
            </a:pPr>
            <a:r>
              <a:rPr sz="1550" b="0" i="0">
                <a:solidFill>
                  <a:srgbClr val="595959"/>
                </a:solidFill>
                <a:latin typeface="Arial"/>
              </a:rPr>
              <a:t>The uptime the provider commits to.</a:t>
            </a:r>
          </a:p>
        </p:txBody>
      </p:sp>
      <p:sp>
        <p:nvSpPr>
          <p:cNvPr id="5" name="Rectangle 4"/>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22576"/>
            <a:ext cx="10984687" cy="813815"/>
          </a:xfrm>
          <a:prstGeom prst="rect">
            <a:avLst/>
          </a:prstGeom>
          <a:noFill/>
        </p:spPr>
        <p:txBody>
          <a:bodyPr wrap="square">
            <a:spAutoFit/>
          </a:bodyPr>
          <a:lstStyle/>
          <a:p>
            <a:pPr>
              <a:spcAft>
                <a:spcPts val="300"/>
              </a:spcAft>
            </a:pPr>
            <a:r>
              <a:rPr sz="1900" b="1" i="0">
                <a:solidFill>
                  <a:srgbClr val="1A1A1A"/>
                </a:solidFill>
                <a:latin typeface="Arial"/>
              </a:rPr>
              <a:t>Response time</a:t>
            </a:r>
          </a:p>
          <a:p>
            <a:pPr>
              <a:spcAft>
                <a:spcPts val="300"/>
              </a:spcAft>
            </a:pPr>
            <a:r>
              <a:rPr sz="1550" b="0" i="0">
                <a:solidFill>
                  <a:srgbClr val="595959"/>
                </a:solidFill>
                <a:latin typeface="Arial"/>
              </a:rPr>
              <a:t>How fast a call returns.</a:t>
            </a:r>
          </a:p>
        </p:txBody>
      </p:sp>
      <p:sp>
        <p:nvSpPr>
          <p:cNvPr id="7" name="Rectangle 6"/>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82111"/>
            <a:ext cx="10984687" cy="813815"/>
          </a:xfrm>
          <a:prstGeom prst="rect">
            <a:avLst/>
          </a:prstGeom>
          <a:noFill/>
        </p:spPr>
        <p:txBody>
          <a:bodyPr wrap="square">
            <a:spAutoFit/>
          </a:bodyPr>
          <a:lstStyle/>
          <a:p>
            <a:pPr>
              <a:spcAft>
                <a:spcPts val="300"/>
              </a:spcAft>
            </a:pPr>
            <a:r>
              <a:rPr sz="1900" b="1" i="0">
                <a:solidFill>
                  <a:srgbClr val="1A1A1A"/>
                </a:solidFill>
                <a:latin typeface="Arial"/>
              </a:rPr>
              <a:t>Support hours</a:t>
            </a:r>
          </a:p>
          <a:p>
            <a:pPr>
              <a:spcAft>
                <a:spcPts val="300"/>
              </a:spcAft>
            </a:pPr>
            <a:r>
              <a:rPr sz="1550" b="0" i="0">
                <a:solidFill>
                  <a:srgbClr val="595959"/>
                </a:solidFill>
                <a:latin typeface="Arial"/>
              </a:rPr>
              <a:t>When there is someone to help.</a:t>
            </a:r>
          </a:p>
        </p:txBody>
      </p:sp>
      <p:sp>
        <p:nvSpPr>
          <p:cNvPr id="9" name="Rectangle 8"/>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41648"/>
            <a:ext cx="10984687" cy="813815"/>
          </a:xfrm>
          <a:prstGeom prst="rect">
            <a:avLst/>
          </a:prstGeom>
          <a:noFill/>
        </p:spPr>
        <p:txBody>
          <a:bodyPr wrap="square">
            <a:spAutoFit/>
          </a:bodyPr>
          <a:lstStyle/>
          <a:p>
            <a:pPr>
              <a:spcAft>
                <a:spcPts val="300"/>
              </a:spcAft>
            </a:pPr>
            <a:r>
              <a:rPr sz="1900" b="1" i="0">
                <a:solidFill>
                  <a:srgbClr val="1A1A1A"/>
                </a:solidFill>
                <a:latin typeface="Arial"/>
              </a:rPr>
              <a:t>Incident response</a:t>
            </a:r>
          </a:p>
          <a:p>
            <a:pPr>
              <a:spcAft>
                <a:spcPts val="300"/>
              </a:spcAft>
            </a:pPr>
            <a:r>
              <a:rPr sz="1550" b="0" i="0">
                <a:solidFill>
                  <a:srgbClr val="595959"/>
                </a:solidFill>
                <a:latin typeface="Arial"/>
              </a:rPr>
              <a:t>Who to call when it fails — and how fast they respond.</a:t>
            </a:r>
          </a:p>
        </p:txBody>
      </p:sp>
      <p:sp>
        <p:nvSpPr>
          <p:cNvPr id="11" name="Rectangle 10"/>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01183"/>
            <a:ext cx="10984687" cy="813815"/>
          </a:xfrm>
          <a:prstGeom prst="rect">
            <a:avLst/>
          </a:prstGeom>
          <a:noFill/>
        </p:spPr>
        <p:txBody>
          <a:bodyPr wrap="square">
            <a:spAutoFit/>
          </a:bodyPr>
          <a:lstStyle/>
          <a:p>
            <a:pPr>
              <a:spcAft>
                <a:spcPts val="300"/>
              </a:spcAft>
            </a:pPr>
            <a:r>
              <a:rPr sz="1900" b="1" i="0">
                <a:solidFill>
                  <a:srgbClr val="1A1A1A"/>
                </a:solidFill>
                <a:latin typeface="Arial"/>
              </a:rPr>
              <a:t>Change notice</a:t>
            </a:r>
          </a:p>
          <a:p>
            <a:pPr>
              <a:spcAft>
                <a:spcPts val="300"/>
              </a:spcAft>
            </a:pPr>
            <a:r>
              <a:rPr sz="1550" b="0" i="0">
                <a:solidFill>
                  <a:srgbClr val="595959"/>
                </a:solidFill>
                <a:latin typeface="Arial"/>
              </a:rPr>
              <a:t>How much warning before the service changes.</a:t>
            </a:r>
          </a:p>
        </p:txBody>
      </p:sp>
      <p:sp>
        <p:nvSpPr>
          <p:cNvPr id="13" name="TextBox 12"/>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numbers that turn a connection into a dependency.</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SLA makes the member obligations specific</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OBLIGATION SAYS</a:t>
            </a:r>
          </a:p>
          <a:p>
            <a:pPr>
              <a:spcAft>
                <a:spcPts val="700"/>
              </a:spcAft>
            </a:pPr>
            <a:r>
              <a:rPr sz="1600" b="0" i="0">
                <a:solidFill>
                  <a:srgbClr val="1A1A1A"/>
                </a:solidFill>
                <a:latin typeface="Arial"/>
              </a:rPr>
              <a:t>"A member meets service levels."</a:t>
            </a:r>
          </a:p>
          <a:p>
            <a:pPr>
              <a:spcAft>
                <a:spcPts val="700"/>
              </a:spcAft>
            </a:pPr>
            <a:r>
              <a:rPr sz="1600" b="0" i="0">
                <a:solidFill>
                  <a:srgbClr val="1A1A1A"/>
                </a:solidFill>
                <a:latin typeface="Arial"/>
              </a:rPr>
              <a:t>In principle — a wish.</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SLA SAYS</a:t>
            </a:r>
          </a:p>
          <a:p>
            <a:pPr>
              <a:spcAft>
                <a:spcPts val="700"/>
              </a:spcAft>
            </a:pPr>
            <a:r>
              <a:rPr sz="1600" b="0" i="0">
                <a:solidFill>
                  <a:srgbClr val="1A1A1A"/>
                </a:solidFill>
                <a:latin typeface="Arial"/>
              </a:rPr>
              <a:t>Specific numbers, agreed and signed.</a:t>
            </a:r>
          </a:p>
          <a:p>
            <a:pPr>
              <a:spcAft>
                <a:spcPts val="700"/>
              </a:spcAft>
            </a:pPr>
            <a:r>
              <a:rPr sz="1600" b="0" i="0">
                <a:solidFill>
                  <a:srgbClr val="1A1A1A"/>
                </a:solidFill>
                <a:latin typeface="Arial"/>
              </a:rPr>
              <a:t>A commitment the Operating Authority can hold a member to.</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And a number a consumer can plan around.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Set the numbers with the provider, not for them</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target the provider cannot meet is a target it will quietly ignore.</a:t>
            </a:r>
          </a:p>
          <a:p>
            <a:pPr>
              <a:spcAft>
                <a:spcPts val="1200"/>
              </a:spcAft>
            </a:pPr>
            <a:r>
              <a:rPr sz="2000" b="0" i="0">
                <a:solidFill>
                  <a:srgbClr val="1A1A1A"/>
                </a:solidFill>
                <a:latin typeface="Arial"/>
              </a:rPr>
              <a:t>Agree numbers it can genuinely hit, raise them as the platform matures — and reuse the template for every service on the bus.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 SLA everyone ignores is worse than none.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SLA is the numbers that make a connection dependable — agreed with the provider, signed, and reused for every service.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Service-Level Agreement template.</a:t>
            </a:r>
          </a:p>
          <a:p>
            <a:pPr algn="l">
              <a:spcAft>
                <a:spcPts val="400"/>
              </a:spcAft>
            </a:pPr>
            <a:r>
              <a:rPr sz="1800" b="0" i="0">
                <a:solidFill>
                  <a:srgbClr val="595959"/>
                </a:solidFill>
                <a:latin typeface="Arial"/>
              </a:rPr>
              <a:t>The prompt in the companion material gives you an SLA template with pilot and production targets per service.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service-level guidance (niis.org)</a:t>
            </a:r>
          </a:p>
          <a:p>
            <a:pPr>
              <a:spcAft>
                <a:spcPts val="1200"/>
              </a:spcAft>
            </a:pPr>
            <a:r>
              <a:rPr sz="1700" b="0" i="0">
                <a:solidFill>
                  <a:srgbClr val="1A1A1A"/>
                </a:solidFill>
                <a:latin typeface="Arial"/>
              </a:rPr>
              <a:t>•  The member obligations — Module 3</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Register a member on X-Road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Generate the subsystem registration and the access-control list — the configuration that admits one agency to the bus.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Everything so far was preparation. This step admits an agency.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Registering a member produces real configuration.</a:t>
            </a:r>
          </a:p>
          <a:p>
            <a:pPr>
              <a:spcAft>
                <a:spcPts val="800"/>
              </a:spcAft>
            </a:pPr>
            <a:r>
              <a:rPr sz="1700" b="0" i="0">
                <a:solidFill>
                  <a:srgbClr val="595959"/>
                </a:solidFill>
                <a:latin typeface="Arial"/>
              </a:rPr>
              <a:t>Generate it with AI — then confirm it against the live registry.</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Registration produces two configuration artefacts</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SUBSYSTEM — WHO IT IS</a:t>
            </a:r>
          </a:p>
          <a:p>
            <a:pPr>
              <a:spcAft>
                <a:spcPts val="700"/>
              </a:spcAft>
            </a:pPr>
            <a:r>
              <a:rPr sz="1600" b="0" i="0">
                <a:solidFill>
                  <a:srgbClr val="1A1A1A"/>
                </a:solidFill>
                <a:latin typeface="Arial"/>
              </a:rPr>
              <a:t>The member's registered identity on the bus.</a:t>
            </a:r>
          </a:p>
          <a:p>
            <a:pPr>
              <a:spcAft>
                <a:spcPts val="700"/>
              </a:spcAft>
            </a:pPr>
            <a:r>
              <a:rPr sz="1600" b="0" i="0">
                <a:solidFill>
                  <a:srgbClr val="1A1A1A"/>
                </a:solidFill>
                <a:latin typeface="Arial"/>
              </a:rPr>
              <a:t>Member class, member code, subsystem code — what the bus routes a call by.</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ACCESS-CONTROL LIST — WHO MAY CALL IT</a:t>
            </a:r>
          </a:p>
          <a:p>
            <a:pPr>
              <a:spcAft>
                <a:spcPts val="700"/>
              </a:spcAft>
            </a:pPr>
            <a:r>
              <a:rPr sz="1600" b="0" i="0">
                <a:solidFill>
                  <a:srgbClr val="1A1A1A"/>
                </a:solidFill>
                <a:latin typeface="Arial"/>
              </a:rPr>
              <a:t>Which other members may call its services.</a:t>
            </a:r>
          </a:p>
          <a:p>
            <a:pPr>
              <a:spcAft>
                <a:spcPts val="700"/>
              </a:spcAft>
            </a:pPr>
            <a:r>
              <a:rPr sz="1600" b="0" i="0">
                <a:solidFill>
                  <a:srgbClr val="1A1A1A"/>
                </a:solidFill>
                <a:latin typeface="Arial"/>
              </a:rPr>
              <a:t>Granted deliberately, service by service.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Being on the bus does not mean everyone may call everything.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Generate the registration, then confirm every identifier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AI prompt drafts the subsystem and the access-control entries from the member's details and the access policy.</a:t>
            </a:r>
          </a:p>
          <a:p>
            <a:pPr>
              <a:spcAft>
                <a:spcPts val="1200"/>
              </a:spcAft>
            </a:pPr>
            <a:r>
              <a:rPr sz="2000" b="0" i="0">
                <a:solidFill>
                  <a:srgbClr val="1A1A1A"/>
                </a:solidFill>
                <a:latin typeface="Arial"/>
              </a:rPr>
              <a:t>The member code, the subsystem code, the certificate references: each is a [confirm] until checked against the live X-Road registry.</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A wrong member code throws no error. It routes one citizen's data to the wrong agency.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registration pattern, wrapped in a repeatable process</a:t>
            </a:r>
          </a:p>
        </p:txBody>
      </p:sp>
      <p:cxnSp>
        <p:nvCxnSpPr>
          <p:cNvPr id="4" name="Connector 3"/>
          <p:cNvCxnSpPr/>
          <p:nvPr/>
        </p:nvCxnSpPr>
        <p:spPr>
          <a:xfrm>
            <a:off x="260604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306324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8660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688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MEMBER REQUIREMENTS</a:t>
            </a:r>
          </a:p>
          <a:p>
            <a:pPr algn="l">
              <a:spcAft>
                <a:spcPts val="300"/>
              </a:spcAft>
            </a:pPr>
            <a:r>
              <a:rPr sz="1600" b="0" i="0">
                <a:solidFill>
                  <a:srgbClr val="1A1A1A"/>
                </a:solidFill>
                <a:latin typeface="Arial"/>
              </a:rPr>
              <a:t>Is the agency ready?</a:t>
            </a:r>
          </a:p>
        </p:txBody>
      </p:sp>
      <p:sp>
        <p:nvSpPr>
          <p:cNvPr id="9" name="TextBox 8"/>
          <p:cNvSpPr txBox="1"/>
          <p:nvPr/>
        </p:nvSpPr>
        <p:spPr>
          <a:xfrm>
            <a:off x="65836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5.2</a:t>
            </a:r>
          </a:p>
        </p:txBody>
      </p:sp>
      <p:sp>
        <p:nvSpPr>
          <p:cNvPr id="10" name="Rounded Rectangle 9"/>
          <p:cNvSpPr/>
          <p:nvPr/>
        </p:nvSpPr>
        <p:spPr>
          <a:xfrm>
            <a:off x="289864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APPROVAL</a:t>
            </a:r>
          </a:p>
          <a:p>
            <a:pPr algn="l">
              <a:spcAft>
                <a:spcPts val="300"/>
              </a:spcAft>
            </a:pPr>
            <a:r>
              <a:rPr sz="1600" b="0" i="0">
                <a:solidFill>
                  <a:srgbClr val="1A1A1A"/>
                </a:solidFill>
                <a:latin typeface="Arial"/>
              </a:rPr>
              <a:t>The RACI names the body that approves</a:t>
            </a:r>
          </a:p>
        </p:txBody>
      </p:sp>
      <p:sp>
        <p:nvSpPr>
          <p:cNvPr id="11" name="TextBox 10"/>
          <p:cNvSpPr txBox="1"/>
          <p:nvPr/>
        </p:nvSpPr>
        <p:spPr>
          <a:xfrm>
            <a:off x="289864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Module 3</a:t>
            </a:r>
          </a:p>
        </p:txBody>
      </p:sp>
      <p:sp>
        <p:nvSpPr>
          <p:cNvPr id="12" name="Rounded Rectangle 11"/>
          <p:cNvSpPr/>
          <p:nvPr/>
        </p:nvSpPr>
        <p:spPr>
          <a:xfrm>
            <a:off x="5138928" y="1645920"/>
            <a:ext cx="192024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REGISTRATION</a:t>
            </a:r>
          </a:p>
          <a:p>
            <a:pPr algn="l">
              <a:spcAft>
                <a:spcPts val="300"/>
              </a:spcAft>
            </a:pPr>
            <a:r>
              <a:rPr sz="1600" b="0" i="0">
                <a:solidFill>
                  <a:srgbClr val="FFFFFF"/>
                </a:solidFill>
                <a:latin typeface="Arial"/>
              </a:rPr>
              <a:t>Subsystem and access-control list admit it</a:t>
            </a:r>
          </a:p>
        </p:txBody>
      </p:sp>
      <p:sp>
        <p:nvSpPr>
          <p:cNvPr id="13" name="TextBox 12"/>
          <p:cNvSpPr txBox="1"/>
          <p:nvPr/>
        </p:nvSpPr>
        <p:spPr>
          <a:xfrm>
            <a:off x="513892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4" name="Rounded Rectangle 13"/>
          <p:cNvSpPr/>
          <p:nvPr/>
        </p:nvSpPr>
        <p:spPr>
          <a:xfrm>
            <a:off x="737920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CONFORMANCE TEST</a:t>
            </a:r>
          </a:p>
          <a:p>
            <a:pPr algn="l">
              <a:spcAft>
                <a:spcPts val="300"/>
              </a:spcAft>
            </a:pPr>
            <a:r>
              <a:rPr sz="1600" b="0" i="0">
                <a:solidFill>
                  <a:srgbClr val="1A1A1A"/>
                </a:solidFill>
                <a:latin typeface="Arial"/>
              </a:rPr>
              <a:t>The gate before its first service</a:t>
            </a:r>
          </a:p>
        </p:txBody>
      </p:sp>
      <p:sp>
        <p:nvSpPr>
          <p:cNvPr id="15" name="TextBox 14"/>
          <p:cNvSpPr txBox="1"/>
          <p:nvPr/>
        </p:nvSpPr>
        <p:spPr>
          <a:xfrm>
            <a:off x="737920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6" name="Rounded Rectangle 15"/>
          <p:cNvSpPr/>
          <p:nvPr/>
        </p:nvSpPr>
        <p:spPr>
          <a:xfrm>
            <a:off x="961948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FIRST SERVICE LIVE</a:t>
            </a:r>
          </a:p>
        </p:txBody>
      </p:sp>
      <p:sp>
        <p:nvSpPr>
          <p:cNvPr id="17" name="TextBox 16"/>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The twentieth agency onboards as cleanly as the second.</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Conformance is the gate between registration and going live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800" b="1" i="0">
                <a:solidFill>
                  <a:srgbClr val="1A1A1A"/>
                </a:solidFill>
                <a:latin typeface="Arial"/>
              </a:rPr>
              <a:t>It proves it meets the standards portfolio</a:t>
            </a:r>
          </a:p>
          <a:p>
            <a:pPr>
              <a:spcAft>
                <a:spcPts val="300"/>
              </a:spcAft>
            </a:pPr>
            <a:r>
              <a:rPr sz="1550" b="0" i="0">
                <a:solidFill>
                  <a:srgbClr val="595959"/>
                </a:solidFill>
                <a:latin typeface="Arial"/>
              </a:rPr>
              <a:t>Its server, its certificates and its services do what the framework requires.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800" b="1" i="0">
                <a:solidFill>
                  <a:srgbClr val="1A1A1A"/>
                </a:solidFill>
                <a:latin typeface="Arial"/>
              </a:rPr>
              <a:t>Checked in proportion to the risk</a:t>
            </a:r>
          </a:p>
          <a:p>
            <a:pPr>
              <a:spcAft>
                <a:spcPts val="300"/>
              </a:spcAft>
            </a:pPr>
            <a:r>
              <a:rPr sz="1550" b="0" i="0">
                <a:solidFill>
                  <a:srgbClr val="595959"/>
                </a:solidFill>
                <a:latin typeface="Arial"/>
              </a:rPr>
              <a:t>Self-assessment for the routine, a third-party check for high-risk, the operator's test suite.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800" b="1" i="0">
                <a:solidFill>
                  <a:srgbClr val="1A1A1A"/>
                </a:solidFill>
                <a:latin typeface="Arial"/>
              </a:rPr>
              <a:t>Not a certificate for life</a:t>
            </a:r>
          </a:p>
          <a:p>
            <a:pPr>
              <a:spcAft>
                <a:spcPts val="300"/>
              </a:spcAft>
            </a:pPr>
            <a:r>
              <a:rPr sz="1550" b="0" i="0">
                <a:solidFill>
                  <a:srgbClr val="595959"/>
                </a:solidFill>
                <a:latin typeface="Arial"/>
              </a:rPr>
              <a:t>Re-tested every two years, and on every change to a binding standard.</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step programmes skip in a hurry — and discover when one member's data breaks everyone's.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Registering a member is configuration, not paperwork</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subsystem and the access-control list go straight into the build pack, under the member's folder.</a:t>
            </a:r>
          </a:p>
          <a:p>
            <a:pPr>
              <a:spcAft>
                <a:spcPts val="1200"/>
              </a:spcAft>
            </a:pPr>
            <a:r>
              <a:rPr sz="2000" b="0" i="0">
                <a:solidFill>
                  <a:srgbClr val="1A1A1A"/>
                </a:solidFill>
                <a:latin typeface="Arial"/>
              </a:rPr>
              <a:t>They are part of the runnable proving slice — what the build pack's acceptance check deploys and tests.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Executable configuration that puts a real agency on the bus.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subsystem registration and the access-control list admit a member — generated, confirmed, deployed — and a conformance test is the gate before it goes live.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the X-Road member registration (subsystem + ACL).</a:t>
            </a:r>
          </a:p>
          <a:p>
            <a:pPr algn="l">
              <a:spcAft>
                <a:spcPts val="400"/>
              </a:spcAft>
            </a:pPr>
            <a:r>
              <a:rPr sz="1800" b="0" i="0">
                <a:solidFill>
                  <a:srgbClr val="595959"/>
                </a:solidFill>
                <a:latin typeface="Arial"/>
              </a:rPr>
              <a:t>The prompt in the companion material gives you the subsystem registration and access-control list with [confirm] placeholders, and an onboarding checklist.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member and subsystem registration (niis.org)</a:t>
            </a:r>
          </a:p>
          <a:p>
            <a:pPr>
              <a:spcAft>
                <a:spcPts val="1200"/>
              </a:spcAft>
            </a:pPr>
            <a:r>
              <a:rPr sz="1700" b="0" i="0">
                <a:solidFill>
                  <a:srgbClr val="1A1A1A"/>
                </a:solidFill>
                <a:latin typeface="Arial"/>
              </a:rPr>
              <a:t>•  X-Road access-control list configuration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Stand up the federation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Central Server, four Security Servers, a Test CA — the Linkup federation, stood up from the run book.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Now the live platform the members connect to.</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small set of components, each with a clear job.</a:t>
            </a:r>
          </a:p>
          <a:p>
            <a:pPr>
              <a:spcAft>
                <a:spcPts val="800"/>
              </a:spcAft>
            </a:pPr>
            <a:r>
              <a:rPr sz="1700" b="0" i="0">
                <a:solidFill>
                  <a:srgbClr val="595959"/>
                </a:solidFill>
                <a:latin typeface="Arial"/>
              </a:rPr>
              <a:t>Brought up from a run book, so anyone with the build pack can reproduce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registry, one gateway per member, one trust anchor</a:t>
            </a:r>
          </a:p>
        </p:txBody>
      </p:sp>
      <p:sp>
        <p:nvSpPr>
          <p:cNvPr id="4" name="Rounded Rectangle 3"/>
          <p:cNvSpPr/>
          <p:nvPr/>
        </p:nvSpPr>
        <p:spPr>
          <a:xfrm>
            <a:off x="658368" y="1554480"/>
            <a:ext cx="6766560" cy="13716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FFFFFF"/>
                </a:solidFill>
                <a:latin typeface="Arial"/>
              </a:rPr>
              <a:t>CENTRAL SERVER — OPERATED BY PDGA</a:t>
            </a:r>
          </a:p>
          <a:p>
            <a:pPr algn="l">
              <a:spcAft>
                <a:spcPts val="300"/>
              </a:spcAft>
            </a:pPr>
            <a:r>
              <a:rPr sz="1600" b="0" i="0">
                <a:solidFill>
                  <a:srgbClr val="FFFFFF"/>
                </a:solidFill>
                <a:latin typeface="Arial"/>
              </a:rPr>
              <a:t>The registry of members and services — every security server checks with it.</a:t>
            </a:r>
          </a:p>
        </p:txBody>
      </p:sp>
      <p:sp>
        <p:nvSpPr>
          <p:cNvPr id="5" name="Rounded Rectangle 4"/>
          <p:cNvSpPr/>
          <p:nvPr/>
        </p:nvSpPr>
        <p:spPr>
          <a:xfrm>
            <a:off x="7680960" y="1554480"/>
            <a:ext cx="3858768" cy="1371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TEST CA — THE TRUST ANCHOR</a:t>
            </a:r>
          </a:p>
          <a:p>
            <a:pPr algn="l">
              <a:spcAft>
                <a:spcPts val="300"/>
              </a:spcAft>
            </a:pPr>
            <a:r>
              <a:rPr sz="1600" b="0" i="0">
                <a:solidFill>
                  <a:srgbClr val="1A1A1A"/>
                </a:solidFill>
                <a:latin typeface="Arial"/>
              </a:rPr>
              <a:t>Issues the certificates. A real CA in production.</a:t>
            </a:r>
          </a:p>
        </p:txBody>
      </p:sp>
      <p:sp>
        <p:nvSpPr>
          <p:cNvPr id="6" name="Rectangle 5"/>
          <p:cNvSpPr/>
          <p:nvPr/>
        </p:nvSpPr>
        <p:spPr>
          <a:xfrm>
            <a:off x="658368" y="3108960"/>
            <a:ext cx="10881360" cy="411480"/>
          </a:xfrm>
          <a:prstGeom prst="rect">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300" b="1" i="0">
                <a:solidFill>
                  <a:srgbClr val="006E96"/>
                </a:solidFill>
                <a:latin typeface="Arial"/>
              </a:rPr>
              <a:t>each Security Server registers with the Central Server and receives its certificate from the Test CA</a:t>
            </a:r>
          </a:p>
        </p:txBody>
      </p:sp>
      <p:sp>
        <p:nvSpPr>
          <p:cNvPr id="7" name="Rounded Rectangle 6"/>
          <p:cNvSpPr/>
          <p:nvPr/>
        </p:nvSpPr>
        <p:spPr>
          <a:xfrm>
            <a:off x="658368"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MoEYS / PEMIS</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school-information system</a:t>
            </a:r>
          </a:p>
        </p:txBody>
      </p:sp>
      <p:sp>
        <p:nvSpPr>
          <p:cNvPr id="8" name="Rounded Rectangle 7"/>
          <p:cNvSpPr/>
          <p:nvPr/>
        </p:nvSpPr>
        <p:spPr>
          <a:xfrm>
            <a:off x="3447287"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PNEA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examination authority</a:t>
            </a:r>
          </a:p>
        </p:txBody>
      </p:sp>
      <p:sp>
        <p:nvSpPr>
          <p:cNvPr id="9" name="Rounded Rectangle 8"/>
          <p:cNvSpPr/>
          <p:nvPr/>
        </p:nvSpPr>
        <p:spPr>
          <a:xfrm>
            <a:off x="6236207"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PLR</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learner registry</a:t>
            </a:r>
          </a:p>
        </p:txBody>
      </p:sp>
      <p:sp>
        <p:nvSpPr>
          <p:cNvPr id="10" name="Rounded Rectangle 9"/>
          <p:cNvSpPr/>
          <p:nvPr/>
        </p:nvSpPr>
        <p:spPr>
          <a:xfrm>
            <a:off x="9025128"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PNIA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identity authority</a:t>
            </a:r>
          </a:p>
        </p:txBody>
      </p:sp>
      <p:sp>
        <p:nvSpPr>
          <p:cNvPr id="11" name="TextBox 10"/>
          <p:cNvSpPr txBox="1"/>
          <p:nvPr/>
        </p:nvSpPr>
        <p:spPr>
          <a:xfrm>
            <a:off x="658368" y="5623560"/>
            <a:ext cx="10881360" cy="548640"/>
          </a:xfrm>
          <a:prstGeom prst="rect">
            <a:avLst/>
          </a:prstGeom>
          <a:noFill/>
        </p:spPr>
        <p:txBody>
          <a:bodyPr wrap="square">
            <a:spAutoFit/>
          </a:bodyPr>
          <a:lstStyle/>
          <a:p>
            <a:r>
              <a:rPr sz="1550" b="1" i="0">
                <a:solidFill>
                  <a:srgbClr val="006E96"/>
                </a:solidFill>
                <a:latin typeface="Arial"/>
              </a:rPr>
              <a:t>The Security Servers carry the trust burden at each edge.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Bring it up from the run book, in order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73480"/>
          </a:xfrm>
          <a:prstGeom prst="rect">
            <a:avLst/>
          </a:prstGeom>
          <a:noFill/>
        </p:spPr>
        <p:txBody>
          <a:bodyPr wrap="square">
            <a:spAutoFit/>
          </a:bodyPr>
          <a:lstStyle/>
          <a:p>
            <a:pPr>
              <a:spcAft>
                <a:spcPts val="300"/>
              </a:spcAft>
            </a:pPr>
            <a:r>
              <a:rPr sz="1900" b="1" i="0">
                <a:solidFill>
                  <a:srgbClr val="1A1A1A"/>
                </a:solidFill>
                <a:latin typeface="Arial"/>
              </a:rPr>
              <a:t>The Central Server first</a:t>
            </a:r>
          </a:p>
          <a:p>
            <a:pPr>
              <a:spcAft>
                <a:spcPts val="300"/>
              </a:spcAft>
            </a:pPr>
            <a:r>
              <a:rPr sz="1550" b="0" i="0">
                <a:solidFill>
                  <a:srgbClr val="595959"/>
                </a:solidFill>
                <a:latin typeface="Arial"/>
              </a:rPr>
              <a:t>The registry every other component checks with.</a:t>
            </a:r>
          </a:p>
        </p:txBody>
      </p:sp>
      <p:sp>
        <p:nvSpPr>
          <p:cNvPr id="6" name="Rectangle 5"/>
          <p:cNvSpPr/>
          <p:nvPr/>
        </p:nvSpPr>
        <p:spPr>
          <a:xfrm>
            <a:off x="621792" y="26410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7279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82240"/>
            <a:ext cx="10527487" cy="1173480"/>
          </a:xfrm>
          <a:prstGeom prst="rect">
            <a:avLst/>
          </a:prstGeom>
          <a:noFill/>
        </p:spPr>
        <p:txBody>
          <a:bodyPr wrap="square">
            <a:spAutoFit/>
          </a:bodyPr>
          <a:lstStyle/>
          <a:p>
            <a:pPr>
              <a:spcAft>
                <a:spcPts val="300"/>
              </a:spcAft>
            </a:pPr>
            <a:r>
              <a:rPr sz="1900" b="1" i="0">
                <a:solidFill>
                  <a:srgbClr val="1A1A1A"/>
                </a:solidFill>
                <a:latin typeface="Arial"/>
              </a:rPr>
              <a:t>Then the Test CA</a:t>
            </a:r>
          </a:p>
          <a:p>
            <a:pPr>
              <a:spcAft>
                <a:spcPts val="300"/>
              </a:spcAft>
            </a:pPr>
            <a:r>
              <a:rPr sz="1550" b="0" i="0">
                <a:solidFill>
                  <a:srgbClr val="595959"/>
                </a:solidFill>
                <a:latin typeface="Arial"/>
              </a:rPr>
              <a:t>The certification authority that issues the certificates.</a:t>
            </a:r>
          </a:p>
        </p:txBody>
      </p:sp>
      <p:sp>
        <p:nvSpPr>
          <p:cNvPr id="9" name="Rectangle 8"/>
          <p:cNvSpPr/>
          <p:nvPr/>
        </p:nvSpPr>
        <p:spPr>
          <a:xfrm>
            <a:off x="621792" y="3860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9471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01440"/>
            <a:ext cx="10527487" cy="1173480"/>
          </a:xfrm>
          <a:prstGeom prst="rect">
            <a:avLst/>
          </a:prstGeom>
          <a:noFill/>
        </p:spPr>
        <p:txBody>
          <a:bodyPr wrap="square">
            <a:spAutoFit/>
          </a:bodyPr>
          <a:lstStyle/>
          <a:p>
            <a:pPr>
              <a:spcAft>
                <a:spcPts val="300"/>
              </a:spcAft>
            </a:pPr>
            <a:r>
              <a:rPr sz="1900" b="1" i="0">
                <a:solidFill>
                  <a:srgbClr val="1A1A1A"/>
                </a:solidFill>
                <a:latin typeface="Arial"/>
              </a:rPr>
              <a:t>Then each Security Server</a:t>
            </a:r>
          </a:p>
          <a:p>
            <a:pPr>
              <a:spcAft>
                <a:spcPts val="300"/>
              </a:spcAft>
            </a:pPr>
            <a:r>
              <a:rPr sz="1550" b="0" i="0">
                <a:solidFill>
                  <a:srgbClr val="595959"/>
                </a:solidFill>
                <a:latin typeface="Arial"/>
              </a:rPr>
              <a:t>Registers with the Central Server and receives its certificate.</a:t>
            </a:r>
          </a:p>
        </p:txBody>
      </p:sp>
      <p:sp>
        <p:nvSpPr>
          <p:cNvPr id="12" name="TextBox 11"/>
          <p:cNvSpPr txBox="1"/>
          <p:nvPr/>
        </p:nvSpPr>
        <p:spPr>
          <a:xfrm>
            <a:off x="658368" y="5230368"/>
            <a:ext cx="10881360" cy="548640"/>
          </a:xfrm>
          <a:prstGeom prst="rect">
            <a:avLst/>
          </a:prstGeom>
          <a:noFill/>
        </p:spPr>
        <p:txBody>
          <a:bodyPr wrap="square">
            <a:spAutoFit/>
          </a:bodyPr>
          <a:lstStyle/>
          <a:p>
            <a:r>
              <a:rPr sz="1550" b="1" i="0">
                <a:solidFill>
                  <a:srgbClr val="006E96"/>
                </a:solidFill>
                <a:latin typeface="Arial"/>
              </a:rPr>
              <a:t>For the demonstration, Linkup runs on the ITU cloud: one VM, sandboxed containers — sized for cross-agency calls, not production volumes.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Standing up the federation is where the abstract becomes real</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Four real security servers, registered with a central server, trusting a common certification authority.</a:t>
            </a:r>
          </a:p>
          <a:p>
            <a:pPr>
              <a:spcAft>
                <a:spcPts val="1200"/>
              </a:spcAft>
            </a:pPr>
            <a:r>
              <a:rPr sz="2000" b="0" i="0">
                <a:solidFill>
                  <a:srgbClr val="1A1A1A"/>
                </a:solidFill>
                <a:latin typeface="Arial"/>
              </a:rPr>
              <a:t>The build pack's acceptance check confirms it actually stands up — not merely that the files exist.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bus exists, the members are on it — only the call is left.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Central Server, four Security Servers, a Test CA — stood up from the run book, the federation is real and ready to carry a call.</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federation stand-up run book.</a:t>
            </a:r>
          </a:p>
          <a:p>
            <a:pPr algn="l">
              <a:spcAft>
                <a:spcPts val="400"/>
              </a:spcAft>
            </a:pPr>
            <a:r>
              <a:rPr sz="1800" b="0" i="0">
                <a:solidFill>
                  <a:srgbClr val="595959"/>
                </a:solidFill>
                <a:latin typeface="Arial"/>
              </a:rPr>
              <a:t>The prompt in the companion material gives you an ordered, reproducible stand-up run book with production-difference notes.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federation — Central Server, Security Server, Test CA (niis.org)</a:t>
            </a:r>
          </a:p>
          <a:p>
            <a:pPr>
              <a:spcAft>
                <a:spcPts val="1200"/>
              </a:spcAft>
            </a:pPr>
            <a:r>
              <a:rPr sz="1700" b="0" i="0">
                <a:solidFill>
                  <a:srgbClr val="1A1A1A"/>
                </a:solidFill>
                <a:latin typeface="Arial"/>
              </a:rPr>
              <a:t>•  The Linkup demonstration federation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the once-only exchange, live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PNEA issues a credential and pre-fills identity from PNIA and enrolment from PLR — a real cross-server call, the data asked once.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moment the whole framework exists for.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real once-only exchange, running across the federation.</a:t>
            </a:r>
          </a:p>
          <a:p>
            <a:pPr>
              <a:spcAft>
                <a:spcPts val="800"/>
              </a:spcAft>
            </a:pPr>
            <a:r>
              <a:rPr sz="1700" b="0" i="0">
                <a:solidFill>
                  <a:srgbClr val="595959"/>
                </a:solidFill>
                <a:latin typeface="Arial"/>
              </a:rPr>
              <a:t>Not a mock, not a diagram — a genuine cross-server call.</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call — identity from PNIA, enrolment from PLR</a:t>
            </a:r>
          </a:p>
        </p:txBody>
      </p:sp>
      <p:cxnSp>
        <p:nvCxnSpPr>
          <p:cNvPr id="4" name="Connector 3"/>
          <p:cNvCxnSpPr/>
          <p:nvPr/>
        </p:nvCxnSpPr>
        <p:spPr>
          <a:xfrm>
            <a:off x="2990088" y="3429000"/>
            <a:ext cx="512064" cy="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6629400" y="2331720"/>
            <a:ext cx="1481327" cy="59436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629400" y="3931920"/>
            <a:ext cx="1481327" cy="59436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629400" y="3246120"/>
            <a:ext cx="14630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i="0">
                <a:solidFill>
                  <a:srgbClr val="006E96"/>
                </a:solidFill>
                <a:latin typeface="Arial"/>
              </a:rPr>
              <a:t>over the bus</a:t>
            </a:r>
          </a:p>
        </p:txBody>
      </p:sp>
      <p:sp>
        <p:nvSpPr>
          <p:cNvPr id="8" name="Rounded Rectangle 7"/>
          <p:cNvSpPr/>
          <p:nvPr/>
        </p:nvSpPr>
        <p:spPr>
          <a:xfrm>
            <a:off x="658368" y="2377440"/>
            <a:ext cx="2286000" cy="2103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LEARNER</a:t>
            </a:r>
          </a:p>
          <a:p>
            <a:pPr algn="l">
              <a:spcAft>
                <a:spcPts val="300"/>
              </a:spcAft>
            </a:pPr>
            <a:r>
              <a:rPr sz="1600" b="0" i="0">
                <a:solidFill>
                  <a:srgbClr val="1A1A1A"/>
                </a:solidFill>
                <a:latin typeface="Arial"/>
              </a:rPr>
              <a:t>Applies for a credential</a:t>
            </a:r>
          </a:p>
          <a:p>
            <a:pPr algn="l">
              <a:spcAft>
                <a:spcPts val="300"/>
              </a:spcAft>
            </a:pPr>
            <a:r>
              <a:rPr sz="1600" b="0" i="0">
                <a:solidFill>
                  <a:srgbClr val="1A1A1A"/>
                </a:solidFill>
                <a:latin typeface="Arial"/>
              </a:rPr>
              <a:t>Gives a national ID — once</a:t>
            </a:r>
          </a:p>
        </p:txBody>
      </p:sp>
      <p:sp>
        <p:nvSpPr>
          <p:cNvPr id="9" name="Rounded Rectangle 8"/>
          <p:cNvSpPr/>
          <p:nvPr/>
        </p:nvSpPr>
        <p:spPr>
          <a:xfrm>
            <a:off x="3566160" y="2011680"/>
            <a:ext cx="301752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FFFFFF"/>
                </a:solidFill>
                <a:latin typeface="Arial"/>
              </a:rPr>
              <a:t>PNEA</a:t>
            </a:r>
          </a:p>
          <a:p>
            <a:pPr algn="l">
              <a:spcAft>
                <a:spcPts val="300"/>
              </a:spcAft>
            </a:pPr>
            <a:r>
              <a:rPr sz="1700" b="0" i="0">
                <a:solidFill>
                  <a:srgbClr val="FFFFFF"/>
                </a:solidFill>
                <a:latin typeface="Arial"/>
              </a:rPr>
              <a:t>The examination authority</a:t>
            </a:r>
          </a:p>
          <a:p>
            <a:pPr algn="l">
              <a:spcAft>
                <a:spcPts val="300"/>
              </a:spcAft>
            </a:pPr>
            <a:r>
              <a:rPr sz="1700" b="0" i="0">
                <a:solidFill>
                  <a:srgbClr val="FFFFFF"/>
                </a:solidFill>
                <a:latin typeface="Arial"/>
              </a:rPr>
              <a:t>Pre-fills the application — no paper proof</a:t>
            </a:r>
          </a:p>
        </p:txBody>
      </p:sp>
      <p:sp>
        <p:nvSpPr>
          <p:cNvPr id="10" name="Rounded Rectangle 9"/>
          <p:cNvSpPr/>
          <p:nvPr/>
        </p:nvSpPr>
        <p:spPr>
          <a:xfrm>
            <a:off x="8183879" y="1554480"/>
            <a:ext cx="3355848" cy="1600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006E96"/>
                </a:solidFill>
                <a:latin typeface="Arial"/>
              </a:rPr>
              <a:t>PNIA</a:t>
            </a:r>
          </a:p>
          <a:p>
            <a:pPr algn="l">
              <a:spcAft>
                <a:spcPts val="300"/>
              </a:spcAft>
            </a:pPr>
            <a:r>
              <a:rPr sz="1700" b="0" i="0">
                <a:solidFill>
                  <a:srgbClr val="1A1A1A"/>
                </a:solidFill>
                <a:latin typeface="Arial"/>
              </a:rPr>
              <a:t>The identity authority</a:t>
            </a:r>
          </a:p>
          <a:p>
            <a:pPr algn="l">
              <a:spcAft>
                <a:spcPts val="300"/>
              </a:spcAft>
            </a:pPr>
            <a:r>
              <a:rPr sz="1700" b="0" i="0">
                <a:solidFill>
                  <a:srgbClr val="1A1A1A"/>
                </a:solidFill>
                <a:latin typeface="Arial"/>
              </a:rPr>
              <a:t>Returns the identity</a:t>
            </a:r>
          </a:p>
        </p:txBody>
      </p:sp>
      <p:sp>
        <p:nvSpPr>
          <p:cNvPr id="11" name="Rounded Rectangle 10"/>
          <p:cNvSpPr/>
          <p:nvPr/>
        </p:nvSpPr>
        <p:spPr>
          <a:xfrm>
            <a:off x="8183879" y="3703320"/>
            <a:ext cx="3355848" cy="1600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006E96"/>
                </a:solidFill>
                <a:latin typeface="Arial"/>
              </a:rPr>
              <a:t>PLR</a:t>
            </a:r>
          </a:p>
          <a:p>
            <a:pPr algn="l">
              <a:spcAft>
                <a:spcPts val="300"/>
              </a:spcAft>
            </a:pPr>
            <a:r>
              <a:rPr sz="1700" b="0" i="0">
                <a:solidFill>
                  <a:srgbClr val="1A1A1A"/>
                </a:solidFill>
                <a:latin typeface="Arial"/>
              </a:rPr>
              <a:t>The learner registry</a:t>
            </a:r>
          </a:p>
          <a:p>
            <a:pPr algn="l">
              <a:spcAft>
                <a:spcPts val="300"/>
              </a:spcAft>
            </a:pPr>
            <a:r>
              <a:rPr sz="1700" b="0" i="0">
                <a:solidFill>
                  <a:srgbClr val="1A1A1A"/>
                </a:solidFill>
                <a:latin typeface="Arial"/>
              </a:rPr>
              <a:t>Returns the enrolment</a:t>
            </a:r>
          </a:p>
        </p:txBody>
      </p:sp>
      <p:sp>
        <p:nvSpPr>
          <p:cNvPr id="12" name="TextBox 11"/>
          <p:cNvSpPr txBox="1"/>
          <p:nvPr/>
        </p:nvSpPr>
        <p:spPr>
          <a:xfrm>
            <a:off x="658368" y="5577840"/>
            <a:ext cx="10881360" cy="548640"/>
          </a:xfrm>
          <a:prstGeom prst="rect">
            <a:avLst/>
          </a:prstGeom>
          <a:noFill/>
        </p:spPr>
        <p:txBody>
          <a:bodyPr wrap="square">
            <a:spAutoFit/>
          </a:bodyPr>
          <a:lstStyle/>
          <a:p>
            <a:r>
              <a:rPr sz="1550" b="1" i="0">
                <a:solidFill>
                  <a:srgbClr val="006E96"/>
                </a:solidFill>
                <a:latin typeface="Arial"/>
              </a:rPr>
              <a:t>Without once-only, the learner brings paper proof of both. With it, the learner is asked once.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layer you built is in this one call</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Technical</a:t>
            </a:r>
          </a:p>
          <a:p>
            <a:pPr>
              <a:spcAft>
                <a:spcPts val="300"/>
              </a:spcAft>
            </a:pPr>
            <a:r>
              <a:rPr sz="1550" b="0" i="0">
                <a:solidFill>
                  <a:srgbClr val="595959"/>
                </a:solidFill>
                <a:latin typeface="Arial"/>
              </a:rPr>
              <a:t>Routed across the trust zones, secured by mutual TLS.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Legal</a:t>
            </a:r>
          </a:p>
          <a:p>
            <a:pPr>
              <a:spcAft>
                <a:spcPts val="300"/>
              </a:spcAft>
            </a:pPr>
            <a:r>
              <a:rPr sz="1550" b="0" i="0">
                <a:solidFill>
                  <a:srgbClr val="595959"/>
                </a:solidFill>
                <a:latin typeface="Arial"/>
              </a:rPr>
              <a:t>Only the fields the purpose needs, under the decree's lawful basis.</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Organisational</a:t>
            </a:r>
          </a:p>
          <a:p>
            <a:pPr>
              <a:spcAft>
                <a:spcPts val="300"/>
              </a:spcAft>
            </a:pPr>
            <a:r>
              <a:rPr sz="1550" b="0" i="0">
                <a:solidFill>
                  <a:srgbClr val="595959"/>
                </a:solidFill>
                <a:latin typeface="Arial"/>
              </a:rPr>
              <a:t>Between members the governance admitted, under their obligations.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Semantic</a:t>
            </a:r>
          </a:p>
          <a:p>
            <a:pPr>
              <a:spcAft>
                <a:spcPts val="300"/>
              </a:spcAft>
            </a:pPr>
            <a:r>
              <a:rPr sz="1550" b="0" i="0">
                <a:solidFill>
                  <a:srgbClr val="595959"/>
                </a:solidFill>
                <a:latin typeface="Arial"/>
              </a:rPr>
              <a:t>It resolves because the agencies agree what "learner" and "enrolment" mean.</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One exchange, all four layers, all at once.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acceptance check is the technical half of going live</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ACCEPTANCE CHECK</a:t>
            </a:r>
          </a:p>
          <a:p>
            <a:pPr>
              <a:spcAft>
                <a:spcPts val="700"/>
              </a:spcAft>
            </a:pPr>
            <a:r>
              <a:rPr sz="1600" b="0" i="0">
                <a:solidFill>
                  <a:srgbClr val="1A1A1A"/>
                </a:solidFill>
                <a:latin typeface="Arial"/>
              </a:rPr>
              <a:t>Deploys the federation, the members, the service and the data.</a:t>
            </a:r>
          </a:p>
          <a:p>
            <a:pPr>
              <a:spcAft>
                <a:spcPts val="700"/>
              </a:spcAft>
            </a:pPr>
            <a:r>
              <a:rPr sz="1600" b="0" i="0">
                <a:solidFill>
                  <a:srgbClr val="1A1A1A"/>
                </a:solidFill>
                <a:latin typeface="Arial"/>
              </a:rPr>
              <a:t>Makes the call; confirms the learner is not asked twice.</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DUAL GO-LIVE APPROVAL</a:t>
            </a:r>
          </a:p>
          <a:p>
            <a:pPr>
              <a:spcAft>
                <a:spcPts val="700"/>
              </a:spcAft>
            </a:pPr>
            <a:r>
              <a:rPr sz="1600" b="0" i="0">
                <a:solidFill>
                  <a:srgbClr val="1A1A1A"/>
                </a:solidFill>
                <a:latin typeface="Arial"/>
              </a:rPr>
              <a:t>The regulator confirms compliance readiness.</a:t>
            </a:r>
          </a:p>
          <a:p>
            <a:pPr>
              <a:spcAft>
                <a:spcPts val="700"/>
              </a:spcAft>
            </a:pPr>
            <a:r>
              <a:rPr sz="1600" b="0" i="0">
                <a:solidFill>
                  <a:srgbClr val="1A1A1A"/>
                </a:solidFill>
                <a:latin typeface="Arial"/>
              </a:rPr>
              <a:t>The operator confirms technical readiness — both recorded.</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When it passes, this is not a framework explained — it is a framework that runs.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small exchange is the proving slice for everything after it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Prove once-only on four members, and you have proven the pattern your country's shared digital public infrastructure will reuse.</a:t>
            </a:r>
          </a:p>
          <a:p>
            <a:pPr>
              <a:spcAft>
                <a:spcPts val="1200"/>
              </a:spcAft>
            </a:pPr>
            <a:r>
              <a:rPr sz="2000" b="0" i="0">
                <a:solidFill>
                  <a:srgbClr val="1A1A1A"/>
                </a:solidFill>
                <a:latin typeface="Arial"/>
              </a:rPr>
              <a:t>If the state can ask once and fetch the rest for one learner, it can do it for every service on the bus.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smallest real once-only call is the largest proof the framework works.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real cross-server call, the learner asked once — every layer proven in a single exchange, and both go-live approvals recorded.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Script and verify the once-only exchange (the acceptance check).</a:t>
            </a:r>
          </a:p>
          <a:p>
            <a:pPr algn="l">
              <a:spcAft>
                <a:spcPts val="400"/>
              </a:spcAft>
            </a:pPr>
            <a:r>
              <a:rPr sz="1800" b="0" i="0">
                <a:solidFill>
                  <a:srgbClr val="595959"/>
                </a:solidFill>
                <a:latin typeface="Arial"/>
              </a:rPr>
              <a:t>The prompt in the companion material gives you a given/when/then acceptance script with a negative check, mapped to the four layers.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NIIS X-Road (niis.org)</a:t>
            </a:r>
          </a:p>
          <a:p>
            <a:pPr>
              <a:spcAft>
                <a:spcPts val="1200"/>
              </a:spcAft>
            </a:pPr>
            <a:r>
              <a:rPr sz="1700" b="0" i="0">
                <a:solidFill>
                  <a:srgbClr val="1A1A1A"/>
                </a:solidFill>
                <a:latin typeface="Arial"/>
              </a:rPr>
              <a:t>•  The build pack's acceptance check</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demonstration to production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What changes between the sandboxed Linkup demonstration and a production-grade federation a country would actually run.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demonstration proves the pattern. It is not production.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exactly what changes before go-live.</a:t>
            </a:r>
          </a:p>
          <a:p>
            <a:pPr>
              <a:spcAft>
                <a:spcPts val="800"/>
              </a:spcAft>
            </a:pPr>
            <a:r>
              <a:rPr sz="1700" b="0" i="0">
                <a:solidFill>
                  <a:srgbClr val="595959"/>
                </a:solidFill>
                <a:latin typeface="Arial"/>
              </a:rPr>
              <a:t>After go-live is when the gap is most expensive to discover.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Production adds seven things around the same configuration</a:t>
            </a:r>
          </a:p>
        </p:txBody>
      </p:sp>
      <p:sp>
        <p:nvSpPr>
          <p:cNvPr id="4" name="Rounded Rectangle 3"/>
          <p:cNvSpPr/>
          <p:nvPr/>
        </p:nvSpPr>
        <p:spPr>
          <a:xfrm>
            <a:off x="658368"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THE DEMONSTRATION</a:t>
            </a:r>
          </a:p>
          <a:p>
            <a:pPr>
              <a:spcAft>
                <a:spcPts val="700"/>
              </a:spcAft>
            </a:pPr>
            <a:r>
              <a:rPr sz="1600" b="0" i="0">
                <a:solidFill>
                  <a:srgbClr val="1A1A1A"/>
                </a:solidFill>
                <a:latin typeface="Arial"/>
              </a:rPr>
              <a:t>Everything on one VM, in sandboxed containers</a:t>
            </a:r>
          </a:p>
          <a:p>
            <a:pPr>
              <a:spcAft>
                <a:spcPts val="700"/>
              </a:spcAft>
            </a:pPr>
            <a:r>
              <a:rPr sz="1600" b="0" i="0">
                <a:solidFill>
                  <a:srgbClr val="1A1A1A"/>
                </a:solidFill>
                <a:latin typeface="Arial"/>
              </a:rPr>
              <a:t>A Test CA</a:t>
            </a:r>
          </a:p>
          <a:p>
            <a:pPr>
              <a:spcAft>
                <a:spcPts val="700"/>
              </a:spcAft>
            </a:pPr>
            <a:r>
              <a:rPr sz="1600" b="0" i="0">
                <a:solidFill>
                  <a:srgbClr val="1A1A1A"/>
                </a:solidFill>
                <a:latin typeface="Arial"/>
              </a:rPr>
              <a:t>A handful of demonstration calls</a:t>
            </a:r>
          </a:p>
        </p:txBody>
      </p:sp>
      <p:sp>
        <p:nvSpPr>
          <p:cNvPr id="6" name="Rounded Rectangle 5"/>
          <p:cNvSpPr/>
          <p:nvPr/>
        </p:nvSpPr>
        <p:spPr>
          <a:xfrm>
            <a:off x="6263640"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PRODUCTION</a:t>
            </a:r>
          </a:p>
          <a:p>
            <a:pPr>
              <a:spcAft>
                <a:spcPts val="700"/>
              </a:spcAft>
            </a:pPr>
            <a:r>
              <a:rPr sz="1600" b="0" i="0">
                <a:solidFill>
                  <a:srgbClr val="1A1A1A"/>
                </a:solidFill>
                <a:latin typeface="Arial"/>
              </a:rPr>
              <a:t>Separate, sized hosts</a:t>
            </a:r>
          </a:p>
          <a:p>
            <a:pPr>
              <a:spcAft>
                <a:spcPts val="700"/>
              </a:spcAft>
            </a:pPr>
            <a:r>
              <a:rPr sz="1600" b="0" i="0">
                <a:solidFill>
                  <a:srgbClr val="1A1A1A"/>
                </a:solidFill>
                <a:latin typeface="Arial"/>
              </a:rPr>
              <a:t>A real certification authority</a:t>
            </a:r>
          </a:p>
          <a:p>
            <a:pPr>
              <a:spcAft>
                <a:spcPts val="700"/>
              </a:spcAft>
            </a:pPr>
            <a:r>
              <a:rPr sz="1600" b="0" i="0">
                <a:solidFill>
                  <a:srgbClr val="1A1A1A"/>
                </a:solidFill>
                <a:latin typeface="Arial"/>
              </a:rPr>
              <a:t>High availability and redundancy</a:t>
            </a:r>
          </a:p>
          <a:p>
            <a:pPr>
              <a:spcAft>
                <a:spcPts val="700"/>
              </a:spcAft>
            </a:pPr>
            <a:r>
              <a:rPr sz="1600" b="0" i="0">
                <a:solidFill>
                  <a:srgbClr val="1A1A1A"/>
                </a:solidFill>
                <a:latin typeface="Arial"/>
              </a:rPr>
              <a:t>Real monitoring and alerting</a:t>
            </a:r>
          </a:p>
          <a:p>
            <a:pPr>
              <a:spcAft>
                <a:spcPts val="700"/>
              </a:spcAft>
            </a:pPr>
            <a:r>
              <a:rPr sz="1600" b="0" i="0">
                <a:solidFill>
                  <a:srgbClr val="1A1A1A"/>
                </a:solidFill>
                <a:latin typeface="Arial"/>
              </a:rPr>
              <a:t>Capacity for real volumes</a:t>
            </a:r>
          </a:p>
          <a:p>
            <a:pPr>
              <a:spcAft>
                <a:spcPts val="700"/>
              </a:spcAft>
            </a:pPr>
            <a:r>
              <a:rPr sz="1600" b="0" i="0">
                <a:solidFill>
                  <a:srgbClr val="1A1A1A"/>
                </a:solidFill>
                <a:latin typeface="Arial"/>
              </a:rPr>
              <a:t>Round-the-clock operational support</a:t>
            </a:r>
          </a:p>
          <a:p>
            <a:pPr>
              <a:spcAft>
                <a:spcPts val="700"/>
              </a:spcAft>
            </a:pPr>
            <a:r>
              <a:rPr sz="1600" b="0" i="0">
                <a:solidFill>
                  <a:srgbClr val="1A1A1A"/>
                </a:solidFill>
                <a:latin typeface="Arial"/>
              </a:rPr>
              <a:t>Security hardening and audit</a:t>
            </a:r>
          </a:p>
        </p:txBody>
      </p:sp>
      <p:sp>
        <p:nvSpPr>
          <p:cNvPr id="8" name="TextBox 7"/>
          <p:cNvSpPr txBox="1"/>
          <p:nvPr/>
        </p:nvSpPr>
        <p:spPr>
          <a:xfrm>
            <a:off x="658368" y="5486400"/>
            <a:ext cx="10881360" cy="548640"/>
          </a:xfrm>
          <a:prstGeom prst="rect">
            <a:avLst/>
          </a:prstGeom>
          <a:noFill/>
        </p:spPr>
        <p:txBody>
          <a:bodyPr wrap="square">
            <a:spAutoFit/>
          </a:bodyPr>
          <a:lstStyle/>
          <a:p>
            <a:r>
              <a:rPr sz="1550" b="1" i="0">
                <a:solidFill>
                  <a:srgbClr val="006E96"/>
                </a:solidFill>
                <a:latin typeface="Arial"/>
              </a:rPr>
              <a:t>Specific, and plannable.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Retire the legacy links the bus replaces — agency by agency</a:t>
            </a:r>
          </a:p>
        </p:txBody>
      </p:sp>
      <p:cxnSp>
        <p:nvCxnSpPr>
          <p:cNvPr id="4" name="Connector 3"/>
          <p:cNvCxnSpPr/>
          <p:nvPr/>
        </p:nvCxnSpPr>
        <p:spPr>
          <a:xfrm>
            <a:off x="31661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664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668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STAND UP</a:t>
            </a:r>
          </a:p>
          <a:p>
            <a:pPr algn="l">
              <a:spcAft>
                <a:spcPts val="300"/>
              </a:spcAft>
            </a:pPr>
            <a:r>
              <a:rPr sz="1600" b="0" i="0">
                <a:solidFill>
                  <a:srgbClr val="1A1A1A"/>
                </a:solidFill>
                <a:latin typeface="Arial"/>
              </a:rPr>
              <a:t>The new once-only exchange</a:t>
            </a:r>
          </a:p>
        </p:txBody>
      </p:sp>
      <p:sp>
        <p:nvSpPr>
          <p:cNvPr id="8" name="Rounded Rectangle 7"/>
          <p:cNvSpPr/>
          <p:nvPr/>
        </p:nvSpPr>
        <p:spPr>
          <a:xfrm>
            <a:off x="345871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PARALLEL-RUN</a:t>
            </a:r>
          </a:p>
          <a:p>
            <a:pPr algn="l">
              <a:spcAft>
                <a:spcPts val="300"/>
              </a:spcAft>
            </a:pPr>
            <a:r>
              <a:rPr sz="1600" b="0" i="0">
                <a:solidFill>
                  <a:srgbClr val="1A1A1A"/>
                </a:solidFill>
                <a:latin typeface="Arial"/>
              </a:rPr>
              <a:t>Beside the agency's old point-to-point link</a:t>
            </a:r>
          </a:p>
        </p:txBody>
      </p:sp>
      <p:sp>
        <p:nvSpPr>
          <p:cNvPr id="9" name="Rounded Rectangle 8"/>
          <p:cNvSpPr/>
          <p:nvPr/>
        </p:nvSpPr>
        <p:spPr>
          <a:xfrm>
            <a:off x="62590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CONFIRM</a:t>
            </a:r>
          </a:p>
          <a:p>
            <a:pPr algn="l">
              <a:spcAft>
                <a:spcPts val="300"/>
              </a:spcAft>
            </a:pPr>
            <a:r>
              <a:rPr sz="1600" b="0" i="0">
                <a:solidFill>
                  <a:srgbClr val="1A1A1A"/>
                </a:solidFill>
                <a:latin typeface="Arial"/>
              </a:rPr>
              <a:t>The two agree</a:t>
            </a:r>
          </a:p>
        </p:txBody>
      </p:sp>
      <p:sp>
        <p:nvSpPr>
          <p:cNvPr id="10" name="Rounded Rectangle 9"/>
          <p:cNvSpPr/>
          <p:nvPr/>
        </p:nvSpPr>
        <p:spPr>
          <a:xfrm>
            <a:off x="9059418" y="1645920"/>
            <a:ext cx="248031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CUT OVER</a:t>
            </a:r>
          </a:p>
          <a:p>
            <a:pPr algn="l">
              <a:spcAft>
                <a:spcPts val="300"/>
              </a:spcAft>
            </a:pPr>
            <a:r>
              <a:rPr sz="1600" b="0" i="0">
                <a:solidFill>
                  <a:srgbClr val="FFFFFF"/>
                </a:solidFill>
                <a:latin typeface="Arial"/>
              </a:rPr>
              <a:t>Switch the consumers across, decommission the old link</a:t>
            </a:r>
          </a:p>
        </p:txBody>
      </p:sp>
      <p:sp>
        <p:nvSpPr>
          <p:cNvPr id="11" name="TextBox 10"/>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Left alone, you run both — worse than either. This is the step that ends the sprawl.</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shape of the configuration does not change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subsystem registrations, the service descriptions, the semantic map — the same in production.</a:t>
            </a:r>
          </a:p>
          <a:p>
            <a:pPr>
              <a:spcAft>
                <a:spcPts val="1200"/>
              </a:spcAft>
            </a:pPr>
            <a:r>
              <a:rPr sz="2000" b="0" i="0">
                <a:solidFill>
                  <a:srgbClr val="1A1A1A"/>
                </a:solidFill>
                <a:latin typeface="Arial"/>
              </a:rPr>
              <a:t>Production changes the scale, the resilience and the operations around them, not the design.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Production is the same pattern, hardened — so the demonstration de-risks the build.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Never ship the demonstration as production</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PERFECT FOR</a:t>
            </a:r>
          </a:p>
          <a:p>
            <a:pPr>
              <a:spcAft>
                <a:spcPts val="700"/>
              </a:spcAft>
            </a:pPr>
            <a:r>
              <a:rPr sz="1600" b="0" i="0">
                <a:solidFill>
                  <a:srgbClr val="1A1A1A"/>
                </a:solidFill>
                <a:latin typeface="Arial"/>
              </a:rPr>
              <a:t>Proving the pattern.</a:t>
            </a:r>
          </a:p>
          <a:p>
            <a:pPr>
              <a:spcAft>
                <a:spcPts val="700"/>
              </a:spcAft>
            </a:pPr>
            <a:r>
              <a:rPr sz="1600" b="0" i="0">
                <a:solidFill>
                  <a:srgbClr val="1A1A1A"/>
                </a:solidFill>
                <a:latin typeface="Arial"/>
              </a:rPr>
              <a:t>A sandboxed single-VM federation with a test CA.</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WRONG FOR</a:t>
            </a:r>
          </a:p>
          <a:p>
            <a:pPr>
              <a:spcAft>
                <a:spcPts val="700"/>
              </a:spcAft>
            </a:pPr>
            <a:r>
              <a:rPr sz="1600" b="0" i="0">
                <a:solidFill>
                  <a:srgbClr val="1A1A1A"/>
                </a:solidFill>
                <a:latin typeface="Arial"/>
              </a:rPr>
              <a:t>Carrying real citizen data at scale.</a:t>
            </a:r>
          </a:p>
          <a:p>
            <a:pPr>
              <a:spcAft>
                <a:spcPts val="700"/>
              </a:spcAft>
            </a:pPr>
            <a:r>
              <a:rPr sz="1600" b="0" i="0">
                <a:solidFill>
                  <a:srgbClr val="1A1A1A"/>
                </a:solidFill>
                <a:latin typeface="Arial"/>
              </a:rPr>
              <a:t>Anything a country has to run.</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Know the gap, plan it into the phased roadmap, budget it with the cost frame.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Production is the demonstration's pattern, hardened — separate hosts, a real CA, high availability, monitoring, support. Plan the gap; do not ship the demo.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the demonstration-to-production gap checklist.</a:t>
            </a:r>
          </a:p>
          <a:p>
            <a:pPr algn="l">
              <a:spcAft>
                <a:spcPts val="400"/>
              </a:spcAft>
            </a:pPr>
            <a:r>
              <a:rPr sz="1800" b="0" i="0">
                <a:solidFill>
                  <a:srgbClr val="595959"/>
                </a:solidFill>
                <a:latin typeface="Arial"/>
              </a:rPr>
              <a:t>The prompt in the companion material gives you a gap checklist mapped to the phased plan and cost frame.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production and operations guidance (niis.org)</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Watch the bus — monitoring and anomaly detection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Point Claude at the real bus logs to spot a failing or unusual exchange before a citizen does.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running bus is not finished. It is operating, every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call leaves a trace in the logs.</a:t>
            </a:r>
          </a:p>
          <a:p>
            <a:pPr>
              <a:spcAft>
                <a:spcPts val="800"/>
              </a:spcAft>
            </a:pPr>
            <a:r>
              <a:rPr sz="1700" b="0" i="0">
                <a:solidFill>
                  <a:srgbClr val="595959"/>
                </a:solidFill>
                <a:latin typeface="Arial"/>
              </a:rPr>
              <a:t>Reading them by hand does not scale past a few services.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logs hold the operational truth</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Which exchanges ran, and which failed</a:t>
            </a:r>
          </a:p>
          <a:p>
            <a:pPr>
              <a:spcAft>
                <a:spcPts val="300"/>
              </a:spcAft>
            </a:pPr>
            <a:r>
              <a:rPr sz="1550" b="0" i="0">
                <a:solidFill>
                  <a:srgbClr val="595959"/>
                </a:solidFill>
                <a:latin typeface="Arial"/>
              </a:rPr>
              <a:t>And how often.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Latency</a:t>
            </a:r>
          </a:p>
          <a:p>
            <a:pPr>
              <a:spcAft>
                <a:spcPts val="300"/>
              </a:spcAft>
            </a:pPr>
            <a:r>
              <a:rPr sz="1550" b="0" i="0">
                <a:solidFill>
                  <a:srgbClr val="595959"/>
                </a:solidFill>
                <a:latin typeface="Arial"/>
              </a:rPr>
              <a:t>Whether calls are getting slower — a service under strain.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Unusual patterns</a:t>
            </a:r>
          </a:p>
          <a:p>
            <a:pPr>
              <a:spcAft>
                <a:spcPts val="300"/>
              </a:spcAft>
            </a:pPr>
            <a:r>
              <a:rPr sz="1550" b="0" i="0">
                <a:solidFill>
                  <a:srgbClr val="595959"/>
                </a:solidFill>
                <a:latin typeface="Arial"/>
              </a:rPr>
              <a:t>A spike, a new caller, a surge at three in the morning.</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Compliance</a:t>
            </a:r>
          </a:p>
          <a:p>
            <a:pPr>
              <a:spcAft>
                <a:spcPts val="300"/>
              </a:spcAft>
            </a:pPr>
            <a:r>
              <a:rPr sz="1550" b="0" i="0">
                <a:solidFill>
                  <a:srgbClr val="595959"/>
                </a:solidFill>
                <a:latin typeface="Arial"/>
              </a:rPr>
              <a:t>Which members still meet the binding standards, and which are drifting.</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metadata of exchanges — never their contents.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loops: health every day, compliance every quarter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DAILY — OPERATIONAL HEALTH</a:t>
            </a:r>
          </a:p>
          <a:p>
            <a:pPr>
              <a:spcAft>
                <a:spcPts val="700"/>
              </a:spcAft>
            </a:pPr>
            <a:r>
              <a:rPr sz="1600" b="0" i="0">
                <a:solidFill>
                  <a:srgbClr val="1A1A1A"/>
                </a:solidFill>
                <a:latin typeface="Arial"/>
              </a:rPr>
              <a:t>A failing service caught before a citizen is turned away.</a:t>
            </a:r>
          </a:p>
          <a:p>
            <a:pPr>
              <a:spcAft>
                <a:spcPts val="700"/>
              </a:spcAft>
            </a:pPr>
            <a:r>
              <a:rPr sz="1600" b="0" i="0">
                <a:solidFill>
                  <a:srgbClr val="1A1A1A"/>
                </a:solidFill>
                <a:latin typeface="Arial"/>
              </a:rPr>
              <a:t>A slowdown addressed before it becomes an outage.</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QUARTERLY — MEMBER COMPLIANCE</a:t>
            </a:r>
          </a:p>
          <a:p>
            <a:pPr>
              <a:spcAft>
                <a:spcPts val="700"/>
              </a:spcAft>
            </a:pPr>
            <a:r>
              <a:rPr sz="1600" b="0" i="0">
                <a:solidFill>
                  <a:srgbClr val="1A1A1A"/>
                </a:solidFill>
                <a:latin typeface="Arial"/>
              </a:rPr>
              <a:t>To the Steering Committee each quarter, the Council each year.</a:t>
            </a:r>
          </a:p>
          <a:p>
            <a:pPr>
              <a:spcAft>
                <a:spcPts val="700"/>
              </a:spcAft>
            </a:pPr>
            <a:r>
              <a:rPr sz="1600" b="0" i="0">
                <a:solidFill>
                  <a:srgbClr val="1A1A1A"/>
                </a:solidFill>
                <a:latin typeface="Arial"/>
              </a:rPr>
              <a:t>To citizens twice a year, where transparency policy asks.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Monitoring that reaches a governance table is accountability. The rest is a dashboard.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safeguards that are not optional</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FLAGS, A HUMAN INVESTIGATES</a:t>
            </a:r>
          </a:p>
          <a:p>
            <a:pPr>
              <a:spcAft>
                <a:spcPts val="700"/>
              </a:spcAft>
            </a:pPr>
            <a:r>
              <a:rPr sz="1600" b="0" i="0">
                <a:solidFill>
                  <a:srgbClr val="1A1A1A"/>
                </a:solidFill>
                <a:latin typeface="Arial"/>
              </a:rPr>
              <a:t>An anomaly is a question to look into.</a:t>
            </a:r>
          </a:p>
          <a:p>
            <a:pPr>
              <a:spcAft>
                <a:spcPts val="700"/>
              </a:spcAft>
            </a:pPr>
            <a:r>
              <a:rPr sz="1600" b="0" i="0">
                <a:solidFill>
                  <a:srgbClr val="1A1A1A"/>
                </a:solidFill>
                <a:latin typeface="Arial"/>
              </a:rPr>
              <a:t>Not a verdict to act on automatically.</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NO CITIZEN DATA IN THE PROMPT</a:t>
            </a:r>
          </a:p>
          <a:p>
            <a:pPr>
              <a:spcAft>
                <a:spcPts val="700"/>
              </a:spcAft>
            </a:pPr>
            <a:r>
              <a:rPr sz="1600" b="0" i="0">
                <a:solidFill>
                  <a:srgbClr val="1A1A1A"/>
                </a:solidFill>
                <a:latin typeface="Arial"/>
              </a:rPr>
              <a:t>Which service, success or failure, how fast.</a:t>
            </a:r>
          </a:p>
          <a:p>
            <a:pPr>
              <a:spcAft>
                <a:spcPts val="700"/>
              </a:spcAft>
            </a:pPr>
            <a:r>
              <a:rPr sz="1600" b="0" i="0">
                <a:solidFill>
                  <a:srgbClr val="1A1A1A"/>
                </a:solidFill>
                <a:latin typeface="Arial"/>
              </a:rPr>
              <a:t>A monitoring tool that ingests citizen data becomes the risk.</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Monitor the traffic, never the cargo.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logs hold the bus's health — the AI makes it legible, a human acts on the flags, and citizen data never enters the prompt.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Summarise bus health and flag anomalies from the logs.</a:t>
            </a:r>
          </a:p>
          <a:p>
            <a:pPr algn="l">
              <a:spcAft>
                <a:spcPts val="400"/>
              </a:spcAft>
            </a:pPr>
            <a:r>
              <a:rPr sz="1800" b="0" i="0">
                <a:solidFill>
                  <a:srgbClr val="595959"/>
                </a:solidFill>
                <a:latin typeface="Arial"/>
              </a:rPr>
              <a:t>The prompt in the companion material gives you a health summary plus a prioritised list of anomalies to investigate.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monitoring and operational logs (niis.org)</a:t>
            </a:r>
          </a:p>
          <a:p>
            <a:pPr>
              <a:spcAft>
                <a:spcPts val="1200"/>
              </a:spcAft>
            </a:pPr>
            <a:r>
              <a:rPr sz="1700" b="0" i="0">
                <a:solidFill>
                  <a:srgbClr val="1A1A1A"/>
                </a:solidFill>
                <a:latin typeface="Arial"/>
              </a:rPr>
              <a:t>•  The Linkup demonstration federation</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5.9</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5.9</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documents honest — the consistency cross-check</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Keep the decree, the Governance Pack and the standards portfolio saying the same thing — a cross-check that catches drift across the three.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Three documents that must agree — and, left alone, drift apart.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decree, the Governance Pack, the standards portfolio.</a:t>
            </a:r>
          </a:p>
          <a:p>
            <a:pPr>
              <a:spcAft>
                <a:spcPts val="800"/>
              </a:spcAft>
            </a:pPr>
            <a:r>
              <a:rPr sz="1700" b="0" i="0">
                <a:solidFill>
                  <a:srgbClr val="595959"/>
                </a:solidFill>
                <a:latin typeface="Arial"/>
              </a:rPr>
              <a:t>Find the contradictions before a reviewer does.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Drift is specific and predictable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standard updated in the portfolio</a:t>
            </a:r>
          </a:p>
          <a:p>
            <a:pPr>
              <a:spcAft>
                <a:spcPts val="300"/>
              </a:spcAft>
            </a:pPr>
            <a:r>
              <a:rPr sz="1550" b="0" i="0">
                <a:solidFill>
                  <a:srgbClr val="595959"/>
                </a:solidFill>
                <a:latin typeface="Arial"/>
              </a:rPr>
              <a:t>But the decree still references the old version.</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body in the RACI</a:t>
            </a:r>
          </a:p>
          <a:p>
            <a:pPr>
              <a:spcAft>
                <a:spcPts val="300"/>
              </a:spcAft>
            </a:pPr>
            <a:r>
              <a:rPr sz="1550" b="0" i="0">
                <a:solidFill>
                  <a:srgbClr val="595959"/>
                </a:solidFill>
                <a:latin typeface="Arial"/>
              </a:rPr>
              <a:t>That the Governance Pack no longer describes.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An exchange the decree authorises</a:t>
            </a:r>
          </a:p>
          <a:p>
            <a:pPr>
              <a:spcAft>
                <a:spcPts val="300"/>
              </a:spcAft>
            </a:pPr>
            <a:r>
              <a:rPr sz="1550" b="0" i="0">
                <a:solidFill>
                  <a:srgbClr val="595959"/>
                </a:solidFill>
                <a:latin typeface="Arial"/>
              </a:rPr>
              <a:t>That no service implements — or a service the decree never authorised.</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One term, three meanings</a:t>
            </a:r>
          </a:p>
          <a:p>
            <a:pPr>
              <a:spcAft>
                <a:spcPts val="300"/>
              </a:spcAft>
            </a:pPr>
            <a:r>
              <a:rPr sz="1550" b="0" i="0">
                <a:solidFill>
                  <a:srgbClr val="595959"/>
                </a:solidFill>
                <a:latin typeface="Arial"/>
              </a:rPr>
              <a:t>"Member", "service", "authority" — used slightly differently in each.</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Each one quietly undermines the framework the moment someone notices.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 the three together — before a reviewer does</a:t>
            </a:r>
          </a:p>
        </p:txBody>
      </p:sp>
      <p:cxnSp>
        <p:nvCxnSpPr>
          <p:cNvPr id="4" name="Connector 3"/>
          <p:cNvCxnSpPr/>
          <p:nvPr/>
        </p:nvCxnSpPr>
        <p:spPr>
          <a:xfrm>
            <a:off x="4544568" y="2125980"/>
            <a:ext cx="1719072" cy="121158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4544568" y="3337560"/>
            <a:ext cx="1719072" cy="2286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544568" y="3337560"/>
            <a:ext cx="1719072" cy="125730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60020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DECREE</a:t>
            </a:r>
          </a:p>
          <a:p>
            <a:pPr algn="l">
              <a:spcAft>
                <a:spcPts val="300"/>
              </a:spcAft>
            </a:pPr>
            <a:r>
              <a:rPr sz="1600" b="0" i="0">
                <a:solidFill>
                  <a:srgbClr val="1A1A1A"/>
                </a:solidFill>
                <a:latin typeface="Arial"/>
              </a:rPr>
              <a:t>The legal layer</a:t>
            </a:r>
          </a:p>
        </p:txBody>
      </p:sp>
      <p:sp>
        <p:nvSpPr>
          <p:cNvPr id="8" name="Rounded Rectangle 7"/>
          <p:cNvSpPr/>
          <p:nvPr/>
        </p:nvSpPr>
        <p:spPr>
          <a:xfrm>
            <a:off x="658368" y="283464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GOVERNANCE PACK</a:t>
            </a:r>
          </a:p>
          <a:p>
            <a:pPr algn="l">
              <a:spcAft>
                <a:spcPts val="300"/>
              </a:spcAft>
            </a:pPr>
            <a:r>
              <a:rPr sz="1600" b="0" i="0">
                <a:solidFill>
                  <a:srgbClr val="1A1A1A"/>
                </a:solidFill>
                <a:latin typeface="Arial"/>
              </a:rPr>
              <a:t>The organisational layer</a:t>
            </a:r>
          </a:p>
        </p:txBody>
      </p:sp>
      <p:sp>
        <p:nvSpPr>
          <p:cNvPr id="9" name="Rounded Rectangle 8"/>
          <p:cNvSpPr/>
          <p:nvPr/>
        </p:nvSpPr>
        <p:spPr>
          <a:xfrm>
            <a:off x="658368" y="406908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STANDARDS PORTFOLIO</a:t>
            </a:r>
          </a:p>
          <a:p>
            <a:pPr algn="l">
              <a:spcAft>
                <a:spcPts val="300"/>
              </a:spcAft>
            </a:pPr>
            <a:r>
              <a:rPr sz="1600" b="0" i="0">
                <a:solidFill>
                  <a:srgbClr val="1A1A1A"/>
                </a:solidFill>
                <a:latin typeface="Arial"/>
              </a:rPr>
              <a:t>The technical layer</a:t>
            </a:r>
          </a:p>
        </p:txBody>
      </p:sp>
      <p:sp>
        <p:nvSpPr>
          <p:cNvPr id="10" name="Rounded Rectangle 9"/>
          <p:cNvSpPr/>
          <p:nvPr/>
        </p:nvSpPr>
        <p:spPr>
          <a:xfrm>
            <a:off x="6309360" y="2194560"/>
            <a:ext cx="5230368" cy="22860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900" b="1" i="0">
                <a:solidFill>
                  <a:srgbClr val="FFFFFF"/>
                </a:solidFill>
                <a:latin typeface="Arial"/>
              </a:rPr>
              <a:t>THE CROSS-CHECK</a:t>
            </a:r>
          </a:p>
          <a:p>
            <a:pPr algn="l">
              <a:spcAft>
                <a:spcPts val="300"/>
              </a:spcAft>
            </a:pPr>
            <a:r>
              <a:rPr sz="1700" b="0" i="0">
                <a:solidFill>
                  <a:srgbClr val="FFFFFF"/>
                </a:solidFill>
                <a:latin typeface="Arial"/>
              </a:rPr>
              <a:t>Reads all three documents together.</a:t>
            </a:r>
          </a:p>
          <a:p>
            <a:pPr algn="l">
              <a:spcAft>
                <a:spcPts val="300"/>
              </a:spcAft>
            </a:pPr>
            <a:r>
              <a:rPr sz="1700" b="0" i="0">
                <a:solidFill>
                  <a:srgbClr val="FFFFFF"/>
                </a:solidFill>
                <a:latin typeface="Arial"/>
              </a:rPr>
              <a:t>Reports where they disagree, and on what.</a:t>
            </a:r>
          </a:p>
          <a:p>
            <a:pPr algn="l">
              <a:spcAft>
                <a:spcPts val="300"/>
              </a:spcAft>
            </a:pPr>
            <a:r>
              <a:rPr sz="1700" b="0" i="0">
                <a:solidFill>
                  <a:srgbClr val="FFFFFF"/>
                </a:solidFill>
                <a:latin typeface="Arial"/>
              </a:rPr>
              <a:t>Bus monitoring watches the traffic; this watches the documents.</a:t>
            </a:r>
          </a:p>
        </p:txBody>
      </p:sp>
      <p:sp>
        <p:nvSpPr>
          <p:cNvPr id="11" name="TextBox 10"/>
          <p:cNvSpPr txBox="1"/>
          <p:nvPr/>
        </p:nvSpPr>
        <p:spPr>
          <a:xfrm>
            <a:off x="658368" y="5440680"/>
            <a:ext cx="10881360" cy="548640"/>
          </a:xfrm>
          <a:prstGeom prst="rect">
            <a:avLst/>
          </a:prstGeom>
          <a:noFill/>
        </p:spPr>
        <p:txBody>
          <a:bodyPr wrap="square">
            <a:spAutoFit/>
          </a:bodyPr>
          <a:lstStyle/>
          <a:p>
            <a:r>
              <a:rPr sz="1550" b="1" i="0">
                <a:solidFill>
                  <a:srgbClr val="006E96"/>
                </a:solidFill>
                <a:latin typeface="Arial"/>
              </a:rPr>
              <a:t>Caught by you — not by a Ministry of Justice reviewer, a joining member or an auditor.</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AI finds the drift — a person decides which is right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Whether the catalogue or the decree is correct is a judgement with legal and governance consequences.</a:t>
            </a:r>
          </a:p>
          <a:p>
            <a:pPr>
              <a:spcAft>
                <a:spcPts val="1200"/>
              </a:spcAft>
            </a:pPr>
            <a:r>
              <a:rPr sz="2000" b="0" i="0">
                <a:solidFill>
                  <a:srgbClr val="1A1A1A"/>
                </a:solidFill>
                <a:latin typeface="Arial"/>
              </a:rPr>
              <a:t>So the play never edits the decree on its own. Run it whenever any of the three changes.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Consistency is a direction, not an automatic edit.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Cross-check the decree, the Governance Pack and the standards portfolio — the AI finds the drift, a human resolves which document is right.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Cross-check the decree, Governance Pack and standards portfolio for drift.</a:t>
            </a:r>
          </a:p>
          <a:p>
            <a:pPr algn="l">
              <a:spcAft>
                <a:spcPts val="400"/>
              </a:spcAft>
            </a:pPr>
            <a:r>
              <a:rPr sz="1800" b="0" i="0">
                <a:solidFill>
                  <a:srgbClr val="595959"/>
                </a:solidFill>
                <a:latin typeface="Arial"/>
              </a:rPr>
              <a:t>The prompt in the companion material gives you a contradiction table with a human question for each, ordered by risk.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decree — Module 2</a:t>
            </a:r>
          </a:p>
          <a:p>
            <a:pPr>
              <a:spcAft>
                <a:spcPts val="1200"/>
              </a:spcAft>
            </a:pPr>
            <a:r>
              <a:rPr sz="1700" b="0" i="0">
                <a:solidFill>
                  <a:srgbClr val="1A1A1A"/>
                </a:solidFill>
                <a:latin typeface="Arial"/>
              </a:rPr>
              <a:t>•  The Governance Pack — Module 3</a:t>
            </a:r>
          </a:p>
          <a:p>
            <a:pPr>
              <a:spcAft>
                <a:spcPts val="1200"/>
              </a:spcAft>
            </a:pPr>
            <a:r>
              <a:rPr sz="1700" b="0" i="0">
                <a:solidFill>
                  <a:srgbClr val="1A1A1A"/>
                </a:solidFill>
                <a:latin typeface="Arial"/>
              </a:rPr>
              <a:t>•  The standards portfolio — Module 4</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KP2 · MODULE 5 · VIDEO 5.10</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5.10</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Carry the framework to the next sector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same four-layer framework stands up interoperability beyond education — the method is sector-portable, and the second sector is cheaper than the first.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framework was built on education. It is not education-specific.</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what carries to the next sector unchanged, and what is new.</a:t>
            </a:r>
          </a:p>
          <a:p>
            <a:pPr>
              <a:spcAft>
                <a:spcPts val="800"/>
              </a:spcAft>
            </a:pPr>
            <a:r>
              <a:rPr sz="1700" b="0" i="0">
                <a:solidFill>
                  <a:srgbClr val="595959"/>
                </a:solidFill>
                <a:latin typeface="Arial"/>
              </a:rPr>
              <a:t>Get that split right, and the second sector costs a fraction of the first.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things are new per sector — the rest carries unchanged</a:t>
            </a:r>
          </a:p>
        </p:txBody>
      </p:sp>
      <p:sp>
        <p:nvSpPr>
          <p:cNvPr id="4" name="Rounded Rectangle 3"/>
          <p:cNvSpPr/>
          <p:nvPr/>
        </p:nvSpPr>
        <p:spPr>
          <a:xfrm>
            <a:off x="658368"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CARRIES UNCHANGED</a:t>
            </a:r>
          </a:p>
          <a:p>
            <a:pPr>
              <a:spcAft>
                <a:spcPts val="700"/>
              </a:spcAft>
            </a:pPr>
            <a:r>
              <a:rPr sz="1600" b="0" i="0">
                <a:solidFill>
                  <a:srgbClr val="1A1A1A"/>
                </a:solidFill>
                <a:latin typeface="Arial"/>
              </a:rPr>
              <a:t>The four layers</a:t>
            </a:r>
          </a:p>
          <a:p>
            <a:pPr>
              <a:spcAft>
                <a:spcPts val="700"/>
              </a:spcAft>
            </a:pPr>
            <a:r>
              <a:rPr sz="1600" b="0" i="0">
                <a:solidFill>
                  <a:srgbClr val="1A1A1A"/>
                </a:solidFill>
                <a:latin typeface="Arial"/>
              </a:rPr>
              <a:t>The decree pattern</a:t>
            </a:r>
          </a:p>
          <a:p>
            <a:pPr>
              <a:spcAft>
                <a:spcPts val="700"/>
              </a:spcAft>
            </a:pPr>
            <a:r>
              <a:rPr sz="1600" b="0" i="0">
                <a:solidFill>
                  <a:srgbClr val="1A1A1A"/>
                </a:solidFill>
                <a:latin typeface="Arial"/>
              </a:rPr>
              <a:t>The governance — tiers, RACI, Operating Authority</a:t>
            </a:r>
          </a:p>
          <a:p>
            <a:pPr>
              <a:spcAft>
                <a:spcPts val="700"/>
              </a:spcAft>
            </a:pPr>
            <a:r>
              <a:rPr sz="1600" b="0" i="0">
                <a:solidFill>
                  <a:srgbClr val="1A1A1A"/>
                </a:solidFill>
                <a:latin typeface="Arial"/>
              </a:rPr>
              <a:t>The standards portfolio</a:t>
            </a:r>
          </a:p>
          <a:p>
            <a:pPr>
              <a:spcAft>
                <a:spcPts val="700"/>
              </a:spcAft>
            </a:pPr>
            <a:r>
              <a:rPr sz="1600" b="0" i="0">
                <a:solidFill>
                  <a:srgbClr val="1A1A1A"/>
                </a:solidFill>
                <a:latin typeface="Arial"/>
              </a:rPr>
              <a:t>The bus itself, already running</a:t>
            </a:r>
          </a:p>
        </p:txBody>
      </p:sp>
      <p:sp>
        <p:nvSpPr>
          <p:cNvPr id="6" name="Rounded Rectangle 5"/>
          <p:cNvSpPr/>
          <p:nvPr/>
        </p:nvSpPr>
        <p:spPr>
          <a:xfrm>
            <a:off x="6263640"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NEW PER SECTOR</a:t>
            </a:r>
          </a:p>
          <a:p>
            <a:pPr>
              <a:spcAft>
                <a:spcPts val="700"/>
              </a:spcAft>
            </a:pPr>
            <a:r>
              <a:rPr sz="1600" b="0" i="0">
                <a:solidFill>
                  <a:srgbClr val="1A1A1A"/>
                </a:solidFill>
                <a:latin typeface="Arial"/>
              </a:rPr>
              <a:t>The semantic layer — its vocabularies</a:t>
            </a:r>
          </a:p>
          <a:p>
            <a:pPr>
              <a:spcAft>
                <a:spcPts val="700"/>
              </a:spcAft>
            </a:pPr>
            <a:r>
              <a:rPr sz="1600" b="0" i="0">
                <a:solidFill>
                  <a:srgbClr val="1A1A1A"/>
                </a:solidFill>
                <a:latin typeface="Arial"/>
              </a:rPr>
              <a:t>The specific exchanges and services</a:t>
            </a:r>
          </a:p>
        </p:txBody>
      </p:sp>
      <p:sp>
        <p:nvSpPr>
          <p:cNvPr id="8" name="TextBox 7"/>
          <p:cNvSpPr txBox="1"/>
          <p:nvPr/>
        </p:nvSpPr>
        <p:spPr>
          <a:xfrm>
            <a:off x="658368" y="5120640"/>
            <a:ext cx="10881360" cy="548640"/>
          </a:xfrm>
          <a:prstGeom prst="rect">
            <a:avLst/>
          </a:prstGeom>
          <a:noFill/>
        </p:spPr>
        <p:txBody>
          <a:bodyPr wrap="square">
            <a:spAutoFit/>
          </a:bodyPr>
          <a:lstStyle/>
          <a:p>
            <a:r>
              <a:rPr sz="1550" b="1" i="0">
                <a:solidFill>
                  <a:srgbClr val="006E96"/>
                </a:solidFill>
                <a:latin typeface="Arial"/>
              </a:rPr>
              <a:t>Whichever sector goes first pays for the platform. The next is cheaper either way.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planned framework gets cheaper with every sector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first sector pays for the bus, the governance and the legal mandate.</a:t>
            </a:r>
          </a:p>
          <a:p>
            <a:pPr>
              <a:spcAft>
                <a:spcPts val="1200"/>
              </a:spcAft>
            </a:pPr>
            <a:r>
              <a:rPr sz="2000" b="0" i="0">
                <a:solidFill>
                  <a:srgbClr val="1A1A1A"/>
                </a:solidFill>
                <a:latin typeface="Arial"/>
              </a:rPr>
              <a:t>The second reuses all of it and pays only for its own semantics and services; the third reuses more still.</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set of separate sector projects never gets cheaper.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portability map is the next sector's business case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Here is what we reuse — most of it.</a:t>
            </a:r>
          </a:p>
          <a:p>
            <a:pPr>
              <a:spcAft>
                <a:spcPts val="1200"/>
              </a:spcAft>
            </a:pPr>
            <a:r>
              <a:rPr sz="2000" b="0" i="0">
                <a:solidFill>
                  <a:srgbClr val="1A1A1A"/>
                </a:solidFill>
                <a:latin typeface="Arial"/>
              </a:rPr>
              <a:t>Here is the small, sector-specific part we build new.</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investment a strategist can defend for a decade.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framework is sector-portable — build the platform once, reuse it everywhere, and the next sector is cheaper than the last.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framework's sector-portable vs sector-specific parts for a new sector.</a:t>
            </a:r>
          </a:p>
          <a:p>
            <a:pPr algn="l">
              <a:spcAft>
                <a:spcPts val="400"/>
              </a:spcAft>
            </a:pPr>
            <a:r>
              <a:rPr sz="1800" b="0" i="0">
                <a:solidFill>
                  <a:srgbClr val="595959"/>
                </a:solidFill>
                <a:latin typeface="Arial"/>
              </a:rPr>
              <a:t>The prompt in the companion material gives you a sector-portability map (reused / new) plus a minister-ready business case.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Terms of Reference §4.4 — sector portability</a:t>
            </a:r>
          </a:p>
          <a:p>
            <a:pPr>
              <a:spcAft>
                <a:spcPts val="1200"/>
              </a:spcAft>
            </a:pPr>
            <a:r>
              <a:rPr sz="1700" b="0" i="0">
                <a:solidFill>
                  <a:srgbClr val="1A1A1A"/>
                </a:solidFill>
                <a:latin typeface="Arial"/>
              </a:rPr>
              <a:t>•  EU European Interoperability Framework — the four-layer model</a:t>
            </a:r>
          </a:p>
          <a:p>
            <a:pPr>
              <a:spcAft>
                <a:spcPts val="1200"/>
              </a:spcAft>
            </a:pPr>
            <a:r>
              <a:rPr sz="1700" b="0" i="0">
                <a:solidFill>
                  <a:srgbClr val="1A1A1A"/>
                </a:solidFill>
                <a:latin typeface="Arial"/>
              </a:rPr>
              <a:t>•  PAERA v1.0 — §3.4.3 (Interoperability framing)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