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57" r:id="rId79"/>
    <p:sldId id="2758" r:id="rId80"/>
    <p:sldId id="2759" r:id="rId81"/>
    <p:sldId id="2760" r:id="rId82"/>
    <p:sldId id="2761" r:id="rId83"/>
    <p:sldId id="2762" r:id="rId84"/>
    <p:sldId id="2763"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mature framework produces three big documents that must agree with each other: the decree, which is the legal layer; the Governance Pack, which is the organisational layer; and the standards portfolio, which is the technical layer. The trouble is that, separately maintained, they drift apart over time — a standard updated in the portfolio but not reflected in the decree, a role the Governance Pack renames but the decree still names the old way. The consistency cross-check reads the three for contradictions before a reviewer or a member finds them for you.</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Drift is specific and predictable. The standards portfolio adopts a new version, but the decree still references the old one. The RACI names a body the Governance Pack no longer describes. The decree authorises an exchange that no service in the catalogue implements, or a service exists that the decree never authorised. And the same term — 'member', 'service', 'authority' — is used to mean slightly different things in the three documents. Each of these is a contradiction that quietly undermines the framework's credibility the moment someone notices it.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play reads all three documents and reports the contradictions — where they disagree, and on what. It is the document analogue of the bus monitoring in the previous video: instead of watching the live traffic, it watches the documents for inconsistency. The value is catching drift before a Ministry of Justice reviewer, a joining member, or an auditor catches it for you — because a framework whose own three foundational documents contradict each other loses trust faster than almost anything else can cost it.</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safeguard is the same shape as always. The AI flags the contradiction; a human decides which of the three documents is correct and fixes it. The play does not edit the decree on its own, because deciding whether the catalogue or the decree is right is a judgement with legal and governance consequences. The play finds the drift; a person resolves it. Run it whenever any of the three documents changes, and the framework's documents stay honest with each other as it evolves.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consistency cross-check keeps the framework's three foundational documents telling the same story. The AI reads the decree, the Governance Pack and the standards portfolio together and flags where they have drifted apart; a human decides which is right and fixes it. Run it on every change, and you catch the contradictions yourself, before the reviewer, the member or the auditor does.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5.9</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5.9</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the documents honest — the consistency cross-check</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Keep the decree, the Governance Pack and the standards portfolio saying the same thing — a cross-check that catches drift across the three.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Three documents that must agree — and, left alone, drift apart.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decree, the Governance Pack, the standards portfolio.</a:t>
            </a:r>
          </a:p>
          <a:p>
            <a:pPr>
              <a:spcAft>
                <a:spcPts val="800"/>
              </a:spcAft>
            </a:pPr>
            <a:r>
              <a:rPr sz="1700" b="0" i="0">
                <a:solidFill>
                  <a:srgbClr val="595959"/>
                </a:solidFill>
                <a:latin typeface="Arial"/>
              </a:rPr>
              <a:t>Find the contradictions before a reviewer does.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Drift is specific and predictable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standard updated in the portfolio</a:t>
            </a:r>
          </a:p>
          <a:p>
            <a:pPr>
              <a:spcAft>
                <a:spcPts val="300"/>
              </a:spcAft>
            </a:pPr>
            <a:r>
              <a:rPr sz="1550" b="0" i="0">
                <a:solidFill>
                  <a:srgbClr val="595959"/>
                </a:solidFill>
                <a:latin typeface="Arial"/>
              </a:rPr>
              <a:t>But the decree still references the old version.</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A body in the RACI</a:t>
            </a:r>
          </a:p>
          <a:p>
            <a:pPr>
              <a:spcAft>
                <a:spcPts val="300"/>
              </a:spcAft>
            </a:pPr>
            <a:r>
              <a:rPr sz="1550" b="0" i="0">
                <a:solidFill>
                  <a:srgbClr val="595959"/>
                </a:solidFill>
                <a:latin typeface="Arial"/>
              </a:rPr>
              <a:t>That the Governance Pack no longer describes.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An exchange the decree authorises</a:t>
            </a:r>
          </a:p>
          <a:p>
            <a:pPr>
              <a:spcAft>
                <a:spcPts val="300"/>
              </a:spcAft>
            </a:pPr>
            <a:r>
              <a:rPr sz="1550" b="0" i="0">
                <a:solidFill>
                  <a:srgbClr val="595959"/>
                </a:solidFill>
                <a:latin typeface="Arial"/>
              </a:rPr>
              <a:t>That no service implements — or a service the decree never authorised.</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One term, three meanings</a:t>
            </a:r>
          </a:p>
          <a:p>
            <a:pPr>
              <a:spcAft>
                <a:spcPts val="300"/>
              </a:spcAft>
            </a:pPr>
            <a:r>
              <a:rPr sz="1550" b="0" i="0">
                <a:solidFill>
                  <a:srgbClr val="595959"/>
                </a:solidFill>
                <a:latin typeface="Arial"/>
              </a:rPr>
              <a:t>"Member", "service", "authority" — used slightly differently in each.</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Each one quietly undermines the framework the moment someone notices.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 the three together — before a reviewer does</a:t>
            </a:r>
          </a:p>
        </p:txBody>
      </p:sp>
      <p:cxnSp>
        <p:nvCxnSpPr>
          <p:cNvPr id="4" name="Connector 3"/>
          <p:cNvCxnSpPr/>
          <p:nvPr/>
        </p:nvCxnSpPr>
        <p:spPr>
          <a:xfrm>
            <a:off x="4544568" y="2125980"/>
            <a:ext cx="1719072" cy="121158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4544568" y="3337560"/>
            <a:ext cx="1719072" cy="2286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544568" y="3337560"/>
            <a:ext cx="1719072" cy="125730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1600200"/>
            <a:ext cx="384048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DECREE</a:t>
            </a:r>
          </a:p>
          <a:p>
            <a:pPr algn="l">
              <a:spcAft>
                <a:spcPts val="300"/>
              </a:spcAft>
            </a:pPr>
            <a:r>
              <a:rPr sz="1600" b="0" i="0">
                <a:solidFill>
                  <a:srgbClr val="1A1A1A"/>
                </a:solidFill>
                <a:latin typeface="Arial"/>
              </a:rPr>
              <a:t>The legal layer</a:t>
            </a:r>
          </a:p>
        </p:txBody>
      </p:sp>
      <p:sp>
        <p:nvSpPr>
          <p:cNvPr id="8" name="Rounded Rectangle 7"/>
          <p:cNvSpPr/>
          <p:nvPr/>
        </p:nvSpPr>
        <p:spPr>
          <a:xfrm>
            <a:off x="658368" y="2834640"/>
            <a:ext cx="384048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GOVERNANCE PACK</a:t>
            </a:r>
          </a:p>
          <a:p>
            <a:pPr algn="l">
              <a:spcAft>
                <a:spcPts val="300"/>
              </a:spcAft>
            </a:pPr>
            <a:r>
              <a:rPr sz="1600" b="0" i="0">
                <a:solidFill>
                  <a:srgbClr val="1A1A1A"/>
                </a:solidFill>
                <a:latin typeface="Arial"/>
              </a:rPr>
              <a:t>The organisational layer</a:t>
            </a:r>
          </a:p>
        </p:txBody>
      </p:sp>
      <p:sp>
        <p:nvSpPr>
          <p:cNvPr id="9" name="Rounded Rectangle 8"/>
          <p:cNvSpPr/>
          <p:nvPr/>
        </p:nvSpPr>
        <p:spPr>
          <a:xfrm>
            <a:off x="658368" y="4069080"/>
            <a:ext cx="384048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STANDARDS PORTFOLIO</a:t>
            </a:r>
          </a:p>
          <a:p>
            <a:pPr algn="l">
              <a:spcAft>
                <a:spcPts val="300"/>
              </a:spcAft>
            </a:pPr>
            <a:r>
              <a:rPr sz="1600" b="0" i="0">
                <a:solidFill>
                  <a:srgbClr val="1A1A1A"/>
                </a:solidFill>
                <a:latin typeface="Arial"/>
              </a:rPr>
              <a:t>The technical layer</a:t>
            </a:r>
          </a:p>
        </p:txBody>
      </p:sp>
      <p:sp>
        <p:nvSpPr>
          <p:cNvPr id="10" name="Rounded Rectangle 9"/>
          <p:cNvSpPr/>
          <p:nvPr/>
        </p:nvSpPr>
        <p:spPr>
          <a:xfrm>
            <a:off x="6309360" y="2194560"/>
            <a:ext cx="5230368" cy="22860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900" b="1" i="0">
                <a:solidFill>
                  <a:srgbClr val="FFFFFF"/>
                </a:solidFill>
                <a:latin typeface="Arial"/>
              </a:rPr>
              <a:t>THE CROSS-CHECK</a:t>
            </a:r>
          </a:p>
          <a:p>
            <a:pPr algn="l">
              <a:spcAft>
                <a:spcPts val="300"/>
              </a:spcAft>
            </a:pPr>
            <a:r>
              <a:rPr sz="1700" b="0" i="0">
                <a:solidFill>
                  <a:srgbClr val="FFFFFF"/>
                </a:solidFill>
                <a:latin typeface="Arial"/>
              </a:rPr>
              <a:t>Reads all three documents together.</a:t>
            </a:r>
          </a:p>
          <a:p>
            <a:pPr algn="l">
              <a:spcAft>
                <a:spcPts val="300"/>
              </a:spcAft>
            </a:pPr>
            <a:r>
              <a:rPr sz="1700" b="0" i="0">
                <a:solidFill>
                  <a:srgbClr val="FFFFFF"/>
                </a:solidFill>
                <a:latin typeface="Arial"/>
              </a:rPr>
              <a:t>Reports where they disagree, and on what.</a:t>
            </a:r>
          </a:p>
          <a:p>
            <a:pPr algn="l">
              <a:spcAft>
                <a:spcPts val="300"/>
              </a:spcAft>
            </a:pPr>
            <a:r>
              <a:rPr sz="1700" b="0" i="0">
                <a:solidFill>
                  <a:srgbClr val="FFFFFF"/>
                </a:solidFill>
                <a:latin typeface="Arial"/>
              </a:rPr>
              <a:t>Bus monitoring watches the traffic; this watches the documents.</a:t>
            </a:r>
          </a:p>
        </p:txBody>
      </p:sp>
      <p:sp>
        <p:nvSpPr>
          <p:cNvPr id="11" name="TextBox 10"/>
          <p:cNvSpPr txBox="1"/>
          <p:nvPr/>
        </p:nvSpPr>
        <p:spPr>
          <a:xfrm>
            <a:off x="658368" y="5440680"/>
            <a:ext cx="10881360" cy="548640"/>
          </a:xfrm>
          <a:prstGeom prst="rect">
            <a:avLst/>
          </a:prstGeom>
          <a:noFill/>
        </p:spPr>
        <p:txBody>
          <a:bodyPr wrap="square">
            <a:spAutoFit/>
          </a:bodyPr>
          <a:lstStyle/>
          <a:p>
            <a:r>
              <a:rPr sz="1550" b="1" i="0">
                <a:solidFill>
                  <a:srgbClr val="006E96"/>
                </a:solidFill>
                <a:latin typeface="Arial"/>
              </a:rPr>
              <a:t>Caught by you — not by a Ministry of Justice reviewer, a joining member or an auditor.</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AI finds the drift — a person decides which is right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Whether the catalogue or the decree is correct is a judgement with legal and governance consequences.</a:t>
            </a:r>
          </a:p>
          <a:p>
            <a:pPr>
              <a:spcAft>
                <a:spcPts val="1200"/>
              </a:spcAft>
            </a:pPr>
            <a:r>
              <a:rPr sz="2000" b="0" i="0">
                <a:solidFill>
                  <a:srgbClr val="1A1A1A"/>
                </a:solidFill>
                <a:latin typeface="Arial"/>
              </a:rPr>
              <a:t>So the play never edits the decree on its own. Run it whenever any of the three changes.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Consistency is a direction, not an automatic edit.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Cross-check the decree, the Governance Pack and the standards portfolio — the AI finds the drift, a human resolves which document is right.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Cross-check the decree, Governance Pack and standards portfolio for drift.</a:t>
            </a:r>
          </a:p>
          <a:p>
            <a:pPr algn="l">
              <a:spcAft>
                <a:spcPts val="400"/>
              </a:spcAft>
            </a:pPr>
            <a:r>
              <a:rPr sz="1800" b="0" i="0">
                <a:solidFill>
                  <a:srgbClr val="595959"/>
                </a:solidFill>
                <a:latin typeface="Arial"/>
              </a:rPr>
              <a:t>The prompt in the companion material gives you a contradiction table with a human question for each, ordered by risk.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decree — Module 2</a:t>
            </a:r>
          </a:p>
          <a:p>
            <a:pPr>
              <a:spcAft>
                <a:spcPts val="1200"/>
              </a:spcAft>
            </a:pPr>
            <a:r>
              <a:rPr sz="1700" b="0" i="0">
                <a:solidFill>
                  <a:srgbClr val="1A1A1A"/>
                </a:solidFill>
                <a:latin typeface="Arial"/>
              </a:rPr>
              <a:t>•  The Governance Pack — Module 3</a:t>
            </a:r>
          </a:p>
          <a:p>
            <a:pPr>
              <a:spcAft>
                <a:spcPts val="1200"/>
              </a:spcAft>
            </a:pPr>
            <a:r>
              <a:rPr sz="1700" b="0" i="0">
                <a:solidFill>
                  <a:srgbClr val="1A1A1A"/>
                </a:solidFill>
                <a:latin typeface="Arial"/>
              </a:rPr>
              <a:t>•  The standards portfolio — Module 4</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