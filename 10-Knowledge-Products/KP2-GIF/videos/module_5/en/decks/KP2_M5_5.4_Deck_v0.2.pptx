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8" r:id="rId40"/>
    <p:sldId id="2719" r:id="rId41"/>
    <p:sldId id="2720" r:id="rId42"/>
    <p:sldId id="2721" r:id="rId43"/>
    <p:sldId id="2722" r:id="rId44"/>
    <p:sldId id="2723" r:id="rId45"/>
    <p:sldId id="2724" r:id="rId17"/>
    <p:sldId id="2725" r:id="rId16"/>
    <p:sldId id="272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so far has been preparation — the phased plan, the Member Requirements, the Service-Level Agreement. Registering a member on X-Road is the technical step that actually admits an agency to the bus, and it produces real configuration: the subsystem registration and the access-control list. This is a build step, and nobody types it into the bus by hand: the agency applies, the operator admits it, and the registration runs itself.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Registering a member produces two configuration artefacts. The subsystem — the member's registered identity on the bus, made of its member class, member code and subsystem code, the identifiers the bus uses to route a call to it. And the access-control list — which other members are allowed to call this member's services, because being on the bus does not mean everyone may call everything; access is granted deliberately, service by service. Together, these two artefacts admit the agency and say exactly who may talk to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build pack, the agency submits a join request carrying its details, its services and who may call them. A validator checks it before any person acts on it: every identifier is allocated at admission and checked for legality and uniqueness, the service contract is fetched and screened, the access list is sane. Only then can the operator approve — and only by citing the admission decision, so the technical join cannot run ahead of the governance one. After approval, the registration runs itself over the bus's admin interface and proves itself with a real call. This is where the discipline matters most: a wrong member code throws no error on the bus. It silently routes nowhere, or to the wrong agency. So the validator refuses it before it gets there.</a:t>
            </a:r>
          </a:p>
          <a:p/>
          <a:p>
            <a:r>
              <a:t>Production cue: the pivotal slide of this video,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same registration shape for every member — fill the member's details into the same template, generate the same two artefacts. The onboarding workflow and the governance RACI wrap it into a repeatable process: the Member Requirements confirm the agency is ready, the RACI says which body approves, and this registration configuration admits it. You produce the executable configuration here; the workflow and the approvals from the earlier modules surround it. That reuse — one registration pattern applied to every member — is what lets the framework onboard its twentieth agency as cleanly as its second.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Registration is not the last gate. Between a member's security server going up and its first service going live sits the conformance test: the member proves, against the standards portfolio, that its server, its certificates and its services do what the framework requires. For routine members that is a self-assessment against a published checklist; for high-risk services a third-party check; and where the operator has built one, a conformance test suite it runs itself. A member that fails fixes and re-tests until it passes. And it is not a certificate for life — members are re-tested on a cycle, typically every two years, and whenever a binding standard changes. This is the step programmes skip when they are in a hurry, and the step whose absence is discovered when one member's malformed data breaks everyone else's service.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configuration goes straight into the build pack, under the member's folder — it is part of the runnable proving slice, the thing the build pack's acceptance check deploys and tests. So registering a member is not paperwork that describes an intention. It is executable configuration that puts a real agency on the bus, ready to provide and consume services. The three Progressa members — PNEA, PLR and PNIA — are registered this way, beside PDGA, which owns the federation; together they are the participants a real exchange needs.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registering a member is where onboarding becomes configuration. The agency is admitted, its request validated, and the subsystem and access-control list are written and applied for it. Two artefacts, the same shape for every member, admitting one agency to the bus and naming who may call it. That is the technical core of onboarding — and the configuration the demonstration runs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Register a member on X-Road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subsystem registration and the access-control list admit one agency to the bus — produced by an admitted, validated join, not typed by hand.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Everything so far was preparation. This step admits an agency.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Registering a member produces real configuration.</a:t>
            </a:r>
          </a:p>
          <a:p>
            <a:pPr>
              <a:spcAft>
                <a:spcPts val="800"/>
              </a:spcAft>
            </a:pPr>
            <a:r>
              <a:rPr sz="1700" b="0" i="0">
                <a:solidFill>
                  <a:srgbClr val="595959"/>
                </a:solidFill>
                <a:latin typeface="Arial"/>
              </a:rPr>
              <a:t>The agency applies, the operator admits it — then the join runs itself.</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Registration produces two configuration artefacts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SUBSYSTEM — WHO IT IS</a:t>
            </a:r>
          </a:p>
          <a:p>
            <a:pPr>
              <a:spcAft>
                <a:spcPts val="700"/>
              </a:spcAft>
            </a:pPr>
            <a:r>
              <a:rPr sz="1600" b="0" i="0">
                <a:solidFill>
                  <a:srgbClr val="1A1A1A"/>
                </a:solidFill>
                <a:latin typeface="Arial"/>
              </a:rPr>
              <a:t>The member's registered identity on the bus.</a:t>
            </a:r>
          </a:p>
          <a:p>
            <a:pPr>
              <a:spcAft>
                <a:spcPts val="700"/>
              </a:spcAft>
            </a:pPr>
            <a:r>
              <a:rPr sz="1600" b="0" i="0">
                <a:solidFill>
                  <a:srgbClr val="1A1A1A"/>
                </a:solidFill>
                <a:latin typeface="Arial"/>
              </a:rPr>
              <a:t>Member class, member code, subsystem code — what the bus routes a call by.</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ACCESS-CONTROL LIST — WHO MAY CALL IT</a:t>
            </a:r>
          </a:p>
          <a:p>
            <a:pPr>
              <a:spcAft>
                <a:spcPts val="700"/>
              </a:spcAft>
            </a:pPr>
            <a:r>
              <a:rPr sz="1600" b="0" i="0">
                <a:solidFill>
                  <a:srgbClr val="1A1A1A"/>
                </a:solidFill>
                <a:latin typeface="Arial"/>
              </a:rPr>
              <a:t>Which other members may call its services.</a:t>
            </a:r>
          </a:p>
          <a:p>
            <a:pPr>
              <a:spcAft>
                <a:spcPts val="700"/>
              </a:spcAft>
            </a:pPr>
            <a:r>
              <a:rPr sz="1600" b="0" i="0">
                <a:solidFill>
                  <a:srgbClr val="1A1A1A"/>
                </a:solidFill>
                <a:latin typeface="Arial"/>
              </a:rPr>
              <a:t>Granted deliberately, service by service.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Being on the bus does not mean everyone may call everything.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Admit, validate — then the join runs itself</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agency submits a join request; a validator checks every identifier for legality and uniqueness, fetches the contract, and checks the access list.</a:t>
            </a:r>
          </a:p>
          <a:p>
            <a:pPr>
              <a:spcAft>
                <a:spcPts val="1200"/>
              </a:spcAft>
            </a:pPr>
            <a:r>
              <a:rPr sz="2000" b="0" i="0">
                <a:solidFill>
                  <a:srgbClr val="1A1A1A"/>
                </a:solidFill>
                <a:latin typeface="Arial"/>
              </a:rPr>
              <a:t>The operator approves only by citing the admission decision — then the registration runs over the admin interface and proves itself with a real call.</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A wrong member code throws no error on the bus — so the validator refuses it before it gets there.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registration pattern, wrapped in a repeatable process</a:t>
            </a:r>
          </a:p>
        </p:txBody>
      </p:sp>
      <p:cxnSp>
        <p:nvCxnSpPr>
          <p:cNvPr id="4" name="Connector 3"/>
          <p:cNvCxnSpPr/>
          <p:nvPr/>
        </p:nvCxnSpPr>
        <p:spPr>
          <a:xfrm>
            <a:off x="260604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8660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688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MEMBER REQUIREMENTS</a:t>
            </a:r>
          </a:p>
          <a:p>
            <a:pPr algn="l">
              <a:spcAft>
                <a:spcPts val="300"/>
              </a:spcAft>
            </a:pPr>
            <a:r>
              <a:rPr sz="1600" b="0" i="0">
                <a:solidFill>
                  <a:srgbClr val="1A1A1A"/>
                </a:solidFill>
                <a:latin typeface="Arial"/>
              </a:rPr>
              <a:t>Is the agency ready?</a:t>
            </a:r>
          </a:p>
        </p:txBody>
      </p:sp>
      <p:sp>
        <p:nvSpPr>
          <p:cNvPr id="9" name="TextBox 8"/>
          <p:cNvSpPr txBox="1"/>
          <p:nvPr/>
        </p:nvSpPr>
        <p:spPr>
          <a:xfrm>
            <a:off x="65836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0" name="Rounded Rectangle 9"/>
          <p:cNvSpPr/>
          <p:nvPr/>
        </p:nvSpPr>
        <p:spPr>
          <a:xfrm>
            <a:off x="289864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APPROVAL</a:t>
            </a:r>
          </a:p>
          <a:p>
            <a:pPr algn="l">
              <a:spcAft>
                <a:spcPts val="300"/>
              </a:spcAft>
            </a:pPr>
            <a:r>
              <a:rPr sz="1600" b="0" i="0">
                <a:solidFill>
                  <a:srgbClr val="1A1A1A"/>
                </a:solidFill>
                <a:latin typeface="Arial"/>
              </a:rPr>
              <a:t>The RACI names the body that approves</a:t>
            </a:r>
          </a:p>
        </p:txBody>
      </p:sp>
      <p:sp>
        <p:nvSpPr>
          <p:cNvPr id="11" name="TextBox 10"/>
          <p:cNvSpPr txBox="1"/>
          <p:nvPr/>
        </p:nvSpPr>
        <p:spPr>
          <a:xfrm>
            <a:off x="289864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2" name="Rounded Rectangle 11"/>
          <p:cNvSpPr/>
          <p:nvPr/>
        </p:nvSpPr>
        <p:spPr>
          <a:xfrm>
            <a:off x="5138928" y="1645920"/>
            <a:ext cx="192024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REGISTRATION</a:t>
            </a:r>
          </a:p>
          <a:p>
            <a:pPr algn="l">
              <a:spcAft>
                <a:spcPts val="300"/>
              </a:spcAft>
            </a:pPr>
            <a:r>
              <a:rPr sz="1600" b="0" i="0">
                <a:solidFill>
                  <a:srgbClr val="FFFFFF"/>
                </a:solidFill>
                <a:latin typeface="Arial"/>
              </a:rPr>
              <a:t>Subsystem and access-control list admit it</a:t>
            </a:r>
          </a:p>
        </p:txBody>
      </p:sp>
      <p:sp>
        <p:nvSpPr>
          <p:cNvPr id="13" name="TextBox 12"/>
          <p:cNvSpPr txBox="1"/>
          <p:nvPr/>
        </p:nvSpPr>
        <p:spPr>
          <a:xfrm>
            <a:off x="513892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4" name="Rounded Rectangle 13"/>
          <p:cNvSpPr/>
          <p:nvPr/>
        </p:nvSpPr>
        <p:spPr>
          <a:xfrm>
            <a:off x="737920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CONFORMANCE TEST</a:t>
            </a:r>
          </a:p>
          <a:p>
            <a:pPr algn="l">
              <a:spcAft>
                <a:spcPts val="300"/>
              </a:spcAft>
            </a:pPr>
            <a:r>
              <a:rPr sz="1600" b="0" i="0">
                <a:solidFill>
                  <a:srgbClr val="1A1A1A"/>
                </a:solidFill>
                <a:latin typeface="Arial"/>
              </a:rPr>
              <a:t>The gate before its first service</a:t>
            </a:r>
          </a:p>
        </p:txBody>
      </p:sp>
      <p:sp>
        <p:nvSpPr>
          <p:cNvPr id="15" name="TextBox 14"/>
          <p:cNvSpPr txBox="1"/>
          <p:nvPr/>
        </p:nvSpPr>
        <p:spPr>
          <a:xfrm>
            <a:off x="737920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6" name="Rounded Rectangle 15"/>
          <p:cNvSpPr/>
          <p:nvPr/>
        </p:nvSpPr>
        <p:spPr>
          <a:xfrm>
            <a:off x="961948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FIRST SERVICE LIVE</a:t>
            </a:r>
          </a:p>
        </p:txBody>
      </p:sp>
      <p:sp>
        <p:nvSpPr>
          <p:cNvPr id="17" name="TextBox 16"/>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The twentieth agency onboards as cleanly as the second.</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Conformance is the gate between registration and going live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800" b="1" i="0">
                <a:solidFill>
                  <a:srgbClr val="1A1A1A"/>
                </a:solidFill>
                <a:latin typeface="Arial"/>
              </a:rPr>
              <a:t>It proves it meets the standards portfolio</a:t>
            </a:r>
          </a:p>
          <a:p>
            <a:pPr>
              <a:spcAft>
                <a:spcPts val="300"/>
              </a:spcAft>
            </a:pPr>
            <a:r>
              <a:rPr sz="1550" b="0" i="0">
                <a:solidFill>
                  <a:srgbClr val="595959"/>
                </a:solidFill>
                <a:latin typeface="Arial"/>
              </a:rPr>
              <a:t>Its server, its certificates and its services do what the framework requires.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800" b="1" i="0">
                <a:solidFill>
                  <a:srgbClr val="1A1A1A"/>
                </a:solidFill>
                <a:latin typeface="Arial"/>
              </a:rPr>
              <a:t>Checked in proportion to the risk</a:t>
            </a:r>
          </a:p>
          <a:p>
            <a:pPr>
              <a:spcAft>
                <a:spcPts val="300"/>
              </a:spcAft>
            </a:pPr>
            <a:r>
              <a:rPr sz="1550" b="0" i="0">
                <a:solidFill>
                  <a:srgbClr val="595959"/>
                </a:solidFill>
                <a:latin typeface="Arial"/>
              </a:rPr>
              <a:t>Self-assessment for the routine, a third-party check for high-risk, the operator's test suite.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800" b="1" i="0">
                <a:solidFill>
                  <a:srgbClr val="1A1A1A"/>
                </a:solidFill>
                <a:latin typeface="Arial"/>
              </a:rPr>
              <a:t>Not a certificate for life</a:t>
            </a:r>
          </a:p>
          <a:p>
            <a:pPr>
              <a:spcAft>
                <a:spcPts val="300"/>
              </a:spcAft>
            </a:pPr>
            <a:r>
              <a:rPr sz="1550" b="0" i="0">
                <a:solidFill>
                  <a:srgbClr val="595959"/>
                </a:solidFill>
                <a:latin typeface="Arial"/>
              </a:rPr>
              <a:t>Re-tested every two years, and on every change to a binding standard.</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step programmes skip in a hurry — and discover when one member's data breaks everyone's.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Registering a member is configuration, not paperwork</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and the access-control list go straight into the build pack, under the member's folder.</a:t>
            </a:r>
          </a:p>
          <a:p>
            <a:pPr>
              <a:spcAft>
                <a:spcPts val="1200"/>
              </a:spcAft>
            </a:pPr>
            <a:r>
              <a:rPr sz="2000" b="0" i="0">
                <a:solidFill>
                  <a:srgbClr val="1A1A1A"/>
                </a:solidFill>
                <a:latin typeface="Arial"/>
              </a:rPr>
              <a:t>They are part of the runnable proving slice — what the build pack's acceptance check deploys and tests.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Executable configuration that puts a real agency on the bus.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subsystem registration and the access-control list admit a member — validated, approved, applied — and a conformance test is the gate before it goes live.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the X-Road member registration (subsystem + ACL).</a:t>
            </a:r>
          </a:p>
          <a:p>
            <a:pPr algn="l">
              <a:spcAft>
                <a:spcPts val="400"/>
              </a:spcAft>
            </a:pPr>
            <a:r>
              <a:rPr sz="1800" b="0" i="0">
                <a:solidFill>
                  <a:srgbClr val="595959"/>
                </a:solidFill>
                <a:latin typeface="Arial"/>
              </a:rPr>
              <a:t>The prompt in the companion material gives you the subsystem registration and access-control list with [confirm] placeholders, and an onboarding checklist.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and subsystem registration (niis.org)</a:t>
            </a:r>
          </a:p>
          <a:p>
            <a:pPr>
              <a:spcAft>
                <a:spcPts val="1200"/>
              </a:spcAft>
            </a:pPr>
            <a:r>
              <a:rPr sz="1700" b="0" i="0">
                <a:solidFill>
                  <a:srgbClr val="1A1A1A"/>
                </a:solidFill>
                <a:latin typeface="Arial"/>
              </a:rPr>
              <a:t>•  X-Road access-control list configuration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