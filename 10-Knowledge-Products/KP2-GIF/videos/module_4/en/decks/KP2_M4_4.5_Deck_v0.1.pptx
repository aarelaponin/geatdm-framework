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9" r:id="rId12"/>
    <p:sldId id="2730" r:id="rId11"/>
    <p:sldId id="2731" r:id="rId10"/>
    <p:sldId id="2732" r:id="rId54"/>
    <p:sldId id="2733" r:id="rId55"/>
    <p:sldId id="2734" r:id="rId56"/>
    <p:sldId id="2735" r:id="rId57"/>
    <p:sldId id="2736"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To put a service on the bus, you need a contract — a precise description of what the service offers: the operations, the inputs, the outputs, the errors. That contract is an OpenAPI document, and it is the configuration that makes the service callable. As an architect, you generate it from a short service brief and the semantic map, and then turn it into the X-Road service description the bus actually uses to route a call.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OpenAPI 3.x contract specifies, for one service, the operations it offers — say, 'get a learner's record' — the inputs each operation takes, the outputs it returns, the errors it can raise, and the security it requires. The outputs come straight from the semantic map you built: the contract is where the agreed meaning becomes a concrete, callable interface. A consumer reads the contract and knows exactly how to call the service — the field names, the types, the errors — without a single meeting.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AI prompt for this video does the drafting. Give Claude the service brief — what the service does — and the semantic map for the data it returns, and it drafts the OpenAPI document: the paths, the request and response shapes, the error responses, the security scheme. As with the semantic map, every endpoint, field name and type is a [confirm] until you check it against what the provider system actually exposes. An OpenAPI document that looks right but names a field the provider does not return is a contract that fails at the first real call — and looks fine until then.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OpenAPI contract then becomes the X-Road service description — the form the bus uses to register the service and route a call to it. They are the same contract in two forms: OpenAPI for humans and tools to read, the X-Road service description for the bus to route. Generating the first and deriving the second is the core move of this whole knowledge product — using Claude to produce the configuration that puts a real service on the bus.</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this is why the contract is a build-pack artefact, not a diagram. It is executable configuration — it is what the consumer's code calls and what the bus routes. When you have done the semantic map and the service contract for one exchange, you hold, for that exchange, the agreed meaning and the callable interface: the technical-layer configuration the live demonstration runs on. That is real output, not a picture of output.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service contract is where meaning becomes a callable interface. Generate the OpenAPI document with the AI prompt from the brief and the semantic map, confirm every field against the provider, and derive the X-Road service description. That is the configuration that puts a service on the bus — executable, in the build pack, ready for a real call.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Generate a service contract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Turn a service brief into an OpenAPI contract, then an X-Road service description — the configuration that puts a service on the bus.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To put a service on the bus, you need a contract.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Its operations, inputs, outputs and errors, described precisely.</a:t>
            </a:r>
          </a:p>
          <a:p>
            <a:pPr>
              <a:spcAft>
                <a:spcPts val="800"/>
              </a:spcAft>
            </a:pPr>
            <a:r>
              <a:rPr sz="1700" b="0" i="0">
                <a:solidFill>
                  <a:srgbClr val="595959"/>
                </a:solidFill>
                <a:latin typeface="Arial"/>
              </a:rPr>
              <a:t>Generate it from a short brief and the semantic map — then turn it into what the bus routes.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Generate a service contract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OpenAPI contract says exactly how to call a service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777240"/>
          </a:xfrm>
          <a:prstGeom prst="rect">
            <a:avLst/>
          </a:prstGeom>
          <a:noFill/>
        </p:spPr>
        <p:txBody>
          <a:bodyPr wrap="square">
            <a:spAutoFit/>
          </a:bodyPr>
          <a:lstStyle/>
          <a:p>
            <a:pPr>
              <a:spcAft>
                <a:spcPts val="300"/>
              </a:spcAft>
            </a:pPr>
            <a:r>
              <a:rPr sz="1900" b="1" i="0">
                <a:solidFill>
                  <a:srgbClr val="1A1A1A"/>
                </a:solidFill>
                <a:latin typeface="Arial"/>
              </a:rPr>
              <a:t>The operations</a:t>
            </a:r>
          </a:p>
          <a:p>
            <a:pPr>
              <a:spcAft>
                <a:spcPts val="300"/>
              </a:spcAft>
            </a:pPr>
            <a:r>
              <a:rPr sz="1550" b="0" i="0">
                <a:solidFill>
                  <a:srgbClr val="595959"/>
                </a:solidFill>
                <a:latin typeface="Arial"/>
              </a:rPr>
              <a:t>For example: get a learner's record.</a:t>
            </a:r>
          </a:p>
        </p:txBody>
      </p:sp>
      <p:sp>
        <p:nvSpPr>
          <p:cNvPr id="6" name="Rectangle 5"/>
          <p:cNvSpPr/>
          <p:nvPr/>
        </p:nvSpPr>
        <p:spPr>
          <a:xfrm>
            <a:off x="621792" y="22448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3317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86000"/>
            <a:ext cx="10527487" cy="777240"/>
          </a:xfrm>
          <a:prstGeom prst="rect">
            <a:avLst/>
          </a:prstGeom>
          <a:noFill/>
        </p:spPr>
        <p:txBody>
          <a:bodyPr wrap="square">
            <a:spAutoFit/>
          </a:bodyPr>
          <a:lstStyle/>
          <a:p>
            <a:pPr>
              <a:spcAft>
                <a:spcPts val="300"/>
              </a:spcAft>
            </a:pPr>
            <a:r>
              <a:rPr sz="1900" b="1" i="0">
                <a:solidFill>
                  <a:srgbClr val="1A1A1A"/>
                </a:solidFill>
                <a:latin typeface="Arial"/>
              </a:rPr>
              <a:t>The inputs</a:t>
            </a:r>
          </a:p>
          <a:p>
            <a:pPr>
              <a:spcAft>
                <a:spcPts val="300"/>
              </a:spcAft>
            </a:pPr>
            <a:r>
              <a:rPr sz="1550" b="0" i="0">
                <a:solidFill>
                  <a:srgbClr val="595959"/>
                </a:solidFill>
                <a:latin typeface="Arial"/>
              </a:rPr>
              <a:t>The identifier and parameters.</a:t>
            </a:r>
          </a:p>
        </p:txBody>
      </p:sp>
      <p:sp>
        <p:nvSpPr>
          <p:cNvPr id="9" name="Rectangle 8"/>
          <p:cNvSpPr/>
          <p:nvPr/>
        </p:nvSpPr>
        <p:spPr>
          <a:xfrm>
            <a:off x="621792" y="30678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1546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108960"/>
            <a:ext cx="10527487" cy="777240"/>
          </a:xfrm>
          <a:prstGeom prst="rect">
            <a:avLst/>
          </a:prstGeom>
          <a:noFill/>
        </p:spPr>
        <p:txBody>
          <a:bodyPr wrap="square">
            <a:spAutoFit/>
          </a:bodyPr>
          <a:lstStyle/>
          <a:p>
            <a:pPr>
              <a:spcAft>
                <a:spcPts val="300"/>
              </a:spcAft>
            </a:pPr>
            <a:r>
              <a:rPr sz="1900" b="1" i="0">
                <a:solidFill>
                  <a:srgbClr val="1A1A1A"/>
                </a:solidFill>
                <a:latin typeface="Arial"/>
              </a:rPr>
              <a:t>The outputs</a:t>
            </a:r>
          </a:p>
          <a:p>
            <a:pPr>
              <a:spcAft>
                <a:spcPts val="300"/>
              </a:spcAft>
            </a:pPr>
            <a:r>
              <a:rPr sz="1550" b="0" i="0">
                <a:solidFill>
                  <a:srgbClr val="595959"/>
                </a:solidFill>
                <a:latin typeface="Arial"/>
              </a:rPr>
              <a:t>The fields — taken straight from the semantic map.</a:t>
            </a:r>
          </a:p>
        </p:txBody>
      </p:sp>
      <p:sp>
        <p:nvSpPr>
          <p:cNvPr id="12" name="Rectangle 11"/>
          <p:cNvSpPr/>
          <p:nvPr/>
        </p:nvSpPr>
        <p:spPr>
          <a:xfrm>
            <a:off x="621792" y="3890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9776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931920"/>
            <a:ext cx="10527487" cy="777240"/>
          </a:xfrm>
          <a:prstGeom prst="rect">
            <a:avLst/>
          </a:prstGeom>
          <a:noFill/>
        </p:spPr>
        <p:txBody>
          <a:bodyPr wrap="square">
            <a:spAutoFit/>
          </a:bodyPr>
          <a:lstStyle/>
          <a:p>
            <a:pPr>
              <a:spcAft>
                <a:spcPts val="300"/>
              </a:spcAft>
            </a:pPr>
            <a:r>
              <a:rPr sz="1900" b="1" i="0">
                <a:solidFill>
                  <a:srgbClr val="1A1A1A"/>
                </a:solidFill>
                <a:latin typeface="Arial"/>
              </a:rPr>
              <a:t>The errors</a:t>
            </a:r>
          </a:p>
          <a:p>
            <a:pPr>
              <a:spcAft>
                <a:spcPts val="300"/>
              </a:spcAft>
            </a:pPr>
            <a:r>
              <a:rPr sz="1550" b="0" i="0">
                <a:solidFill>
                  <a:srgbClr val="595959"/>
                </a:solidFill>
                <a:latin typeface="Arial"/>
              </a:rPr>
              <a:t>What it can return when something goes wrong.</a:t>
            </a:r>
          </a:p>
        </p:txBody>
      </p:sp>
      <p:sp>
        <p:nvSpPr>
          <p:cNvPr id="15" name="Rectangle 14"/>
          <p:cNvSpPr/>
          <p:nvPr/>
        </p:nvSpPr>
        <p:spPr>
          <a:xfrm>
            <a:off x="621792" y="4713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800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754880"/>
            <a:ext cx="10527487" cy="777240"/>
          </a:xfrm>
          <a:prstGeom prst="rect">
            <a:avLst/>
          </a:prstGeom>
          <a:noFill/>
        </p:spPr>
        <p:txBody>
          <a:bodyPr wrap="square">
            <a:spAutoFit/>
          </a:bodyPr>
          <a:lstStyle/>
          <a:p>
            <a:pPr>
              <a:spcAft>
                <a:spcPts val="300"/>
              </a:spcAft>
            </a:pPr>
            <a:r>
              <a:rPr sz="1900" b="1" i="0">
                <a:solidFill>
                  <a:srgbClr val="1A1A1A"/>
                </a:solidFill>
                <a:latin typeface="Arial"/>
              </a:rPr>
              <a:t>The security</a:t>
            </a:r>
          </a:p>
          <a:p>
            <a:pPr>
              <a:spcAft>
                <a:spcPts val="300"/>
              </a:spcAft>
            </a:pPr>
            <a:r>
              <a:rPr sz="1550" b="0" i="0">
                <a:solidFill>
                  <a:srgbClr val="595959"/>
                </a:solidFill>
                <a:latin typeface="Arial"/>
              </a:rPr>
              <a:t>OAuth 2.x / OpenID Connect.</a:t>
            </a:r>
          </a:p>
        </p:txBody>
      </p:sp>
      <p:sp>
        <p:nvSpPr>
          <p:cNvPr id="18" name="TextBox 17"/>
          <p:cNvSpPr txBox="1"/>
          <p:nvPr/>
        </p:nvSpPr>
        <p:spPr>
          <a:xfrm>
            <a:off x="658368" y="5687568"/>
            <a:ext cx="10881360" cy="548640"/>
          </a:xfrm>
          <a:prstGeom prst="rect">
            <a:avLst/>
          </a:prstGeom>
          <a:noFill/>
        </p:spPr>
        <p:txBody>
          <a:bodyPr wrap="square">
            <a:spAutoFit/>
          </a:bodyPr>
          <a:lstStyle/>
          <a:p>
            <a:r>
              <a:rPr sz="1550" b="1" i="0">
                <a:solidFill>
                  <a:srgbClr val="006E96"/>
                </a:solidFill>
                <a:latin typeface="Arial"/>
              </a:rPr>
              <a:t>A consumer reads it and can call the service without a single meeting.</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Generate a service contract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Generate the contract, then confirm every field</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AI PROMPT DRAFTS</a:t>
            </a:r>
          </a:p>
          <a:p>
            <a:pPr>
              <a:spcAft>
                <a:spcPts val="700"/>
              </a:spcAft>
            </a:pPr>
            <a:r>
              <a:rPr sz="1600" b="0" i="0">
                <a:solidFill>
                  <a:srgbClr val="1A1A1A"/>
                </a:solidFill>
                <a:latin typeface="Arial"/>
              </a:rPr>
              <a:t>From the service brief and the semantic map:</a:t>
            </a:r>
          </a:p>
          <a:p>
            <a:pPr>
              <a:spcAft>
                <a:spcPts val="700"/>
              </a:spcAft>
            </a:pPr>
            <a:r>
              <a:rPr sz="1600" b="0" i="0">
                <a:solidFill>
                  <a:srgbClr val="1A1A1A"/>
                </a:solidFill>
                <a:latin typeface="Arial"/>
              </a:rPr>
              <a:t>the paths, the request and response shapes, the errors, the security scheme.</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YOU CONFIRM</a:t>
            </a:r>
          </a:p>
          <a:p>
            <a:pPr>
              <a:spcAft>
                <a:spcPts val="700"/>
              </a:spcAft>
            </a:pPr>
            <a:r>
              <a:rPr sz="1600" b="0" i="0">
                <a:solidFill>
                  <a:srgbClr val="1A1A1A"/>
                </a:solidFill>
                <a:latin typeface="Arial"/>
              </a:rPr>
              <a:t>Every endpoint, field name and type —</a:t>
            </a:r>
          </a:p>
          <a:p>
            <a:pPr>
              <a:spcAft>
                <a:spcPts val="700"/>
              </a:spcAft>
            </a:pPr>
            <a:r>
              <a:rPr sz="1600" b="0" i="0">
                <a:solidFill>
                  <a:srgbClr val="1A1A1A"/>
                </a:solidFill>
                <a:latin typeface="Arial"/>
              </a:rPr>
              <a:t>against what the provider system actually exposes.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A contract naming a field the provider does not return fails at the first real call.</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Generate a service contract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contract, two forms — generate the first, derive the second</a:t>
            </a:r>
          </a:p>
        </p:txBody>
      </p:sp>
      <p:cxnSp>
        <p:nvCxnSpPr>
          <p:cNvPr id="4" name="Connector 3"/>
          <p:cNvCxnSpPr/>
          <p:nvPr/>
        </p:nvCxnSpPr>
        <p:spPr>
          <a:xfrm>
            <a:off x="5550408" y="3108960"/>
            <a:ext cx="1097280" cy="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04688" y="2606039"/>
            <a:ext cx="1188720" cy="365760"/>
          </a:xfrm>
          <a:prstGeom prst="rect">
            <a:avLst/>
          </a:prstGeom>
          <a:noFill/>
        </p:spPr>
        <p:txBody>
          <a:bodyPr wrap="square" lIns="36576" rIns="36576" tIns="0" bIns="0" anchor="ctr">
            <a:spAutoFit/>
          </a:bodyPr>
          <a:lstStyle/>
          <a:p>
            <a:pPr algn="ctr"/>
            <a:r>
              <a:rPr sz="1300" b="1" i="0">
                <a:solidFill>
                  <a:srgbClr val="006E96"/>
                </a:solidFill>
                <a:latin typeface="Arial"/>
              </a:rPr>
              <a:t>derive</a:t>
            </a:r>
          </a:p>
        </p:txBody>
      </p:sp>
      <p:sp>
        <p:nvSpPr>
          <p:cNvPr id="6" name="Rounded Rectangle 5"/>
          <p:cNvSpPr/>
          <p:nvPr/>
        </p:nvSpPr>
        <p:spPr>
          <a:xfrm>
            <a:off x="658368" y="1737360"/>
            <a:ext cx="4754880" cy="2743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000" b="1" i="0">
                <a:solidFill>
                  <a:srgbClr val="006E96"/>
                </a:solidFill>
                <a:latin typeface="Arial"/>
              </a:rPr>
              <a:t>OPENAPI CONTRACT</a:t>
            </a:r>
          </a:p>
          <a:p>
            <a:pPr algn="l">
              <a:spcAft>
                <a:spcPts val="300"/>
              </a:spcAft>
            </a:pPr>
            <a:r>
              <a:rPr sz="1900" b="0" i="0">
                <a:solidFill>
                  <a:srgbClr val="1A1A1A"/>
                </a:solidFill>
                <a:latin typeface="Arial"/>
              </a:rPr>
              <a:t>For humans and tools to read.</a:t>
            </a:r>
          </a:p>
          <a:p>
            <a:pPr algn="l">
              <a:spcAft>
                <a:spcPts val="300"/>
              </a:spcAft>
            </a:pPr>
            <a:r>
              <a:rPr sz="1900" b="0" i="0">
                <a:solidFill>
                  <a:srgbClr val="1A1A1A"/>
                </a:solidFill>
                <a:latin typeface="Arial"/>
              </a:rPr>
              <a:t>You generate this.</a:t>
            </a:r>
          </a:p>
        </p:txBody>
      </p:sp>
      <p:sp>
        <p:nvSpPr>
          <p:cNvPr id="7" name="Rounded Rectangle 6"/>
          <p:cNvSpPr/>
          <p:nvPr/>
        </p:nvSpPr>
        <p:spPr>
          <a:xfrm>
            <a:off x="6784848" y="1737360"/>
            <a:ext cx="4754880" cy="27432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000" b="1" i="0">
                <a:solidFill>
                  <a:srgbClr val="FFFFFF"/>
                </a:solidFill>
                <a:latin typeface="Arial"/>
              </a:rPr>
              <a:t>X-ROAD SERVICE DESCRIPTION</a:t>
            </a:r>
          </a:p>
          <a:p>
            <a:pPr algn="l">
              <a:spcAft>
                <a:spcPts val="300"/>
              </a:spcAft>
            </a:pPr>
            <a:r>
              <a:rPr sz="1900" b="0" i="0">
                <a:solidFill>
                  <a:srgbClr val="FFFFFF"/>
                </a:solidFill>
                <a:latin typeface="Arial"/>
              </a:rPr>
              <a:t>For the bus to register the service and route a call.</a:t>
            </a:r>
          </a:p>
          <a:p>
            <a:pPr algn="l">
              <a:spcAft>
                <a:spcPts val="300"/>
              </a:spcAft>
            </a:pPr>
            <a:r>
              <a:rPr sz="1900" b="0" i="0">
                <a:solidFill>
                  <a:srgbClr val="FFFFFF"/>
                </a:solidFill>
                <a:latin typeface="Arial"/>
              </a:rPr>
              <a:t>You derive this.</a:t>
            </a:r>
          </a:p>
        </p:txBody>
      </p:sp>
      <p:sp>
        <p:nvSpPr>
          <p:cNvPr id="8" name="TextBox 7"/>
          <p:cNvSpPr txBox="1"/>
          <p:nvPr/>
        </p:nvSpPr>
        <p:spPr>
          <a:xfrm>
            <a:off x="658368" y="4800600"/>
            <a:ext cx="10881360" cy="548640"/>
          </a:xfrm>
          <a:prstGeom prst="rect">
            <a:avLst/>
          </a:prstGeom>
          <a:noFill/>
        </p:spPr>
        <p:txBody>
          <a:bodyPr wrap="square">
            <a:spAutoFit/>
          </a:bodyPr>
          <a:lstStyle/>
          <a:p>
            <a:r>
              <a:rPr sz="1550" b="1" i="0">
                <a:solidFill>
                  <a:srgbClr val="006E96"/>
                </a:solidFill>
                <a:latin typeface="Arial"/>
              </a:rPr>
              <a:t>The core move of this knowledge product: configuration that puts a real service on the bus.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Generate a service contract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contract is executable configuration, not a diagram</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It is what the consumer's code calls and what the bus routes.</a:t>
            </a:r>
          </a:p>
          <a:p>
            <a:pPr>
              <a:spcAft>
                <a:spcPts val="1200"/>
              </a:spcAft>
            </a:pPr>
            <a:r>
              <a:rPr sz="2000" b="0" i="0">
                <a:solidFill>
                  <a:srgbClr val="1A1A1A"/>
                </a:solidFill>
                <a:latin typeface="Arial"/>
              </a:rPr>
              <a:t>Semantic map plus service contract: the agreed meaning and the callable interface for one exchange.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Real output in the build pack — not a picture of output.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Generate a service contract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OpenAPI contract is the service made callable — generated from the brief and the semantic map, confirmed, and turned into an X-Road service description.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an OpenAPI service contract.</a:t>
            </a:r>
          </a:p>
          <a:p>
            <a:pPr algn="l">
              <a:spcAft>
                <a:spcPts val="400"/>
              </a:spcAft>
            </a:pPr>
            <a:r>
              <a:rPr sz="1800" b="0" i="0">
                <a:solidFill>
                  <a:srgbClr val="595959"/>
                </a:solidFill>
                <a:latin typeface="Arial"/>
              </a:rPr>
              <a:t>The prompt in the companion material gives you an OpenAPI 3.x contract with [confirm] placeholders, plus X-Road service-description notes.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Generate a service contract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OpenAPI 3.x specification</a:t>
            </a:r>
          </a:p>
          <a:p>
            <a:pPr>
              <a:spcAft>
                <a:spcPts val="1200"/>
              </a:spcAft>
            </a:pPr>
            <a:r>
              <a:rPr sz="1700" b="0" i="0">
                <a:solidFill>
                  <a:srgbClr val="1A1A1A"/>
                </a:solidFill>
                <a:latin typeface="Arial"/>
              </a:rPr>
              <a:t>•  OAuth 2.x / OpenID Connect</a:t>
            </a:r>
          </a:p>
          <a:p>
            <a:pPr>
              <a:spcAft>
                <a:spcPts val="1200"/>
              </a:spcAft>
            </a:pPr>
            <a:r>
              <a:rPr sz="1700" b="0" i="0">
                <a:solidFill>
                  <a:srgbClr val="1A1A1A"/>
                </a:solidFill>
                <a:latin typeface="Arial"/>
              </a:rPr>
              <a:t>•  NIIS X-Road service description (niis.org)</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Generate a service contract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