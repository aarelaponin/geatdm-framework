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53" r:id="rId75"/>
    <p:sldId id="2754" r:id="rId76"/>
    <p:sldId id="2755" r:id="rId77"/>
    <p:sldId id="2756" r:id="rId78"/>
    <p:sldId id="2757" r:id="rId79"/>
    <p:sldId id="2758" r:id="rId80"/>
    <p:sldId id="2759" r:id="rId8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75" Type="http://schemas.openxmlformats.org/officeDocument/2006/relationships/slide" Target="slides/slide60.xml"/><Relationship Id="rId76" Type="http://schemas.openxmlformats.org/officeDocument/2006/relationships/slide" Target="slides/slide61.xml"/><Relationship Id="rId77" Type="http://schemas.openxmlformats.org/officeDocument/2006/relationships/slide" Target="slides/slide62.xml"/><Relationship Id="rId78" Type="http://schemas.openxmlformats.org/officeDocument/2006/relationships/slide" Target="slides/slide63.xml"/><Relationship Id="rId79" Type="http://schemas.openxmlformats.org/officeDocument/2006/relationships/slide" Target="slides/slide64.xml"/><Relationship Id="rId80" Type="http://schemas.openxmlformats.org/officeDocument/2006/relationships/slide" Target="slides/slide65.xml"/><Relationship Id="rId81" Type="http://schemas.openxmlformats.org/officeDocument/2006/relationships/slide" Target="slides/slide6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service can be perfectly wired and perfectly secured and still must not be switched on, because technical capability is not lawful authority. The last thing the architect checks for an exchange is its data-protection envelope — the agreements and safeguards that make moving this data lawful, not merely possible. This is where the technical work you have done meets the legal and organisational layers built earlier in this knowledge product.</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envelope has three parts. A lawful basis, which comes from the decree you drafted in the legal module — the exchange must be one the decree actually authorises. A bilateral agreement — a Letter of Interest between the two agencies, the practical record that they agree to this specific exchange, on these terms. And the data-protection safeguards — that the exchange uses only the data it needs, for the stated purpose, with consent where required, and a clear retention rule. Technical capability plus these three is what makes an exchange lawful.</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architect's specific job is data protection by design — building the safeguards into the configuration rather than bolting them on after. Minimisation lives in the OpenAPI contract: the service returns only the fields the purpose needs, not the whole record. The purpose and the access-control list match: only the agencies with a lawful purpose can call the service. And retention and logging are configured, not merely promised in a policy. Built this way, the safeguards are part of the configuration the demonstration runs, not a document filed somewhere separate from the system.</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is where the three layers meet on a single exchange. The decree, the legal layer, authorises it. The member agreement and the access-control list, the organisational layer, record who may do it. The contract, the security and the minimisation, the technical layer, carry it out within the envelope. An exchange is ready only when all three line up — and that is the architect's final check before a service goes live. It is also why the data-protection officer signs off, not the architect alone: the envelope is a shared responsibility, by design. This is also where the framework's most important quiet rule lives: joining the bus never, by itself, grants access to anything. Membership buys the secure channel and the trust. The right to read a specific dataset stays with the provider, who grants it per service — the Letter of Interest is that grant, and the access-control list is its technical shadow. An agency with valid certificates and a working connection still has access to nothing until a data owner says so.</a:t>
            </a:r>
          </a:p>
          <a:p/>
          <a:p>
            <a:r>
              <a:t>Production cue: the pivotal slide of this video and the module's one full-colour block.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data-protection envelope is the final layer on a real exchange. A lawful basis from the decree, a Letter of Interest between the agencies, and data protection built into the configuration by design. With the technical work inside that envelope, an exchange is not just possible — it is lawful, and ready to go live. That completes the architecture module: meaning, contract, security, wiring, and the envelope that makes it all lawful.</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6.xml"/></Relationships>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4.8</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4.8</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Make the exchange lawful — the data-protection envelope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Letters of Interest plus a data-protection envelope make a real exchange lawful as well as technically possible.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Perfectly wired, perfectly secured — and still not allowed to go live.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Technical capability is not lawful authority.</a:t>
            </a:r>
          </a:p>
          <a:p>
            <a:pPr>
              <a:spcAft>
                <a:spcPts val="800"/>
              </a:spcAft>
            </a:pPr>
            <a:r>
              <a:rPr sz="1700" b="0" i="0">
                <a:solidFill>
                  <a:srgbClr val="595959"/>
                </a:solidFill>
                <a:latin typeface="Arial"/>
              </a:rPr>
              <a:t>The last check is the data-protection envelope.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4.8 · Make the exchange lawful — the data-protection envelope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things make an exchange lawful, not merely possible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A lawful basis</a:t>
            </a:r>
          </a:p>
          <a:p>
            <a:pPr>
              <a:spcAft>
                <a:spcPts val="300"/>
              </a:spcAft>
            </a:pPr>
            <a:r>
              <a:rPr sz="1550" b="0" i="0">
                <a:solidFill>
                  <a:srgbClr val="595959"/>
                </a:solidFill>
                <a:latin typeface="Arial"/>
              </a:rPr>
              <a:t>From the decree — the exchange must be one the decree authorises.</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A bilateral Letter of Interest</a:t>
            </a:r>
          </a:p>
          <a:p>
            <a:pPr>
              <a:spcAft>
                <a:spcPts val="300"/>
              </a:spcAft>
            </a:pPr>
            <a:r>
              <a:rPr sz="1550" b="0" i="0">
                <a:solidFill>
                  <a:srgbClr val="595959"/>
                </a:solidFill>
                <a:latin typeface="Arial"/>
              </a:rPr>
              <a:t>The two agencies agree to this specific exchange, on these terms.</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Data-protection safeguards</a:t>
            </a:r>
          </a:p>
          <a:p>
            <a:pPr>
              <a:spcAft>
                <a:spcPts val="300"/>
              </a:spcAft>
            </a:pPr>
            <a:r>
              <a:rPr sz="1550" b="0" i="0">
                <a:solidFill>
                  <a:srgbClr val="595959"/>
                </a:solidFill>
                <a:latin typeface="Arial"/>
              </a:rPr>
              <a:t>Minimisation, purpose, consent where needed, retention.</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Technical capability, plus these three.</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4.8 · Make the exchange lawful — the data-protection envelope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Data protection by design lives in the configuration</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Minimisation is in the contract</a:t>
            </a:r>
          </a:p>
          <a:p>
            <a:pPr>
              <a:spcAft>
                <a:spcPts val="300"/>
              </a:spcAft>
            </a:pPr>
            <a:r>
              <a:rPr sz="1550" b="0" i="0">
                <a:solidFill>
                  <a:srgbClr val="595959"/>
                </a:solidFill>
                <a:latin typeface="Arial"/>
              </a:rPr>
              <a:t>The service returns only the fields the purpose needs.</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Purpose matches the access-control list</a:t>
            </a:r>
          </a:p>
          <a:p>
            <a:pPr>
              <a:spcAft>
                <a:spcPts val="300"/>
              </a:spcAft>
            </a:pPr>
            <a:r>
              <a:rPr sz="1550" b="0" i="0">
                <a:solidFill>
                  <a:srgbClr val="595959"/>
                </a:solidFill>
                <a:latin typeface="Arial"/>
              </a:rPr>
              <a:t>Only agencies with a lawful purpose can call.</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Retention and logging are configured</a:t>
            </a:r>
          </a:p>
          <a:p>
            <a:pPr>
              <a:spcAft>
                <a:spcPts val="300"/>
              </a:spcAft>
            </a:pPr>
            <a:r>
              <a:rPr sz="1550" b="0" i="0">
                <a:solidFill>
                  <a:srgbClr val="595959"/>
                </a:solidFill>
                <a:latin typeface="Arial"/>
              </a:rPr>
              <a:t>Not merely promised in a policy.</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Part of what the demonstration runs — not a document filed somewhere else.</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4.8 · Make the exchange lawful — the data-protection envelope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An exchange is ready only when all three layers line up</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Legal: the decree authorises it. Organisational: the member agreement and access-control list record who may do it. Technical: the contract, security and minimisation carry it out.</a:t>
            </a:r>
          </a:p>
          <a:p>
            <a:pPr>
              <a:spcAft>
                <a:spcPts val="1200"/>
              </a:spcAft>
            </a:pPr>
            <a:r>
              <a:rPr sz="2000" b="0" i="0">
                <a:solidFill>
                  <a:srgbClr val="1A1A1A"/>
                </a:solidFill>
                <a:latin typeface="Arial"/>
              </a:rPr>
              <a:t>The data-protection officer signs off — not the architect alone.</a:t>
            </a:r>
          </a:p>
        </p:txBody>
      </p:sp>
      <p:sp>
        <p:nvSpPr>
          <p:cNvPr id="5" name="Rounded Rectangle 4"/>
          <p:cNvSpPr/>
          <p:nvPr/>
        </p:nvSpPr>
        <p:spPr>
          <a:xfrm>
            <a:off x="658368" y="4434840"/>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FFFFFF"/>
                </a:solidFill>
                <a:latin typeface="Arial"/>
              </a:rPr>
              <a:t>Joining the bus never, by itself, grants access to any data.</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4.8 · Make the exchange lawful — the data-protection envelope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lawful basis, a Letter of Interest, and data protection by design — the envelope that makes a wired exchange a lawful one. Membership is never access.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data-protection envelope for an exchange.</a:t>
            </a:r>
          </a:p>
          <a:p>
            <a:pPr algn="l">
              <a:spcAft>
                <a:spcPts val="400"/>
              </a:spcAft>
            </a:pPr>
            <a:r>
              <a:rPr sz="1800" b="0" i="0">
                <a:solidFill>
                  <a:srgbClr val="595959"/>
                </a:solidFill>
                <a:latin typeface="Arial"/>
              </a:rPr>
              <a:t>The prompt in the companion material gives you a lawful-basis finding, a draft Letter of Interest, and a data-protection-by-design checklist.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4.8 · Make the exchange lawful — the data-protection envelope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ITU DPI Safeguards — data-protection guidance</a:t>
            </a:r>
          </a:p>
          <a:p>
            <a:pPr>
              <a:spcAft>
                <a:spcPts val="1200"/>
              </a:spcAft>
            </a:pPr>
            <a:r>
              <a:rPr sz="1700" b="0" i="0">
                <a:solidFill>
                  <a:srgbClr val="1A1A1A"/>
                </a:solidFill>
                <a:latin typeface="Arial"/>
              </a:rPr>
              <a:t>•  Bilateral Letters of Interest</a:t>
            </a:r>
          </a:p>
          <a:p>
            <a:pPr>
              <a:spcAft>
                <a:spcPts val="1200"/>
              </a:spcAft>
            </a:pPr>
            <a:r>
              <a:rPr sz="1700" b="0" i="0">
                <a:solidFill>
                  <a:srgbClr val="1A1A1A"/>
                </a:solidFill>
                <a:latin typeface="Arial"/>
              </a:rPr>
              <a:t>•  The interoperability decree — Module 2 (the lawful basis)</a:t>
            </a:r>
          </a:p>
          <a:p>
            <a:pPr>
              <a:spcAft>
                <a:spcPts val="1200"/>
              </a:spcAft>
            </a:pPr>
            <a:r>
              <a:rPr sz="1700" b="0" i="0">
                <a:solidFill>
                  <a:srgbClr val="1A1A1A"/>
                </a:solidFill>
                <a:latin typeface="Arial"/>
              </a:rPr>
              <a:t>•  EU European Interoperability Framework — legal layer</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4.8 · Make the exchange lawful — the data-protection envelope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