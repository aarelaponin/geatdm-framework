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Security on an interoperability bus is not one wall around everything. It is zones, and the security a call needs depends on which zone boundaries it crosses. The X-Road trust model uses three zones. Once you know them, you can look at any exchange and state, precisely, what protects it — which is exactly the conversation a security reviewer or a data-protection officer will want to have with you.</a:t>
            </a:r>
          </a:p>
          <a:p/>
          <a:p>
            <a:r>
              <a:t>Retrieval prompt — ask before playing on: a call from the examination authority to the identity authority — which zones does it cross, and what protects each crossing? Answer on the trace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three zones. Public — the open internet, where nothing is trusted by default. Member-Internal — inside an agency's own network, where that agency trusts its own systems. And the Trust-Anchor — the certification authority that everyone in the federation trusts to vouch for who is who. A message from one agency to another starts in one member's internal zone, crosses the public zone, and arrives in another member's internal zone — with the Trust-Anchor underwriting the identities at both ends.</a:t>
            </a:r>
          </a:p>
          <a:p/>
          <a:p>
            <a:r>
              <a:t>Production cue: the structural picture of this video. Reveal the three zones left to right; the Trust-Anchor band is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security falls out of the zones. When a message crosses the public zone between two security servers, it is protected by mutual TLS — meaning both sides present a certificate and prove who they are, not just one side as on an ordinary website. The message itself is signed and logged using the X-Road message protocol, so it cannot be forged, and neither side can later deny sending or receiving it. And the Trust-Anchor — the certification authority — issues those certificates and can revoke a compromised one, which is precisely how a misbehaving member gets cut off from the bus. And one more thing the security server does that is easy to overlook: every call is logged with its correlation identifier, sender, recipient, service and signature, and the log itself is timestamped and signed at intervals so it cannot be quietly altered. That tamper-evident log is not an operations nicety. It is the evidence base of the legal layer — the record a court, an auditor or a data-protection authority reads when an exchange is challenged. The decree can make an electronic exchange legally binding only because this log exists.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device makes this practical: the security server, which sits at each member's edge and carries the trust burden. It is the member's gateway into the federation — it holds the certificates, does the mutual TLS, signs and logs the messages. The member's own systems stay safely in their internal zone and never face the public zone directly. That separation is exactly what lets a cautious agency join the bus without exposing its internal systems to the open internet — which is often the deciding factor in whether an agency will join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skill to take away is tracing any planned exchange across the zones and reading off its requirements. A call from the examination authority to the identity authority crosses from one internal zone, through the public zone, to another internal zone — so it needs mutual TLS between the two security servers, a signed and logged message, and valid certificates from the Trust-Anchor at both ends. Say exactly that, and you have specified the security of the exchange in terms any reviewer will accept.</a:t>
            </a:r>
          </a:p>
          <a:p/>
          <a:p>
            <a:r>
              <a:t>Production cue: the pivotal slide of this video, and it answers the retrieval prompt set on the opener.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security on the bus is zoned, not uniform. Three zones — public, member-internal, trust-anchor. The security server carries the trust burden at each member's edge. And the discipline is to trace each exchange across the zones, because that is what turns 'is it secure?' from a worried question into a specified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Secure every call — the three trust zones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Public, Member-Internal, Trust-Anchor — knowing which zone a call crosses tells you exactly what security it needs.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Security on the bus is not one wall around everything.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is zones — a call needs the security of the boundaries it crosses.</a:t>
            </a:r>
          </a:p>
          <a:p>
            <a:pPr>
              <a:spcAft>
                <a:spcPts val="800"/>
              </a:spcAft>
            </a:pPr>
            <a:r>
              <a:rPr sz="1700" b="0" i="0">
                <a:solidFill>
                  <a:srgbClr val="595959"/>
                </a:solidFill>
                <a:latin typeface="Arial"/>
              </a:rPr>
              <a:t>Know the zones, and you can state precisely what protects any exchange.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trust zones — and every message crosses them</a:t>
            </a:r>
          </a:p>
        </p:txBody>
      </p:sp>
      <p:sp>
        <p:nvSpPr>
          <p:cNvPr id="4" name="Rounded Rectangle 3"/>
          <p:cNvSpPr/>
          <p:nvPr/>
        </p:nvSpPr>
        <p:spPr>
          <a:xfrm>
            <a:off x="658368" y="1508760"/>
            <a:ext cx="10881360" cy="868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TRUST-ANCHOR</a:t>
            </a:r>
          </a:p>
          <a:p>
            <a:pPr algn="l">
              <a:spcAft>
                <a:spcPts val="300"/>
              </a:spcAft>
            </a:pPr>
            <a:r>
              <a:rPr sz="1500" b="0" i="0">
                <a:solidFill>
                  <a:srgbClr val="FFFFFF"/>
                </a:solidFill>
                <a:latin typeface="Arial"/>
              </a:rPr>
              <a:t>The certification authority everyone in the federation trusts to vouch for who is who.</a:t>
            </a:r>
          </a:p>
        </p:txBody>
      </p:sp>
      <p:cxnSp>
        <p:nvCxnSpPr>
          <p:cNvPr id="5" name="Connector 4"/>
          <p:cNvCxnSpPr/>
          <p:nvPr/>
        </p:nvCxnSpPr>
        <p:spPr>
          <a:xfrm>
            <a:off x="4078224" y="4000500"/>
            <a:ext cx="29260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827264" y="4000500"/>
            <a:ext cx="29260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2697480"/>
            <a:ext cx="3383280" cy="2606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MEMBER-INTERNAL</a:t>
            </a:r>
          </a:p>
          <a:p>
            <a:pPr algn="l">
              <a:spcAft>
                <a:spcPts val="300"/>
              </a:spcAft>
            </a:pPr>
            <a:r>
              <a:rPr sz="1600" b="0" i="0">
                <a:solidFill>
                  <a:srgbClr val="1A1A1A"/>
                </a:solidFill>
                <a:latin typeface="Arial"/>
              </a:rPr>
              <a:t>The calling agency's own network.</a:t>
            </a:r>
          </a:p>
          <a:p>
            <a:pPr algn="l">
              <a:spcAft>
                <a:spcPts val="300"/>
              </a:spcAft>
            </a:pPr>
            <a:r>
              <a:rPr sz="1600" b="0" i="0">
                <a:solidFill>
                  <a:srgbClr val="1A1A1A"/>
                </a:solidFill>
                <a:latin typeface="Arial"/>
              </a:rPr>
              <a:t>Trusted by that agency.</a:t>
            </a:r>
          </a:p>
        </p:txBody>
      </p:sp>
      <p:sp>
        <p:nvSpPr>
          <p:cNvPr id="8" name="Rounded Rectangle 7"/>
          <p:cNvSpPr/>
          <p:nvPr/>
        </p:nvSpPr>
        <p:spPr>
          <a:xfrm>
            <a:off x="4407408" y="2697480"/>
            <a:ext cx="3383280" cy="2606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PUBLIC</a:t>
            </a:r>
          </a:p>
          <a:p>
            <a:pPr algn="l">
              <a:spcAft>
                <a:spcPts val="300"/>
              </a:spcAft>
            </a:pPr>
            <a:r>
              <a:rPr sz="1600" b="0" i="0">
                <a:solidFill>
                  <a:srgbClr val="1A1A1A"/>
                </a:solidFill>
                <a:latin typeface="Arial"/>
              </a:rPr>
              <a:t>The open internet.</a:t>
            </a:r>
          </a:p>
          <a:p>
            <a:pPr algn="l">
              <a:spcAft>
                <a:spcPts val="300"/>
              </a:spcAft>
            </a:pPr>
            <a:r>
              <a:rPr sz="1600" b="0" i="0">
                <a:solidFill>
                  <a:srgbClr val="1A1A1A"/>
                </a:solidFill>
                <a:latin typeface="Arial"/>
              </a:rPr>
              <a:t>Nothing trusted by default.</a:t>
            </a:r>
          </a:p>
        </p:txBody>
      </p:sp>
      <p:sp>
        <p:nvSpPr>
          <p:cNvPr id="9" name="Rounded Rectangle 8"/>
          <p:cNvSpPr/>
          <p:nvPr/>
        </p:nvSpPr>
        <p:spPr>
          <a:xfrm>
            <a:off x="8156448" y="2697480"/>
            <a:ext cx="3383280" cy="2606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MEMBER-INTERNAL</a:t>
            </a:r>
          </a:p>
          <a:p>
            <a:pPr algn="l">
              <a:spcAft>
                <a:spcPts val="300"/>
              </a:spcAft>
            </a:pPr>
            <a:r>
              <a:rPr sz="1600" b="0" i="0">
                <a:solidFill>
                  <a:srgbClr val="1A1A1A"/>
                </a:solidFill>
                <a:latin typeface="Arial"/>
              </a:rPr>
              <a:t>The providing agency's own network.</a:t>
            </a:r>
          </a:p>
          <a:p>
            <a:pPr algn="l">
              <a:spcAft>
                <a:spcPts val="300"/>
              </a:spcAft>
            </a:pPr>
            <a:r>
              <a:rPr sz="1600" b="0" i="0">
                <a:solidFill>
                  <a:srgbClr val="1A1A1A"/>
                </a:solidFill>
                <a:latin typeface="Arial"/>
              </a:rPr>
              <a:t>Trusted by that agency.</a:t>
            </a:r>
          </a:p>
        </p:txBody>
      </p:sp>
      <p:sp>
        <p:nvSpPr>
          <p:cNvPr id="10" name="TextBox 9"/>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The message starts in one internal zone, crosses the public zone, and arrives in another.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security falls out of the zones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Between security servers: mutual TLS</a:t>
            </a:r>
          </a:p>
          <a:p>
            <a:pPr>
              <a:spcAft>
                <a:spcPts val="300"/>
              </a:spcAft>
            </a:pPr>
            <a:r>
              <a:rPr sz="1550" b="0" i="0">
                <a:solidFill>
                  <a:srgbClr val="595959"/>
                </a:solidFill>
                <a:latin typeface="Arial"/>
              </a:rPr>
              <a:t>Both sides present a certificate and prove who they are.</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message is signed and logged</a:t>
            </a:r>
          </a:p>
          <a:p>
            <a:pPr>
              <a:spcAft>
                <a:spcPts val="300"/>
              </a:spcAft>
            </a:pPr>
            <a:r>
              <a:rPr sz="1550" b="0" i="0">
                <a:solidFill>
                  <a:srgbClr val="595959"/>
                </a:solidFill>
                <a:latin typeface="Arial"/>
              </a:rPr>
              <a:t>The X-Road message protocol — it cannot be forged or denied.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Trust-Anchor issues and revokes certificates</a:t>
            </a:r>
          </a:p>
          <a:p>
            <a:pPr>
              <a:spcAft>
                <a:spcPts val="300"/>
              </a:spcAft>
            </a:pPr>
            <a:r>
              <a:rPr sz="1550" b="0" i="0">
                <a:solidFill>
                  <a:srgbClr val="595959"/>
                </a:solidFill>
                <a:latin typeface="Arial"/>
              </a:rPr>
              <a:t>How a misbehaving member gets cut off from the bus.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log is timestamped and itself signed</a:t>
            </a:r>
          </a:p>
          <a:p>
            <a:pPr>
              <a:spcAft>
                <a:spcPts val="300"/>
              </a:spcAft>
            </a:pPr>
            <a:r>
              <a:rPr sz="1550" b="0" i="0">
                <a:solidFill>
                  <a:srgbClr val="595959"/>
                </a:solidFill>
                <a:latin typeface="Arial"/>
              </a:rPr>
              <a:t>The evidence a court, an auditor or a data-protection authority reads.</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decree can make an electronic exchange binding only because this log exists.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security server carries the trust burden at each member's edge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It holds the certificates, does the mutual TLS, and signs and logs the messages.</a:t>
            </a:r>
          </a:p>
          <a:p>
            <a:pPr>
              <a:spcAft>
                <a:spcPts val="1200"/>
              </a:spcAft>
            </a:pPr>
            <a:r>
              <a:rPr sz="2000" b="0" i="0">
                <a:solidFill>
                  <a:srgbClr val="1A1A1A"/>
                </a:solidFill>
                <a:latin typeface="Arial"/>
              </a:rPr>
              <a:t>The member's own systems stay in their internal zone and never face the public zone directly.</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That separation is often what decides whether a cautious agency joins at all.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Trace the zones a call crosses, and its security is specified</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Examination authority to identity authority: one internal zone, the public zone, another internal zone.</a:t>
            </a:r>
          </a:p>
          <a:p>
            <a:pPr>
              <a:spcAft>
                <a:spcPts val="1200"/>
              </a:spcAft>
            </a:pPr>
            <a:r>
              <a:rPr sz="2000" b="0" i="0">
                <a:solidFill>
                  <a:srgbClr val="1A1A1A"/>
                </a:solidFill>
                <a:latin typeface="Arial"/>
              </a:rPr>
              <a:t>So: mutual TLS between the two security servers, a signed and logged message, and valid Trust-Anchor certificates at both ends.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Say exactly that, and any reviewer will accept the specification.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Name the zones a call crosses — public, member-internal, trust-anchor — and its security requirements are specified, not guessed.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Trace an exchange across the trust zones and name its security.</a:t>
            </a:r>
          </a:p>
          <a:p>
            <a:pPr algn="l">
              <a:spcAft>
                <a:spcPts val="400"/>
              </a:spcAft>
            </a:pPr>
            <a:r>
              <a:rPr sz="1800" b="0" i="0">
                <a:solidFill>
                  <a:srgbClr val="595959"/>
                </a:solidFill>
                <a:latin typeface="Arial"/>
              </a:rPr>
              <a:t>The prompt in the companion material gives you a zone-by-zone security specification plus failure modes.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(EIF)</a:t>
            </a:r>
          </a:p>
          <a:p>
            <a:pPr>
              <a:spcAft>
                <a:spcPts val="1200"/>
              </a:spcAft>
            </a:pPr>
            <a:r>
              <a:rPr sz="1700" b="0" i="0">
                <a:solidFill>
                  <a:srgbClr val="1A1A1A"/>
                </a:solidFill>
                <a:latin typeface="Arial"/>
              </a:rPr>
              <a:t>•  NIIS X-Road trust model and message protocol (niis.org)</a:t>
            </a:r>
          </a:p>
          <a:p>
            <a:pPr>
              <a:spcAft>
                <a:spcPts val="1200"/>
              </a:spcAft>
            </a:pPr>
            <a:r>
              <a:rPr sz="1700" b="0" i="0">
                <a:solidFill>
                  <a:srgbClr val="1A1A1A"/>
                </a:solidFill>
                <a:latin typeface="Arial"/>
              </a:rPr>
              <a:t>•  Mutual TLS (mTLS)</a:t>
            </a:r>
          </a:p>
          <a:p>
            <a:pPr>
              <a:spcAft>
                <a:spcPts val="1200"/>
              </a:spcAft>
            </a:pPr>
            <a:r>
              <a:rPr sz="1700" b="0" i="0">
                <a:solidFill>
                  <a:srgbClr val="1A1A1A"/>
                </a:solidFill>
                <a:latin typeface="Arial"/>
              </a:rPr>
              <a:t>•  RFC 3161 — time-stamping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Secure every call — the three trust zones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