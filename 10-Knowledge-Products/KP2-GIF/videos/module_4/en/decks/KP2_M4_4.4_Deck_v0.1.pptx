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1" r:id="rId43"/>
    <p:sldId id="2722" r:id="rId44"/>
    <p:sldId id="2723" r:id="rId45"/>
    <p:sldId id="2724" r:id="rId17"/>
    <p:sldId id="2725" r:id="rId16"/>
    <p:sldId id="2726" r:id="rId15"/>
    <p:sldId id="2727" r:id="rId14"/>
    <p:sldId id="272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interoperability layers, the semantic one — meaning — is the hardest, and the one most projects skip, because it is slow, unglamorous and a little political. It is also where exchanges silently fail: a working wire that carries data the receiver misreads is still a failure, and a worse one, because it looks like success. The good news for the architect is that meaning can be made tractable by building a semantic map — and you can generate a first draft of one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semantic map, for a single exchange, sets out five things. The entities involved — a learner, a school. Their fields — name, date of birth, enrolment status. The code lists — the allowed values for, say, enrolment status, because one agency's 'active' may be another's 'enrolled'. The identifier — which key reliably links the same learner across two agencies. And the mapping itself — each agency's own terms reconciled to one shared definition, so that the examination authority's 'learner' and the registry's 'learner' are confirmed to mean the same person, identified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these definitions from scratch. For education, much of the meaning is already published. OneRoster gives you rostering and enrolment data. CEDS gives you a common vocabulary of education data elements. ISO/IEC 11179 gives you the discipline of describing each data element precisely, and W3C Verifiable Credentials covers the credential case. The semantic map's job is to adopt these published vocabularies and map your agencies' actual fields onto them — not to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layer where business and IT must meet, and the semantic map is their shared language. Deciding that 'enrolment' means the same thing to the examination authority and to the learner registry is not a technical choice — it is a decision the business data owners make. But it has to be written down precisely enough for the systems to use. The semantic map is exactly that shared object: it lets the people who own the data and the architects who move it agree, once, what the data means — and then every exchange that touches a learner reuses that one agreement instead of re-arguing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AI prompt for this video does the drafting. Give Claude the published vocabulary and the two agencies' field lists, and it drafts the mapping — which field maps to which, where the code lists differ and need translating, which identifier to use as the link. That is the fast ninety per cent. The essential ten per cent is yours: every identifier and every code value is a [confirm] until you check it against the real registries. An invented mapping reads convincingly and is wrong — and in the semantic layer, wrong means a learner's records silently merged with someone else's. Generate fast; confirm against the registries carefully.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make the hardest layer tractable by building it, one exchange at a time, as a semantic map: the entities, fields, code lists, identifier and the mapping onto published vocabularies. It is the shared language between the data owners and the architects, generated with the AI prompt and confirmed against the registries. Get the semantic map right and the exchange carries meaning, not just bytes — which is the whole difference between interoperability that works and interoperability that only appears 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Generate the semantic map</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Generate a semantic map so two agencies mean the same 'learner' before they exchange one — the hardest layer, made tractable.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working wire that carries misread data looks like success.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Meaning is the hardest layer, and the one most projects skip.</a:t>
            </a:r>
          </a:p>
          <a:p>
            <a:pPr>
              <a:spcAft>
                <a:spcPts val="800"/>
              </a:spcAft>
            </a:pPr>
            <a:r>
              <a:rPr sz="1700" b="0" i="0">
                <a:solidFill>
                  <a:srgbClr val="595959"/>
                </a:solidFill>
                <a:latin typeface="Arial"/>
              </a:rPr>
              <a:t>A semantic map makes it tractable — and AI drafts the first version.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semantic map sets out five things for one exchange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86968"/>
          </a:xfrm>
          <a:prstGeom prst="rect">
            <a:avLst/>
          </a:prstGeom>
          <a:noFill/>
        </p:spPr>
        <p:txBody>
          <a:bodyPr wrap="square">
            <a:spAutoFit/>
          </a:bodyPr>
          <a:lstStyle/>
          <a:p>
            <a:pPr>
              <a:spcAft>
                <a:spcPts val="300"/>
              </a:spcAft>
            </a:pPr>
            <a:r>
              <a:rPr sz="1900" b="1" i="0">
                <a:solidFill>
                  <a:srgbClr val="1A1A1A"/>
                </a:solidFill>
                <a:latin typeface="Arial"/>
              </a:rPr>
              <a:t>The entities</a:t>
            </a:r>
          </a:p>
          <a:p>
            <a:pPr>
              <a:spcAft>
                <a:spcPts val="300"/>
              </a:spcAft>
            </a:pPr>
            <a:r>
              <a:rPr sz="1550" b="0" i="0">
                <a:solidFill>
                  <a:srgbClr val="595959"/>
                </a:solidFill>
                <a:latin typeface="Arial"/>
              </a:rPr>
              <a:t>A learner, a school.</a:t>
            </a:r>
          </a:p>
        </p:txBody>
      </p:sp>
      <p:sp>
        <p:nvSpPr>
          <p:cNvPr id="6" name="Rectangle 5"/>
          <p:cNvSpPr/>
          <p:nvPr/>
        </p:nvSpPr>
        <p:spPr>
          <a:xfrm>
            <a:off x="621792" y="235458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414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95728"/>
            <a:ext cx="10527487" cy="886968"/>
          </a:xfrm>
          <a:prstGeom prst="rect">
            <a:avLst/>
          </a:prstGeom>
          <a:noFill/>
        </p:spPr>
        <p:txBody>
          <a:bodyPr wrap="square">
            <a:spAutoFit/>
          </a:bodyPr>
          <a:lstStyle/>
          <a:p>
            <a:pPr>
              <a:spcAft>
                <a:spcPts val="300"/>
              </a:spcAft>
            </a:pPr>
            <a:r>
              <a:rPr sz="1900" b="1" i="0">
                <a:solidFill>
                  <a:srgbClr val="1A1A1A"/>
                </a:solidFill>
                <a:latin typeface="Arial"/>
              </a:rPr>
              <a:t>Their fields</a:t>
            </a:r>
          </a:p>
          <a:p>
            <a:pPr>
              <a:spcAft>
                <a:spcPts val="300"/>
              </a:spcAft>
            </a:pPr>
            <a:r>
              <a:rPr sz="1550" b="0" i="0">
                <a:solidFill>
                  <a:srgbClr val="595959"/>
                </a:solidFill>
                <a:latin typeface="Arial"/>
              </a:rPr>
              <a:t>Name, date of birth, enrolment status.</a:t>
            </a:r>
          </a:p>
        </p:txBody>
      </p:sp>
      <p:sp>
        <p:nvSpPr>
          <p:cNvPr id="9" name="Rectangle 8"/>
          <p:cNvSpPr/>
          <p:nvPr/>
        </p:nvSpPr>
        <p:spPr>
          <a:xfrm>
            <a:off x="621792" y="32872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28416"/>
            <a:ext cx="10527487" cy="886968"/>
          </a:xfrm>
          <a:prstGeom prst="rect">
            <a:avLst/>
          </a:prstGeom>
          <a:noFill/>
        </p:spPr>
        <p:txBody>
          <a:bodyPr wrap="square">
            <a:spAutoFit/>
          </a:bodyPr>
          <a:lstStyle/>
          <a:p>
            <a:pPr>
              <a:spcAft>
                <a:spcPts val="300"/>
              </a:spcAft>
            </a:pPr>
            <a:r>
              <a:rPr sz="1900" b="1" i="0">
                <a:solidFill>
                  <a:srgbClr val="1A1A1A"/>
                </a:solidFill>
                <a:latin typeface="Arial"/>
              </a:rPr>
              <a:t>The code lists</a:t>
            </a:r>
          </a:p>
          <a:p>
            <a:pPr>
              <a:spcAft>
                <a:spcPts val="300"/>
              </a:spcAft>
            </a:pPr>
            <a:r>
              <a:rPr sz="1550" b="0" i="0">
                <a:solidFill>
                  <a:srgbClr val="595959"/>
                </a:solidFill>
                <a:latin typeface="Arial"/>
              </a:rPr>
              <a:t>The allowed values — one agency's "active" may be another's "enrolled".</a:t>
            </a:r>
          </a:p>
        </p:txBody>
      </p:sp>
      <p:sp>
        <p:nvSpPr>
          <p:cNvPr id="12" name="Rectangle 11"/>
          <p:cNvSpPr/>
          <p:nvPr/>
        </p:nvSpPr>
        <p:spPr>
          <a:xfrm>
            <a:off x="621792" y="42199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068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61104"/>
            <a:ext cx="10527487" cy="886968"/>
          </a:xfrm>
          <a:prstGeom prst="rect">
            <a:avLst/>
          </a:prstGeom>
          <a:noFill/>
        </p:spPr>
        <p:txBody>
          <a:bodyPr wrap="square">
            <a:spAutoFit/>
          </a:bodyPr>
          <a:lstStyle/>
          <a:p>
            <a:pPr>
              <a:spcAft>
                <a:spcPts val="300"/>
              </a:spcAft>
            </a:pPr>
            <a:r>
              <a:rPr sz="1900" b="1" i="0">
                <a:solidFill>
                  <a:srgbClr val="1A1A1A"/>
                </a:solidFill>
                <a:latin typeface="Arial"/>
              </a:rPr>
              <a:t>The identifier</a:t>
            </a:r>
          </a:p>
          <a:p>
            <a:pPr>
              <a:spcAft>
                <a:spcPts val="300"/>
              </a:spcAft>
            </a:pPr>
            <a:r>
              <a:rPr sz="1550" b="0" i="0">
                <a:solidFill>
                  <a:srgbClr val="595959"/>
                </a:solidFill>
                <a:latin typeface="Arial"/>
              </a:rPr>
              <a:t>Which key links the same learner across two agencies.</a:t>
            </a:r>
          </a:p>
        </p:txBody>
      </p:sp>
      <p:sp>
        <p:nvSpPr>
          <p:cNvPr id="15" name="Rectangle 14"/>
          <p:cNvSpPr/>
          <p:nvPr/>
        </p:nvSpPr>
        <p:spPr>
          <a:xfrm>
            <a:off x="621792" y="51526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2395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193792"/>
            <a:ext cx="10527487" cy="886968"/>
          </a:xfrm>
          <a:prstGeom prst="rect">
            <a:avLst/>
          </a:prstGeom>
          <a:noFill/>
        </p:spPr>
        <p:txBody>
          <a:bodyPr wrap="square">
            <a:spAutoFit/>
          </a:bodyPr>
          <a:lstStyle/>
          <a:p>
            <a:pPr>
              <a:spcAft>
                <a:spcPts val="300"/>
              </a:spcAft>
            </a:pPr>
            <a:r>
              <a:rPr sz="1900" b="1" i="0">
                <a:solidFill>
                  <a:srgbClr val="1A1A1A"/>
                </a:solidFill>
                <a:latin typeface="Arial"/>
              </a:rPr>
              <a:t>The mapping</a:t>
            </a:r>
          </a:p>
          <a:p>
            <a:pPr>
              <a:spcAft>
                <a:spcPts val="300"/>
              </a:spcAft>
            </a:pPr>
            <a:r>
              <a:rPr sz="1550" b="0" i="0">
                <a:solidFill>
                  <a:srgbClr val="595959"/>
                </a:solidFill>
                <a:latin typeface="Arial"/>
              </a:rPr>
              <a:t>Each agency's terms reconciled to one shared definition.</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education, much of the meaning is already published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OneRoster</a:t>
            </a:r>
          </a:p>
          <a:p>
            <a:pPr>
              <a:spcAft>
                <a:spcPts val="300"/>
              </a:spcAft>
            </a:pPr>
            <a:r>
              <a:rPr sz="1550" b="0" i="0">
                <a:solidFill>
                  <a:srgbClr val="595959"/>
                </a:solidFill>
                <a:latin typeface="Arial"/>
              </a:rPr>
              <a:t>Rostering and enrolment data.</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CEDS</a:t>
            </a:r>
          </a:p>
          <a:p>
            <a:pPr>
              <a:spcAft>
                <a:spcPts val="300"/>
              </a:spcAft>
            </a:pPr>
            <a:r>
              <a:rPr sz="1550" b="0" i="0">
                <a:solidFill>
                  <a:srgbClr val="595959"/>
                </a:solidFill>
                <a:latin typeface="Arial"/>
              </a:rPr>
              <a:t>A common vocabulary of education data elements.</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ISO/IEC 11179 and W3C Verifiable Credentials</a:t>
            </a:r>
          </a:p>
          <a:p>
            <a:pPr>
              <a:spcAft>
                <a:spcPts val="300"/>
              </a:spcAft>
            </a:pPr>
            <a:r>
              <a:rPr sz="1550" b="0" i="0">
                <a:solidFill>
                  <a:srgbClr val="595959"/>
                </a:solidFill>
                <a:latin typeface="Arial"/>
              </a:rPr>
              <a:t>Describing each data element precisely; the credential case.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Map your agencies' fields onto these — do not start from a blank page.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Meaning is a business decision, written precisely enough for systems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Whether "enrolment" means the same to the examination authority and the learner registry is decided by the data owners.</a:t>
            </a:r>
          </a:p>
          <a:p>
            <a:pPr>
              <a:spcAft>
                <a:spcPts val="1200"/>
              </a:spcAft>
            </a:pPr>
            <a:r>
              <a:rPr sz="2000" b="0" i="0">
                <a:solidFill>
                  <a:srgbClr val="1A1A1A"/>
                </a:solidFill>
                <a:latin typeface="Arial"/>
              </a:rPr>
              <a:t>The semantic map is that shared language — agreed once, reused by every exchange.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Where the people who own the data and the architects who move it agree,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fast, confirm against the registries carefully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PROMPT — NINETY PER CENT</a:t>
            </a:r>
          </a:p>
          <a:p>
            <a:pPr>
              <a:spcAft>
                <a:spcPts val="700"/>
              </a:spcAft>
            </a:pPr>
            <a:r>
              <a:rPr sz="1600" b="0" i="0">
                <a:solidFill>
                  <a:srgbClr val="1A1A1A"/>
                </a:solidFill>
                <a:latin typeface="Arial"/>
              </a:rPr>
              <a:t>Give Claude the published vocabulary and both field lists.</a:t>
            </a:r>
          </a:p>
          <a:p>
            <a:pPr>
              <a:spcAft>
                <a:spcPts val="700"/>
              </a:spcAft>
            </a:pPr>
            <a:r>
              <a:rPr sz="1600" b="0" i="0">
                <a:solidFill>
                  <a:srgbClr val="1A1A1A"/>
                </a:solidFill>
                <a:latin typeface="Arial"/>
              </a:rPr>
              <a:t>It drafts the mapping, the code-list translations and the identifier.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 THE ESSENTIAL TEN</a:t>
            </a:r>
          </a:p>
          <a:p>
            <a:pPr>
              <a:spcAft>
                <a:spcPts val="700"/>
              </a:spcAft>
            </a:pPr>
            <a:r>
              <a:rPr sz="1600" b="0" i="0">
                <a:solidFill>
                  <a:srgbClr val="1A1A1A"/>
                </a:solidFill>
                <a:latin typeface="Arial"/>
              </a:rPr>
              <a:t>Every identifier and code value is a [confirm].</a:t>
            </a:r>
          </a:p>
          <a:p>
            <a:pPr>
              <a:spcAft>
                <a:spcPts val="700"/>
              </a:spcAft>
            </a:pPr>
            <a:r>
              <a:rPr sz="1600" b="0" i="0">
                <a:solidFill>
                  <a:srgbClr val="1A1A1A"/>
                </a:solidFill>
                <a:latin typeface="Arial"/>
              </a:rPr>
              <a:t>Check each against the real registries.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Wrong here means a learner's records silently merged with someone else's.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semantic map is the shared meaning of an exchange — drafted by AI from the published vocabularies, confirmed against the real registries.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semantic map for an exchange.</a:t>
            </a:r>
          </a:p>
          <a:p>
            <a:pPr algn="l">
              <a:spcAft>
                <a:spcPts val="400"/>
              </a:spcAft>
            </a:pPr>
            <a:r>
              <a:rPr sz="1800" b="0" i="0">
                <a:solidFill>
                  <a:srgbClr val="595959"/>
                </a:solidFill>
                <a:latin typeface="Arial"/>
              </a:rPr>
              <a:t>The prompt in the companion material gives you a semantic map with [confirm] placeholders for identifiers and code values.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ISO/IEC 11179; JSON-LD; W3C Verifiable Credentials</a:t>
            </a:r>
          </a:p>
          <a:p>
            <a:pPr>
              <a:spcAft>
                <a:spcPts val="1200"/>
              </a:spcAft>
            </a:pPr>
            <a:r>
              <a:rPr sz="1700" b="0" i="0">
                <a:solidFill>
                  <a:srgbClr val="1A1A1A"/>
                </a:solidFill>
                <a:latin typeface="Arial"/>
              </a:rPr>
              <a:t>•  OneRoster (1EdTech); CEDS</a:t>
            </a:r>
          </a:p>
          <a:p>
            <a:pPr>
              <a:spcAft>
                <a:spcPts val="1200"/>
              </a:spcAft>
            </a:pPr>
            <a:r>
              <a:rPr sz="1700" b="0" i="0">
                <a:solidFill>
                  <a:srgbClr val="1A1A1A"/>
                </a:solidFill>
                <a:latin typeface="Arial"/>
              </a:rPr>
              <a:t>•  EU European Interoperability Framework — semantic layer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Generate the semantic map</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