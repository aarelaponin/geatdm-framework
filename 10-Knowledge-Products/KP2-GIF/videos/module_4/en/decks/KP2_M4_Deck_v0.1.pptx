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technical standards, in plain terms. For how a service describes and offers itself — REST with OpenAPI 3.x, the common way to define a web service. For proving who a user or system is and what they are allowed to do — OAuth 2.x and OpenID Connect. For securing the connection — mutual TLS, where both ends prove their identity. And for the bus itself — the X-Road message protocol. None of these is invented for your country; each is a widely used published standard, with tools, documentation and people who already know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break interoperability is to let each agency choose its own technical standards. The framework's answer is a standards portfolio — a single, published menu of the standards every member uses. As an architect, your job here is not to invent these. It is to select from the published menu, record your choices and their versions, and hold every member to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 an architect, your first move is not to draw a new platform. It is to adopt a reference architecture, so you spend your scarce time on what is specific to your country instead of re-deriving the shape of an interoperability platform that other countries have already settled. The European framework and the X-Road experience give you a reference with four functional layers. Every component you will build or buy fits one of the four.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 layers, by what they do. Service Access — how a member system reaches the bus and calls a service. Event Distribution — how messages and events actually move across the federation. Trust and Security Infrastructure — the certificates, the identities and the encryption that make a call trustworthy. And Governance and Administration — the registries of who is a member, what services exist, and the monitoring that watches it all run.</a:t>
            </a:r>
          </a:p>
          <a:p/>
          <a:p>
            <a:r>
              <a:t>Retrieval prompt — ask before playing on: where does the service catalogue live? Where does mutual encryption sit?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value of the layers is that they are a filing system for decisions. When you ask 'where does the service catalogue live?', the answer is Governance and Administration. 'Where does mutual encryption sit?' — Trust and Security. Every component, every standard, every piece of configuration has a home. And when two architects disagree about where something belongs, the reference architecture settles it rather than the louder voice.</a:t>
            </a:r>
          </a:p>
          <a:p/>
          <a:p>
            <a:r>
              <a:t>Production cue: this slide answers the retrieval prompt set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deeper payoff, and it is the re-use argument seen from the architect's chair. The reference architecture is shared — built once and reused by every country and every sector that adopts it — so your agencies, and the next sector after education, plug into the same four-layer shape instead of each inventing their own. That is whole-of-government planning made concrete at the technical level: you re-use a settled structure rather than paying, again, to discover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of the four deserves a word, because it is the one countries drop by accident. Request and response is a system asking a question and getting an answer. Event distribution is a system telling everyone who cares: a birth was registered, a learner was enrolled — published once by the authoritative source, delivered to every subscriber, replayable if a subscriber was down. That is what keeps every consumer current without anyone re-asking the citizen; it is once-only at scale. A first bus can run request and response only, and this knowledge product's demonstration does. But defer the event layer deliberately, with a place in the plan — do not discover in year three that nobody designed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practical exercise is simple. Take every component you plan to build or buy — the security server, the central registry, the monitoring tool, the identity adapter — and place each one in its layer. The layers that come out sparse show you exactly what you have not yet planned for. Used this way, the reference architecture is a checklist as much as a diagram: it tells you not only where things go, but what is still missing.</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architecture work starts not with a blank page but with a borrowed, proven structure. Four functional layers — Service Access, Event Distribution, Trust and Security, Governance and Administration. Place every component. Read off the gaps. You have re-used the world's experience of what an interoperability platform looks like, and kept your effort for what only your country can decide.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Security on an interoperability bus is not one wall around everything. It is zones, and the security a call needs depends on which zone boundaries it crosses. The X-Road trust model uses three zones. Once you know them, you can look at any exchange and state, precisely, what protects it — which is exactly the conversation a security reviewer or a data-protection officer will want to have with you.</a:t>
            </a:r>
          </a:p>
          <a:p/>
          <a:p>
            <a:r>
              <a:t>Retrieval prompt — ask before playing on: a call from the examination authority to the identity authority — which zones does it cross, and what protects each crossing? Answer on the trace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three zones. Public — the open internet, where nothing is trusted by default. Member-Internal — inside an agency's own network, where that agency trusts its own systems. And the Trust-Anchor — the certification authority that everyone in the federation trusts to vouch for who is who. A message from one agency to another starts in one member's internal zone, crosses the public zone, and arrives in another member's internal zone — with the Trust-Anchor underwriting the identities at both ends.</a:t>
            </a:r>
          </a:p>
          <a:p/>
          <a:p>
            <a:r>
              <a:t>Production cue: the structural picture of this video. Reveal the three zones left to right; the Trust-Anchor band is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security falls out of the zones. When a message crosses the public zone between two security servers, it is protected by mutual TLS — meaning both sides present a certificate and prove who they are, not just one side as on an ordinary website. The message itself is signed and logged using the X-Road message protocol, so it cannot be forged, and neither side can later deny sending or receiving it. And the Trust-Anchor — the certification authority — issues those certificates and can revoke a compromised one, which is precisely how a misbehaving member gets cut off from the bus. And one more thing the security server does that is easy to overlook: every call is logged with its correlation identifier, sender, recipient, service and signature, and the log itself is timestamped and signed at intervals so it cannot be quietly altered. That tamper-evident log is not an operations nicety. It is the evidence base of the legal layer — the record a court, an auditor or a data-protection authority reads when an exchange is challenged. The decree can make an electronic exchange legally binding only because this log exists.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device makes this practical: the security server, which sits at each member's edge and carries the trust burden. It is the member's gateway into the federation — it holds the certificates, does the mutual TLS, signs and logs the messages. The member's own systems stay safely in their internal zone and never face the public zone directly. That separation is exactly what lets a cautious agency join the bus without exposing its internal systems to the open internet — which is often the deciding factor in whether an agency will join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skill to take away is tracing any planned exchange across the zones and reading off its requirements. A call from the examination authority to the identity authority crosses from one internal zone, through the public zone, to another internal zone — so it needs mutual TLS between the two security servers, a signed and logged message, and valid certificates from the Trust-Anchor at both ends. Say exactly that, and you have specified the security of the exchange in terms any reviewer will accept.</a:t>
            </a:r>
          </a:p>
          <a:p/>
          <a:p>
            <a:r>
              <a:t>Production cue: the pivotal slide of this video, and it answers the retrieval prompt set on the opener.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security on the bus is zoned, not uniform. Three zones — public, member-internal, trust-anchor. The security server carries the trust burden at each member's edge. And the discipline is to trace each exchange across the zones, because that is what turns 'is it secure?' from a worried question into a specified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4 deck. Each section that follows is one standalone ~5 minute video, for the Architect who builds the technical layer: the chief or senior architect, the integration lead, the agency technical lead. Together the eight videos produce the technical-layer configuration — the semantic map, the service contracts and the X-Road service descriptions.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4.1 to 4.3 are the settled structure — layers, zones, standards. 4.4 and 4.5 generate the meaning and the contract. 4.6 is the worked case on real data. 4.7 wires the service; 4.8 makes it lawful.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Alongside the technical standards sit the semantic ones — the standards for meaning. ISO/IEC 11179 for describing data elements consistently. JSON-LD for linking data so its meaning travels with it. And W3C Verifiable Credentials for credentials a holder can carry and a verifier can trust without phoning the issuer. These are the published vocabularies you reuse rather than invent.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whole point of a portfolio is re-use across the whole of government. A standard chosen once, for the framework, is reused by every member and by every new sector that joins — so the second agency does not re-decide how a service is described, and the education work you do now is reused when health comes onto the bus. Interoperability is, at bottom, the discipline of everyone choosing the same published standards instead of each building their own — and only whole-of-government planning can impose that discipline. A procurement clause cannot.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actual deliverable is the portfolio itself — a short document that names, for each need, the chosen standard, its version, and any profile, meaning the small local refinements you add on top. Each entry also says when the standard becomes binding, how long legacy systems have to comply — twelve to twenty-four months for a major version is usual — and how a member proves conformance: a self-assessment, a third-party check, or a test suite the operator runs. A standard with no binding date and no test is advice, not a standard. It becomes the thing the APIs Working Group maintains and every member conforms to. Two cautions. Name the version, because a standard adopted at the wrong version is a quiet incompatibility that surfaces only when two members fail to connect. And keep the profile thin — every local refinement you add is something the next sector must also adopt, so refine only where you must.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standards portfolio is the agreed menu, not a free choice. Select the technical and semantic standards from the published options, write them down with versions and any thin profile, and hold every member to the same list. That shared, reused portfolio is what lets twenty agencies behave as one framework instead of twenty incompatible projects.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the four interoperability layers, the semantic one — meaning — is the hardest, and the one most projects skip, because it is slow, unglamorous and a little political. It is also where exchanges silently fail: a working wire that carries data the receiver misreads is still a failure, and a worse one, because it looks like success. The good news for the architect is that meaning can be made tractable by building a semantic map — and you can generate a first draft of one with Claude.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semantic map, for a single exchange, sets out five things. The entities involved — a learner, a school. Their fields — name, date of birth, enrolment status. The code lists — the allowed values for, say, enrolment status, because one agency's 'active' may be another's 'enrolled'. The identifier — which key reliably links the same learner across two agencies. And the mapping itself — each agency's own terms reconciled to one shared definition, so that the examination authority's 'learner' and the registry's 'learner' are confirmed to mean the same person, identified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invent these definitions from scratch. For education, much of the meaning is already published. OneRoster gives you rostering and enrolment data. CEDS gives you a common vocabulary of education data elements. ISO/IEC 11179 gives you the discipline of describing each data element precisely, and W3C Verifiable Credentials covers the credential case. The semantic map's job is to adopt these published vocabularies and map your agencies' actual fields onto them — not to start from a blank page.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layer where business and IT must meet, and the semantic map is their shared language. Deciding that 'enrolment' means the same thing to the examination authority and to the learner registry is not a technical choice — it is a decision the business data owners make. But it has to be written down precisely enough for the systems to use. The semantic map is exactly that shared object: it lets the people who own the data and the architects who move it agree, once, what the data means — and then every exchange that touches a learner reuses that one agreement instead of re-arguing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AI prompt for this video does the drafting. Give Claude the published vocabulary and the two agencies' field lists, and it drafts the mapping — which field maps to which, where the code lists differ and need translating, which identifier to use as the link. That is the fast ninety per cent. The essential ten per cent is yours: every identifier and every code value is a [confirm] until you check it against the real registries. An invented mapping reads convincingly and is wrong — and in the semantic layer, wrong means a learner's records silently merged with someone else's. Generate fast; confirm against the registries carefully.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make the hardest layer tractable by building it, one exchange at a time, as a semantic map: the entities, fields, code lists, identifier and the mapping onto published vocabularies. It is the shared language between the data owners and the architects, generated with the AI prompt and confirmed against the registries. Get the semantic map right and the exchange carries meaning, not just bytes — which is the whole difference between interoperability that works and interoperability that only appears to.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To put a service on the bus, you need a contract — a precise description of what the service offers: the operations, the inputs, the outputs, the errors. That contract is an OpenAPI document, and it is the configuration that makes the service callable. As an architect, you generate it from a short service brief and the semantic map, and then turn it into the X-Road service description the bus actually uses to route a call.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OpenAPI 3.x contract specifies, for one service, the operations it offers — say, 'get a learner's record' — the inputs each operation takes, the outputs it returns, the errors it can raise, and the security it requires. The outputs come straight from the semantic map you built: the contract is where the agreed meaning becomes a concrete, callable interface. A consumer reads the contract and knows exactly how to call the service — the field names, the types, the errors — without a single meeting.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AI prompt for this video does the drafting. Give Claude the service brief — what the service does — and the semantic map for the data it returns, and it drafts the OpenAPI document: the paths, the request and response shapes, the error responses, the security scheme. As with the semantic map, every endpoint, field name and type is a [confirm] until you check it against what the provider system actually exposes. An OpenAPI document that looks right but names a field the provider does not return is a contract that fails at the first real call — and looks fine until then.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OpenAPI contract then becomes the X-Road service description — the form the bus uses to register the service and route a call to it. They are the same contract in two forms: OpenAPI for humans and tools to read, the X-Road service description for the bus to route. Generating the first and deriving the second is the core move of this whole knowledge product — using Claude to produce the configuration that puts a real service on the bus.</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why the contract is a build-pack artefact, not a diagram. It is executable configuration — it is what the consumer's code calls and what the bus routes. When you have done the semantic map and the service contract for one exchange, you hold, for that exchange, the agreed meaning and the callable interface: the technical-layer configuration the live demonstration runs on. That is real output, not a picture of output.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service contract is where meaning becomes a callable interface. Generate the OpenAPI document with the AI prompt from the brief and the semantic map, confirm every field against the provider, and derive the X-Road service description. That is the configuration that puts a service on the bus — executable, in the build pack, ready for a real call.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so far has been the method. Now a real worked case, so you have a template to copy rather than a theory to apply. Giga — the ITU and UNICEF initiative that maps the world's schools and their connectivity — publishes open APIs and real school data. Putting Giga's data onto the bus is a complete, concrete example of every step at once: the standards, the semantics, the contract, and the data pipeline that feeds them.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Giga gives you real, published material to work from. Open APIs you can actually call. A school-master schema describing each school, and a qos schema describing its connectivity — the quality of its internet service. GeoJSON, the standard way to express a location, for where each school sits. And ISO 3166-1 alpha-3, the three-letter country codes, for indexing. These are exactly the kind of published standards and schemas the standards portfolio and the semantic map told you to reuse — and here they are, in one real dataset, ready to practise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Real source data is never clean enough to publish straight onto the bus, so it moves through a pipeline in three stages. Bronze — the raw data exactly as received from the source, kept untouched for audit. Silver — the cleaned and validated version, conformed to the schema and the semantic map, with bad or duplicate records flagged. Gold — the published, authoritative version that other services on the bus actually consume. This bronze, silver, gold pattern is how a messy real source becomes a registry other agencies can trust, and every data source you put on the bus follows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watch the whole module tie together on one source. The school-master data lands as bronze. It is cleaned and conformed to the schema and the semantic map as silver. It is published as gold. The gold-layer service is described by an OpenAPI contract, registered as an X-Road service description, secured across the three trust zones, and made lawful by the data-protection envelope. Every piece of this module appears, in order, on one real dataset. That is the template — and it is the same template whether the source is schools, health facilities, or a farmer registry.</a:t>
            </a:r>
          </a:p>
          <a:p/>
          <a:p>
            <a:r>
              <a:t>Production cue: the centrepiece of the module. Reveal the five stages left to right; the video numbers beneath show where each step was built.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reason to learn it on Giga rather than your own data is that Giga is public, real and already standards-aligned, so you can practise the full pipeline before you touch a live national registry where a mistake has consequences. Once you have run it once on Giga, you apply the identical pattern — bronze, silver, gold, contract, bus — to your country's own school data, and then to the next sector.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Giga case is the method made concrete. A real source, real schemas, the bronze-silver-gold pipeline, a service contract, and the bus — every step of this module on one dataset you can actually run. Learn it here, where the data is public and forgiving, and you have a template to copy onto your own national registries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have the meaning — the semantic map. The contract — the OpenAPI document. And the data — the gold dataset. Wiring is the step that makes them callable on the bus: registering the service so that a consumer in another agency can discover it and call it. The pattern has a name in the GovStack world — Information Mediation, the building block whose whole job is to mediate exchanges between systems.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'Wired' means three concrete things. The service's description is registered on the provider agency's security server. A consumer in another agency can discover that the service exists. And when the consumer calls it, the request routes through the consumer's security server, across the bus, to the provider's security server, which runs the service and returns the data — all secured across the trust zones you mapped earlier. When that round trip works, the service is genuinely on the bus, not just designed for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configuration artefacts make wiring real, and you have largely produced them already. The subsystem — the member's registered identity on the bus. The service description — derived directly from your OpenAPI contract. And the access-control list — which other members are allowed to call this service, because being on the bus does not mean everyone may call everything. Registering the member as a subsystem and setting its access-control list is member-onboarding work; here you supply the service description that goes with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Information Mediation building block is the published pattern for all of this — the reusable specification for the component that routes and mediates exchanges between agencies. Cross-linking your framework to it keeps you aligned with the wider GovStack ecosystem, which matters practically: a vendor's compliant Information Mediator implementation can drop into the role, rather than your country building the mediation component bespoke. That is the re-use principle reaching all the way down to the routing component itself.</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acceptance here is concrete and runnable — a test call. A consumer's security server calls the service and gets the expected data back, once, over the bus. That single resolving call is the proof that the technical layer works for this exchange: meaning agreed, contract honoured, security enforced, data returned. It is exactly the check the live demonstration runs, and it is the moment the technical-layer configuration stops being a set of documents and becomes a working exchange.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wiring is where the pieces become a working service. Register the service description on the security server, set the access-control list for who may call it, align to the GovStack Information Mediation pattern, and prove it with a test call that resolves. That resolving call is the technical layer's acceptance — and the technical configuration the framework actually runs 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can be perfectly wired and perfectly secured and still must not be switched on, because technical capability is not lawful authority. The last thing the architect checks for an exchange is its data-protection envelope — the agreements and safeguards that make moving this data lawful, not merely possible. This is where the technical work you have done meets the legal and organisational layers built earlier in this knowledge product.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envelope has three parts. A lawful basis, which comes from the decree you drafted in the legal module — the exchange must be one the decree actually authorises. A bilateral agreement — a Letter of Interest between the two agencies, the practical record that they agree to this specific exchange, on these terms. And the data-protection safeguards — that the exchange uses only the data it needs, for the stated purpose, with consent where required, and a clear retention rule. Technical capability plus these three is what makes an exchange lawful.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architect's specific job is data protection by design — building the safeguards into the configuration rather than bolting them on after. Minimisation lives in the OpenAPI contract: the service returns only the fields the purpose needs, not the whole record. The purpose and the access-control list match: only the agencies with a lawful purpose can call the service. And retention and logging are configured, not merely promised in a policy. Built this way, the safeguards are part of the configuration the demonstration runs, not a document filed somewhere separate from the system.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where the three layers meet on a single exchange. The decree, the legal layer, authorises it. The member agreement and the access-control list, the organisational layer, record who may do it. The contract, the security and the minimisation, the technical layer, carry it out within the envelope. An exchange is ready only when all three line up — and that is the architect's final check before a service goes live. It is also why the data-protection officer signs off, not the architect alone: the envelope is a shared responsibility, by design. This is also where the framework's most important quiet rule lives: joining the bus never, by itself, grants access to anything. Membership buys the secure channel and the trust. The right to read a specific dataset stays with the provider, who grants it per service — the Letter of Interest is that grant, and the access-control list is its technical shadow. An agency with valid certificates and a working connection still has access to nothing until a data owner says so.</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data-protection envelope is the final layer on a real exchange. A lawful basis from the decree, a Letter of Interest between the agencies, and data protection built into the configuration by design. With the technical work inside that envelope, an exchange is not just possible — it is lawful, and ready to go live. That completes the architecture module: meaning, contract, security, wiring, and the envelope that makes it all lawful.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Build the technical layer —
from architecture to a lawful call</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Government Interoperability Framework · Module 4</a:t>
            </a:r>
          </a:p>
          <a:p>
            <a:r>
              <a:rPr sz="1400" b="0" i="0">
                <a:solidFill>
                  <a:srgbClr val="595959"/>
                </a:solidFill>
                <a:latin typeface="Arial"/>
              </a:rPr>
              <a:t>Eight standalone videos for the architect who builds on the bus: the four functional layers, the three trust zones, the standards portfolio, the semantic map and the service contract drafted with AI, the Giga worked case, wiring a service onto the bus — and the data-protection envelope that makes the exchange lawful.</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~40 mins across 8 videos (4.1 – 4.8)</a:t>
            </a:r>
          </a:p>
          <a:p>
            <a:r>
              <a:rPr sz="1400" b="1" i="0">
                <a:solidFill>
                  <a:srgbClr val="1A1A1A"/>
                </a:solidFill>
                <a:latin typeface="Arial"/>
              </a:rPr>
              <a:t>Target audience: </a:t>
            </a:r>
            <a:r>
              <a:rPr sz="1400" b="0" i="0">
                <a:solidFill>
                  <a:srgbClr val="1A1A1A"/>
                </a:solidFill>
                <a:latin typeface="Arial"/>
              </a:rPr>
              <a:t>Chief or senior architect · integration lead · agency technical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TECHNICAL LAYER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Every component in its layer</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Every call secured by zone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shared standards menu</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Meaning and contract, generated</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Wired, tested — and lawful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layers · 3 trust zones · 1 test call that resolves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4 — eight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4.1  Place every component — the four functional layers</a:t>
            </a:r>
            <a:r>
              <a:rPr sz="1200" b="0" i="0">
                <a:solidFill>
                  <a:srgbClr val="595959"/>
                </a:solidFill>
                <a:latin typeface="Arial"/>
              </a:rPr>
              <a:t>   ~5 min</a:t>
            </a:r>
          </a:p>
          <a:p>
            <a:pPr algn="l">
              <a:spcAft>
                <a:spcPts val="900"/>
              </a:spcAft>
            </a:pPr>
            <a:r>
              <a:rPr sz="1500" b="1" i="0">
                <a:solidFill>
                  <a:srgbClr val="1A1A1A"/>
                </a:solidFill>
                <a:latin typeface="Arial"/>
              </a:rPr>
              <a:t>4.2  Secure every call — the three trust zones</a:t>
            </a:r>
            <a:r>
              <a:rPr sz="1200" b="0" i="0">
                <a:solidFill>
                  <a:srgbClr val="595959"/>
                </a:solidFill>
                <a:latin typeface="Arial"/>
              </a:rPr>
              <a:t>   ~5 min</a:t>
            </a:r>
          </a:p>
          <a:p>
            <a:pPr algn="l">
              <a:spcAft>
                <a:spcPts val="900"/>
              </a:spcAft>
            </a:pPr>
            <a:r>
              <a:rPr sz="1500" b="1" i="0">
                <a:solidFill>
                  <a:srgbClr val="1A1A1A"/>
                </a:solidFill>
                <a:latin typeface="Arial"/>
              </a:rPr>
              <a:t>4.3  Adopt the standards portfolio</a:t>
            </a:r>
            <a:r>
              <a:rPr sz="1200" b="0" i="0">
                <a:solidFill>
                  <a:srgbClr val="595959"/>
                </a:solidFill>
                <a:latin typeface="Arial"/>
              </a:rPr>
              <a:t>   ~5 min</a:t>
            </a:r>
          </a:p>
          <a:p>
            <a:pPr algn="l">
              <a:spcAft>
                <a:spcPts val="900"/>
              </a:spcAft>
            </a:pPr>
            <a:r>
              <a:rPr sz="1500" b="1" i="0">
                <a:solidFill>
                  <a:srgbClr val="1A1A1A"/>
                </a:solidFill>
                <a:latin typeface="Arial"/>
              </a:rPr>
              <a:t>4.4  Generate the semantic map</a:t>
            </a:r>
            <a:r>
              <a:rPr sz="1200" b="0" i="0">
                <a:solidFill>
                  <a:srgbClr val="595959"/>
                </a:solidFill>
                <a:latin typeface="Arial"/>
              </a:rPr>
              <a:t>   ~5 min</a:t>
            </a:r>
          </a:p>
          <a:p>
            <a:pPr algn="l">
              <a:spcAft>
                <a:spcPts val="900"/>
              </a:spcAft>
            </a:pPr>
            <a:r>
              <a:rPr sz="1500" b="1" i="0">
                <a:solidFill>
                  <a:srgbClr val="1A1A1A"/>
                </a:solidFill>
                <a:latin typeface="Arial"/>
              </a:rPr>
              <a:t>4.5  Generate a service contract</a:t>
            </a:r>
            <a:r>
              <a:rPr sz="1200" b="0" i="0">
                <a:solidFill>
                  <a:srgbClr val="595959"/>
                </a:solidFill>
                <a:latin typeface="Arial"/>
              </a:rPr>
              <a:t>   ~5 min</a:t>
            </a:r>
          </a:p>
          <a:p>
            <a:pPr algn="l">
              <a:spcAft>
                <a:spcPts val="900"/>
              </a:spcAft>
            </a:pPr>
            <a:r>
              <a:rPr sz="1500" b="1" i="0">
                <a:solidFill>
                  <a:srgbClr val="1A1A1A"/>
                </a:solidFill>
                <a:latin typeface="Arial"/>
              </a:rPr>
              <a:t>4.6  Put a real data source on the bus — the Giga case</a:t>
            </a:r>
            <a:r>
              <a:rPr sz="1200" b="0" i="0">
                <a:solidFill>
                  <a:srgbClr val="595959"/>
                </a:solidFill>
                <a:latin typeface="Arial"/>
              </a:rPr>
              <a:t>   ~5 min</a:t>
            </a:r>
          </a:p>
          <a:p>
            <a:pPr algn="l">
              <a:spcAft>
                <a:spcPts val="900"/>
              </a:spcAft>
            </a:pPr>
            <a:r>
              <a:rPr sz="1500" b="1" i="0">
                <a:solidFill>
                  <a:srgbClr val="1A1A1A"/>
                </a:solidFill>
                <a:latin typeface="Arial"/>
              </a:rPr>
              <a:t>4.7  Wire a service onto the bus</a:t>
            </a:r>
            <a:r>
              <a:rPr sz="1200" b="0" i="0">
                <a:solidFill>
                  <a:srgbClr val="595959"/>
                </a:solidFill>
                <a:latin typeface="Arial"/>
              </a:rPr>
              <a:t>   ~5 min</a:t>
            </a:r>
          </a:p>
          <a:p>
            <a:pPr algn="l">
              <a:spcAft>
                <a:spcPts val="900"/>
              </a:spcAft>
            </a:pPr>
            <a:r>
              <a:rPr sz="1500" b="1" i="0">
                <a:solidFill>
                  <a:srgbClr val="1A1A1A"/>
                </a:solidFill>
                <a:latin typeface="Arial"/>
              </a:rPr>
              <a:t>4.8  Make the exchange lawful — the envelope</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Adopt the architecture and the standards — do not invent them.</a:t>
            </a:r>
          </a:p>
          <a:p>
            <a:pPr>
              <a:spcAft>
                <a:spcPts val="1000"/>
              </a:spcAft>
            </a:pPr>
            <a:r>
              <a:rPr sz="1900" b="0" i="1">
                <a:solidFill>
                  <a:srgbClr val="1A1A1A"/>
                </a:solidFill>
                <a:latin typeface="Arial"/>
              </a:rPr>
              <a:t>Generate the meaning and the contract with AI, confirm every field, wire the service, and check it is lawful before it goes live.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Place every component — the four functional layers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Four functional layers — Service Access, Event Distribution, Trust and Security, Governance and Administration — give every component of the platform a place.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 not draw a new platform. Adopt a reference architecture.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Other countries have already settled the shape of an interoperability platform.</a:t>
            </a:r>
          </a:p>
          <a:p>
            <a:pPr>
              <a:spcAft>
                <a:spcPts val="800"/>
              </a:spcAft>
            </a:pPr>
            <a:r>
              <a:rPr sz="1700" b="0" i="0">
                <a:solidFill>
                  <a:srgbClr val="595959"/>
                </a:solidFill>
                <a:latin typeface="Arial"/>
              </a:rPr>
              <a:t>Every component you build or buy fits one of four functional layers.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functional layers — every component has a home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20139"/>
          </a:xfrm>
          <a:prstGeom prst="rect">
            <a:avLst/>
          </a:prstGeom>
          <a:noFill/>
        </p:spPr>
        <p:txBody>
          <a:bodyPr wrap="square">
            <a:spAutoFit/>
          </a:bodyPr>
          <a:lstStyle/>
          <a:p>
            <a:pPr>
              <a:spcAft>
                <a:spcPts val="300"/>
              </a:spcAft>
            </a:pPr>
            <a:r>
              <a:rPr sz="1900" b="1" i="0">
                <a:solidFill>
                  <a:srgbClr val="1A1A1A"/>
                </a:solidFill>
                <a:latin typeface="Arial"/>
              </a:rPr>
              <a:t>Service Access</a:t>
            </a:r>
          </a:p>
          <a:p>
            <a:pPr>
              <a:spcAft>
                <a:spcPts val="300"/>
              </a:spcAft>
            </a:pPr>
            <a:r>
              <a:rPr sz="1550" b="0" i="0">
                <a:solidFill>
                  <a:srgbClr val="595959"/>
                </a:solidFill>
                <a:latin typeface="Arial"/>
              </a:rPr>
              <a:t>How a member system reaches the bus and calls a service.</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20139"/>
          </a:xfrm>
          <a:prstGeom prst="rect">
            <a:avLst/>
          </a:prstGeom>
          <a:noFill/>
        </p:spPr>
        <p:txBody>
          <a:bodyPr wrap="square">
            <a:spAutoFit/>
          </a:bodyPr>
          <a:lstStyle/>
          <a:p>
            <a:pPr>
              <a:spcAft>
                <a:spcPts val="300"/>
              </a:spcAft>
            </a:pPr>
            <a:r>
              <a:rPr sz="1900" b="1" i="0">
                <a:solidFill>
                  <a:srgbClr val="1A1A1A"/>
                </a:solidFill>
                <a:latin typeface="Arial"/>
              </a:rPr>
              <a:t>Event Distribution</a:t>
            </a:r>
          </a:p>
          <a:p>
            <a:pPr>
              <a:spcAft>
                <a:spcPts val="300"/>
              </a:spcAft>
            </a:pPr>
            <a:r>
              <a:rPr sz="1550" b="0" i="0">
                <a:solidFill>
                  <a:srgbClr val="595959"/>
                </a:solidFill>
                <a:latin typeface="Arial"/>
              </a:rPr>
              <a:t>How messages and events move across the federation.</a:t>
            </a:r>
          </a:p>
        </p:txBody>
      </p:sp>
      <p:sp>
        <p:nvSpPr>
          <p:cNvPr id="9" name="Rectangle 8"/>
          <p:cNvSpPr/>
          <p:nvPr/>
        </p:nvSpPr>
        <p:spPr>
          <a:xfrm>
            <a:off x="621792" y="3753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40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794760"/>
            <a:ext cx="10527487" cy="1120139"/>
          </a:xfrm>
          <a:prstGeom prst="rect">
            <a:avLst/>
          </a:prstGeom>
          <a:noFill/>
        </p:spPr>
        <p:txBody>
          <a:bodyPr wrap="square">
            <a:spAutoFit/>
          </a:bodyPr>
          <a:lstStyle/>
          <a:p>
            <a:pPr>
              <a:spcAft>
                <a:spcPts val="300"/>
              </a:spcAft>
            </a:pPr>
            <a:r>
              <a:rPr sz="1900" b="1" i="0">
                <a:solidFill>
                  <a:srgbClr val="1A1A1A"/>
                </a:solidFill>
                <a:latin typeface="Arial"/>
              </a:rPr>
              <a:t>Trust and Security Infrastructure</a:t>
            </a:r>
          </a:p>
          <a:p>
            <a:pPr>
              <a:spcAft>
                <a:spcPts val="300"/>
              </a:spcAft>
            </a:pPr>
            <a:r>
              <a:rPr sz="1550" b="0" i="0">
                <a:solidFill>
                  <a:srgbClr val="595959"/>
                </a:solidFill>
                <a:latin typeface="Arial"/>
              </a:rPr>
              <a:t>Certificates, identities, encryption.</a:t>
            </a:r>
          </a:p>
        </p:txBody>
      </p:sp>
      <p:sp>
        <p:nvSpPr>
          <p:cNvPr id="12" name="Rectangle 11"/>
          <p:cNvSpPr/>
          <p:nvPr/>
        </p:nvSpPr>
        <p:spPr>
          <a:xfrm>
            <a:off x="621792" y="4919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06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60620"/>
            <a:ext cx="10527487" cy="1120139"/>
          </a:xfrm>
          <a:prstGeom prst="rect">
            <a:avLst/>
          </a:prstGeom>
          <a:noFill/>
        </p:spPr>
        <p:txBody>
          <a:bodyPr wrap="square">
            <a:spAutoFit/>
          </a:bodyPr>
          <a:lstStyle/>
          <a:p>
            <a:pPr>
              <a:spcAft>
                <a:spcPts val="300"/>
              </a:spcAft>
            </a:pPr>
            <a:r>
              <a:rPr sz="1900" b="1" i="0">
                <a:solidFill>
                  <a:srgbClr val="1A1A1A"/>
                </a:solidFill>
                <a:latin typeface="Arial"/>
              </a:rPr>
              <a:t>Governance and Administration</a:t>
            </a:r>
          </a:p>
          <a:p>
            <a:pPr>
              <a:spcAft>
                <a:spcPts val="300"/>
              </a:spcAft>
            </a:pPr>
            <a:r>
              <a:rPr sz="1550" b="0" i="0">
                <a:solidFill>
                  <a:srgbClr val="595959"/>
                </a:solidFill>
                <a:latin typeface="Arial"/>
              </a:rPr>
              <a:t>Registries of members and services, and monitoring.</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layers are a filing system for decisions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Where does the service catalogue live?</a:t>
            </a:r>
          </a:p>
          <a:p>
            <a:pPr>
              <a:spcAft>
                <a:spcPts val="300"/>
              </a:spcAft>
            </a:pPr>
            <a:r>
              <a:rPr sz="1550" b="0" i="0">
                <a:solidFill>
                  <a:srgbClr val="595959"/>
                </a:solidFill>
                <a:latin typeface="Arial"/>
              </a:rPr>
              <a:t>Governance and Administration.</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Where does mutual encryption sit?</a:t>
            </a:r>
          </a:p>
          <a:p>
            <a:pPr>
              <a:spcAft>
                <a:spcPts val="300"/>
              </a:spcAft>
            </a:pPr>
            <a:r>
              <a:rPr sz="1550" b="0" i="0">
                <a:solidFill>
                  <a:srgbClr val="595959"/>
                </a:solidFill>
                <a:latin typeface="Arial"/>
              </a:rPr>
              <a:t>Trust and Security Infrastructure.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Two architects disagree where something belongs?</a:t>
            </a:r>
          </a:p>
          <a:p>
            <a:pPr>
              <a:spcAft>
                <a:spcPts val="300"/>
              </a:spcAft>
            </a:pPr>
            <a:r>
              <a:rPr sz="1550" b="0" i="0">
                <a:solidFill>
                  <a:srgbClr val="595959"/>
                </a:solidFill>
                <a:latin typeface="Arial"/>
              </a:rPr>
              <a:t>The reference architecture settles it — not the louder voice.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Every component, every standard, every piece of configuration has a home.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shared reference architecture is re-use, seen from the architect's chair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Built once, and reused by every country and every sector that adopts it.</a:t>
            </a:r>
          </a:p>
          <a:p>
            <a:pPr>
              <a:spcAft>
                <a:spcPts val="1200"/>
              </a:spcAft>
            </a:pPr>
            <a:r>
              <a:rPr sz="2000" b="0" i="0">
                <a:solidFill>
                  <a:srgbClr val="1A1A1A"/>
                </a:solidFill>
                <a:latin typeface="Arial"/>
              </a:rPr>
              <a:t>Your agencies — and the next sector after education — plug into the same four-layer shape instead of each inventing their own.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Re-use a settled structure instead of paying, again, to discover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Event distribution — defer it on purpose, never skip it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REQUEST AND RESPONSE ASKS</a:t>
            </a:r>
          </a:p>
          <a:p>
            <a:pPr>
              <a:spcAft>
                <a:spcPts val="700"/>
              </a:spcAft>
            </a:pPr>
            <a:r>
              <a:rPr sz="1600" b="0" i="0">
                <a:solidFill>
                  <a:srgbClr val="1A1A1A"/>
                </a:solidFill>
                <a:latin typeface="Arial"/>
              </a:rPr>
              <a:t>A system asks a question and gets an answer.</a:t>
            </a:r>
          </a:p>
          <a:p>
            <a:pPr>
              <a:spcAft>
                <a:spcPts val="700"/>
              </a:spcAft>
            </a:pPr>
            <a:r>
              <a:rPr sz="1600" b="0" i="0">
                <a:solidFill>
                  <a:srgbClr val="1A1A1A"/>
                </a:solidFill>
                <a:latin typeface="Arial"/>
              </a:rPr>
              <a:t>A first bus can run on this alone — the demonstration does.</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EVENTS TELL</a:t>
            </a:r>
          </a:p>
          <a:p>
            <a:pPr>
              <a:spcAft>
                <a:spcPts val="700"/>
              </a:spcAft>
            </a:pPr>
            <a:r>
              <a:rPr sz="1600" b="0" i="0">
                <a:solidFill>
                  <a:srgbClr val="1A1A1A"/>
                </a:solidFill>
                <a:latin typeface="Arial"/>
              </a:rPr>
              <a:t>A birth registered, a learner enrolled — published once by the source.</a:t>
            </a:r>
          </a:p>
          <a:p>
            <a:pPr>
              <a:spcAft>
                <a:spcPts val="700"/>
              </a:spcAft>
            </a:pPr>
            <a:r>
              <a:rPr sz="1600" b="0" i="0">
                <a:solidFill>
                  <a:srgbClr val="1A1A1A"/>
                </a:solidFill>
                <a:latin typeface="Arial"/>
              </a:rPr>
              <a:t>Delivered to every subscriber; replayable if one was down.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Once-only at scale. Give it a place in the plan — not a surprise in year three.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Place every component, and the sparse layers show what is missing</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security server, the central registry, the monitoring tool, the identity adapter — each goes in its layer.</a:t>
            </a:r>
          </a:p>
          <a:p>
            <a:pPr>
              <a:spcAft>
                <a:spcPts val="1200"/>
              </a:spcAft>
            </a:pPr>
            <a:r>
              <a:rPr sz="2000" b="0" i="0">
                <a:solidFill>
                  <a:srgbClr val="1A1A1A"/>
                </a:solidFill>
                <a:latin typeface="Arial"/>
              </a:rPr>
              <a:t>Used this way, the reference architecture is a checklist as much as a diagram.</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layers that come out sparse are what you have not yet planned for.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Adopt the four-layer reference architecture, place every component in its layer, and the gaps show you what you still have to build.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platform components to the four functional layers.</a:t>
            </a:r>
          </a:p>
          <a:p>
            <a:pPr algn="l">
              <a:spcAft>
                <a:spcPts val="400"/>
              </a:spcAft>
            </a:pPr>
            <a:r>
              <a:rPr sz="1800" b="0" i="0">
                <a:solidFill>
                  <a:srgbClr val="595959"/>
                </a:solidFill>
                <a:latin typeface="Arial"/>
              </a:rPr>
              <a:t>The prompt in the companion material gives you a component-to-layer mapping plus a per-layer list of gaps.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NIIS X-Road reference architecture — the four functional layers (niis.org)</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Place every component — the four functional layers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Secure every call — the three trust zones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Public, Member-Internal, Trust-Anchor — knowing which zone a call crosses tells you exactly what security it needs.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Security on the bus is not one wall around everything.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is zones — a call needs the security of the boundaries it crosses.</a:t>
            </a:r>
          </a:p>
          <a:p>
            <a:pPr>
              <a:spcAft>
                <a:spcPts val="800"/>
              </a:spcAft>
            </a:pPr>
            <a:r>
              <a:rPr sz="1700" b="0" i="0">
                <a:solidFill>
                  <a:srgbClr val="595959"/>
                </a:solidFill>
                <a:latin typeface="Arial"/>
              </a:rPr>
              <a:t>Know the zones, and you can state precisely what protects any exchange.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trust zones — and every message crosses them</a:t>
            </a:r>
          </a:p>
        </p:txBody>
      </p:sp>
      <p:sp>
        <p:nvSpPr>
          <p:cNvPr id="4" name="Rounded Rectangle 3"/>
          <p:cNvSpPr/>
          <p:nvPr/>
        </p:nvSpPr>
        <p:spPr>
          <a:xfrm>
            <a:off x="658368" y="1508760"/>
            <a:ext cx="10881360" cy="868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TRUST-ANCHOR</a:t>
            </a:r>
          </a:p>
          <a:p>
            <a:pPr algn="l">
              <a:spcAft>
                <a:spcPts val="300"/>
              </a:spcAft>
            </a:pPr>
            <a:r>
              <a:rPr sz="1500" b="0" i="0">
                <a:solidFill>
                  <a:srgbClr val="FFFFFF"/>
                </a:solidFill>
                <a:latin typeface="Arial"/>
              </a:rPr>
              <a:t>The certification authority everyone in the federation trusts to vouch for who is who.</a:t>
            </a:r>
          </a:p>
        </p:txBody>
      </p:sp>
      <p:cxnSp>
        <p:nvCxnSpPr>
          <p:cNvPr id="5" name="Connector 4"/>
          <p:cNvCxnSpPr/>
          <p:nvPr/>
        </p:nvCxnSpPr>
        <p:spPr>
          <a:xfrm>
            <a:off x="4078224" y="4000500"/>
            <a:ext cx="29260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827264" y="4000500"/>
            <a:ext cx="29260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2697480"/>
            <a:ext cx="3383280" cy="2606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MEMBER-INTERNAL</a:t>
            </a:r>
          </a:p>
          <a:p>
            <a:pPr algn="l">
              <a:spcAft>
                <a:spcPts val="300"/>
              </a:spcAft>
            </a:pPr>
            <a:r>
              <a:rPr sz="1600" b="0" i="0">
                <a:solidFill>
                  <a:srgbClr val="1A1A1A"/>
                </a:solidFill>
                <a:latin typeface="Arial"/>
              </a:rPr>
              <a:t>The calling agency's own network.</a:t>
            </a:r>
          </a:p>
          <a:p>
            <a:pPr algn="l">
              <a:spcAft>
                <a:spcPts val="300"/>
              </a:spcAft>
            </a:pPr>
            <a:r>
              <a:rPr sz="1600" b="0" i="0">
                <a:solidFill>
                  <a:srgbClr val="1A1A1A"/>
                </a:solidFill>
                <a:latin typeface="Arial"/>
              </a:rPr>
              <a:t>Trusted by that agency.</a:t>
            </a:r>
          </a:p>
        </p:txBody>
      </p:sp>
      <p:sp>
        <p:nvSpPr>
          <p:cNvPr id="8" name="Rounded Rectangle 7"/>
          <p:cNvSpPr/>
          <p:nvPr/>
        </p:nvSpPr>
        <p:spPr>
          <a:xfrm>
            <a:off x="4407408" y="2697480"/>
            <a:ext cx="3383280" cy="2606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PUBLIC</a:t>
            </a:r>
          </a:p>
          <a:p>
            <a:pPr algn="l">
              <a:spcAft>
                <a:spcPts val="300"/>
              </a:spcAft>
            </a:pPr>
            <a:r>
              <a:rPr sz="1600" b="0" i="0">
                <a:solidFill>
                  <a:srgbClr val="1A1A1A"/>
                </a:solidFill>
                <a:latin typeface="Arial"/>
              </a:rPr>
              <a:t>The open internet.</a:t>
            </a:r>
          </a:p>
          <a:p>
            <a:pPr algn="l">
              <a:spcAft>
                <a:spcPts val="300"/>
              </a:spcAft>
            </a:pPr>
            <a:r>
              <a:rPr sz="1600" b="0" i="0">
                <a:solidFill>
                  <a:srgbClr val="1A1A1A"/>
                </a:solidFill>
                <a:latin typeface="Arial"/>
              </a:rPr>
              <a:t>Nothing trusted by default.</a:t>
            </a:r>
          </a:p>
        </p:txBody>
      </p:sp>
      <p:sp>
        <p:nvSpPr>
          <p:cNvPr id="9" name="Rounded Rectangle 8"/>
          <p:cNvSpPr/>
          <p:nvPr/>
        </p:nvSpPr>
        <p:spPr>
          <a:xfrm>
            <a:off x="8156448" y="2697480"/>
            <a:ext cx="3383280" cy="2606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MEMBER-INTERNAL</a:t>
            </a:r>
          </a:p>
          <a:p>
            <a:pPr algn="l">
              <a:spcAft>
                <a:spcPts val="300"/>
              </a:spcAft>
            </a:pPr>
            <a:r>
              <a:rPr sz="1600" b="0" i="0">
                <a:solidFill>
                  <a:srgbClr val="1A1A1A"/>
                </a:solidFill>
                <a:latin typeface="Arial"/>
              </a:rPr>
              <a:t>The providing agency's own network.</a:t>
            </a:r>
          </a:p>
          <a:p>
            <a:pPr algn="l">
              <a:spcAft>
                <a:spcPts val="300"/>
              </a:spcAft>
            </a:pPr>
            <a:r>
              <a:rPr sz="1600" b="0" i="0">
                <a:solidFill>
                  <a:srgbClr val="1A1A1A"/>
                </a:solidFill>
                <a:latin typeface="Arial"/>
              </a:rPr>
              <a:t>Trusted by that agency.</a:t>
            </a:r>
          </a:p>
        </p:txBody>
      </p:sp>
      <p:sp>
        <p:nvSpPr>
          <p:cNvPr id="10" name="TextBox 9"/>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The message starts in one internal zone, crosses the public zone, and arrives in another.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security falls out of the zones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Between security servers: mutual TLS</a:t>
            </a:r>
          </a:p>
          <a:p>
            <a:pPr>
              <a:spcAft>
                <a:spcPts val="300"/>
              </a:spcAft>
            </a:pPr>
            <a:r>
              <a:rPr sz="1550" b="0" i="0">
                <a:solidFill>
                  <a:srgbClr val="595959"/>
                </a:solidFill>
                <a:latin typeface="Arial"/>
              </a:rPr>
              <a:t>Both sides present a certificate and prove who they are.</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message is signed and logged</a:t>
            </a:r>
          </a:p>
          <a:p>
            <a:pPr>
              <a:spcAft>
                <a:spcPts val="300"/>
              </a:spcAft>
            </a:pPr>
            <a:r>
              <a:rPr sz="1550" b="0" i="0">
                <a:solidFill>
                  <a:srgbClr val="595959"/>
                </a:solidFill>
                <a:latin typeface="Arial"/>
              </a:rPr>
              <a:t>The X-Road message protocol — it cannot be forged or denied.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Trust-Anchor issues and revokes certificates</a:t>
            </a:r>
          </a:p>
          <a:p>
            <a:pPr>
              <a:spcAft>
                <a:spcPts val="300"/>
              </a:spcAft>
            </a:pPr>
            <a:r>
              <a:rPr sz="1550" b="0" i="0">
                <a:solidFill>
                  <a:srgbClr val="595959"/>
                </a:solidFill>
                <a:latin typeface="Arial"/>
              </a:rPr>
              <a:t>How a misbehaving member gets cut off from the bus.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log is timestamped and itself signed</a:t>
            </a:r>
          </a:p>
          <a:p>
            <a:pPr>
              <a:spcAft>
                <a:spcPts val="300"/>
              </a:spcAft>
            </a:pPr>
            <a:r>
              <a:rPr sz="1550" b="0" i="0">
                <a:solidFill>
                  <a:srgbClr val="595959"/>
                </a:solidFill>
                <a:latin typeface="Arial"/>
              </a:rPr>
              <a:t>The evidence a court, an auditor or a data-protection authority reads.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decree can make an electronic exchange binding only because this log exists.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security server carries the trust burden at each member's edge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It holds the certificates, does the mutual TLS, and signs and logs the messages.</a:t>
            </a:r>
          </a:p>
          <a:p>
            <a:pPr>
              <a:spcAft>
                <a:spcPts val="1200"/>
              </a:spcAft>
            </a:pPr>
            <a:r>
              <a:rPr sz="2000" b="0" i="0">
                <a:solidFill>
                  <a:srgbClr val="1A1A1A"/>
                </a:solidFill>
                <a:latin typeface="Arial"/>
              </a:rPr>
              <a:t>The member's own systems stay in their internal zone and never face the public zone directly.</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That separation is often what decides whether a cautious agency joins at all.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Trace the zones a call crosses, and its security is specified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Examination authority to identity authority: one internal zone, the public zone, another internal zone.</a:t>
            </a:r>
          </a:p>
          <a:p>
            <a:pPr>
              <a:spcAft>
                <a:spcPts val="1200"/>
              </a:spcAft>
            </a:pPr>
            <a:r>
              <a:rPr sz="2000" b="0" i="0">
                <a:solidFill>
                  <a:srgbClr val="1A1A1A"/>
                </a:solidFill>
                <a:latin typeface="Arial"/>
              </a:rPr>
              <a:t>So: mutual TLS between the two security servers, a signed and logged message, and valid Trust-Anchor certificates at both ends.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Say exactly that, and any reviewer will accept the specification.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Name the zones a call crosses — public, member-internal, trust-anchor — and its security requirements are specified, not guessed.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Trace an exchange across the trust zones and name its security.</a:t>
            </a:r>
          </a:p>
          <a:p>
            <a:pPr algn="l">
              <a:spcAft>
                <a:spcPts val="400"/>
              </a:spcAft>
            </a:pPr>
            <a:r>
              <a:rPr sz="1800" b="0" i="0">
                <a:solidFill>
                  <a:srgbClr val="595959"/>
                </a:solidFill>
                <a:latin typeface="Arial"/>
              </a:rPr>
              <a:t>The prompt in the companion material gives you a zone-by-zone security specification plus failure modes.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NIIS X-Road trust model and message protocol (niis.org)</a:t>
            </a:r>
          </a:p>
          <a:p>
            <a:pPr>
              <a:spcAft>
                <a:spcPts val="1200"/>
              </a:spcAft>
            </a:pPr>
            <a:r>
              <a:rPr sz="1700" b="0" i="0">
                <a:solidFill>
                  <a:srgbClr val="1A1A1A"/>
                </a:solidFill>
                <a:latin typeface="Arial"/>
              </a:rPr>
              <a:t>•  Mutual TLS (mTLS)</a:t>
            </a:r>
          </a:p>
          <a:p>
            <a:pPr>
              <a:spcAft>
                <a:spcPts val="1200"/>
              </a:spcAft>
            </a:pPr>
            <a:r>
              <a:rPr sz="1700" b="0" i="0">
                <a:solidFill>
                  <a:srgbClr val="1A1A1A"/>
                </a:solidFill>
                <a:latin typeface="Arial"/>
              </a:rPr>
              <a:t>•  RFC 3161 — time-stamping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Adopt the standards portfolio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Adopt the published standards — REST/OpenAPI, OAuth/OIDC, mTLS, X-Road — instead of writing your own; the portfolio is the menu every member shares.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Let each agency pick its own standards, and interoperability breaks.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framework's answer is one published menu every member uses.</a:t>
            </a:r>
          </a:p>
          <a:p>
            <a:pPr>
              <a:spcAft>
                <a:spcPts val="800"/>
              </a:spcAft>
            </a:pPr>
            <a:r>
              <a:rPr sz="1700" b="0" i="0">
                <a:solidFill>
                  <a:srgbClr val="595959"/>
                </a:solidFill>
                <a:latin typeface="Arial"/>
              </a:rPr>
              <a:t>Your job: select from it, record the versions, hold every member to them.</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needs, four published technical standards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Describing services</a:t>
            </a:r>
          </a:p>
          <a:p>
            <a:pPr>
              <a:spcAft>
                <a:spcPts val="300"/>
              </a:spcAft>
            </a:pPr>
            <a:r>
              <a:rPr sz="1550" b="0" i="0">
                <a:solidFill>
                  <a:srgbClr val="595959"/>
                </a:solidFill>
                <a:latin typeface="Arial"/>
              </a:rPr>
              <a:t>REST with OpenAPI 3.x.</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Proving identity and permissions</a:t>
            </a:r>
          </a:p>
          <a:p>
            <a:pPr>
              <a:spcAft>
                <a:spcPts val="300"/>
              </a:spcAft>
            </a:pPr>
            <a:r>
              <a:rPr sz="1550" b="0" i="0">
                <a:solidFill>
                  <a:srgbClr val="595959"/>
                </a:solidFill>
                <a:latin typeface="Arial"/>
              </a:rPr>
              <a:t>OAuth 2.x / OpenID Connect.</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Securing the connection</a:t>
            </a:r>
          </a:p>
          <a:p>
            <a:pPr>
              <a:spcAft>
                <a:spcPts val="300"/>
              </a:spcAft>
            </a:pPr>
            <a:r>
              <a:rPr sz="1550" b="0" i="0">
                <a:solidFill>
                  <a:srgbClr val="595959"/>
                </a:solidFill>
                <a:latin typeface="Arial"/>
              </a:rPr>
              <a:t>Mutual TLS — both ends prove their identity.</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bus itself</a:t>
            </a:r>
          </a:p>
          <a:p>
            <a:pPr>
              <a:spcAft>
                <a:spcPts val="300"/>
              </a:spcAft>
            </a:pPr>
            <a:r>
              <a:rPr sz="1550" b="0" i="0">
                <a:solidFill>
                  <a:srgbClr val="595959"/>
                </a:solidFill>
                <a:latin typeface="Arial"/>
              </a:rPr>
              <a:t>The X-Road message protocol.</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None invented for your country — each comes with tools, documentation and people who know it.</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semantic standards are the published vocabularies for meaning</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Describing data elements</a:t>
            </a:r>
          </a:p>
          <a:p>
            <a:pPr>
              <a:spcAft>
                <a:spcPts val="300"/>
              </a:spcAft>
            </a:pPr>
            <a:r>
              <a:rPr sz="1550" b="0" i="0">
                <a:solidFill>
                  <a:srgbClr val="595959"/>
                </a:solidFill>
                <a:latin typeface="Arial"/>
              </a:rPr>
              <a:t>ISO/IEC 11179.</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Linking data so meaning travels</a:t>
            </a:r>
          </a:p>
          <a:p>
            <a:pPr>
              <a:spcAft>
                <a:spcPts val="300"/>
              </a:spcAft>
            </a:pPr>
            <a:r>
              <a:rPr sz="1550" b="0" i="0">
                <a:solidFill>
                  <a:srgbClr val="595959"/>
                </a:solidFill>
                <a:latin typeface="Arial"/>
              </a:rPr>
              <a:t>JSON-LD.</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Credentials a holder carries</a:t>
            </a:r>
          </a:p>
          <a:p>
            <a:pPr>
              <a:spcAft>
                <a:spcPts val="300"/>
              </a:spcAft>
            </a:pPr>
            <a:r>
              <a:rPr sz="1550" b="0" i="0">
                <a:solidFill>
                  <a:srgbClr val="595959"/>
                </a:solidFill>
                <a:latin typeface="Arial"/>
              </a:rPr>
              <a:t>W3C Verifiable Credentials — trusted without phoning the issuer.</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Reuse them rather than invent them.</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standard chosen once is reused by every member and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second agency does not re-decide how a service is described.</a:t>
            </a:r>
          </a:p>
          <a:p>
            <a:pPr>
              <a:spcAft>
                <a:spcPts val="1200"/>
              </a:spcAft>
            </a:pPr>
            <a:r>
              <a:rPr sz="2000" b="0" i="0">
                <a:solidFill>
                  <a:srgbClr val="1A1A1A"/>
                </a:solidFill>
                <a:latin typeface="Arial"/>
              </a:rPr>
              <a:t>The education work you do now is reused when health comes onto the bus.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Only whole-of-government planning can impose that discipline. A procurement clause cannot.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deliverable is the portfolio document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For each need: the standard, its version, its profile</a:t>
            </a:r>
          </a:p>
          <a:p>
            <a:pPr>
              <a:spcAft>
                <a:spcPts val="300"/>
              </a:spcAft>
            </a:pPr>
            <a:r>
              <a:rPr sz="1550" b="0" i="0">
                <a:solidFill>
                  <a:srgbClr val="595959"/>
                </a:solidFill>
                <a:latin typeface="Arial"/>
              </a:rPr>
              <a:t>The profile is your small local refinements — keep it thin.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When it binds, and how long legacy systems have</a:t>
            </a:r>
          </a:p>
          <a:p>
            <a:pPr>
              <a:spcAft>
                <a:spcPts val="300"/>
              </a:spcAft>
            </a:pPr>
            <a:r>
              <a:rPr sz="1550" b="0" i="0">
                <a:solidFill>
                  <a:srgbClr val="595959"/>
                </a:solidFill>
                <a:latin typeface="Arial"/>
              </a:rPr>
              <a:t>Twelve to twenty-four months for a major version is usual.</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How a member proves conformance</a:t>
            </a:r>
          </a:p>
          <a:p>
            <a:pPr>
              <a:spcAft>
                <a:spcPts val="300"/>
              </a:spcAft>
            </a:pPr>
            <a:r>
              <a:rPr sz="1550" b="0" i="0">
                <a:solidFill>
                  <a:srgbClr val="595959"/>
                </a:solidFill>
                <a:latin typeface="Arial"/>
              </a:rPr>
              <a:t>A self-assessment, a third-party check, or a test suite the operator runs.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Who keeps it</a:t>
            </a:r>
          </a:p>
          <a:p>
            <a:pPr>
              <a:spcAft>
                <a:spcPts val="300"/>
              </a:spcAft>
            </a:pPr>
            <a:r>
              <a:rPr sz="1550" b="0" i="0">
                <a:solidFill>
                  <a:srgbClr val="595959"/>
                </a:solidFill>
                <a:latin typeface="Arial"/>
              </a:rPr>
              <a:t>The APIs Working Group maintains it; every member conforms to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standard with no binding date and no test is advice, not a standard.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Select from the published menu, record the standard and its version, and hold every member to the same portfolio.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Assemble your standards portfolio from the published menu.</a:t>
            </a:r>
          </a:p>
          <a:p>
            <a:pPr algn="l">
              <a:spcAft>
                <a:spcPts val="400"/>
              </a:spcAft>
            </a:pPr>
            <a:r>
              <a:rPr sz="1800" b="0" i="0">
                <a:solidFill>
                  <a:srgbClr val="595959"/>
                </a:solidFill>
                <a:latin typeface="Arial"/>
              </a:rPr>
              <a:t>The prompt in the companion material gives you a standards-portfolio table plus the decisions that need deliberation.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Technical — REST / OpenAPI 3.x; OAuth 2.x / OpenID Connect; mTLS; NIIS X-Road</a:t>
            </a:r>
          </a:p>
          <a:p>
            <a:pPr>
              <a:spcAft>
                <a:spcPts val="1200"/>
              </a:spcAft>
            </a:pPr>
            <a:r>
              <a:rPr sz="1700" b="0" i="0">
                <a:solidFill>
                  <a:srgbClr val="1A1A1A"/>
                </a:solidFill>
                <a:latin typeface="Arial"/>
              </a:rPr>
              <a:t>•  Semantic — ISO/IEC 11179; JSON-LD; W3C Verifiable Credentials</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Adopt the standards portfolio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Generate the semantic map</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Generate a semantic map so two agencies mean the same 'learner' before they exchange one — the hardest layer, made tractable.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working wire that carries misread data looks like success.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Meaning is the hardest layer, and the one most projects skip.</a:t>
            </a:r>
          </a:p>
          <a:p>
            <a:pPr>
              <a:spcAft>
                <a:spcPts val="800"/>
              </a:spcAft>
            </a:pPr>
            <a:r>
              <a:rPr sz="1700" b="0" i="0">
                <a:solidFill>
                  <a:srgbClr val="595959"/>
                </a:solidFill>
                <a:latin typeface="Arial"/>
              </a:rPr>
              <a:t>A semantic map makes it tractable — and AI drafts the first version.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semantic map sets out five things for one exchange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86968"/>
          </a:xfrm>
          <a:prstGeom prst="rect">
            <a:avLst/>
          </a:prstGeom>
          <a:noFill/>
        </p:spPr>
        <p:txBody>
          <a:bodyPr wrap="square">
            <a:spAutoFit/>
          </a:bodyPr>
          <a:lstStyle/>
          <a:p>
            <a:pPr>
              <a:spcAft>
                <a:spcPts val="300"/>
              </a:spcAft>
            </a:pPr>
            <a:r>
              <a:rPr sz="1900" b="1" i="0">
                <a:solidFill>
                  <a:srgbClr val="1A1A1A"/>
                </a:solidFill>
                <a:latin typeface="Arial"/>
              </a:rPr>
              <a:t>The entities</a:t>
            </a:r>
          </a:p>
          <a:p>
            <a:pPr>
              <a:spcAft>
                <a:spcPts val="300"/>
              </a:spcAft>
            </a:pPr>
            <a:r>
              <a:rPr sz="1550" b="0" i="0">
                <a:solidFill>
                  <a:srgbClr val="595959"/>
                </a:solidFill>
                <a:latin typeface="Arial"/>
              </a:rPr>
              <a:t>A learner, a school.</a:t>
            </a:r>
          </a:p>
        </p:txBody>
      </p:sp>
      <p:sp>
        <p:nvSpPr>
          <p:cNvPr id="6" name="Rectangle 5"/>
          <p:cNvSpPr/>
          <p:nvPr/>
        </p:nvSpPr>
        <p:spPr>
          <a:xfrm>
            <a:off x="621792" y="235458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414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95728"/>
            <a:ext cx="10527487" cy="886968"/>
          </a:xfrm>
          <a:prstGeom prst="rect">
            <a:avLst/>
          </a:prstGeom>
          <a:noFill/>
        </p:spPr>
        <p:txBody>
          <a:bodyPr wrap="square">
            <a:spAutoFit/>
          </a:bodyPr>
          <a:lstStyle/>
          <a:p>
            <a:pPr>
              <a:spcAft>
                <a:spcPts val="300"/>
              </a:spcAft>
            </a:pPr>
            <a:r>
              <a:rPr sz="1900" b="1" i="0">
                <a:solidFill>
                  <a:srgbClr val="1A1A1A"/>
                </a:solidFill>
                <a:latin typeface="Arial"/>
              </a:rPr>
              <a:t>Their fields</a:t>
            </a:r>
          </a:p>
          <a:p>
            <a:pPr>
              <a:spcAft>
                <a:spcPts val="300"/>
              </a:spcAft>
            </a:pPr>
            <a:r>
              <a:rPr sz="1550" b="0" i="0">
                <a:solidFill>
                  <a:srgbClr val="595959"/>
                </a:solidFill>
                <a:latin typeface="Arial"/>
              </a:rPr>
              <a:t>Name, date of birth, enrolment status.</a:t>
            </a:r>
          </a:p>
        </p:txBody>
      </p:sp>
      <p:sp>
        <p:nvSpPr>
          <p:cNvPr id="9" name="Rectangle 8"/>
          <p:cNvSpPr/>
          <p:nvPr/>
        </p:nvSpPr>
        <p:spPr>
          <a:xfrm>
            <a:off x="621792" y="32872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741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28416"/>
            <a:ext cx="10527487" cy="886968"/>
          </a:xfrm>
          <a:prstGeom prst="rect">
            <a:avLst/>
          </a:prstGeom>
          <a:noFill/>
        </p:spPr>
        <p:txBody>
          <a:bodyPr wrap="square">
            <a:spAutoFit/>
          </a:bodyPr>
          <a:lstStyle/>
          <a:p>
            <a:pPr>
              <a:spcAft>
                <a:spcPts val="300"/>
              </a:spcAft>
            </a:pPr>
            <a:r>
              <a:rPr sz="1900" b="1" i="0">
                <a:solidFill>
                  <a:srgbClr val="1A1A1A"/>
                </a:solidFill>
                <a:latin typeface="Arial"/>
              </a:rPr>
              <a:t>The code lists</a:t>
            </a:r>
          </a:p>
          <a:p>
            <a:pPr>
              <a:spcAft>
                <a:spcPts val="300"/>
              </a:spcAft>
            </a:pPr>
            <a:r>
              <a:rPr sz="1550" b="0" i="0">
                <a:solidFill>
                  <a:srgbClr val="595959"/>
                </a:solidFill>
                <a:latin typeface="Arial"/>
              </a:rPr>
              <a:t>The allowed values — one agency's "active" may be another's "enrolled".</a:t>
            </a:r>
          </a:p>
        </p:txBody>
      </p:sp>
      <p:sp>
        <p:nvSpPr>
          <p:cNvPr id="12" name="Rectangle 11"/>
          <p:cNvSpPr/>
          <p:nvPr/>
        </p:nvSpPr>
        <p:spPr>
          <a:xfrm>
            <a:off x="621792" y="42199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068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61104"/>
            <a:ext cx="10527487" cy="886968"/>
          </a:xfrm>
          <a:prstGeom prst="rect">
            <a:avLst/>
          </a:prstGeom>
          <a:noFill/>
        </p:spPr>
        <p:txBody>
          <a:bodyPr wrap="square">
            <a:spAutoFit/>
          </a:bodyPr>
          <a:lstStyle/>
          <a:p>
            <a:pPr>
              <a:spcAft>
                <a:spcPts val="300"/>
              </a:spcAft>
            </a:pPr>
            <a:r>
              <a:rPr sz="1900" b="1" i="0">
                <a:solidFill>
                  <a:srgbClr val="1A1A1A"/>
                </a:solidFill>
                <a:latin typeface="Arial"/>
              </a:rPr>
              <a:t>The identifier</a:t>
            </a:r>
          </a:p>
          <a:p>
            <a:pPr>
              <a:spcAft>
                <a:spcPts val="300"/>
              </a:spcAft>
            </a:pPr>
            <a:r>
              <a:rPr sz="1550" b="0" i="0">
                <a:solidFill>
                  <a:srgbClr val="595959"/>
                </a:solidFill>
                <a:latin typeface="Arial"/>
              </a:rPr>
              <a:t>Which key links the same learner across two agencies.</a:t>
            </a:r>
          </a:p>
        </p:txBody>
      </p:sp>
      <p:sp>
        <p:nvSpPr>
          <p:cNvPr id="15" name="Rectangle 14"/>
          <p:cNvSpPr/>
          <p:nvPr/>
        </p:nvSpPr>
        <p:spPr>
          <a:xfrm>
            <a:off x="621792" y="51526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395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193792"/>
            <a:ext cx="10527487" cy="886968"/>
          </a:xfrm>
          <a:prstGeom prst="rect">
            <a:avLst/>
          </a:prstGeom>
          <a:noFill/>
        </p:spPr>
        <p:txBody>
          <a:bodyPr wrap="square">
            <a:spAutoFit/>
          </a:bodyPr>
          <a:lstStyle/>
          <a:p>
            <a:pPr>
              <a:spcAft>
                <a:spcPts val="300"/>
              </a:spcAft>
            </a:pPr>
            <a:r>
              <a:rPr sz="1900" b="1" i="0">
                <a:solidFill>
                  <a:srgbClr val="1A1A1A"/>
                </a:solidFill>
                <a:latin typeface="Arial"/>
              </a:rPr>
              <a:t>The mapping</a:t>
            </a:r>
          </a:p>
          <a:p>
            <a:pPr>
              <a:spcAft>
                <a:spcPts val="300"/>
              </a:spcAft>
            </a:pPr>
            <a:r>
              <a:rPr sz="1550" b="0" i="0">
                <a:solidFill>
                  <a:srgbClr val="595959"/>
                </a:solidFill>
                <a:latin typeface="Arial"/>
              </a:rPr>
              <a:t>Each agency's terms reconciled to one shared definition.</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For education, much of the meaning is already published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OneRoster</a:t>
            </a:r>
          </a:p>
          <a:p>
            <a:pPr>
              <a:spcAft>
                <a:spcPts val="300"/>
              </a:spcAft>
            </a:pPr>
            <a:r>
              <a:rPr sz="1550" b="0" i="0">
                <a:solidFill>
                  <a:srgbClr val="595959"/>
                </a:solidFill>
                <a:latin typeface="Arial"/>
              </a:rPr>
              <a:t>Rostering and enrolment data.</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CEDS</a:t>
            </a:r>
          </a:p>
          <a:p>
            <a:pPr>
              <a:spcAft>
                <a:spcPts val="300"/>
              </a:spcAft>
            </a:pPr>
            <a:r>
              <a:rPr sz="1550" b="0" i="0">
                <a:solidFill>
                  <a:srgbClr val="595959"/>
                </a:solidFill>
                <a:latin typeface="Arial"/>
              </a:rPr>
              <a:t>A common vocabulary of education data elements.</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ISO/IEC 11179 and W3C Verifiable Credentials</a:t>
            </a:r>
          </a:p>
          <a:p>
            <a:pPr>
              <a:spcAft>
                <a:spcPts val="300"/>
              </a:spcAft>
            </a:pPr>
            <a:r>
              <a:rPr sz="1550" b="0" i="0">
                <a:solidFill>
                  <a:srgbClr val="595959"/>
                </a:solidFill>
                <a:latin typeface="Arial"/>
              </a:rPr>
              <a:t>Describing each data element precisely; the credential case.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Map your agencies' fields onto these — do not start from a blank page.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Meaning is a business decision, written precisely enough for systems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Whether "enrolment" means the same to the examination authority and the learner registry is decided by the data owners.</a:t>
            </a:r>
          </a:p>
          <a:p>
            <a:pPr>
              <a:spcAft>
                <a:spcPts val="1200"/>
              </a:spcAft>
            </a:pPr>
            <a:r>
              <a:rPr sz="2000" b="0" i="0">
                <a:solidFill>
                  <a:srgbClr val="1A1A1A"/>
                </a:solidFill>
                <a:latin typeface="Arial"/>
              </a:rPr>
              <a:t>The semantic map is that shared language — agreed once, reused by every exchange.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Where the people who own the data and the architects who move it agree,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fast, confirm against the registries carefully</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PROMPT — NINETY PER CENT</a:t>
            </a:r>
          </a:p>
          <a:p>
            <a:pPr>
              <a:spcAft>
                <a:spcPts val="700"/>
              </a:spcAft>
            </a:pPr>
            <a:r>
              <a:rPr sz="1600" b="0" i="0">
                <a:solidFill>
                  <a:srgbClr val="1A1A1A"/>
                </a:solidFill>
                <a:latin typeface="Arial"/>
              </a:rPr>
              <a:t>Give Claude the published vocabulary and both field lists.</a:t>
            </a:r>
          </a:p>
          <a:p>
            <a:pPr>
              <a:spcAft>
                <a:spcPts val="700"/>
              </a:spcAft>
            </a:pPr>
            <a:r>
              <a:rPr sz="1600" b="0" i="0">
                <a:solidFill>
                  <a:srgbClr val="1A1A1A"/>
                </a:solidFill>
                <a:latin typeface="Arial"/>
              </a:rPr>
              <a:t>It drafts the mapping, the code-list translations and the identifier.</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YOU — THE ESSENTIAL TEN</a:t>
            </a:r>
          </a:p>
          <a:p>
            <a:pPr>
              <a:spcAft>
                <a:spcPts val="700"/>
              </a:spcAft>
            </a:pPr>
            <a:r>
              <a:rPr sz="1600" b="0" i="0">
                <a:solidFill>
                  <a:srgbClr val="1A1A1A"/>
                </a:solidFill>
                <a:latin typeface="Arial"/>
              </a:rPr>
              <a:t>Every identifier and code value is a [confirm].</a:t>
            </a:r>
          </a:p>
          <a:p>
            <a:pPr>
              <a:spcAft>
                <a:spcPts val="700"/>
              </a:spcAft>
            </a:pPr>
            <a:r>
              <a:rPr sz="1600" b="0" i="0">
                <a:solidFill>
                  <a:srgbClr val="1A1A1A"/>
                </a:solidFill>
                <a:latin typeface="Arial"/>
              </a:rPr>
              <a:t>Check each against the real registries.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Wrong here means a learner's records silently merged with someone else's.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semantic map is the shared meaning of an exchange — drafted by AI from the published vocabularies, confirmed against the real registries.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a semantic map for an exchange.</a:t>
            </a:r>
          </a:p>
          <a:p>
            <a:pPr algn="l">
              <a:spcAft>
                <a:spcPts val="400"/>
              </a:spcAft>
            </a:pPr>
            <a:r>
              <a:rPr sz="1800" b="0" i="0">
                <a:solidFill>
                  <a:srgbClr val="595959"/>
                </a:solidFill>
                <a:latin typeface="Arial"/>
              </a:rPr>
              <a:t>The prompt in the companion material gives you a semantic map with [confirm] placeholders for identifiers and code values.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ISO/IEC 11179; JSON-LD; W3C Verifiable Credentials</a:t>
            </a:r>
          </a:p>
          <a:p>
            <a:pPr>
              <a:spcAft>
                <a:spcPts val="1200"/>
              </a:spcAft>
            </a:pPr>
            <a:r>
              <a:rPr sz="1700" b="0" i="0">
                <a:solidFill>
                  <a:srgbClr val="1A1A1A"/>
                </a:solidFill>
                <a:latin typeface="Arial"/>
              </a:rPr>
              <a:t>•  OneRoster (1EdTech); CEDS</a:t>
            </a:r>
          </a:p>
          <a:p>
            <a:pPr>
              <a:spcAft>
                <a:spcPts val="1200"/>
              </a:spcAft>
            </a:pPr>
            <a:r>
              <a:rPr sz="1700" b="0" i="0">
                <a:solidFill>
                  <a:srgbClr val="1A1A1A"/>
                </a:solidFill>
                <a:latin typeface="Arial"/>
              </a:rPr>
              <a:t>•  EU European Interoperability Framework — semantic layer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Generate a service contract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Turn a service brief into an OpenAPI contract, then an X-Road service description — the configuration that puts a service on the bus.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To put a service on the bus, you need a contract.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Its operations, inputs, outputs and errors, described precisely.</a:t>
            </a:r>
          </a:p>
          <a:p>
            <a:pPr>
              <a:spcAft>
                <a:spcPts val="800"/>
              </a:spcAft>
            </a:pPr>
            <a:r>
              <a:rPr sz="1700" b="0" i="0">
                <a:solidFill>
                  <a:srgbClr val="595959"/>
                </a:solidFill>
                <a:latin typeface="Arial"/>
              </a:rPr>
              <a:t>Generate it from a short brief and the semantic map — then turn it into what the bus routes.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OpenAPI contract says exactly how to call a service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77240"/>
          </a:xfrm>
          <a:prstGeom prst="rect">
            <a:avLst/>
          </a:prstGeom>
          <a:noFill/>
        </p:spPr>
        <p:txBody>
          <a:bodyPr wrap="square">
            <a:spAutoFit/>
          </a:bodyPr>
          <a:lstStyle/>
          <a:p>
            <a:pPr>
              <a:spcAft>
                <a:spcPts val="300"/>
              </a:spcAft>
            </a:pPr>
            <a:r>
              <a:rPr sz="1900" b="1" i="0">
                <a:solidFill>
                  <a:srgbClr val="1A1A1A"/>
                </a:solidFill>
                <a:latin typeface="Arial"/>
              </a:rPr>
              <a:t>The operations</a:t>
            </a:r>
          </a:p>
          <a:p>
            <a:pPr>
              <a:spcAft>
                <a:spcPts val="300"/>
              </a:spcAft>
            </a:pPr>
            <a:r>
              <a:rPr sz="1550" b="0" i="0">
                <a:solidFill>
                  <a:srgbClr val="595959"/>
                </a:solidFill>
                <a:latin typeface="Arial"/>
              </a:rPr>
              <a:t>For example: get a learner's record.</a:t>
            </a:r>
          </a:p>
        </p:txBody>
      </p:sp>
      <p:sp>
        <p:nvSpPr>
          <p:cNvPr id="6" name="Rectangle 5"/>
          <p:cNvSpPr/>
          <p:nvPr/>
        </p:nvSpPr>
        <p:spPr>
          <a:xfrm>
            <a:off x="621792" y="2244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317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86000"/>
            <a:ext cx="10527487" cy="777240"/>
          </a:xfrm>
          <a:prstGeom prst="rect">
            <a:avLst/>
          </a:prstGeom>
          <a:noFill/>
        </p:spPr>
        <p:txBody>
          <a:bodyPr wrap="square">
            <a:spAutoFit/>
          </a:bodyPr>
          <a:lstStyle/>
          <a:p>
            <a:pPr>
              <a:spcAft>
                <a:spcPts val="300"/>
              </a:spcAft>
            </a:pPr>
            <a:r>
              <a:rPr sz="1900" b="1" i="0">
                <a:solidFill>
                  <a:srgbClr val="1A1A1A"/>
                </a:solidFill>
                <a:latin typeface="Arial"/>
              </a:rPr>
              <a:t>The inputs</a:t>
            </a:r>
          </a:p>
          <a:p>
            <a:pPr>
              <a:spcAft>
                <a:spcPts val="300"/>
              </a:spcAft>
            </a:pPr>
            <a:r>
              <a:rPr sz="1550" b="0" i="0">
                <a:solidFill>
                  <a:srgbClr val="595959"/>
                </a:solidFill>
                <a:latin typeface="Arial"/>
              </a:rPr>
              <a:t>The identifier and parameters.</a:t>
            </a:r>
          </a:p>
        </p:txBody>
      </p:sp>
      <p:sp>
        <p:nvSpPr>
          <p:cNvPr id="9" name="Rectangle 8"/>
          <p:cNvSpPr/>
          <p:nvPr/>
        </p:nvSpPr>
        <p:spPr>
          <a:xfrm>
            <a:off x="621792" y="306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1546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08960"/>
            <a:ext cx="10527487" cy="777240"/>
          </a:xfrm>
          <a:prstGeom prst="rect">
            <a:avLst/>
          </a:prstGeom>
          <a:noFill/>
        </p:spPr>
        <p:txBody>
          <a:bodyPr wrap="square">
            <a:spAutoFit/>
          </a:bodyPr>
          <a:lstStyle/>
          <a:p>
            <a:pPr>
              <a:spcAft>
                <a:spcPts val="300"/>
              </a:spcAft>
            </a:pPr>
            <a:r>
              <a:rPr sz="1900" b="1" i="0">
                <a:solidFill>
                  <a:srgbClr val="1A1A1A"/>
                </a:solidFill>
                <a:latin typeface="Arial"/>
              </a:rPr>
              <a:t>The outputs</a:t>
            </a:r>
          </a:p>
          <a:p>
            <a:pPr>
              <a:spcAft>
                <a:spcPts val="300"/>
              </a:spcAft>
            </a:pPr>
            <a:r>
              <a:rPr sz="1550" b="0" i="0">
                <a:solidFill>
                  <a:srgbClr val="595959"/>
                </a:solidFill>
                <a:latin typeface="Arial"/>
              </a:rPr>
              <a:t>The fields — taken straight from the semantic map.</a:t>
            </a:r>
          </a:p>
        </p:txBody>
      </p:sp>
      <p:sp>
        <p:nvSpPr>
          <p:cNvPr id="12" name="Rectangle 11"/>
          <p:cNvSpPr/>
          <p:nvPr/>
        </p:nvSpPr>
        <p:spPr>
          <a:xfrm>
            <a:off x="621792" y="3890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977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931920"/>
            <a:ext cx="10527487" cy="777240"/>
          </a:xfrm>
          <a:prstGeom prst="rect">
            <a:avLst/>
          </a:prstGeom>
          <a:noFill/>
        </p:spPr>
        <p:txBody>
          <a:bodyPr wrap="square">
            <a:spAutoFit/>
          </a:bodyPr>
          <a:lstStyle/>
          <a:p>
            <a:pPr>
              <a:spcAft>
                <a:spcPts val="300"/>
              </a:spcAft>
            </a:pPr>
            <a:r>
              <a:rPr sz="1900" b="1" i="0">
                <a:solidFill>
                  <a:srgbClr val="1A1A1A"/>
                </a:solidFill>
                <a:latin typeface="Arial"/>
              </a:rPr>
              <a:t>The errors</a:t>
            </a:r>
          </a:p>
          <a:p>
            <a:pPr>
              <a:spcAft>
                <a:spcPts val="300"/>
              </a:spcAft>
            </a:pPr>
            <a:r>
              <a:rPr sz="1550" b="0" i="0">
                <a:solidFill>
                  <a:srgbClr val="595959"/>
                </a:solidFill>
                <a:latin typeface="Arial"/>
              </a:rPr>
              <a:t>What it can return when something goes wrong.</a:t>
            </a:r>
          </a:p>
        </p:txBody>
      </p:sp>
      <p:sp>
        <p:nvSpPr>
          <p:cNvPr id="15" name="Rectangle 14"/>
          <p:cNvSpPr/>
          <p:nvPr/>
        </p:nvSpPr>
        <p:spPr>
          <a:xfrm>
            <a:off x="621792" y="4713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800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754880"/>
            <a:ext cx="10527487" cy="777240"/>
          </a:xfrm>
          <a:prstGeom prst="rect">
            <a:avLst/>
          </a:prstGeom>
          <a:noFill/>
        </p:spPr>
        <p:txBody>
          <a:bodyPr wrap="square">
            <a:spAutoFit/>
          </a:bodyPr>
          <a:lstStyle/>
          <a:p>
            <a:pPr>
              <a:spcAft>
                <a:spcPts val="300"/>
              </a:spcAft>
            </a:pPr>
            <a:r>
              <a:rPr sz="1900" b="1" i="0">
                <a:solidFill>
                  <a:srgbClr val="1A1A1A"/>
                </a:solidFill>
                <a:latin typeface="Arial"/>
              </a:rPr>
              <a:t>The security</a:t>
            </a:r>
          </a:p>
          <a:p>
            <a:pPr>
              <a:spcAft>
                <a:spcPts val="300"/>
              </a:spcAft>
            </a:pPr>
            <a:r>
              <a:rPr sz="1550" b="0" i="0">
                <a:solidFill>
                  <a:srgbClr val="595959"/>
                </a:solidFill>
                <a:latin typeface="Arial"/>
              </a:rPr>
              <a:t>OAuth 2.x / OpenID Connect.</a:t>
            </a:r>
          </a:p>
        </p:txBody>
      </p:sp>
      <p:sp>
        <p:nvSpPr>
          <p:cNvPr id="18" name="TextBox 17"/>
          <p:cNvSpPr txBox="1"/>
          <p:nvPr/>
        </p:nvSpPr>
        <p:spPr>
          <a:xfrm>
            <a:off x="658368" y="5687568"/>
            <a:ext cx="10881360" cy="548640"/>
          </a:xfrm>
          <a:prstGeom prst="rect">
            <a:avLst/>
          </a:prstGeom>
          <a:noFill/>
        </p:spPr>
        <p:txBody>
          <a:bodyPr wrap="square">
            <a:spAutoFit/>
          </a:bodyPr>
          <a:lstStyle/>
          <a:p>
            <a:r>
              <a:rPr sz="1550" b="1" i="0">
                <a:solidFill>
                  <a:srgbClr val="006E96"/>
                </a:solidFill>
                <a:latin typeface="Arial"/>
              </a:rPr>
              <a:t>A consumer reads it and can call the service without a single meeting.</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the contract, then confirm every field</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PROMPT DRAFTS</a:t>
            </a:r>
          </a:p>
          <a:p>
            <a:pPr>
              <a:spcAft>
                <a:spcPts val="700"/>
              </a:spcAft>
            </a:pPr>
            <a:r>
              <a:rPr sz="1600" b="0" i="0">
                <a:solidFill>
                  <a:srgbClr val="1A1A1A"/>
                </a:solidFill>
                <a:latin typeface="Arial"/>
              </a:rPr>
              <a:t>From the service brief and the semantic map:</a:t>
            </a:r>
          </a:p>
          <a:p>
            <a:pPr>
              <a:spcAft>
                <a:spcPts val="700"/>
              </a:spcAft>
            </a:pPr>
            <a:r>
              <a:rPr sz="1600" b="0" i="0">
                <a:solidFill>
                  <a:srgbClr val="1A1A1A"/>
                </a:solidFill>
                <a:latin typeface="Arial"/>
              </a:rPr>
              <a:t>the paths, the request and response shapes, the errors, the security scheme.</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YOU CONFIRM</a:t>
            </a:r>
          </a:p>
          <a:p>
            <a:pPr>
              <a:spcAft>
                <a:spcPts val="700"/>
              </a:spcAft>
            </a:pPr>
            <a:r>
              <a:rPr sz="1600" b="0" i="0">
                <a:solidFill>
                  <a:srgbClr val="1A1A1A"/>
                </a:solidFill>
                <a:latin typeface="Arial"/>
              </a:rPr>
              <a:t>Every endpoint, field name and type —</a:t>
            </a:r>
          </a:p>
          <a:p>
            <a:pPr>
              <a:spcAft>
                <a:spcPts val="700"/>
              </a:spcAft>
            </a:pPr>
            <a:r>
              <a:rPr sz="1600" b="0" i="0">
                <a:solidFill>
                  <a:srgbClr val="1A1A1A"/>
                </a:solidFill>
                <a:latin typeface="Arial"/>
              </a:rPr>
              <a:t>against what the provider system actually exposes.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A contract naming a field the provider does not return fails at the first real call.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contract, two forms — generate the first, derive the second</a:t>
            </a:r>
          </a:p>
        </p:txBody>
      </p:sp>
      <p:cxnSp>
        <p:nvCxnSpPr>
          <p:cNvPr id="4" name="Connector 3"/>
          <p:cNvCxnSpPr/>
          <p:nvPr/>
        </p:nvCxnSpPr>
        <p:spPr>
          <a:xfrm>
            <a:off x="5550408" y="3108960"/>
            <a:ext cx="1097280" cy="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504688" y="2606039"/>
            <a:ext cx="1188720" cy="365760"/>
          </a:xfrm>
          <a:prstGeom prst="rect">
            <a:avLst/>
          </a:prstGeom>
          <a:noFill/>
        </p:spPr>
        <p:txBody>
          <a:bodyPr wrap="square" lIns="36576" rIns="36576" tIns="0" bIns="0" anchor="ctr">
            <a:spAutoFit/>
          </a:bodyPr>
          <a:lstStyle/>
          <a:p>
            <a:pPr algn="ctr"/>
            <a:r>
              <a:rPr sz="1300" b="1" i="0">
                <a:solidFill>
                  <a:srgbClr val="006E96"/>
                </a:solidFill>
                <a:latin typeface="Arial"/>
              </a:rPr>
              <a:t>derive</a:t>
            </a:r>
          </a:p>
        </p:txBody>
      </p:sp>
      <p:sp>
        <p:nvSpPr>
          <p:cNvPr id="6" name="Rounded Rectangle 5"/>
          <p:cNvSpPr/>
          <p:nvPr/>
        </p:nvSpPr>
        <p:spPr>
          <a:xfrm>
            <a:off x="658368" y="1737360"/>
            <a:ext cx="4754880" cy="2743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000" b="1" i="0">
                <a:solidFill>
                  <a:srgbClr val="006E96"/>
                </a:solidFill>
                <a:latin typeface="Arial"/>
              </a:rPr>
              <a:t>OPENAPI CONTRACT</a:t>
            </a:r>
          </a:p>
          <a:p>
            <a:pPr algn="l">
              <a:spcAft>
                <a:spcPts val="300"/>
              </a:spcAft>
            </a:pPr>
            <a:r>
              <a:rPr sz="1900" b="0" i="0">
                <a:solidFill>
                  <a:srgbClr val="1A1A1A"/>
                </a:solidFill>
                <a:latin typeface="Arial"/>
              </a:rPr>
              <a:t>For humans and tools to read.</a:t>
            </a:r>
          </a:p>
          <a:p>
            <a:pPr algn="l">
              <a:spcAft>
                <a:spcPts val="300"/>
              </a:spcAft>
            </a:pPr>
            <a:r>
              <a:rPr sz="1900" b="0" i="0">
                <a:solidFill>
                  <a:srgbClr val="1A1A1A"/>
                </a:solidFill>
                <a:latin typeface="Arial"/>
              </a:rPr>
              <a:t>You generate this.</a:t>
            </a:r>
          </a:p>
        </p:txBody>
      </p:sp>
      <p:sp>
        <p:nvSpPr>
          <p:cNvPr id="7" name="Rounded Rectangle 6"/>
          <p:cNvSpPr/>
          <p:nvPr/>
        </p:nvSpPr>
        <p:spPr>
          <a:xfrm>
            <a:off x="6784848" y="1737360"/>
            <a:ext cx="4754880" cy="27432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000" b="1" i="0">
                <a:solidFill>
                  <a:srgbClr val="FFFFFF"/>
                </a:solidFill>
                <a:latin typeface="Arial"/>
              </a:rPr>
              <a:t>X-ROAD SERVICE DESCRIPTION</a:t>
            </a:r>
          </a:p>
          <a:p>
            <a:pPr algn="l">
              <a:spcAft>
                <a:spcPts val="300"/>
              </a:spcAft>
            </a:pPr>
            <a:r>
              <a:rPr sz="1900" b="0" i="0">
                <a:solidFill>
                  <a:srgbClr val="FFFFFF"/>
                </a:solidFill>
                <a:latin typeface="Arial"/>
              </a:rPr>
              <a:t>For the bus to register the service and route a call.</a:t>
            </a:r>
          </a:p>
          <a:p>
            <a:pPr algn="l">
              <a:spcAft>
                <a:spcPts val="300"/>
              </a:spcAft>
            </a:pPr>
            <a:r>
              <a:rPr sz="1900" b="0" i="0">
                <a:solidFill>
                  <a:srgbClr val="FFFFFF"/>
                </a:solidFill>
                <a:latin typeface="Arial"/>
              </a:rPr>
              <a:t>You derive this.</a:t>
            </a:r>
          </a:p>
        </p:txBody>
      </p:sp>
      <p:sp>
        <p:nvSpPr>
          <p:cNvPr id="8" name="TextBox 7"/>
          <p:cNvSpPr txBox="1"/>
          <p:nvPr/>
        </p:nvSpPr>
        <p:spPr>
          <a:xfrm>
            <a:off x="658368" y="4800600"/>
            <a:ext cx="10881360" cy="548640"/>
          </a:xfrm>
          <a:prstGeom prst="rect">
            <a:avLst/>
          </a:prstGeom>
          <a:noFill/>
        </p:spPr>
        <p:txBody>
          <a:bodyPr wrap="square">
            <a:spAutoFit/>
          </a:bodyPr>
          <a:lstStyle/>
          <a:p>
            <a:r>
              <a:rPr sz="1550" b="1" i="0">
                <a:solidFill>
                  <a:srgbClr val="006E96"/>
                </a:solidFill>
                <a:latin typeface="Arial"/>
              </a:rPr>
              <a:t>The core move of this knowledge product: configuration that puts a real service on the bus.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contract is executable configuration, not a diagram</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It is what the consumer's code calls and what the bus routes.</a:t>
            </a:r>
          </a:p>
          <a:p>
            <a:pPr>
              <a:spcAft>
                <a:spcPts val="1200"/>
              </a:spcAft>
            </a:pPr>
            <a:r>
              <a:rPr sz="2000" b="0" i="0">
                <a:solidFill>
                  <a:srgbClr val="1A1A1A"/>
                </a:solidFill>
                <a:latin typeface="Arial"/>
              </a:rPr>
              <a:t>Semantic map plus service contract: the agreed meaning and the callable interface for one exchange.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Real output in the build pack — not a picture of output.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OpenAPI contract is the service made callable — generated from the brief and the semantic map, confirmed, and turned into an X-Road service description.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an OpenAPI service contract.</a:t>
            </a:r>
          </a:p>
          <a:p>
            <a:pPr algn="l">
              <a:spcAft>
                <a:spcPts val="400"/>
              </a:spcAft>
            </a:pPr>
            <a:r>
              <a:rPr sz="1800" b="0" i="0">
                <a:solidFill>
                  <a:srgbClr val="595959"/>
                </a:solidFill>
                <a:latin typeface="Arial"/>
              </a:rPr>
              <a:t>The prompt in the companion material gives you an OpenAPI 3.x contract with [confirm] placeholders, plus X-Road service-description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OpenAPI 3.x specification</a:t>
            </a:r>
          </a:p>
          <a:p>
            <a:pPr>
              <a:spcAft>
                <a:spcPts val="1200"/>
              </a:spcAft>
            </a:pPr>
            <a:r>
              <a:rPr sz="1700" b="0" i="0">
                <a:solidFill>
                  <a:srgbClr val="1A1A1A"/>
                </a:solidFill>
                <a:latin typeface="Arial"/>
              </a:rPr>
              <a:t>•  OAuth 2.x / OpenID Connect</a:t>
            </a:r>
          </a:p>
          <a:p>
            <a:pPr>
              <a:spcAft>
                <a:spcPts val="1200"/>
              </a:spcAft>
            </a:pPr>
            <a:r>
              <a:rPr sz="1700" b="0" i="0">
                <a:solidFill>
                  <a:srgbClr val="1A1A1A"/>
                </a:solidFill>
                <a:latin typeface="Arial"/>
              </a:rPr>
              <a:t>•  NIIS X-Road service description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Generate a service contract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Put a real data source on the bus — the Giga case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Take Giga's real school data through a bronze/silver/gold pipeline onto the bus — a worked exchange you can copy for your sector.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Enough method. Here is a real source to copy.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Giga — the ITU and UNICEF initiative that maps the world's schools and their connectivity — publishes open APIs and real data.</a:t>
            </a:r>
          </a:p>
          <a:p>
            <a:pPr>
              <a:spcAft>
                <a:spcPts val="800"/>
              </a:spcAft>
            </a:pPr>
            <a:r>
              <a:rPr sz="1700" b="0" i="0">
                <a:solidFill>
                  <a:srgbClr val="595959"/>
                </a:solidFill>
                <a:latin typeface="Arial"/>
              </a:rPr>
              <a:t>Every step of this module, on one dataset.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Put a real data source on the bus — the Giga case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Giga gives you real, published material to practise on</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Open APIs</a:t>
            </a:r>
          </a:p>
          <a:p>
            <a:pPr>
              <a:spcAft>
                <a:spcPts val="300"/>
              </a:spcAft>
            </a:pPr>
            <a:r>
              <a:rPr sz="1550" b="0" i="0">
                <a:solidFill>
                  <a:srgbClr val="595959"/>
                </a:solidFill>
                <a:latin typeface="Arial"/>
              </a:rPr>
              <a:t>You can actually call them.</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 school-master schema and a qos schema</a:t>
            </a:r>
          </a:p>
          <a:p>
            <a:pPr>
              <a:spcAft>
                <a:spcPts val="300"/>
              </a:spcAft>
            </a:pPr>
            <a:r>
              <a:rPr sz="1550" b="0" i="0">
                <a:solidFill>
                  <a:srgbClr val="595959"/>
                </a:solidFill>
                <a:latin typeface="Arial"/>
              </a:rPr>
              <a:t>Each school — and the quality of its internet service.</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GeoJSON</a:t>
            </a:r>
          </a:p>
          <a:p>
            <a:pPr>
              <a:spcAft>
                <a:spcPts val="300"/>
              </a:spcAft>
            </a:pPr>
            <a:r>
              <a:rPr sz="1550" b="0" i="0">
                <a:solidFill>
                  <a:srgbClr val="595959"/>
                </a:solidFill>
                <a:latin typeface="Arial"/>
              </a:rPr>
              <a:t>Where each school sits.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ISO 3166-1 alpha-3</a:t>
            </a:r>
          </a:p>
          <a:p>
            <a:pPr>
              <a:spcAft>
                <a:spcPts val="300"/>
              </a:spcAft>
            </a:pPr>
            <a:r>
              <a:rPr sz="1550" b="0" i="0">
                <a:solidFill>
                  <a:srgbClr val="595959"/>
                </a:solidFill>
                <a:latin typeface="Arial"/>
              </a:rPr>
              <a:t>Three-letter country codes, for indexing.</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published schemas the portfolio and the semantic map told you to reuse — in one dataset.</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Put a real data source on the bus — the Giga case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Real data reaches the bus in three stages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Bronze</a:t>
            </a:r>
          </a:p>
          <a:p>
            <a:pPr>
              <a:spcAft>
                <a:spcPts val="300"/>
              </a:spcAft>
            </a:pPr>
            <a:r>
              <a:rPr sz="1550" b="0" i="0">
                <a:solidFill>
                  <a:srgbClr val="595959"/>
                </a:solidFill>
                <a:latin typeface="Arial"/>
              </a:rPr>
              <a:t>The raw data exactly as received — kept untouched for audit.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Silver</a:t>
            </a:r>
          </a:p>
          <a:p>
            <a:pPr>
              <a:spcAft>
                <a:spcPts val="300"/>
              </a:spcAft>
            </a:pPr>
            <a:r>
              <a:rPr sz="1550" b="0" i="0">
                <a:solidFill>
                  <a:srgbClr val="595959"/>
                </a:solidFill>
                <a:latin typeface="Arial"/>
              </a:rPr>
              <a:t>Cleaned, validated, conformed to the schema and the semantic map; bad or duplicate records flagged.</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Gold</a:t>
            </a:r>
          </a:p>
          <a:p>
            <a:pPr>
              <a:spcAft>
                <a:spcPts val="300"/>
              </a:spcAft>
            </a:pPr>
            <a:r>
              <a:rPr sz="1550" b="0" i="0">
                <a:solidFill>
                  <a:srgbClr val="595959"/>
                </a:solidFill>
                <a:latin typeface="Arial"/>
              </a:rPr>
              <a:t>The published, authoritative version other services consume.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How a messy real source becomes a registry other agencies can trust.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Put a real data source on the bus — the Giga case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real source carries every step of this module</a:t>
            </a:r>
          </a:p>
        </p:txBody>
      </p:sp>
      <p:cxnSp>
        <p:nvCxnSpPr>
          <p:cNvPr id="4" name="Connector 3"/>
          <p:cNvCxnSpPr/>
          <p:nvPr/>
        </p:nvCxnSpPr>
        <p:spPr>
          <a:xfrm>
            <a:off x="2606040" y="285750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846320" y="285750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86600" y="285750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326880" y="285750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8368" y="1600200"/>
            <a:ext cx="1920240" cy="25146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BRONZE</a:t>
            </a:r>
          </a:p>
          <a:p>
            <a:pPr algn="l">
              <a:spcAft>
                <a:spcPts val="300"/>
              </a:spcAft>
            </a:pPr>
            <a:r>
              <a:rPr sz="1500" b="0" i="0">
                <a:solidFill>
                  <a:srgbClr val="1A1A1A"/>
                </a:solidFill>
                <a:latin typeface="Arial"/>
              </a:rPr>
              <a:t>Raw, as received.</a:t>
            </a:r>
          </a:p>
          <a:p>
            <a:pPr algn="l">
              <a:spcAft>
                <a:spcPts val="300"/>
              </a:spcAft>
            </a:pPr>
            <a:r>
              <a:rPr sz="1500" b="0" i="0">
                <a:solidFill>
                  <a:srgbClr val="1A1A1A"/>
                </a:solidFill>
                <a:latin typeface="Arial"/>
              </a:rPr>
              <a:t>Kept for audit.</a:t>
            </a:r>
          </a:p>
        </p:txBody>
      </p:sp>
      <p:sp>
        <p:nvSpPr>
          <p:cNvPr id="9" name="TextBox 8"/>
          <p:cNvSpPr txBox="1"/>
          <p:nvPr/>
        </p:nvSpPr>
        <p:spPr>
          <a:xfrm>
            <a:off x="658368" y="4224528"/>
            <a:ext cx="1920240" cy="411480"/>
          </a:xfrm>
          <a:prstGeom prst="rect">
            <a:avLst/>
          </a:prstGeom>
          <a:noFill/>
        </p:spPr>
        <p:txBody>
          <a:bodyPr wrap="square" lIns="36576" rIns="36576" tIns="0" bIns="0" anchor="ctr">
            <a:spAutoFit/>
          </a:bodyPr>
          <a:lstStyle/>
          <a:p>
            <a:pPr algn="ctr"/>
            <a:r>
              <a:rPr sz="1400" b="1" i="0">
                <a:solidFill>
                  <a:srgbClr val="006E96"/>
                </a:solidFill>
                <a:latin typeface="Arial"/>
              </a:rPr>
              <a:t>built in 4.6</a:t>
            </a:r>
          </a:p>
        </p:txBody>
      </p:sp>
      <p:sp>
        <p:nvSpPr>
          <p:cNvPr id="10" name="Rounded Rectangle 9"/>
          <p:cNvSpPr/>
          <p:nvPr/>
        </p:nvSpPr>
        <p:spPr>
          <a:xfrm>
            <a:off x="2898648" y="1600200"/>
            <a:ext cx="1920240" cy="25146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SILVER</a:t>
            </a:r>
          </a:p>
          <a:p>
            <a:pPr algn="l">
              <a:spcAft>
                <a:spcPts val="300"/>
              </a:spcAft>
            </a:pPr>
            <a:r>
              <a:rPr sz="1500" b="0" i="0">
                <a:solidFill>
                  <a:srgbClr val="1A1A1A"/>
                </a:solidFill>
                <a:latin typeface="Arial"/>
              </a:rPr>
              <a:t>Conformed to the schema and the semantic map.</a:t>
            </a:r>
          </a:p>
        </p:txBody>
      </p:sp>
      <p:sp>
        <p:nvSpPr>
          <p:cNvPr id="11" name="TextBox 10"/>
          <p:cNvSpPr txBox="1"/>
          <p:nvPr/>
        </p:nvSpPr>
        <p:spPr>
          <a:xfrm>
            <a:off x="2898648" y="4224528"/>
            <a:ext cx="1920240" cy="411480"/>
          </a:xfrm>
          <a:prstGeom prst="rect">
            <a:avLst/>
          </a:prstGeom>
          <a:noFill/>
        </p:spPr>
        <p:txBody>
          <a:bodyPr wrap="square" lIns="36576" rIns="36576" tIns="0" bIns="0" anchor="ctr">
            <a:spAutoFit/>
          </a:bodyPr>
          <a:lstStyle/>
          <a:p>
            <a:pPr algn="ctr"/>
            <a:r>
              <a:rPr sz="1400" b="1" i="0">
                <a:solidFill>
                  <a:srgbClr val="006E96"/>
                </a:solidFill>
                <a:latin typeface="Arial"/>
              </a:rPr>
              <a:t>built in 4.4 · 4.6</a:t>
            </a:r>
          </a:p>
        </p:txBody>
      </p:sp>
      <p:sp>
        <p:nvSpPr>
          <p:cNvPr id="12" name="Rounded Rectangle 11"/>
          <p:cNvSpPr/>
          <p:nvPr/>
        </p:nvSpPr>
        <p:spPr>
          <a:xfrm>
            <a:off x="5138928" y="1600200"/>
            <a:ext cx="1920240" cy="25146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GOLD</a:t>
            </a:r>
          </a:p>
          <a:p>
            <a:pPr algn="l">
              <a:spcAft>
                <a:spcPts val="300"/>
              </a:spcAft>
            </a:pPr>
            <a:r>
              <a:rPr sz="1500" b="0" i="0">
                <a:solidFill>
                  <a:srgbClr val="1A1A1A"/>
                </a:solidFill>
                <a:latin typeface="Arial"/>
              </a:rPr>
              <a:t>Published, authoritative.</a:t>
            </a:r>
          </a:p>
        </p:txBody>
      </p:sp>
      <p:sp>
        <p:nvSpPr>
          <p:cNvPr id="13" name="TextBox 12"/>
          <p:cNvSpPr txBox="1"/>
          <p:nvPr/>
        </p:nvSpPr>
        <p:spPr>
          <a:xfrm>
            <a:off x="5138928" y="4224528"/>
            <a:ext cx="1920240" cy="411480"/>
          </a:xfrm>
          <a:prstGeom prst="rect">
            <a:avLst/>
          </a:prstGeom>
          <a:noFill/>
        </p:spPr>
        <p:txBody>
          <a:bodyPr wrap="square" lIns="36576" rIns="36576" tIns="0" bIns="0" anchor="ctr">
            <a:spAutoFit/>
          </a:bodyPr>
          <a:lstStyle/>
          <a:p>
            <a:pPr algn="ctr"/>
            <a:r>
              <a:rPr sz="1400" b="1" i="0">
                <a:solidFill>
                  <a:srgbClr val="006E96"/>
                </a:solidFill>
                <a:latin typeface="Arial"/>
              </a:rPr>
              <a:t>built in 4.6</a:t>
            </a:r>
          </a:p>
        </p:txBody>
      </p:sp>
      <p:sp>
        <p:nvSpPr>
          <p:cNvPr id="14" name="Rounded Rectangle 13"/>
          <p:cNvSpPr/>
          <p:nvPr/>
        </p:nvSpPr>
        <p:spPr>
          <a:xfrm>
            <a:off x="7379208" y="1600200"/>
            <a:ext cx="1920240" cy="25146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CONTRACT</a:t>
            </a:r>
          </a:p>
          <a:p>
            <a:pPr algn="l">
              <a:spcAft>
                <a:spcPts val="300"/>
              </a:spcAft>
            </a:pPr>
            <a:r>
              <a:rPr sz="1500" b="0" i="0">
                <a:solidFill>
                  <a:srgbClr val="1A1A1A"/>
                </a:solidFill>
                <a:latin typeface="Arial"/>
              </a:rPr>
              <a:t>OpenAPI, then the X-Road service description.</a:t>
            </a:r>
          </a:p>
        </p:txBody>
      </p:sp>
      <p:sp>
        <p:nvSpPr>
          <p:cNvPr id="15" name="TextBox 14"/>
          <p:cNvSpPr txBox="1"/>
          <p:nvPr/>
        </p:nvSpPr>
        <p:spPr>
          <a:xfrm>
            <a:off x="7379208" y="4224528"/>
            <a:ext cx="1920240" cy="411480"/>
          </a:xfrm>
          <a:prstGeom prst="rect">
            <a:avLst/>
          </a:prstGeom>
          <a:noFill/>
        </p:spPr>
        <p:txBody>
          <a:bodyPr wrap="square" lIns="36576" rIns="36576" tIns="0" bIns="0" anchor="ctr">
            <a:spAutoFit/>
          </a:bodyPr>
          <a:lstStyle/>
          <a:p>
            <a:pPr algn="ctr"/>
            <a:r>
              <a:rPr sz="1400" b="1" i="0">
                <a:solidFill>
                  <a:srgbClr val="006E96"/>
                </a:solidFill>
                <a:latin typeface="Arial"/>
              </a:rPr>
              <a:t>built in 4.3 · 4.5 · 4.7</a:t>
            </a:r>
          </a:p>
        </p:txBody>
      </p:sp>
      <p:sp>
        <p:nvSpPr>
          <p:cNvPr id="16" name="Rounded Rectangle 15"/>
          <p:cNvSpPr/>
          <p:nvPr/>
        </p:nvSpPr>
        <p:spPr>
          <a:xfrm>
            <a:off x="9619488" y="1600200"/>
            <a:ext cx="1920240" cy="25146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FFFFFF"/>
                </a:solidFill>
                <a:latin typeface="Arial"/>
              </a:rPr>
              <a:t>THE BUS</a:t>
            </a:r>
          </a:p>
          <a:p>
            <a:pPr algn="l">
              <a:spcAft>
                <a:spcPts val="300"/>
              </a:spcAft>
            </a:pPr>
            <a:r>
              <a:rPr sz="1500" b="0" i="0">
                <a:solidFill>
                  <a:srgbClr val="FFFFFF"/>
                </a:solidFill>
                <a:latin typeface="Arial"/>
              </a:rPr>
              <a:t>Secured across the trust zones.</a:t>
            </a:r>
          </a:p>
          <a:p>
            <a:pPr algn="l">
              <a:spcAft>
                <a:spcPts val="300"/>
              </a:spcAft>
            </a:pPr>
            <a:r>
              <a:rPr sz="1500" b="0" i="0">
                <a:solidFill>
                  <a:srgbClr val="FFFFFF"/>
                </a:solidFill>
                <a:latin typeface="Arial"/>
              </a:rPr>
              <a:t>Inside the envelope.</a:t>
            </a:r>
          </a:p>
        </p:txBody>
      </p:sp>
      <p:sp>
        <p:nvSpPr>
          <p:cNvPr id="17" name="TextBox 16"/>
          <p:cNvSpPr txBox="1"/>
          <p:nvPr/>
        </p:nvSpPr>
        <p:spPr>
          <a:xfrm>
            <a:off x="9619488" y="4224528"/>
            <a:ext cx="1920240" cy="411480"/>
          </a:xfrm>
          <a:prstGeom prst="rect">
            <a:avLst/>
          </a:prstGeom>
          <a:noFill/>
        </p:spPr>
        <p:txBody>
          <a:bodyPr wrap="square" lIns="36576" rIns="36576" tIns="0" bIns="0" anchor="ctr">
            <a:spAutoFit/>
          </a:bodyPr>
          <a:lstStyle/>
          <a:p>
            <a:pPr algn="ctr"/>
            <a:r>
              <a:rPr sz="1400" b="1" i="0">
                <a:solidFill>
                  <a:srgbClr val="006E96"/>
                </a:solidFill>
                <a:latin typeface="Arial"/>
              </a:rPr>
              <a:t>built in 4.2 · 4.8</a:t>
            </a:r>
          </a:p>
        </p:txBody>
      </p:sp>
      <p:sp>
        <p:nvSpPr>
          <p:cNvPr id="18" name="TextBox 17"/>
          <p:cNvSpPr txBox="1"/>
          <p:nvPr/>
        </p:nvSpPr>
        <p:spPr>
          <a:xfrm>
            <a:off x="658368" y="4846320"/>
            <a:ext cx="10881360" cy="548640"/>
          </a:xfrm>
          <a:prstGeom prst="rect">
            <a:avLst/>
          </a:prstGeom>
          <a:noFill/>
        </p:spPr>
        <p:txBody>
          <a:bodyPr wrap="square">
            <a:spAutoFit/>
          </a:bodyPr>
          <a:lstStyle/>
          <a:p>
            <a:r>
              <a:rPr sz="1550" b="1" i="0">
                <a:solidFill>
                  <a:srgbClr val="006E96"/>
                </a:solidFill>
                <a:latin typeface="Arial"/>
              </a:rPr>
              <a:t>The same template for schools, health facilities or a farmer registry.</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Put a real data source on the bus — the Giga case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Practise on Giga before you touch a live national registry</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Giga is public, real and already standards-aligned — so a mistake here has no consequences.</a:t>
            </a:r>
          </a:p>
          <a:p>
            <a:pPr>
              <a:spcAft>
                <a:spcPts val="1200"/>
              </a:spcAft>
            </a:pPr>
            <a:r>
              <a:rPr sz="2000" b="0" i="0">
                <a:solidFill>
                  <a:srgbClr val="1A1A1A"/>
                </a:solidFill>
                <a:latin typeface="Arial"/>
              </a:rPr>
              <a:t>Run it once, then apply the identical pattern to your own school data, and to the next sector.</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Bronze, silver, gold, contract, bus — learned where the data is forgiving.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Put a real data source on the bus — the Giga case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Bronze, silver, gold, contract, bus — the Giga case is the full method on one real source, ready to copy for your own sector.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a real sector data source through bronze/silver/gold onto the bus.</a:t>
            </a:r>
          </a:p>
          <a:p>
            <a:pPr algn="l">
              <a:spcAft>
                <a:spcPts val="400"/>
              </a:spcAft>
            </a:pPr>
            <a:r>
              <a:rPr sz="1800" b="0" i="0">
                <a:solidFill>
                  <a:srgbClr val="595959"/>
                </a:solidFill>
                <a:latin typeface="Arial"/>
              </a:rPr>
              <a:t>The prompt in the companion material gives you a bronze/silver/gold pipeline plan plus a path-onto-the-bus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Put a real data source on the bus — the Giga case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Giga (giga.global) — open APIs; school-master and qos schemas</a:t>
            </a:r>
          </a:p>
          <a:p>
            <a:pPr>
              <a:spcAft>
                <a:spcPts val="1200"/>
              </a:spcAft>
            </a:pPr>
            <a:r>
              <a:rPr sz="1700" b="0" i="0">
                <a:solidFill>
                  <a:srgbClr val="1A1A1A"/>
                </a:solidFill>
                <a:latin typeface="Arial"/>
              </a:rPr>
              <a:t>•  GeoJSON</a:t>
            </a:r>
          </a:p>
          <a:p>
            <a:pPr>
              <a:spcAft>
                <a:spcPts val="1200"/>
              </a:spcAft>
            </a:pPr>
            <a:r>
              <a:rPr sz="1700" b="0" i="0">
                <a:solidFill>
                  <a:srgbClr val="1A1A1A"/>
                </a:solidFill>
                <a:latin typeface="Arial"/>
              </a:rPr>
              <a:t>•  ISO 3166-1 alpha-3</a:t>
            </a:r>
          </a:p>
          <a:p>
            <a:pPr>
              <a:spcAft>
                <a:spcPts val="1200"/>
              </a:spcAft>
            </a:pPr>
            <a:r>
              <a:rPr sz="1700" b="0" i="0">
                <a:solidFill>
                  <a:srgbClr val="1A1A1A"/>
                </a:solidFill>
                <a:latin typeface="Arial"/>
              </a:rPr>
              <a:t>•  Bronze / silver / gold — Giga School Master Data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Put a real data source on the bus — the Giga case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Wire a service onto the bus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OpenAPI contract becomes an X-Road service description and the call resolves — the GovStack Information Mediation pattern.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Meaning, contract, data — now make them callable.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Wiring registers the service so a consumer in another agency can discover it and call it.</a:t>
            </a:r>
          </a:p>
          <a:p>
            <a:pPr>
              <a:spcAft>
                <a:spcPts val="800"/>
              </a:spcAft>
            </a:pPr>
            <a:r>
              <a:rPr sz="1700" b="0" i="0">
                <a:solidFill>
                  <a:srgbClr val="595959"/>
                </a:solidFill>
                <a:latin typeface="Arial"/>
              </a:rPr>
              <a:t>The pattern has a name: Information Mediation.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"Wired" means three concrete things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service description is registered</a:t>
            </a:r>
          </a:p>
          <a:p>
            <a:pPr>
              <a:spcAft>
                <a:spcPts val="300"/>
              </a:spcAft>
            </a:pPr>
            <a:r>
              <a:rPr sz="1550" b="0" i="0">
                <a:solidFill>
                  <a:srgbClr val="595959"/>
                </a:solidFill>
                <a:latin typeface="Arial"/>
              </a:rPr>
              <a:t>On the provider agency's security server.</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consumer in another agency can discover it</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call routes there and back</a:t>
            </a:r>
          </a:p>
          <a:p>
            <a:pPr>
              <a:spcAft>
                <a:spcPts val="300"/>
              </a:spcAft>
            </a:pPr>
            <a:r>
              <a:rPr sz="1550" b="0" i="0">
                <a:solidFill>
                  <a:srgbClr val="595959"/>
                </a:solidFill>
                <a:latin typeface="Arial"/>
              </a:rPr>
              <a:t>Consumer's security server → across the bus → provider's security server → data returned.</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When that round trip works, the service is on the bus — not just designed for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configuration artefacts make wiring real</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subsystem</a:t>
            </a:r>
          </a:p>
          <a:p>
            <a:pPr>
              <a:spcAft>
                <a:spcPts val="300"/>
              </a:spcAft>
            </a:pPr>
            <a:r>
              <a:rPr sz="1550" b="0" i="0">
                <a:solidFill>
                  <a:srgbClr val="595959"/>
                </a:solidFill>
                <a:latin typeface="Arial"/>
              </a:rPr>
              <a:t>The member's registered identity on the bus.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service description</a:t>
            </a:r>
          </a:p>
          <a:p>
            <a:pPr>
              <a:spcAft>
                <a:spcPts val="300"/>
              </a:spcAft>
            </a:pPr>
            <a:r>
              <a:rPr sz="1550" b="0" i="0">
                <a:solidFill>
                  <a:srgbClr val="595959"/>
                </a:solidFill>
                <a:latin typeface="Arial"/>
              </a:rPr>
              <a:t>Derived directly from your OpenAPI contract.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access-control list</a:t>
            </a:r>
          </a:p>
          <a:p>
            <a:pPr>
              <a:spcAft>
                <a:spcPts val="300"/>
              </a:spcAft>
            </a:pPr>
            <a:r>
              <a:rPr sz="1550" b="0" i="0">
                <a:solidFill>
                  <a:srgbClr val="595959"/>
                </a:solidFill>
                <a:latin typeface="Arial"/>
              </a:rPr>
              <a:t>Which other members are allowed to call this service.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Being on the bus does not mean everyone may call everything.</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Align to the published Information Mediation pattern</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GovStack's Information Mediation building block is the reusable specification for the component that routes and mediates exchanges.</a:t>
            </a:r>
          </a:p>
          <a:p>
            <a:pPr>
              <a:spcAft>
                <a:spcPts val="1200"/>
              </a:spcAft>
            </a:pPr>
            <a:r>
              <a:rPr sz="2000" b="0" i="0">
                <a:solidFill>
                  <a:srgbClr val="1A1A1A"/>
                </a:solidFill>
                <a:latin typeface="Arial"/>
              </a:rPr>
              <a:t>A vendor's compliant implementation can drop into the role, instead of a bespoke build.</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Re-use, reaching all the way down to the routing component.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acceptance is one test call that resolves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consumer's security server calls the service and gets the expected data back — once, over the bus.</a:t>
            </a:r>
          </a:p>
          <a:p>
            <a:pPr>
              <a:spcAft>
                <a:spcPts val="1200"/>
              </a:spcAft>
            </a:pPr>
            <a:r>
              <a:rPr sz="2000" b="0" i="0">
                <a:solidFill>
                  <a:srgbClr val="1A1A1A"/>
                </a:solidFill>
                <a:latin typeface="Arial"/>
              </a:rPr>
              <a:t>Meaning agreed, contract honoured, security enforced, data returned.</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moment the configuration stops being documents and becomes a working exchange.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Register the service description, set who may call it, and a test call that resolves proves the service is on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X-Road service description and wiring checklist.</a:t>
            </a:r>
          </a:p>
          <a:p>
            <a:pPr algn="l">
              <a:spcAft>
                <a:spcPts val="400"/>
              </a:spcAft>
            </a:pPr>
            <a:r>
              <a:rPr sz="1800" b="0" i="0">
                <a:solidFill>
                  <a:srgbClr val="595959"/>
                </a:solidFill>
                <a:latin typeface="Arial"/>
              </a:rPr>
              <a:t>The prompt in the companion material gives you X-Road service-description notes, access-control entries, and a test-call plan.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service description / Information Mediator (niis.org)</a:t>
            </a:r>
          </a:p>
          <a:p>
            <a:pPr>
              <a:spcAft>
                <a:spcPts val="1200"/>
              </a:spcAft>
            </a:pPr>
            <a:r>
              <a:rPr sz="1700" b="0" i="0">
                <a:solidFill>
                  <a:srgbClr val="1A1A1A"/>
                </a:solidFill>
                <a:latin typeface="Arial"/>
              </a:rPr>
              <a:t>•  GovStack Information Mediation Building Block (govstack.global)</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4.7 · Wire a service onto the bus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Make the exchange lawful — the data-protection envelope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Letters of Interest plus a data-protection envelope make a real exchange lawful as well as technically possible.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Perfectly wired, perfectly secured — and still not allowed to go live.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Technical capability is not lawful authority.</a:t>
            </a:r>
          </a:p>
          <a:p>
            <a:pPr>
              <a:spcAft>
                <a:spcPts val="800"/>
              </a:spcAft>
            </a:pPr>
            <a:r>
              <a:rPr sz="1700" b="0" i="0">
                <a:solidFill>
                  <a:srgbClr val="595959"/>
                </a:solidFill>
                <a:latin typeface="Arial"/>
              </a:rPr>
              <a:t>The last check is the data-protection envelope.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make an exchange lawful, not merely possible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A lawful basis</a:t>
            </a:r>
          </a:p>
          <a:p>
            <a:pPr>
              <a:spcAft>
                <a:spcPts val="300"/>
              </a:spcAft>
            </a:pPr>
            <a:r>
              <a:rPr sz="1550" b="0" i="0">
                <a:solidFill>
                  <a:srgbClr val="595959"/>
                </a:solidFill>
                <a:latin typeface="Arial"/>
              </a:rPr>
              <a:t>From the decree — the exchange must be one the decree authorises.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A bilateral Letter of Interest</a:t>
            </a:r>
          </a:p>
          <a:p>
            <a:pPr>
              <a:spcAft>
                <a:spcPts val="300"/>
              </a:spcAft>
            </a:pPr>
            <a:r>
              <a:rPr sz="1550" b="0" i="0">
                <a:solidFill>
                  <a:srgbClr val="595959"/>
                </a:solidFill>
                <a:latin typeface="Arial"/>
              </a:rPr>
              <a:t>The two agencies agree to this specific exchange, on these terms.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Data-protection safeguards</a:t>
            </a:r>
          </a:p>
          <a:p>
            <a:pPr>
              <a:spcAft>
                <a:spcPts val="300"/>
              </a:spcAft>
            </a:pPr>
            <a:r>
              <a:rPr sz="1550" b="0" i="0">
                <a:solidFill>
                  <a:srgbClr val="595959"/>
                </a:solidFill>
                <a:latin typeface="Arial"/>
              </a:rPr>
              <a:t>Minimisation, purpose, consent where needed, retention.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Technical capability, plus these three.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Data protection by design lives in the configuration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Minimisation is in the contract</a:t>
            </a:r>
          </a:p>
          <a:p>
            <a:pPr>
              <a:spcAft>
                <a:spcPts val="300"/>
              </a:spcAft>
            </a:pPr>
            <a:r>
              <a:rPr sz="1550" b="0" i="0">
                <a:solidFill>
                  <a:srgbClr val="595959"/>
                </a:solidFill>
                <a:latin typeface="Arial"/>
              </a:rPr>
              <a:t>The service returns only the fields the purpose needs.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Purpose matches the access-control list</a:t>
            </a:r>
          </a:p>
          <a:p>
            <a:pPr>
              <a:spcAft>
                <a:spcPts val="300"/>
              </a:spcAft>
            </a:pPr>
            <a:r>
              <a:rPr sz="1550" b="0" i="0">
                <a:solidFill>
                  <a:srgbClr val="595959"/>
                </a:solidFill>
                <a:latin typeface="Arial"/>
              </a:rPr>
              <a:t>Only agencies with a lawful purpose can call.</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Retention and logging are configured</a:t>
            </a:r>
          </a:p>
          <a:p>
            <a:pPr>
              <a:spcAft>
                <a:spcPts val="300"/>
              </a:spcAft>
            </a:pPr>
            <a:r>
              <a:rPr sz="1550" b="0" i="0">
                <a:solidFill>
                  <a:srgbClr val="595959"/>
                </a:solidFill>
                <a:latin typeface="Arial"/>
              </a:rPr>
              <a:t>Not merely promised in a policy.</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Part of what the demonstration runs — not a document filed somewhere else.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exchange is ready only when all three layers line up</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Legal: the decree authorises it. Organisational: the member agreement and access-control list record who may do it. Technical: the contract, security and minimisation carry it out.</a:t>
            </a:r>
          </a:p>
          <a:p>
            <a:pPr>
              <a:spcAft>
                <a:spcPts val="1200"/>
              </a:spcAft>
            </a:pPr>
            <a:r>
              <a:rPr sz="2000" b="0" i="0">
                <a:solidFill>
                  <a:srgbClr val="1A1A1A"/>
                </a:solidFill>
                <a:latin typeface="Arial"/>
              </a:rPr>
              <a:t>The data-protection officer signs off — not the architect alone.</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Joining the bus never, by itself, grants access to any data.</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lawful basis, a Letter of Interest, and data protection by design — the envelope that makes a wired exchange a lawful one. Membership is never access.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data-protection envelope for an exchange.</a:t>
            </a:r>
          </a:p>
          <a:p>
            <a:pPr algn="l">
              <a:spcAft>
                <a:spcPts val="400"/>
              </a:spcAft>
            </a:pPr>
            <a:r>
              <a:rPr sz="1800" b="0" i="0">
                <a:solidFill>
                  <a:srgbClr val="595959"/>
                </a:solidFill>
                <a:latin typeface="Arial"/>
              </a:rPr>
              <a:t>The prompt in the companion material gives you a lawful-basis finding, a draft Letter of Interest, and a data-protection-by-design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ITU DPI Safeguards — data-protection guidance</a:t>
            </a:r>
          </a:p>
          <a:p>
            <a:pPr>
              <a:spcAft>
                <a:spcPts val="1200"/>
              </a:spcAft>
            </a:pPr>
            <a:r>
              <a:rPr sz="1700" b="0" i="0">
                <a:solidFill>
                  <a:srgbClr val="1A1A1A"/>
                </a:solidFill>
                <a:latin typeface="Arial"/>
              </a:rPr>
              <a:t>•  Bilateral Letters of Interest</a:t>
            </a:r>
          </a:p>
          <a:p>
            <a:pPr>
              <a:spcAft>
                <a:spcPts val="1200"/>
              </a:spcAft>
            </a:pPr>
            <a:r>
              <a:rPr sz="1700" b="0" i="0">
                <a:solidFill>
                  <a:srgbClr val="1A1A1A"/>
                </a:solidFill>
                <a:latin typeface="Arial"/>
              </a:rPr>
              <a:t>•  The interoperability decree — Module 2 (the lawful basis)</a:t>
            </a:r>
          </a:p>
          <a:p>
            <a:pPr>
              <a:spcAft>
                <a:spcPts val="1200"/>
              </a:spcAft>
            </a:pPr>
            <a:r>
              <a:rPr sz="1700" b="0" i="0">
                <a:solidFill>
                  <a:srgbClr val="1A1A1A"/>
                </a:solidFill>
                <a:latin typeface="Arial"/>
              </a:rPr>
              <a:t>•  EU European Interoperability Framework — legal layer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Make the exchange lawful — the data-protection envelope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