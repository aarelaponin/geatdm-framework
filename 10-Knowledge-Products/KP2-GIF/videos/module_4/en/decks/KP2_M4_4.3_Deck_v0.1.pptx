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13" r:id="rId35"/>
    <p:sldId id="2714" r:id="rId36"/>
    <p:sldId id="2715" r:id="rId37"/>
    <p:sldId id="2716" r:id="rId38"/>
    <p:sldId id="2717" r:id="rId39"/>
    <p:sldId id="2718" r:id="rId40"/>
    <p:sldId id="2719" r:id="rId41"/>
    <p:sldId id="2720"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technical standards, in plain terms. For how a service describes and offers itself — REST with OpenAPI 3.x, the common way to define a web service. For proving who a user or system is and what they are allowed to do — OAuth 2.x and OpenID Connect. For securing the connection — mutual TLS, where both ends prove their identity. And for the bus itself — the X-Road message protocol. None of these is invented for your country; each is a widely used published standard, with tools, documentation and people who already know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fastest way to break interoperability is to let each agency choose its own technical standards. The framework's answer is a standards portfolio — a single, published menu of the standards every member uses. As an architect, your job here is not to invent these. It is to select from the published menu, record your choices and their versions, and hold every member to them.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Alongside the technical standards sit the semantic ones — the standards for meaning. ISO/IEC 11179 for describing data elements consistently. JSON-LD for linking data so its meaning travels with it. And W3C Verifiable Credentials for credentials a holder can carry and a verifier can trust without phoning the issuer. These are the published vocabularies you reuse rather than invent.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whole point of a portfolio is re-use across the whole of government. A standard chosen once, for the framework, is reused by every member and by every new sector that joins — so the second agency does not re-decide how a service is described, and the education work you do now is reused when health comes onto the bus. Interoperability is, at bottom, the discipline of everyone choosing the same published standards instead of each building their own — and only whole-of-government planning can impose that discipline. A procurement clause cannot.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Your actual deliverable is the portfolio itself — a short document that names, for each need, the chosen standard, its version, and any profile, meaning the small local refinements you add on top. Each entry also says when the standard becomes binding, how long legacy systems have to comply — twelve to twenty-four months for a major version is usual — and how a member proves conformance: a self-assessment, a third-party check, or a test suite the operator runs. A standard with no binding date and no test is advice, not a standard. It becomes the thing the APIs Working Group maintains and every member conforms to. Two cautions. Name the version, because a standard adopted at the wrong version is a quiet incompatibility that surfaces only when two members fail to connect. And keep the profile thin — every local refinement you add is something the next sector must also adopt, so refine only where you must.</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standards portfolio is the agreed menu, not a free choice. Select the technical and semantic standards from the published options, write them down with versions and any thin profile, and hold every member to the same list. That shared, reused portfolio is what lets twenty agencies behave as one framework instead of twenty incompatible projects.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Adopt the standards portfolio</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Adopt the published standards — REST/OpenAPI, OAuth/OIDC, mTLS, X-Road — instead of writing your own; the portfolio is the menu every member shares.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Let each agency pick its own standards, and interoperability breaks.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framework's answer is one published menu every member uses.</a:t>
            </a:r>
          </a:p>
          <a:p>
            <a:pPr>
              <a:spcAft>
                <a:spcPts val="800"/>
              </a:spcAft>
            </a:pPr>
            <a:r>
              <a:rPr sz="1700" b="0" i="0">
                <a:solidFill>
                  <a:srgbClr val="595959"/>
                </a:solidFill>
                <a:latin typeface="Arial"/>
              </a:rPr>
              <a:t>Your job: select from it, record the versions, hold every member to them.</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Adopt the standards portfolio</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needs, four published technical standards</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Describing services</a:t>
            </a:r>
          </a:p>
          <a:p>
            <a:pPr>
              <a:spcAft>
                <a:spcPts val="300"/>
              </a:spcAft>
            </a:pPr>
            <a:r>
              <a:rPr sz="1550" b="0" i="0">
                <a:solidFill>
                  <a:srgbClr val="595959"/>
                </a:solidFill>
                <a:latin typeface="Arial"/>
              </a:rPr>
              <a:t>REST with OpenAPI 3.x.</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Proving identity and permissions</a:t>
            </a:r>
          </a:p>
          <a:p>
            <a:pPr>
              <a:spcAft>
                <a:spcPts val="300"/>
              </a:spcAft>
            </a:pPr>
            <a:r>
              <a:rPr sz="1550" b="0" i="0">
                <a:solidFill>
                  <a:srgbClr val="595959"/>
                </a:solidFill>
                <a:latin typeface="Arial"/>
              </a:rPr>
              <a:t>OAuth 2.x / OpenID Connect.</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Securing the connection</a:t>
            </a:r>
          </a:p>
          <a:p>
            <a:pPr>
              <a:spcAft>
                <a:spcPts val="300"/>
              </a:spcAft>
            </a:pPr>
            <a:r>
              <a:rPr sz="1550" b="0" i="0">
                <a:solidFill>
                  <a:srgbClr val="595959"/>
                </a:solidFill>
                <a:latin typeface="Arial"/>
              </a:rPr>
              <a:t>Mutual TLS — both ends prove their identity.</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The bus itself</a:t>
            </a:r>
          </a:p>
          <a:p>
            <a:pPr>
              <a:spcAft>
                <a:spcPts val="300"/>
              </a:spcAft>
            </a:pPr>
            <a:r>
              <a:rPr sz="1550" b="0" i="0">
                <a:solidFill>
                  <a:srgbClr val="595959"/>
                </a:solidFill>
                <a:latin typeface="Arial"/>
              </a:rPr>
              <a:t>The X-Road message protocol.</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None invented for your country — each comes with tools, documentation and people who know it.</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Adopt the standards portfolio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semantic standards are the published vocabularies for meaning</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Describing data elements</a:t>
            </a:r>
          </a:p>
          <a:p>
            <a:pPr>
              <a:spcAft>
                <a:spcPts val="300"/>
              </a:spcAft>
            </a:pPr>
            <a:r>
              <a:rPr sz="1550" b="0" i="0">
                <a:solidFill>
                  <a:srgbClr val="595959"/>
                </a:solidFill>
                <a:latin typeface="Arial"/>
              </a:rPr>
              <a:t>ISO/IEC 11179.</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Linking data so meaning travels</a:t>
            </a:r>
          </a:p>
          <a:p>
            <a:pPr>
              <a:spcAft>
                <a:spcPts val="300"/>
              </a:spcAft>
            </a:pPr>
            <a:r>
              <a:rPr sz="1550" b="0" i="0">
                <a:solidFill>
                  <a:srgbClr val="595959"/>
                </a:solidFill>
                <a:latin typeface="Arial"/>
              </a:rPr>
              <a:t>JSON-LD.</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Credentials a holder carries</a:t>
            </a:r>
          </a:p>
          <a:p>
            <a:pPr>
              <a:spcAft>
                <a:spcPts val="300"/>
              </a:spcAft>
            </a:pPr>
            <a:r>
              <a:rPr sz="1550" b="0" i="0">
                <a:solidFill>
                  <a:srgbClr val="595959"/>
                </a:solidFill>
                <a:latin typeface="Arial"/>
              </a:rPr>
              <a:t>W3C Verifiable Credentials — trusted without phoning the issuer.</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Reuse them rather than invent them.</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Adopt the standards portfolio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standard chosen once is reused by every member and every sector</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second agency does not re-decide how a service is described.</a:t>
            </a:r>
          </a:p>
          <a:p>
            <a:pPr>
              <a:spcAft>
                <a:spcPts val="1200"/>
              </a:spcAft>
            </a:pPr>
            <a:r>
              <a:rPr sz="2000" b="0" i="0">
                <a:solidFill>
                  <a:srgbClr val="1A1A1A"/>
                </a:solidFill>
                <a:latin typeface="Arial"/>
              </a:rPr>
              <a:t>The education work you do now is reused when health comes onto the bus.</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Only whole-of-government planning can impose that discipline. A procurement clause cannot.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Adopt the standards portfolio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Your deliverable is the portfolio document</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For each need: the standard, its version, its profile</a:t>
            </a:r>
          </a:p>
          <a:p>
            <a:pPr>
              <a:spcAft>
                <a:spcPts val="300"/>
              </a:spcAft>
            </a:pPr>
            <a:r>
              <a:rPr sz="1550" b="0" i="0">
                <a:solidFill>
                  <a:srgbClr val="595959"/>
                </a:solidFill>
                <a:latin typeface="Arial"/>
              </a:rPr>
              <a:t>The profile is your small local refinements — keep it thin.</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When it binds, and how long legacy systems have</a:t>
            </a:r>
          </a:p>
          <a:p>
            <a:pPr>
              <a:spcAft>
                <a:spcPts val="300"/>
              </a:spcAft>
            </a:pPr>
            <a:r>
              <a:rPr sz="1550" b="0" i="0">
                <a:solidFill>
                  <a:srgbClr val="595959"/>
                </a:solidFill>
                <a:latin typeface="Arial"/>
              </a:rPr>
              <a:t>Twelve to twenty-four months for a major version is usual.</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How a member proves conformance</a:t>
            </a:r>
          </a:p>
          <a:p>
            <a:pPr>
              <a:spcAft>
                <a:spcPts val="300"/>
              </a:spcAft>
            </a:pPr>
            <a:r>
              <a:rPr sz="1550" b="0" i="0">
                <a:solidFill>
                  <a:srgbClr val="595959"/>
                </a:solidFill>
                <a:latin typeface="Arial"/>
              </a:rPr>
              <a:t>A self-assessment, a third-party check, or a test suite the operator runs.</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Who keeps it</a:t>
            </a:r>
          </a:p>
          <a:p>
            <a:pPr>
              <a:spcAft>
                <a:spcPts val="300"/>
              </a:spcAft>
            </a:pPr>
            <a:r>
              <a:rPr sz="1550" b="0" i="0">
                <a:solidFill>
                  <a:srgbClr val="595959"/>
                </a:solidFill>
                <a:latin typeface="Arial"/>
              </a:rPr>
              <a:t>The APIs Working Group maintains it; every member conforms to it.</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A standard with no binding date and no test is advice, not a standard.</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Adopt the standards portfolio</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Select from the published menu, record the standard and its version, and hold every member to the same portfolio.</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Assemble your standards portfolio from the published menu.</a:t>
            </a:r>
          </a:p>
          <a:p>
            <a:pPr algn="l">
              <a:spcAft>
                <a:spcPts val="400"/>
              </a:spcAft>
            </a:pPr>
            <a:r>
              <a:rPr sz="1800" b="0" i="0">
                <a:solidFill>
                  <a:srgbClr val="595959"/>
                </a:solidFill>
                <a:latin typeface="Arial"/>
              </a:rPr>
              <a:t>The prompt in the companion material gives you a standards-portfolio table plus the decisions that need deliberation.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Adopt the standards portfolio</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Technical — REST / OpenAPI 3.x; OAuth 2.x / OpenID Connect; mTLS; NIIS X-Road</a:t>
            </a:r>
          </a:p>
          <a:p>
            <a:pPr>
              <a:spcAft>
                <a:spcPts val="1200"/>
              </a:spcAft>
            </a:pPr>
            <a:r>
              <a:rPr sz="1700" b="0" i="0">
                <a:solidFill>
                  <a:srgbClr val="1A1A1A"/>
                </a:solidFill>
                <a:latin typeface="Arial"/>
              </a:rPr>
              <a:t>•  Semantic — ISO/IEC 11179; JSON-LD; W3C Verifiable Credentials</a:t>
            </a:r>
          </a:p>
          <a:p>
            <a:pPr>
              <a:spcAft>
                <a:spcPts val="1200"/>
              </a:spcAft>
            </a:pPr>
            <a:r>
              <a:rPr sz="1700" b="0" i="0">
                <a:solidFill>
                  <a:srgbClr val="1A1A1A"/>
                </a:solidFill>
                <a:latin typeface="Arial"/>
              </a:rPr>
              <a:t>•  EU European Interoperability Framework (EIF)</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Adopt the standards portfolio</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