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9" r:id="rId61"/>
    <p:sldId id="2740" r:id="rId62"/>
    <p:sldId id="2741" r:id="rId63"/>
    <p:sldId id="2742" r:id="rId64"/>
    <p:sldId id="2743" r:id="rId65"/>
    <p:sldId id="2744" r:id="rId66"/>
    <p:sldId id="2745" r:id="rId67"/>
    <p:sldId id="2746"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is often described as a technical problem. It is at least as much an agreement problem. A bus with no members carries nothing. So before you build, you map the people whose agreement you need — the agencies who will provide data, the agencies who will consume it, and the leaders whose support or resistance will decide whether the framework lives. This map is the third foundation artefact, and it is what turns a good design into a thing that actually gets adopted.</a:t>
            </a:r>
          </a:p>
          <a:p/>
          <a:p>
            <a:r>
              <a:t>Retrieval prompt — ask before playing on: in a data exchange, which agency is more likely to stall it — the one that receives the data, or the one that gives it? Answer on the provider-and-consumer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Sort the agencies into three tiers. Champions are the agencies that already feel the pain and want the exchange now — they will go first, and their willingness is your most valuable asset. Early Adopters are willing, but want to see it work before they commit their own systems and staff. Observers are not yet convinced — they are watching from the side, and some are quietly hoping it fails so they need not change. You will treat each tier differently, and knowing which is which is half the battle.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adds a twist that other digital programmes do not have. Every exchange has two sides — an agency that provides the data and an agency that consumes it — and they have different incentives. The consumer usually wants the exchange; it makes their service easier. The provider often carries the cost and the risk — the load on their system, the responsibility if the data is wrong. So for each exchange in your catalogue, map both sides: who gains and who is asked to give. A provider agency that sees only cost and no benefit is where adoption stalls, and where you will need your minister's authority and a fair service agreement.</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map tells you the sequence. Find a Champion consumer paired with a willing provider, and that is your first exchange — the one most likely to succeed and prove the framework. Use that first working exchange to move the Early Adopters, who needed to see it before committing. And bring the Observers along with evidence rather than argument — a working once-only exchange that citizens notice is more persuasive than any number of strategy meetings. You spend your scarce political capital where it moves the most agencies. And lock the Champions in before you build on them: a one-day inception workshop with the Tier 1 ministries, ending in a signed commitment letter from each, a named focal point and an agreed quick win. Programmes that skip the signature stall at the first cross-ministry decision, when a Champion turns out to have been a well-wisher.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warning the stakeholder map makes visible. All of this — the tiers, the providers and consumers, the agreements — needs a body that governs the framework as a whole: that admits new members, sets the service levels, and resolves disputes when two agencies disagree. An interoperability platform with no owner decays in its second year, when the founding enthusiasm fades and no one is accountable for keeping it healthy. Designing that governing body is the subject of a later module. The stakeholder map is what shows you why it is not optional.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third foundation artefact is the stakeholder map. Three tiers — Champions, Early Adopters, Observers. Two sides for every exchange — provider and consumer. Together they tell you who to onboard first, who to convince with evidence, and where you will need your minister to lean in. Interoperability is an agreement problem, and this map is how you solve it deliberately instead of hoping the agencies come along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Mapping your stakeholders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Sort the agencies into Champions, Early Adopters and Observers, and you know who to onboard first and who to convince.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bus with no members carries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Interoperability is at least as much an agreement problem as a technical one.</a:t>
            </a:r>
          </a:p>
          <a:p>
            <a:pPr>
              <a:spcAft>
                <a:spcPts val="800"/>
              </a:spcAft>
            </a:pPr>
            <a:r>
              <a:rPr sz="1700" b="0" i="0">
                <a:solidFill>
                  <a:srgbClr val="595959"/>
                </a:solidFill>
                <a:latin typeface="Arial"/>
              </a:rPr>
              <a:t>Map the people whose agreement you need before you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Sort every agency into one of three tiers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Champions</a:t>
            </a:r>
          </a:p>
          <a:p>
            <a:pPr>
              <a:spcAft>
                <a:spcPts val="300"/>
              </a:spcAft>
            </a:pPr>
            <a:r>
              <a:rPr sz="1550" b="0" i="0">
                <a:solidFill>
                  <a:srgbClr val="595959"/>
                </a:solidFill>
                <a:latin typeface="Arial"/>
              </a:rPr>
              <a:t>Want this now, and will go first.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Early Adopters</a:t>
            </a:r>
          </a:p>
          <a:p>
            <a:pPr>
              <a:spcAft>
                <a:spcPts val="300"/>
              </a:spcAft>
            </a:pPr>
            <a:r>
              <a:rPr sz="1550" b="0" i="0">
                <a:solidFill>
                  <a:srgbClr val="595959"/>
                </a:solidFill>
                <a:latin typeface="Arial"/>
              </a:rPr>
              <a:t>Willing — once they see it work.</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Observers</a:t>
            </a:r>
          </a:p>
          <a:p>
            <a:pPr>
              <a:spcAft>
                <a:spcPts val="300"/>
              </a:spcAft>
            </a:pPr>
            <a:r>
              <a:rPr sz="1550" b="0" i="0">
                <a:solidFill>
                  <a:srgbClr val="595959"/>
                </a:solidFill>
                <a:latin typeface="Arial"/>
              </a:rPr>
              <a:t>Not yet convinced, watching from the side.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treat each tier differently. Knowing which is which is half the battle.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exchange has two sides — with different incentives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CONSUMER</a:t>
            </a:r>
          </a:p>
          <a:p>
            <a:pPr>
              <a:spcAft>
                <a:spcPts val="700"/>
              </a:spcAft>
            </a:pPr>
            <a:r>
              <a:rPr sz="1600" b="0" i="0">
                <a:solidFill>
                  <a:srgbClr val="1A1A1A"/>
                </a:solidFill>
                <a:latin typeface="Arial"/>
              </a:rPr>
              <a:t>Wants the exchange.</a:t>
            </a:r>
          </a:p>
          <a:p>
            <a:pPr>
              <a:spcAft>
                <a:spcPts val="700"/>
              </a:spcAft>
            </a:pPr>
            <a:r>
              <a:rPr sz="1600" b="0" i="0">
                <a:solidFill>
                  <a:srgbClr val="1A1A1A"/>
                </a:solidFill>
                <a:latin typeface="Arial"/>
              </a:rPr>
              <a:t>It makes their service easier.</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PROVIDER</a:t>
            </a:r>
          </a:p>
          <a:p>
            <a:pPr>
              <a:spcAft>
                <a:spcPts val="700"/>
              </a:spcAft>
            </a:pPr>
            <a:r>
              <a:rPr sz="1600" b="0" i="0">
                <a:solidFill>
                  <a:srgbClr val="1A1A1A"/>
                </a:solidFill>
                <a:latin typeface="Arial"/>
              </a:rPr>
              <a:t>Carries the cost and the risk.</a:t>
            </a:r>
          </a:p>
          <a:p>
            <a:pPr>
              <a:spcAft>
                <a:spcPts val="700"/>
              </a:spcAft>
            </a:pPr>
            <a:r>
              <a:rPr sz="1600" b="0" i="0">
                <a:solidFill>
                  <a:srgbClr val="1A1A1A"/>
                </a:solidFill>
                <a:latin typeface="Arial"/>
              </a:rPr>
              <a:t>The load on their system; the blame if the data is wrong.</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 provider that sees only cost is where adoption stalls. Map both sides of every exchange.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map tells you who to work first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Pair a Champion consumer with a willing provider</a:t>
            </a:r>
          </a:p>
          <a:p>
            <a:pPr>
              <a:spcAft>
                <a:spcPts val="300"/>
              </a:spcAft>
            </a:pPr>
            <a:r>
              <a:rPr sz="1550" b="0" i="0">
                <a:solidFill>
                  <a:srgbClr val="595959"/>
                </a:solidFill>
                <a:latin typeface="Arial"/>
              </a:rPr>
              <a:t>That is your first exchange.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Use the first win to move the Early Adopters</a:t>
            </a:r>
          </a:p>
          <a:p>
            <a:pPr>
              <a:spcAft>
                <a:spcPts val="300"/>
              </a:spcAft>
            </a:pPr>
            <a:r>
              <a:rPr sz="1550" b="0" i="0">
                <a:solidFill>
                  <a:srgbClr val="595959"/>
                </a:solidFill>
                <a:latin typeface="Arial"/>
              </a:rPr>
              <a:t>They needed to see it before committing.</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Bring Observers along with evidence, not argument</a:t>
            </a:r>
          </a:p>
          <a:p>
            <a:pPr>
              <a:spcAft>
                <a:spcPts val="300"/>
              </a:spcAft>
            </a:pPr>
            <a:r>
              <a:rPr sz="1550" b="0" i="0">
                <a:solidFill>
                  <a:srgbClr val="595959"/>
                </a:solidFill>
                <a:latin typeface="Arial"/>
              </a:rPr>
              <a:t>A working exchange citizens notice beats any strategy meeting.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Lock the Champions in writing</a:t>
            </a:r>
          </a:p>
          <a:p>
            <a:pPr>
              <a:spcAft>
                <a:spcPts val="300"/>
              </a:spcAft>
            </a:pPr>
            <a:r>
              <a:rPr sz="1550" b="0" i="0">
                <a:solidFill>
                  <a:srgbClr val="595959"/>
                </a:solidFill>
                <a:latin typeface="Arial"/>
              </a:rPr>
              <a:t>A one-day inception workshop, then a signed commitment letter from each.</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bus needs an owner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None of this holds without a body that governs the framework — that admits members, sets service levels and resolves disputes.</a:t>
            </a:r>
          </a:p>
          <a:p>
            <a:pPr>
              <a:spcAft>
                <a:spcPts val="1200"/>
              </a:spcAft>
            </a:pPr>
            <a:r>
              <a:rPr sz="2000" b="0" i="0">
                <a:solidFill>
                  <a:srgbClr val="1A1A1A"/>
                </a:solidFill>
                <a:latin typeface="Arial"/>
              </a:rPr>
              <a:t>Designing that body is the subject of Module 3.</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interoperability platform with no owner decays in its second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Map the agencies into Champions, Early Adopters and Observers — and provider against consumer for every exchange — so you spend authority where it moves the most agencies.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stakeholders into tiers and provider/consumer roles.</a:t>
            </a:r>
          </a:p>
          <a:p>
            <a:pPr algn="l">
              <a:spcAft>
                <a:spcPts val="400"/>
              </a:spcAft>
            </a:pPr>
            <a:r>
              <a:rPr sz="1800" b="0" i="0">
                <a:solidFill>
                  <a:srgbClr val="595959"/>
                </a:solidFill>
                <a:latin typeface="Arial"/>
              </a:rPr>
              <a:t>The prompt in the companion material gives you a tier map, a provider/consumer table, an onboarding sequence and a commitment-letter template.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organisational layer</a:t>
            </a:r>
          </a:p>
          <a:p>
            <a:pPr>
              <a:spcAft>
                <a:spcPts val="1200"/>
              </a:spcAft>
            </a:pPr>
            <a:r>
              <a:rPr sz="1700" b="0" i="0">
                <a:solidFill>
                  <a:srgbClr val="1A1A1A"/>
                </a:solidFill>
                <a:latin typeface="Arial"/>
              </a:rPr>
              <a:t>•  NIIS X-Road governance model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