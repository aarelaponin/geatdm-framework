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7" r:id="rId69"/>
    <p:sldId id="2748" r:id="rId70"/>
    <p:sldId id="2749" r:id="rId71"/>
    <p:sldId id="2750" r:id="rId72"/>
    <p:sldId id="2751" r:id="rId73"/>
    <p:sldId id="2752" r:id="rId74"/>
    <p:sldId id="2753" r:id="rId75"/>
    <p:sldId id="2754"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are not the first country to build this, and that is good news. The pattern in this knowledge product is not a theory — it is drawn from systems that have run for years, at national and cross-border scale. Knowing the evidence does two things for you. It gives your minister confidence that the approach is proven. And it tells your team which parts to reuse rather than reinvent — because the most expensive mistake in interoperability is rebuilding a standard that already exists.</a:t>
            </a:r>
          </a:p>
          <a:p/>
          <a:p>
            <a:r>
              <a:t>On screen: country and standard names in plain typography only — no flags, emblems or logos.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clearest example is Estonia's X-Road. Starting in the early 2000s, Estonia built a shared data-exchange layer that now connects hundreds of public and private organisations. Two design choices made it last. Registries are distributed — each fact has one accountable owner, rather than copies scattered across agencies. And once-only is built into law, not left as an aspiration. The technical bus your country will use — the one we demonstrate later on the Linkup federation — is from this same X-Road lineage. Estonia is a small state with different starting conditions, so use it as a proof that the pattern works, not as a template to copy line for line.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example raises the ambition. The European Union built the Once-Only Technical System so that a citizen or business dealing with one member state can have official evidence fetched from another member state, with consent, instead of carrying paper across borders. The point for you is not the cross-border machinery itself. It is the proof of scale: if once-only can be made to work across twenty-seven countries with different languages, laws and systems, then making it work across the ministries of a single country is an easier problem than it looks — provided you build the four layers properly.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kind of evidence is the most practical. For the education sector, the semantic layer — the shared meaning of the data — is largely already published. Giga gives a shared way to identify and locate schools. OneRoster is a standard for rostering and enrolment data. CEDS offers a common vocabulary for education data elements. And Europass, with W3C Verifiable Credentials, is a published standard for digital credentials a learner can carry and a verifier can trust. Your team does not invent what a 'school' or a 'credential' is. They adopt these vocabularies, and spend their scarce time on what is genuinely specific to your country. That is the reuse-first principle made concrete.</a:t>
            </a:r>
          </a:p>
          <a:p/>
          <a:p>
            <a:r>
              <a:t>Production cue: the pivotal slide of this video — the most practical one.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Look across the evidence and the same four elements appear every time. A shared bus rather than point-to-point links. Distributed registries with accountable owners. Once-only written into law. And standards reused rather than reinvented. Different countries, very different scale — the same pattern. It travels because it is built on how the problem actually works, not on any one country's circumstances. Your country can apply it too.</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when you make the case, close with the evidence. The pattern is proven — Estonia at national scale, the EU across borders. The vocabularies are published — Giga, OneRoster, CEDS, Europass. Your team's job is not to invent interoperability. It is to apply a proven pattern and reuse published standards in your country's context. The rest of this knowledge product shows exactly how, building a real once-only exchange on the Linkup federation across our demonstration country, Progressa.</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world already proved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Estonia's X-Road and the EU's once-only systems show the pattern; the education semantic standards show the vocabularies you will reuse rather than invent.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 are not the first country to build this.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pattern has run for years, at national and cross-border scale.</a:t>
            </a:r>
          </a:p>
          <a:p>
            <a:pPr>
              <a:spcAft>
                <a:spcPts val="800"/>
              </a:spcAft>
            </a:pPr>
            <a:r>
              <a:rPr sz="1700" b="0" i="0">
                <a:solidFill>
                  <a:srgbClr val="595959"/>
                </a:solidFill>
                <a:latin typeface="Arial"/>
              </a:rPr>
              <a:t>The most expensive mistake is rebuilding a standard that already exists.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Estonia — two decades of X-Road show the pattern lasts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 shared bus connecting hundreds of organisations</a:t>
            </a:r>
          </a:p>
          <a:p>
            <a:pPr>
              <a:spcAft>
                <a:spcPts val="300"/>
              </a:spcAft>
            </a:pPr>
            <a:r>
              <a:rPr sz="1550" b="0" i="0">
                <a:solidFill>
                  <a:srgbClr val="595959"/>
                </a:solidFill>
                <a:latin typeface="Arial"/>
              </a:rPr>
              <a:t>Built from the early 2000s.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Distributed registries</a:t>
            </a:r>
          </a:p>
          <a:p>
            <a:pPr>
              <a:spcAft>
                <a:spcPts val="300"/>
              </a:spcAft>
            </a:pPr>
            <a:r>
              <a:rPr sz="1550" b="0" i="0">
                <a:solidFill>
                  <a:srgbClr val="595959"/>
                </a:solidFill>
                <a:latin typeface="Arial"/>
              </a:rPr>
              <a:t>Each fact owned by one accountable agency.</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Once-only in law</a:t>
            </a:r>
          </a:p>
          <a:p>
            <a:pPr>
              <a:spcAft>
                <a:spcPts val="300"/>
              </a:spcAft>
            </a:pPr>
            <a:r>
              <a:rPr sz="1550" b="0" i="0">
                <a:solidFill>
                  <a:srgbClr val="595959"/>
                </a:solidFill>
                <a:latin typeface="Arial"/>
              </a:rPr>
              <a:t>Not left as an aspiration.</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proof that the pattern works — not a template to copy line for line.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If once-only works across 27 countries, it can work across your ministries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EU's Once-Only Technical System lets a citizen or business in one member state have official evidence fetched from another — with consent, instead of carrying paper across borders.</a:t>
            </a:r>
          </a:p>
          <a:p>
            <a:pPr>
              <a:spcAft>
                <a:spcPts val="1200"/>
              </a:spcAft>
            </a:pPr>
            <a:r>
              <a:rPr sz="2000" b="0" i="0">
                <a:solidFill>
                  <a:srgbClr val="1A1A1A"/>
                </a:solidFill>
                <a:latin typeface="Arial"/>
              </a:rPr>
              <a:t>Different languages, laws and systems. The same four layers.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point is not the cross-border machinery. It is the proof of scale.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the vocabulary — don't invent it</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Giga</a:t>
            </a:r>
          </a:p>
          <a:p>
            <a:pPr>
              <a:spcAft>
                <a:spcPts val="300"/>
              </a:spcAft>
            </a:pPr>
            <a:r>
              <a:rPr sz="1550" b="0" i="0">
                <a:solidFill>
                  <a:srgbClr val="595959"/>
                </a:solidFill>
                <a:latin typeface="Arial"/>
              </a:rPr>
              <a:t>A shared way to identify and locate schools.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OneRoster</a:t>
            </a:r>
          </a:p>
          <a:p>
            <a:pPr>
              <a:spcAft>
                <a:spcPts val="300"/>
              </a:spcAft>
            </a:pPr>
            <a:r>
              <a:rPr sz="1550" b="0" i="0">
                <a:solidFill>
                  <a:srgbClr val="595959"/>
                </a:solidFill>
                <a:latin typeface="Arial"/>
              </a:rPr>
              <a:t>A standard for rostering and enrolment data.</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CEDS</a:t>
            </a:r>
          </a:p>
          <a:p>
            <a:pPr>
              <a:spcAft>
                <a:spcPts val="300"/>
              </a:spcAft>
            </a:pPr>
            <a:r>
              <a:rPr sz="1550" b="0" i="0">
                <a:solidFill>
                  <a:srgbClr val="595959"/>
                </a:solidFill>
                <a:latin typeface="Arial"/>
              </a:rPr>
              <a:t>A common vocabulary for education data.</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Europass / W3C Verifiable Credentials</a:t>
            </a:r>
          </a:p>
          <a:p>
            <a:pPr>
              <a:spcAft>
                <a:spcPts val="300"/>
              </a:spcAft>
            </a:pPr>
            <a:r>
              <a:rPr sz="1550" b="0" i="0">
                <a:solidFill>
                  <a:srgbClr val="595959"/>
                </a:solidFill>
                <a:latin typeface="Arial"/>
              </a:rPr>
              <a:t>A standard for digital credentials.</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Spend your team's scarce time on what is specific to your country.</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Different countries, different scale — the same four elements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shared bus</a:t>
            </a:r>
          </a:p>
          <a:p>
            <a:pPr>
              <a:spcAft>
                <a:spcPts val="300"/>
              </a:spcAft>
            </a:pPr>
            <a:r>
              <a:rPr sz="1550" b="0" i="0">
                <a:solidFill>
                  <a:srgbClr val="595959"/>
                </a:solidFill>
                <a:latin typeface="Arial"/>
              </a:rPr>
              <a:t>Rather than point-to-point links.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Distributed registries</a:t>
            </a:r>
          </a:p>
          <a:p>
            <a:pPr>
              <a:spcAft>
                <a:spcPts val="300"/>
              </a:spcAft>
            </a:pPr>
            <a:r>
              <a:rPr sz="1550" b="0" i="0">
                <a:solidFill>
                  <a:srgbClr val="595959"/>
                </a:solidFill>
                <a:latin typeface="Arial"/>
              </a:rPr>
              <a:t>With accountable owners.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Once-only written into law</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Standards reused, not reinvented</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It travels because it is built on how the problem works — not on one country's circumstances.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pattern is proven and the vocabularies are published — your team's job is to apply them to your country, not to invent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published standards your sector should reuse.</a:t>
            </a:r>
          </a:p>
          <a:p>
            <a:pPr algn="l">
              <a:spcAft>
                <a:spcPts val="400"/>
              </a:spcAft>
            </a:pPr>
            <a:r>
              <a:rPr sz="1800" b="0" i="0">
                <a:solidFill>
                  <a:srgbClr val="595959"/>
                </a:solidFill>
                <a:latin typeface="Arial"/>
              </a:rPr>
              <a:t>The prompt in the companion material gives you a table of candidate standards plus an "adopt first" shortlist.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Estonia — e-Estonia.com; RIA (ria.ee); X-Road (niis.org)</a:t>
            </a:r>
          </a:p>
          <a:p>
            <a:pPr>
              <a:spcAft>
                <a:spcPts val="1200"/>
              </a:spcAft>
            </a:pPr>
            <a:r>
              <a:rPr sz="1700" b="0" i="0">
                <a:solidFill>
                  <a:srgbClr val="1A1A1A"/>
                </a:solidFill>
                <a:latin typeface="Arial"/>
              </a:rPr>
              <a:t>•  EU Once-Only Technical System (OOTS)</a:t>
            </a:r>
          </a:p>
          <a:p>
            <a:pPr>
              <a:spcAft>
                <a:spcPts val="1200"/>
              </a:spcAft>
            </a:pPr>
            <a:r>
              <a:rPr sz="1700" b="0" i="0">
                <a:solidFill>
                  <a:srgbClr val="1A1A1A"/>
                </a:solidFill>
                <a:latin typeface="Arial"/>
              </a:rPr>
              <a:t>•  Giga</a:t>
            </a:r>
          </a:p>
          <a:p>
            <a:pPr>
              <a:spcAft>
                <a:spcPts val="1200"/>
              </a:spcAft>
            </a:pPr>
            <a:r>
              <a:rPr sz="1700" b="0" i="0">
                <a:solidFill>
                  <a:srgbClr val="1A1A1A"/>
                </a:solidFill>
                <a:latin typeface="Arial"/>
              </a:rPr>
              <a:t>•  OneRoster (1EdTech); CEDS</a:t>
            </a:r>
          </a:p>
          <a:p>
            <a:pPr>
              <a:spcAft>
                <a:spcPts val="1200"/>
              </a:spcAft>
            </a:pPr>
            <a:r>
              <a:rPr sz="1700" b="0" i="0">
                <a:solidFill>
                  <a:srgbClr val="1A1A1A"/>
                </a:solidFill>
                <a:latin typeface="Arial"/>
              </a:rPr>
              <a:t>•  Europass; W3C Verifiable Credentials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the world already proved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