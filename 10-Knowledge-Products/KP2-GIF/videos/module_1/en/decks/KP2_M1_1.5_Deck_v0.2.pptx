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1" r:id="rId10"/>
    <p:sldId id="2732" r:id="rId54"/>
    <p:sldId id="2733" r:id="rId55"/>
    <p:sldId id="2734" r:id="rId56"/>
    <p:sldId id="2735" r:id="rId57"/>
    <p:sldId id="2736" r:id="rId58"/>
    <p:sldId id="2737" r:id="rId59"/>
    <p:sldId id="273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your country has already planned its Enterprise Architecture — the whole-of-government picture of which systems exist and how they should fit together — you already have a first-cut integration map: a picture of which government systems ought to exchange what. That map is the input to this step. If you do not have one yet, build it first — inventory your government's systems, who owns them and the data they hold, and sketch which ought to exchange what. That inventory is the first step of any Enterprise Architecture — discovering what exists and assessing it — and the companion knowledge product on Government Enterprise Architecture walks you through it. It is the precondition for everything in this knowledge product; without a picture of your current systems, you cannot rank the exchanges worth building. On its own, a map of everything-connects-to-everything is overwhelming and undeployable. The Use-Case Catalogue turns it into a ranked list of specific exchanges, so the framework starts with the few that matter most instead of trying to boil the ocean.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catalogue is a table, and each row is one concrete exchange. Each row names who provides the data and who consumes it. It names what data moves, and — crucially — the citizen-facing service that the exchange enables, so that no exchange is built just because it is technically possible. It records readiness at each of the four layers, so you can see what is missing. And it carries a priority, set by weighing the value to the citizen against the effort to build. One row per exchange keeps the conversation specific.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a line from the integration map: the examination authority could use identity from the identity authority and enrolment from the learner registry. As a map line, it is just a possibility. As a catalogue entry, it becomes a decision: this exchange, enabling this credential service for learners, ready at the technical layer but not yet at the legal one, high citizen value, medium effort — therefore a strong candidate for the first wave. The map shows what is possible. The catalogue decides what is next.</a:t>
            </a:r>
          </a:p>
          <a:p/>
          <a:p>
            <a:r>
              <a:t>Production cue: the pivotal slide of this video. Reveal the right panel on 'As a catalogue entry'.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Rank on two axes. Value: how much citizen burden does this exchange remove? An exchange that lets thousands of parents stop carrying a document to enrol a child is worth more than one that saves a few officials a query. Count the repeated visits. And feasibility: how ready are the four layers, and how willing is the agency that owns the data? An exchange where the provider agency is eager and the legal basis is close is more feasible than one where the data owner is reluctant. The first exchanges to build are the high-value, high-feasibility ones — they prove the framework and build the appetite for the harder ones.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Resist the urge to launch with twenty exchanges. One real once-only exchange, working end-to-end, convinces more agencies to join than any strategy document ever will. The catalogue holds the rest as a prioritised backlog — nothing is forgotten, but the team works the list in order. This is also how you keep the framework funded: each delivered exchange is a visible win you can point to before asking for the next tranche, instead of a long silence followed by a big-bang launch that may slip.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second foundation artefact, after the Strategic Foundation Document, is the Use-Case Catalogue. It turns your integration map from a picture of everything into a ranked list of next things. It keeps the framework specific, fundable and honest about priorities. And it gives the architects who design the exchanges a clear first target — the highest-value, most-feasible exchange — to design and build for real.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Use-Case Catalogue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Turn your integration map into a ranked catalogue of exchanges worth building — and start with the one that removes the most burden from citizens.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map of everything connecting to everything cannot be built.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Start from your integration map: which government systems ought to exchange what.</a:t>
            </a:r>
          </a:p>
          <a:p>
            <a:pPr>
              <a:spcAft>
                <a:spcPts val="800"/>
              </a:spcAft>
            </a:pPr>
            <a:r>
              <a:rPr sz="1700" b="0" i="0">
                <a:solidFill>
                  <a:srgbClr val="595959"/>
                </a:solidFill>
                <a:latin typeface="Arial"/>
              </a:rPr>
              <a:t>No map yet? Inventory your systems, who owns them and the data they hold — first.</a:t>
            </a:r>
          </a:p>
          <a:p>
            <a:pPr>
              <a:spcAft>
                <a:spcPts val="800"/>
              </a:spcAft>
            </a:pPr>
            <a:r>
              <a:rPr sz="1700" b="0" i="0">
                <a:solidFill>
                  <a:srgbClr val="595959"/>
                </a:solidFill>
                <a:latin typeface="Arial"/>
              </a:rPr>
              <a:t>The catalogue turns the map into a short list of what to build next.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row per exchange keeps the conversation specific</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Who provides the data, and who consumes it</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What data — and the citizen service it enables</a:t>
            </a:r>
          </a:p>
          <a:p>
            <a:pPr>
              <a:spcAft>
                <a:spcPts val="300"/>
              </a:spcAft>
            </a:pPr>
            <a:r>
              <a:rPr sz="1550" b="0" i="0">
                <a:solidFill>
                  <a:srgbClr val="595959"/>
                </a:solidFill>
                <a:latin typeface="Arial"/>
              </a:rPr>
              <a:t>No exchange is built just because it is technically possible.</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Readiness at each of the four layers</a:t>
            </a:r>
          </a:p>
          <a:p>
            <a:pPr>
              <a:spcAft>
                <a:spcPts val="300"/>
              </a:spcAft>
            </a:pPr>
            <a:r>
              <a:rPr sz="1550" b="0" i="0">
                <a:solidFill>
                  <a:srgbClr val="595959"/>
                </a:solidFill>
                <a:latin typeface="Arial"/>
              </a:rPr>
              <a:t>So you can see what is missing.</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Priority</a:t>
            </a:r>
          </a:p>
          <a:p>
            <a:pPr>
              <a:spcAft>
                <a:spcPts val="300"/>
              </a:spcAft>
            </a:pPr>
            <a:r>
              <a:rPr sz="1550" b="0" i="0">
                <a:solidFill>
                  <a:srgbClr val="595959"/>
                </a:solidFill>
                <a:latin typeface="Arial"/>
              </a:rPr>
              <a:t>Value to the citizen, weighed against the effort to build.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 a catalogue entry, a map line becomes a decision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MAP SAYS</a:t>
            </a:r>
          </a:p>
          <a:p>
            <a:pPr>
              <a:spcAft>
                <a:spcPts val="700"/>
              </a:spcAft>
            </a:pPr>
            <a:r>
              <a:rPr sz="1600" b="0" i="0">
                <a:solidFill>
                  <a:srgbClr val="1A1A1A"/>
                </a:solidFill>
                <a:latin typeface="Arial"/>
              </a:rPr>
              <a:t>PNEA could use identity from PNIA and enrolment from PLR.</a:t>
            </a:r>
          </a:p>
          <a:p>
            <a:pPr>
              <a:spcAft>
                <a:spcPts val="700"/>
              </a:spcAft>
            </a:pPr>
            <a:r>
              <a:rPr sz="1600" b="0" i="0">
                <a:solidFill>
                  <a:srgbClr val="1A1A1A"/>
                </a:solidFill>
                <a:latin typeface="Arial"/>
              </a:rPr>
              <a:t>A line on a picture — a possibility.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CATALOGUE SAYS</a:t>
            </a:r>
          </a:p>
          <a:p>
            <a:pPr>
              <a:spcAft>
                <a:spcPts val="700"/>
              </a:spcAft>
            </a:pPr>
            <a:r>
              <a:rPr sz="1600" b="0" i="0">
                <a:solidFill>
                  <a:srgbClr val="1A1A1A"/>
                </a:solidFill>
                <a:latin typeface="Arial"/>
              </a:rPr>
              <a:t>That exchange, for the learner credential service.</a:t>
            </a:r>
          </a:p>
          <a:p>
            <a:pPr>
              <a:spcAft>
                <a:spcPts val="700"/>
              </a:spcAft>
            </a:pPr>
            <a:r>
              <a:rPr sz="1600" b="0" i="0">
                <a:solidFill>
                  <a:srgbClr val="1A1A1A"/>
                </a:solidFill>
                <a:latin typeface="Arial"/>
              </a:rPr>
              <a:t>Technical: ready. Legal: not yet.</a:t>
            </a:r>
          </a:p>
          <a:p>
            <a:pPr>
              <a:spcAft>
                <a:spcPts val="700"/>
              </a:spcAft>
            </a:pPr>
            <a:r>
              <a:rPr sz="1600" b="0" i="0">
                <a:solidFill>
                  <a:srgbClr val="1A1A1A"/>
                </a:solidFill>
                <a:latin typeface="Arial"/>
              </a:rPr>
              <a:t>High citizen value, medium effort — first wave.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map shows what is possible. The catalogue decides what is next.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Rank on two axes — and build the high-high ones first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VALUE</a:t>
            </a:r>
          </a:p>
          <a:p>
            <a:pPr>
              <a:spcAft>
                <a:spcPts val="700"/>
              </a:spcAft>
            </a:pPr>
            <a:r>
              <a:rPr sz="1600" b="0" i="0">
                <a:solidFill>
                  <a:srgbClr val="1A1A1A"/>
                </a:solidFill>
                <a:latin typeface="Arial"/>
              </a:rPr>
              <a:t>How much citizen burden does this exchange remove?</a:t>
            </a:r>
          </a:p>
          <a:p>
            <a:pPr>
              <a:spcAft>
                <a:spcPts val="700"/>
              </a:spcAft>
            </a:pPr>
            <a:r>
              <a:rPr sz="1600" b="0" i="0">
                <a:solidFill>
                  <a:srgbClr val="1A1A1A"/>
                </a:solidFill>
                <a:latin typeface="Arial"/>
              </a:rPr>
              <a:t>Count the repeated visits and the repeated forms.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FEASIBILITY</a:t>
            </a:r>
          </a:p>
          <a:p>
            <a:pPr>
              <a:spcAft>
                <a:spcPts val="700"/>
              </a:spcAft>
            </a:pPr>
            <a:r>
              <a:rPr sz="1600" b="0" i="0">
                <a:solidFill>
                  <a:srgbClr val="1A1A1A"/>
                </a:solidFill>
                <a:latin typeface="Arial"/>
              </a:rPr>
              <a:t>How ready are the four layers?</a:t>
            </a:r>
          </a:p>
          <a:p>
            <a:pPr>
              <a:spcAft>
                <a:spcPts val="700"/>
              </a:spcAft>
            </a:pPr>
            <a:r>
              <a:rPr sz="1600" b="0" i="0">
                <a:solidFill>
                  <a:srgbClr val="1A1A1A"/>
                </a:solidFill>
                <a:latin typeface="Arial"/>
              </a:rPr>
              <a:t>How willing is the agency that owns the data?</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first builds prove the framework and build the appetite for the harder ones.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Start small and visible — not with twenty exchanges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One real once-only exchange, working end to end, convinces more agencies than any strategy document.</a:t>
            </a:r>
          </a:p>
          <a:p>
            <a:pPr>
              <a:spcAft>
                <a:spcPts val="1200"/>
              </a:spcAft>
            </a:pPr>
            <a:r>
              <a:rPr sz="2000" b="0" i="0">
                <a:solidFill>
                  <a:srgbClr val="1A1A1A"/>
                </a:solidFill>
                <a:latin typeface="Arial"/>
              </a:rPr>
              <a:t>The catalogue is the backlog: nothing is forgotten, and the rest wait their turn in priority order.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Each delivered exchange is a visible win to point to before the next tranche.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Use-Case Catalogue turns a map of everything into a ranked list of next things — starting with the exchange that removes the most burden from citizens.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Use-Case Catalogue from your integration map.</a:t>
            </a:r>
          </a:p>
          <a:p>
            <a:pPr algn="l">
              <a:spcAft>
                <a:spcPts val="400"/>
              </a:spcAft>
            </a:pPr>
            <a:r>
              <a:rPr sz="1800" b="0" i="0">
                <a:solidFill>
                  <a:srgbClr val="595959"/>
                </a:solidFill>
                <a:latin typeface="Arial"/>
              </a:rPr>
              <a:t>The prompt in the companion material gives you a Use-Case Catalogue table plus a ranked first-wave shortlist of three.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EU European Interoperability Framework — interoperability agreements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