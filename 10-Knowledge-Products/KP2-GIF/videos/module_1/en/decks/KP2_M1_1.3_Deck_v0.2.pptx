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5" r:id="rId37"/>
    <p:sldId id="2716" r:id="rId38"/>
    <p:sldId id="2717" r:id="rId39"/>
    <p:sldId id="2718" r:id="rId40"/>
    <p:sldId id="2719" r:id="rId41"/>
    <p:sldId id="2720" r:id="rId42"/>
    <p:sldId id="2721" r:id="rId43"/>
    <p:sldId id="272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is easy to talk about interoperability in terms of buses and standards and lose sight of what it is for. So here is the outcome, in one sentence a citizen would recognise: the state never asks a citizen for the same information twice. She gives her identity once, and every service that is entitled to it can get it — with her consent and a lawful basis — without asking her again. This is the once-only principle, and it is the single clearest test of whether your interoperability framework actually works.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Without it, your agencies ask the same citizen for the same proof three times. The identity office checks her identity. The school checks it again, on paper, when her child is enrolled. The clinic checks it a third time. Same document, three agencies, three times — not because anyone wants to burden her, but because each agency has no way to ask the agency that already holds the answer. The burden is pushed onto the person with the least power to carry it.</a:t>
            </a:r>
          </a:p>
          <a:p/>
          <a:p>
            <a:r>
              <a:t>Production cue: the empathy beat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Once-only sounds simple, but it requires all four layers we just named, working together. It requires a trusted source for each fact — one authoritative holder of identity, one of enrolment, rather than five copies that disagree. It requires a lawful basis and, where appropriate, the citizen's consent. And it requires a real-time way to fetch the fact at the moment of service, over the bus, instead of asking the citizen to carry it. Once-only is not a feature you switch on. It is what you get when the four layers are built correctly.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We will build exactly this, on a real federation, later in the knowledge product. In our demonstration country, Progressa, a learner applies for a credential at the national examination authority. Without once-only, the authority asks the learner to bring proof of identity and proof of enrolment on paper. With once-only, the authority pre-fills the learner's identity from the national identity authority and the learner's enrolment from the learner registry — fetched over the bus, with a lawful basis, in seconds. The learner is asked once. That single exchange is the thing this whole framework exists to make possible.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Make once-only your north star, for two reasons. It is measurable — you can literally count the number of times a citizen is asked for data the state already holds, and drive that number down. And it keeps the framework honest. It is possible to build a technically impressive bus that no real service uses. Once-only is the test that cuts through that: until a real service fetches a real fact for a real citizen who is no longer asked twice, the framework is plumbing, not yet a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explain interoperability to your minister or your cabinet, lead with this. The framework is not about buses. It is about a promise to the citizen — ask once, and let the state fetch the rest, lawfully and with consent. Once-only is both the promise and the measure. Everything else in this knowledge product is in service of making that one sentence true in your country.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once-only promise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Once-only — the state never asks a citizen for the same data twice — is the outcome interoperability is for, and the test of whether it works.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state never asks a citizen for the same information twice.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is the outcome interoperability is for.</a:t>
            </a:r>
          </a:p>
          <a:p>
            <a:pPr>
              <a:spcAft>
                <a:spcPts val="800"/>
              </a:spcAft>
            </a:pPr>
            <a:r>
              <a:rPr sz="1700" b="0" i="0">
                <a:solidFill>
                  <a:srgbClr val="595959"/>
                </a:solidFill>
                <a:latin typeface="Arial"/>
              </a:rPr>
              <a:t>And it is the clearest test of whether your framework works.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Without once-only, the citizen carries the same proof three times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Your identity office checks her identity. Your school checks it again at enrolment. Your clinic checks it a third time.</a:t>
            </a:r>
          </a:p>
          <a:p>
            <a:pPr>
              <a:spcAft>
                <a:spcPts val="1200"/>
              </a:spcAft>
            </a:pPr>
            <a:r>
              <a:rPr sz="2000" b="0" i="0">
                <a:solidFill>
                  <a:srgbClr val="1A1A1A"/>
                </a:solidFill>
                <a:latin typeface="Arial"/>
              </a:rPr>
              <a:t>The same document, three agencies, three times — because the agencies cannot ask each other.</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The burden lands on the person with the least power to carry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Once-only is not a feature you switch on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A trusted source for each fact</a:t>
            </a:r>
          </a:p>
          <a:p>
            <a:pPr>
              <a:spcAft>
                <a:spcPts val="300"/>
              </a:spcAft>
            </a:pPr>
            <a:r>
              <a:rPr sz="1550" b="0" i="0">
                <a:solidFill>
                  <a:srgbClr val="595959"/>
                </a:solidFill>
                <a:latin typeface="Arial"/>
              </a:rPr>
              <a:t>One authoritative holder — not five copies that disagree.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A lawful basis, and the citizen's consent</a:t>
            </a:r>
          </a:p>
          <a:p>
            <a:pPr>
              <a:spcAft>
                <a:spcPts val="300"/>
              </a:spcAft>
            </a:pPr>
            <a:r>
              <a:rPr sz="1550" b="0" i="0">
                <a:solidFill>
                  <a:srgbClr val="595959"/>
                </a:solidFill>
                <a:latin typeface="Arial"/>
              </a:rPr>
              <a:t>Where appropriate.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 real-time way to fetch it</a:t>
            </a:r>
          </a:p>
          <a:p>
            <a:pPr>
              <a:spcAft>
                <a:spcPts val="300"/>
              </a:spcAft>
            </a:pPr>
            <a:r>
              <a:rPr sz="1550" b="0" i="0">
                <a:solidFill>
                  <a:srgbClr val="595959"/>
                </a:solidFill>
                <a:latin typeface="Arial"/>
              </a:rPr>
              <a:t>At the moment of service, over the bus.</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is what you get when the four layers are built correctly.</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 Progressa, the learner is asked once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A learner applies for a credential</a:t>
            </a:r>
          </a:p>
          <a:p>
            <a:pPr>
              <a:spcAft>
                <a:spcPts val="300"/>
              </a:spcAft>
            </a:pPr>
            <a:r>
              <a:rPr sz="1550" b="0" i="0">
                <a:solidFill>
                  <a:srgbClr val="595959"/>
                </a:solidFill>
                <a:latin typeface="Arial"/>
              </a:rPr>
              <a:t>At the national examination authority (PNEA).</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authority pre-fills instead of re-asking</a:t>
            </a:r>
          </a:p>
          <a:p>
            <a:pPr>
              <a:spcAft>
                <a:spcPts val="300"/>
              </a:spcAft>
            </a:pPr>
            <a:r>
              <a:rPr sz="1550" b="0" i="0">
                <a:solidFill>
                  <a:srgbClr val="595959"/>
                </a:solidFill>
                <a:latin typeface="Arial"/>
              </a:rPr>
              <a:t>Identity from the identity authority (PNIA), enrolment from the learner registry (PLR) — over the bus.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Asked once</a:t>
            </a:r>
          </a:p>
          <a:p>
            <a:pPr>
              <a:spcAft>
                <a:spcPts val="300"/>
              </a:spcAft>
            </a:pPr>
            <a:r>
              <a:rPr sz="1550" b="0" i="0">
                <a:solidFill>
                  <a:srgbClr val="595959"/>
                </a:solidFill>
                <a:latin typeface="Arial"/>
              </a:rPr>
              <a:t>The data is fetched, with a lawful basis, in seconds.</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exchange this whole framework exists to make possible — built live in Module 5.</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Once-only is the right north star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IT IS MEASURABLE</a:t>
            </a:r>
          </a:p>
          <a:p>
            <a:pPr>
              <a:spcAft>
                <a:spcPts val="700"/>
              </a:spcAft>
            </a:pPr>
            <a:r>
              <a:rPr sz="1600" b="0" i="0">
                <a:solidFill>
                  <a:srgbClr val="1A1A1A"/>
                </a:solidFill>
                <a:latin typeface="Arial"/>
              </a:rPr>
              <a:t>Count the times a citizen is asked for data the state already holds.</a:t>
            </a:r>
          </a:p>
          <a:p>
            <a:pPr>
              <a:spcAft>
                <a:spcPts val="700"/>
              </a:spcAft>
            </a:pPr>
            <a:r>
              <a:rPr sz="1600" b="0" i="0">
                <a:solidFill>
                  <a:srgbClr val="1A1A1A"/>
                </a:solidFill>
                <a:latin typeface="Arial"/>
              </a:rPr>
              <a:t>Then drive that number down.</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IT KEEPS THE FRAMEWORK HONEST</a:t>
            </a:r>
          </a:p>
          <a:p>
            <a:pPr>
              <a:spcAft>
                <a:spcPts val="700"/>
              </a:spcAft>
            </a:pPr>
            <a:r>
              <a:rPr sz="1600" b="0" i="0">
                <a:solidFill>
                  <a:srgbClr val="1A1A1A"/>
                </a:solidFill>
                <a:latin typeface="Arial"/>
              </a:rPr>
              <a:t>A bus nobody uses for a real once-only exchange is not yet working.</a:t>
            </a:r>
          </a:p>
          <a:p>
            <a:pPr>
              <a:spcAft>
                <a:spcPts val="700"/>
              </a:spcAft>
            </a:pPr>
            <a:r>
              <a:rPr sz="1600" b="0" i="0">
                <a:solidFill>
                  <a:srgbClr val="1A1A1A"/>
                </a:solidFill>
                <a:latin typeface="Arial"/>
              </a:rPr>
              <a:t>An impressive bus is easy to build. A used one is the test.</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Until a citizen is no longer asked twice, the framework is plumbing — not yet a result.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Once-only is the promise to the citizen and the test of the framework: ask once, fetch the rest — lawfully, with consent, over the bus.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your country's highest-value once-only exchange.</a:t>
            </a:r>
          </a:p>
          <a:p>
            <a:pPr algn="l">
              <a:spcAft>
                <a:spcPts val="400"/>
              </a:spcAft>
            </a:pPr>
            <a:r>
              <a:rPr sz="1800" b="0" i="0">
                <a:solidFill>
                  <a:srgbClr val="595959"/>
                </a:solidFill>
                <a:latin typeface="Arial"/>
              </a:rPr>
              <a:t>The prompt in the companion material gives you a ranked once-only opportunity table plus a first-exchange recommendation.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EU Once-Only Technical System (OOTS)</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