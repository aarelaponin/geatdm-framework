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government has probably already required interoperability. Every new system contract says the supplier must provide open interfaces. The national digital strategy says systems must connect. And yet your health ministry still records the citizen's ID number on paper, and your school system records it again, on paper, at enrolment. The requirement is written down. The result is not there. The question this video answers is why — and what actually works instead.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uncomfortable truth. A procurement rule can require a behaviour. It cannot make that behaviour the cheapest choice for the team doing the work. Inside any one project, the team has a budget and a deadline. Connecting to another ministry's system means learning that system, negotiating with that ministry's people, and waiting for their timelines. Building a quick point-to-point link of their own is faster. So they build their own. That is not indiscipline. That is the project doing exactly what it was funded to 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result is point-to-point sprawl. Last year your team connected the tax office to the business register, and built that connection from scratch. This year the health ministry needs the same data, and the connection is built again, from scratch. Each link is private, undocumented, and breaks when either side changes. Nobody planned the shared road that every one of these journeys should travel on. There was no one whose job it was to plan it.</a:t>
            </a:r>
          </a:p>
          <a:p/>
          <a:p>
            <a:r>
              <a:t>Production cue: the recognition moment — the viewer has lived this. Reveal the rows one year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Interoperability becomes the rational choice only from one vantage point — the whole of government. From there the maths changes. The first agency pays to build a shared way to exchange data. The second agency does not build its own; it connects to the shared one. The third and fourth do the same. The country builds the road once, and every agency reuses it. But this view does not exist inside any single project. It exists only at the level of your country's whole digital portfolio — and someone has to hold it deliberately. That is what an interoperability framework is for.</a:t>
            </a:r>
          </a:p>
          <a:p/>
          <a:p>
            <a:r>
              <a:t>Production cue: the pivotal slide of this video — planning is what makes re-use possible.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framework is the plan, made of four parts that a contract clause cannot deliver. A legal mandate that makes data exchange lawful and connection mandatory. An organisational layer that names who owns the bus, who may join, and who is accountable. A semantic layer so that two agencies mean the same thing by the word 'learner'. And a technical layer — the shared bus and the standards every member uses. This knowledge product builds all four, in order, for a real exchange. The point here is that no procurement clause produces any of them. Only planning at the level of the whole government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None of this means you stop procuring. You will still buy — the central platform, the security servers, the integration services. What the framework changes is what the tender says. Once the framework exists, its reference architecture is the specification, its rules go into every new tender as mandatory requirements, and the country owns the architecture rather than inheriting whichever one the winning vendor brought. And the platform itself is bought as a working, accepted result — with acceptance tests, a warranty and penalties for delay — not as a consulting exercise. So the sequence is the whole lesson: plan the framework first, then let procurement enforce it. The toolkit behind this knowledge product carries that path, from reference architecture to an issuable tender.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the case to make. Rules can require interoperability; only a framework, planned once for the whole of government, can deliver it — and once it exists, every tender carries its rules. Framework first, procurement as its lever.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interoperability can't be bought, only built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Only whole-of-government planning delivers it — and once the framework exists, procurement is how you enforce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requirement is written down. The result is not there.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new contract already says: provide open interfaces.</a:t>
            </a:r>
          </a:p>
          <a:p>
            <a:pPr>
              <a:spcAft>
                <a:spcPts val="800"/>
              </a:spcAft>
            </a:pPr>
            <a:r>
              <a:rPr sz="1700" b="0" i="0">
                <a:solidFill>
                  <a:srgbClr val="595959"/>
                </a:solidFill>
                <a:latin typeface="Arial"/>
              </a:rPr>
              <a:t>Your health ministry still records the citizen's ID number on paper — and your school system records it again at enrolment.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rule can require behaviour. It cannot make it the cheapest choice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CONTRACT SAYS</a:t>
            </a:r>
          </a:p>
          <a:p>
            <a:pPr>
              <a:spcAft>
                <a:spcPts val="700"/>
              </a:spcAft>
            </a:pPr>
            <a:r>
              <a:rPr sz="1600" b="0" i="0">
                <a:solidFill>
                  <a:srgbClr val="1A1A1A"/>
                </a:solidFill>
                <a:latin typeface="Arial"/>
              </a:rPr>
              <a:t>Provide open interfaces.</a:t>
            </a:r>
          </a:p>
          <a:p>
            <a:pPr>
              <a:spcAft>
                <a:spcPts val="700"/>
              </a:spcAft>
            </a:pPr>
            <a:r>
              <a:rPr sz="1600" b="0" i="0">
                <a:solidFill>
                  <a:srgbClr val="1A1A1A"/>
                </a:solidFill>
                <a:latin typeface="Arial"/>
              </a:rPr>
              <a:t>Connect to the other ministries' systems.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PROJECT ASKS</a:t>
            </a:r>
          </a:p>
          <a:p>
            <a:pPr>
              <a:spcAft>
                <a:spcPts val="700"/>
              </a:spcAft>
            </a:pPr>
            <a:r>
              <a:rPr sz="1600" b="0" i="0">
                <a:solidFill>
                  <a:srgbClr val="1A1A1A"/>
                </a:solidFill>
                <a:latin typeface="Arial"/>
              </a:rPr>
              <a:t>What is the fastest way to ship on time and on budget?</a:t>
            </a:r>
          </a:p>
          <a:p>
            <a:pPr>
              <a:spcAft>
                <a:spcPts val="700"/>
              </a:spcAft>
            </a:pPr>
            <a:r>
              <a:rPr sz="1600" b="0" i="0">
                <a:solidFill>
                  <a:srgbClr val="1A1A1A"/>
                </a:solidFill>
                <a:latin typeface="Arial"/>
              </a:rPr>
              <a:t>A point-to-point link of our own is faster.</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That is not indiscipline. It is the project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link is built from scratch — again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Last year: the tax office connected to the business register</a:t>
            </a:r>
          </a:p>
          <a:p>
            <a:pPr>
              <a:spcAft>
                <a:spcPts val="300"/>
              </a:spcAft>
            </a:pPr>
            <a:r>
              <a:rPr sz="1550" b="0" i="0">
                <a:solidFill>
                  <a:srgbClr val="595959"/>
                </a:solidFill>
                <a:latin typeface="Arial"/>
              </a:rPr>
              <a:t>Built from zero.</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This year: the health ministry needs the same data</a:t>
            </a:r>
          </a:p>
          <a:p>
            <a:pPr>
              <a:spcAft>
                <a:spcPts val="300"/>
              </a:spcAft>
            </a:pPr>
            <a:r>
              <a:rPr sz="1550" b="0" i="0">
                <a:solidFill>
                  <a:srgbClr val="595959"/>
                </a:solidFill>
                <a:latin typeface="Arial"/>
              </a:rPr>
              <a:t>Built from zero again.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Next year: a third connection, from zero</a:t>
            </a:r>
          </a:p>
          <a:p>
            <a:pPr>
              <a:spcAft>
                <a:spcPts val="300"/>
              </a:spcAft>
            </a:pPr>
            <a:r>
              <a:rPr sz="1550" b="0" i="0">
                <a:solidFill>
                  <a:srgbClr val="595959"/>
                </a:solidFill>
                <a:latin typeface="Arial"/>
              </a:rPr>
              <a:t>The bus that should carry them all does not exist.</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Private, undocumented, and broken when either side changes. Nobody's job was to plan the road.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Only the whole-of-government view makes interoperability rational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first agency pays to build the shared exchange</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second does not — it connects once and reuses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third and fourth do the same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country builds the road once, and everyone drives on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That view exists only across the whole portfolio — and someone has to hold it on purpose.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framework is four parts no contract clause can deliver</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Legal</a:t>
            </a:r>
          </a:p>
          <a:p>
            <a:pPr>
              <a:spcAft>
                <a:spcPts val="300"/>
              </a:spcAft>
            </a:pPr>
            <a:r>
              <a:rPr sz="1550" b="0" i="0">
                <a:solidFill>
                  <a:srgbClr val="595959"/>
                </a:solidFill>
                <a:latin typeface="Arial"/>
              </a:rPr>
              <a:t>The mandate that makes exchange lawful and connection mandatory.</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Organisational</a:t>
            </a:r>
          </a:p>
          <a:p>
            <a:pPr>
              <a:spcAft>
                <a:spcPts val="300"/>
              </a:spcAft>
            </a:pPr>
            <a:r>
              <a:rPr sz="1550" b="0" i="0">
                <a:solidFill>
                  <a:srgbClr val="595959"/>
                </a:solidFill>
                <a:latin typeface="Arial"/>
              </a:rPr>
              <a:t>Who governs the bus, who joins, who is accountable.</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Semantic</a:t>
            </a:r>
          </a:p>
          <a:p>
            <a:pPr>
              <a:spcAft>
                <a:spcPts val="300"/>
              </a:spcAft>
            </a:pPr>
            <a:r>
              <a:rPr sz="1550" b="0" i="0">
                <a:solidFill>
                  <a:srgbClr val="595959"/>
                </a:solidFill>
                <a:latin typeface="Arial"/>
              </a:rPr>
              <a:t>Agreed meaning, so two agencies mean the same thing.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Technical</a:t>
            </a:r>
          </a:p>
          <a:p>
            <a:pPr>
              <a:spcAft>
                <a:spcPts val="300"/>
              </a:spcAft>
            </a:pPr>
            <a:r>
              <a:rPr sz="1550" b="0" i="0">
                <a:solidFill>
                  <a:srgbClr val="595959"/>
                </a:solidFill>
                <a:latin typeface="Arial"/>
              </a:rPr>
              <a:t>The shared bus and the standards every member uses.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 procurement clause produces any of them. Only planning for the whole government does.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will still buy — the framework changes what the tender says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What is still procured</a:t>
            </a:r>
          </a:p>
          <a:p>
            <a:pPr>
              <a:spcAft>
                <a:spcPts val="300"/>
              </a:spcAft>
            </a:pPr>
            <a:r>
              <a:rPr sz="1550" b="0" i="0">
                <a:solidFill>
                  <a:srgbClr val="595959"/>
                </a:solidFill>
                <a:latin typeface="Arial"/>
              </a:rPr>
              <a:t>The platform, the security servers, the integration work — against the reference architecture as the spec.</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What every tender now says</a:t>
            </a:r>
          </a:p>
          <a:p>
            <a:pPr>
              <a:spcAft>
                <a:spcPts val="300"/>
              </a:spcAft>
            </a:pPr>
            <a:r>
              <a:rPr sz="1550" b="0" i="0">
                <a:solidFill>
                  <a:srgbClr val="595959"/>
                </a:solidFill>
                <a:latin typeface="Arial"/>
              </a:rPr>
              <a:t>The framework's rules, as mandatory requirements. The buyer owns the architecture, not the vendor.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What the contract is for</a:t>
            </a:r>
          </a:p>
          <a:p>
            <a:pPr>
              <a:spcAft>
                <a:spcPts val="300"/>
              </a:spcAft>
            </a:pPr>
            <a:r>
              <a:rPr sz="1550" b="0" i="0">
                <a:solidFill>
                  <a:srgbClr val="595959"/>
                </a:solidFill>
                <a:latin typeface="Arial"/>
              </a:rPr>
              <a:t>A working, accepted platform — acceptance tests, warranty, penalties. Not advice.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Plan the framework first. Then let procurement enforce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Procurement can require interoperability. Only a planned framework can deliver it — and once it exists, procurement is how you enforce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Diagnose where your country procures interoperability instead of planning it.</a:t>
            </a:r>
          </a:p>
          <a:p>
            <a:pPr algn="l">
              <a:spcAft>
                <a:spcPts val="400"/>
              </a:spcAft>
            </a:pPr>
            <a:r>
              <a:rPr sz="1800" b="0" i="0">
                <a:solidFill>
                  <a:srgbClr val="595959"/>
                </a:solidFill>
                <a:latin typeface="Arial"/>
              </a:rPr>
              <a:t>The prompt in the companion material gives you a diagnostic table plus a 3-bullet summary.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documentation (niis.org)</a:t>
            </a:r>
          </a:p>
          <a:p>
            <a:pPr>
              <a:spcAft>
                <a:spcPts val="1200"/>
              </a:spcAft>
            </a:pPr>
            <a:r>
              <a:rPr sz="1700" b="0" i="0">
                <a:solidFill>
                  <a:srgbClr val="1A1A1A"/>
                </a:solidFill>
                <a:latin typeface="Arial"/>
              </a:rPr>
              <a:t>•  PAERA v1.0 — §3.4.3 (Interoperability framing)</a:t>
            </a:r>
          </a:p>
          <a:p>
            <a:pPr>
              <a:spcAft>
                <a:spcPts val="1200"/>
              </a:spcAft>
            </a:pPr>
            <a:r>
              <a:rPr sz="1700" b="0" i="0">
                <a:solidFill>
                  <a:srgbClr val="1A1A1A"/>
                </a:solidFill>
                <a:latin typeface="Arial"/>
              </a:rPr>
              <a:t>•  PAERA v1.0 — §5.2 (Principles: Whole-of-Government, Once-Only)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Why interoperability can't be bought, only built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