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3" r:id="rId45"/>
    <p:sldId id="2724" r:id="rId17"/>
    <p:sldId id="2725" r:id="rId16"/>
    <p:sldId id="2726" r:id="rId15"/>
    <p:sldId id="2727" r:id="rId14"/>
    <p:sldId id="2728" r:id="rId13"/>
    <p:sldId id="2729" r:id="rId12"/>
    <p:sldId id="273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a single system is connected, before the decree is drafted, before the first agency joins the bus, there is one document to write. It is short — a handful of pages, not a tome. It is the Strategic Foundation Document, and its job is to answer the questions that every later decision will be tested against. Skip it, and every meeting re-opens the same arguments. Write it, and you have a reference you can point to when the arguments come — and they will.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document answers four questions. By whose authority does this framework exist — the mandate? Which agencies and which exchanges are in scope, and just as importantly, which are explicitly out of scope for now? What principles must every design decision honour? And how will we know it is working — what does success look like in eighteen months? Four questions. Answer them on paper, once, with the people who can make the answers stick. On paper, the full template runs to seven sections — policy intent, the sectors that want it first, the Tier 1 commitments, the target benefits, the objectives for two years and five, the political sponsorship, and the next steps — but they all serve those four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principles are the heart of the document, because they settle arguments before they start. Name whole-of-government — we build the shared road once and reuse it, rather than each agency building its own. Name once-only — we ask the citizen once. Name reuse-first and cross-border readiness — we prefer published standards and shared building blocks over bespoke ones, and we design so that an exchange could one day cross a border. These are not slogans on a wall. They are the criteria you will hold the next design decision to, and the next procurement, and the next request for an exception.</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write it first, before the interesting technical work? Two reasons. It becomes the constitution of the framework — when a later choice about a standard, or a member, or an exception comes up, you check it against the foundation rather than re-litigating first principles in a technical meeting. And it is the on-ramp for everyone who joins later. A new minister, a new agency CIO, a new development partner can read these few pages and understand what the framework is, what it covers, and what it stands for — in ten minutes, not ten meetings.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cautions. Keep it short — a handful of pages that a busy minister will actually read and sign. And keep it owned — it carries the signature of the authority that mandates the framework, so that pointing to it carries weight. It is a living document, reviewed when the scope expands to new agencies or new exchanges, but it is stable enough to be the thing everyone points back to. The Strategic Foundation Document is the first artefact in your build pack, and the one every other artefact answers to.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first move, before any wiring, is this document. Write the mandate, the scope, the principles and the success measures on a few pages, get them signed by the right authority, and put them where everyone can find them. It is the cheapest insurance you will buy in the whole programme — because it is what every later, more expensive decision gets checked against.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Strategic Foundation Document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Name the mandate, the scope and the principles once, in writing, before any wiring — it is what every later decision is checked against.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One short document, before a single system is connected.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handful of pages, not a tome.</a:t>
            </a:r>
          </a:p>
          <a:p>
            <a:pPr>
              <a:spcAft>
                <a:spcPts val="800"/>
              </a:spcAft>
            </a:pPr>
            <a:r>
              <a:rPr sz="1700" b="0" i="0">
                <a:solidFill>
                  <a:srgbClr val="595959"/>
                </a:solidFill>
                <a:latin typeface="Arial"/>
              </a:rPr>
              <a:t>Skip it, and every meeting re-opens the same arguments.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questions every later decision is tested against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960120"/>
          </a:xfrm>
          <a:prstGeom prst="rect">
            <a:avLst/>
          </a:prstGeom>
          <a:noFill/>
        </p:spPr>
        <p:txBody>
          <a:bodyPr wrap="square">
            <a:spAutoFit/>
          </a:bodyPr>
          <a:lstStyle/>
          <a:p>
            <a:pPr>
              <a:spcAft>
                <a:spcPts val="300"/>
              </a:spcAft>
            </a:pPr>
            <a:r>
              <a:rPr sz="1900" b="1" i="0">
                <a:solidFill>
                  <a:srgbClr val="1A1A1A"/>
                </a:solidFill>
                <a:latin typeface="Arial"/>
              </a:rPr>
              <a:t>Mandate</a:t>
            </a:r>
          </a:p>
          <a:p>
            <a:pPr>
              <a:spcAft>
                <a:spcPts val="300"/>
              </a:spcAft>
            </a:pPr>
            <a:r>
              <a:rPr sz="1550" b="0" i="0">
                <a:solidFill>
                  <a:srgbClr val="595959"/>
                </a:solidFill>
                <a:latin typeface="Arial"/>
              </a:rPr>
              <a:t>By whose authority does this framework exist?</a:t>
            </a:r>
          </a:p>
        </p:txBody>
      </p:sp>
      <p:sp>
        <p:nvSpPr>
          <p:cNvPr id="6" name="Rectangle 5"/>
          <p:cNvSpPr/>
          <p:nvPr/>
        </p:nvSpPr>
        <p:spPr>
          <a:xfrm>
            <a:off x="621792" y="2427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14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68880"/>
            <a:ext cx="10527487" cy="960120"/>
          </a:xfrm>
          <a:prstGeom prst="rect">
            <a:avLst/>
          </a:prstGeom>
          <a:noFill/>
        </p:spPr>
        <p:txBody>
          <a:bodyPr wrap="square">
            <a:spAutoFit/>
          </a:bodyPr>
          <a:lstStyle/>
          <a:p>
            <a:pPr>
              <a:spcAft>
                <a:spcPts val="300"/>
              </a:spcAft>
            </a:pPr>
            <a:r>
              <a:rPr sz="1900" b="1" i="0">
                <a:solidFill>
                  <a:srgbClr val="1A1A1A"/>
                </a:solidFill>
                <a:latin typeface="Arial"/>
              </a:rPr>
              <a:t>Scope</a:t>
            </a:r>
          </a:p>
          <a:p>
            <a:pPr>
              <a:spcAft>
                <a:spcPts val="300"/>
              </a:spcAft>
            </a:pPr>
            <a:r>
              <a:rPr sz="1550" b="0" i="0">
                <a:solidFill>
                  <a:srgbClr val="595959"/>
                </a:solidFill>
                <a:latin typeface="Arial"/>
              </a:rPr>
              <a:t>Which agencies and exchanges are in — and which are not, yet?</a:t>
            </a:r>
          </a:p>
        </p:txBody>
      </p:sp>
      <p:sp>
        <p:nvSpPr>
          <p:cNvPr id="9" name="Rectangle 8"/>
          <p:cNvSpPr/>
          <p:nvPr/>
        </p:nvSpPr>
        <p:spPr>
          <a:xfrm>
            <a:off x="621792" y="34335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5204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474720"/>
            <a:ext cx="10527487" cy="960120"/>
          </a:xfrm>
          <a:prstGeom prst="rect">
            <a:avLst/>
          </a:prstGeom>
          <a:noFill/>
        </p:spPr>
        <p:txBody>
          <a:bodyPr wrap="square">
            <a:spAutoFit/>
          </a:bodyPr>
          <a:lstStyle/>
          <a:p>
            <a:pPr>
              <a:spcAft>
                <a:spcPts val="300"/>
              </a:spcAft>
            </a:pPr>
            <a:r>
              <a:rPr sz="1900" b="1" i="0">
                <a:solidFill>
                  <a:srgbClr val="1A1A1A"/>
                </a:solidFill>
                <a:latin typeface="Arial"/>
              </a:rPr>
              <a:t>Principles</a:t>
            </a:r>
          </a:p>
          <a:p>
            <a:pPr>
              <a:spcAft>
                <a:spcPts val="300"/>
              </a:spcAft>
            </a:pPr>
            <a:r>
              <a:rPr sz="1550" b="0" i="0">
                <a:solidFill>
                  <a:srgbClr val="595959"/>
                </a:solidFill>
                <a:latin typeface="Arial"/>
              </a:rPr>
              <a:t>The rules every design decision must honour.</a:t>
            </a:r>
          </a:p>
        </p:txBody>
      </p:sp>
      <p:sp>
        <p:nvSpPr>
          <p:cNvPr id="12" name="Rectangle 11"/>
          <p:cNvSpPr/>
          <p:nvPr/>
        </p:nvSpPr>
        <p:spPr>
          <a:xfrm>
            <a:off x="621792" y="44394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5262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480560"/>
            <a:ext cx="10527487" cy="960120"/>
          </a:xfrm>
          <a:prstGeom prst="rect">
            <a:avLst/>
          </a:prstGeom>
          <a:noFill/>
        </p:spPr>
        <p:txBody>
          <a:bodyPr wrap="square">
            <a:spAutoFit/>
          </a:bodyPr>
          <a:lstStyle/>
          <a:p>
            <a:pPr>
              <a:spcAft>
                <a:spcPts val="300"/>
              </a:spcAft>
            </a:pPr>
            <a:r>
              <a:rPr sz="1900" b="1" i="0">
                <a:solidFill>
                  <a:srgbClr val="1A1A1A"/>
                </a:solidFill>
                <a:latin typeface="Arial"/>
              </a:rPr>
              <a:t>Success</a:t>
            </a:r>
          </a:p>
          <a:p>
            <a:pPr>
              <a:spcAft>
                <a:spcPts val="300"/>
              </a:spcAft>
            </a:pPr>
            <a:r>
              <a:rPr sz="1550" b="0" i="0">
                <a:solidFill>
                  <a:srgbClr val="595959"/>
                </a:solidFill>
                <a:latin typeface="Arial"/>
              </a:rPr>
              <a:t>How we will know it is working, in eighteen months.</a:t>
            </a:r>
          </a:p>
        </p:txBody>
      </p:sp>
      <p:sp>
        <p:nvSpPr>
          <p:cNvPr id="15" name="TextBox 14"/>
          <p:cNvSpPr txBox="1"/>
          <p:nvPr/>
        </p:nvSpPr>
        <p:spPr>
          <a:xfrm>
            <a:off x="658368" y="5596128"/>
            <a:ext cx="10881360" cy="548640"/>
          </a:xfrm>
          <a:prstGeom prst="rect">
            <a:avLst/>
          </a:prstGeom>
          <a:noFill/>
        </p:spPr>
        <p:txBody>
          <a:bodyPr wrap="square">
            <a:spAutoFit/>
          </a:bodyPr>
          <a:lstStyle/>
          <a:p>
            <a:r>
              <a:rPr sz="1550" b="1" i="0">
                <a:solidFill>
                  <a:srgbClr val="006E96"/>
                </a:solidFill>
                <a:latin typeface="Arial"/>
              </a:rPr>
              <a:t>The full template has seven sections — all of them serve these four questions.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Name the principles, and they settle arguments before they start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Whole-of-government</a:t>
            </a:r>
          </a:p>
          <a:p>
            <a:pPr>
              <a:spcAft>
                <a:spcPts val="300"/>
              </a:spcAft>
            </a:pPr>
            <a:r>
              <a:rPr sz="1550" b="0" i="0">
                <a:solidFill>
                  <a:srgbClr val="595959"/>
                </a:solidFill>
                <a:latin typeface="Arial"/>
              </a:rPr>
              <a:t>Build the shared road once, reuse it everywhere.</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Once-only</a:t>
            </a:r>
          </a:p>
          <a:p>
            <a:pPr>
              <a:spcAft>
                <a:spcPts val="300"/>
              </a:spcAft>
            </a:pPr>
            <a:r>
              <a:rPr sz="1550" b="0" i="0">
                <a:solidFill>
                  <a:srgbClr val="595959"/>
                </a:solidFill>
                <a:latin typeface="Arial"/>
              </a:rPr>
              <a:t>Ask the citizen once.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Reuse-first and cross-border ready</a:t>
            </a:r>
          </a:p>
          <a:p>
            <a:pPr>
              <a:spcAft>
                <a:spcPts val="300"/>
              </a:spcAft>
            </a:pPr>
            <a:r>
              <a:rPr sz="1550" b="0" i="0">
                <a:solidFill>
                  <a:srgbClr val="595959"/>
                </a:solidFill>
                <a:latin typeface="Arial"/>
              </a:rPr>
              <a:t>Prefer published standards and shared building blocks over bespoke.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Not slogans on a wall — the criteria for the next design, procurement and exception.</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Write it before the wiring, not after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CONSTITUTION</a:t>
            </a:r>
          </a:p>
          <a:p>
            <a:pPr>
              <a:spcAft>
                <a:spcPts val="700"/>
              </a:spcAft>
            </a:pPr>
            <a:r>
              <a:rPr sz="1600" b="0" i="0">
                <a:solidFill>
                  <a:srgbClr val="1A1A1A"/>
                </a:solidFill>
                <a:latin typeface="Arial"/>
              </a:rPr>
              <a:t>Every later technical and legal choice is checked against it.</a:t>
            </a:r>
          </a:p>
          <a:p>
            <a:pPr>
              <a:spcAft>
                <a:spcPts val="700"/>
              </a:spcAft>
            </a:pPr>
            <a:r>
              <a:rPr sz="1600" b="0" i="0">
                <a:solidFill>
                  <a:srgbClr val="1A1A1A"/>
                </a:solidFill>
                <a:latin typeface="Arial"/>
              </a:rPr>
              <a:t>No re-litigating first principles in a technical meeting.</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TEN-MINUTE ON-RAMP</a:t>
            </a:r>
          </a:p>
          <a:p>
            <a:pPr>
              <a:spcAft>
                <a:spcPts val="700"/>
              </a:spcAft>
            </a:pPr>
            <a:r>
              <a:rPr sz="1600" b="0" i="0">
                <a:solidFill>
                  <a:srgbClr val="1A1A1A"/>
                </a:solidFill>
                <a:latin typeface="Arial"/>
              </a:rPr>
              <a:t>A new minister, CIO or donor reads it to understand the framework.</a:t>
            </a:r>
          </a:p>
          <a:p>
            <a:pPr>
              <a:spcAft>
                <a:spcPts val="700"/>
              </a:spcAft>
            </a:pPr>
            <a:r>
              <a:rPr sz="1600" b="0" i="0">
                <a:solidFill>
                  <a:srgbClr val="1A1A1A"/>
                </a:solidFill>
                <a:latin typeface="Arial"/>
              </a:rPr>
              <a:t>Ten minutes, not ten meetings.</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thing everyone checks against — and the thing everyone reads first.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Keep it short, keep it owned</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handful of pages a busy minister will read — signed by the authority that mandates the framework.</a:t>
            </a:r>
          </a:p>
          <a:p>
            <a:pPr>
              <a:spcAft>
                <a:spcPts val="1200"/>
              </a:spcAft>
            </a:pPr>
            <a:r>
              <a:rPr sz="2000" b="0" i="0">
                <a:solidFill>
                  <a:srgbClr val="1A1A1A"/>
                </a:solidFill>
                <a:latin typeface="Arial"/>
              </a:rPr>
              <a:t>Living, not frozen: reviewed when scope expands, stable enough to be the reference.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first artefact in your build pack — and the one every other artefact answers to.</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Write the mandate, scope, principles and success measures on a few pages first — so every later decision has something to be checked against.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your Strategic Foundation Document.</a:t>
            </a:r>
          </a:p>
          <a:p>
            <a:pPr algn="l">
              <a:spcAft>
                <a:spcPts val="400"/>
              </a:spcAft>
            </a:pPr>
            <a:r>
              <a:rPr sz="1800" b="0" i="0">
                <a:solidFill>
                  <a:srgbClr val="595959"/>
                </a:solidFill>
                <a:latin typeface="Arial"/>
              </a:rPr>
              <a:t>The prompt in the companion material gives you a ~2-page Strategic Foundation Document draft in four sections.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 interoperability strategy and governance</a:t>
            </a:r>
          </a:p>
          <a:p>
            <a:pPr>
              <a:spcAft>
                <a:spcPts val="1200"/>
              </a:spcAft>
            </a:pPr>
            <a:r>
              <a:rPr sz="1700" b="0" i="0">
                <a:solidFill>
                  <a:srgbClr val="1A1A1A"/>
                </a:solidFill>
                <a:latin typeface="Arial"/>
              </a:rPr>
              <a:t>•  PAERA v1.0 — §3.4.3 (Interoperability framing)</a:t>
            </a:r>
          </a:p>
          <a:p>
            <a:pPr>
              <a:spcAft>
                <a:spcPts val="1200"/>
              </a:spcAft>
            </a:pPr>
            <a:r>
              <a:rPr sz="1700" b="0" i="0">
                <a:solidFill>
                  <a:srgbClr val="1A1A1A"/>
                </a:solidFill>
                <a:latin typeface="Arial"/>
              </a:rPr>
              <a:t>•  PAERA v1.0 — §5.2 (Principles: Whole-of-Government, Once-Only, Cross-border)</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