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705" r:id="rId27"/>
    <p:sldId id="2706" r:id="rId28"/>
    <p:sldId id="2707" r:id="rId29"/>
    <p:sldId id="2708" r:id="rId30"/>
    <p:sldId id="2709" r:id="rId31"/>
    <p:sldId id="2710" r:id="rId32"/>
    <p:sldId id="2711" r:id="rId33"/>
    <p:sldId id="2712" r:id="rId34"/>
    <p:sldId id="2713" r:id="rId35"/>
    <p:sldId id="2714"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27" Type="http://schemas.openxmlformats.org/officeDocument/2006/relationships/slide" Target="slides/slide12.xml"/><Relationship Id="rId28" Type="http://schemas.openxmlformats.org/officeDocument/2006/relationships/slide" Target="slides/slide13.xml"/><Relationship Id="rId29" Type="http://schemas.openxmlformats.org/officeDocument/2006/relationships/slide" Target="slides/slide14.xml"/><Relationship Id="rId30" Type="http://schemas.openxmlformats.org/officeDocument/2006/relationships/slide" Target="slides/slide15.xml"/><Relationship Id="rId31" Type="http://schemas.openxmlformats.org/officeDocument/2006/relationships/slide" Target="slides/slide16.xml"/><Relationship Id="rId32" Type="http://schemas.openxmlformats.org/officeDocument/2006/relationships/slide" Target="slides/slide17.xml"/><Relationship Id="rId33" Type="http://schemas.openxmlformats.org/officeDocument/2006/relationships/slide" Target="slides/slide18.xml"/><Relationship Id="rId34" Type="http://schemas.openxmlformats.org/officeDocument/2006/relationships/slide" Target="slides/slide19.xml"/><Relationship Id="rId35" Type="http://schemas.openxmlformats.org/officeDocument/2006/relationships/slide" Target="slides/slide20.xml"/><Relationship Id="rId36" Type="http://schemas.openxmlformats.org/officeDocument/2006/relationships/slide" Target="slides/slide21.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When two government systems fail to work together, people usually assume the problem is technical — a missing connection, an old system. Sometimes it is. More often, the wires are fine and the exchange still fails, because interoperability is not one thing. It is four. The European Interoperability Framework, and the X-Road systems built on it, describe interoperability as four layers stacked together. Skip any one, and the exchange breaks at that layer.</a:t>
            </a:r>
          </a:p>
          <a:p/>
          <a:p>
            <a:r>
              <a:t>Retrieval prompt — ask before playing on: think of an exchange between two ministries that stalled. Was the wire the problem? Answer on the Technical slide: usually not.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Picture the four layers stacked. At the bottom, technical — the wires, the bus, the message format. Above it, semantic — what the data actually means. Above that, organisational — who agrees to exchange data with whom, and who governs the arrangement. And at the top, legal — the mandate that makes the whole exchange lawful. A real exchange needs all four. Let us take them one at a time, from the one people think about first.</a:t>
            </a:r>
          </a:p>
          <a:p/>
          <a:p>
            <a:r>
              <a:t>Production cue: the centrepiece of the module — the spine every later video returns to. Reveal the layers bottom to top.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technical layer is the shared bus and the standards every member uses — so that connecting is a one-time setup, not a new project each time. X-Road is one such bus. This layer is necessary. But it is not sufficient, and it is not even the hardest part. A perfectly working wire that delivers data the receiving agency misreads is still a failed exchange.</a:t>
            </a:r>
          </a:p>
          <a:p/>
          <a:p>
            <a:r>
              <a:t>Production cue: this slide answers the retrieval prompt set on the opener.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semantic layer is meaning. The agriculture ministry's record of a 'farmer' and the cooperative bank's record of a 'farmer' must point to the same person, identified the same way, or combining them does harm. This is where business and IT must speak a shared language — because agreeing what 'learner' or 'farmer' or 'enrolment' means is a business decision that only the people who own the data can make, written down precisely enough for the systems to use. The framework gives both sides that shared vocabulary. Without it, the wire carries confident nonsense.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organisational layer is agreement and governance. Which agency provides which data, to which other agency, for what purpose, at what level of service. Who is accountable when an exchange fails. Who admits a new member to the bus and who resolves a dispute between two members. This is the layer where the minister and the chief architect sit at the same table — the business side deciding what may be shared and why, the IT side deciding how — and where a governing body turns a set of bilateral favours into a dependable federation.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And the legal layer is the mandate. A decree or a law that makes cross-agency exchange lawful in the first place, that makes connecting to the bus mandatory rather than optional, and that protects the citizen's data as it moves. Without the legal layer, every exchange is a standing legal risk that one cautious official can stop. With it, exchange is the default and refusing to connect is the exception that needs justifying. The decree is not paperwork. It is the on-switch.</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four layers are not four separate projects — they lock together at three seams. The legal layer authorises the organisational one: without a decree there is no authority to set a binding standard or to sanction an agency that ignores it. The organisational layer governs the technical and semantic ones: the operating authority is who publishes the standards and curates the shared vocabulary. And the technical and semantic layers are what make the legal obligations enforceable: a once-only rule on paper cannot be enforced until the bus runs and the two agencies mean the same thing. That is why the layers are built in parallel, never technical first and legal later.</a:t>
            </a:r>
          </a:p>
          <a:p/>
          <a:p>
            <a:r>
              <a:t>Production cue: the pivotal slide of this video.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So the discipline is simple to state and hard to skip: four layers, built in parallel, and a failure at whichever one you neglect. Most failed exchanges had working wires.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1 · VIDEO 1.2</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1.2</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The four layers of interoperability</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Interoperability fails at whichever of the four layers — Technical, Semantic, Organisational, Legal — you skip. The framework makes you address all four on purpose.</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Most failed exchanges had working wires.</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People assume the problem is technical. Sometimes it is.</a:t>
            </a:r>
          </a:p>
          <a:p>
            <a:pPr>
              <a:spcAft>
                <a:spcPts val="800"/>
              </a:spcAft>
            </a:pPr>
            <a:r>
              <a:rPr sz="1700" b="0" i="0">
                <a:solidFill>
                  <a:srgbClr val="595959"/>
                </a:solidFill>
                <a:latin typeface="Arial"/>
              </a:rPr>
              <a:t>More often the exchange fails at a layer nobody built.</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1.2 · The four layers of interoperability</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Interoperability is four layers — a real exchange needs all four</a:t>
            </a:r>
          </a:p>
        </p:txBody>
      </p:sp>
      <p:sp>
        <p:nvSpPr>
          <p:cNvPr id="4" name="Rounded Rectangle 3"/>
          <p:cNvSpPr/>
          <p:nvPr/>
        </p:nvSpPr>
        <p:spPr>
          <a:xfrm>
            <a:off x="658368" y="1508760"/>
            <a:ext cx="10881360" cy="868680"/>
          </a:xfrm>
          <a:prstGeom prst="roundRect">
            <a:avLst>
              <a:gd name="adj" fmla="val 8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500" b="1" i="0">
                <a:solidFill>
                  <a:srgbClr val="FFFFFF"/>
                </a:solidFill>
                <a:latin typeface="Arial"/>
              </a:rPr>
              <a:t>LEGAL</a:t>
            </a:r>
          </a:p>
          <a:p>
            <a:pPr algn="l">
              <a:spcAft>
                <a:spcPts val="300"/>
              </a:spcAft>
            </a:pPr>
            <a:r>
              <a:rPr sz="1500" b="0" i="0">
                <a:solidFill>
                  <a:srgbClr val="FFFFFF"/>
                </a:solidFill>
                <a:latin typeface="Arial"/>
              </a:rPr>
              <a:t>The mandate that makes the exchange lawful.</a:t>
            </a:r>
          </a:p>
        </p:txBody>
      </p:sp>
      <p:sp>
        <p:nvSpPr>
          <p:cNvPr id="5" name="Rounded Rectangle 4"/>
          <p:cNvSpPr/>
          <p:nvPr/>
        </p:nvSpPr>
        <p:spPr>
          <a:xfrm>
            <a:off x="658368" y="2514600"/>
            <a:ext cx="10881360" cy="86868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500" b="1" i="0">
                <a:solidFill>
                  <a:srgbClr val="006E96"/>
                </a:solidFill>
                <a:latin typeface="Arial"/>
              </a:rPr>
              <a:t>ORGANISATIONAL</a:t>
            </a:r>
          </a:p>
          <a:p>
            <a:pPr algn="l">
              <a:spcAft>
                <a:spcPts val="300"/>
              </a:spcAft>
            </a:pPr>
            <a:r>
              <a:rPr sz="1500" b="0" i="0">
                <a:solidFill>
                  <a:srgbClr val="1A1A1A"/>
                </a:solidFill>
                <a:latin typeface="Arial"/>
              </a:rPr>
              <a:t>Who agrees to exchange with whom — and who governs it.</a:t>
            </a:r>
          </a:p>
        </p:txBody>
      </p:sp>
      <p:sp>
        <p:nvSpPr>
          <p:cNvPr id="6" name="Rounded Rectangle 5"/>
          <p:cNvSpPr/>
          <p:nvPr/>
        </p:nvSpPr>
        <p:spPr>
          <a:xfrm>
            <a:off x="658368" y="3520440"/>
            <a:ext cx="10881360" cy="86868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500" b="1" i="0">
                <a:solidFill>
                  <a:srgbClr val="006E96"/>
                </a:solidFill>
                <a:latin typeface="Arial"/>
              </a:rPr>
              <a:t>SEMANTIC</a:t>
            </a:r>
          </a:p>
          <a:p>
            <a:pPr algn="l">
              <a:spcAft>
                <a:spcPts val="300"/>
              </a:spcAft>
            </a:pPr>
            <a:r>
              <a:rPr sz="1500" b="0" i="0">
                <a:solidFill>
                  <a:srgbClr val="1A1A1A"/>
                </a:solidFill>
                <a:latin typeface="Arial"/>
              </a:rPr>
              <a:t>What the data actually means.</a:t>
            </a:r>
          </a:p>
        </p:txBody>
      </p:sp>
      <p:sp>
        <p:nvSpPr>
          <p:cNvPr id="7" name="Rounded Rectangle 6"/>
          <p:cNvSpPr/>
          <p:nvPr/>
        </p:nvSpPr>
        <p:spPr>
          <a:xfrm>
            <a:off x="658368" y="4526280"/>
            <a:ext cx="10881360" cy="86868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500" b="1" i="0">
                <a:solidFill>
                  <a:srgbClr val="006E96"/>
                </a:solidFill>
                <a:latin typeface="Arial"/>
              </a:rPr>
              <a:t>TECHNICAL</a:t>
            </a:r>
          </a:p>
          <a:p>
            <a:pPr algn="l">
              <a:spcAft>
                <a:spcPts val="300"/>
              </a:spcAft>
            </a:pPr>
            <a:r>
              <a:rPr sz="1500" b="0" i="0">
                <a:solidFill>
                  <a:srgbClr val="1A1A1A"/>
                </a:solidFill>
                <a:latin typeface="Arial"/>
              </a:rPr>
              <a:t>The wires, the bus, the message format.</a:t>
            </a:r>
          </a:p>
        </p:txBody>
      </p:sp>
      <p:sp>
        <p:nvSpPr>
          <p:cNvPr id="8" name="TextBox 7"/>
          <p:cNvSpPr txBox="1"/>
          <p:nvPr/>
        </p:nvSpPr>
        <p:spPr>
          <a:xfrm>
            <a:off x="658368" y="5669280"/>
            <a:ext cx="10881360" cy="548640"/>
          </a:xfrm>
          <a:prstGeom prst="rect">
            <a:avLst/>
          </a:prstGeom>
          <a:noFill/>
        </p:spPr>
        <p:txBody>
          <a:bodyPr wrap="square">
            <a:spAutoFit/>
          </a:bodyPr>
          <a:lstStyle/>
          <a:p>
            <a:r>
              <a:rPr sz="1550" b="1" i="0">
                <a:solidFill>
                  <a:srgbClr val="006E96"/>
                </a:solidFill>
                <a:latin typeface="Arial"/>
              </a:rPr>
              <a:t>Skip any one, and the exchange breaks at that layer.</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1.2 · The four layers of interoperability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Technical — necessary, not sufficient</a:t>
            </a:r>
          </a:p>
        </p:txBody>
      </p:sp>
      <p:sp>
        <p:nvSpPr>
          <p:cNvPr id="4" name="TextBox 3"/>
          <p:cNvSpPr txBox="1"/>
          <p:nvPr/>
        </p:nvSpPr>
        <p:spPr>
          <a:xfrm>
            <a:off x="658368" y="1600200"/>
            <a:ext cx="10881360" cy="2194560"/>
          </a:xfrm>
          <a:prstGeom prst="rect">
            <a:avLst/>
          </a:prstGeom>
          <a:noFill/>
        </p:spPr>
        <p:txBody>
          <a:bodyPr wrap="square">
            <a:spAutoFit/>
          </a:bodyPr>
          <a:lstStyle/>
          <a:p>
            <a:pPr>
              <a:spcAft>
                <a:spcPts val="1200"/>
              </a:spcAft>
            </a:pPr>
            <a:r>
              <a:rPr sz="2000" b="0" i="0">
                <a:solidFill>
                  <a:srgbClr val="1A1A1A"/>
                </a:solidFill>
                <a:latin typeface="Arial"/>
              </a:rPr>
              <a:t>A shared bus and shared standards, so connecting is a one-time setup — not a new project each time.</a:t>
            </a:r>
          </a:p>
          <a:p>
            <a:pPr>
              <a:spcAft>
                <a:spcPts val="1200"/>
              </a:spcAft>
            </a:pPr>
            <a:r>
              <a:rPr sz="2000" b="0" i="0">
                <a:solidFill>
                  <a:srgbClr val="1A1A1A"/>
                </a:solidFill>
                <a:latin typeface="Arial"/>
              </a:rPr>
              <a:t>X-Road is one such bus. And it is not even the hardest part.</a:t>
            </a:r>
          </a:p>
        </p:txBody>
      </p:sp>
      <p:sp>
        <p:nvSpPr>
          <p:cNvPr id="5" name="Rounded Rectangle 4"/>
          <p:cNvSpPr/>
          <p:nvPr/>
        </p:nvSpPr>
        <p:spPr>
          <a:xfrm>
            <a:off x="658368" y="3977639"/>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169663"/>
            <a:ext cx="10479024" cy="1051560"/>
          </a:xfrm>
          <a:prstGeom prst="rect">
            <a:avLst/>
          </a:prstGeom>
          <a:noFill/>
        </p:spPr>
        <p:txBody>
          <a:bodyPr wrap="square">
            <a:spAutoFit/>
          </a:bodyPr>
          <a:lstStyle/>
          <a:p>
            <a:pPr>
              <a:spcAft>
                <a:spcPts val="700"/>
              </a:spcAft>
            </a:pPr>
            <a:r>
              <a:rPr sz="2300" b="1" i="0">
                <a:solidFill>
                  <a:srgbClr val="006E96"/>
                </a:solidFill>
                <a:latin typeface="Arial"/>
              </a:rPr>
              <a:t>A working wire that carries the wrong meaning is still a failed exchange.</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1.2 · The four layers of interoperability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Semantic — two agencies must mean the same thing</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The agriculture ministry's "farmer" and the cooperative bank's "farmer" must be the same person, identified the same way — or combining them does harm.</a:t>
            </a:r>
          </a:p>
          <a:p>
            <a:pPr>
              <a:spcAft>
                <a:spcPts val="1200"/>
              </a:spcAft>
            </a:pPr>
            <a:r>
              <a:rPr sz="2000" b="0" i="0">
                <a:solidFill>
                  <a:srgbClr val="1A1A1A"/>
                </a:solidFill>
                <a:latin typeface="Arial"/>
              </a:rPr>
              <a:t>Agreeing what "learner" or "enrolment" means is a business decision, written down precisely enough for systems to use.</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Without a shared vocabulary, the wire carries confident nonsense.</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1.2 · The four layers of interoperability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Organisational — a governing body turns favours into a federation</a:t>
            </a:r>
          </a:p>
        </p:txBody>
      </p:sp>
      <p:sp>
        <p:nvSpPr>
          <p:cNvPr id="4" name="TextBox 3"/>
          <p:cNvSpPr txBox="1"/>
          <p:nvPr/>
        </p:nvSpPr>
        <p:spPr>
          <a:xfrm>
            <a:off x="658368" y="1463040"/>
            <a:ext cx="10984687" cy="1386839"/>
          </a:xfrm>
          <a:prstGeom prst="rect">
            <a:avLst/>
          </a:prstGeom>
          <a:noFill/>
        </p:spPr>
        <p:txBody>
          <a:bodyPr wrap="square">
            <a:spAutoFit/>
          </a:bodyPr>
          <a:lstStyle/>
          <a:p>
            <a:pPr>
              <a:spcAft>
                <a:spcPts val="300"/>
              </a:spcAft>
            </a:pPr>
            <a:r>
              <a:rPr sz="1900" b="1" i="0">
                <a:solidFill>
                  <a:srgbClr val="1A1A1A"/>
                </a:solidFill>
                <a:latin typeface="Arial"/>
              </a:rPr>
              <a:t>Who provides which data, to whom, for what purpose</a:t>
            </a:r>
          </a:p>
        </p:txBody>
      </p:sp>
      <p:sp>
        <p:nvSpPr>
          <p:cNvPr id="5" name="Rectangle 4"/>
          <p:cNvSpPr/>
          <p:nvPr/>
        </p:nvSpPr>
        <p:spPr>
          <a:xfrm>
            <a:off x="621792" y="2854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895600"/>
            <a:ext cx="10984687" cy="1386839"/>
          </a:xfrm>
          <a:prstGeom prst="rect">
            <a:avLst/>
          </a:prstGeom>
          <a:noFill/>
        </p:spPr>
        <p:txBody>
          <a:bodyPr wrap="square">
            <a:spAutoFit/>
          </a:bodyPr>
          <a:lstStyle/>
          <a:p>
            <a:pPr>
              <a:spcAft>
                <a:spcPts val="300"/>
              </a:spcAft>
            </a:pPr>
            <a:r>
              <a:rPr sz="1900" b="1" i="0">
                <a:solidFill>
                  <a:srgbClr val="1A1A1A"/>
                </a:solidFill>
                <a:latin typeface="Arial"/>
              </a:rPr>
              <a:t>What service to expect</a:t>
            </a:r>
          </a:p>
          <a:p>
            <a:pPr>
              <a:spcAft>
                <a:spcPts val="300"/>
              </a:spcAft>
            </a:pPr>
            <a:r>
              <a:rPr sz="1550" b="0" i="0">
                <a:solidFill>
                  <a:srgbClr val="595959"/>
                </a:solidFill>
                <a:latin typeface="Arial"/>
              </a:rPr>
              <a:t>Uptime, response, support.</a:t>
            </a:r>
          </a:p>
        </p:txBody>
      </p:sp>
      <p:sp>
        <p:nvSpPr>
          <p:cNvPr id="7" name="Rectangle 6"/>
          <p:cNvSpPr/>
          <p:nvPr/>
        </p:nvSpPr>
        <p:spPr>
          <a:xfrm>
            <a:off x="621792" y="42870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328159"/>
            <a:ext cx="10984687" cy="1386839"/>
          </a:xfrm>
          <a:prstGeom prst="rect">
            <a:avLst/>
          </a:prstGeom>
          <a:noFill/>
        </p:spPr>
        <p:txBody>
          <a:bodyPr wrap="square">
            <a:spAutoFit/>
          </a:bodyPr>
          <a:lstStyle/>
          <a:p>
            <a:pPr>
              <a:spcAft>
                <a:spcPts val="300"/>
              </a:spcAft>
            </a:pPr>
            <a:r>
              <a:rPr sz="1900" b="1" i="0">
                <a:solidFill>
                  <a:srgbClr val="1A1A1A"/>
                </a:solidFill>
                <a:latin typeface="Arial"/>
              </a:rPr>
              <a:t>A governing body</a:t>
            </a:r>
          </a:p>
          <a:p>
            <a:pPr>
              <a:spcAft>
                <a:spcPts val="300"/>
              </a:spcAft>
            </a:pPr>
            <a:r>
              <a:rPr sz="1550" b="0" i="0">
                <a:solidFill>
                  <a:srgbClr val="595959"/>
                </a:solidFill>
                <a:latin typeface="Arial"/>
              </a:rPr>
              <a:t>Admits members and resolves disputes.</a:t>
            </a:r>
          </a:p>
        </p:txBody>
      </p:sp>
      <p:sp>
        <p:nvSpPr>
          <p:cNvPr id="9" name="TextBox 8"/>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Where the business side decides what may be shared and why, and IT decides how.</a:t>
            </a:r>
          </a:p>
        </p:txBody>
      </p:sp>
      <p:sp>
        <p:nvSpPr>
          <p:cNvPr id="10" name="TextBox 9"/>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1.2 · The four layers of interoperability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Legal — the mandate that makes exchange the default</a:t>
            </a:r>
          </a:p>
        </p:txBody>
      </p:sp>
      <p:sp>
        <p:nvSpPr>
          <p:cNvPr id="4" name="TextBox 3"/>
          <p:cNvSpPr txBox="1"/>
          <p:nvPr/>
        </p:nvSpPr>
        <p:spPr>
          <a:xfrm>
            <a:off x="658368" y="1600200"/>
            <a:ext cx="10881360" cy="2194560"/>
          </a:xfrm>
          <a:prstGeom prst="rect">
            <a:avLst/>
          </a:prstGeom>
          <a:noFill/>
        </p:spPr>
        <p:txBody>
          <a:bodyPr wrap="square">
            <a:spAutoFit/>
          </a:bodyPr>
          <a:lstStyle/>
          <a:p>
            <a:pPr>
              <a:spcAft>
                <a:spcPts val="1200"/>
              </a:spcAft>
            </a:pPr>
            <a:r>
              <a:rPr sz="2000" b="0" i="0">
                <a:solidFill>
                  <a:srgbClr val="1A1A1A"/>
                </a:solidFill>
                <a:latin typeface="Arial"/>
              </a:rPr>
              <a:t>A decree or law that makes cross-agency exchange lawful, makes connection mandatory, and protects the citizen's data.</a:t>
            </a:r>
          </a:p>
          <a:p>
            <a:pPr>
              <a:spcAft>
                <a:spcPts val="1200"/>
              </a:spcAft>
            </a:pPr>
            <a:r>
              <a:rPr sz="2000" b="0" i="0">
                <a:solidFill>
                  <a:srgbClr val="1A1A1A"/>
                </a:solidFill>
                <a:latin typeface="Arial"/>
              </a:rPr>
              <a:t>Without it, every exchange is a legal risk one cautious official can stop.</a:t>
            </a:r>
          </a:p>
        </p:txBody>
      </p:sp>
      <p:sp>
        <p:nvSpPr>
          <p:cNvPr id="5" name="Rounded Rectangle 4"/>
          <p:cNvSpPr/>
          <p:nvPr/>
        </p:nvSpPr>
        <p:spPr>
          <a:xfrm>
            <a:off x="658368" y="3977639"/>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169663"/>
            <a:ext cx="10479024" cy="1051560"/>
          </a:xfrm>
          <a:prstGeom prst="rect">
            <a:avLst/>
          </a:prstGeom>
          <a:noFill/>
        </p:spPr>
        <p:txBody>
          <a:bodyPr wrap="square">
            <a:spAutoFit/>
          </a:bodyPr>
          <a:lstStyle/>
          <a:p>
            <a:pPr>
              <a:spcAft>
                <a:spcPts val="700"/>
              </a:spcAft>
            </a:pPr>
            <a:r>
              <a:rPr sz="2300" b="1" i="0">
                <a:solidFill>
                  <a:srgbClr val="006E96"/>
                </a:solidFill>
                <a:latin typeface="Arial"/>
              </a:rPr>
              <a:t>The decree is not paperwork. It is the on-switch.</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1.2 · The four layers of interoperability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layers lock together at three seams — so build them in parallel</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1386839"/>
          </a:xfrm>
          <a:prstGeom prst="rect">
            <a:avLst/>
          </a:prstGeom>
          <a:noFill/>
        </p:spPr>
        <p:txBody>
          <a:bodyPr wrap="square">
            <a:spAutoFit/>
          </a:bodyPr>
          <a:lstStyle/>
          <a:p>
            <a:pPr>
              <a:spcAft>
                <a:spcPts val="300"/>
              </a:spcAft>
            </a:pPr>
            <a:r>
              <a:rPr sz="1900" b="1" i="0">
                <a:solidFill>
                  <a:srgbClr val="1A1A1A"/>
                </a:solidFill>
                <a:latin typeface="Arial"/>
              </a:rPr>
              <a:t>Legal authorises organisational</a:t>
            </a:r>
          </a:p>
          <a:p>
            <a:pPr>
              <a:spcAft>
                <a:spcPts val="300"/>
              </a:spcAft>
            </a:pPr>
            <a:r>
              <a:rPr sz="1550" b="0" i="0">
                <a:solidFill>
                  <a:srgbClr val="595959"/>
                </a:solidFill>
                <a:latin typeface="Arial"/>
              </a:rPr>
              <a:t>No decree, no authority to set a binding standard or sanction an agency.</a:t>
            </a:r>
          </a:p>
        </p:txBody>
      </p:sp>
      <p:sp>
        <p:nvSpPr>
          <p:cNvPr id="6" name="Rectangle 5"/>
          <p:cNvSpPr/>
          <p:nvPr/>
        </p:nvSpPr>
        <p:spPr>
          <a:xfrm>
            <a:off x="621792" y="2854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94131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895600"/>
            <a:ext cx="10527487" cy="1386839"/>
          </a:xfrm>
          <a:prstGeom prst="rect">
            <a:avLst/>
          </a:prstGeom>
          <a:noFill/>
        </p:spPr>
        <p:txBody>
          <a:bodyPr wrap="square">
            <a:spAutoFit/>
          </a:bodyPr>
          <a:lstStyle/>
          <a:p>
            <a:pPr>
              <a:spcAft>
                <a:spcPts val="300"/>
              </a:spcAft>
            </a:pPr>
            <a:r>
              <a:rPr sz="1900" b="1" i="0">
                <a:solidFill>
                  <a:srgbClr val="1A1A1A"/>
                </a:solidFill>
                <a:latin typeface="Arial"/>
              </a:rPr>
              <a:t>Organisational governs technical and semantic</a:t>
            </a:r>
          </a:p>
          <a:p>
            <a:pPr>
              <a:spcAft>
                <a:spcPts val="300"/>
              </a:spcAft>
            </a:pPr>
            <a:r>
              <a:rPr sz="1550" b="0" i="0">
                <a:solidFill>
                  <a:srgbClr val="595959"/>
                </a:solidFill>
                <a:latin typeface="Arial"/>
              </a:rPr>
              <a:t>The operating authority publishes the standards and curates the vocabulary.</a:t>
            </a:r>
          </a:p>
        </p:txBody>
      </p:sp>
      <p:sp>
        <p:nvSpPr>
          <p:cNvPr id="9" name="Rectangle 8"/>
          <p:cNvSpPr/>
          <p:nvPr/>
        </p:nvSpPr>
        <p:spPr>
          <a:xfrm>
            <a:off x="621792" y="42870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43738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4328159"/>
            <a:ext cx="10527487" cy="1386839"/>
          </a:xfrm>
          <a:prstGeom prst="rect">
            <a:avLst/>
          </a:prstGeom>
          <a:noFill/>
        </p:spPr>
        <p:txBody>
          <a:bodyPr wrap="square">
            <a:spAutoFit/>
          </a:bodyPr>
          <a:lstStyle/>
          <a:p>
            <a:pPr>
              <a:spcAft>
                <a:spcPts val="300"/>
              </a:spcAft>
            </a:pPr>
            <a:r>
              <a:rPr sz="1900" b="1" i="0">
                <a:solidFill>
                  <a:srgbClr val="1A1A1A"/>
                </a:solidFill>
                <a:latin typeface="Arial"/>
              </a:rPr>
              <a:t>Technical and semantic make the legal obligations enforceable</a:t>
            </a:r>
          </a:p>
          <a:p>
            <a:pPr>
              <a:spcAft>
                <a:spcPts val="300"/>
              </a:spcAft>
            </a:pPr>
            <a:r>
              <a:rPr sz="1550" b="0" i="0">
                <a:solidFill>
                  <a:srgbClr val="595959"/>
                </a:solidFill>
                <a:latin typeface="Arial"/>
              </a:rPr>
              <a:t>A once-only rule on paper cannot be enforced until the bus runs and meaning is shared.</a:t>
            </a:r>
          </a:p>
        </p:txBody>
      </p:sp>
      <p:sp>
        <p:nvSpPr>
          <p:cNvPr id="12" name="TextBox 11"/>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Never technical first and legal later.</a:t>
            </a:r>
          </a:p>
        </p:txBody>
      </p:sp>
      <p:sp>
        <p:nvSpPr>
          <p:cNvPr id="13" name="TextBox 1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1.2 · The four layers of interoperability</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Interoperability is four layers — technical, semantic, organisational, legal. It fails at whichever one you skip.</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Map a planned exchange across the four layers — and find the missing one.</a:t>
            </a:r>
          </a:p>
          <a:p>
            <a:pPr algn="l">
              <a:spcAft>
                <a:spcPts val="400"/>
              </a:spcAft>
            </a:pPr>
            <a:r>
              <a:rPr sz="1800" b="0" i="0">
                <a:solidFill>
                  <a:srgbClr val="595959"/>
                </a:solidFill>
                <a:latin typeface="Arial"/>
              </a:rPr>
              <a:t>The prompt in the companion material gives you a four-row layer-readiness table plus the binding-constraint call.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1.2 · The four layers of interoperability</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EU European Interoperability Framework — the four-layer model</a:t>
            </a:r>
          </a:p>
          <a:p>
            <a:pPr>
              <a:spcAft>
                <a:spcPts val="1200"/>
              </a:spcAft>
            </a:pPr>
            <a:r>
              <a:rPr sz="1700" b="0" i="0">
                <a:solidFill>
                  <a:srgbClr val="1A1A1A"/>
                </a:solidFill>
                <a:latin typeface="Arial"/>
              </a:rPr>
              <a:t>•  NIIS X-Road documentation (niis.org)</a:t>
            </a:r>
          </a:p>
          <a:p>
            <a:pPr>
              <a:spcAft>
                <a:spcPts val="1200"/>
              </a:spcAft>
            </a:pPr>
            <a:r>
              <a:rPr sz="1700" b="0" i="0">
                <a:solidFill>
                  <a:srgbClr val="1A1A1A"/>
                </a:solidFill>
                <a:latin typeface="Arial"/>
              </a:rPr>
              <a:t>•  PAERA v1.0 — §3.4.3 (Interoperability framing)</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1.2 · The four layers of interoperability</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