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2" r:id="rId34"/>
    <p:sldId id="2713" r:id="rId35"/>
    <p:sldId id="2714" r:id="rId36"/>
    <p:sldId id="2715" r:id="rId37"/>
    <p:sldId id="2716" r:id="rId38"/>
    <p:sldId id="2717" r:id="rId39"/>
    <p:sldId id="2718" r:id="rId40"/>
    <p:sldId id="27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has the same parts. It opens with a governance track, because the domain tracks cannot start lawfully or be paid for without it. Then comes a track for each domain that has work in the wave. A beacon project is the roadmap's name for a service people can see, which shows the foundation working. Every wave closes with a summary of what must be true before the following one starts. And each component moves through the five stages of the life cycle that the Universal DPI Safeguards Framework names, from conception and scoping to operations and maintenance.</a:t>
            </a:r>
          </a:p>
          <a:p/>
          <a:p>
            <a:r>
              <a:t>Production cue: The form of the roadmap is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the years ahead in horizons, and write only the first horizon in detail. Progressa's roadmap, built as an example, has three horizons: foundation in 2027 and 2028, scale in 2029 and 2030, and extension from 2031 to 2033. The first horizon runs 24 months, in four waves of six months. PAERA orders a country's start in four phases, from inception to mass-scale transformation. Wave is the roadmap's own word, used inside the first horizon; phase is PAERA's word. UNDP's playbook ends its scoping assessment with the same step: develop the roadmap.</a:t>
            </a:r>
          </a:p>
          <a:p/>
          <a:p>
            <a:r>
              <a:t>Production cue: Figure F13 (the roadmap over time: horizons and waves) belongs to the written guide and is not on the slide. Text-only.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ranked list is not yet a plan. A plan says what happens in which year, who does it, and what people will see at each step. That is what the roadmap over time adds to the priorities.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Progressa's four waves. The first decides and joins what already runs: a joint board of the ministry of education and the digital government authority, the drafting of the law, one school identifier, and the ministry's membership of the exchange. The second builds the register and connects it to the identity authority's sign-in; before the third starts, the register holds the records of one district, and at least 95 per cent of them pass the quality gates. The third opens the first beacon: a parent registers a child once. The fourth pays scholarships to verified learners through the Payments block.</a:t>
            </a:r>
          </a:p>
          <a:p/>
          <a:p>
            <a:r>
              <a:t>Production cue: The worked example E7, built for Progressa; every date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Last, the dependencies. For each component the roadmap lists what it waits for, and the longest chain is the critical path. In Progressa it runs from the law, through the register, the identity connection and the registration service, to the rollout in all 24 districts. The amendment to the education act closes the slowest gap of all, so it is drafted in the first wave, and the rollout waits until it is in force. PAERA describes enterprise architecture as the bridge between the business side and IT. The roadmap puts its target state in order, on one timeline that both sides read.</a:t>
            </a:r>
          </a:p>
          <a:p/>
          <a:p>
            <a:r>
              <a:t>Production cue: Figure F14 (the matrix of dependencies) belongs to the written guide. Carries the shared-picture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Horizons for the years ahead, waves for the first horizon. Each wave opens with governance, works through each domain and ends with a service people can see.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roadmap over time: horizons, waves and tracks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sets the years ahead in horizons and the first horizon in waves, each wave with a governance track, a track for each domain and one visible service that shows the result.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ranked list is not yet a plan.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plan says what happens in which year, who does it, and what people will see at each step.</a:t>
            </a:r>
          </a:p>
          <a:p>
            <a:pPr>
              <a:spcAft>
                <a:spcPts val="800"/>
              </a:spcAft>
            </a:pPr>
            <a:r>
              <a:rPr sz="1700" b="0" i="0">
                <a:solidFill>
                  <a:srgbClr val="595959"/>
                </a:solidFill>
                <a:latin typeface="Arial"/>
              </a:rPr>
              <a:t>That is what the roadmap over time adds to the priorities.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Horizons, then waves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H1 Foundation</a:t>
            </a:r>
          </a:p>
          <a:p>
            <a:pPr>
              <a:spcAft>
                <a:spcPts val="300"/>
              </a:spcAft>
            </a:pPr>
            <a:r>
              <a:rPr sz="1700" b="0" i="0">
                <a:solidFill>
                  <a:srgbClr val="595959"/>
                </a:solidFill>
                <a:latin typeface="Arial"/>
              </a:rPr>
              <a:t>2027 to 2028.</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H2 Scale</a:t>
            </a:r>
          </a:p>
          <a:p>
            <a:pPr>
              <a:spcAft>
                <a:spcPts val="300"/>
              </a:spcAft>
            </a:pPr>
            <a:r>
              <a:rPr sz="1700" b="0" i="0">
                <a:solidFill>
                  <a:srgbClr val="595959"/>
                </a:solidFill>
                <a:latin typeface="Arial"/>
              </a:rPr>
              <a:t>2029 to 2030.</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H3 Extend</a:t>
            </a:r>
          </a:p>
          <a:p>
            <a:pPr>
              <a:spcAft>
                <a:spcPts val="300"/>
              </a:spcAft>
            </a:pPr>
            <a:r>
              <a:rPr sz="1700" b="0" i="0">
                <a:solidFill>
                  <a:srgbClr val="595959"/>
                </a:solidFill>
                <a:latin typeface="Arial"/>
              </a:rPr>
              <a:t>2031 to 2033.</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first horizon in detail</a:t>
            </a:r>
          </a:p>
          <a:p>
            <a:pPr>
              <a:spcAft>
                <a:spcPts val="300"/>
              </a:spcAft>
            </a:pPr>
            <a:r>
              <a:rPr sz="1700" b="0" i="0">
                <a:solidFill>
                  <a:srgbClr val="595959"/>
                </a:solidFill>
                <a:latin typeface="Arial"/>
              </a:rPr>
              <a:t>Four waves of six months.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Inside each wave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governance track opens every wave.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 track for each domain with work in the wave.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beacon</a:t>
            </a:r>
          </a:p>
          <a:p>
            <a:pPr>
              <a:spcAft>
                <a:spcPts val="300"/>
              </a:spcAft>
            </a:pPr>
            <a:r>
              <a:rPr sz="1700" b="0" i="0">
                <a:solidFill>
                  <a:srgbClr val="595959"/>
                </a:solidFill>
                <a:latin typeface="Arial"/>
              </a:rPr>
              <a:t>One service people can see.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wave summary</a:t>
            </a:r>
          </a:p>
          <a:p>
            <a:pPr>
              <a:spcAft>
                <a:spcPts val="300"/>
              </a:spcAft>
            </a:pPr>
            <a:r>
              <a:rPr sz="1700" b="0" i="0">
                <a:solidFill>
                  <a:srgbClr val="595959"/>
                </a:solidFill>
                <a:latin typeface="Arial"/>
              </a:rPr>
              <a:t>What must be true before the following wave.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horizon (illustrative)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Wave 1</a:t>
            </a:r>
          </a:p>
          <a:p>
            <a:pPr>
              <a:spcAft>
                <a:spcPts val="300"/>
              </a:spcAft>
            </a:pPr>
            <a:r>
              <a:rPr sz="1700" b="0" i="0">
                <a:solidFill>
                  <a:srgbClr val="595959"/>
                </a:solidFill>
                <a:latin typeface="Arial"/>
              </a:rPr>
              <a:t>Decide, and join what already runs.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Wave 2</a:t>
            </a:r>
          </a:p>
          <a:p>
            <a:pPr>
              <a:spcAft>
                <a:spcPts val="300"/>
              </a:spcAft>
            </a:pPr>
            <a:r>
              <a:rPr sz="1700" b="0" i="0">
                <a:solidFill>
                  <a:srgbClr val="595959"/>
                </a:solidFill>
                <a:latin typeface="Arial"/>
              </a:rPr>
              <a:t>Build the register.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Wave 3</a:t>
            </a:r>
          </a:p>
          <a:p>
            <a:pPr>
              <a:spcAft>
                <a:spcPts val="300"/>
              </a:spcAft>
            </a:pPr>
            <a:r>
              <a:rPr sz="1700" b="0" i="0">
                <a:solidFill>
                  <a:srgbClr val="595959"/>
                </a:solidFill>
                <a:latin typeface="Arial"/>
              </a:rPr>
              <a:t>Beacon B1: register once.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Wave 4</a:t>
            </a:r>
          </a:p>
          <a:p>
            <a:pPr>
              <a:spcAft>
                <a:spcPts val="300"/>
              </a:spcAft>
            </a:pPr>
            <a:r>
              <a:rPr sz="1700" b="0" i="0">
                <a:solidFill>
                  <a:srgbClr val="595959"/>
                </a:solidFill>
                <a:latin typeface="Arial"/>
              </a:rPr>
              <a:t>Beacon B2: scholarships paid to the right learner.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critical path</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C-02 → C-06 → C-07 → C-08 → C-14.</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law is drafted in wave 1 and must be in force before the national rollout.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Nothing is scheduled before what it depends 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roadmap sets the years ahead in horizons and the first horizon in waves, each wave with a governance track, a track for each domain and one visible service that shows the result.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waves of the first horizon, and check their order.</a:t>
            </a:r>
          </a:p>
          <a:p>
            <a:pPr algn="l">
              <a:spcAft>
                <a:spcPts val="400"/>
              </a:spcAft>
            </a:pPr>
            <a:r>
              <a:rPr sz="1800" b="0" i="0">
                <a:solidFill>
                  <a:srgbClr val="595959"/>
                </a:solidFill>
                <a:latin typeface="Arial"/>
              </a:rPr>
              <a:t>The prompt in the companion material gives you a draft of the waves of the first horizon, each with its governance track, domain tracks, beacon and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5.7.1 to 5.7.5 and section 2.3</a:t>
            </a:r>
          </a:p>
          <a:p>
            <a:pPr>
              <a:spcAft>
                <a:spcPts val="1000"/>
              </a:spcAft>
            </a:pPr>
            <a:r>
              <a:rPr sz="1800" b="0" i="0">
                <a:solidFill>
                  <a:srgbClr val="1A1A1A"/>
                </a:solidFill>
                <a:latin typeface="Arial"/>
              </a:rPr>
              <a:t>•  UNDP, The DPI Approach: A Playbook, 2023, page 23</a:t>
            </a:r>
          </a:p>
          <a:p>
            <a:pPr>
              <a:spcAft>
                <a:spcPts val="1000"/>
              </a:spcAft>
            </a:pPr>
            <a:r>
              <a:rPr sz="1800" b="0" i="0">
                <a:solidFill>
                  <a:srgbClr val="1A1A1A"/>
                </a:solidFill>
                <a:latin typeface="Arial"/>
              </a:rPr>
              <a:t>•  Universal DPI Safeguards Framework, United Nations, 2024, page 6</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