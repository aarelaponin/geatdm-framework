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60" r:id="rId82"/>
    <p:sldId id="2761" r:id="rId83"/>
    <p:sldId id="2762" r:id="rId84"/>
    <p:sldId id="2763" r:id="rId85"/>
    <p:sldId id="2764" r:id="rId86"/>
    <p:sldId id="2765" r:id="rId87"/>
    <p:sldId id="2766" r:id="rId88"/>
    <p:sldId id="2767"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draft most of the paperwork of a roadmap. It cannot decide anything in it. The skill is knowing, at each step, what to hand over and what to keep.</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play is one task at one step, with a fixed input, a fixed output and a safeguard. In the assessment, plays draft the desk assessment from public sources, review a questionnaire against its evidence, and propose a stage for each domain. In planning, they gather the gap register, weigh cost against reuse, draft the waves and fill the investment sheets. In governance, they check a contract for lock-in, draft a board's terms, run the revision and write the monthly exceptions. In the build, four generators draft the configuration of each block. PAERA itself mentions a GovStack tool for a quick assessment.</a:t>
            </a:r>
          </a:p>
          <a:p/>
          <a:p>
            <a:r>
              <a:t>Production cue: The catalogue in four groups; the full catalogue is the worked example below. Text-only.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play follows the same rules. The assistant drafts and a person decides: the assessor confirms the stage, the workshop sets the priorities, the lawyer reads the contract. Every claim the assistant makes quotes its evidence, so that the person can check it quickly. An answer that is missing is reported as missing, never filled in. And no one's personal data goes into a prompt: the plays work on descriptions of systems and bodies, and the build uses test persons only. These rules are this course's own practice.</a:t>
            </a:r>
          </a:p>
          <a:p/>
          <a:p>
            <a:r>
              <a:t>Production cue: The rules every play follows; this course's own. Text-only.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trust a play, run it where the answer is already known. Take the scorer. Progressa's Digital Data domain was scored and then validated: one sub-component at Basic, five at Opportunistic, and a domain score of 1.3. Give the scorer the same criteria and the same verified answers, without the result, and compare its proposal with the validated table. If they match, the play has reproduced a known result. If they differ, find the cause in the criteria, the evidence or the prompt, before anyone uses the play on new evidence. A play that passes on one domain is tested on a second before it is used on all five.</a:t>
            </a:r>
          </a:p>
          <a:p/>
          <a:p>
            <a:r>
              <a:t>Production cue: The test of trust, with Progressa's validated scores (E5); every value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demonstration runs that test step by step. The known result is set aside before the run. The criteria and the verified answers go in, and one desk result that was never verified is marked as such. The scorer proposes a stage for each sub-component with its evidence, and lists the unverified result as not used. The pass is simple: the six stages and the score match the validated table. A second run uses Interoperability, where a draft once scored membership from a desk result, and the scorer must leave that result out.</a:t>
            </a:r>
          </a:p>
          <a:p/>
          <a:p>
            <a:r>
              <a:t>Production cue: Needs only the scoring criteria of the assessment toolkit; the storyboard below stands in its place until the segment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At each step the assistant drafts and a person checks. No decision is handed over, and a play is trusted only after it reproduces a known result.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6.9</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6.9</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AI plays, step by step</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At every step of the method and of the build there is a task an AI assistant can draft and a check only a person can make, and no decision is handed over.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AI assistant can draft most of the paperwork of a roadmap.</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cannot decide anything in it.</a:t>
            </a:r>
          </a:p>
          <a:p>
            <a:pPr>
              <a:spcAft>
                <a:spcPts val="800"/>
              </a:spcAft>
            </a:pPr>
            <a:r>
              <a:rPr sz="1700" b="0" i="0">
                <a:solidFill>
                  <a:srgbClr val="595959"/>
                </a:solidFill>
                <a:latin typeface="Arial"/>
              </a:rPr>
              <a:t>The skill is knowing, at each step, what to hand over and what to keep.</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play for each step</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Assess</a:t>
            </a:r>
          </a:p>
          <a:p>
            <a:pPr>
              <a:spcAft>
                <a:spcPts val="300"/>
              </a:spcAft>
            </a:pPr>
            <a:r>
              <a:rPr sz="1700" b="0" i="0">
                <a:solidFill>
                  <a:srgbClr val="595959"/>
                </a:solidFill>
                <a:latin typeface="Arial"/>
              </a:rPr>
              <a:t>The desk assessment, the review of a questionnaire, the scorer.</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Plan</a:t>
            </a:r>
          </a:p>
          <a:p>
            <a:pPr>
              <a:spcAft>
                <a:spcPts val="300"/>
              </a:spcAft>
            </a:pPr>
            <a:r>
              <a:rPr sz="1700" b="0" i="0">
                <a:solidFill>
                  <a:srgbClr val="595959"/>
                </a:solidFill>
                <a:latin typeface="Arial"/>
              </a:rPr>
              <a:t>The gap register, cost against reuse, the waves, the investment sheets.</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Govern</a:t>
            </a:r>
          </a:p>
          <a:p>
            <a:pPr>
              <a:spcAft>
                <a:spcPts val="300"/>
              </a:spcAft>
            </a:pPr>
            <a:r>
              <a:rPr sz="1700" b="0" i="0">
                <a:solidFill>
                  <a:srgbClr val="595959"/>
                </a:solidFill>
                <a:latin typeface="Arial"/>
              </a:rPr>
              <a:t>The contract check, the board's terms, the revision, the monthly exceptions.</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Build</a:t>
            </a:r>
          </a:p>
          <a:p>
            <a:pPr>
              <a:spcAft>
                <a:spcPts val="300"/>
              </a:spcAft>
            </a:pPr>
            <a:r>
              <a:rPr sz="1700" b="0" i="0">
                <a:solidFill>
                  <a:srgbClr val="595959"/>
                </a:solidFill>
                <a:latin typeface="Arial"/>
              </a:rPr>
              <a:t>Four generators: the registration service, the register's schema, the identity connection, the payment connection.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assistant drafts, what a person checks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The assistant drafts; a person decides.</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Every claim quotes its evidence.</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 missing answer is reported, never filled in.</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No personal data in a prompt; test persons in the build.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Trust a play only after a known result</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Run the play where the answer is already known.</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Compare its output with the known answer.</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Any difference</a:t>
            </a:r>
          </a:p>
          <a:p>
            <a:pPr>
              <a:spcAft>
                <a:spcPts val="300"/>
              </a:spcAft>
            </a:pPr>
            <a:r>
              <a:rPr sz="1700" b="0" i="0">
                <a:solidFill>
                  <a:srgbClr val="595959"/>
                </a:solidFill>
                <a:latin typeface="Arial"/>
              </a:rPr>
              <a:t>Find the cause before the play is used.</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Then run it on new evidence.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scorer, on a domain whose result is known</a:t>
            </a:r>
          </a:p>
        </p:txBody>
      </p:sp>
      <p:sp>
        <p:nvSpPr>
          <p:cNvPr id="4" name="Oval 3"/>
          <p:cNvSpPr/>
          <p:nvPr/>
        </p:nvSpPr>
        <p:spPr>
          <a:xfrm>
            <a:off x="621792" y="1527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640080"/>
          </a:xfrm>
          <a:prstGeom prst="rect">
            <a:avLst/>
          </a:prstGeom>
          <a:noFill/>
        </p:spPr>
        <p:txBody>
          <a:bodyPr wrap="square">
            <a:spAutoFit/>
          </a:bodyPr>
          <a:lstStyle/>
          <a:p>
            <a:pPr>
              <a:spcAft>
                <a:spcPts val="300"/>
              </a:spcAft>
            </a:pPr>
            <a:r>
              <a:rPr sz="1600" b="1" i="0">
                <a:solidFill>
                  <a:srgbClr val="1A1A1A"/>
                </a:solidFill>
                <a:latin typeface="Arial"/>
              </a:rPr>
              <a:t>Set the known result aside</a:t>
            </a:r>
          </a:p>
          <a:p>
            <a:pPr>
              <a:spcAft>
                <a:spcPts val="300"/>
              </a:spcAft>
            </a:pPr>
            <a:r>
              <a:rPr sz="1400" b="0" i="0">
                <a:solidFill>
                  <a:srgbClr val="595959"/>
                </a:solidFill>
                <a:latin typeface="Arial"/>
              </a:rPr>
              <a:t>Digital Data as validated: score 1.3, Opportunistic.</a:t>
            </a:r>
          </a:p>
        </p:txBody>
      </p:sp>
      <p:sp>
        <p:nvSpPr>
          <p:cNvPr id="6" name="Rectangle 5"/>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128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48840"/>
            <a:ext cx="10527487" cy="640080"/>
          </a:xfrm>
          <a:prstGeom prst="rect">
            <a:avLst/>
          </a:prstGeom>
          <a:noFill/>
        </p:spPr>
        <p:txBody>
          <a:bodyPr wrap="square">
            <a:spAutoFit/>
          </a:bodyPr>
          <a:lstStyle/>
          <a:p>
            <a:pPr>
              <a:spcAft>
                <a:spcPts val="300"/>
              </a:spcAft>
            </a:pPr>
            <a:r>
              <a:rPr sz="1600" b="1" i="0">
                <a:solidFill>
                  <a:srgbClr val="1A1A1A"/>
                </a:solidFill>
                <a:latin typeface="Arial"/>
              </a:rPr>
              <a:t>Assemble the inputs</a:t>
            </a:r>
          </a:p>
          <a:p>
            <a:pPr>
              <a:spcAft>
                <a:spcPts val="300"/>
              </a:spcAft>
            </a:pPr>
            <a:r>
              <a:rPr sz="1400" b="0" i="0">
                <a:solidFill>
                  <a:srgbClr val="595959"/>
                </a:solidFill>
                <a:latin typeface="Arial"/>
              </a:rPr>
              <a:t>The criteria, the verified answers, the desk result marked UNVERIFIED.</a:t>
            </a:r>
          </a:p>
        </p:txBody>
      </p:sp>
      <p:sp>
        <p:nvSpPr>
          <p:cNvPr id="9" name="Rectangle 8"/>
          <p:cNvSpPr/>
          <p:nvPr/>
        </p:nvSpPr>
        <p:spPr>
          <a:xfrm>
            <a:off x="621792" y="2793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898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34640"/>
            <a:ext cx="10527487" cy="640080"/>
          </a:xfrm>
          <a:prstGeom prst="rect">
            <a:avLst/>
          </a:prstGeom>
          <a:noFill/>
        </p:spPr>
        <p:txBody>
          <a:bodyPr wrap="square">
            <a:spAutoFit/>
          </a:bodyPr>
          <a:lstStyle/>
          <a:p>
            <a:pPr>
              <a:spcAft>
                <a:spcPts val="300"/>
              </a:spcAft>
            </a:pPr>
            <a:r>
              <a:rPr sz="1600" b="1" i="0">
                <a:solidFill>
                  <a:srgbClr val="1A1A1A"/>
                </a:solidFill>
                <a:latin typeface="Arial"/>
              </a:rPr>
              <a:t>Run the scoring prompt once</a:t>
            </a:r>
          </a:p>
          <a:p>
            <a:pPr>
              <a:spcAft>
                <a:spcPts val="300"/>
              </a:spcAft>
            </a:pPr>
            <a:r>
              <a:rPr sz="1400" b="0" i="0">
                <a:solidFill>
                  <a:srgbClr val="595959"/>
                </a:solidFill>
                <a:latin typeface="Arial"/>
              </a:rPr>
              <a:t>Proposals, arithmetic, answers not used, conflicts.</a:t>
            </a:r>
          </a:p>
        </p:txBody>
      </p:sp>
      <p:sp>
        <p:nvSpPr>
          <p:cNvPr id="12" name="Rectangle 11"/>
          <p:cNvSpPr/>
          <p:nvPr/>
        </p:nvSpPr>
        <p:spPr>
          <a:xfrm>
            <a:off x="621792" y="3479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5844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520440"/>
            <a:ext cx="10527487" cy="640080"/>
          </a:xfrm>
          <a:prstGeom prst="rect">
            <a:avLst/>
          </a:prstGeom>
          <a:noFill/>
        </p:spPr>
        <p:txBody>
          <a:bodyPr wrap="square">
            <a:spAutoFit/>
          </a:bodyPr>
          <a:lstStyle/>
          <a:p>
            <a:pPr>
              <a:spcAft>
                <a:spcPts val="300"/>
              </a:spcAft>
            </a:pPr>
            <a:r>
              <a:rPr sz="1600" b="1" i="0">
                <a:solidFill>
                  <a:srgbClr val="1A1A1A"/>
                </a:solidFill>
                <a:latin typeface="Arial"/>
              </a:rPr>
              <a:t>Set the proposal beside the known result</a:t>
            </a:r>
          </a:p>
          <a:p>
            <a:pPr>
              <a:spcAft>
                <a:spcPts val="300"/>
              </a:spcAft>
            </a:pPr>
            <a:r>
              <a:rPr sz="1400" b="0" i="0">
                <a:solidFill>
                  <a:srgbClr val="595959"/>
                </a:solidFill>
                <a:latin typeface="Arial"/>
              </a:rPr>
              <a:t>The six stages and the score of 1.3 match.</a:t>
            </a:r>
          </a:p>
        </p:txBody>
      </p:sp>
      <p:sp>
        <p:nvSpPr>
          <p:cNvPr id="15" name="Rectangle 14"/>
          <p:cNvSpPr/>
          <p:nvPr/>
        </p:nvSpPr>
        <p:spPr>
          <a:xfrm>
            <a:off x="621792" y="41650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2702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206240"/>
            <a:ext cx="10527487" cy="640080"/>
          </a:xfrm>
          <a:prstGeom prst="rect">
            <a:avLst/>
          </a:prstGeom>
          <a:noFill/>
        </p:spPr>
        <p:txBody>
          <a:bodyPr wrap="square">
            <a:spAutoFit/>
          </a:bodyPr>
          <a:lstStyle/>
          <a:p>
            <a:pPr>
              <a:spcAft>
                <a:spcPts val="300"/>
              </a:spcAft>
            </a:pPr>
            <a:r>
              <a:rPr sz="1600" b="1" i="0">
                <a:solidFill>
                  <a:srgbClr val="1A1A1A"/>
                </a:solidFill>
                <a:latin typeface="Arial"/>
              </a:rPr>
              <a:t>A second known result</a:t>
            </a:r>
          </a:p>
          <a:p>
            <a:pPr>
              <a:spcAft>
                <a:spcPts val="300"/>
              </a:spcAft>
            </a:pPr>
            <a:r>
              <a:rPr sz="1400" b="0" i="0">
                <a:solidFill>
                  <a:srgbClr val="595959"/>
                </a:solidFill>
                <a:latin typeface="Arial"/>
              </a:rPr>
              <a:t>Interoperability, with its verified position.</a:t>
            </a:r>
          </a:p>
        </p:txBody>
      </p:sp>
      <p:sp>
        <p:nvSpPr>
          <p:cNvPr id="18" name="Rectangle 17"/>
          <p:cNvSpPr/>
          <p:nvPr/>
        </p:nvSpPr>
        <p:spPr>
          <a:xfrm>
            <a:off x="621792" y="4850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4956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4892040"/>
            <a:ext cx="10527487" cy="640080"/>
          </a:xfrm>
          <a:prstGeom prst="rect">
            <a:avLst/>
          </a:prstGeom>
          <a:noFill/>
        </p:spPr>
        <p:txBody>
          <a:bodyPr wrap="square">
            <a:spAutoFit/>
          </a:bodyPr>
          <a:lstStyle/>
          <a:p>
            <a:pPr>
              <a:spcAft>
                <a:spcPts val="300"/>
              </a:spcAft>
            </a:pPr>
            <a:r>
              <a:rPr sz="1600" b="1" i="0">
                <a:solidFill>
                  <a:srgbClr val="1A1A1A"/>
                </a:solidFill>
                <a:latin typeface="Arial"/>
              </a:rPr>
              <a:t>Record the confirmation</a:t>
            </a:r>
          </a:p>
          <a:p>
            <a:pPr>
              <a:spcAft>
                <a:spcPts val="300"/>
              </a:spcAft>
            </a:pPr>
            <a:r>
              <a:rPr sz="1400" b="0" i="0">
                <a:solidFill>
                  <a:srgbClr val="595959"/>
                </a:solidFill>
                <a:latin typeface="Arial"/>
              </a:rPr>
              <a:t>Each stage confirmed or changed, with its reason.</a:t>
            </a:r>
          </a:p>
        </p:txBody>
      </p:sp>
      <p:sp>
        <p:nvSpPr>
          <p:cNvPr id="21" name="TextBox 20"/>
          <p:cNvSpPr txBox="1"/>
          <p:nvPr/>
        </p:nvSpPr>
        <p:spPr>
          <a:xfrm>
            <a:off x="658368" y="565099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At every step of the method and of the build there is a task an AI assistant can draft and a check only a person can make, and no decision is handed over.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Run a play where the answer is known, before you trust it.</a:t>
            </a:r>
          </a:p>
          <a:p>
            <a:pPr algn="l">
              <a:spcAft>
                <a:spcPts val="400"/>
              </a:spcAft>
            </a:pPr>
            <a:r>
              <a:rPr sz="1800" b="0" i="0">
                <a:solidFill>
                  <a:srgbClr val="595959"/>
                </a:solidFill>
                <a:latin typeface="Arial"/>
              </a:rPr>
              <a:t>The prompt in the companion material gives you a proposed stage and score for each sub-component, with quoted evidence, the domain score with its arithmetic, and the answers not used.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 5.3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