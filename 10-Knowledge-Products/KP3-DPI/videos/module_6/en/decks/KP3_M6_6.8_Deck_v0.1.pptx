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2" r:id="rId74"/>
    <p:sldId id="2753" r:id="rId75"/>
    <p:sldId id="2754" r:id="rId76"/>
    <p:sldId id="2755" r:id="rId77"/>
    <p:sldId id="2756" r:id="rId78"/>
    <p:sldId id="2757" r:id="rId79"/>
    <p:sldId id="2758" r:id="rId80"/>
    <p:sldId id="2759"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Launch day starts the work; it does not end it. A register nobody checks fills with errors, and a payment nobody reconciles reaches the wrong person. Upkeep is what keeps people trusting the foundation.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 indicators in three tiers. Operational indicators are read every month: in Progressa, the number of learners in the register, the share of records passing the quality gates, and the ministry's calls on the exchange. Programme indicators are read every quarter: components on schedule, budget used against plan, and decisions the board has taken. Outcome indicators are read every year: the stage of each domain against its target. The three tiers are this course's own form. PAERA's procedure asks for the same rhythm: monitor progress against the metrics, and revisit the assessment, perhaps once a year.</a:t>
            </a:r>
          </a:p>
          <a:p/>
          <a:p>
            <a:r>
              <a:t>Production cue: The tiers of the worked example E7, Part 8; the form is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Below the indicators sit the checks on every load. Each load of the learner register passes its quality checks, and a row that fails is set aside with its reason. The Digital Registries specification requires every change and every read of the data to be logged, and the register's analyst to see both. A deletion keeps the logical record unless the law requires it to be erased. The Payments specification requires a chain of identifiers that traces each transaction from start to finish, and an audit trail that no user can edit. Reconciling each load against those records is the team's practice.</a:t>
            </a:r>
          </a:p>
          <a:p/>
          <a:p>
            <a:r>
              <a:t>Production cue: Each requirement with its specification. The checks and the reconciliation of the register run on a schedule. Text-only.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a year, review the foundation against the published safeguards. The Universal DPI Safeguards Framework, released by the United Nations in 2024, sets out 18 principles and 13 risks in three groups: safety, inclusion and structural vulnerabilities. Unsustainability is one of them; it covers high running costs and vendor lock-in. The framework offers five adoption pathways, each with self-assessment questions, from legal and regulatory to the whole of society. ITU is a member of the framework's consultative group of international organisations, and runs a training course on it with UNDP.</a:t>
            </a:r>
          </a:p>
          <a:p/>
          <a:p>
            <a:r>
              <a:t>Production cue: The framework named by its own title; ITU's part named as the course and the consultative group. Text-only.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first yearly review against the five pathways, at the end of 2027, in outline and built as an example. Legal and regulatory: the amendment to the education act and the regulation on children's data are drafted and with the cabinet, not yet in force. Institutional structures: the joint board has written terms and meets monthly. Technical foundations: quality gates on the first district's load. Capacity and resources: a named data steward, and a recurrent budget line requested from 2029. Whole of society: every body commented on the roadmap. Each weak line becomes a decision for the board, with an owner and a date.</a:t>
            </a:r>
          </a:p>
          <a:p/>
          <a:p>
            <a:r>
              <a:t>Production cue: The worked example, built for Progressa; every entry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Read indicators by month, quarter and year, check every load, and review against the safeguards each year. That keeps the foundation trusted and safe.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foundation healthy and safe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After launch, indicators read every month, quarter and year, quality checks and reconciliation on every load, and a regular review against the published safeguards keep the foundation trusted and safe.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Launch day starts the work; it does not end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register nobody checks fills with errors, and a payment nobody reconciles reaches the wrong person.</a:t>
            </a:r>
          </a:p>
          <a:p>
            <a:pPr>
              <a:spcAft>
                <a:spcPts val="800"/>
              </a:spcAft>
            </a:pPr>
            <a:r>
              <a:rPr sz="1700" b="0" i="0">
                <a:solidFill>
                  <a:srgbClr val="595959"/>
                </a:solidFill>
                <a:latin typeface="Arial"/>
              </a:rPr>
              <a:t>Upkeep is what keeps people trusting the foundation.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Indicators in three tiers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month, operational</a:t>
            </a:r>
          </a:p>
          <a:p>
            <a:pPr>
              <a:spcAft>
                <a:spcPts val="300"/>
              </a:spcAft>
            </a:pPr>
            <a:r>
              <a:rPr sz="1800" b="0" i="0">
                <a:solidFill>
                  <a:srgbClr val="595959"/>
                </a:solidFill>
                <a:latin typeface="Arial"/>
              </a:rPr>
              <a:t>Learners in PLR; records passing the quality gates; calls on Linkup by MoEYS.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quarter, programme</a:t>
            </a:r>
          </a:p>
          <a:p>
            <a:pPr>
              <a:spcAft>
                <a:spcPts val="300"/>
              </a:spcAft>
            </a:pPr>
            <a:r>
              <a:rPr sz="1800" b="0" i="0">
                <a:solidFill>
                  <a:srgbClr val="595959"/>
                </a:solidFill>
                <a:latin typeface="Arial"/>
              </a:rPr>
              <a:t>Components on schedule; budget used against plan; board decisions taken.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year, outcome</a:t>
            </a:r>
          </a:p>
          <a:p>
            <a:pPr>
              <a:spcAft>
                <a:spcPts val="300"/>
              </a:spcAft>
            </a:pPr>
            <a:r>
              <a:rPr sz="1800" b="0" i="0">
                <a:solidFill>
                  <a:srgbClr val="595959"/>
                </a:solidFill>
                <a:latin typeface="Arial"/>
              </a:rPr>
              <a:t>The stage of each domain against its target.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load checked, every payment traced</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Quality checks on every load; a row that fails is set aside with its reason.</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Every change and every read of the register logged, and visible to its analyst (DRS-7, DRS-21).</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 deletion keeps the logical record unless the law requires hard deletion (Digital Registries, section 5.2).</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chain of identifiers for every payment, and an audit trail no user can edit (Payments, sections 6.8 and 6.12).</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yearly review against the safeguards</a:t>
            </a:r>
          </a:p>
        </p:txBody>
      </p:sp>
      <p:sp>
        <p:nvSpPr>
          <p:cNvPr id="4" name="TextBox 3"/>
          <p:cNvSpPr txBox="1"/>
          <p:nvPr/>
        </p:nvSpPr>
        <p:spPr>
          <a:xfrm>
            <a:off x="658368" y="1517903"/>
            <a:ext cx="10984687" cy="1024127"/>
          </a:xfrm>
          <a:prstGeom prst="rect">
            <a:avLst/>
          </a:prstGeom>
          <a:noFill/>
        </p:spPr>
        <p:txBody>
          <a:bodyPr wrap="square">
            <a:spAutoFit/>
          </a:bodyPr>
          <a:lstStyle/>
          <a:p>
            <a:pPr>
              <a:spcAft>
                <a:spcPts val="300"/>
              </a:spcAft>
            </a:pPr>
            <a:r>
              <a:rPr sz="2000" b="1" i="0">
                <a:solidFill>
                  <a:srgbClr val="1A1A1A"/>
                </a:solidFill>
                <a:latin typeface="Arial"/>
              </a:rPr>
              <a:t>The Universal DPI Safeguards Framework (UN, 2024): 18 principles; 13 risks in three groups</a:t>
            </a:r>
          </a:p>
          <a:p>
            <a:pPr>
              <a:spcAft>
                <a:spcPts val="300"/>
              </a:spcAft>
            </a:pPr>
            <a:r>
              <a:rPr sz="1700" b="0" i="0">
                <a:solidFill>
                  <a:srgbClr val="595959"/>
                </a:solidFill>
                <a:latin typeface="Arial"/>
              </a:rPr>
              <a:t>Safety, inclusion, structural vulnerabilities.</a:t>
            </a:r>
          </a:p>
        </p:txBody>
      </p:sp>
      <p:sp>
        <p:nvSpPr>
          <p:cNvPr id="5" name="Rectangle 4"/>
          <p:cNvSpPr/>
          <p:nvPr/>
        </p:nvSpPr>
        <p:spPr>
          <a:xfrm>
            <a:off x="621792" y="254660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87751"/>
            <a:ext cx="10984687" cy="978408"/>
          </a:xfrm>
          <a:prstGeom prst="rect">
            <a:avLst/>
          </a:prstGeom>
          <a:noFill/>
        </p:spPr>
        <p:txBody>
          <a:bodyPr wrap="square">
            <a:spAutoFit/>
          </a:bodyPr>
          <a:lstStyle/>
          <a:p>
            <a:pPr>
              <a:spcAft>
                <a:spcPts val="300"/>
              </a:spcAft>
            </a:pPr>
            <a:r>
              <a:rPr sz="2000" b="1" i="0">
                <a:solidFill>
                  <a:srgbClr val="1A1A1A"/>
                </a:solidFill>
                <a:latin typeface="Arial"/>
              </a:rPr>
              <a:t>Unsustainability is one of the risks.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978408"/>
          </a:xfrm>
          <a:prstGeom prst="rect">
            <a:avLst/>
          </a:prstGeom>
          <a:noFill/>
        </p:spPr>
        <p:txBody>
          <a:bodyPr wrap="square">
            <a:spAutoFit/>
          </a:bodyPr>
          <a:lstStyle/>
          <a:p>
            <a:pPr>
              <a:spcAft>
                <a:spcPts val="300"/>
              </a:spcAft>
            </a:pPr>
            <a:r>
              <a:rPr sz="2000" b="1" i="0">
                <a:solidFill>
                  <a:srgbClr val="1A1A1A"/>
                </a:solidFill>
                <a:latin typeface="Arial"/>
              </a:rPr>
              <a:t>Five adoption pathways, each with self-assessment questions.</a:t>
            </a:r>
          </a:p>
        </p:txBody>
      </p:sp>
      <p:sp>
        <p:nvSpPr>
          <p:cNvPr id="9" name="Rectangle 8"/>
          <p:cNvSpPr/>
          <p:nvPr/>
        </p:nvSpPr>
        <p:spPr>
          <a:xfrm>
            <a:off x="621792" y="45948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36008"/>
            <a:ext cx="10984687" cy="978408"/>
          </a:xfrm>
          <a:prstGeom prst="rect">
            <a:avLst/>
          </a:prstGeom>
          <a:noFill/>
        </p:spPr>
        <p:txBody>
          <a:bodyPr wrap="square">
            <a:spAutoFit/>
          </a:bodyPr>
          <a:lstStyle/>
          <a:p>
            <a:pPr>
              <a:spcAft>
                <a:spcPts val="300"/>
              </a:spcAft>
            </a:pPr>
            <a:r>
              <a:rPr sz="2000" b="1" i="0">
                <a:solidFill>
                  <a:srgbClr val="1A1A1A"/>
                </a:solidFill>
                <a:latin typeface="Arial"/>
              </a:rPr>
              <a:t>ITU runs a course on the framework with UNDP, and is a member of its consultative group.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first yearly review (illustrative)</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Legal and regulatory</a:t>
            </a:r>
          </a:p>
          <a:p>
            <a:pPr>
              <a:spcAft>
                <a:spcPts val="300"/>
              </a:spcAft>
            </a:pPr>
            <a:r>
              <a:rPr sz="1600" b="0" i="0">
                <a:solidFill>
                  <a:srgbClr val="595959"/>
                </a:solidFill>
                <a:latin typeface="Arial"/>
              </a:rPr>
              <a:t>The amendment and the regulation on children's data drafted and with cabinet.</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Institutional structures</a:t>
            </a:r>
          </a:p>
          <a:p>
            <a:pPr>
              <a:spcAft>
                <a:spcPts val="300"/>
              </a:spcAft>
            </a:pPr>
            <a:r>
              <a:rPr sz="1600" b="0" i="0">
                <a:solidFill>
                  <a:srgbClr val="595959"/>
                </a:solidFill>
                <a:latin typeface="Arial"/>
              </a:rPr>
              <a:t>The joint board, with written terms, meets monthly.</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Technical foundations</a:t>
            </a:r>
          </a:p>
          <a:p>
            <a:pPr>
              <a:spcAft>
                <a:spcPts val="300"/>
              </a:spcAft>
            </a:pPr>
            <a:r>
              <a:rPr sz="1600" b="0" i="0">
                <a:solidFill>
                  <a:srgbClr val="595959"/>
                </a:solidFill>
                <a:latin typeface="Arial"/>
              </a:rPr>
              <a:t>Quality gates on the first district's load.</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Capacity and resources</a:t>
            </a:r>
          </a:p>
          <a:p>
            <a:pPr>
              <a:spcAft>
                <a:spcPts val="300"/>
              </a:spcAft>
            </a:pPr>
            <a:r>
              <a:rPr sz="1600" b="0" i="0">
                <a:solidFill>
                  <a:srgbClr val="595959"/>
                </a:solidFill>
                <a:latin typeface="Arial"/>
              </a:rPr>
              <a:t>A named data steward; a recurrent budget line requested from 2029.</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Whole of society</a:t>
            </a:r>
          </a:p>
          <a:p>
            <a:pPr>
              <a:spcAft>
                <a:spcPts val="300"/>
              </a:spcAft>
            </a:pPr>
            <a:r>
              <a:rPr sz="1600" b="0" i="0">
                <a:solidFill>
                  <a:srgbClr val="595959"/>
                </a:solidFill>
                <a:latin typeface="Arial"/>
              </a:rPr>
              <a:t>Every body commented on the roadmap.</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After launch, indicators read every month, quarter and year, quality checks and reconciliation on every load, and a regular review against the published safeguards keep the foundation trusted and safe.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month's report of exceptions.</a:t>
            </a:r>
          </a:p>
          <a:p>
            <a:pPr algn="l">
              <a:spcAft>
                <a:spcPts val="400"/>
              </a:spcAft>
            </a:pPr>
            <a:r>
              <a:rPr sz="1800" b="0" i="0">
                <a:solidFill>
                  <a:srgbClr val="595959"/>
                </a:solidFill>
                <a:latin typeface="Arial"/>
              </a:rPr>
              <a:t>The prompt in the companion material gives you a one-page report of exceptions in three parts: what moved, what failed and what needs a decision.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Universal DPI Safeguards Framework, United Nations, 2024, pages 6, 15 and 43 and the framework's web page</a:t>
            </a:r>
          </a:p>
          <a:p>
            <a:pPr>
              <a:spcAft>
                <a:spcPts val="1000"/>
              </a:spcAft>
            </a:pPr>
            <a:r>
              <a:rPr sz="1600" b="0" i="0">
                <a:solidFill>
                  <a:srgbClr val="1A1A1A"/>
                </a:solidFill>
                <a:latin typeface="Arial"/>
              </a:rPr>
              <a:t>•  ITU Academy course 'Accelerating digital public infrastructure with safeguards'</a:t>
            </a:r>
          </a:p>
          <a:p>
            <a:pPr>
              <a:spcAft>
                <a:spcPts val="1000"/>
              </a:spcAft>
            </a:pPr>
            <a:r>
              <a:rPr sz="1600" b="0" i="0">
                <a:solidFill>
                  <a:srgbClr val="1A1A1A"/>
                </a:solidFill>
                <a:latin typeface="Arial"/>
              </a:rPr>
              <a:t>•  GovStack Digital Registries specification, Version 3.0-alpha, section 5.2, DRS-7 and DRS-21</a:t>
            </a:r>
          </a:p>
          <a:p>
            <a:pPr>
              <a:spcAft>
                <a:spcPts val="1000"/>
              </a:spcAft>
            </a:pPr>
            <a:r>
              <a:rPr sz="1600" b="0" i="0">
                <a:solidFill>
                  <a:srgbClr val="1A1A1A"/>
                </a:solidFill>
                <a:latin typeface="Arial"/>
              </a:rPr>
              <a:t>•  GovStack Payments specification, Version 3.0, sections 6.8 and 6.12</a:t>
            </a:r>
          </a:p>
          <a:p>
            <a:pPr>
              <a:spcAft>
                <a:spcPts val="1000"/>
              </a:spcAft>
            </a:pPr>
            <a:r>
              <a:rPr sz="1600" b="0" i="0">
                <a:solidFill>
                  <a:srgbClr val="1A1A1A"/>
                </a:solidFill>
                <a:latin typeface="Arial"/>
              </a:rPr>
              <a:t>•  PAERA v1.0, section 5.4, steps 7 and 8</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