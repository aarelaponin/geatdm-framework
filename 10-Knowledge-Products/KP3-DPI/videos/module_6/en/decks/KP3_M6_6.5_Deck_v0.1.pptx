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8" r:id="rId13"/>
    <p:sldId id="2729" r:id="rId12"/>
    <p:sldId id="2730" r:id="rId11"/>
    <p:sldId id="2731" r:id="rId10"/>
    <p:sldId id="2732" r:id="rId54"/>
    <p:sldId id="2733" r:id="rId55"/>
    <p:sldId id="2734" r:id="rId56"/>
    <p:sldId id="2735"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Lock-in is rarely one bad decision. It is written into contracts, clause by clause, that nobody read for the day the ministry wants to leave. Sourcing decides who builds each block; the contract decides whether you can leave later.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gives three options for each block. Build in-house what your own teams can realistically create and keep running. Outsource what they cannot, such as software development, cloud services or cybersecurity, and manage the risks with a risk management framework. Work in partnership with technology firms, government agencies, universities or groups such as GovStack. A combination of the three usually gives the most flexibility. PAERA also says what the government's own staff should be: intelligent purchasers, not IT specialists, apart from the few who keep the overall architecture.</a:t>
            </a:r>
          </a:p>
          <a:p/>
          <a:p>
            <a:r>
              <a:t>Production cue: PAERA 5.6's three options, by their own names. Text-only.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things are not options. The GovStack Sandbox is a place to learn: its own pages call it a demonstration and learning tool, and say that it is not a production-ready system. And a product's listing is evidence, not a promise. GovStack's testing pages describe a self-assessment of a product against the functional requirements, tests of its interfaces, and a compliance level of 1 or 2. Ask for those results, and still test the product in your own installation, because no listing tests your installation or your contract.</a:t>
            </a:r>
          </a:p>
          <a:p/>
          <a:p>
            <a:r>
              <a:t>Production cue: Each statement as GovStack's own pages make it. Text-only.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World Bank found that, for identity systems, procurement can change the overall cost by 25 per cent to over 100 per cent. It names open technology standards, and an architecture designed so that no single vendor controls it, as the guard against relying on one supplier. The Universal DPI Safeguards Framework asks that digital public infrastructure avoid vendor lock-in and share open specifications, and it counts lock-in among the causes of unsustainability, with long-term costs. So write four checks into every tender and contract: the open standards named, export of all data and configuration, help with leaving, and licence terms that outlive the contract.</a:t>
            </a:r>
          </a:p>
          <a:p/>
          <a:p>
            <a:r>
              <a:t>Production cue: Each public statement with its source. Text-only.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table, built as an example. The registration service runs on a product the ministry buys, and the ministry's analysts configure it in-house; the contract requires the service description to be exportable at any time. The learner register's product and its first load are outsourced, while the data steward is the ministry's own; every record and the schema must be exportable. Identity is not bought at all: the services use the identity authority's sign-in under an agreement. Payments go through the government's Payments block, in partnership with the ministry of finance, which runs it. Each row names the option chosen and the clause that keeps the ministry free to leave.</a:t>
            </a:r>
          </a:p>
          <a:p/>
          <a:p>
            <a:r>
              <a:t>Production cue: The worked example, built for Progressa. Text-only.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Decide for each block who builds it. Then write the standards, the export, the exit and the licence into the contract.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Sourcing each block without lock-in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For each block decide what your own teams build, what you outsource and what you do with a partner, and write open standards and the terms for leaving into every contract.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Lock-in is rarely one bad decision.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is written into contracts, clause by clause, that nobody read for the day the ministry wants to leave.</a:t>
            </a:r>
          </a:p>
          <a:p>
            <a:pPr>
              <a:spcAft>
                <a:spcPts val="800"/>
              </a:spcAft>
            </a:pPr>
            <a:r>
              <a:rPr sz="1700" b="0" i="0">
                <a:solidFill>
                  <a:srgbClr val="595959"/>
                </a:solidFill>
                <a:latin typeface="Arial"/>
              </a:rPr>
              <a:t>Sourcing decides who builds each block; the contract decides whether you can leave later.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options for each block</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In-house</a:t>
            </a:r>
          </a:p>
          <a:p>
            <a:pPr>
              <a:spcAft>
                <a:spcPts val="300"/>
              </a:spcAft>
            </a:pPr>
            <a:r>
              <a:rPr sz="1700" b="0" i="0">
                <a:solidFill>
                  <a:srgbClr val="595959"/>
                </a:solidFill>
                <a:latin typeface="Arial"/>
              </a:rPr>
              <a:t>What your own teams can build and keep running.</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Outsourcing</a:t>
            </a:r>
          </a:p>
          <a:p>
            <a:pPr>
              <a:spcAft>
                <a:spcPts val="300"/>
              </a:spcAft>
            </a:pPr>
            <a:r>
              <a:rPr sz="1700" b="0" i="0">
                <a:solidFill>
                  <a:srgbClr val="595959"/>
                </a:solidFill>
                <a:latin typeface="Arial"/>
              </a:rPr>
              <a:t>What they cannot, with a risk management framework.</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Partnership</a:t>
            </a:r>
          </a:p>
          <a:p>
            <a:pPr>
              <a:spcAft>
                <a:spcPts val="300"/>
              </a:spcAft>
            </a:pPr>
            <a:r>
              <a:rPr sz="1700" b="0" i="0">
                <a:solidFill>
                  <a:srgbClr val="595959"/>
                </a:solidFill>
                <a:latin typeface="Arial"/>
              </a:rPr>
              <a:t>With firms, agencies, universities or GovStack.</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Usually a combination of the three.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Learn in the sandbox; ask for the evidence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GovStack Sandbox</a:t>
            </a:r>
          </a:p>
          <a:p>
            <a:pPr>
              <a:spcAft>
                <a:spcPts val="300"/>
              </a:spcAft>
            </a:pPr>
            <a:r>
              <a:rPr sz="1800" b="0" i="0">
                <a:solidFill>
                  <a:srgbClr val="595959"/>
                </a:solidFill>
                <a:latin typeface="Arial"/>
              </a:rPr>
              <a:t>A demonstration and learning tool, not a production-ready system.</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GovStack's testing</a:t>
            </a:r>
          </a:p>
          <a:p>
            <a:pPr>
              <a:spcAft>
                <a:spcPts val="300"/>
              </a:spcAft>
            </a:pPr>
            <a:r>
              <a:rPr sz="1800" b="0" i="0">
                <a:solidFill>
                  <a:srgbClr val="595959"/>
                </a:solidFill>
                <a:latin typeface="Arial"/>
              </a:rPr>
              <a:t>A self-assessment against the requirements, tests of the interfaces, and a compliance level of 1 or 2.</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Test the product in your own installation as well.</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lock-in comes from</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Procurement can change the cost of an identity system by 25% to over 100% (World Bank, 2018).</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Open standards, and an architecture no single vendor controls, guard against it.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Avoid vendor lock-in; share open specifications (UN, 2024).</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Four checks in every contract</a:t>
            </a:r>
          </a:p>
          <a:p>
            <a:pPr>
              <a:spcAft>
                <a:spcPts val="300"/>
              </a:spcAft>
            </a:pPr>
            <a:r>
              <a:rPr sz="1700" b="0" i="0">
                <a:solidFill>
                  <a:srgbClr val="595959"/>
                </a:solidFill>
                <a:latin typeface="Arial"/>
              </a:rPr>
              <a:t>Open standards named, export, help with leaving, licence terms.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sourcing table (illustrative)</a:t>
            </a:r>
          </a:p>
        </p:txBody>
      </p:sp>
      <p:sp>
        <p:nvSpPr>
          <p:cNvPr id="4" name="TextBox 3"/>
          <p:cNvSpPr txBox="1"/>
          <p:nvPr/>
        </p:nvSpPr>
        <p:spPr>
          <a:xfrm>
            <a:off x="658368" y="1996948"/>
            <a:ext cx="2633472" cy="457200"/>
          </a:xfrm>
          <a:prstGeom prst="rect">
            <a:avLst/>
          </a:prstGeom>
          <a:noFill/>
        </p:spPr>
        <p:txBody>
          <a:bodyPr wrap="square">
            <a:spAutoFit/>
          </a:bodyPr>
          <a:lstStyle/>
          <a:p>
            <a:r>
              <a:rPr sz="1600" b="1" i="0">
                <a:solidFill>
                  <a:srgbClr val="006E96"/>
                </a:solidFill>
                <a:latin typeface="Arial"/>
              </a:rPr>
              <a:t>Block</a:t>
            </a:r>
          </a:p>
        </p:txBody>
      </p:sp>
      <p:sp>
        <p:nvSpPr>
          <p:cNvPr id="5" name="TextBox 4"/>
          <p:cNvSpPr txBox="1"/>
          <p:nvPr/>
        </p:nvSpPr>
        <p:spPr>
          <a:xfrm>
            <a:off x="3401568" y="1996948"/>
            <a:ext cx="4096511" cy="457200"/>
          </a:xfrm>
          <a:prstGeom prst="rect">
            <a:avLst/>
          </a:prstGeom>
          <a:noFill/>
        </p:spPr>
        <p:txBody>
          <a:bodyPr wrap="square">
            <a:spAutoFit/>
          </a:bodyPr>
          <a:lstStyle/>
          <a:p>
            <a:r>
              <a:rPr sz="1600" b="1" i="0">
                <a:solidFill>
                  <a:srgbClr val="006E96"/>
                </a:solidFill>
                <a:latin typeface="Arial"/>
              </a:rPr>
              <a:t>Sourcing</a:t>
            </a:r>
          </a:p>
        </p:txBody>
      </p:sp>
      <p:sp>
        <p:nvSpPr>
          <p:cNvPr id="6" name="TextBox 5"/>
          <p:cNvSpPr txBox="1"/>
          <p:nvPr/>
        </p:nvSpPr>
        <p:spPr>
          <a:xfrm>
            <a:off x="7607808" y="1996948"/>
            <a:ext cx="3822191" cy="457200"/>
          </a:xfrm>
          <a:prstGeom prst="rect">
            <a:avLst/>
          </a:prstGeom>
          <a:noFill/>
        </p:spPr>
        <p:txBody>
          <a:bodyPr wrap="square">
            <a:spAutoFit/>
          </a:bodyPr>
          <a:lstStyle/>
          <a:p>
            <a:r>
              <a:rPr sz="1600" b="1" i="0">
                <a:solidFill>
                  <a:srgbClr val="006E96"/>
                </a:solidFill>
                <a:latin typeface="Arial"/>
              </a:rPr>
              <a:t>Guard against lock-in</a:t>
            </a:r>
          </a:p>
        </p:txBody>
      </p:sp>
      <p:sp>
        <p:nvSpPr>
          <p:cNvPr id="7" name="Rectangle 6"/>
          <p:cNvSpPr/>
          <p:nvPr/>
        </p:nvSpPr>
        <p:spPr>
          <a:xfrm>
            <a:off x="658368" y="245414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545588"/>
            <a:ext cx="2633472" cy="674624"/>
          </a:xfrm>
          <a:prstGeom prst="rect">
            <a:avLst/>
          </a:prstGeom>
          <a:noFill/>
        </p:spPr>
        <p:txBody>
          <a:bodyPr wrap="square">
            <a:spAutoFit/>
          </a:bodyPr>
          <a:lstStyle/>
          <a:p>
            <a:r>
              <a:rPr sz="1600" b="1" i="0">
                <a:solidFill>
                  <a:srgbClr val="1A1A1A"/>
                </a:solidFill>
                <a:latin typeface="Arial"/>
              </a:rPr>
              <a:t>Registration service</a:t>
            </a:r>
          </a:p>
        </p:txBody>
      </p:sp>
      <p:sp>
        <p:nvSpPr>
          <p:cNvPr id="9" name="TextBox 8"/>
          <p:cNvSpPr txBox="1"/>
          <p:nvPr/>
        </p:nvSpPr>
        <p:spPr>
          <a:xfrm>
            <a:off x="3401568" y="2545588"/>
            <a:ext cx="4096511" cy="674624"/>
          </a:xfrm>
          <a:prstGeom prst="rect">
            <a:avLst/>
          </a:prstGeom>
          <a:noFill/>
        </p:spPr>
        <p:txBody>
          <a:bodyPr wrap="square">
            <a:spAutoFit/>
          </a:bodyPr>
          <a:lstStyle/>
          <a:p>
            <a:r>
              <a:rPr sz="1600" b="0" i="0">
                <a:solidFill>
                  <a:srgbClr val="1A1A1A"/>
                </a:solidFill>
                <a:latin typeface="Arial"/>
              </a:rPr>
              <a:t>Product bought, configured in-house</a:t>
            </a:r>
          </a:p>
        </p:txBody>
      </p:sp>
      <p:sp>
        <p:nvSpPr>
          <p:cNvPr id="10" name="TextBox 9"/>
          <p:cNvSpPr txBox="1"/>
          <p:nvPr/>
        </p:nvSpPr>
        <p:spPr>
          <a:xfrm>
            <a:off x="7607808" y="2545588"/>
            <a:ext cx="3822191" cy="674624"/>
          </a:xfrm>
          <a:prstGeom prst="rect">
            <a:avLst/>
          </a:prstGeom>
          <a:noFill/>
        </p:spPr>
        <p:txBody>
          <a:bodyPr wrap="square">
            <a:spAutoFit/>
          </a:bodyPr>
          <a:lstStyle/>
          <a:p>
            <a:r>
              <a:rPr sz="1600" b="0" i="0">
                <a:solidFill>
                  <a:srgbClr val="1A1A1A"/>
                </a:solidFill>
                <a:latin typeface="Arial"/>
              </a:rPr>
              <a:t>The service description exportable at any time</a:t>
            </a:r>
          </a:p>
        </p:txBody>
      </p:sp>
      <p:sp>
        <p:nvSpPr>
          <p:cNvPr id="11" name="Rectangle 10"/>
          <p:cNvSpPr/>
          <p:nvPr/>
        </p:nvSpPr>
        <p:spPr>
          <a:xfrm>
            <a:off x="658368" y="3238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293364"/>
            <a:ext cx="2633472" cy="674624"/>
          </a:xfrm>
          <a:prstGeom prst="rect">
            <a:avLst/>
          </a:prstGeom>
          <a:noFill/>
        </p:spPr>
        <p:txBody>
          <a:bodyPr wrap="square">
            <a:spAutoFit/>
          </a:bodyPr>
          <a:lstStyle/>
          <a:p>
            <a:r>
              <a:rPr sz="1600" b="1" i="0">
                <a:solidFill>
                  <a:srgbClr val="1A1A1A"/>
                </a:solidFill>
                <a:latin typeface="Arial"/>
              </a:rPr>
              <a:t>Learner register PLR</a:t>
            </a:r>
          </a:p>
        </p:txBody>
      </p:sp>
      <p:sp>
        <p:nvSpPr>
          <p:cNvPr id="13" name="TextBox 12"/>
          <p:cNvSpPr txBox="1"/>
          <p:nvPr/>
        </p:nvSpPr>
        <p:spPr>
          <a:xfrm>
            <a:off x="3401568" y="3293364"/>
            <a:ext cx="4096511" cy="674624"/>
          </a:xfrm>
          <a:prstGeom prst="rect">
            <a:avLst/>
          </a:prstGeom>
          <a:noFill/>
        </p:spPr>
        <p:txBody>
          <a:bodyPr wrap="square">
            <a:spAutoFit/>
          </a:bodyPr>
          <a:lstStyle/>
          <a:p>
            <a:r>
              <a:rPr sz="1600" b="0" i="0">
                <a:solidFill>
                  <a:srgbClr val="1A1A1A"/>
                </a:solidFill>
                <a:latin typeface="Arial"/>
              </a:rPr>
              <a:t>Product and first load outsourced, data steward in-house</a:t>
            </a:r>
          </a:p>
        </p:txBody>
      </p:sp>
      <p:sp>
        <p:nvSpPr>
          <p:cNvPr id="14" name="TextBox 13"/>
          <p:cNvSpPr txBox="1"/>
          <p:nvPr/>
        </p:nvSpPr>
        <p:spPr>
          <a:xfrm>
            <a:off x="7607808" y="3293364"/>
            <a:ext cx="3822191" cy="674624"/>
          </a:xfrm>
          <a:prstGeom prst="rect">
            <a:avLst/>
          </a:prstGeom>
          <a:noFill/>
        </p:spPr>
        <p:txBody>
          <a:bodyPr wrap="square">
            <a:spAutoFit/>
          </a:bodyPr>
          <a:lstStyle/>
          <a:p>
            <a:r>
              <a:rPr sz="1600" b="0" i="0">
                <a:solidFill>
                  <a:srgbClr val="1A1A1A"/>
                </a:solidFill>
                <a:latin typeface="Arial"/>
              </a:rPr>
              <a:t>Every record and the schema exportable</a:t>
            </a:r>
          </a:p>
        </p:txBody>
      </p:sp>
      <p:sp>
        <p:nvSpPr>
          <p:cNvPr id="15" name="Rectangle 14"/>
          <p:cNvSpPr/>
          <p:nvPr/>
        </p:nvSpPr>
        <p:spPr>
          <a:xfrm>
            <a:off x="658368" y="3986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041140"/>
            <a:ext cx="2633472" cy="410464"/>
          </a:xfrm>
          <a:prstGeom prst="rect">
            <a:avLst/>
          </a:prstGeom>
          <a:noFill/>
        </p:spPr>
        <p:txBody>
          <a:bodyPr wrap="square">
            <a:spAutoFit/>
          </a:bodyPr>
          <a:lstStyle/>
          <a:p>
            <a:r>
              <a:rPr sz="1600" b="1" i="0">
                <a:solidFill>
                  <a:srgbClr val="1A1A1A"/>
                </a:solidFill>
                <a:latin typeface="Arial"/>
              </a:rPr>
              <a:t>Identity</a:t>
            </a:r>
          </a:p>
        </p:txBody>
      </p:sp>
      <p:sp>
        <p:nvSpPr>
          <p:cNvPr id="17" name="TextBox 16"/>
          <p:cNvSpPr txBox="1"/>
          <p:nvPr/>
        </p:nvSpPr>
        <p:spPr>
          <a:xfrm>
            <a:off x="3401568" y="4041140"/>
            <a:ext cx="4096511" cy="410464"/>
          </a:xfrm>
          <a:prstGeom prst="rect">
            <a:avLst/>
          </a:prstGeom>
          <a:noFill/>
        </p:spPr>
        <p:txBody>
          <a:bodyPr wrap="square">
            <a:spAutoFit/>
          </a:bodyPr>
          <a:lstStyle/>
          <a:p>
            <a:r>
              <a:rPr sz="1600" b="0" i="0">
                <a:solidFill>
                  <a:srgbClr val="1A1A1A"/>
                </a:solidFill>
                <a:latin typeface="Arial"/>
              </a:rPr>
              <a:t>PNIA's sign-in, used under an agreement</a:t>
            </a:r>
          </a:p>
        </p:txBody>
      </p:sp>
      <p:sp>
        <p:nvSpPr>
          <p:cNvPr id="18" name="TextBox 17"/>
          <p:cNvSpPr txBox="1"/>
          <p:nvPr/>
        </p:nvSpPr>
        <p:spPr>
          <a:xfrm>
            <a:off x="7607808" y="4041140"/>
            <a:ext cx="3822191" cy="410464"/>
          </a:xfrm>
          <a:prstGeom prst="rect">
            <a:avLst/>
          </a:prstGeom>
          <a:noFill/>
        </p:spPr>
        <p:txBody>
          <a:bodyPr wrap="square">
            <a:spAutoFit/>
          </a:bodyPr>
          <a:lstStyle/>
          <a:p>
            <a:r>
              <a:rPr sz="1600" b="0" i="0">
                <a:solidFill>
                  <a:srgbClr val="1A1A1A"/>
                </a:solidFill>
                <a:latin typeface="Arial"/>
              </a:rPr>
              <a:t>Nothing bought</a:t>
            </a:r>
          </a:p>
        </p:txBody>
      </p:sp>
      <p:sp>
        <p:nvSpPr>
          <p:cNvPr id="19" name="Rectangle 18"/>
          <p:cNvSpPr/>
          <p:nvPr/>
        </p:nvSpPr>
        <p:spPr>
          <a:xfrm>
            <a:off x="658368" y="4469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524756"/>
            <a:ext cx="2633472" cy="674624"/>
          </a:xfrm>
          <a:prstGeom prst="rect">
            <a:avLst/>
          </a:prstGeom>
          <a:noFill/>
        </p:spPr>
        <p:txBody>
          <a:bodyPr wrap="square">
            <a:spAutoFit/>
          </a:bodyPr>
          <a:lstStyle/>
          <a:p>
            <a:r>
              <a:rPr sz="1600" b="1" i="0">
                <a:solidFill>
                  <a:srgbClr val="1A1A1A"/>
                </a:solidFill>
                <a:latin typeface="Arial"/>
              </a:rPr>
              <a:t>Payments</a:t>
            </a:r>
          </a:p>
        </p:txBody>
      </p:sp>
      <p:sp>
        <p:nvSpPr>
          <p:cNvPr id="21" name="TextBox 20"/>
          <p:cNvSpPr txBox="1"/>
          <p:nvPr/>
        </p:nvSpPr>
        <p:spPr>
          <a:xfrm>
            <a:off x="3401568" y="4524756"/>
            <a:ext cx="4096511" cy="674624"/>
          </a:xfrm>
          <a:prstGeom prst="rect">
            <a:avLst/>
          </a:prstGeom>
          <a:noFill/>
        </p:spPr>
        <p:txBody>
          <a:bodyPr wrap="square">
            <a:spAutoFit/>
          </a:bodyPr>
          <a:lstStyle/>
          <a:p>
            <a:r>
              <a:rPr sz="1600" b="0" i="0">
                <a:solidFill>
                  <a:srgbClr val="1A1A1A"/>
                </a:solidFill>
                <a:latin typeface="Arial"/>
              </a:rPr>
              <a:t>The government's Payments block, in partnership with its owner</a:t>
            </a:r>
          </a:p>
        </p:txBody>
      </p:sp>
      <p:sp>
        <p:nvSpPr>
          <p:cNvPr id="22" name="TextBox 21"/>
          <p:cNvSpPr txBox="1"/>
          <p:nvPr/>
        </p:nvSpPr>
        <p:spPr>
          <a:xfrm>
            <a:off x="7607808" y="4524756"/>
            <a:ext cx="3822191" cy="674624"/>
          </a:xfrm>
          <a:prstGeom prst="rect">
            <a:avLst/>
          </a:prstGeom>
          <a:noFill/>
        </p:spPr>
        <p:txBody>
          <a:bodyPr wrap="square">
            <a:spAutoFit/>
          </a:bodyPr>
          <a:lstStyle/>
          <a:p>
            <a:r>
              <a:rPr sz="1600" b="0" i="0">
                <a:solidFill>
                  <a:srgbClr val="1A1A1A"/>
                </a:solidFill>
                <a:latin typeface="Arial"/>
              </a:rPr>
              <a:t>Payment records exportable</a:t>
            </a:r>
          </a:p>
        </p:txBody>
      </p:sp>
      <p:sp>
        <p:nvSpPr>
          <p:cNvPr id="23" name="TextBox 2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For each block decide what your own teams build, what you outsource and what you do with a partner, and write open standards and the terms for leaving into every contract.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Check a draft tender or contract for lock-in.</a:t>
            </a:r>
          </a:p>
          <a:p>
            <a:pPr algn="l">
              <a:spcAft>
                <a:spcPts val="400"/>
              </a:spcAft>
            </a:pPr>
            <a:r>
              <a:rPr sz="1800" b="0" i="0">
                <a:solidFill>
                  <a:srgbClr val="595959"/>
                </a:solidFill>
                <a:latin typeface="Arial"/>
              </a:rPr>
              <a:t>The prompt in the companion material gives you a table of the four lock-in checks with the clause that meets each, or the word missing.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600" b="0" i="0">
                <a:solidFill>
                  <a:srgbClr val="1A1A1A"/>
                </a:solidFill>
                <a:latin typeface="Arial"/>
              </a:rPr>
              <a:t>•  PAERA v1.0, sections 5.6 and 3.1.1</a:t>
            </a:r>
          </a:p>
          <a:p>
            <a:pPr>
              <a:spcAft>
                <a:spcPts val="1000"/>
              </a:spcAft>
            </a:pPr>
            <a:r>
              <a:rPr sz="1600" b="0" i="0">
                <a:solidFill>
                  <a:srgbClr val="1A1A1A"/>
                </a:solidFill>
                <a:latin typeface="Arial"/>
              </a:rPr>
              <a:t>•  World Bank, Understanding Cost Drivers of Identification Systems, 2018, page 7</a:t>
            </a:r>
          </a:p>
          <a:p>
            <a:pPr>
              <a:spcAft>
                <a:spcPts val="1000"/>
              </a:spcAft>
            </a:pPr>
            <a:r>
              <a:rPr sz="1600" b="0" i="0">
                <a:solidFill>
                  <a:srgbClr val="1A1A1A"/>
                </a:solidFill>
                <a:latin typeface="Arial"/>
              </a:rPr>
              <a:t>•  Universal DPI Safeguards Framework, United Nations, 2024, principle F4, page 23, principle O9, page 25, and the risk of unsustainability, page 15</a:t>
            </a:r>
          </a:p>
          <a:p>
            <a:pPr>
              <a:spcAft>
                <a:spcPts val="1000"/>
              </a:spcAft>
            </a:pPr>
            <a:r>
              <a:rPr sz="1600" b="0" i="0">
                <a:solidFill>
                  <a:srgbClr val="1A1A1A"/>
                </a:solidFill>
                <a:latin typeface="Arial"/>
              </a:rPr>
              <a:t>•  GovStack Sandbox documentation, edition 1.1.1</a:t>
            </a:r>
          </a:p>
          <a:p>
            <a:pPr>
              <a:spcAft>
                <a:spcPts val="1000"/>
              </a:spcAft>
            </a:pPr>
            <a:r>
              <a:rPr sz="1600" b="0" i="0">
                <a:solidFill>
                  <a:srgbClr val="1A1A1A"/>
                </a:solidFill>
                <a:latin typeface="Arial"/>
              </a:rPr>
              <a:t>•  GovStack testing application and the GovStack page 'How is Compliance Measured?'</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Sourcing each block without lock-in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