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0" r:id="rId42"/>
    <p:sldId id="2721" r:id="rId43"/>
    <p:sldId id="2722" r:id="rId44"/>
    <p:sldId id="2723" r:id="rId45"/>
    <p:sldId id="2724" r:id="rId17"/>
    <p:sldId id="2725" r:id="rId16"/>
    <p:sldId id="2726" r:id="rId15"/>
    <p:sldId id="272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finance ministry does not fund a vision. It funds lines it can read, check and place in a budget year. The investment case turns the roadmap into those lines.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sheet costs every component of the roadmap, wave by wave. Each line names the component it pays for, so the case and the roadmap can be checked against each other. Each line also gives a low and a high estimate instead of one figure, because the cost of a shared system depends heavily on how it is bought. The World Bank found that procurement strategy can change the overall cost of an identity system by 25 per cent to over 100 per cent. Progressa's case, built as an example, comes to an illustrative 7.6 to 11.7 million dollars over seven years, of which 2.5 to 3.8 million fall in the first horizon.</a:t>
            </a:r>
          </a:p>
          <a:p/>
          <a:p>
            <a:r>
              <a:t>Production cue: Figure F15 (the investment case: its four sheets as tables) belongs to the written guide. Every Progressa figure marked illustrative. Text-only.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sheet shows the same cost by domain and wave, so a minister sees where the money goes. In Progressa, digital data takes the largest share, because the register is rolled out to all 24 districts, and identity the smallest, because the identity authority is reused. The third sheet names who pays, in three groups: the government's budget, development partners and the private sector. The Universal DPI Safeguards Framework asks for diversified, phased and sustainable financing, with governments leading while the system is built. UNDP's playbook compares four instruments: public budgets, grants, private capital and debt.</a:t>
            </a:r>
          </a:p>
          <a:p/>
          <a:p>
            <a:r>
              <a:t>Production cue: Each public statement with its source. Text-only.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the calendar. PAERA warns that a budget application, backed by a solid business case, can take 2 to 3 years before funds are received, and that projects funded by donors need a state budget commitment to last. So Progressa's ministry asks in 2027 for a recurrent budget line from the budget year 2029, before the partner money ends. Its third sheet shows, as illustrative figures, 3.1 to 4.7 million dollars from the government's budget, 4.1 to 6.4 million from development partners, and 410 to 620 thousand from the private sector.</a:t>
            </a:r>
          </a:p>
          <a:p/>
          <a:p>
            <a:r>
              <a:t>Production cue: PAERA 4.5 in plain words. Text-only.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fourth sheet says what the country gets back. Progressa's case values four returns over ten years: enrolment paperwork removed, scholarships paid to the right learner, spreadsheet exchanges replaced, and reuse by later services. Together they come to an illustrative 11 to 19.5 million dollars, between about 0.9 and 2.6 times the cost. The case does not rest on the top of that range. It rests on reuse: later services pay for neither a register nor an identity check. Keep every figure illustrative until a costing confirms it; the World Bank says that even its own cost model does not predict actual costs.</a:t>
            </a:r>
          </a:p>
          <a:p/>
          <a:p>
            <a:r>
              <a:t>Production cue: Every figure marked illustrative. Text-only.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Four sheets: by wave and component, by domain, by who pays, and the returns. Each figure carries its source or the word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6 · VIDEO 6.4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6.4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investment case your finance ministry can read</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Set out the roadmap's cost the way a finance ministry reads it: by wave and component with a low and a high estimate, by domain, by source of funds, and with the returns expected.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finance ministry does not fund a vision.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funds lines it can read, check and place in a budget year.</a:t>
            </a:r>
          </a:p>
          <a:p>
            <a:pPr>
              <a:spcAft>
                <a:spcPts val="800"/>
              </a:spcAft>
            </a:pPr>
            <a:r>
              <a:rPr sz="1700" b="0" i="0">
                <a:solidFill>
                  <a:srgbClr val="595959"/>
                </a:solidFill>
                <a:latin typeface="Arial"/>
              </a:rPr>
              <a:t>The investment case turns the roadmap into those lines.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investment case your finance ministry can read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Sheet 1: by wave and component</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Every component costed, with a low and a high estimate.</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Procurement can change the cost of an identity system by 25% to over 100% (World Bank, 2018).</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Progressa (illustrative)</a:t>
            </a:r>
          </a:p>
          <a:p>
            <a:pPr>
              <a:spcAft>
                <a:spcPts val="300"/>
              </a:spcAft>
            </a:pPr>
            <a:r>
              <a:rPr sz="1800" b="0" i="0">
                <a:solidFill>
                  <a:srgbClr val="595959"/>
                </a:solidFill>
                <a:latin typeface="Arial"/>
              </a:rPr>
              <a:t>USD 7.6 to 11.7 million over seven years; USD 2.5 to 3.8 million in the first horizon.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investment case your finance ministry can read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Sheets 2 and 3: by domain, and by who pays</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By domain</a:t>
            </a:r>
          </a:p>
          <a:p>
            <a:pPr>
              <a:spcAft>
                <a:spcPts val="300"/>
              </a:spcAft>
            </a:pPr>
            <a:r>
              <a:rPr sz="1700" b="0" i="0">
                <a:solidFill>
                  <a:srgbClr val="595959"/>
                </a:solidFill>
                <a:latin typeface="Arial"/>
              </a:rPr>
              <a:t>Digital data the largest share, identity the smallest (illustrative).</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Three groups of funders</a:t>
            </a:r>
          </a:p>
          <a:p>
            <a:pPr>
              <a:spcAft>
                <a:spcPts val="300"/>
              </a:spcAft>
            </a:pPr>
            <a:r>
              <a:rPr sz="1700" b="0" i="0">
                <a:solidFill>
                  <a:srgbClr val="595959"/>
                </a:solidFill>
                <a:latin typeface="Arial"/>
              </a:rPr>
              <a:t>The government's budget, development partners, the private sector.</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Diversified, phased and sustainable financing (UN, 2024).</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Four instruments</a:t>
            </a:r>
          </a:p>
          <a:p>
            <a:pPr>
              <a:spcAft>
                <a:spcPts val="300"/>
              </a:spcAft>
            </a:pPr>
            <a:r>
              <a:rPr sz="1700" b="0" i="0">
                <a:solidFill>
                  <a:srgbClr val="595959"/>
                </a:solidFill>
                <a:latin typeface="Arial"/>
              </a:rPr>
              <a:t>Public budgets, grants, private capital, debt (UNDP, 2023).</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investment case your finance ministry can read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budget cycle</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A solid business case before any budget application.</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An application can take 2 to 3 years before funds are received.</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Projects funded by donors need a state budget commitment.</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Progressa asks in 2027 for a recurrent line from the budget year 2029 (illustrative).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investment case your finance ministry can read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Sheet 4: the returns</a:t>
            </a:r>
          </a:p>
        </p:txBody>
      </p:sp>
      <p:sp>
        <p:nvSpPr>
          <p:cNvPr id="4" name="TextBox 3"/>
          <p:cNvSpPr txBox="1"/>
          <p:nvPr/>
        </p:nvSpPr>
        <p:spPr>
          <a:xfrm>
            <a:off x="658368" y="1540763"/>
            <a:ext cx="10984687" cy="978408"/>
          </a:xfrm>
          <a:prstGeom prst="rect">
            <a:avLst/>
          </a:prstGeom>
          <a:noFill/>
        </p:spPr>
        <p:txBody>
          <a:bodyPr wrap="square">
            <a:spAutoFit/>
          </a:bodyPr>
          <a:lstStyle/>
          <a:p>
            <a:pPr>
              <a:spcAft>
                <a:spcPts val="300"/>
              </a:spcAft>
            </a:pPr>
            <a:r>
              <a:rPr sz="2000" b="1" i="0">
                <a:solidFill>
                  <a:srgbClr val="1A1A1A"/>
                </a:solidFill>
                <a:latin typeface="Arial"/>
              </a:rPr>
              <a:t>Enrolment paperwork removed; scholarships paid to the right learner; spreadsheet exchanges replaced; reuse by later services.</a:t>
            </a:r>
          </a:p>
        </p:txBody>
      </p:sp>
      <p:sp>
        <p:nvSpPr>
          <p:cNvPr id="5" name="Rectangle 4"/>
          <p:cNvSpPr/>
          <p:nvPr/>
        </p:nvSpPr>
        <p:spPr>
          <a:xfrm>
            <a:off x="621792" y="25237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64891"/>
            <a:ext cx="10984687" cy="978408"/>
          </a:xfrm>
          <a:prstGeom prst="rect">
            <a:avLst/>
          </a:prstGeom>
          <a:noFill/>
        </p:spPr>
        <p:txBody>
          <a:bodyPr wrap="square">
            <a:spAutoFit/>
          </a:bodyPr>
          <a:lstStyle/>
          <a:p>
            <a:pPr>
              <a:spcAft>
                <a:spcPts val="300"/>
              </a:spcAft>
            </a:pPr>
            <a:r>
              <a:rPr sz="2000" b="1" i="0">
                <a:solidFill>
                  <a:srgbClr val="1A1A1A"/>
                </a:solidFill>
                <a:latin typeface="Arial"/>
              </a:rPr>
              <a:t>Valued returns over ten years</a:t>
            </a:r>
          </a:p>
          <a:p>
            <a:pPr>
              <a:spcAft>
                <a:spcPts val="300"/>
              </a:spcAft>
            </a:pPr>
            <a:r>
              <a:rPr sz="1700" b="0" i="0">
                <a:solidFill>
                  <a:srgbClr val="595959"/>
                </a:solidFill>
                <a:latin typeface="Arial"/>
              </a:rPr>
              <a:t>USD 11 to 19.5 million (illustrative).</a:t>
            </a:r>
          </a:p>
        </p:txBody>
      </p:sp>
      <p:sp>
        <p:nvSpPr>
          <p:cNvPr id="7" name="Rectangle 6"/>
          <p:cNvSpPr/>
          <p:nvPr/>
        </p:nvSpPr>
        <p:spPr>
          <a:xfrm>
            <a:off x="621792" y="3547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89020"/>
            <a:ext cx="10984687" cy="978408"/>
          </a:xfrm>
          <a:prstGeom prst="rect">
            <a:avLst/>
          </a:prstGeom>
          <a:noFill/>
        </p:spPr>
        <p:txBody>
          <a:bodyPr wrap="square">
            <a:spAutoFit/>
          </a:bodyPr>
          <a:lstStyle/>
          <a:p>
            <a:pPr>
              <a:spcAft>
                <a:spcPts val="300"/>
              </a:spcAft>
            </a:pPr>
            <a:r>
              <a:rPr sz="2000" b="1" i="0">
                <a:solidFill>
                  <a:srgbClr val="1A1A1A"/>
                </a:solidFill>
                <a:latin typeface="Arial"/>
              </a:rPr>
              <a:t>About 0.9 to 2.6 times the cost.</a:t>
            </a:r>
          </a:p>
        </p:txBody>
      </p:sp>
      <p:sp>
        <p:nvSpPr>
          <p:cNvPr id="9" name="Rectangle 8"/>
          <p:cNvSpPr/>
          <p:nvPr/>
        </p:nvSpPr>
        <p:spPr>
          <a:xfrm>
            <a:off x="621792" y="45720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13148"/>
            <a:ext cx="10984687" cy="978408"/>
          </a:xfrm>
          <a:prstGeom prst="rect">
            <a:avLst/>
          </a:prstGeom>
          <a:noFill/>
        </p:spPr>
        <p:txBody>
          <a:bodyPr wrap="square">
            <a:spAutoFit/>
          </a:bodyPr>
          <a:lstStyle/>
          <a:p>
            <a:pPr>
              <a:spcAft>
                <a:spcPts val="300"/>
              </a:spcAft>
            </a:pPr>
            <a:r>
              <a:rPr sz="2000" b="1" i="0">
                <a:solidFill>
                  <a:srgbClr val="1A1A1A"/>
                </a:solidFill>
                <a:latin typeface="Arial"/>
              </a:rPr>
              <a:t>The case rests on reuse.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investment case your finance ministry can read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Set out the roadmap's cost the way a finance ministry reads it: by wave and component with a low and a high estimate, by domain, by source of funds, and with the returns expected.</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Fill the four sheets of the investment case, and check that they agree.</a:t>
            </a:r>
          </a:p>
          <a:p>
            <a:pPr algn="l">
              <a:spcAft>
                <a:spcPts val="400"/>
              </a:spcAft>
            </a:pPr>
            <a:r>
              <a:rPr sz="1800" b="0" i="0">
                <a:solidFill>
                  <a:srgbClr val="595959"/>
                </a:solidFill>
                <a:latin typeface="Arial"/>
              </a:rPr>
              <a:t>The prompt in the companion material gives you the four sheets of the investment case with the check of their totals.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investment case your finance ministry can read</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Universal DPI Safeguards Framework, United Nations, 2024, principle O8, page 25</a:t>
            </a:r>
          </a:p>
          <a:p>
            <a:pPr>
              <a:spcAft>
                <a:spcPts val="1000"/>
              </a:spcAft>
            </a:pPr>
            <a:r>
              <a:rPr sz="1800" b="0" i="0">
                <a:solidFill>
                  <a:srgbClr val="1A1A1A"/>
                </a:solidFill>
                <a:latin typeface="Arial"/>
              </a:rPr>
              <a:t>•  UNDP, The DPI Approach: A Playbook, 2023, page 44</a:t>
            </a:r>
          </a:p>
          <a:p>
            <a:pPr>
              <a:spcAft>
                <a:spcPts val="1000"/>
              </a:spcAft>
            </a:pPr>
            <a:r>
              <a:rPr sz="1800" b="0" i="0">
                <a:solidFill>
                  <a:srgbClr val="1A1A1A"/>
                </a:solidFill>
                <a:latin typeface="Arial"/>
              </a:rPr>
              <a:t>•  PAERA v1.0, section 4.5 ('Budget')</a:t>
            </a:r>
          </a:p>
          <a:p>
            <a:pPr>
              <a:spcAft>
                <a:spcPts val="1000"/>
              </a:spcAft>
            </a:pPr>
            <a:r>
              <a:rPr sz="1800" b="0" i="0">
                <a:solidFill>
                  <a:srgbClr val="1A1A1A"/>
                </a:solidFill>
                <a:latin typeface="Arial"/>
              </a:rPr>
              <a:t>•  World Bank, Understanding Cost Drivers of Identification Systems, 2018, pages 7 and 9</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6.4 · The investment case your finance ministry can read</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