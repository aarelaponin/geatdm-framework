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4" r:id="rId66"/>
    <p:sldId id="2745" r:id="rId67"/>
    <p:sldId id="2746" r:id="rId68"/>
    <p:sldId id="2747" r:id="rId69"/>
    <p:sldId id="2748" r:id="rId70"/>
    <p:sldId id="2749" r:id="rId71"/>
    <p:sldId id="2750" r:id="rId72"/>
    <p:sldId id="2751"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roadmap written by a team, however good, binds no one. It becomes the government's own when the bodies it binds have read it, seen their comments answered in writing, and an authority has adopted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Plan the path to adoption from the start. In Progressa's example, the team consults each body in the first month. In the second it holds two workshops: one reconciles the initiatives already under way, and one sets the priorities on the gap register. The third month is a drafting sprint. In the fourth, each body comments in writing. In the fifth, a high-level workshop validates the revised text. In the sixth, the ministry of education and the digital government authority adopt it, and the cabinet does where the budget requires. These steps are this course's own practice.</a:t>
            </a:r>
          </a:p>
          <a:p/>
          <a:p>
            <a:r>
              <a:t>Production cue: The development plan of the worked example E7; the steps are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Answer every comment in a response matrix. Each row holds the comment, the role of the person who made it, what it refers to, the response, the decision and the change made. Name commenters by role, never by name. In Progressa, the finance ministry's budget department asked for a basis for the high estimate of the learner register. The team stated the basis and kept the range: accepted in part. The examination authority asked to move examination registration into the first horizon. Not accepted, because it depends on the register covering every district, which happens in the second horizon. The answer is written down all the same.</a:t>
            </a:r>
          </a:p>
          <a:p/>
          <a:p>
            <a:r>
              <a:t>Production cue: The worked example E9. Text-only.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Some comments change the evidence itself. The digital government authority said the Interoperability score was too high while the ministry of education was not a member of the exchange. It was right. The draft had scored that membership from a desk result, which breaks the rule that only verified positions are scored. The sub-component was lowered from 2.5 to 1.5, and the domain from 2.3 to 2.1; its stage stayed Systematic. The change is recorded beside the maturity table, so any reader can see why the score moved.</a:t>
            </a:r>
          </a:p>
          <a:p/>
          <a:p>
            <a:r>
              <a:t>Production cue: Comment CM-02 of E9; every value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assistant can draft most of the revision, in four phases. First, prepare: a list of abbreviations, a draft of the response matrix, and the statistics that a comment questions. Second, revise the assessment section by section against the accepted comments. Third, revise the roadmap and the investment case part by part. Fourth, check that the documents still agree, and write a summary of changes and a cover note. PAERA's procedure ends the same way: an action plan with responsible parties, then monitoring and review, then continuous improvement. And UNDP's playbook rates stakeholder engagement high at the step where the roadmap is developed.</a:t>
            </a:r>
          </a:p>
          <a:p/>
          <a:p>
            <a:r>
              <a:t>Production cue: The four phases of E9, with PAERA's last three steps in the voice-over. Text-only.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Every body comments, every comment gets a written answer, and an authority adopts the roadmap. Then it is the government's own.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Validate, revise, adopt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roadmap becomes the government's own only when the people it binds have commented, every comment has a written answer, and an authority has adopted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roadmap written by a team, however good, binds no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becomes the government's own when the bodies it binds have read it, seen their comments answered in writing, and an authority has adopted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months from draft to adoption</a:t>
            </a:r>
          </a:p>
        </p:txBody>
      </p:sp>
      <p:sp>
        <p:nvSpPr>
          <p:cNvPr id="4" name="TextBox 3"/>
          <p:cNvSpPr txBox="1"/>
          <p:nvPr/>
        </p:nvSpPr>
        <p:spPr>
          <a:xfrm>
            <a:off x="658368" y="1463040"/>
            <a:ext cx="10984687" cy="685800"/>
          </a:xfrm>
          <a:prstGeom prst="rect">
            <a:avLst/>
          </a:prstGeom>
          <a:noFill/>
        </p:spPr>
        <p:txBody>
          <a:bodyPr wrap="square">
            <a:spAutoFit/>
          </a:bodyPr>
          <a:lstStyle/>
          <a:p>
            <a:pPr>
              <a:spcAft>
                <a:spcPts val="300"/>
              </a:spcAft>
            </a:pPr>
            <a:r>
              <a:rPr sz="1800" b="1" i="0">
                <a:solidFill>
                  <a:srgbClr val="1A1A1A"/>
                </a:solidFill>
                <a:latin typeface="Arial"/>
              </a:rPr>
              <a:t>Month 1</a:t>
            </a:r>
          </a:p>
          <a:p>
            <a:pPr>
              <a:spcAft>
                <a:spcPts val="300"/>
              </a:spcAft>
            </a:pPr>
            <a:r>
              <a:rPr sz="1550" b="0" i="0">
                <a:solidFill>
                  <a:srgbClr val="595959"/>
                </a:solidFill>
                <a:latin typeface="Arial"/>
              </a:rPr>
              <a:t>Consultation with each body.</a:t>
            </a:r>
          </a:p>
        </p:txBody>
      </p:sp>
      <p:sp>
        <p:nvSpPr>
          <p:cNvPr id="5" name="Rectangle 4"/>
          <p:cNvSpPr/>
          <p:nvPr/>
        </p:nvSpPr>
        <p:spPr>
          <a:xfrm>
            <a:off x="621792" y="2153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194560"/>
            <a:ext cx="10984687" cy="685800"/>
          </a:xfrm>
          <a:prstGeom prst="rect">
            <a:avLst/>
          </a:prstGeom>
          <a:noFill/>
        </p:spPr>
        <p:txBody>
          <a:bodyPr wrap="square">
            <a:spAutoFit/>
          </a:bodyPr>
          <a:lstStyle/>
          <a:p>
            <a:pPr>
              <a:spcAft>
                <a:spcPts val="300"/>
              </a:spcAft>
            </a:pPr>
            <a:r>
              <a:rPr sz="1800" b="1" i="0">
                <a:solidFill>
                  <a:srgbClr val="1A1A1A"/>
                </a:solidFill>
                <a:latin typeface="Arial"/>
              </a:rPr>
              <a:t>Month 2</a:t>
            </a:r>
          </a:p>
          <a:p>
            <a:pPr>
              <a:spcAft>
                <a:spcPts val="300"/>
              </a:spcAft>
            </a:pPr>
            <a:r>
              <a:rPr sz="1550" b="0" i="0">
                <a:solidFill>
                  <a:srgbClr val="595959"/>
                </a:solidFill>
                <a:latin typeface="Arial"/>
              </a:rPr>
              <a:t>Reconcile the initiatives under way; set the priorities.</a:t>
            </a:r>
          </a:p>
        </p:txBody>
      </p:sp>
      <p:sp>
        <p:nvSpPr>
          <p:cNvPr id="7" name="Rectangle 6"/>
          <p:cNvSpPr/>
          <p:nvPr/>
        </p:nvSpPr>
        <p:spPr>
          <a:xfrm>
            <a:off x="621792" y="28849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26080"/>
            <a:ext cx="10984687" cy="685800"/>
          </a:xfrm>
          <a:prstGeom prst="rect">
            <a:avLst/>
          </a:prstGeom>
          <a:noFill/>
        </p:spPr>
        <p:txBody>
          <a:bodyPr wrap="square">
            <a:spAutoFit/>
          </a:bodyPr>
          <a:lstStyle/>
          <a:p>
            <a:pPr>
              <a:spcAft>
                <a:spcPts val="300"/>
              </a:spcAft>
            </a:pPr>
            <a:r>
              <a:rPr sz="1800" b="1" i="0">
                <a:solidFill>
                  <a:srgbClr val="1A1A1A"/>
                </a:solidFill>
                <a:latin typeface="Arial"/>
              </a:rPr>
              <a:t>Month 3</a:t>
            </a:r>
          </a:p>
          <a:p>
            <a:pPr>
              <a:spcAft>
                <a:spcPts val="300"/>
              </a:spcAft>
            </a:pPr>
            <a:r>
              <a:rPr sz="1550" b="0" i="0">
                <a:solidFill>
                  <a:srgbClr val="595959"/>
                </a:solidFill>
                <a:latin typeface="Arial"/>
              </a:rPr>
              <a:t>Drafting.</a:t>
            </a:r>
          </a:p>
        </p:txBody>
      </p:sp>
      <p:sp>
        <p:nvSpPr>
          <p:cNvPr id="9" name="Rectangle 8"/>
          <p:cNvSpPr/>
          <p:nvPr/>
        </p:nvSpPr>
        <p:spPr>
          <a:xfrm>
            <a:off x="621792" y="3616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657600"/>
            <a:ext cx="10984687" cy="685800"/>
          </a:xfrm>
          <a:prstGeom prst="rect">
            <a:avLst/>
          </a:prstGeom>
          <a:noFill/>
        </p:spPr>
        <p:txBody>
          <a:bodyPr wrap="square">
            <a:spAutoFit/>
          </a:bodyPr>
          <a:lstStyle/>
          <a:p>
            <a:pPr>
              <a:spcAft>
                <a:spcPts val="300"/>
              </a:spcAft>
            </a:pPr>
            <a:r>
              <a:rPr sz="1800" b="1" i="0">
                <a:solidFill>
                  <a:srgbClr val="1A1A1A"/>
                </a:solidFill>
                <a:latin typeface="Arial"/>
              </a:rPr>
              <a:t>Month 4</a:t>
            </a:r>
          </a:p>
          <a:p>
            <a:pPr>
              <a:spcAft>
                <a:spcPts val="300"/>
              </a:spcAft>
            </a:pPr>
            <a:r>
              <a:rPr sz="1550" b="0" i="0">
                <a:solidFill>
                  <a:srgbClr val="595959"/>
                </a:solidFill>
                <a:latin typeface="Arial"/>
              </a:rPr>
              <a:t>Written comments from every body.</a:t>
            </a:r>
          </a:p>
        </p:txBody>
      </p:sp>
      <p:sp>
        <p:nvSpPr>
          <p:cNvPr id="11" name="Rectangle 10"/>
          <p:cNvSpPr/>
          <p:nvPr/>
        </p:nvSpPr>
        <p:spPr>
          <a:xfrm>
            <a:off x="621792" y="4347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389120"/>
            <a:ext cx="10984687" cy="685800"/>
          </a:xfrm>
          <a:prstGeom prst="rect">
            <a:avLst/>
          </a:prstGeom>
          <a:noFill/>
        </p:spPr>
        <p:txBody>
          <a:bodyPr wrap="square">
            <a:spAutoFit/>
          </a:bodyPr>
          <a:lstStyle/>
          <a:p>
            <a:pPr>
              <a:spcAft>
                <a:spcPts val="300"/>
              </a:spcAft>
            </a:pPr>
            <a:r>
              <a:rPr sz="1800" b="1" i="0">
                <a:solidFill>
                  <a:srgbClr val="1A1A1A"/>
                </a:solidFill>
                <a:latin typeface="Arial"/>
              </a:rPr>
              <a:t>Month 5</a:t>
            </a:r>
          </a:p>
          <a:p>
            <a:pPr>
              <a:spcAft>
                <a:spcPts val="300"/>
              </a:spcAft>
            </a:pPr>
            <a:r>
              <a:rPr sz="1550" b="0" i="0">
                <a:solidFill>
                  <a:srgbClr val="595959"/>
                </a:solidFill>
                <a:latin typeface="Arial"/>
              </a:rPr>
              <a:t>A high-level validation workshop.</a:t>
            </a:r>
          </a:p>
        </p:txBody>
      </p:sp>
      <p:sp>
        <p:nvSpPr>
          <p:cNvPr id="13" name="Rectangle 12"/>
          <p:cNvSpPr/>
          <p:nvPr/>
        </p:nvSpPr>
        <p:spPr>
          <a:xfrm>
            <a:off x="621792" y="5079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120640"/>
            <a:ext cx="10984687" cy="685800"/>
          </a:xfrm>
          <a:prstGeom prst="rect">
            <a:avLst/>
          </a:prstGeom>
          <a:noFill/>
        </p:spPr>
        <p:txBody>
          <a:bodyPr wrap="square">
            <a:spAutoFit/>
          </a:bodyPr>
          <a:lstStyle/>
          <a:p>
            <a:pPr>
              <a:spcAft>
                <a:spcPts val="300"/>
              </a:spcAft>
            </a:pPr>
            <a:r>
              <a:rPr sz="1800" b="1" i="0">
                <a:solidFill>
                  <a:srgbClr val="1A1A1A"/>
                </a:solidFill>
                <a:latin typeface="Arial"/>
              </a:rPr>
              <a:t>Month 6</a:t>
            </a:r>
          </a:p>
          <a:p>
            <a:pPr>
              <a:spcAft>
                <a:spcPts val="300"/>
              </a:spcAft>
            </a:pPr>
            <a:r>
              <a:rPr sz="1550" b="0" i="0">
                <a:solidFill>
                  <a:srgbClr val="595959"/>
                </a:solidFill>
                <a:latin typeface="Arial"/>
              </a:rPr>
              <a:t>Adoption.</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comment answered</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Response matrix</a:t>
            </a:r>
          </a:p>
          <a:p>
            <a:pPr>
              <a:spcAft>
                <a:spcPts val="300"/>
              </a:spcAft>
            </a:pPr>
            <a:r>
              <a:rPr sz="1800" b="0" i="0">
                <a:solidFill>
                  <a:srgbClr val="595959"/>
                </a:solidFill>
                <a:latin typeface="Arial"/>
              </a:rPr>
              <a:t>Comment, from whom, what it refers to, response, decision, change made.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Decisions</a:t>
            </a:r>
          </a:p>
          <a:p>
            <a:pPr>
              <a:spcAft>
                <a:spcPts val="300"/>
              </a:spcAft>
            </a:pPr>
            <a:r>
              <a:rPr sz="1800" b="0" i="0">
                <a:solidFill>
                  <a:srgbClr val="595959"/>
                </a:solidFill>
                <a:latin typeface="Arial"/>
              </a:rPr>
              <a:t>Accepted, accepted in part, not accepted.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Commenters named by role, never by name.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comment that changed a score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CM-02, from PDGA</a:t>
            </a:r>
          </a:p>
          <a:p>
            <a:pPr>
              <a:spcAft>
                <a:spcPts val="300"/>
              </a:spcAft>
            </a:pPr>
            <a:r>
              <a:rPr sz="1800" b="0" i="0">
                <a:solidFill>
                  <a:srgbClr val="595959"/>
                </a:solidFill>
                <a:latin typeface="Arial"/>
              </a:rPr>
              <a:t>The Interoperability score is too high.</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draft had scored I2 from a desk result, not from a verified position.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I2 lowered from 2.5 to 1.5; the domain from 2.3 to 2.1; its stage unchanged (illustrative).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revision, in four phases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Prepare</a:t>
            </a:r>
          </a:p>
          <a:p>
            <a:pPr>
              <a:spcAft>
                <a:spcPts val="300"/>
              </a:spcAft>
            </a:pPr>
            <a:r>
              <a:rPr sz="1700" b="0" i="0">
                <a:solidFill>
                  <a:srgbClr val="595959"/>
                </a:solidFill>
                <a:latin typeface="Arial"/>
              </a:rPr>
              <a:t>Abbreviations, the response matrix, the statistics to verify.</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Revise the assessment, section by section.</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Revise the roadmap and the investment case, part by part.</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Final checks</a:t>
            </a:r>
          </a:p>
          <a:p>
            <a:pPr>
              <a:spcAft>
                <a:spcPts val="300"/>
              </a:spcAft>
            </a:pPr>
            <a:r>
              <a:rPr sz="1700" b="0" i="0">
                <a:solidFill>
                  <a:srgbClr val="595959"/>
                </a:solidFill>
                <a:latin typeface="Arial"/>
              </a:rPr>
              <a:t>Consistency, a summary of changes, a cover note.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 roadmap becomes the government's own only when the people it binds have commented, every comment has a written answer, and an authority has adopted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the revision play in four phases.</a:t>
            </a:r>
          </a:p>
          <a:p>
            <a:pPr algn="l">
              <a:spcAft>
                <a:spcPts val="400"/>
              </a:spcAft>
            </a:pPr>
            <a:r>
              <a:rPr sz="1800" b="0" i="0">
                <a:solidFill>
                  <a:srgbClr val="595959"/>
                </a:solidFill>
                <a:latin typeface="Arial"/>
              </a:rPr>
              <a:t>The prompt in the companion material gives you a draft response matrix with a proposed decision for each comment.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 5.4, steps 6 to 8</a:t>
            </a:r>
          </a:p>
          <a:p>
            <a:pPr>
              <a:spcAft>
                <a:spcPts val="1000"/>
              </a:spcAft>
            </a:pPr>
            <a:r>
              <a:rPr sz="1800" b="0" i="0">
                <a:solidFill>
                  <a:srgbClr val="1A1A1A"/>
                </a:solidFill>
                <a:latin typeface="Arial"/>
              </a:rPr>
              <a:t>•  UNDP, The DPI Approach: A Playbook, 2023, page 23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