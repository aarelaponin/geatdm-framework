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 id="2758" r:id="rId80"/>
    <p:sldId id="2759" r:id="rId81"/>
    <p:sldId id="2760" r:id="rId82"/>
    <p:sldId id="2761" r:id="rId83"/>
    <p:sldId id="2762" r:id="rId84"/>
    <p:sldId id="2763" r:id="rId85"/>
    <p:sldId id="2764" r:id="rId86"/>
    <p:sldId id="2765" r:id="rId87"/>
    <p:sldId id="2766" r:id="rId88"/>
    <p:sldId id="2767" r:id="rId89"/>
    <p:sldId id="2768" r:id="rId90"/>
    <p:sldId id="2769" r:id="rId91"/>
    <p:sldId id="2770" r:id="rId92"/>
    <p:sldId id="2771" r:id="rId93"/>
    <p:sldId id="2772" r:id="rId94"/>
    <p:sldId id="2773" r:id="rId95"/>
    <p:sldId id="2774" r:id="rId96"/>
    <p:sldId id="2775" r:id="rId97"/>
    <p:sldId id="2776"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 Id="rId94" Type="http://schemas.openxmlformats.org/officeDocument/2006/relationships/slide" Target="slides/slide79.xml"/><Relationship Id="rId95" Type="http://schemas.openxmlformats.org/officeDocument/2006/relationships/slide" Target="slides/slide80.xml"/><Relationship Id="rId96" Type="http://schemas.openxmlformats.org/officeDocument/2006/relationships/slide" Target="slides/slide81.xml"/><Relationship Id="rId97" Type="http://schemas.openxmlformats.org/officeDocument/2006/relationships/slide" Target="slides/slide82.xml"/><Relationship Id="rId98" Type="http://schemas.openxmlformats.org/officeDocument/2006/relationships/slide" Target="slides/slide8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wave has the same parts. It opens with a governance track, because the domain tracks cannot start lawfully or be paid for without it. Then comes a track for each domain that has work in the wave. A beacon project is the roadmap's name for a service people can see, which shows the foundation working. Every wave closes with a summary of what must be true before the following one starts. And each component moves through the five stages of the life cycle that the Universal DPI Safeguards Framework names, from conception and scoping to operations and maintenance.</a:t>
            </a:r>
          </a:p>
          <a:p/>
          <a:p>
            <a:r>
              <a:t>Production cue: The form of the roadmap is this course's 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Set the years ahead in horizons, and write only the first horizon in detail. Progressa's roadmap, built as an example, has three horizons: foundation in 2027 and 2028, scale in 2029 and 2030, and extension from 2031 to 2033. The first horizon runs 24 months, in four waves of six months. PAERA orders a country's start in four phases, from inception to mass-scale transformation. Wave is the roadmap's own word, used inside the first horizon; phase is PAERA's word. UNDP's playbook ends its scoping assessment with the same step: develop the roadmap.</a:t>
            </a:r>
          </a:p>
          <a:p/>
          <a:p>
            <a:r>
              <a:t>Production cue: Figure F13 (the roadmap over time: horizons and waves) belongs to the written guide and is not on the slide. Text-only.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assessment ends with many findings, spread over five domain reports. A minister cannot act on all of them. A minister can act on a short list, in order, with a reason for each place on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turning each finding into a gap. A finding says what exists today. A gap says the distance between what exists and what the country needs. Write every gap into one register, whatever its domain, and let each gap name the findings it comes from, so that anyone can trace a line of the roadmap back to its evidence. UNDP's playbook on the DPI approach works the same way: from national priorities, to the gaps, to goals and targets. Progressa's register, built as an example, turns 15 findings into 14 gaps.</a:t>
            </a:r>
          </a:p>
          <a:p/>
          <a:p>
            <a:r>
              <a:t>Production cue: The step in plain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Rank each gap on four criteria. Impact asks how much the gap holds back service delivery, efficiency and the government's goals, the three things by which PAERA's assessment procedure ranks its recommendations. Urgency asks whether something already planned is waiting for it. Feasibility asks whether existing bodies, law and budget can close it, or whether it needs new law. Rate each of these three from 1 to 3 and add them. A score of 8 or 9 is the first band, 6 or 7 the second, 5 or less the third. The fourth criterion, dependencies, sets the order inside a band: what others depend on comes first. The criteria are this course's own practice.</a:t>
            </a:r>
          </a:p>
          <a:p/>
          <a:p>
            <a:r>
              <a:t>Production cue: The rule of the worked example E6, with PAERA's three grounds of impact. Text-only.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four gaps reach the first band, each with a score of 8. Three are quick wins that existing bodies can close within six months: a joint body to decide education's shared infrastructure, one school identifier, and the ministry of education joining the national exchange. PAERA recommends this pairing: target the foundations, and make some quick wins that show the benefits early. The fourth gap matters most: there is no authoritative learner record. It depends on two gaps of the second band, the legal basis and the link to national identity. Both are brought forward without changing their band, and the law, the slowest, starts first.</a:t>
            </a:r>
          </a:p>
          <a:p/>
          <a:p>
            <a:r>
              <a:t>Production cue: The worked example, built for Progressa; every value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read the register across domains. In Progressa, three patterns appear. The missing learner record holds back three domains: digital data, identity and the exchange. The ministry of education stays outside infrastructure that already runs, the identity authority's sign-in and the national exchange, and that is the cheapest kind of gap to close. And the law and the budget come before the build. These patterns are what you explain to the minister, because they show why the order makes sense.</a:t>
            </a:r>
          </a:p>
          <a:p/>
          <a:p>
            <a:r>
              <a:t>Production cue: What the Strategist explains to the minister. Text-only.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One register, ranked on four criteria into three bands. Your minister receives a short list in order, with a reason for each place.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ministry asks for money for its own system, and each request looks reasonable on its own. The question a finance ministry rarely hears is how many services each system will serve. That answer changes what should be funded first.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names the problem plainly. Why would anyone invest in digital identity when no digital service uses it yet? And how can a ministry build services for people without it? Its answer is to target the foundational elements while making some quick wins that show the benefits. PAERA also gives the reason to plan for the whole government: it makes a strong case for funding platforms, registries and workflows that many agencies reuse. Inside one project, building your own looks quicker. Across the government, it means paying again for something that already exists.</a:t>
            </a:r>
          </a:p>
          <a:p/>
          <a:p>
            <a:r>
              <a:t>Production cue: Carries the planning-enables-re-use argument. Text-only.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is simple to state. List each candidate block with its cost, from a low to a high estimate. Beside it, list the services in your plans that will use it, and the blocks that depend on it. A block that others depend on and many services use is funded first, even when it costs more. PAERA recommends dedicated budgets for platforms used across government, and the World Bank's guide for identity systems asks for a complete cost-benefit analysis of the options. No public source gives a method that weighs cost against reuse, so this step is this course's own, drawn from implementation experience in several countries.</a:t>
            </a:r>
          </a:p>
          <a:p/>
          <a:p>
            <a:r>
              <a:t>Production cue: The method is this course's own; the slide says so in the voice-over. Text-only.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table, built as an example; every figure in it is illustrative. The ministry's place on the national exchange costs least, 80 to 120 thousand dollars, and four other components depend on it, so it is funded in the first wave. The learner register costs most, 600 to 900 thousand dollars, but four services in the roadmap use it: registration, statistics, scholarships and examinations. It comes in the second wave, with the identity connection. The Payments block's place on the exchange serves one service so far, the scholarship pilot, and waits for the fourth wave. The order that results is the roadmap's own.</a:t>
            </a:r>
          </a:p>
          <a:p/>
          <a:p>
            <a:r>
              <a:t>Production cue: The worked example, built for Progressa from the illustrative lines of E8 and the components of E7. Text-only.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reuse that is easiest to see is identity. Progressa's ministry of education does not build an identity for learners. It connects to the identity authority's sign-in, for an illustrative 150 to 220 thousand dollars. A study the World Bank cites puts building a foundational identity system in a low-income country at about 4 to 11 dollars a person registered, and warns that few data points stand behind that figure. For Progressa's 11.5 million people of school age, that is 46 to 126.5 million dollars. The comparison gives an order of magnitude only, but it shows what reuse is worth.</a:t>
            </a:r>
          </a:p>
          <a:p/>
          <a:p>
            <a:r>
              <a:t>Production cue: Every figure marked illustrative or given with its source. Text-only.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 shared block is paid for once and used by many. Count the services that will use it before you decide what to fund first.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ranked list is not yet a plan. A plan says what happens in which year, who does it, and what people will see at each step. That is what the roadmap over time adds to the priorities.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6 deck. Each section that follows is one standalone ~5 minute video, Strategist-facing. Module 1 assessed the country and Modules 2 to 5 proved one service on four blocks; this module turns that proof into a national roadmap — steps six to nine of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6.1 to 6.4 are priorities, order and money. 6.5 to 6.8 are sourcing, governance, adoption and upkeep. 6.9 and 6.10 are the AI plays and the carry-over to a new sector.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Progressa's four waves. The first decides and joins what already runs: a joint board of the ministry of education and the digital government authority, the drafting of the law, one school identifier, and the ministry's membership of the exchange. The second builds the register and connects it to the identity authority's sign-in; before the third starts, the register holds the records of one district, and at least 95 per cent of them pass the quality gates. The third opens the first beacon: a parent registers a child once. The fourth pays scholarships to verified learners through the Payments block.</a:t>
            </a:r>
          </a:p>
          <a:p/>
          <a:p>
            <a:r>
              <a:t>Production cue: The worked example E7, built for Progressa; every date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Last, the dependencies. For each component the roadmap lists what it waits for, and the longest chain is the critical path. In Progressa it runs from the law, through the register, the identity connection and the registration service, to the rollout in all 24 districts. The amendment to the education act closes the slowest gap of all, so it is drafted in the first wave, and the rollout waits until it is in force. PAERA describes enterprise architecture as the bridge between the business side and IT. The roadmap puts its target state in order, on one timeline that both sides read.</a:t>
            </a:r>
          </a:p>
          <a:p/>
          <a:p>
            <a:r>
              <a:t>Production cue: Figure F14 (the matrix of dependencies) belongs to the written guide. Carries the shared-picture argument. Text-only.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Horizons for the years ahead, waves for the first horizon. Each wave opens with governance, works through each domain and ends with a service people can see.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finance ministry does not fund a vision. It funds lines it can read, check and place in a budget year. The investment case turns the roadmap into those lines.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sheet costs every component of the roadmap, wave by wave. Each line names the component it pays for, so the case and the roadmap can be checked against each other. Each line also gives a low and a high estimate instead of one figure, because the cost of a shared system depends heavily on how it is bought. The World Bank found that procurement strategy can change the overall cost of an identity system by 25 per cent to over 100 per cent. Progressa's case, built as an example, comes to an illustrative 7.6 to 11.7 million dollars over seven years, of which 2.5 to 3.8 million fall in the first horizon.</a:t>
            </a:r>
          </a:p>
          <a:p/>
          <a:p>
            <a:r>
              <a:t>Production cue: Figure F15 (the investment case: its four sheets as tables) belongs to the written guide. Every Progressa figure marked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sheet shows the same cost by domain and wave, so a minister sees where the money goes. In Progressa, digital data takes the largest share, because the register is rolled out to all 24 districts, and identity the smallest, because the identity authority is reused. The third sheet names who pays, in three groups: the government's budget, development partners and the private sector. The Universal DPI Safeguards Framework asks for diversified, phased and sustainable financing, with governments leading while the system is built. UNDP's playbook compares four instruments: public budgets, grants, private capital and debt.</a:t>
            </a:r>
          </a:p>
          <a:p/>
          <a:p>
            <a:r>
              <a:t>Production cue: Each public statement with its source. Text-only.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calendar. PAERA warns that a budget application, backed by a solid business case, can take 2 to 3 years before funds are received, and that projects funded by donors need a state budget commitment to last. So Progressa's ministry asks in 2027 for a recurrent budget line from the budget year 2029, before the partner money ends. Its third sheet shows, as illustrative figures, 3.1 to 4.7 million dollars from the government's budget, 4.1 to 6.4 million from development partners, and 410 to 620 thousand from the private sector.</a:t>
            </a:r>
          </a:p>
          <a:p/>
          <a:p>
            <a:r>
              <a:t>Production cue: PAERA 4.5 in plain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fourth sheet says what the country gets back. Progressa's case values four returns over ten years: enrolment paperwork removed, scholarships paid to the right learner, spreadsheet exchanges replaced, and reuse by later services. Together they come to an illustrative 11 to 19.5 million dollars, between about 0.9 and 2.6 times the cost. The case does not rest on the top of that range. It rests on reuse: later services pay for neither a register nor an identity check. Keep every figure illustrative until a costing confirms it; the World Bank says that even its own cost model does not predict actual costs.</a:t>
            </a:r>
          </a:p>
          <a:p/>
          <a:p>
            <a:r>
              <a:t>Production cue: Every figure marked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Four sheets: by wave and component, by domain, by who pays, and the returns. Each figure carries its source or the word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Lock-in is rarely one bad decision. It is written into contracts, clause by clause, that nobody read for the day the ministry wants to leave. Sourcing decides who builds each block; the contract decides whether you can leave later.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gives three options for each block. Build in-house what your own teams can realistically create and keep running. Outsource what they cannot, such as software development, cloud services or cybersecurity, and manage the risks with a risk management framework. Work in partnership with technology firms, government agencies, universities or groups such as GovStack. A combination of the three usually gives the most flexibility. PAERA also says what the government's own staff should be: intelligent purchasers, not IT specialists, apart from the few who keep the overall architecture.</a:t>
            </a:r>
          </a:p>
          <a:p/>
          <a:p>
            <a:r>
              <a:t>Production cue: PAERA 5.6's three options, by their own names. Text-only.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things are not options. The GovStack Sandbox is a place to learn: its own pages call it a demonstration and learning tool, and say that it is not a production-ready system. And a product's listing is evidence, not a promise. GovStack's testing pages describe a self-assessment of a product against the functional requirements, tests of its interfaces, and a compliance level of 1 or 2. Ask for those results, and still test the product in your own installation, because no listing tests your installation or your contract.</a:t>
            </a:r>
          </a:p>
          <a:p/>
          <a:p>
            <a:r>
              <a:t>Production cue: Each statement as GovStack's own pages make it. Text-only.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World Bank found that, for identity systems, procurement can change the overall cost by 25 per cent to over 100 per cent. It names open technology standards, and an architecture designed so that no single vendor controls it, as the guard against relying on one supplier. The Universal DPI Safeguards Framework asks that digital public infrastructure avoid vendor lock-in and share open specifications, and it counts lock-in among the causes of unsustainability, with long-term costs. So write four checks into every tender and contract: the open standards named, export of all data and configuration, help with leaving, and licence terms that outlive the contract.</a:t>
            </a:r>
          </a:p>
          <a:p/>
          <a:p>
            <a:r>
              <a:t>Production cue: Each public statement with its source. Text-only.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table, built as an example. The registration service runs on a product the ministry buys, and the ministry's analysts configure it in-house; the contract requires the service description to be exportable at any time. The learner register's product and its first load are outsourced, while the data steward is the ministry's own; every record and the schema must be exportable. Identity is not bought at all: the services use the identity authority's sign-in under an agreement. Payments go through the government's Payments block, in partnership with the ministry of finance, which runs it. Each row names the option chosen and the clause that keeps the ministry free to leave.</a:t>
            </a:r>
          </a:p>
          <a:p/>
          <a:p>
            <a:r>
              <a:t>Production cue: The worked example, built for Progressa. Text-only.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Decide for each block who builds it. Then write the standards, the export, the exit and the licence into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shared block stays shared only while someone has the power to keep it shared. Without that, each new project builds its own copy, and each copy is paid for again. Governance written down on one page prevents that.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Write governance down in three layers. The political layer decides money and policy. The programme layer coordinates the work across ministries. The technical layer runs each block and sets its technical rules. No public source names these three layers; they are this course's own way of putting together what the sources say. PAERA asks for political leadership shown in words and in budgets, and a dedicated agency with a coordinating role. It describes a committee of key ministers that decides funding and advises the cabinet, and a digital officer in each ministry.</a:t>
            </a:r>
          </a:p>
          <a:p/>
          <a:p>
            <a:r>
              <a:t>Production cue: Figure F16 (the governance structure on one page) belongs to the written guide and is not on the slide. Text-only.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published examples show roles divided this way. UNDP's playbook describes Estonia's data exchange. A ministry advocates policy changes. The Information System Authority registers new members and supervises security. The Nordic Institute for Interoperability Solutions manages its day-to-day operations. The Data Protection Inspectorate supervises compliance with the data protection law. And the Bank for International Settlements describes Brazil's instant payment system, Pix, where the central bank both operates the system and sets its rules. In each case, one named body is answerable for running the shared system or setting its rules. Your page should name such a body for each shared block.</a:t>
            </a:r>
          </a:p>
          <a:p/>
          <a:p>
            <a:r>
              <a:t>Production cue: Each example with its published source. Text-only; no logos.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page, built as an example. At the political layer, a committee of ministers decides the funding, and the cabinet adopts the laws and the budget. At the programme layer, the digital government authority coordinates, and a joint board of the ministry of education and that authority, meeting monthly, decides education's shared infrastructure. At the technical layer each block has one owner: the authority for the exchange, the identity authority for identity, the register's product owner at the ministry of education for the learner register, and the ministry of finance for the Payments block. The ministry's digital officer makes sure each new project uses them.</a:t>
            </a:r>
          </a:p>
          <a:p/>
          <a:p>
            <a:r>
              <a:t>Production cue: The worked example, built for Progressa. Carries the shared-picture argument. Text-only.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Governance also says who may act for a learner. The Digital Registries specification includes delegated access, so that a guardian, a parent or a representative can act for a learner. The Consent specification defines consent as a voluntary declaration that the person may withdraw at any time. Neither replaces the law: in Progressa, the rules for children's data come from a regulation drafted in the first wave. The Universal DPI Safeguards Framework asks for transparent and participatory governance, and recommends shared oversight bodies and regular published reports. One page that the minister and the architect both read gives them a shared language for every decision.</a:t>
            </a:r>
          </a:p>
          <a:p/>
          <a:p>
            <a:r>
              <a:t>Production cue: Each statement with its specification or framework. Text-only.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Write down who decides money and policy, who coordinates, and who runs each block. Then the shared blocks stay shared.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roadmap written by a team, however good, binds no one. It becomes the government's own when the bodies it binds have read it, seen their comments answered in writing, and an authority has adopted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Plan the path to adoption from the start. In Progressa's example, the team consults each body in the first month. In the second it holds two workshops: one reconciles the initiatives already under way, and one sets the priorities on the gap register. The third month is a drafting sprint. In the fourth, each body comments in writing. In the fifth, a high-level workshop validates the revised text. In the sixth, the ministry of education and the digital government authority adopt it, and the cabinet does where the budget requires. These steps are this course's own practice.</a:t>
            </a:r>
          </a:p>
          <a:p/>
          <a:p>
            <a:r>
              <a:t>Production cue: The development plan of the worked example E7; the steps are this course's 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Answer every comment in a response matrix. Each row holds the comment, the role of the person who made it, what it refers to, the response, the decision and the change made. Name commenters by role, never by name. In Progressa, the finance ministry's budget department asked for a basis for the high estimate of the learner register. The team stated the basis and kept the range: accepted in part. The examination authority asked to move examination registration into the first horizon. Not accepted, because it depends on the register covering every district, which happens in the second horizon. The answer is written down all the same.</a:t>
            </a:r>
          </a:p>
          <a:p/>
          <a:p>
            <a:r>
              <a:t>Production cue: The worked example E9. Text-only.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Some comments change the evidence itself. The digital government authority said the Interoperability score was too high while the ministry of education was not a member of the exchange. It was right. The draft had scored that membership from a desk result, which breaks the rule that only verified positions are scored. The sub-component was lowered from 2.5 to 1.5, and the domain from 2.3 to 2.1; its stage stayed Systematic. The change is recorded beside the maturity table, so any reader can see why the score moved.</a:t>
            </a:r>
          </a:p>
          <a:p/>
          <a:p>
            <a:r>
              <a:t>Production cue: Comment CM-02 of E9; every value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assistant can draft most of the revision, in four phases. First, prepare: a list of abbreviations, a draft of the response matrix, and the statistics that a comment questions. Second, revise the assessment section by section against the accepted comments. Third, revise the roadmap and the investment case part by part. Fourth, check that the documents still agree, and write a summary of changes and a cover note. PAERA's procedure ends the same way: an action plan with responsible parties, then monitoring and review, then continuous improvement. And UNDP's playbook rates stakeholder engagement high at the step where the roadmap is developed.</a:t>
            </a:r>
          </a:p>
          <a:p/>
          <a:p>
            <a:r>
              <a:t>Production cue: The four phases of E9, with PAERA's last three steps in the voice-over. Text-only.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Every body comments, every comment gets a written answer, and an authority adopts the roadmap. Then it is the government's own.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Launch day starts the work; it does not end it. A register nobody checks fills with errors, and a payment nobody reconciles reaches the wrong person. Upkeep is what keeps people trusting the foundation.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Read indicators in three tiers. Operational indicators are read every month: in Progressa, the number of learners in the register, the share of records passing the quality gates, and the ministry's calls on the exchange. Programme indicators are read every quarter: components on schedule, budget used against plan, and decisions the board has taken. Outcome indicators are read every year: the stage of each domain against its target. The three tiers are this course's own form. PAERA's procedure asks for the same rhythm: monitor progress against the metrics, and revisit the assessment, perhaps once a year.</a:t>
            </a:r>
          </a:p>
          <a:p/>
          <a:p>
            <a:r>
              <a:t>Production cue: The tiers of the worked example E7, Part 8; the form is this course's 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Below the indicators sit the checks on every load. Each load of the learner register passes its quality checks, and a row that fails is set aside with its reason. The Digital Registries specification requires every change and every read of the data to be logged, and the register's analyst to see both. A deletion keeps the logical record unless the law requires it to be erased. The Payments specification requires a chain of identifiers that traces each transaction from start to finish, and an audit trail that no user can edit. Reconciling each load against those records is the team's practice.</a:t>
            </a:r>
          </a:p>
          <a:p/>
          <a:p>
            <a:r>
              <a:t>Production cue: Each requirement with its specification. The checks and the reconciliation of the register run on a schedule. Text-only.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a year, review the foundation against the published safeguards. The Universal DPI Safeguards Framework, released by the United Nations in 2024, sets out 18 principles and 13 risks in three groups: safety, inclusion and structural vulnerabilities. Unsustainability is one of them; it covers high running costs and vendor lock-in. The framework offers five adoption pathways, each with self-assessment questions, from legal and regulatory to the whole of society. ITU is a member of the framework's consultative group of international organisations, and runs a training course on it with UNDP.</a:t>
            </a:r>
          </a:p>
          <a:p/>
          <a:p>
            <a:r>
              <a:t>Production cue: The framework named by its own title; ITU's part named as the course and the consultative group. Text-only.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first yearly review against the five pathways, at the end of 2027, in outline and built as an example. Legal and regulatory: the amendment to the education act and the regulation on children's data are drafted and with the cabinet, not yet in force. Institutional structures: the joint board has written terms and meets monthly. Technical foundations: quality gates on the first district's load. Capacity and resources: a named data steward, and a recurrent budget line requested from 2029. Whole of society: every body commented on the roadmap. Each weak line becomes a decision for the board, with an owner and a date.</a:t>
            </a:r>
          </a:p>
          <a:p/>
          <a:p>
            <a:r>
              <a:t>Production cue: The worked example, built for Progressa; every entry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Read indicators by month, quarter and year, check every load, and review against the safeguards each year. That keeps the foundation trusted and safe.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most of the paperwork of a roadmap. It cannot decide anything in it. The skill is knowing, at each step, what to hand over and what to keep.</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play is one task at one step, with a fixed input, a fixed output and a safeguard. In the assessment, plays draft the desk assessment from public sources, review a questionnaire against its evidence, and propose a stage for each domain. In planning, they gather the gap register, weigh cost against reuse, draft the waves and fill the investment sheets. In governance, they check a contract for lock-in, draft a board's terms, run the revision and write the monthly exceptions. In the build, four generators draft the configuration of each block. PAERA itself mentions a GovStack tool for a quick assessment.</a:t>
            </a:r>
          </a:p>
          <a:p/>
          <a:p>
            <a:r>
              <a:t>Production cue: The catalogue in four groups; the full catalogue is the worked example below. Text-only.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play follows the same rules. The assistant drafts and a person decides: the assessor confirms the stage, the workshop sets the priorities, the lawyer reads the contract. Every claim the assistant makes quotes its evidence, so that the person can check it quickly. An answer that is missing is reported as missing, never filled in. And no one's personal data goes into a prompt: the plays work on descriptions of systems and bodies, and the build uses test persons only. These rules are this course's own practice.</a:t>
            </a:r>
          </a:p>
          <a:p/>
          <a:p>
            <a:r>
              <a:t>Production cue: The rules every play follows; this course's 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trust a play, run it where the answer is already known. Take the scorer. Progressa's Digital Data domain was scored and then validated: one sub-component at Basic, five at Opportunistic, and a domain score of 1.3. Give the scorer the same criteria and the same verified answers, without the result, and compare its proposal with the validated table. If they match, the play has reproduced a known result. If they differ, find the cause in the criteria, the evidence or the prompt, before anyone uses the play on new evidence. A play that passes on one domain is tested on a second before it is used on all five.</a:t>
            </a:r>
          </a:p>
          <a:p/>
          <a:p>
            <a:r>
              <a:t>Production cue: The test of trust, with Progressa's validated scores (E5); every value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demonstration runs that test step by step. The known result is set aside before the run. The criteria and the verified answers go in, and one desk result that was never verified is marked as such. The scorer proposes a stage for each sub-component with its evidence, and lists the unverified result as not used. The pass is simple: the six stages and the score match the validated table. A second run uses Interoperability, where a draft once scored membership from a desk result, and the scorer must leave that result out.</a:t>
            </a:r>
          </a:p>
          <a:p/>
          <a:p>
            <a:r>
              <a:t>Production cue: Needs only the scoring criteria of the assessment toolkit; the storyboard below stands in its place until the segment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At each step the assistant drafts and a person checks. No decision is handed over, and a play is trusted only after it reproduces a known result.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Education is the first sector here, not the only one. The method does not belong to schools. A ministry of health, of agriculture or of social protection can use it, if it knows what to keep and what to replace.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of the method stays as it is. The five domains stay: governance with the law, access, digital data, interoperability and digital identity. The nine steps stay, from framing the assessment to adopting the roadmap, with their roles, their decision points and their templates. The foundational blocks stay too. UNDP's framework for the DPI approach places digital identity, digital payments and consent-based data sharing in its core, and places sector applications, among them digital education, digital health and digital agriculture, above that core. A new sector builds on the same core.</a:t>
            </a:r>
          </a:p>
          <a:p/>
          <a:p>
            <a:r>
              <a:t>Production cue: UNDP's Exhibit 2 described in words; the exhibit itself is not shown. Text-only.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changes is the sector's own part. Its register changes: in education it is the learner register; in health it may be a register of providers and facilities; in social protection, a social insurance register. Its services change, and with them the bodies that own them and answer the questionnaires. PAERA lists the main state registries a country should establish, and among them are health registers, a social insurance register and an education register. It also says that digitising a state registry needs two building blocks: Registration and a Digital Registry. So a new sector's register is set up with the same two kinds of block, whatever it records.</a:t>
            </a:r>
          </a:p>
          <a:p/>
          <a:p>
            <a:r>
              <a:t>Production cue: PAERA's Annex 3 and A1.2.5 in plain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the comparison on one page, part by part. For each part of the method, the table says what stays and what the new sector replaces. The domains stay, with questions added for the sector. The nine steps stay, while the bodies, the sessions and the documents change. The foundational blocks stay and are reused, so the new sector pays for a connection, not for a block. The sector's register and services are replaced and assessed afresh. And the examples keep their form, but every value is rebuilt, so a health roadmap is shown on its own registers, not on learners.</a:t>
            </a:r>
          </a:p>
          <a:p/>
          <a:p>
            <a:r>
              <a:t>Production cue: The team's blank instrument; the worked example below. Text-only.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warning. Carrying the method over does not carry the results over. Progressa's learner register came first because its own assessment found that the missing record held back three domains. A ministry of health may find something else first, such as its register of providers, or its link to the identity authority. Run the new sector's assessment in full, with its own questionnaires, its own sessions and its own verification, before anything from education is treated as a finding. Only the method moves from one sector to the other.</a:t>
            </a:r>
          </a:p>
          <a:p/>
          <a:p>
            <a:r>
              <a:t>Production cue: No second sector is worked through; the contract's demonstration is education.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Keep the domains, the steps and the foundational blocks. Change the sector's register and services, and assess the new sector afresh.</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From a proven foundation to a national roadmap</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KP3 · Education DPI Roadmap · Module 6</a:t>
            </a:r>
          </a:p>
          <a:p>
            <a:r>
              <a:rPr sz="1400" b="0" i="0">
                <a:solidFill>
                  <a:srgbClr val="595959"/>
                </a:solidFill>
                <a:latin typeface="Arial"/>
              </a:rPr>
              <a:t>Ten standalone videos for the person who prepares the decision: the gap register, cost against reuse, horizons, waves and tracks, the investment case, sourcing without lock-in, governance, validation and adoption, keeping the foundation healthy, the AI plays, and carrying the method to another sector.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~50 mins across 10 videos (6.1 – 6.10)</a:t>
            </a:r>
          </a:p>
          <a:p>
            <a:r>
              <a:rPr sz="1400" b="1" i="0">
                <a:solidFill>
                  <a:srgbClr val="1A1A1A"/>
                </a:solidFill>
                <a:latin typeface="Arial"/>
              </a:rPr>
              <a:t>Target audience: </a:t>
            </a:r>
            <a:r>
              <a:rPr sz="1400" b="0" i="0">
                <a:solidFill>
                  <a:srgbClr val="1A1A1A"/>
                </a:solidFill>
                <a:latin typeface="Arial"/>
              </a:rPr>
              <a:t>The head of a ministry's digital unit or the programme lead who ranks what to fund, sets it in order over the years, and prepares the case for the minister, the finance ministry and the development partners</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PRODUCES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ranked gap register</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Cost against reuse</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Horizons, waves and tracks</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An investment case in four sheets</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Sourcing and governance</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Adoption, upkeep, carry-over</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Steps 6 to 9 of the method</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6 — ten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6.1  From findings to priorities: the gap register</a:t>
            </a:r>
            <a:r>
              <a:rPr sz="1200" b="0" i="0">
                <a:solidFill>
                  <a:srgbClr val="595959"/>
                </a:solidFill>
                <a:latin typeface="Arial"/>
              </a:rPr>
              <a:t>   ~5 min</a:t>
            </a:r>
          </a:p>
          <a:p>
            <a:pPr algn="l">
              <a:spcAft>
                <a:spcPts val="900"/>
              </a:spcAft>
            </a:pPr>
            <a:r>
              <a:rPr sz="1500" b="1" i="0">
                <a:solidFill>
                  <a:srgbClr val="1A1A1A"/>
                </a:solidFill>
                <a:latin typeface="Arial"/>
              </a:rPr>
              <a:t>6.2  What to fund first: cost against reuse</a:t>
            </a:r>
            <a:r>
              <a:rPr sz="1200" b="0" i="0">
                <a:solidFill>
                  <a:srgbClr val="595959"/>
                </a:solidFill>
                <a:latin typeface="Arial"/>
              </a:rPr>
              <a:t>   ~5 min</a:t>
            </a:r>
          </a:p>
          <a:p>
            <a:pPr algn="l">
              <a:spcAft>
                <a:spcPts val="900"/>
              </a:spcAft>
            </a:pPr>
            <a:r>
              <a:rPr sz="1500" b="1" i="0">
                <a:solidFill>
                  <a:srgbClr val="1A1A1A"/>
                </a:solidFill>
                <a:latin typeface="Arial"/>
              </a:rPr>
              <a:t>6.3  The roadmap over time: horizons, waves and tracks</a:t>
            </a:r>
            <a:r>
              <a:rPr sz="1200" b="0" i="0">
                <a:solidFill>
                  <a:srgbClr val="595959"/>
                </a:solidFill>
                <a:latin typeface="Arial"/>
              </a:rPr>
              <a:t>   ~5 min</a:t>
            </a:r>
          </a:p>
          <a:p>
            <a:pPr algn="l">
              <a:spcAft>
                <a:spcPts val="900"/>
              </a:spcAft>
            </a:pPr>
            <a:r>
              <a:rPr sz="1500" b="1" i="0">
                <a:solidFill>
                  <a:srgbClr val="1A1A1A"/>
                </a:solidFill>
                <a:latin typeface="Arial"/>
              </a:rPr>
              <a:t>6.4  The investment case your finance ministry can read</a:t>
            </a:r>
            <a:r>
              <a:rPr sz="1200" b="0" i="0">
                <a:solidFill>
                  <a:srgbClr val="595959"/>
                </a:solidFill>
                <a:latin typeface="Arial"/>
              </a:rPr>
              <a:t>   ~5 min</a:t>
            </a:r>
          </a:p>
          <a:p>
            <a:pPr algn="l">
              <a:spcAft>
                <a:spcPts val="900"/>
              </a:spcAft>
            </a:pPr>
            <a:r>
              <a:rPr sz="1500" b="1" i="0">
                <a:solidFill>
                  <a:srgbClr val="1A1A1A"/>
                </a:solidFill>
                <a:latin typeface="Arial"/>
              </a:rPr>
              <a:t>6.5  Sourcing each block without lock-in</a:t>
            </a:r>
            <a:r>
              <a:rPr sz="1200" b="0" i="0">
                <a:solidFill>
                  <a:srgbClr val="595959"/>
                </a:solidFill>
                <a:latin typeface="Arial"/>
              </a:rPr>
              <a:t>   ~5 min</a:t>
            </a:r>
          </a:p>
          <a:p>
            <a:pPr algn="l">
              <a:spcAft>
                <a:spcPts val="900"/>
              </a:spcAft>
            </a:pPr>
            <a:r>
              <a:rPr sz="1500" b="1" i="0">
                <a:solidFill>
                  <a:srgbClr val="1A1A1A"/>
                </a:solidFill>
                <a:latin typeface="Arial"/>
              </a:rPr>
              <a:t>6.6  Governance that keeps shared blocks shared</a:t>
            </a:r>
            <a:r>
              <a:rPr sz="1200" b="0" i="0">
                <a:solidFill>
                  <a:srgbClr val="595959"/>
                </a:solidFill>
                <a:latin typeface="Arial"/>
              </a:rPr>
              <a:t>   ~5 min</a:t>
            </a:r>
          </a:p>
          <a:p>
            <a:pPr algn="l">
              <a:spcAft>
                <a:spcPts val="900"/>
              </a:spcAft>
            </a:pPr>
            <a:r>
              <a:rPr sz="1500" b="1" i="0">
                <a:solidFill>
                  <a:srgbClr val="1A1A1A"/>
                </a:solidFill>
                <a:latin typeface="Arial"/>
              </a:rPr>
              <a:t>6.7  Validate, revise, adopt</a:t>
            </a:r>
            <a:r>
              <a:rPr sz="1200" b="0" i="0">
                <a:solidFill>
                  <a:srgbClr val="595959"/>
                </a:solidFill>
                <a:latin typeface="Arial"/>
              </a:rPr>
              <a:t>   ~5 min</a:t>
            </a:r>
          </a:p>
          <a:p>
            <a:pPr algn="l">
              <a:spcAft>
                <a:spcPts val="900"/>
              </a:spcAft>
            </a:pPr>
            <a:r>
              <a:rPr sz="1500" b="1" i="0">
                <a:solidFill>
                  <a:srgbClr val="1A1A1A"/>
                </a:solidFill>
                <a:latin typeface="Arial"/>
              </a:rPr>
              <a:t>6.8  Keep the foundation healthy and safe</a:t>
            </a:r>
            <a:r>
              <a:rPr sz="1200" b="0" i="0">
                <a:solidFill>
                  <a:srgbClr val="595959"/>
                </a:solidFill>
                <a:latin typeface="Arial"/>
              </a:rPr>
              <a:t>   ~5 min</a:t>
            </a:r>
          </a:p>
          <a:p>
            <a:pPr algn="l">
              <a:spcAft>
                <a:spcPts val="900"/>
              </a:spcAft>
            </a:pPr>
            <a:r>
              <a:rPr sz="1500" b="1" i="0">
                <a:solidFill>
                  <a:srgbClr val="1A1A1A"/>
                </a:solidFill>
                <a:latin typeface="Arial"/>
              </a:rPr>
              <a:t>6.9  The AI plays, step by step</a:t>
            </a:r>
            <a:r>
              <a:rPr sz="1200" b="0" i="0">
                <a:solidFill>
                  <a:srgbClr val="595959"/>
                </a:solidFill>
                <a:latin typeface="Arial"/>
              </a:rPr>
              <a:t>   ~5 min</a:t>
            </a:r>
          </a:p>
          <a:p>
            <a:pPr algn="l">
              <a:spcAft>
                <a:spcPts val="900"/>
              </a:spcAft>
            </a:pPr>
            <a:r>
              <a:rPr sz="1500" b="1" i="0">
                <a:solidFill>
                  <a:srgbClr val="1A1A1A"/>
                </a:solidFill>
                <a:latin typeface="Arial"/>
              </a:rPr>
              <a:t>6.10  Carry the method to another sector</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Rank the gaps, fund first what many services reuse, set the work in waves, and put the case in terms a finance ministry can read.</a:t>
            </a:r>
          </a:p>
          <a:p>
            <a:pPr>
              <a:spcAft>
                <a:spcPts val="1000"/>
              </a:spcAft>
            </a:pPr>
            <a:r>
              <a:rPr sz="1900" b="0" i="1">
                <a:solidFill>
                  <a:srgbClr val="1A1A1A"/>
                </a:solidFill>
                <a:latin typeface="Arial"/>
              </a:rPr>
              <a:t>Source without lock-in, govern so shared blocks stay shared, adopt through validation, and carry the method — not the results — to the next sector.</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findings to priorities: the gap register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Gather every gap into one register and rank each by impact, urgency, feasibility and what depends on it, so the list you take to your minister is short and ordered.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assessment ends with many findings, spread over five domain reports.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minister cannot act on all of them.</a:t>
            </a:r>
          </a:p>
          <a:p>
            <a:pPr>
              <a:spcAft>
                <a:spcPts val="800"/>
              </a:spcAft>
            </a:pPr>
            <a:r>
              <a:rPr sz="1700" b="0" i="0">
                <a:solidFill>
                  <a:srgbClr val="595959"/>
                </a:solidFill>
                <a:latin typeface="Arial"/>
              </a:rPr>
              <a:t>A minister can act on a short list, in order, with a reason for each place on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finding to gap</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finding says what exists today.</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 gap says the distance to what the country needs.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Each gap names the findings it comes from.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criteria, three bands</a:t>
            </a:r>
          </a:p>
        </p:txBody>
      </p:sp>
      <p:sp>
        <p:nvSpPr>
          <p:cNvPr id="4" name="TextBox 3"/>
          <p:cNvSpPr txBox="1"/>
          <p:nvPr/>
        </p:nvSpPr>
        <p:spPr>
          <a:xfrm>
            <a:off x="658368" y="1463040"/>
            <a:ext cx="10984687" cy="832103"/>
          </a:xfrm>
          <a:prstGeom prst="rect">
            <a:avLst/>
          </a:prstGeom>
          <a:noFill/>
        </p:spPr>
        <p:txBody>
          <a:bodyPr wrap="square">
            <a:spAutoFit/>
          </a:bodyPr>
          <a:lstStyle/>
          <a:p>
            <a:pPr>
              <a:spcAft>
                <a:spcPts val="300"/>
              </a:spcAft>
            </a:pPr>
            <a:r>
              <a:rPr sz="1900" b="1" i="0">
                <a:solidFill>
                  <a:srgbClr val="1A1A1A"/>
                </a:solidFill>
                <a:latin typeface="Arial"/>
              </a:rPr>
              <a:t>Impact</a:t>
            </a:r>
          </a:p>
          <a:p>
            <a:pPr>
              <a:spcAft>
                <a:spcPts val="300"/>
              </a:spcAft>
            </a:pPr>
            <a:r>
              <a:rPr sz="1600" b="0" i="0">
                <a:solidFill>
                  <a:srgbClr val="595959"/>
                </a:solidFill>
                <a:latin typeface="Arial"/>
              </a:rPr>
              <a:t>On service delivery, efficiency and strategic goals: 1 to 3.</a:t>
            </a:r>
          </a:p>
        </p:txBody>
      </p:sp>
      <p:sp>
        <p:nvSpPr>
          <p:cNvPr id="5" name="Rectangle 4"/>
          <p:cNvSpPr/>
          <p:nvPr/>
        </p:nvSpPr>
        <p:spPr>
          <a:xfrm>
            <a:off x="621792" y="22997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40864"/>
            <a:ext cx="10984687" cy="832103"/>
          </a:xfrm>
          <a:prstGeom prst="rect">
            <a:avLst/>
          </a:prstGeom>
          <a:noFill/>
        </p:spPr>
        <p:txBody>
          <a:bodyPr wrap="square">
            <a:spAutoFit/>
          </a:bodyPr>
          <a:lstStyle/>
          <a:p>
            <a:pPr>
              <a:spcAft>
                <a:spcPts val="300"/>
              </a:spcAft>
            </a:pPr>
            <a:r>
              <a:rPr sz="1900" b="1" i="0">
                <a:solidFill>
                  <a:srgbClr val="1A1A1A"/>
                </a:solidFill>
                <a:latin typeface="Arial"/>
              </a:rPr>
              <a:t>Urgency</a:t>
            </a:r>
          </a:p>
          <a:p>
            <a:pPr>
              <a:spcAft>
                <a:spcPts val="300"/>
              </a:spcAft>
            </a:pPr>
            <a:r>
              <a:rPr sz="1600" b="0" i="0">
                <a:solidFill>
                  <a:srgbClr val="595959"/>
                </a:solidFill>
                <a:latin typeface="Arial"/>
              </a:rPr>
              <a:t>Is something planned waiting for it: 1 to 3.</a:t>
            </a:r>
          </a:p>
        </p:txBody>
      </p:sp>
      <p:sp>
        <p:nvSpPr>
          <p:cNvPr id="7" name="Rectangle 6"/>
          <p:cNvSpPr/>
          <p:nvPr/>
        </p:nvSpPr>
        <p:spPr>
          <a:xfrm>
            <a:off x="621792" y="3177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218688"/>
            <a:ext cx="10984687" cy="832103"/>
          </a:xfrm>
          <a:prstGeom prst="rect">
            <a:avLst/>
          </a:prstGeom>
          <a:noFill/>
        </p:spPr>
        <p:txBody>
          <a:bodyPr wrap="square">
            <a:spAutoFit/>
          </a:bodyPr>
          <a:lstStyle/>
          <a:p>
            <a:pPr>
              <a:spcAft>
                <a:spcPts val="300"/>
              </a:spcAft>
            </a:pPr>
            <a:r>
              <a:rPr sz="1900" b="1" i="0">
                <a:solidFill>
                  <a:srgbClr val="1A1A1A"/>
                </a:solidFill>
                <a:latin typeface="Arial"/>
              </a:rPr>
              <a:t>Feasibility</a:t>
            </a:r>
          </a:p>
          <a:p>
            <a:pPr>
              <a:spcAft>
                <a:spcPts val="300"/>
              </a:spcAft>
            </a:pPr>
            <a:r>
              <a:rPr sz="1600" b="0" i="0">
                <a:solidFill>
                  <a:srgbClr val="595959"/>
                </a:solidFill>
                <a:latin typeface="Arial"/>
              </a:rPr>
              <a:t>Can existing bodies, law and budget close it: 1 to 3.</a:t>
            </a:r>
          </a:p>
        </p:txBody>
      </p:sp>
      <p:sp>
        <p:nvSpPr>
          <p:cNvPr id="9" name="Rectangle 8"/>
          <p:cNvSpPr/>
          <p:nvPr/>
        </p:nvSpPr>
        <p:spPr>
          <a:xfrm>
            <a:off x="621792" y="40553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96512"/>
            <a:ext cx="10984687" cy="832103"/>
          </a:xfrm>
          <a:prstGeom prst="rect">
            <a:avLst/>
          </a:prstGeom>
          <a:noFill/>
        </p:spPr>
        <p:txBody>
          <a:bodyPr wrap="square">
            <a:spAutoFit/>
          </a:bodyPr>
          <a:lstStyle/>
          <a:p>
            <a:pPr>
              <a:spcAft>
                <a:spcPts val="300"/>
              </a:spcAft>
            </a:pPr>
            <a:r>
              <a:rPr sz="1900" b="1" i="0">
                <a:solidFill>
                  <a:srgbClr val="1A1A1A"/>
                </a:solidFill>
                <a:latin typeface="Arial"/>
              </a:rPr>
              <a:t>Dependencies</a:t>
            </a:r>
          </a:p>
          <a:p>
            <a:pPr>
              <a:spcAft>
                <a:spcPts val="300"/>
              </a:spcAft>
            </a:pPr>
            <a:r>
              <a:rPr sz="1600" b="0" i="0">
                <a:solidFill>
                  <a:srgbClr val="595959"/>
                </a:solidFill>
                <a:latin typeface="Arial"/>
              </a:rPr>
              <a:t>What others depend on comes first.</a:t>
            </a:r>
          </a:p>
        </p:txBody>
      </p:sp>
      <p:sp>
        <p:nvSpPr>
          <p:cNvPr id="11" name="Rectangle 10"/>
          <p:cNvSpPr/>
          <p:nvPr/>
        </p:nvSpPr>
        <p:spPr>
          <a:xfrm>
            <a:off x="621792" y="49331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74336"/>
            <a:ext cx="10984687" cy="832103"/>
          </a:xfrm>
          <a:prstGeom prst="rect">
            <a:avLst/>
          </a:prstGeom>
          <a:noFill/>
        </p:spPr>
        <p:txBody>
          <a:bodyPr wrap="square">
            <a:spAutoFit/>
          </a:bodyPr>
          <a:lstStyle/>
          <a:p>
            <a:pPr>
              <a:spcAft>
                <a:spcPts val="300"/>
              </a:spcAft>
            </a:pPr>
            <a:r>
              <a:rPr sz="1900" b="1" i="0">
                <a:solidFill>
                  <a:srgbClr val="1A1A1A"/>
                </a:solidFill>
                <a:latin typeface="Arial"/>
              </a:rPr>
              <a:t>Score 8 or 9: first band. 6 or 7: second. 5 or less: third.</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first band (illustrative)</a:t>
            </a:r>
          </a:p>
        </p:txBody>
      </p:sp>
      <p:sp>
        <p:nvSpPr>
          <p:cNvPr id="4" name="TextBox 3"/>
          <p:cNvSpPr txBox="1"/>
          <p:nvPr/>
        </p:nvSpPr>
        <p:spPr>
          <a:xfrm>
            <a:off x="658368" y="2129028"/>
            <a:ext cx="6291072" cy="457200"/>
          </a:xfrm>
          <a:prstGeom prst="rect">
            <a:avLst/>
          </a:prstGeom>
          <a:noFill/>
        </p:spPr>
        <p:txBody>
          <a:bodyPr wrap="square">
            <a:spAutoFit/>
          </a:bodyPr>
          <a:lstStyle/>
          <a:p>
            <a:r>
              <a:rPr sz="1600" b="1" i="0">
                <a:solidFill>
                  <a:srgbClr val="006E96"/>
                </a:solidFill>
                <a:latin typeface="Arial"/>
              </a:rPr>
              <a:t>Gap</a:t>
            </a:r>
          </a:p>
        </p:txBody>
      </p:sp>
      <p:sp>
        <p:nvSpPr>
          <p:cNvPr id="5" name="TextBox 4"/>
          <p:cNvSpPr txBox="1"/>
          <p:nvPr/>
        </p:nvSpPr>
        <p:spPr>
          <a:xfrm>
            <a:off x="7059168" y="2129028"/>
            <a:ext cx="1170431" cy="457200"/>
          </a:xfrm>
          <a:prstGeom prst="rect">
            <a:avLst/>
          </a:prstGeom>
          <a:noFill/>
        </p:spPr>
        <p:txBody>
          <a:bodyPr wrap="square">
            <a:spAutoFit/>
          </a:bodyPr>
          <a:lstStyle/>
          <a:p>
            <a:r>
              <a:rPr sz="1600" b="1" i="0">
                <a:solidFill>
                  <a:srgbClr val="006E96"/>
                </a:solidFill>
                <a:latin typeface="Arial"/>
              </a:rPr>
              <a:t>Score</a:t>
            </a:r>
          </a:p>
        </p:txBody>
      </p:sp>
      <p:sp>
        <p:nvSpPr>
          <p:cNvPr id="6" name="TextBox 5"/>
          <p:cNvSpPr txBox="1"/>
          <p:nvPr/>
        </p:nvSpPr>
        <p:spPr>
          <a:xfrm>
            <a:off x="8339327" y="2129028"/>
            <a:ext cx="3090672" cy="457200"/>
          </a:xfrm>
          <a:prstGeom prst="rect">
            <a:avLst/>
          </a:prstGeom>
          <a:noFill/>
        </p:spPr>
        <p:txBody>
          <a:bodyPr wrap="square">
            <a:spAutoFit/>
          </a:bodyPr>
          <a:lstStyle/>
          <a:p>
            <a:r>
              <a:rPr sz="1600" b="1" i="0">
                <a:solidFill>
                  <a:srgbClr val="006E96"/>
                </a:solidFill>
                <a:latin typeface="Arial"/>
              </a:rPr>
              <a:t>Why first</a:t>
            </a:r>
          </a:p>
        </p:txBody>
      </p:sp>
      <p:sp>
        <p:nvSpPr>
          <p:cNvPr id="7" name="Rectangle 6"/>
          <p:cNvSpPr/>
          <p:nvPr/>
        </p:nvSpPr>
        <p:spPr>
          <a:xfrm>
            <a:off x="658368" y="258622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677668"/>
            <a:ext cx="6291072" cy="674624"/>
          </a:xfrm>
          <a:prstGeom prst="rect">
            <a:avLst/>
          </a:prstGeom>
          <a:noFill/>
        </p:spPr>
        <p:txBody>
          <a:bodyPr wrap="square">
            <a:spAutoFit/>
          </a:bodyPr>
          <a:lstStyle/>
          <a:p>
            <a:r>
              <a:rPr sz="1600" b="1" i="0">
                <a:solidFill>
                  <a:srgbClr val="1A1A1A"/>
                </a:solidFill>
                <a:latin typeface="Arial"/>
              </a:rPr>
              <a:t>G-02 No joint body to decide education’s shared infrastructure</a:t>
            </a:r>
          </a:p>
        </p:txBody>
      </p:sp>
      <p:sp>
        <p:nvSpPr>
          <p:cNvPr id="9" name="TextBox 8"/>
          <p:cNvSpPr txBox="1"/>
          <p:nvPr/>
        </p:nvSpPr>
        <p:spPr>
          <a:xfrm>
            <a:off x="7059168" y="2677668"/>
            <a:ext cx="1170431" cy="674624"/>
          </a:xfrm>
          <a:prstGeom prst="rect">
            <a:avLst/>
          </a:prstGeom>
          <a:noFill/>
        </p:spPr>
        <p:txBody>
          <a:bodyPr wrap="square">
            <a:spAutoFit/>
          </a:bodyPr>
          <a:lstStyle/>
          <a:p>
            <a:r>
              <a:rPr sz="1600" b="0" i="0">
                <a:solidFill>
                  <a:srgbClr val="1A1A1A"/>
                </a:solidFill>
                <a:latin typeface="Arial"/>
              </a:rPr>
              <a:t>8</a:t>
            </a:r>
          </a:p>
        </p:txBody>
      </p:sp>
      <p:sp>
        <p:nvSpPr>
          <p:cNvPr id="10" name="TextBox 9"/>
          <p:cNvSpPr txBox="1"/>
          <p:nvPr/>
        </p:nvSpPr>
        <p:spPr>
          <a:xfrm>
            <a:off x="8339327" y="2677668"/>
            <a:ext cx="3090672" cy="674624"/>
          </a:xfrm>
          <a:prstGeom prst="rect">
            <a:avLst/>
          </a:prstGeom>
          <a:noFill/>
        </p:spPr>
        <p:txBody>
          <a:bodyPr wrap="square">
            <a:spAutoFit/>
          </a:bodyPr>
          <a:lstStyle/>
          <a:p>
            <a:r>
              <a:rPr sz="1600" b="0" i="0">
                <a:solidFill>
                  <a:srgbClr val="1A1A1A"/>
                </a:solidFill>
                <a:latin typeface="Arial"/>
              </a:rPr>
              <a:t>Quick win</a:t>
            </a:r>
          </a:p>
        </p:txBody>
      </p:sp>
      <p:sp>
        <p:nvSpPr>
          <p:cNvPr id="11" name="Rectangle 10"/>
          <p:cNvSpPr/>
          <p:nvPr/>
        </p:nvSpPr>
        <p:spPr>
          <a:xfrm>
            <a:off x="658368" y="337058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425444"/>
            <a:ext cx="6291072" cy="410464"/>
          </a:xfrm>
          <a:prstGeom prst="rect">
            <a:avLst/>
          </a:prstGeom>
          <a:noFill/>
        </p:spPr>
        <p:txBody>
          <a:bodyPr wrap="square">
            <a:spAutoFit/>
          </a:bodyPr>
          <a:lstStyle/>
          <a:p>
            <a:r>
              <a:rPr sz="1600" b="1" i="0">
                <a:solidFill>
                  <a:srgbClr val="1A1A1A"/>
                </a:solidFill>
                <a:latin typeface="Arial"/>
              </a:rPr>
              <a:t>G-06 No common school identifier</a:t>
            </a:r>
          </a:p>
        </p:txBody>
      </p:sp>
      <p:sp>
        <p:nvSpPr>
          <p:cNvPr id="13" name="TextBox 12"/>
          <p:cNvSpPr txBox="1"/>
          <p:nvPr/>
        </p:nvSpPr>
        <p:spPr>
          <a:xfrm>
            <a:off x="7059168" y="3425444"/>
            <a:ext cx="1170431" cy="410464"/>
          </a:xfrm>
          <a:prstGeom prst="rect">
            <a:avLst/>
          </a:prstGeom>
          <a:noFill/>
        </p:spPr>
        <p:txBody>
          <a:bodyPr wrap="square">
            <a:spAutoFit/>
          </a:bodyPr>
          <a:lstStyle/>
          <a:p>
            <a:r>
              <a:rPr sz="1600" b="0" i="0">
                <a:solidFill>
                  <a:srgbClr val="1A1A1A"/>
                </a:solidFill>
                <a:latin typeface="Arial"/>
              </a:rPr>
              <a:t>8</a:t>
            </a:r>
          </a:p>
        </p:txBody>
      </p:sp>
      <p:sp>
        <p:nvSpPr>
          <p:cNvPr id="14" name="TextBox 13"/>
          <p:cNvSpPr txBox="1"/>
          <p:nvPr/>
        </p:nvSpPr>
        <p:spPr>
          <a:xfrm>
            <a:off x="8339327" y="3425444"/>
            <a:ext cx="3090672" cy="410464"/>
          </a:xfrm>
          <a:prstGeom prst="rect">
            <a:avLst/>
          </a:prstGeom>
          <a:noFill/>
        </p:spPr>
        <p:txBody>
          <a:bodyPr wrap="square">
            <a:spAutoFit/>
          </a:bodyPr>
          <a:lstStyle/>
          <a:p>
            <a:r>
              <a:rPr sz="1600" b="0" i="0">
                <a:solidFill>
                  <a:srgbClr val="1A1A1A"/>
                </a:solidFill>
                <a:latin typeface="Arial"/>
              </a:rPr>
              <a:t>Quick win</a:t>
            </a:r>
          </a:p>
        </p:txBody>
      </p:sp>
      <p:sp>
        <p:nvSpPr>
          <p:cNvPr id="15" name="Rectangle 14"/>
          <p:cNvSpPr/>
          <p:nvPr/>
        </p:nvSpPr>
        <p:spPr>
          <a:xfrm>
            <a:off x="658368" y="38541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909059"/>
            <a:ext cx="6291072" cy="410464"/>
          </a:xfrm>
          <a:prstGeom prst="rect">
            <a:avLst/>
          </a:prstGeom>
          <a:noFill/>
        </p:spPr>
        <p:txBody>
          <a:bodyPr wrap="square">
            <a:spAutoFit/>
          </a:bodyPr>
          <a:lstStyle/>
          <a:p>
            <a:r>
              <a:rPr sz="1600" b="1" i="0">
                <a:solidFill>
                  <a:srgbClr val="1A1A1A"/>
                </a:solidFill>
                <a:latin typeface="Arial"/>
              </a:rPr>
              <a:t>G-08 MoEYS is not on the national exchange</a:t>
            </a:r>
          </a:p>
        </p:txBody>
      </p:sp>
      <p:sp>
        <p:nvSpPr>
          <p:cNvPr id="17" name="TextBox 16"/>
          <p:cNvSpPr txBox="1"/>
          <p:nvPr/>
        </p:nvSpPr>
        <p:spPr>
          <a:xfrm>
            <a:off x="7059168" y="3909059"/>
            <a:ext cx="1170431" cy="410464"/>
          </a:xfrm>
          <a:prstGeom prst="rect">
            <a:avLst/>
          </a:prstGeom>
          <a:noFill/>
        </p:spPr>
        <p:txBody>
          <a:bodyPr wrap="square">
            <a:spAutoFit/>
          </a:bodyPr>
          <a:lstStyle/>
          <a:p>
            <a:r>
              <a:rPr sz="1600" b="0" i="0">
                <a:solidFill>
                  <a:srgbClr val="1A1A1A"/>
                </a:solidFill>
                <a:latin typeface="Arial"/>
              </a:rPr>
              <a:t>8</a:t>
            </a:r>
          </a:p>
        </p:txBody>
      </p:sp>
      <p:sp>
        <p:nvSpPr>
          <p:cNvPr id="18" name="TextBox 17"/>
          <p:cNvSpPr txBox="1"/>
          <p:nvPr/>
        </p:nvSpPr>
        <p:spPr>
          <a:xfrm>
            <a:off x="8339327" y="3909059"/>
            <a:ext cx="3090672" cy="410464"/>
          </a:xfrm>
          <a:prstGeom prst="rect">
            <a:avLst/>
          </a:prstGeom>
          <a:noFill/>
        </p:spPr>
        <p:txBody>
          <a:bodyPr wrap="square">
            <a:spAutoFit/>
          </a:bodyPr>
          <a:lstStyle/>
          <a:p>
            <a:r>
              <a:rPr sz="1600" b="0" i="0">
                <a:solidFill>
                  <a:srgbClr val="1A1A1A"/>
                </a:solidFill>
                <a:latin typeface="Arial"/>
              </a:rPr>
              <a:t>Quick win</a:t>
            </a:r>
          </a:p>
        </p:txBody>
      </p:sp>
      <p:sp>
        <p:nvSpPr>
          <p:cNvPr id="19" name="Rectangle 18"/>
          <p:cNvSpPr/>
          <p:nvPr/>
        </p:nvSpPr>
        <p:spPr>
          <a:xfrm>
            <a:off x="658368" y="43378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392676"/>
            <a:ext cx="6291072" cy="674624"/>
          </a:xfrm>
          <a:prstGeom prst="rect">
            <a:avLst/>
          </a:prstGeom>
          <a:noFill/>
        </p:spPr>
        <p:txBody>
          <a:bodyPr wrap="square">
            <a:spAutoFit/>
          </a:bodyPr>
          <a:lstStyle/>
          <a:p>
            <a:r>
              <a:rPr sz="1600" b="1" i="0">
                <a:solidFill>
                  <a:srgbClr val="1A1A1A"/>
                </a:solidFill>
                <a:latin typeface="Arial"/>
              </a:rPr>
              <a:t>G-05 No authoritative learner record</a:t>
            </a:r>
          </a:p>
        </p:txBody>
      </p:sp>
      <p:sp>
        <p:nvSpPr>
          <p:cNvPr id="21" name="TextBox 20"/>
          <p:cNvSpPr txBox="1"/>
          <p:nvPr/>
        </p:nvSpPr>
        <p:spPr>
          <a:xfrm>
            <a:off x="7059168" y="4392676"/>
            <a:ext cx="1170431" cy="674624"/>
          </a:xfrm>
          <a:prstGeom prst="rect">
            <a:avLst/>
          </a:prstGeom>
          <a:noFill/>
        </p:spPr>
        <p:txBody>
          <a:bodyPr wrap="square">
            <a:spAutoFit/>
          </a:bodyPr>
          <a:lstStyle/>
          <a:p>
            <a:r>
              <a:rPr sz="1600" b="0" i="0">
                <a:solidFill>
                  <a:srgbClr val="1A1A1A"/>
                </a:solidFill>
                <a:latin typeface="Arial"/>
              </a:rPr>
              <a:t>8</a:t>
            </a:r>
          </a:p>
        </p:txBody>
      </p:sp>
      <p:sp>
        <p:nvSpPr>
          <p:cNvPr id="22" name="TextBox 21"/>
          <p:cNvSpPr txBox="1"/>
          <p:nvPr/>
        </p:nvSpPr>
        <p:spPr>
          <a:xfrm>
            <a:off x="8339327" y="4392676"/>
            <a:ext cx="3090672" cy="674624"/>
          </a:xfrm>
          <a:prstGeom prst="rect">
            <a:avLst/>
          </a:prstGeom>
          <a:noFill/>
        </p:spPr>
        <p:txBody>
          <a:bodyPr wrap="square">
            <a:spAutoFit/>
          </a:bodyPr>
          <a:lstStyle/>
          <a:p>
            <a:r>
              <a:rPr sz="1600" b="0" i="0">
                <a:solidFill>
                  <a:srgbClr val="1A1A1A"/>
                </a:solidFill>
                <a:latin typeface="Arial"/>
              </a:rPr>
              <a:t>Depends on G-01, G-06 and G-11</a:t>
            </a:r>
          </a:p>
        </p:txBody>
      </p:sp>
      <p:sp>
        <p:nvSpPr>
          <p:cNvPr id="23" name="TextBox 2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Patterns across domains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One missing record holds back three domains (G-05, with G-09, G-11 and G-12).</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ministry of education is outside infrastructure that already runs (G-08, G-12).</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law and the budget come before the build (G-01, G-03, G-04).</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Gather every gap into one register and rank each by impact, urgency, feasibility and what depends on it, so the list you take to your minister is short and ordered.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Gather the gaps of five domain reports into one ranked register.</a:t>
            </a:r>
          </a:p>
          <a:p>
            <a:pPr algn="l">
              <a:spcAft>
                <a:spcPts val="400"/>
              </a:spcAft>
            </a:pPr>
            <a:r>
              <a:rPr sz="1800" b="0" i="0">
                <a:solidFill>
                  <a:srgbClr val="595959"/>
                </a:solidFill>
                <a:latin typeface="Arial"/>
              </a:rPr>
              <a:t>The prompt in the companion material gives you a gap register with one row for each gap, its findings, its proposed ratings with reasons, its band and its dependencies.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 5.4, step 5, and section 3.3.3</a:t>
            </a:r>
          </a:p>
          <a:p>
            <a:pPr>
              <a:spcAft>
                <a:spcPts val="1000"/>
              </a:spcAft>
            </a:pPr>
            <a:r>
              <a:rPr sz="1800" b="0" i="0">
                <a:solidFill>
                  <a:srgbClr val="1A1A1A"/>
                </a:solidFill>
                <a:latin typeface="Arial"/>
              </a:rPr>
              <a:t>•  UNDP, The DPI Approach: A Playbook, 2023, page 23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From findings to priorities: the gap register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to fund first: cost against reuse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shared block is paid for once and used by many, so judge each investment by its cost against the number of services that will use it, a sum only the whole government can do.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ministry asks for money for its own system, and each request looks reasonable on its own.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question a finance ministry rarely hears is how many services each system will serve.</a:t>
            </a:r>
          </a:p>
          <a:p>
            <a:pPr>
              <a:spcAft>
                <a:spcPts val="800"/>
              </a:spcAft>
            </a:pPr>
            <a:r>
              <a:rPr sz="1700" b="0" i="0">
                <a:solidFill>
                  <a:srgbClr val="595959"/>
                </a:solidFill>
                <a:latin typeface="Arial"/>
              </a:rPr>
              <a:t>That answer changes what should be funded first.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pays first?</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Why invest in digital identity before any service uses it?</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How can a ministry build services for people without it?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Target the foundations, and make some quick wins.</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Plan for the whole government, and fund what many agencies reuse.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Cost against reuse</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Each candidate block</a:t>
            </a:r>
          </a:p>
          <a:p>
            <a:pPr>
              <a:spcAft>
                <a:spcPts val="300"/>
              </a:spcAft>
            </a:pPr>
            <a:r>
              <a:rPr sz="1700" b="0" i="0">
                <a:solidFill>
                  <a:srgbClr val="595959"/>
                </a:solidFill>
                <a:latin typeface="Arial"/>
              </a:rPr>
              <a:t>A low and a high cost.</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Beside it</a:t>
            </a:r>
          </a:p>
          <a:p>
            <a:pPr>
              <a:spcAft>
                <a:spcPts val="300"/>
              </a:spcAft>
            </a:pPr>
            <a:r>
              <a:rPr sz="1700" b="0" i="0">
                <a:solidFill>
                  <a:srgbClr val="595959"/>
                </a:solidFill>
                <a:latin typeface="Arial"/>
              </a:rPr>
              <a:t>The services that will use it, and the blocks that depend on it.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Fund first what others depend on and many services use.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 dedicated budget for platforms used across government.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table (illustrative)</a:t>
            </a:r>
          </a:p>
        </p:txBody>
      </p:sp>
      <p:sp>
        <p:nvSpPr>
          <p:cNvPr id="4" name="TextBox 3"/>
          <p:cNvSpPr txBox="1"/>
          <p:nvPr/>
        </p:nvSpPr>
        <p:spPr>
          <a:xfrm>
            <a:off x="658368" y="1996948"/>
            <a:ext cx="3182112" cy="457200"/>
          </a:xfrm>
          <a:prstGeom prst="rect">
            <a:avLst/>
          </a:prstGeom>
          <a:noFill/>
        </p:spPr>
        <p:txBody>
          <a:bodyPr wrap="square">
            <a:spAutoFit/>
          </a:bodyPr>
          <a:lstStyle/>
          <a:p>
            <a:r>
              <a:rPr sz="1600" b="1" i="0">
                <a:solidFill>
                  <a:srgbClr val="006E96"/>
                </a:solidFill>
                <a:latin typeface="Arial"/>
              </a:rPr>
              <a:t>Component</a:t>
            </a:r>
          </a:p>
        </p:txBody>
      </p:sp>
      <p:sp>
        <p:nvSpPr>
          <p:cNvPr id="5" name="TextBox 4"/>
          <p:cNvSpPr txBox="1"/>
          <p:nvPr/>
        </p:nvSpPr>
        <p:spPr>
          <a:xfrm>
            <a:off x="3950208" y="1996948"/>
            <a:ext cx="1901952" cy="457200"/>
          </a:xfrm>
          <a:prstGeom prst="rect">
            <a:avLst/>
          </a:prstGeom>
          <a:noFill/>
        </p:spPr>
        <p:txBody>
          <a:bodyPr wrap="square">
            <a:spAutoFit/>
          </a:bodyPr>
          <a:lstStyle/>
          <a:p>
            <a:r>
              <a:rPr sz="1600" b="1" i="0">
                <a:solidFill>
                  <a:srgbClr val="006E96"/>
                </a:solidFill>
                <a:latin typeface="Arial"/>
              </a:rPr>
              <a:t>Cost (USD)</a:t>
            </a:r>
          </a:p>
        </p:txBody>
      </p:sp>
      <p:sp>
        <p:nvSpPr>
          <p:cNvPr id="6" name="TextBox 5"/>
          <p:cNvSpPr txBox="1"/>
          <p:nvPr/>
        </p:nvSpPr>
        <p:spPr>
          <a:xfrm>
            <a:off x="5961888" y="1996948"/>
            <a:ext cx="4370832" cy="457200"/>
          </a:xfrm>
          <a:prstGeom prst="rect">
            <a:avLst/>
          </a:prstGeom>
          <a:noFill/>
        </p:spPr>
        <p:txBody>
          <a:bodyPr wrap="square">
            <a:spAutoFit/>
          </a:bodyPr>
          <a:lstStyle/>
          <a:p>
            <a:r>
              <a:rPr sz="1600" b="1" i="0">
                <a:solidFill>
                  <a:srgbClr val="006E96"/>
                </a:solidFill>
                <a:latin typeface="Arial"/>
              </a:rPr>
              <a:t>Reuse</a:t>
            </a:r>
          </a:p>
        </p:txBody>
      </p:sp>
      <p:sp>
        <p:nvSpPr>
          <p:cNvPr id="7" name="TextBox 6"/>
          <p:cNvSpPr txBox="1"/>
          <p:nvPr/>
        </p:nvSpPr>
        <p:spPr>
          <a:xfrm>
            <a:off x="10442448" y="1996948"/>
            <a:ext cx="987552" cy="457200"/>
          </a:xfrm>
          <a:prstGeom prst="rect">
            <a:avLst/>
          </a:prstGeom>
          <a:noFill/>
        </p:spPr>
        <p:txBody>
          <a:bodyPr wrap="square">
            <a:spAutoFit/>
          </a:bodyPr>
          <a:lstStyle/>
          <a:p>
            <a:r>
              <a:rPr sz="1600" b="1" i="0">
                <a:solidFill>
                  <a:srgbClr val="006E96"/>
                </a:solidFill>
                <a:latin typeface="Arial"/>
              </a:rPr>
              <a:t>Wave</a:t>
            </a:r>
          </a:p>
        </p:txBody>
      </p:sp>
      <p:sp>
        <p:nvSpPr>
          <p:cNvPr id="8" name="Rectangle 7"/>
          <p:cNvSpPr/>
          <p:nvPr/>
        </p:nvSpPr>
        <p:spPr>
          <a:xfrm>
            <a:off x="658368" y="245414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545588"/>
            <a:ext cx="3182112" cy="410464"/>
          </a:xfrm>
          <a:prstGeom prst="rect">
            <a:avLst/>
          </a:prstGeom>
          <a:noFill/>
        </p:spPr>
        <p:txBody>
          <a:bodyPr wrap="square">
            <a:spAutoFit/>
          </a:bodyPr>
          <a:lstStyle/>
          <a:p>
            <a:r>
              <a:rPr sz="1600" b="1" i="0">
                <a:solidFill>
                  <a:srgbClr val="1A1A1A"/>
                </a:solidFill>
                <a:latin typeface="Arial"/>
              </a:rPr>
              <a:t>MoEYS on the exchange (C-04)</a:t>
            </a:r>
          </a:p>
        </p:txBody>
      </p:sp>
      <p:sp>
        <p:nvSpPr>
          <p:cNvPr id="10" name="TextBox 9"/>
          <p:cNvSpPr txBox="1"/>
          <p:nvPr/>
        </p:nvSpPr>
        <p:spPr>
          <a:xfrm>
            <a:off x="3950208" y="2545588"/>
            <a:ext cx="1901952" cy="410464"/>
          </a:xfrm>
          <a:prstGeom prst="rect">
            <a:avLst/>
          </a:prstGeom>
          <a:noFill/>
        </p:spPr>
        <p:txBody>
          <a:bodyPr wrap="square">
            <a:spAutoFit/>
          </a:bodyPr>
          <a:lstStyle/>
          <a:p>
            <a:r>
              <a:rPr sz="1600" b="0" i="0">
                <a:solidFill>
                  <a:srgbClr val="1A1A1A"/>
                </a:solidFill>
                <a:latin typeface="Arial"/>
              </a:rPr>
              <a:t>80 to 120 thousand</a:t>
            </a:r>
          </a:p>
        </p:txBody>
      </p:sp>
      <p:sp>
        <p:nvSpPr>
          <p:cNvPr id="11" name="TextBox 10"/>
          <p:cNvSpPr txBox="1"/>
          <p:nvPr/>
        </p:nvSpPr>
        <p:spPr>
          <a:xfrm>
            <a:off x="5961888" y="2545588"/>
            <a:ext cx="4370832" cy="410464"/>
          </a:xfrm>
          <a:prstGeom prst="rect">
            <a:avLst/>
          </a:prstGeom>
          <a:noFill/>
        </p:spPr>
        <p:txBody>
          <a:bodyPr wrap="square">
            <a:spAutoFit/>
          </a:bodyPr>
          <a:lstStyle/>
          <a:p>
            <a:r>
              <a:rPr sz="1600" b="0" i="0">
                <a:solidFill>
                  <a:srgbClr val="1A1A1A"/>
                </a:solidFill>
                <a:latin typeface="Arial"/>
              </a:rPr>
              <a:t>Four components depend on it</a:t>
            </a:r>
          </a:p>
        </p:txBody>
      </p:sp>
      <p:sp>
        <p:nvSpPr>
          <p:cNvPr id="12" name="TextBox 11"/>
          <p:cNvSpPr txBox="1"/>
          <p:nvPr/>
        </p:nvSpPr>
        <p:spPr>
          <a:xfrm>
            <a:off x="10442448" y="2545588"/>
            <a:ext cx="987552" cy="410464"/>
          </a:xfrm>
          <a:prstGeom prst="rect">
            <a:avLst/>
          </a:prstGeom>
          <a:noFill/>
        </p:spPr>
        <p:txBody>
          <a:bodyPr wrap="square">
            <a:spAutoFit/>
          </a:bodyPr>
          <a:lstStyle/>
          <a:p>
            <a:r>
              <a:rPr sz="1600" b="0" i="0">
                <a:solidFill>
                  <a:srgbClr val="1A1A1A"/>
                </a:solidFill>
                <a:latin typeface="Arial"/>
              </a:rPr>
              <a:t>1</a:t>
            </a:r>
          </a:p>
        </p:txBody>
      </p:sp>
      <p:sp>
        <p:nvSpPr>
          <p:cNvPr id="13" name="Rectangle 12"/>
          <p:cNvSpPr/>
          <p:nvPr/>
        </p:nvSpPr>
        <p:spPr>
          <a:xfrm>
            <a:off x="658368" y="29743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029204"/>
            <a:ext cx="3182112" cy="674624"/>
          </a:xfrm>
          <a:prstGeom prst="rect">
            <a:avLst/>
          </a:prstGeom>
          <a:noFill/>
        </p:spPr>
        <p:txBody>
          <a:bodyPr wrap="square">
            <a:spAutoFit/>
          </a:bodyPr>
          <a:lstStyle/>
          <a:p>
            <a:r>
              <a:rPr sz="1600" b="1" i="0">
                <a:solidFill>
                  <a:srgbClr val="1A1A1A"/>
                </a:solidFill>
                <a:latin typeface="Arial"/>
              </a:rPr>
              <a:t>The learner register PLR (C-06)</a:t>
            </a:r>
          </a:p>
        </p:txBody>
      </p:sp>
      <p:sp>
        <p:nvSpPr>
          <p:cNvPr id="15" name="TextBox 14"/>
          <p:cNvSpPr txBox="1"/>
          <p:nvPr/>
        </p:nvSpPr>
        <p:spPr>
          <a:xfrm>
            <a:off x="3950208" y="3029204"/>
            <a:ext cx="1901952" cy="674624"/>
          </a:xfrm>
          <a:prstGeom prst="rect">
            <a:avLst/>
          </a:prstGeom>
          <a:noFill/>
        </p:spPr>
        <p:txBody>
          <a:bodyPr wrap="square">
            <a:spAutoFit/>
          </a:bodyPr>
          <a:lstStyle/>
          <a:p>
            <a:r>
              <a:rPr sz="1600" b="0" i="0">
                <a:solidFill>
                  <a:srgbClr val="1A1A1A"/>
                </a:solidFill>
                <a:latin typeface="Arial"/>
              </a:rPr>
              <a:t>600 to 900 thousand</a:t>
            </a:r>
          </a:p>
        </p:txBody>
      </p:sp>
      <p:sp>
        <p:nvSpPr>
          <p:cNvPr id="16" name="TextBox 15"/>
          <p:cNvSpPr txBox="1"/>
          <p:nvPr/>
        </p:nvSpPr>
        <p:spPr>
          <a:xfrm>
            <a:off x="5961888" y="3029204"/>
            <a:ext cx="4370832" cy="674624"/>
          </a:xfrm>
          <a:prstGeom prst="rect">
            <a:avLst/>
          </a:prstGeom>
          <a:noFill/>
        </p:spPr>
        <p:txBody>
          <a:bodyPr wrap="square">
            <a:spAutoFit/>
          </a:bodyPr>
          <a:lstStyle/>
          <a:p>
            <a:r>
              <a:rPr sz="1600" b="0" i="0">
                <a:solidFill>
                  <a:srgbClr val="1A1A1A"/>
                </a:solidFill>
                <a:latin typeface="Arial"/>
              </a:rPr>
              <a:t>Registration, statistics, scholarships, examinations</a:t>
            </a:r>
          </a:p>
        </p:txBody>
      </p:sp>
      <p:sp>
        <p:nvSpPr>
          <p:cNvPr id="17" name="TextBox 16"/>
          <p:cNvSpPr txBox="1"/>
          <p:nvPr/>
        </p:nvSpPr>
        <p:spPr>
          <a:xfrm>
            <a:off x="10442448" y="3029204"/>
            <a:ext cx="987552" cy="674624"/>
          </a:xfrm>
          <a:prstGeom prst="rect">
            <a:avLst/>
          </a:prstGeom>
          <a:noFill/>
        </p:spPr>
        <p:txBody>
          <a:bodyPr wrap="square">
            <a:spAutoFit/>
          </a:bodyPr>
          <a:lstStyle/>
          <a:p>
            <a:r>
              <a:rPr sz="1600" b="0" i="0">
                <a:solidFill>
                  <a:srgbClr val="1A1A1A"/>
                </a:solidFill>
                <a:latin typeface="Arial"/>
              </a:rPr>
              <a:t>2</a:t>
            </a:r>
          </a:p>
        </p:txBody>
      </p:sp>
      <p:sp>
        <p:nvSpPr>
          <p:cNvPr id="18" name="Rectangle 17"/>
          <p:cNvSpPr/>
          <p:nvPr/>
        </p:nvSpPr>
        <p:spPr>
          <a:xfrm>
            <a:off x="658368" y="37221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776980"/>
            <a:ext cx="3182112" cy="674624"/>
          </a:xfrm>
          <a:prstGeom prst="rect">
            <a:avLst/>
          </a:prstGeom>
          <a:noFill/>
        </p:spPr>
        <p:txBody>
          <a:bodyPr wrap="square">
            <a:spAutoFit/>
          </a:bodyPr>
          <a:lstStyle/>
          <a:p>
            <a:r>
              <a:rPr sz="1600" b="1" i="0">
                <a:solidFill>
                  <a:srgbClr val="1A1A1A"/>
                </a:solidFill>
                <a:latin typeface="Arial"/>
              </a:rPr>
              <a:t>The connection to PNIA's sign-in (C-07)</a:t>
            </a:r>
          </a:p>
        </p:txBody>
      </p:sp>
      <p:sp>
        <p:nvSpPr>
          <p:cNvPr id="20" name="TextBox 19"/>
          <p:cNvSpPr txBox="1"/>
          <p:nvPr/>
        </p:nvSpPr>
        <p:spPr>
          <a:xfrm>
            <a:off x="3950208" y="3776980"/>
            <a:ext cx="1901952" cy="674624"/>
          </a:xfrm>
          <a:prstGeom prst="rect">
            <a:avLst/>
          </a:prstGeom>
          <a:noFill/>
        </p:spPr>
        <p:txBody>
          <a:bodyPr wrap="square">
            <a:spAutoFit/>
          </a:bodyPr>
          <a:lstStyle/>
          <a:p>
            <a:r>
              <a:rPr sz="1600" b="0" i="0">
                <a:solidFill>
                  <a:srgbClr val="1A1A1A"/>
                </a:solidFill>
                <a:latin typeface="Arial"/>
              </a:rPr>
              <a:t>150 to 220 thousand</a:t>
            </a:r>
          </a:p>
        </p:txBody>
      </p:sp>
      <p:sp>
        <p:nvSpPr>
          <p:cNvPr id="21" name="TextBox 20"/>
          <p:cNvSpPr txBox="1"/>
          <p:nvPr/>
        </p:nvSpPr>
        <p:spPr>
          <a:xfrm>
            <a:off x="5961888" y="3776980"/>
            <a:ext cx="4370832" cy="674624"/>
          </a:xfrm>
          <a:prstGeom prst="rect">
            <a:avLst/>
          </a:prstGeom>
          <a:noFill/>
        </p:spPr>
        <p:txBody>
          <a:bodyPr wrap="square">
            <a:spAutoFit/>
          </a:bodyPr>
          <a:lstStyle/>
          <a:p>
            <a:r>
              <a:rPr sz="1600" b="0" i="0">
                <a:solidFill>
                  <a:srgbClr val="1A1A1A"/>
                </a:solidFill>
                <a:latin typeface="Arial"/>
              </a:rPr>
              <a:t>Registration and each later education service</a:t>
            </a:r>
          </a:p>
        </p:txBody>
      </p:sp>
      <p:sp>
        <p:nvSpPr>
          <p:cNvPr id="22" name="TextBox 21"/>
          <p:cNvSpPr txBox="1"/>
          <p:nvPr/>
        </p:nvSpPr>
        <p:spPr>
          <a:xfrm>
            <a:off x="10442448" y="3776980"/>
            <a:ext cx="987552" cy="674624"/>
          </a:xfrm>
          <a:prstGeom prst="rect">
            <a:avLst/>
          </a:prstGeom>
          <a:noFill/>
        </p:spPr>
        <p:txBody>
          <a:bodyPr wrap="square">
            <a:spAutoFit/>
          </a:bodyPr>
          <a:lstStyle/>
          <a:p>
            <a:r>
              <a:rPr sz="1600" b="0" i="0">
                <a:solidFill>
                  <a:srgbClr val="1A1A1A"/>
                </a:solidFill>
                <a:latin typeface="Arial"/>
              </a:rPr>
              <a:t>2</a:t>
            </a:r>
          </a:p>
        </p:txBody>
      </p:sp>
      <p:sp>
        <p:nvSpPr>
          <p:cNvPr id="23" name="Rectangle 22"/>
          <p:cNvSpPr/>
          <p:nvPr/>
        </p:nvSpPr>
        <p:spPr>
          <a:xfrm>
            <a:off x="658368" y="4469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524756"/>
            <a:ext cx="3182112" cy="674624"/>
          </a:xfrm>
          <a:prstGeom prst="rect">
            <a:avLst/>
          </a:prstGeom>
          <a:noFill/>
        </p:spPr>
        <p:txBody>
          <a:bodyPr wrap="square">
            <a:spAutoFit/>
          </a:bodyPr>
          <a:lstStyle/>
          <a:p>
            <a:r>
              <a:rPr sz="1600" b="1" i="0">
                <a:solidFill>
                  <a:srgbClr val="1A1A1A"/>
                </a:solidFill>
                <a:latin typeface="Arial"/>
              </a:rPr>
              <a:t>The Payments block on the exchange (C-11)</a:t>
            </a:r>
          </a:p>
        </p:txBody>
      </p:sp>
      <p:sp>
        <p:nvSpPr>
          <p:cNvPr id="25" name="TextBox 24"/>
          <p:cNvSpPr txBox="1"/>
          <p:nvPr/>
        </p:nvSpPr>
        <p:spPr>
          <a:xfrm>
            <a:off x="3950208" y="4524756"/>
            <a:ext cx="1901952" cy="674624"/>
          </a:xfrm>
          <a:prstGeom prst="rect">
            <a:avLst/>
          </a:prstGeom>
          <a:noFill/>
        </p:spPr>
        <p:txBody>
          <a:bodyPr wrap="square">
            <a:spAutoFit/>
          </a:bodyPr>
          <a:lstStyle/>
          <a:p>
            <a:r>
              <a:rPr sz="1600" b="0" i="0">
                <a:solidFill>
                  <a:srgbClr val="1A1A1A"/>
                </a:solidFill>
                <a:latin typeface="Arial"/>
              </a:rPr>
              <a:t>120 to 180 thousand</a:t>
            </a:r>
          </a:p>
        </p:txBody>
      </p:sp>
      <p:sp>
        <p:nvSpPr>
          <p:cNvPr id="26" name="TextBox 25"/>
          <p:cNvSpPr txBox="1"/>
          <p:nvPr/>
        </p:nvSpPr>
        <p:spPr>
          <a:xfrm>
            <a:off x="5961888" y="4524756"/>
            <a:ext cx="4370832" cy="674624"/>
          </a:xfrm>
          <a:prstGeom prst="rect">
            <a:avLst/>
          </a:prstGeom>
          <a:noFill/>
        </p:spPr>
        <p:txBody>
          <a:bodyPr wrap="square">
            <a:spAutoFit/>
          </a:bodyPr>
          <a:lstStyle/>
          <a:p>
            <a:r>
              <a:rPr sz="1600" b="0" i="0">
                <a:solidFill>
                  <a:srgbClr val="1A1A1A"/>
                </a:solidFill>
                <a:latin typeface="Arial"/>
              </a:rPr>
              <a:t>The scholarship pilot</a:t>
            </a:r>
          </a:p>
        </p:txBody>
      </p:sp>
      <p:sp>
        <p:nvSpPr>
          <p:cNvPr id="27" name="TextBox 26"/>
          <p:cNvSpPr txBox="1"/>
          <p:nvPr/>
        </p:nvSpPr>
        <p:spPr>
          <a:xfrm>
            <a:off x="10442448" y="4524756"/>
            <a:ext cx="987552" cy="674624"/>
          </a:xfrm>
          <a:prstGeom prst="rect">
            <a:avLst/>
          </a:prstGeom>
          <a:noFill/>
        </p:spPr>
        <p:txBody>
          <a:bodyPr wrap="square">
            <a:spAutoFit/>
          </a:bodyPr>
          <a:lstStyle/>
          <a:p>
            <a:r>
              <a:rPr sz="1600" b="0" i="0">
                <a:solidFill>
                  <a:srgbClr val="1A1A1A"/>
                </a:solidFill>
                <a:latin typeface="Arial"/>
              </a:rPr>
              <a:t>4</a:t>
            </a:r>
          </a:p>
        </p:txBody>
      </p:sp>
      <p:sp>
        <p:nvSpPr>
          <p:cNvPr id="28" name="TextBox 2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priced (illustrative)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Connecting to the identity authority's sign-in: USD 150 to 220 thousand.</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Building identity for 11.5 million people of school age, at USD 4 to 11 a person registered: USD 46 to 126.5 million.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An order of magnitude only. The rate is from a study the World Bank cites (2018, page 1).</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 shared block is paid for once and used by many, so judge each investment by its cost against the number of services that will use it, a sum only the whole government can do.</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table of cost against reuse, and test its assumptions.</a:t>
            </a:r>
          </a:p>
          <a:p>
            <a:pPr algn="l">
              <a:spcAft>
                <a:spcPts val="400"/>
              </a:spcAft>
            </a:pPr>
            <a:r>
              <a:rPr sz="1800" b="0" i="0">
                <a:solidFill>
                  <a:srgbClr val="595959"/>
                </a:solidFill>
                <a:latin typeface="Arial"/>
              </a:rPr>
              <a:t>The prompt in the companion material gives you a table of cost against reuse with one row for each candidate block and a proposed order of funding.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sections 3.3.3 and 4.5 ('Budget')</a:t>
            </a:r>
          </a:p>
          <a:p>
            <a:pPr>
              <a:spcAft>
                <a:spcPts val="1000"/>
              </a:spcAft>
            </a:pPr>
            <a:r>
              <a:rPr sz="1800" b="0" i="0">
                <a:solidFill>
                  <a:srgbClr val="1A1A1A"/>
                </a:solidFill>
                <a:latin typeface="Arial"/>
              </a:rPr>
              <a:t>•  World Bank, ID4D Practitioner's Guide, version 1.0, 2019, page 48</a:t>
            </a:r>
          </a:p>
          <a:p>
            <a:pPr>
              <a:spcAft>
                <a:spcPts val="1000"/>
              </a:spcAft>
            </a:pPr>
            <a:r>
              <a:rPr sz="1800" b="0" i="0">
                <a:solidFill>
                  <a:srgbClr val="1A1A1A"/>
                </a:solidFill>
                <a:latin typeface="Arial"/>
              </a:rPr>
              <a:t>•  World Bank, Understanding Cost Drivers of Identification Systems, 2018, page 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roadmap over time: horizons, waves and tracks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roadmap sets the years ahead in horizons and the first horizon in waves, each wave with a governance track, a track for each domain and one visible service that shows the result.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ranked list is not yet a plan.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plan says what happens in which year, who does it, and what people will see at each step.</a:t>
            </a:r>
          </a:p>
          <a:p>
            <a:pPr>
              <a:spcAft>
                <a:spcPts val="800"/>
              </a:spcAft>
            </a:pPr>
            <a:r>
              <a:rPr sz="1700" b="0" i="0">
                <a:solidFill>
                  <a:srgbClr val="595959"/>
                </a:solidFill>
                <a:latin typeface="Arial"/>
              </a:rPr>
              <a:t>That is what the roadmap over time adds to the priorities.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Horizons, then waves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H1 Foundation</a:t>
            </a:r>
          </a:p>
          <a:p>
            <a:pPr>
              <a:spcAft>
                <a:spcPts val="300"/>
              </a:spcAft>
            </a:pPr>
            <a:r>
              <a:rPr sz="1700" b="0" i="0">
                <a:solidFill>
                  <a:srgbClr val="595959"/>
                </a:solidFill>
                <a:latin typeface="Arial"/>
              </a:rPr>
              <a:t>2027 to 2028.</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H2 Scale</a:t>
            </a:r>
          </a:p>
          <a:p>
            <a:pPr>
              <a:spcAft>
                <a:spcPts val="300"/>
              </a:spcAft>
            </a:pPr>
            <a:r>
              <a:rPr sz="1700" b="0" i="0">
                <a:solidFill>
                  <a:srgbClr val="595959"/>
                </a:solidFill>
                <a:latin typeface="Arial"/>
              </a:rPr>
              <a:t>2029 to 2030.</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H3 Extend</a:t>
            </a:r>
          </a:p>
          <a:p>
            <a:pPr>
              <a:spcAft>
                <a:spcPts val="300"/>
              </a:spcAft>
            </a:pPr>
            <a:r>
              <a:rPr sz="1700" b="0" i="0">
                <a:solidFill>
                  <a:srgbClr val="595959"/>
                </a:solidFill>
                <a:latin typeface="Arial"/>
              </a:rPr>
              <a:t>2031 to 2033.</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 first horizon in detail</a:t>
            </a:r>
          </a:p>
          <a:p>
            <a:pPr>
              <a:spcAft>
                <a:spcPts val="300"/>
              </a:spcAft>
            </a:pPr>
            <a:r>
              <a:rPr sz="1700" b="0" i="0">
                <a:solidFill>
                  <a:srgbClr val="595959"/>
                </a:solidFill>
                <a:latin typeface="Arial"/>
              </a:rPr>
              <a:t>Four waves of six months.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Inside each wave</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 governance track opens every wave.</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A track for each domain with work in the wave.</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 beacon</a:t>
            </a:r>
          </a:p>
          <a:p>
            <a:pPr>
              <a:spcAft>
                <a:spcPts val="300"/>
              </a:spcAft>
            </a:pPr>
            <a:r>
              <a:rPr sz="1700" b="0" i="0">
                <a:solidFill>
                  <a:srgbClr val="595959"/>
                </a:solidFill>
                <a:latin typeface="Arial"/>
              </a:rPr>
              <a:t>One service people can see.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 wave summary</a:t>
            </a:r>
          </a:p>
          <a:p>
            <a:pPr>
              <a:spcAft>
                <a:spcPts val="300"/>
              </a:spcAft>
            </a:pPr>
            <a:r>
              <a:rPr sz="1700" b="0" i="0">
                <a:solidFill>
                  <a:srgbClr val="595959"/>
                </a:solidFill>
                <a:latin typeface="Arial"/>
              </a:rPr>
              <a:t>What must be true before the following wave.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first horizon (illustrative)</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Wave 1</a:t>
            </a:r>
          </a:p>
          <a:p>
            <a:pPr>
              <a:spcAft>
                <a:spcPts val="300"/>
              </a:spcAft>
            </a:pPr>
            <a:r>
              <a:rPr sz="1700" b="0" i="0">
                <a:solidFill>
                  <a:srgbClr val="595959"/>
                </a:solidFill>
                <a:latin typeface="Arial"/>
              </a:rPr>
              <a:t>Decide, and join what already runs.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Wave 2</a:t>
            </a:r>
          </a:p>
          <a:p>
            <a:pPr>
              <a:spcAft>
                <a:spcPts val="300"/>
              </a:spcAft>
            </a:pPr>
            <a:r>
              <a:rPr sz="1700" b="0" i="0">
                <a:solidFill>
                  <a:srgbClr val="595959"/>
                </a:solidFill>
                <a:latin typeface="Arial"/>
              </a:rPr>
              <a:t>Build the register.</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Wave 3</a:t>
            </a:r>
          </a:p>
          <a:p>
            <a:pPr>
              <a:spcAft>
                <a:spcPts val="300"/>
              </a:spcAft>
            </a:pPr>
            <a:r>
              <a:rPr sz="1700" b="0" i="0">
                <a:solidFill>
                  <a:srgbClr val="595959"/>
                </a:solidFill>
                <a:latin typeface="Arial"/>
              </a:rPr>
              <a:t>Beacon B1: register once.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Wave 4</a:t>
            </a:r>
          </a:p>
          <a:p>
            <a:pPr>
              <a:spcAft>
                <a:spcPts val="300"/>
              </a:spcAft>
            </a:pPr>
            <a:r>
              <a:rPr sz="1700" b="0" i="0">
                <a:solidFill>
                  <a:srgbClr val="595959"/>
                </a:solidFill>
                <a:latin typeface="Arial"/>
              </a:rPr>
              <a:t>Beacon B2: scholarships paid to the right learner.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critical path</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C-02 → C-06 → C-07 → C-08 → C-14.</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law is drafted in wave 1 and must be in force before the national rollout.</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Nothing is scheduled before what it depends 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 roadmap sets the years ahead in horizons and the first horizon in waves, each wave with a governance track, a track for each domain and one visible service that shows the result.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waves of the first horizon, and check their order.</a:t>
            </a:r>
          </a:p>
          <a:p>
            <a:pPr algn="l">
              <a:spcAft>
                <a:spcPts val="400"/>
              </a:spcAft>
            </a:pPr>
            <a:r>
              <a:rPr sz="1800" b="0" i="0">
                <a:solidFill>
                  <a:srgbClr val="595959"/>
                </a:solidFill>
                <a:latin typeface="Arial"/>
              </a:rPr>
              <a:t>The prompt in the companion material gives you a draft of the waves of the first horizon, each with its governance track, domain tracks, beacon and summary.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sections 5.7.1 to 5.7.5 and section 2.3</a:t>
            </a:r>
          </a:p>
          <a:p>
            <a:pPr>
              <a:spcAft>
                <a:spcPts val="1000"/>
              </a:spcAft>
            </a:pPr>
            <a:r>
              <a:rPr sz="1800" b="0" i="0">
                <a:solidFill>
                  <a:srgbClr val="1A1A1A"/>
                </a:solidFill>
                <a:latin typeface="Arial"/>
              </a:rPr>
              <a:t>•  UNDP, The DPI Approach: A Playbook, 2023, page 23</a:t>
            </a:r>
          </a:p>
          <a:p>
            <a:pPr>
              <a:spcAft>
                <a:spcPts val="1000"/>
              </a:spcAft>
            </a:pPr>
            <a:r>
              <a:rPr sz="1800" b="0" i="0">
                <a:solidFill>
                  <a:srgbClr val="1A1A1A"/>
                </a:solidFill>
                <a:latin typeface="Arial"/>
              </a:rPr>
              <a:t>•  Universal DPI Safeguards Framework, United Nations, 2024, page 6</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The roadmap over time: horizons, waves and tracks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investment case your finance ministry can read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Set out the roadmap's cost the way a finance ministry reads it: by wave and component with a low and a high estimate, by domain, by source of funds, and with the returns expected.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finance ministry does not fund a vision.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funds lines it can read, check and place in a budget year.</a:t>
            </a:r>
          </a:p>
          <a:p>
            <a:pPr>
              <a:spcAft>
                <a:spcPts val="800"/>
              </a:spcAft>
            </a:pPr>
            <a:r>
              <a:rPr sz="1700" b="0" i="0">
                <a:solidFill>
                  <a:srgbClr val="595959"/>
                </a:solidFill>
                <a:latin typeface="Arial"/>
              </a:rPr>
              <a:t>The investment case turns the roadmap into those lines.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Sheet 1: by wave and component</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component costed, with a low and a high estimate.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Procurement can change the cost of an identity system by 25% to over 100% (World Bank, 2018).</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Progressa (illustrative)</a:t>
            </a:r>
          </a:p>
          <a:p>
            <a:pPr>
              <a:spcAft>
                <a:spcPts val="300"/>
              </a:spcAft>
            </a:pPr>
            <a:r>
              <a:rPr sz="1800" b="0" i="0">
                <a:solidFill>
                  <a:srgbClr val="595959"/>
                </a:solidFill>
                <a:latin typeface="Arial"/>
              </a:rPr>
              <a:t>USD 7.6 to 11.7 million over seven years; USD 2.5 to 3.8 million in the first horizon.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Sheets 2 and 3: by domain, and by who pays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By domain</a:t>
            </a:r>
          </a:p>
          <a:p>
            <a:pPr>
              <a:spcAft>
                <a:spcPts val="300"/>
              </a:spcAft>
            </a:pPr>
            <a:r>
              <a:rPr sz="1700" b="0" i="0">
                <a:solidFill>
                  <a:srgbClr val="595959"/>
                </a:solidFill>
                <a:latin typeface="Arial"/>
              </a:rPr>
              <a:t>Digital data the largest share, identity the smallest (illustrative).</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Three groups of funders</a:t>
            </a:r>
          </a:p>
          <a:p>
            <a:pPr>
              <a:spcAft>
                <a:spcPts val="300"/>
              </a:spcAft>
            </a:pPr>
            <a:r>
              <a:rPr sz="1700" b="0" i="0">
                <a:solidFill>
                  <a:srgbClr val="595959"/>
                </a:solidFill>
                <a:latin typeface="Arial"/>
              </a:rPr>
              <a:t>The government's budget, development partners, the private sector.</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Diversified, phased and sustainable financing (UN, 2024).</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Four instruments</a:t>
            </a:r>
          </a:p>
          <a:p>
            <a:pPr>
              <a:spcAft>
                <a:spcPts val="300"/>
              </a:spcAft>
            </a:pPr>
            <a:r>
              <a:rPr sz="1700" b="0" i="0">
                <a:solidFill>
                  <a:srgbClr val="595959"/>
                </a:solidFill>
                <a:latin typeface="Arial"/>
              </a:rPr>
              <a:t>Public budgets, grants, private capital, debt (UNDP, 2023).</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budget cycle</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 solid business case before any budget application.</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An application can take 2 to 3 years before funds are received.</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Projects funded by donors need a state budget commitment.</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Progressa asks in 2027 for a recurrent line from the budget year 2029 (illustrative).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Sheet 4: the returns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Enrolment paperwork removed; scholarships paid to the right learner; spreadsheet exchanges replaced; reuse by later services.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Valued returns over ten years</a:t>
            </a:r>
          </a:p>
          <a:p>
            <a:pPr>
              <a:spcAft>
                <a:spcPts val="300"/>
              </a:spcAft>
            </a:pPr>
            <a:r>
              <a:rPr sz="1700" b="0" i="0">
                <a:solidFill>
                  <a:srgbClr val="595959"/>
                </a:solidFill>
                <a:latin typeface="Arial"/>
              </a:rPr>
              <a:t>USD 11 to 19.5 million (illustrative).</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About 0.9 to 2.6 times the cost.</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 case rests on reuse.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Set out the roadmap's cost the way a finance ministry reads it: by wave and component with a low and a high estimate, by domain, by source of funds, and with the returns expected.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Fill the four sheets of the investment case, and check that they agree.</a:t>
            </a:r>
          </a:p>
          <a:p>
            <a:pPr algn="l">
              <a:spcAft>
                <a:spcPts val="400"/>
              </a:spcAft>
            </a:pPr>
            <a:r>
              <a:rPr sz="1800" b="0" i="0">
                <a:solidFill>
                  <a:srgbClr val="595959"/>
                </a:solidFill>
                <a:latin typeface="Arial"/>
              </a:rPr>
              <a:t>The prompt in the companion material gives you the four sheets of the investment case with the check of their totals.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Universal DPI Safeguards Framework, United Nations, 2024, principle O8, page 25</a:t>
            </a:r>
          </a:p>
          <a:p>
            <a:pPr>
              <a:spcAft>
                <a:spcPts val="1000"/>
              </a:spcAft>
            </a:pPr>
            <a:r>
              <a:rPr sz="1800" b="0" i="0">
                <a:solidFill>
                  <a:srgbClr val="1A1A1A"/>
                </a:solidFill>
                <a:latin typeface="Arial"/>
              </a:rPr>
              <a:t>•  UNDP, The DPI Approach: A Playbook, 2023, page 44</a:t>
            </a:r>
          </a:p>
          <a:p>
            <a:pPr>
              <a:spcAft>
                <a:spcPts val="1000"/>
              </a:spcAft>
            </a:pPr>
            <a:r>
              <a:rPr sz="1800" b="0" i="0">
                <a:solidFill>
                  <a:srgbClr val="1A1A1A"/>
                </a:solidFill>
                <a:latin typeface="Arial"/>
              </a:rPr>
              <a:t>•  PAERA v1.0, section 4.5 ('Budget')</a:t>
            </a:r>
          </a:p>
          <a:p>
            <a:pPr>
              <a:spcAft>
                <a:spcPts val="1000"/>
              </a:spcAft>
            </a:pPr>
            <a:r>
              <a:rPr sz="1800" b="0" i="0">
                <a:solidFill>
                  <a:srgbClr val="1A1A1A"/>
                </a:solidFill>
                <a:latin typeface="Arial"/>
              </a:rPr>
              <a:t>•  World Bank, Understanding Cost Drivers of Identification Systems, 2018, pages 7 and 9</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Sourcing each block without lock-in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each block decide what your own teams build, what you outsource and what you do with a partner, and write open standards and the terms for leaving into every contract.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Lock-in is rarely one bad decision.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is written into contracts, clause by clause, that nobody read for the day the ministry wants to leave.</a:t>
            </a:r>
          </a:p>
          <a:p>
            <a:pPr>
              <a:spcAft>
                <a:spcPts val="800"/>
              </a:spcAft>
            </a:pPr>
            <a:r>
              <a:rPr sz="1700" b="0" i="0">
                <a:solidFill>
                  <a:srgbClr val="595959"/>
                </a:solidFill>
                <a:latin typeface="Arial"/>
              </a:rPr>
              <a:t>Sourcing decides who builds each block; the contract decides whether you can leave later.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options for each block</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In-house</a:t>
            </a:r>
          </a:p>
          <a:p>
            <a:pPr>
              <a:spcAft>
                <a:spcPts val="300"/>
              </a:spcAft>
            </a:pPr>
            <a:r>
              <a:rPr sz="1700" b="0" i="0">
                <a:solidFill>
                  <a:srgbClr val="595959"/>
                </a:solidFill>
                <a:latin typeface="Arial"/>
              </a:rPr>
              <a:t>What your own teams can build and keep running.</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Outsourcing</a:t>
            </a:r>
          </a:p>
          <a:p>
            <a:pPr>
              <a:spcAft>
                <a:spcPts val="300"/>
              </a:spcAft>
            </a:pPr>
            <a:r>
              <a:rPr sz="1700" b="0" i="0">
                <a:solidFill>
                  <a:srgbClr val="595959"/>
                </a:solidFill>
                <a:latin typeface="Arial"/>
              </a:rPr>
              <a:t>What they cannot, with a risk management framework.</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Partnership</a:t>
            </a:r>
          </a:p>
          <a:p>
            <a:pPr>
              <a:spcAft>
                <a:spcPts val="300"/>
              </a:spcAft>
            </a:pPr>
            <a:r>
              <a:rPr sz="1700" b="0" i="0">
                <a:solidFill>
                  <a:srgbClr val="595959"/>
                </a:solidFill>
                <a:latin typeface="Arial"/>
              </a:rPr>
              <a:t>With firms, agencies, universities or GovStack.</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Usually a combination of the three.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Learn in the sandbox; ask for the evidence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GovStack Sandbox</a:t>
            </a:r>
          </a:p>
          <a:p>
            <a:pPr>
              <a:spcAft>
                <a:spcPts val="300"/>
              </a:spcAft>
            </a:pPr>
            <a:r>
              <a:rPr sz="1800" b="0" i="0">
                <a:solidFill>
                  <a:srgbClr val="595959"/>
                </a:solidFill>
                <a:latin typeface="Arial"/>
              </a:rPr>
              <a:t>A demonstration and learning tool, not a production-ready system.</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GovStack's testing</a:t>
            </a:r>
          </a:p>
          <a:p>
            <a:pPr>
              <a:spcAft>
                <a:spcPts val="300"/>
              </a:spcAft>
            </a:pPr>
            <a:r>
              <a:rPr sz="1800" b="0" i="0">
                <a:solidFill>
                  <a:srgbClr val="595959"/>
                </a:solidFill>
                <a:latin typeface="Arial"/>
              </a:rPr>
              <a:t>A self-assessment against the requirements, tests of the interfaces, and a compliance level of 1 or 2.</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Test the product in your own installation as well.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lock-in comes from</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Procurement can change the cost of an identity system by 25% to over 100% (World Bank, 2018).</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Open standards, and an architecture no single vendor controls, guard against it.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Avoid vendor lock-in; share open specifications (UN, 2024).</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Four checks in every contract</a:t>
            </a:r>
          </a:p>
          <a:p>
            <a:pPr>
              <a:spcAft>
                <a:spcPts val="300"/>
              </a:spcAft>
            </a:pPr>
            <a:r>
              <a:rPr sz="1700" b="0" i="0">
                <a:solidFill>
                  <a:srgbClr val="595959"/>
                </a:solidFill>
                <a:latin typeface="Arial"/>
              </a:rPr>
              <a:t>Open standards named, export, help with leaving, licence terms.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sourcing table (illustrative)</a:t>
            </a:r>
          </a:p>
        </p:txBody>
      </p:sp>
      <p:sp>
        <p:nvSpPr>
          <p:cNvPr id="4" name="TextBox 3"/>
          <p:cNvSpPr txBox="1"/>
          <p:nvPr/>
        </p:nvSpPr>
        <p:spPr>
          <a:xfrm>
            <a:off x="658368" y="1996948"/>
            <a:ext cx="2633472" cy="457200"/>
          </a:xfrm>
          <a:prstGeom prst="rect">
            <a:avLst/>
          </a:prstGeom>
          <a:noFill/>
        </p:spPr>
        <p:txBody>
          <a:bodyPr wrap="square">
            <a:spAutoFit/>
          </a:bodyPr>
          <a:lstStyle/>
          <a:p>
            <a:r>
              <a:rPr sz="1600" b="1" i="0">
                <a:solidFill>
                  <a:srgbClr val="006E96"/>
                </a:solidFill>
                <a:latin typeface="Arial"/>
              </a:rPr>
              <a:t>Block</a:t>
            </a:r>
          </a:p>
        </p:txBody>
      </p:sp>
      <p:sp>
        <p:nvSpPr>
          <p:cNvPr id="5" name="TextBox 4"/>
          <p:cNvSpPr txBox="1"/>
          <p:nvPr/>
        </p:nvSpPr>
        <p:spPr>
          <a:xfrm>
            <a:off x="3401568" y="1996948"/>
            <a:ext cx="4096511" cy="457200"/>
          </a:xfrm>
          <a:prstGeom prst="rect">
            <a:avLst/>
          </a:prstGeom>
          <a:noFill/>
        </p:spPr>
        <p:txBody>
          <a:bodyPr wrap="square">
            <a:spAutoFit/>
          </a:bodyPr>
          <a:lstStyle/>
          <a:p>
            <a:r>
              <a:rPr sz="1600" b="1" i="0">
                <a:solidFill>
                  <a:srgbClr val="006E96"/>
                </a:solidFill>
                <a:latin typeface="Arial"/>
              </a:rPr>
              <a:t>Sourcing</a:t>
            </a:r>
          </a:p>
        </p:txBody>
      </p:sp>
      <p:sp>
        <p:nvSpPr>
          <p:cNvPr id="6" name="TextBox 5"/>
          <p:cNvSpPr txBox="1"/>
          <p:nvPr/>
        </p:nvSpPr>
        <p:spPr>
          <a:xfrm>
            <a:off x="7607808" y="1996948"/>
            <a:ext cx="3822191" cy="457200"/>
          </a:xfrm>
          <a:prstGeom prst="rect">
            <a:avLst/>
          </a:prstGeom>
          <a:noFill/>
        </p:spPr>
        <p:txBody>
          <a:bodyPr wrap="square">
            <a:spAutoFit/>
          </a:bodyPr>
          <a:lstStyle/>
          <a:p>
            <a:r>
              <a:rPr sz="1600" b="1" i="0">
                <a:solidFill>
                  <a:srgbClr val="006E96"/>
                </a:solidFill>
                <a:latin typeface="Arial"/>
              </a:rPr>
              <a:t>Guard against lock-in</a:t>
            </a:r>
          </a:p>
        </p:txBody>
      </p:sp>
      <p:sp>
        <p:nvSpPr>
          <p:cNvPr id="7" name="Rectangle 6"/>
          <p:cNvSpPr/>
          <p:nvPr/>
        </p:nvSpPr>
        <p:spPr>
          <a:xfrm>
            <a:off x="658368" y="245414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545588"/>
            <a:ext cx="2633472" cy="674624"/>
          </a:xfrm>
          <a:prstGeom prst="rect">
            <a:avLst/>
          </a:prstGeom>
          <a:noFill/>
        </p:spPr>
        <p:txBody>
          <a:bodyPr wrap="square">
            <a:spAutoFit/>
          </a:bodyPr>
          <a:lstStyle/>
          <a:p>
            <a:r>
              <a:rPr sz="1600" b="1" i="0">
                <a:solidFill>
                  <a:srgbClr val="1A1A1A"/>
                </a:solidFill>
                <a:latin typeface="Arial"/>
              </a:rPr>
              <a:t>Registration service</a:t>
            </a:r>
          </a:p>
        </p:txBody>
      </p:sp>
      <p:sp>
        <p:nvSpPr>
          <p:cNvPr id="9" name="TextBox 8"/>
          <p:cNvSpPr txBox="1"/>
          <p:nvPr/>
        </p:nvSpPr>
        <p:spPr>
          <a:xfrm>
            <a:off x="3401568" y="2545588"/>
            <a:ext cx="4096511" cy="674624"/>
          </a:xfrm>
          <a:prstGeom prst="rect">
            <a:avLst/>
          </a:prstGeom>
          <a:noFill/>
        </p:spPr>
        <p:txBody>
          <a:bodyPr wrap="square">
            <a:spAutoFit/>
          </a:bodyPr>
          <a:lstStyle/>
          <a:p>
            <a:r>
              <a:rPr sz="1600" b="0" i="0">
                <a:solidFill>
                  <a:srgbClr val="1A1A1A"/>
                </a:solidFill>
                <a:latin typeface="Arial"/>
              </a:rPr>
              <a:t>Product bought, configured in-house</a:t>
            </a:r>
          </a:p>
        </p:txBody>
      </p:sp>
      <p:sp>
        <p:nvSpPr>
          <p:cNvPr id="10" name="TextBox 9"/>
          <p:cNvSpPr txBox="1"/>
          <p:nvPr/>
        </p:nvSpPr>
        <p:spPr>
          <a:xfrm>
            <a:off x="7607808" y="2545588"/>
            <a:ext cx="3822191" cy="674624"/>
          </a:xfrm>
          <a:prstGeom prst="rect">
            <a:avLst/>
          </a:prstGeom>
          <a:noFill/>
        </p:spPr>
        <p:txBody>
          <a:bodyPr wrap="square">
            <a:spAutoFit/>
          </a:bodyPr>
          <a:lstStyle/>
          <a:p>
            <a:r>
              <a:rPr sz="1600" b="0" i="0">
                <a:solidFill>
                  <a:srgbClr val="1A1A1A"/>
                </a:solidFill>
                <a:latin typeface="Arial"/>
              </a:rPr>
              <a:t>The service description exportable at any time</a:t>
            </a:r>
          </a:p>
        </p:txBody>
      </p:sp>
      <p:sp>
        <p:nvSpPr>
          <p:cNvPr id="11" name="Rectangle 10"/>
          <p:cNvSpPr/>
          <p:nvPr/>
        </p:nvSpPr>
        <p:spPr>
          <a:xfrm>
            <a:off x="658368" y="3238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293364"/>
            <a:ext cx="2633472" cy="674624"/>
          </a:xfrm>
          <a:prstGeom prst="rect">
            <a:avLst/>
          </a:prstGeom>
          <a:noFill/>
        </p:spPr>
        <p:txBody>
          <a:bodyPr wrap="square">
            <a:spAutoFit/>
          </a:bodyPr>
          <a:lstStyle/>
          <a:p>
            <a:r>
              <a:rPr sz="1600" b="1" i="0">
                <a:solidFill>
                  <a:srgbClr val="1A1A1A"/>
                </a:solidFill>
                <a:latin typeface="Arial"/>
              </a:rPr>
              <a:t>Learner register PLR</a:t>
            </a:r>
          </a:p>
        </p:txBody>
      </p:sp>
      <p:sp>
        <p:nvSpPr>
          <p:cNvPr id="13" name="TextBox 12"/>
          <p:cNvSpPr txBox="1"/>
          <p:nvPr/>
        </p:nvSpPr>
        <p:spPr>
          <a:xfrm>
            <a:off x="3401568" y="3293364"/>
            <a:ext cx="4096511" cy="674624"/>
          </a:xfrm>
          <a:prstGeom prst="rect">
            <a:avLst/>
          </a:prstGeom>
          <a:noFill/>
        </p:spPr>
        <p:txBody>
          <a:bodyPr wrap="square">
            <a:spAutoFit/>
          </a:bodyPr>
          <a:lstStyle/>
          <a:p>
            <a:r>
              <a:rPr sz="1600" b="0" i="0">
                <a:solidFill>
                  <a:srgbClr val="1A1A1A"/>
                </a:solidFill>
                <a:latin typeface="Arial"/>
              </a:rPr>
              <a:t>Product and first load outsourced, data steward in-house</a:t>
            </a:r>
          </a:p>
        </p:txBody>
      </p:sp>
      <p:sp>
        <p:nvSpPr>
          <p:cNvPr id="14" name="TextBox 13"/>
          <p:cNvSpPr txBox="1"/>
          <p:nvPr/>
        </p:nvSpPr>
        <p:spPr>
          <a:xfrm>
            <a:off x="7607808" y="3293364"/>
            <a:ext cx="3822191" cy="674624"/>
          </a:xfrm>
          <a:prstGeom prst="rect">
            <a:avLst/>
          </a:prstGeom>
          <a:noFill/>
        </p:spPr>
        <p:txBody>
          <a:bodyPr wrap="square">
            <a:spAutoFit/>
          </a:bodyPr>
          <a:lstStyle/>
          <a:p>
            <a:r>
              <a:rPr sz="1600" b="0" i="0">
                <a:solidFill>
                  <a:srgbClr val="1A1A1A"/>
                </a:solidFill>
                <a:latin typeface="Arial"/>
              </a:rPr>
              <a:t>Every record and the schema exportable</a:t>
            </a:r>
          </a:p>
        </p:txBody>
      </p:sp>
      <p:sp>
        <p:nvSpPr>
          <p:cNvPr id="15" name="Rectangle 14"/>
          <p:cNvSpPr/>
          <p:nvPr/>
        </p:nvSpPr>
        <p:spPr>
          <a:xfrm>
            <a:off x="658368" y="3986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041140"/>
            <a:ext cx="2633472" cy="410464"/>
          </a:xfrm>
          <a:prstGeom prst="rect">
            <a:avLst/>
          </a:prstGeom>
          <a:noFill/>
        </p:spPr>
        <p:txBody>
          <a:bodyPr wrap="square">
            <a:spAutoFit/>
          </a:bodyPr>
          <a:lstStyle/>
          <a:p>
            <a:r>
              <a:rPr sz="1600" b="1" i="0">
                <a:solidFill>
                  <a:srgbClr val="1A1A1A"/>
                </a:solidFill>
                <a:latin typeface="Arial"/>
              </a:rPr>
              <a:t>Identity</a:t>
            </a:r>
          </a:p>
        </p:txBody>
      </p:sp>
      <p:sp>
        <p:nvSpPr>
          <p:cNvPr id="17" name="TextBox 16"/>
          <p:cNvSpPr txBox="1"/>
          <p:nvPr/>
        </p:nvSpPr>
        <p:spPr>
          <a:xfrm>
            <a:off x="3401568" y="4041140"/>
            <a:ext cx="4096511" cy="410464"/>
          </a:xfrm>
          <a:prstGeom prst="rect">
            <a:avLst/>
          </a:prstGeom>
          <a:noFill/>
        </p:spPr>
        <p:txBody>
          <a:bodyPr wrap="square">
            <a:spAutoFit/>
          </a:bodyPr>
          <a:lstStyle/>
          <a:p>
            <a:r>
              <a:rPr sz="1600" b="0" i="0">
                <a:solidFill>
                  <a:srgbClr val="1A1A1A"/>
                </a:solidFill>
                <a:latin typeface="Arial"/>
              </a:rPr>
              <a:t>PNIA's sign-in, used under an agreement</a:t>
            </a:r>
          </a:p>
        </p:txBody>
      </p:sp>
      <p:sp>
        <p:nvSpPr>
          <p:cNvPr id="18" name="TextBox 17"/>
          <p:cNvSpPr txBox="1"/>
          <p:nvPr/>
        </p:nvSpPr>
        <p:spPr>
          <a:xfrm>
            <a:off x="7607808" y="4041140"/>
            <a:ext cx="3822191" cy="410464"/>
          </a:xfrm>
          <a:prstGeom prst="rect">
            <a:avLst/>
          </a:prstGeom>
          <a:noFill/>
        </p:spPr>
        <p:txBody>
          <a:bodyPr wrap="square">
            <a:spAutoFit/>
          </a:bodyPr>
          <a:lstStyle/>
          <a:p>
            <a:r>
              <a:rPr sz="1600" b="0" i="0">
                <a:solidFill>
                  <a:srgbClr val="1A1A1A"/>
                </a:solidFill>
                <a:latin typeface="Arial"/>
              </a:rPr>
              <a:t>Nothing bought</a:t>
            </a:r>
          </a:p>
        </p:txBody>
      </p:sp>
      <p:sp>
        <p:nvSpPr>
          <p:cNvPr id="19" name="Rectangle 18"/>
          <p:cNvSpPr/>
          <p:nvPr/>
        </p:nvSpPr>
        <p:spPr>
          <a:xfrm>
            <a:off x="658368" y="4469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524756"/>
            <a:ext cx="2633472" cy="674624"/>
          </a:xfrm>
          <a:prstGeom prst="rect">
            <a:avLst/>
          </a:prstGeom>
          <a:noFill/>
        </p:spPr>
        <p:txBody>
          <a:bodyPr wrap="square">
            <a:spAutoFit/>
          </a:bodyPr>
          <a:lstStyle/>
          <a:p>
            <a:r>
              <a:rPr sz="1600" b="1" i="0">
                <a:solidFill>
                  <a:srgbClr val="1A1A1A"/>
                </a:solidFill>
                <a:latin typeface="Arial"/>
              </a:rPr>
              <a:t>Payments</a:t>
            </a:r>
          </a:p>
        </p:txBody>
      </p:sp>
      <p:sp>
        <p:nvSpPr>
          <p:cNvPr id="21" name="TextBox 20"/>
          <p:cNvSpPr txBox="1"/>
          <p:nvPr/>
        </p:nvSpPr>
        <p:spPr>
          <a:xfrm>
            <a:off x="3401568" y="4524756"/>
            <a:ext cx="4096511" cy="674624"/>
          </a:xfrm>
          <a:prstGeom prst="rect">
            <a:avLst/>
          </a:prstGeom>
          <a:noFill/>
        </p:spPr>
        <p:txBody>
          <a:bodyPr wrap="square">
            <a:spAutoFit/>
          </a:bodyPr>
          <a:lstStyle/>
          <a:p>
            <a:r>
              <a:rPr sz="1600" b="0" i="0">
                <a:solidFill>
                  <a:srgbClr val="1A1A1A"/>
                </a:solidFill>
                <a:latin typeface="Arial"/>
              </a:rPr>
              <a:t>The government's Payments block, in partnership with its owner</a:t>
            </a:r>
          </a:p>
        </p:txBody>
      </p:sp>
      <p:sp>
        <p:nvSpPr>
          <p:cNvPr id="22" name="TextBox 21"/>
          <p:cNvSpPr txBox="1"/>
          <p:nvPr/>
        </p:nvSpPr>
        <p:spPr>
          <a:xfrm>
            <a:off x="7607808" y="4524756"/>
            <a:ext cx="3822191" cy="674624"/>
          </a:xfrm>
          <a:prstGeom prst="rect">
            <a:avLst/>
          </a:prstGeom>
          <a:noFill/>
        </p:spPr>
        <p:txBody>
          <a:bodyPr wrap="square">
            <a:spAutoFit/>
          </a:bodyPr>
          <a:lstStyle/>
          <a:p>
            <a:r>
              <a:rPr sz="1600" b="0" i="0">
                <a:solidFill>
                  <a:srgbClr val="1A1A1A"/>
                </a:solidFill>
                <a:latin typeface="Arial"/>
              </a:rPr>
              <a:t>Payment records exportable</a:t>
            </a:r>
          </a:p>
        </p:txBody>
      </p:sp>
      <p:sp>
        <p:nvSpPr>
          <p:cNvPr id="23" name="TextBox 2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For each block decide what your own teams build, what you outsource and what you do with a partner, and write open standards and the terms for leaving into every contract.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Check a draft tender or contract for lock-in.</a:t>
            </a:r>
          </a:p>
          <a:p>
            <a:pPr algn="l">
              <a:spcAft>
                <a:spcPts val="400"/>
              </a:spcAft>
            </a:pPr>
            <a:r>
              <a:rPr sz="1800" b="0" i="0">
                <a:solidFill>
                  <a:srgbClr val="595959"/>
                </a:solidFill>
                <a:latin typeface="Arial"/>
              </a:rPr>
              <a:t>The prompt in the companion material gives you a table of the four lock-in checks with the clause that meets each, or the word missing.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600" b="0" i="0">
                <a:solidFill>
                  <a:srgbClr val="1A1A1A"/>
                </a:solidFill>
                <a:latin typeface="Arial"/>
              </a:rPr>
              <a:t>•  PAERA v1.0, sections 5.6 and 3.1.1</a:t>
            </a:r>
          </a:p>
          <a:p>
            <a:pPr>
              <a:spcAft>
                <a:spcPts val="1000"/>
              </a:spcAft>
            </a:pPr>
            <a:r>
              <a:rPr sz="1600" b="0" i="0">
                <a:solidFill>
                  <a:srgbClr val="1A1A1A"/>
                </a:solidFill>
                <a:latin typeface="Arial"/>
              </a:rPr>
              <a:t>•  World Bank, Understanding Cost Drivers of Identification Systems, 2018, page 7</a:t>
            </a:r>
          </a:p>
          <a:p>
            <a:pPr>
              <a:spcAft>
                <a:spcPts val="1000"/>
              </a:spcAft>
            </a:pPr>
            <a:r>
              <a:rPr sz="1600" b="0" i="0">
                <a:solidFill>
                  <a:srgbClr val="1A1A1A"/>
                </a:solidFill>
                <a:latin typeface="Arial"/>
              </a:rPr>
              <a:t>•  Universal DPI Safeguards Framework, United Nations, 2024, principle F4, page 23, principle O9, page 25, and the risk of unsustainability, page 15</a:t>
            </a:r>
          </a:p>
          <a:p>
            <a:pPr>
              <a:spcAft>
                <a:spcPts val="1000"/>
              </a:spcAft>
            </a:pPr>
            <a:r>
              <a:rPr sz="1600" b="0" i="0">
                <a:solidFill>
                  <a:srgbClr val="1A1A1A"/>
                </a:solidFill>
                <a:latin typeface="Arial"/>
              </a:rPr>
              <a:t>•  GovStack Sandbox documentation, edition 1.1.1</a:t>
            </a:r>
          </a:p>
          <a:p>
            <a:pPr>
              <a:spcAft>
                <a:spcPts val="1000"/>
              </a:spcAft>
            </a:pPr>
            <a:r>
              <a:rPr sz="1600" b="0" i="0">
                <a:solidFill>
                  <a:srgbClr val="1A1A1A"/>
                </a:solidFill>
                <a:latin typeface="Arial"/>
              </a:rPr>
              <a:t>•  GovStack testing application and the GovStack page 'How is Compliance Measured?'</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Governance that keeps shared blocks shared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Shared blocks stay shared when it is written down who decides money and policy, who coordinates the programme, and who runs each block and sets its technical rules.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shared block stays shared only while someone has the power to keep it shared.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Without that, each new project builds its own copy, and each copy is paid for again.</a:t>
            </a:r>
          </a:p>
          <a:p>
            <a:pPr>
              <a:spcAft>
                <a:spcPts val="800"/>
              </a:spcAft>
            </a:pPr>
            <a:r>
              <a:rPr sz="1700" b="0" i="0">
                <a:solidFill>
                  <a:srgbClr val="595959"/>
                </a:solidFill>
                <a:latin typeface="Arial"/>
              </a:rPr>
              <a:t>Governance written down on one page prevents that.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layers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Political authority</a:t>
            </a:r>
          </a:p>
          <a:p>
            <a:pPr>
              <a:spcAft>
                <a:spcPts val="300"/>
              </a:spcAft>
            </a:pPr>
            <a:r>
              <a:rPr sz="1700" b="0" i="0">
                <a:solidFill>
                  <a:srgbClr val="595959"/>
                </a:solidFill>
                <a:latin typeface="Arial"/>
              </a:rPr>
              <a:t>Decides money and policy.</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Programme authority</a:t>
            </a:r>
          </a:p>
          <a:p>
            <a:pPr>
              <a:spcAft>
                <a:spcPts val="300"/>
              </a:spcAft>
            </a:pPr>
            <a:r>
              <a:rPr sz="1700" b="0" i="0">
                <a:solidFill>
                  <a:srgbClr val="595959"/>
                </a:solidFill>
                <a:latin typeface="Arial"/>
              </a:rPr>
              <a:t>Coordinates the programme across ministries.</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Technical authority</a:t>
            </a:r>
          </a:p>
          <a:p>
            <a:pPr>
              <a:spcAft>
                <a:spcPts val="300"/>
              </a:spcAft>
            </a:pPr>
            <a:r>
              <a:rPr sz="1700" b="0" i="0">
                <a:solidFill>
                  <a:srgbClr val="595959"/>
                </a:solidFill>
                <a:latin typeface="Arial"/>
              </a:rPr>
              <a:t>Runs each block and sets its technical rules.</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 three layers are the team's synthesis of public sources.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Roles divided: two published examples</a:t>
            </a:r>
          </a:p>
        </p:txBody>
      </p:sp>
      <p:sp>
        <p:nvSpPr>
          <p:cNvPr id="4" name="TextBox 3"/>
          <p:cNvSpPr txBox="1"/>
          <p:nvPr/>
        </p:nvSpPr>
        <p:spPr>
          <a:xfrm>
            <a:off x="658368" y="2221991"/>
            <a:ext cx="10984687" cy="1408176"/>
          </a:xfrm>
          <a:prstGeom prst="rect">
            <a:avLst/>
          </a:prstGeom>
          <a:noFill/>
        </p:spPr>
        <p:txBody>
          <a:bodyPr wrap="square">
            <a:spAutoFit/>
          </a:bodyPr>
          <a:lstStyle/>
          <a:p>
            <a:pPr>
              <a:spcAft>
                <a:spcPts val="300"/>
              </a:spcAft>
            </a:pPr>
            <a:r>
              <a:rPr sz="2400" b="1" i="0">
                <a:solidFill>
                  <a:srgbClr val="1A1A1A"/>
                </a:solidFill>
                <a:latin typeface="Arial"/>
              </a:rPr>
              <a:t>Estonia's data exchange</a:t>
            </a:r>
          </a:p>
          <a:p>
            <a:pPr>
              <a:spcAft>
                <a:spcPts val="300"/>
              </a:spcAft>
            </a:pPr>
            <a:r>
              <a:rPr sz="1900" b="0" i="0">
                <a:solidFill>
                  <a:srgbClr val="595959"/>
                </a:solidFill>
                <a:latin typeface="Arial"/>
              </a:rPr>
              <a:t>A ministry advocates policy; the Information System Authority registers members and supervises security; the Nordic Institute for Interoperability Solutions runs it day to day; the Data Protection Inspectorate supervises data protection (UNDP, 2023).</a:t>
            </a:r>
          </a:p>
        </p:txBody>
      </p:sp>
      <p:sp>
        <p:nvSpPr>
          <p:cNvPr id="5" name="Rectangle 4"/>
          <p:cNvSpPr/>
          <p:nvPr/>
        </p:nvSpPr>
        <p:spPr>
          <a:xfrm>
            <a:off x="621792" y="363473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75887"/>
            <a:ext cx="10984687" cy="1234439"/>
          </a:xfrm>
          <a:prstGeom prst="rect">
            <a:avLst/>
          </a:prstGeom>
          <a:noFill/>
        </p:spPr>
        <p:txBody>
          <a:bodyPr wrap="square">
            <a:spAutoFit/>
          </a:bodyPr>
          <a:lstStyle/>
          <a:p>
            <a:pPr>
              <a:spcAft>
                <a:spcPts val="300"/>
              </a:spcAft>
            </a:pPr>
            <a:r>
              <a:rPr sz="2400" b="1" i="0">
                <a:solidFill>
                  <a:srgbClr val="1A1A1A"/>
                </a:solidFill>
                <a:latin typeface="Arial"/>
              </a:rPr>
              <a:t>Brazil's Pix</a:t>
            </a:r>
          </a:p>
          <a:p>
            <a:pPr>
              <a:spcAft>
                <a:spcPts val="300"/>
              </a:spcAft>
            </a:pPr>
            <a:r>
              <a:rPr sz="1900" b="0" i="0">
                <a:solidFill>
                  <a:srgbClr val="595959"/>
                </a:solidFill>
                <a:latin typeface="Arial"/>
              </a:rPr>
              <a:t>The central bank both operates the system and sets its rules (BIS, 2022).</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governance on one page (illustrative)</a:t>
            </a:r>
          </a:p>
        </p:txBody>
      </p:sp>
      <p:sp>
        <p:nvSpPr>
          <p:cNvPr id="4" name="TextBox 3"/>
          <p:cNvSpPr txBox="1"/>
          <p:nvPr/>
        </p:nvSpPr>
        <p:spPr>
          <a:xfrm>
            <a:off x="658368" y="1996947"/>
            <a:ext cx="2542032" cy="457200"/>
          </a:xfrm>
          <a:prstGeom prst="rect">
            <a:avLst/>
          </a:prstGeom>
          <a:noFill/>
        </p:spPr>
        <p:txBody>
          <a:bodyPr wrap="square">
            <a:spAutoFit/>
          </a:bodyPr>
          <a:lstStyle/>
          <a:p>
            <a:r>
              <a:rPr sz="1600" b="1" i="0">
                <a:solidFill>
                  <a:srgbClr val="006E96"/>
                </a:solidFill>
                <a:latin typeface="Arial"/>
              </a:rPr>
              <a:t>Layer</a:t>
            </a:r>
          </a:p>
        </p:txBody>
      </p:sp>
      <p:sp>
        <p:nvSpPr>
          <p:cNvPr id="5" name="TextBox 4"/>
          <p:cNvSpPr txBox="1"/>
          <p:nvPr/>
        </p:nvSpPr>
        <p:spPr>
          <a:xfrm>
            <a:off x="3310128" y="1996947"/>
            <a:ext cx="8119872" cy="457200"/>
          </a:xfrm>
          <a:prstGeom prst="rect">
            <a:avLst/>
          </a:prstGeom>
          <a:noFill/>
        </p:spPr>
        <p:txBody>
          <a:bodyPr wrap="square">
            <a:spAutoFit/>
          </a:bodyPr>
          <a:lstStyle/>
          <a:p>
            <a:r>
              <a:rPr sz="1600" b="1" i="0">
                <a:solidFill>
                  <a:srgbClr val="006E96"/>
                </a:solidFill>
                <a:latin typeface="Arial"/>
              </a:rPr>
              <a:t>Who</a:t>
            </a:r>
          </a:p>
        </p:txBody>
      </p:sp>
      <p:sp>
        <p:nvSpPr>
          <p:cNvPr id="6" name="Rectangle 5"/>
          <p:cNvSpPr/>
          <p:nvPr/>
        </p:nvSpPr>
        <p:spPr>
          <a:xfrm>
            <a:off x="658368" y="2454147"/>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545587"/>
            <a:ext cx="2542032" cy="674624"/>
          </a:xfrm>
          <a:prstGeom prst="rect">
            <a:avLst/>
          </a:prstGeom>
          <a:noFill/>
        </p:spPr>
        <p:txBody>
          <a:bodyPr wrap="square">
            <a:spAutoFit/>
          </a:bodyPr>
          <a:lstStyle/>
          <a:p>
            <a:r>
              <a:rPr sz="1600" b="1" i="0">
                <a:solidFill>
                  <a:srgbClr val="1A1A1A"/>
                </a:solidFill>
                <a:latin typeface="Arial"/>
              </a:rPr>
              <a:t>Political</a:t>
            </a:r>
          </a:p>
        </p:txBody>
      </p:sp>
      <p:sp>
        <p:nvSpPr>
          <p:cNvPr id="8" name="TextBox 7"/>
          <p:cNvSpPr txBox="1"/>
          <p:nvPr/>
        </p:nvSpPr>
        <p:spPr>
          <a:xfrm>
            <a:off x="3310128" y="2545587"/>
            <a:ext cx="8119872" cy="674624"/>
          </a:xfrm>
          <a:prstGeom prst="rect">
            <a:avLst/>
          </a:prstGeom>
          <a:noFill/>
        </p:spPr>
        <p:txBody>
          <a:bodyPr wrap="square">
            <a:spAutoFit/>
          </a:bodyPr>
          <a:lstStyle/>
          <a:p>
            <a:r>
              <a:rPr sz="1600" b="0" i="0">
                <a:solidFill>
                  <a:srgbClr val="1A1A1A"/>
                </a:solidFill>
                <a:latin typeface="Arial"/>
              </a:rPr>
              <a:t>A committee of ministers decides the funding; the cabinet adopts the laws and the budget</a:t>
            </a:r>
          </a:p>
        </p:txBody>
      </p:sp>
      <p:sp>
        <p:nvSpPr>
          <p:cNvPr id="9" name="Rectangle 8"/>
          <p:cNvSpPr/>
          <p:nvPr/>
        </p:nvSpPr>
        <p:spPr>
          <a:xfrm>
            <a:off x="658368" y="323849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293363"/>
            <a:ext cx="2542032" cy="674624"/>
          </a:xfrm>
          <a:prstGeom prst="rect">
            <a:avLst/>
          </a:prstGeom>
          <a:noFill/>
        </p:spPr>
        <p:txBody>
          <a:bodyPr wrap="square">
            <a:spAutoFit/>
          </a:bodyPr>
          <a:lstStyle/>
          <a:p>
            <a:r>
              <a:rPr sz="1600" b="1" i="0">
                <a:solidFill>
                  <a:srgbClr val="1A1A1A"/>
                </a:solidFill>
                <a:latin typeface="Arial"/>
              </a:rPr>
              <a:t>Programme</a:t>
            </a:r>
          </a:p>
        </p:txBody>
      </p:sp>
      <p:sp>
        <p:nvSpPr>
          <p:cNvPr id="11" name="TextBox 10"/>
          <p:cNvSpPr txBox="1"/>
          <p:nvPr/>
        </p:nvSpPr>
        <p:spPr>
          <a:xfrm>
            <a:off x="3310128" y="3293363"/>
            <a:ext cx="8119872" cy="674624"/>
          </a:xfrm>
          <a:prstGeom prst="rect">
            <a:avLst/>
          </a:prstGeom>
          <a:noFill/>
        </p:spPr>
        <p:txBody>
          <a:bodyPr wrap="square">
            <a:spAutoFit/>
          </a:bodyPr>
          <a:lstStyle/>
          <a:p>
            <a:r>
              <a:rPr sz="1600" b="0" i="0">
                <a:solidFill>
                  <a:srgbClr val="1A1A1A"/>
                </a:solidFill>
                <a:latin typeface="Arial"/>
              </a:rPr>
              <a:t>PDGA coordinates; the joint board of MoEYS and PDGA decides education’s shared infrastructure</a:t>
            </a:r>
          </a:p>
        </p:txBody>
      </p:sp>
      <p:sp>
        <p:nvSpPr>
          <p:cNvPr id="12" name="Rectangle 11"/>
          <p:cNvSpPr/>
          <p:nvPr/>
        </p:nvSpPr>
        <p:spPr>
          <a:xfrm>
            <a:off x="658368" y="3986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041140"/>
            <a:ext cx="2542032" cy="674624"/>
          </a:xfrm>
          <a:prstGeom prst="rect">
            <a:avLst/>
          </a:prstGeom>
          <a:noFill/>
        </p:spPr>
        <p:txBody>
          <a:bodyPr wrap="square">
            <a:spAutoFit/>
          </a:bodyPr>
          <a:lstStyle/>
          <a:p>
            <a:r>
              <a:rPr sz="1600" b="1" i="0">
                <a:solidFill>
                  <a:srgbClr val="1A1A1A"/>
                </a:solidFill>
                <a:latin typeface="Arial"/>
              </a:rPr>
              <a:t>Technical</a:t>
            </a:r>
          </a:p>
        </p:txBody>
      </p:sp>
      <p:sp>
        <p:nvSpPr>
          <p:cNvPr id="14" name="TextBox 13"/>
          <p:cNvSpPr txBox="1"/>
          <p:nvPr/>
        </p:nvSpPr>
        <p:spPr>
          <a:xfrm>
            <a:off x="3310128" y="4041140"/>
            <a:ext cx="8119872" cy="674624"/>
          </a:xfrm>
          <a:prstGeom prst="rect">
            <a:avLst/>
          </a:prstGeom>
          <a:noFill/>
        </p:spPr>
        <p:txBody>
          <a:bodyPr wrap="square">
            <a:spAutoFit/>
          </a:bodyPr>
          <a:lstStyle/>
          <a:p>
            <a:r>
              <a:rPr sz="1600" b="0" i="0">
                <a:solidFill>
                  <a:srgbClr val="1A1A1A"/>
                </a:solidFill>
                <a:latin typeface="Arial"/>
              </a:rPr>
              <a:t>PDGA for Linkup; PNIA for identity; PLR's product owner at MoEYS for the learner register; the ministry of finance for the Payments block</a:t>
            </a:r>
          </a:p>
        </p:txBody>
      </p:sp>
      <p:sp>
        <p:nvSpPr>
          <p:cNvPr id="15" name="Rectangle 14"/>
          <p:cNvSpPr/>
          <p:nvPr/>
        </p:nvSpPr>
        <p:spPr>
          <a:xfrm>
            <a:off x="658368" y="4734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788916"/>
            <a:ext cx="2542032" cy="410464"/>
          </a:xfrm>
          <a:prstGeom prst="rect">
            <a:avLst/>
          </a:prstGeom>
          <a:noFill/>
        </p:spPr>
        <p:txBody>
          <a:bodyPr wrap="square">
            <a:spAutoFit/>
          </a:bodyPr>
          <a:lstStyle/>
          <a:p>
            <a:r>
              <a:rPr sz="1600" b="1" i="0">
                <a:solidFill>
                  <a:srgbClr val="1A1A1A"/>
                </a:solidFill>
                <a:latin typeface="Arial"/>
              </a:rPr>
              <a:t>MoEYS's digital officer</a:t>
            </a:r>
          </a:p>
        </p:txBody>
      </p:sp>
      <p:sp>
        <p:nvSpPr>
          <p:cNvPr id="17" name="TextBox 16"/>
          <p:cNvSpPr txBox="1"/>
          <p:nvPr/>
        </p:nvSpPr>
        <p:spPr>
          <a:xfrm>
            <a:off x="3310128" y="4788916"/>
            <a:ext cx="8119872" cy="410464"/>
          </a:xfrm>
          <a:prstGeom prst="rect">
            <a:avLst/>
          </a:prstGeom>
          <a:noFill/>
        </p:spPr>
        <p:txBody>
          <a:bodyPr wrap="square">
            <a:spAutoFit/>
          </a:bodyPr>
          <a:lstStyle/>
          <a:p>
            <a:r>
              <a:rPr sz="1600" b="0" i="0">
                <a:solidFill>
                  <a:srgbClr val="1A1A1A"/>
                </a:solidFill>
                <a:latin typeface="Arial"/>
              </a:rPr>
              <a:t>Each new project uses the shared blocks</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decides for the learner</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 guardian or a parent can act for a child through delegated access (GovStack Digital Registries, DRS-6).</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Consent is a voluntary declaration that can be withdrawn at any time (GovStack Consent, section 2).</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The rules for children's data come from a regulation.</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Shared oversight bodies and regular published reports (UN, 2024).</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Shared blocks stay shared when it is written down who decides money and policy, who coordinates the programme, and who runs each block and sets its technical rules.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terms of reference of the governance board, and a table of who decides what.</a:t>
            </a:r>
          </a:p>
          <a:p>
            <a:pPr algn="l">
              <a:spcAft>
                <a:spcPts val="400"/>
              </a:spcAft>
            </a:pPr>
            <a:r>
              <a:rPr sz="1800" b="0" i="0">
                <a:solidFill>
                  <a:srgbClr val="595959"/>
                </a:solidFill>
                <a:latin typeface="Arial"/>
              </a:rPr>
              <a:t>The prompt in the companion material gives you draft terms of reference for the governance board and a table of who decides what in three layers.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600" b="0" i="0">
                <a:solidFill>
                  <a:srgbClr val="1A1A1A"/>
                </a:solidFill>
                <a:latin typeface="Arial"/>
              </a:rPr>
              <a:t>•  PAERA v1.0, sections 3.1.1 and 3.1.2</a:t>
            </a:r>
          </a:p>
          <a:p>
            <a:pPr>
              <a:spcAft>
                <a:spcPts val="1000"/>
              </a:spcAft>
            </a:pPr>
            <a:r>
              <a:rPr sz="1600" b="0" i="0">
                <a:solidFill>
                  <a:srgbClr val="1A1A1A"/>
                </a:solidFill>
                <a:latin typeface="Arial"/>
              </a:rPr>
              <a:t>•  UNDP, The DPI Approach: A Playbook, 2023, pages 34 to 41</a:t>
            </a:r>
          </a:p>
          <a:p>
            <a:pPr>
              <a:spcAft>
                <a:spcPts val="1000"/>
              </a:spcAft>
            </a:pPr>
            <a:r>
              <a:rPr sz="1600" b="0" i="0">
                <a:solidFill>
                  <a:srgbClr val="1A1A1A"/>
                </a:solidFill>
                <a:latin typeface="Arial"/>
              </a:rPr>
              <a:t>•  Universal DPI Safeguards Framework, United Nations, 2024, principle O7, page 25, and table 3.1, page 36</a:t>
            </a:r>
          </a:p>
          <a:p>
            <a:pPr>
              <a:spcAft>
                <a:spcPts val="1000"/>
              </a:spcAft>
            </a:pPr>
            <a:r>
              <a:rPr sz="1600" b="0" i="0">
                <a:solidFill>
                  <a:srgbClr val="1A1A1A"/>
                </a:solidFill>
                <a:latin typeface="Arial"/>
              </a:rPr>
              <a:t>•  BIS Bulletin No 52, 2022, page 5</a:t>
            </a:r>
          </a:p>
          <a:p>
            <a:pPr>
              <a:spcAft>
                <a:spcPts val="1000"/>
              </a:spcAft>
            </a:pPr>
            <a:r>
              <a:rPr sz="1600" b="0" i="0">
                <a:solidFill>
                  <a:srgbClr val="1A1A1A"/>
                </a:solidFill>
                <a:latin typeface="Arial"/>
              </a:rPr>
              <a:t>•  GovStack Digital Registries specification, Version 3.0-alpha, DRS-6</a:t>
            </a:r>
          </a:p>
          <a:p>
            <a:pPr>
              <a:spcAft>
                <a:spcPts val="1000"/>
              </a:spcAft>
            </a:pPr>
            <a:r>
              <a:rPr sz="1600" b="0" i="0">
                <a:solidFill>
                  <a:srgbClr val="1A1A1A"/>
                </a:solidFill>
                <a:latin typeface="Arial"/>
              </a:rPr>
              <a:t>•  GovStack Consent specification, version 1.3.0, section 2, 'What Consent Is'</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Governance that keeps shared blocks shared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Validate, revise, adopt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roadmap becomes the government's own only when the people it binds have commented, every comment has a written answer, and an authority has adopted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roadmap written by a team, however good, binds no 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becomes the government's own when the bodies it binds have read it, seen their comments answered in writing, and an authority has adopted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months from draft to adoption</a:t>
            </a:r>
          </a:p>
        </p:txBody>
      </p:sp>
      <p:sp>
        <p:nvSpPr>
          <p:cNvPr id="4" name="TextBox 3"/>
          <p:cNvSpPr txBox="1"/>
          <p:nvPr/>
        </p:nvSpPr>
        <p:spPr>
          <a:xfrm>
            <a:off x="658368" y="1463040"/>
            <a:ext cx="10984687" cy="685800"/>
          </a:xfrm>
          <a:prstGeom prst="rect">
            <a:avLst/>
          </a:prstGeom>
          <a:noFill/>
        </p:spPr>
        <p:txBody>
          <a:bodyPr wrap="square">
            <a:spAutoFit/>
          </a:bodyPr>
          <a:lstStyle/>
          <a:p>
            <a:pPr>
              <a:spcAft>
                <a:spcPts val="300"/>
              </a:spcAft>
            </a:pPr>
            <a:r>
              <a:rPr sz="1800" b="1" i="0">
                <a:solidFill>
                  <a:srgbClr val="1A1A1A"/>
                </a:solidFill>
                <a:latin typeface="Arial"/>
              </a:rPr>
              <a:t>Month 1</a:t>
            </a:r>
          </a:p>
          <a:p>
            <a:pPr>
              <a:spcAft>
                <a:spcPts val="300"/>
              </a:spcAft>
            </a:pPr>
            <a:r>
              <a:rPr sz="1550" b="0" i="0">
                <a:solidFill>
                  <a:srgbClr val="595959"/>
                </a:solidFill>
                <a:latin typeface="Arial"/>
              </a:rPr>
              <a:t>Consultation with each body.</a:t>
            </a:r>
          </a:p>
        </p:txBody>
      </p:sp>
      <p:sp>
        <p:nvSpPr>
          <p:cNvPr id="5" name="Rectangle 4"/>
          <p:cNvSpPr/>
          <p:nvPr/>
        </p:nvSpPr>
        <p:spPr>
          <a:xfrm>
            <a:off x="621792" y="2153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194560"/>
            <a:ext cx="10984687" cy="685800"/>
          </a:xfrm>
          <a:prstGeom prst="rect">
            <a:avLst/>
          </a:prstGeom>
          <a:noFill/>
        </p:spPr>
        <p:txBody>
          <a:bodyPr wrap="square">
            <a:spAutoFit/>
          </a:bodyPr>
          <a:lstStyle/>
          <a:p>
            <a:pPr>
              <a:spcAft>
                <a:spcPts val="300"/>
              </a:spcAft>
            </a:pPr>
            <a:r>
              <a:rPr sz="1800" b="1" i="0">
                <a:solidFill>
                  <a:srgbClr val="1A1A1A"/>
                </a:solidFill>
                <a:latin typeface="Arial"/>
              </a:rPr>
              <a:t>Month 2</a:t>
            </a:r>
          </a:p>
          <a:p>
            <a:pPr>
              <a:spcAft>
                <a:spcPts val="300"/>
              </a:spcAft>
            </a:pPr>
            <a:r>
              <a:rPr sz="1550" b="0" i="0">
                <a:solidFill>
                  <a:srgbClr val="595959"/>
                </a:solidFill>
                <a:latin typeface="Arial"/>
              </a:rPr>
              <a:t>Reconcile the initiatives under way; set the priorities.</a:t>
            </a:r>
          </a:p>
        </p:txBody>
      </p:sp>
      <p:sp>
        <p:nvSpPr>
          <p:cNvPr id="7" name="Rectangle 6"/>
          <p:cNvSpPr/>
          <p:nvPr/>
        </p:nvSpPr>
        <p:spPr>
          <a:xfrm>
            <a:off x="621792" y="28849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926080"/>
            <a:ext cx="10984687" cy="685800"/>
          </a:xfrm>
          <a:prstGeom prst="rect">
            <a:avLst/>
          </a:prstGeom>
          <a:noFill/>
        </p:spPr>
        <p:txBody>
          <a:bodyPr wrap="square">
            <a:spAutoFit/>
          </a:bodyPr>
          <a:lstStyle/>
          <a:p>
            <a:pPr>
              <a:spcAft>
                <a:spcPts val="300"/>
              </a:spcAft>
            </a:pPr>
            <a:r>
              <a:rPr sz="1800" b="1" i="0">
                <a:solidFill>
                  <a:srgbClr val="1A1A1A"/>
                </a:solidFill>
                <a:latin typeface="Arial"/>
              </a:rPr>
              <a:t>Month 3</a:t>
            </a:r>
          </a:p>
          <a:p>
            <a:pPr>
              <a:spcAft>
                <a:spcPts val="300"/>
              </a:spcAft>
            </a:pPr>
            <a:r>
              <a:rPr sz="1550" b="0" i="0">
                <a:solidFill>
                  <a:srgbClr val="595959"/>
                </a:solidFill>
                <a:latin typeface="Arial"/>
              </a:rPr>
              <a:t>Drafting.</a:t>
            </a:r>
          </a:p>
        </p:txBody>
      </p:sp>
      <p:sp>
        <p:nvSpPr>
          <p:cNvPr id="9" name="Rectangle 8"/>
          <p:cNvSpPr/>
          <p:nvPr/>
        </p:nvSpPr>
        <p:spPr>
          <a:xfrm>
            <a:off x="621792" y="3616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657600"/>
            <a:ext cx="10984687" cy="685800"/>
          </a:xfrm>
          <a:prstGeom prst="rect">
            <a:avLst/>
          </a:prstGeom>
          <a:noFill/>
        </p:spPr>
        <p:txBody>
          <a:bodyPr wrap="square">
            <a:spAutoFit/>
          </a:bodyPr>
          <a:lstStyle/>
          <a:p>
            <a:pPr>
              <a:spcAft>
                <a:spcPts val="300"/>
              </a:spcAft>
            </a:pPr>
            <a:r>
              <a:rPr sz="1800" b="1" i="0">
                <a:solidFill>
                  <a:srgbClr val="1A1A1A"/>
                </a:solidFill>
                <a:latin typeface="Arial"/>
              </a:rPr>
              <a:t>Month 4</a:t>
            </a:r>
          </a:p>
          <a:p>
            <a:pPr>
              <a:spcAft>
                <a:spcPts val="300"/>
              </a:spcAft>
            </a:pPr>
            <a:r>
              <a:rPr sz="1550" b="0" i="0">
                <a:solidFill>
                  <a:srgbClr val="595959"/>
                </a:solidFill>
                <a:latin typeface="Arial"/>
              </a:rPr>
              <a:t>Written comments from every body.</a:t>
            </a:r>
          </a:p>
        </p:txBody>
      </p:sp>
      <p:sp>
        <p:nvSpPr>
          <p:cNvPr id="11" name="Rectangle 10"/>
          <p:cNvSpPr/>
          <p:nvPr/>
        </p:nvSpPr>
        <p:spPr>
          <a:xfrm>
            <a:off x="621792" y="4347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389120"/>
            <a:ext cx="10984687" cy="685800"/>
          </a:xfrm>
          <a:prstGeom prst="rect">
            <a:avLst/>
          </a:prstGeom>
          <a:noFill/>
        </p:spPr>
        <p:txBody>
          <a:bodyPr wrap="square">
            <a:spAutoFit/>
          </a:bodyPr>
          <a:lstStyle/>
          <a:p>
            <a:pPr>
              <a:spcAft>
                <a:spcPts val="300"/>
              </a:spcAft>
            </a:pPr>
            <a:r>
              <a:rPr sz="1800" b="1" i="0">
                <a:solidFill>
                  <a:srgbClr val="1A1A1A"/>
                </a:solidFill>
                <a:latin typeface="Arial"/>
              </a:rPr>
              <a:t>Month 5</a:t>
            </a:r>
          </a:p>
          <a:p>
            <a:pPr>
              <a:spcAft>
                <a:spcPts val="300"/>
              </a:spcAft>
            </a:pPr>
            <a:r>
              <a:rPr sz="1550" b="0" i="0">
                <a:solidFill>
                  <a:srgbClr val="595959"/>
                </a:solidFill>
                <a:latin typeface="Arial"/>
              </a:rPr>
              <a:t>A high-level validation workshop.</a:t>
            </a:r>
          </a:p>
        </p:txBody>
      </p:sp>
      <p:sp>
        <p:nvSpPr>
          <p:cNvPr id="13" name="Rectangle 12"/>
          <p:cNvSpPr/>
          <p:nvPr/>
        </p:nvSpPr>
        <p:spPr>
          <a:xfrm>
            <a:off x="621792" y="5079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120640"/>
            <a:ext cx="10984687" cy="685800"/>
          </a:xfrm>
          <a:prstGeom prst="rect">
            <a:avLst/>
          </a:prstGeom>
          <a:noFill/>
        </p:spPr>
        <p:txBody>
          <a:bodyPr wrap="square">
            <a:spAutoFit/>
          </a:bodyPr>
          <a:lstStyle/>
          <a:p>
            <a:pPr>
              <a:spcAft>
                <a:spcPts val="300"/>
              </a:spcAft>
            </a:pPr>
            <a:r>
              <a:rPr sz="1800" b="1" i="0">
                <a:solidFill>
                  <a:srgbClr val="1A1A1A"/>
                </a:solidFill>
                <a:latin typeface="Arial"/>
              </a:rPr>
              <a:t>Month 6</a:t>
            </a:r>
          </a:p>
          <a:p>
            <a:pPr>
              <a:spcAft>
                <a:spcPts val="300"/>
              </a:spcAft>
            </a:pPr>
            <a:r>
              <a:rPr sz="1550" b="0" i="0">
                <a:solidFill>
                  <a:srgbClr val="595959"/>
                </a:solidFill>
                <a:latin typeface="Arial"/>
              </a:rPr>
              <a:t>Adoption.</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comment answered</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Response matrix</a:t>
            </a:r>
          </a:p>
          <a:p>
            <a:pPr>
              <a:spcAft>
                <a:spcPts val="300"/>
              </a:spcAft>
            </a:pPr>
            <a:r>
              <a:rPr sz="1800" b="0" i="0">
                <a:solidFill>
                  <a:srgbClr val="595959"/>
                </a:solidFill>
                <a:latin typeface="Arial"/>
              </a:rPr>
              <a:t>Comment, from whom, what it refers to, response, decision, change made.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Decisions</a:t>
            </a:r>
          </a:p>
          <a:p>
            <a:pPr>
              <a:spcAft>
                <a:spcPts val="300"/>
              </a:spcAft>
            </a:pPr>
            <a:r>
              <a:rPr sz="1800" b="0" i="0">
                <a:solidFill>
                  <a:srgbClr val="595959"/>
                </a:solidFill>
                <a:latin typeface="Arial"/>
              </a:rPr>
              <a:t>Accepted, accepted in part, not accepted.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Commenters named by role, never by name.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comment that changed a score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CM-02, from PDGA</a:t>
            </a:r>
          </a:p>
          <a:p>
            <a:pPr>
              <a:spcAft>
                <a:spcPts val="300"/>
              </a:spcAft>
            </a:pPr>
            <a:r>
              <a:rPr sz="1800" b="0" i="0">
                <a:solidFill>
                  <a:srgbClr val="595959"/>
                </a:solidFill>
                <a:latin typeface="Arial"/>
              </a:rPr>
              <a:t>The Interoperability score is too high.</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draft had scored I2 from a desk result, not from a verified position.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I2 lowered from 2.5 to 1.5; the domain from 2.3 to 2.1; its stage unchanged (illustrative).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revision, in four phases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Prepare</a:t>
            </a:r>
          </a:p>
          <a:p>
            <a:pPr>
              <a:spcAft>
                <a:spcPts val="300"/>
              </a:spcAft>
            </a:pPr>
            <a:r>
              <a:rPr sz="1700" b="0" i="0">
                <a:solidFill>
                  <a:srgbClr val="595959"/>
                </a:solidFill>
                <a:latin typeface="Arial"/>
              </a:rPr>
              <a:t>Abbreviations, the response matrix, the statistics to verify.</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Revise the assessment, section by section.</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Revise the roadmap and the investment case, part by part.</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Final checks</a:t>
            </a:r>
          </a:p>
          <a:p>
            <a:pPr>
              <a:spcAft>
                <a:spcPts val="300"/>
              </a:spcAft>
            </a:pPr>
            <a:r>
              <a:rPr sz="1700" b="0" i="0">
                <a:solidFill>
                  <a:srgbClr val="595959"/>
                </a:solidFill>
                <a:latin typeface="Arial"/>
              </a:rPr>
              <a:t>Consistency, a summary of changes, a cover note.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 roadmap becomes the government's own only when the people it binds have commented, every comment has a written answer, and an authority has adopted it.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the revision play in four phases.</a:t>
            </a:r>
          </a:p>
          <a:p>
            <a:pPr algn="l">
              <a:spcAft>
                <a:spcPts val="400"/>
              </a:spcAft>
            </a:pPr>
            <a:r>
              <a:rPr sz="1800" b="0" i="0">
                <a:solidFill>
                  <a:srgbClr val="595959"/>
                </a:solidFill>
                <a:latin typeface="Arial"/>
              </a:rPr>
              <a:t>The prompt in the companion material gives you a draft response matrix with a proposed decision for each comment.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 5.4, steps 6 to 8</a:t>
            </a:r>
          </a:p>
          <a:p>
            <a:pPr>
              <a:spcAft>
                <a:spcPts val="1000"/>
              </a:spcAft>
            </a:pPr>
            <a:r>
              <a:rPr sz="1800" b="0" i="0">
                <a:solidFill>
                  <a:srgbClr val="1A1A1A"/>
                </a:solidFill>
                <a:latin typeface="Arial"/>
              </a:rPr>
              <a:t>•  UNDP, The DPI Approach: A Playbook, 2023, page 23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Validate, revise, adopt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foundation healthy and safe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After launch, indicators read every month, quarter and year, quality checks and reconciliation on every load, and a regular review against the published safeguards keep the foundation trusted and safe.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Launch day starts the work; it does not end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register nobody checks fills with errors, and a payment nobody reconciles reaches the wrong person.</a:t>
            </a:r>
          </a:p>
          <a:p>
            <a:pPr>
              <a:spcAft>
                <a:spcPts val="800"/>
              </a:spcAft>
            </a:pPr>
            <a:r>
              <a:rPr sz="1700" b="0" i="0">
                <a:solidFill>
                  <a:srgbClr val="595959"/>
                </a:solidFill>
                <a:latin typeface="Arial"/>
              </a:rPr>
              <a:t>Upkeep is what keeps people trusting the foundation.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Indicators in three tiers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month, operational</a:t>
            </a:r>
          </a:p>
          <a:p>
            <a:pPr>
              <a:spcAft>
                <a:spcPts val="300"/>
              </a:spcAft>
            </a:pPr>
            <a:r>
              <a:rPr sz="1800" b="0" i="0">
                <a:solidFill>
                  <a:srgbClr val="595959"/>
                </a:solidFill>
                <a:latin typeface="Arial"/>
              </a:rPr>
              <a:t>Learners in PLR; records passing the quality gates; calls on Linkup by MoEYS.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quarter, programme</a:t>
            </a:r>
          </a:p>
          <a:p>
            <a:pPr>
              <a:spcAft>
                <a:spcPts val="300"/>
              </a:spcAft>
            </a:pPr>
            <a:r>
              <a:rPr sz="1800" b="0" i="0">
                <a:solidFill>
                  <a:srgbClr val="595959"/>
                </a:solidFill>
                <a:latin typeface="Arial"/>
              </a:rPr>
              <a:t>Components on schedule; budget used against plan; board decisions taken.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year, outcome</a:t>
            </a:r>
          </a:p>
          <a:p>
            <a:pPr>
              <a:spcAft>
                <a:spcPts val="300"/>
              </a:spcAft>
            </a:pPr>
            <a:r>
              <a:rPr sz="1800" b="0" i="0">
                <a:solidFill>
                  <a:srgbClr val="595959"/>
                </a:solidFill>
                <a:latin typeface="Arial"/>
              </a:rPr>
              <a:t>The stage of each domain against its target.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load checked, every payment traced</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Quality checks on every load; a row that fails is set aside with its reason.</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Every change and every read of the register logged, and visible to its analyst (DRS-7, DRS-21).</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 deletion keeps the logical record unless the law requires hard deletion (Digital Registries, section 5.2).</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 chain of identifiers for every payment, and an audit trail no user can edit (Payments, sections 6.8 and 6.12).</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yearly review against the safeguards</a:t>
            </a:r>
          </a:p>
        </p:txBody>
      </p:sp>
      <p:sp>
        <p:nvSpPr>
          <p:cNvPr id="4" name="TextBox 3"/>
          <p:cNvSpPr txBox="1"/>
          <p:nvPr/>
        </p:nvSpPr>
        <p:spPr>
          <a:xfrm>
            <a:off x="658368" y="1517903"/>
            <a:ext cx="10984687" cy="1024127"/>
          </a:xfrm>
          <a:prstGeom prst="rect">
            <a:avLst/>
          </a:prstGeom>
          <a:noFill/>
        </p:spPr>
        <p:txBody>
          <a:bodyPr wrap="square">
            <a:spAutoFit/>
          </a:bodyPr>
          <a:lstStyle/>
          <a:p>
            <a:pPr>
              <a:spcAft>
                <a:spcPts val="300"/>
              </a:spcAft>
            </a:pPr>
            <a:r>
              <a:rPr sz="2000" b="1" i="0">
                <a:solidFill>
                  <a:srgbClr val="1A1A1A"/>
                </a:solidFill>
                <a:latin typeface="Arial"/>
              </a:rPr>
              <a:t>The Universal DPI Safeguards Framework (UN, 2024): 18 principles; 13 risks in three groups</a:t>
            </a:r>
          </a:p>
          <a:p>
            <a:pPr>
              <a:spcAft>
                <a:spcPts val="300"/>
              </a:spcAft>
            </a:pPr>
            <a:r>
              <a:rPr sz="1700" b="0" i="0">
                <a:solidFill>
                  <a:srgbClr val="595959"/>
                </a:solidFill>
                <a:latin typeface="Arial"/>
              </a:rPr>
              <a:t>Safety, inclusion, structural vulnerabilities.</a:t>
            </a:r>
          </a:p>
        </p:txBody>
      </p:sp>
      <p:sp>
        <p:nvSpPr>
          <p:cNvPr id="5" name="Rectangle 4"/>
          <p:cNvSpPr/>
          <p:nvPr/>
        </p:nvSpPr>
        <p:spPr>
          <a:xfrm>
            <a:off x="621792" y="254660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87751"/>
            <a:ext cx="10984687" cy="978408"/>
          </a:xfrm>
          <a:prstGeom prst="rect">
            <a:avLst/>
          </a:prstGeom>
          <a:noFill/>
        </p:spPr>
        <p:txBody>
          <a:bodyPr wrap="square">
            <a:spAutoFit/>
          </a:bodyPr>
          <a:lstStyle/>
          <a:p>
            <a:pPr>
              <a:spcAft>
                <a:spcPts val="300"/>
              </a:spcAft>
            </a:pPr>
            <a:r>
              <a:rPr sz="2000" b="1" i="0">
                <a:solidFill>
                  <a:srgbClr val="1A1A1A"/>
                </a:solidFill>
                <a:latin typeface="Arial"/>
              </a:rPr>
              <a:t>Unsustainability is one of the risks.</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978408"/>
          </a:xfrm>
          <a:prstGeom prst="rect">
            <a:avLst/>
          </a:prstGeom>
          <a:noFill/>
        </p:spPr>
        <p:txBody>
          <a:bodyPr wrap="square">
            <a:spAutoFit/>
          </a:bodyPr>
          <a:lstStyle/>
          <a:p>
            <a:pPr>
              <a:spcAft>
                <a:spcPts val="300"/>
              </a:spcAft>
            </a:pPr>
            <a:r>
              <a:rPr sz="2000" b="1" i="0">
                <a:solidFill>
                  <a:srgbClr val="1A1A1A"/>
                </a:solidFill>
                <a:latin typeface="Arial"/>
              </a:rPr>
              <a:t>Five adoption pathways, each with self-assessment questions.</a:t>
            </a:r>
          </a:p>
        </p:txBody>
      </p:sp>
      <p:sp>
        <p:nvSpPr>
          <p:cNvPr id="9" name="Rectangle 8"/>
          <p:cNvSpPr/>
          <p:nvPr/>
        </p:nvSpPr>
        <p:spPr>
          <a:xfrm>
            <a:off x="621792" y="45948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36008"/>
            <a:ext cx="10984687" cy="978408"/>
          </a:xfrm>
          <a:prstGeom prst="rect">
            <a:avLst/>
          </a:prstGeom>
          <a:noFill/>
        </p:spPr>
        <p:txBody>
          <a:bodyPr wrap="square">
            <a:spAutoFit/>
          </a:bodyPr>
          <a:lstStyle/>
          <a:p>
            <a:pPr>
              <a:spcAft>
                <a:spcPts val="300"/>
              </a:spcAft>
            </a:pPr>
            <a:r>
              <a:rPr sz="2000" b="1" i="0">
                <a:solidFill>
                  <a:srgbClr val="1A1A1A"/>
                </a:solidFill>
                <a:latin typeface="Arial"/>
              </a:rPr>
              <a:t>ITU runs a course on the framework with UNDP, and is a member of its consultative group.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first yearly review (illustrative)</a:t>
            </a:r>
          </a:p>
        </p:txBody>
      </p:sp>
      <p:sp>
        <p:nvSpPr>
          <p:cNvPr id="4" name="TextBox 3"/>
          <p:cNvSpPr txBox="1"/>
          <p:nvPr/>
        </p:nvSpPr>
        <p:spPr>
          <a:xfrm>
            <a:off x="658368" y="1463040"/>
            <a:ext cx="10984687" cy="832103"/>
          </a:xfrm>
          <a:prstGeom prst="rect">
            <a:avLst/>
          </a:prstGeom>
          <a:noFill/>
        </p:spPr>
        <p:txBody>
          <a:bodyPr wrap="square">
            <a:spAutoFit/>
          </a:bodyPr>
          <a:lstStyle/>
          <a:p>
            <a:pPr>
              <a:spcAft>
                <a:spcPts val="300"/>
              </a:spcAft>
            </a:pPr>
            <a:r>
              <a:rPr sz="1900" b="1" i="0">
                <a:solidFill>
                  <a:srgbClr val="1A1A1A"/>
                </a:solidFill>
                <a:latin typeface="Arial"/>
              </a:rPr>
              <a:t>Legal and regulatory</a:t>
            </a:r>
          </a:p>
          <a:p>
            <a:pPr>
              <a:spcAft>
                <a:spcPts val="300"/>
              </a:spcAft>
            </a:pPr>
            <a:r>
              <a:rPr sz="1600" b="0" i="0">
                <a:solidFill>
                  <a:srgbClr val="595959"/>
                </a:solidFill>
                <a:latin typeface="Arial"/>
              </a:rPr>
              <a:t>The amendment and the regulation on children's data drafted and with cabinet.</a:t>
            </a:r>
          </a:p>
        </p:txBody>
      </p:sp>
      <p:sp>
        <p:nvSpPr>
          <p:cNvPr id="5" name="Rectangle 4"/>
          <p:cNvSpPr/>
          <p:nvPr/>
        </p:nvSpPr>
        <p:spPr>
          <a:xfrm>
            <a:off x="621792" y="22997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40864"/>
            <a:ext cx="10984687" cy="832103"/>
          </a:xfrm>
          <a:prstGeom prst="rect">
            <a:avLst/>
          </a:prstGeom>
          <a:noFill/>
        </p:spPr>
        <p:txBody>
          <a:bodyPr wrap="square">
            <a:spAutoFit/>
          </a:bodyPr>
          <a:lstStyle/>
          <a:p>
            <a:pPr>
              <a:spcAft>
                <a:spcPts val="300"/>
              </a:spcAft>
            </a:pPr>
            <a:r>
              <a:rPr sz="1900" b="1" i="0">
                <a:solidFill>
                  <a:srgbClr val="1A1A1A"/>
                </a:solidFill>
                <a:latin typeface="Arial"/>
              </a:rPr>
              <a:t>Institutional structures</a:t>
            </a:r>
          </a:p>
          <a:p>
            <a:pPr>
              <a:spcAft>
                <a:spcPts val="300"/>
              </a:spcAft>
            </a:pPr>
            <a:r>
              <a:rPr sz="1600" b="0" i="0">
                <a:solidFill>
                  <a:srgbClr val="595959"/>
                </a:solidFill>
                <a:latin typeface="Arial"/>
              </a:rPr>
              <a:t>The joint board, with written terms, meets monthly.</a:t>
            </a:r>
          </a:p>
        </p:txBody>
      </p:sp>
      <p:sp>
        <p:nvSpPr>
          <p:cNvPr id="7" name="Rectangle 6"/>
          <p:cNvSpPr/>
          <p:nvPr/>
        </p:nvSpPr>
        <p:spPr>
          <a:xfrm>
            <a:off x="621792" y="3177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218688"/>
            <a:ext cx="10984687" cy="832103"/>
          </a:xfrm>
          <a:prstGeom prst="rect">
            <a:avLst/>
          </a:prstGeom>
          <a:noFill/>
        </p:spPr>
        <p:txBody>
          <a:bodyPr wrap="square">
            <a:spAutoFit/>
          </a:bodyPr>
          <a:lstStyle/>
          <a:p>
            <a:pPr>
              <a:spcAft>
                <a:spcPts val="300"/>
              </a:spcAft>
            </a:pPr>
            <a:r>
              <a:rPr sz="1900" b="1" i="0">
                <a:solidFill>
                  <a:srgbClr val="1A1A1A"/>
                </a:solidFill>
                <a:latin typeface="Arial"/>
              </a:rPr>
              <a:t>Technical foundations</a:t>
            </a:r>
          </a:p>
          <a:p>
            <a:pPr>
              <a:spcAft>
                <a:spcPts val="300"/>
              </a:spcAft>
            </a:pPr>
            <a:r>
              <a:rPr sz="1600" b="0" i="0">
                <a:solidFill>
                  <a:srgbClr val="595959"/>
                </a:solidFill>
                <a:latin typeface="Arial"/>
              </a:rPr>
              <a:t>Quality gates on the first district's load.</a:t>
            </a:r>
          </a:p>
        </p:txBody>
      </p:sp>
      <p:sp>
        <p:nvSpPr>
          <p:cNvPr id="9" name="Rectangle 8"/>
          <p:cNvSpPr/>
          <p:nvPr/>
        </p:nvSpPr>
        <p:spPr>
          <a:xfrm>
            <a:off x="621792" y="40553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96512"/>
            <a:ext cx="10984687" cy="832103"/>
          </a:xfrm>
          <a:prstGeom prst="rect">
            <a:avLst/>
          </a:prstGeom>
          <a:noFill/>
        </p:spPr>
        <p:txBody>
          <a:bodyPr wrap="square">
            <a:spAutoFit/>
          </a:bodyPr>
          <a:lstStyle/>
          <a:p>
            <a:pPr>
              <a:spcAft>
                <a:spcPts val="300"/>
              </a:spcAft>
            </a:pPr>
            <a:r>
              <a:rPr sz="1900" b="1" i="0">
                <a:solidFill>
                  <a:srgbClr val="1A1A1A"/>
                </a:solidFill>
                <a:latin typeface="Arial"/>
              </a:rPr>
              <a:t>Capacity and resources</a:t>
            </a:r>
          </a:p>
          <a:p>
            <a:pPr>
              <a:spcAft>
                <a:spcPts val="300"/>
              </a:spcAft>
            </a:pPr>
            <a:r>
              <a:rPr sz="1600" b="0" i="0">
                <a:solidFill>
                  <a:srgbClr val="595959"/>
                </a:solidFill>
                <a:latin typeface="Arial"/>
              </a:rPr>
              <a:t>A named data steward; a recurrent budget line requested from 2029.</a:t>
            </a:r>
          </a:p>
        </p:txBody>
      </p:sp>
      <p:sp>
        <p:nvSpPr>
          <p:cNvPr id="11" name="Rectangle 10"/>
          <p:cNvSpPr/>
          <p:nvPr/>
        </p:nvSpPr>
        <p:spPr>
          <a:xfrm>
            <a:off x="621792" y="49331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74336"/>
            <a:ext cx="10984687" cy="832103"/>
          </a:xfrm>
          <a:prstGeom prst="rect">
            <a:avLst/>
          </a:prstGeom>
          <a:noFill/>
        </p:spPr>
        <p:txBody>
          <a:bodyPr wrap="square">
            <a:spAutoFit/>
          </a:bodyPr>
          <a:lstStyle/>
          <a:p>
            <a:pPr>
              <a:spcAft>
                <a:spcPts val="300"/>
              </a:spcAft>
            </a:pPr>
            <a:r>
              <a:rPr sz="1900" b="1" i="0">
                <a:solidFill>
                  <a:srgbClr val="1A1A1A"/>
                </a:solidFill>
                <a:latin typeface="Arial"/>
              </a:rPr>
              <a:t>Whole of society</a:t>
            </a:r>
          </a:p>
          <a:p>
            <a:pPr>
              <a:spcAft>
                <a:spcPts val="300"/>
              </a:spcAft>
            </a:pPr>
            <a:r>
              <a:rPr sz="1600" b="0" i="0">
                <a:solidFill>
                  <a:srgbClr val="595959"/>
                </a:solidFill>
                <a:latin typeface="Arial"/>
              </a:rPr>
              <a:t>Every body commented on the roadmap.</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After launch, indicators read every month, quarter and year, quality checks and reconciliation on every load, and a regular review against the published safeguards keep the foundation trusted and safe.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month's report of exceptions.</a:t>
            </a:r>
          </a:p>
          <a:p>
            <a:pPr algn="l">
              <a:spcAft>
                <a:spcPts val="400"/>
              </a:spcAft>
            </a:pPr>
            <a:r>
              <a:rPr sz="1800" b="0" i="0">
                <a:solidFill>
                  <a:srgbClr val="595959"/>
                </a:solidFill>
                <a:latin typeface="Arial"/>
              </a:rPr>
              <a:t>The prompt in the companion material gives you a one-page report of exceptions in three parts: what moved, what failed and what needs a decision.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600" b="0" i="0">
                <a:solidFill>
                  <a:srgbClr val="1A1A1A"/>
                </a:solidFill>
                <a:latin typeface="Arial"/>
              </a:rPr>
              <a:t>•  Universal DPI Safeguards Framework, United Nations, 2024, pages 6, 15 and 43 and the framework's web page</a:t>
            </a:r>
          </a:p>
          <a:p>
            <a:pPr>
              <a:spcAft>
                <a:spcPts val="1000"/>
              </a:spcAft>
            </a:pPr>
            <a:r>
              <a:rPr sz="1600" b="0" i="0">
                <a:solidFill>
                  <a:srgbClr val="1A1A1A"/>
                </a:solidFill>
                <a:latin typeface="Arial"/>
              </a:rPr>
              <a:t>•  ITU Academy course 'Accelerating digital public infrastructure with safeguards'</a:t>
            </a:r>
          </a:p>
          <a:p>
            <a:pPr>
              <a:spcAft>
                <a:spcPts val="1000"/>
              </a:spcAft>
            </a:pPr>
            <a:r>
              <a:rPr sz="1600" b="0" i="0">
                <a:solidFill>
                  <a:srgbClr val="1A1A1A"/>
                </a:solidFill>
                <a:latin typeface="Arial"/>
              </a:rPr>
              <a:t>•  GovStack Digital Registries specification, Version 3.0-alpha, section 5.2, DRS-7 and DRS-21</a:t>
            </a:r>
          </a:p>
          <a:p>
            <a:pPr>
              <a:spcAft>
                <a:spcPts val="1000"/>
              </a:spcAft>
            </a:pPr>
            <a:r>
              <a:rPr sz="1600" b="0" i="0">
                <a:solidFill>
                  <a:srgbClr val="1A1A1A"/>
                </a:solidFill>
                <a:latin typeface="Arial"/>
              </a:rPr>
              <a:t>•  GovStack Payments specification, Version 3.0, sections 6.8 and 6.12</a:t>
            </a:r>
          </a:p>
          <a:p>
            <a:pPr>
              <a:spcAft>
                <a:spcPts val="1000"/>
              </a:spcAft>
            </a:pPr>
            <a:r>
              <a:rPr sz="1600" b="0" i="0">
                <a:solidFill>
                  <a:srgbClr val="1A1A1A"/>
                </a:solidFill>
                <a:latin typeface="Arial"/>
              </a:rPr>
              <a:t>•  PAERA v1.0, section 5.4, steps 7 and 8</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6.8 · Keep the foundation healthy and safe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6.9</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6.9</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AI plays, step by step</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At every step of the method and of the build there is a task an AI assistant can draft and a check only a person can make, and no decision is handed over.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AI assistant can draft most of the paperwork of a roadmap.</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cannot decide anything in it.</a:t>
            </a:r>
          </a:p>
          <a:p>
            <a:pPr>
              <a:spcAft>
                <a:spcPts val="800"/>
              </a:spcAft>
            </a:pPr>
            <a:r>
              <a:rPr sz="1700" b="0" i="0">
                <a:solidFill>
                  <a:srgbClr val="595959"/>
                </a:solidFill>
                <a:latin typeface="Arial"/>
              </a:rPr>
              <a:t>The skill is knowing, at each step, what to hand over and what to keep.</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play for each step</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Assess</a:t>
            </a:r>
          </a:p>
          <a:p>
            <a:pPr>
              <a:spcAft>
                <a:spcPts val="300"/>
              </a:spcAft>
            </a:pPr>
            <a:r>
              <a:rPr sz="1700" b="0" i="0">
                <a:solidFill>
                  <a:srgbClr val="595959"/>
                </a:solidFill>
                <a:latin typeface="Arial"/>
              </a:rPr>
              <a:t>The desk assessment, the review of a questionnaire, the scorer.</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Plan</a:t>
            </a:r>
          </a:p>
          <a:p>
            <a:pPr>
              <a:spcAft>
                <a:spcPts val="300"/>
              </a:spcAft>
            </a:pPr>
            <a:r>
              <a:rPr sz="1700" b="0" i="0">
                <a:solidFill>
                  <a:srgbClr val="595959"/>
                </a:solidFill>
                <a:latin typeface="Arial"/>
              </a:rPr>
              <a:t>The gap register, cost against reuse, the waves, the investment sheets.</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Govern</a:t>
            </a:r>
          </a:p>
          <a:p>
            <a:pPr>
              <a:spcAft>
                <a:spcPts val="300"/>
              </a:spcAft>
            </a:pPr>
            <a:r>
              <a:rPr sz="1700" b="0" i="0">
                <a:solidFill>
                  <a:srgbClr val="595959"/>
                </a:solidFill>
                <a:latin typeface="Arial"/>
              </a:rPr>
              <a:t>The contract check, the board's terms, the revision, the monthly exceptions.</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Build</a:t>
            </a:r>
          </a:p>
          <a:p>
            <a:pPr>
              <a:spcAft>
                <a:spcPts val="300"/>
              </a:spcAft>
            </a:pPr>
            <a:r>
              <a:rPr sz="1700" b="0" i="0">
                <a:solidFill>
                  <a:srgbClr val="595959"/>
                </a:solidFill>
                <a:latin typeface="Arial"/>
              </a:rPr>
              <a:t>Four generators: the registration service, the register's schema, the identity connection, the payment connection.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assistant drafts, what a person checks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The assistant drafts; a person decides.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Every claim quotes its evidence.</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 missing answer is reported, never filled in.</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No personal data in a prompt; test persons in the build.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Trust a play only after a known result</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Run the play where the answer is already known.</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Compare its output with the known answer.</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Any difference</a:t>
            </a:r>
          </a:p>
          <a:p>
            <a:pPr>
              <a:spcAft>
                <a:spcPts val="300"/>
              </a:spcAft>
            </a:pPr>
            <a:r>
              <a:rPr sz="1700" b="0" i="0">
                <a:solidFill>
                  <a:srgbClr val="595959"/>
                </a:solidFill>
                <a:latin typeface="Arial"/>
              </a:rPr>
              <a:t>Find the cause before the play is used.</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Then run it on new evidence.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scorer, on a domain whose result is known</a:t>
            </a:r>
          </a:p>
        </p:txBody>
      </p:sp>
      <p:sp>
        <p:nvSpPr>
          <p:cNvPr id="4" name="Oval 3"/>
          <p:cNvSpPr/>
          <p:nvPr/>
        </p:nvSpPr>
        <p:spPr>
          <a:xfrm>
            <a:off x="621792" y="1527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640080"/>
          </a:xfrm>
          <a:prstGeom prst="rect">
            <a:avLst/>
          </a:prstGeom>
          <a:noFill/>
        </p:spPr>
        <p:txBody>
          <a:bodyPr wrap="square">
            <a:spAutoFit/>
          </a:bodyPr>
          <a:lstStyle/>
          <a:p>
            <a:pPr>
              <a:spcAft>
                <a:spcPts val="300"/>
              </a:spcAft>
            </a:pPr>
            <a:r>
              <a:rPr sz="1600" b="1" i="0">
                <a:solidFill>
                  <a:srgbClr val="1A1A1A"/>
                </a:solidFill>
                <a:latin typeface="Arial"/>
              </a:rPr>
              <a:t>Set the known result aside</a:t>
            </a:r>
          </a:p>
          <a:p>
            <a:pPr>
              <a:spcAft>
                <a:spcPts val="300"/>
              </a:spcAft>
            </a:pPr>
            <a:r>
              <a:rPr sz="1400" b="0" i="0">
                <a:solidFill>
                  <a:srgbClr val="595959"/>
                </a:solidFill>
                <a:latin typeface="Arial"/>
              </a:rPr>
              <a:t>Digital Data as validated: score 1.3, Opportunistic.</a:t>
            </a:r>
          </a:p>
        </p:txBody>
      </p:sp>
      <p:sp>
        <p:nvSpPr>
          <p:cNvPr id="6" name="Rectangle 5"/>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128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48840"/>
            <a:ext cx="10527487" cy="640080"/>
          </a:xfrm>
          <a:prstGeom prst="rect">
            <a:avLst/>
          </a:prstGeom>
          <a:noFill/>
        </p:spPr>
        <p:txBody>
          <a:bodyPr wrap="square">
            <a:spAutoFit/>
          </a:bodyPr>
          <a:lstStyle/>
          <a:p>
            <a:pPr>
              <a:spcAft>
                <a:spcPts val="300"/>
              </a:spcAft>
            </a:pPr>
            <a:r>
              <a:rPr sz="1600" b="1" i="0">
                <a:solidFill>
                  <a:srgbClr val="1A1A1A"/>
                </a:solidFill>
                <a:latin typeface="Arial"/>
              </a:rPr>
              <a:t>Assemble the inputs</a:t>
            </a:r>
          </a:p>
          <a:p>
            <a:pPr>
              <a:spcAft>
                <a:spcPts val="300"/>
              </a:spcAft>
            </a:pPr>
            <a:r>
              <a:rPr sz="1400" b="0" i="0">
                <a:solidFill>
                  <a:srgbClr val="595959"/>
                </a:solidFill>
                <a:latin typeface="Arial"/>
              </a:rPr>
              <a:t>The criteria, the verified answers, the desk result marked UNVERIFIED.</a:t>
            </a:r>
          </a:p>
        </p:txBody>
      </p:sp>
      <p:sp>
        <p:nvSpPr>
          <p:cNvPr id="9" name="Rectangle 8"/>
          <p:cNvSpPr/>
          <p:nvPr/>
        </p:nvSpPr>
        <p:spPr>
          <a:xfrm>
            <a:off x="621792" y="2793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898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34640"/>
            <a:ext cx="10527487" cy="640080"/>
          </a:xfrm>
          <a:prstGeom prst="rect">
            <a:avLst/>
          </a:prstGeom>
          <a:noFill/>
        </p:spPr>
        <p:txBody>
          <a:bodyPr wrap="square">
            <a:spAutoFit/>
          </a:bodyPr>
          <a:lstStyle/>
          <a:p>
            <a:pPr>
              <a:spcAft>
                <a:spcPts val="300"/>
              </a:spcAft>
            </a:pPr>
            <a:r>
              <a:rPr sz="1600" b="1" i="0">
                <a:solidFill>
                  <a:srgbClr val="1A1A1A"/>
                </a:solidFill>
                <a:latin typeface="Arial"/>
              </a:rPr>
              <a:t>Run the scoring prompt once</a:t>
            </a:r>
          </a:p>
          <a:p>
            <a:pPr>
              <a:spcAft>
                <a:spcPts val="300"/>
              </a:spcAft>
            </a:pPr>
            <a:r>
              <a:rPr sz="1400" b="0" i="0">
                <a:solidFill>
                  <a:srgbClr val="595959"/>
                </a:solidFill>
                <a:latin typeface="Arial"/>
              </a:rPr>
              <a:t>Proposals, arithmetic, answers not used, conflicts.</a:t>
            </a:r>
          </a:p>
        </p:txBody>
      </p:sp>
      <p:sp>
        <p:nvSpPr>
          <p:cNvPr id="12" name="Rectangle 11"/>
          <p:cNvSpPr/>
          <p:nvPr/>
        </p:nvSpPr>
        <p:spPr>
          <a:xfrm>
            <a:off x="621792" y="3479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5844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520440"/>
            <a:ext cx="10527487" cy="640080"/>
          </a:xfrm>
          <a:prstGeom prst="rect">
            <a:avLst/>
          </a:prstGeom>
          <a:noFill/>
        </p:spPr>
        <p:txBody>
          <a:bodyPr wrap="square">
            <a:spAutoFit/>
          </a:bodyPr>
          <a:lstStyle/>
          <a:p>
            <a:pPr>
              <a:spcAft>
                <a:spcPts val="300"/>
              </a:spcAft>
            </a:pPr>
            <a:r>
              <a:rPr sz="1600" b="1" i="0">
                <a:solidFill>
                  <a:srgbClr val="1A1A1A"/>
                </a:solidFill>
                <a:latin typeface="Arial"/>
              </a:rPr>
              <a:t>Set the proposal beside the known result</a:t>
            </a:r>
          </a:p>
          <a:p>
            <a:pPr>
              <a:spcAft>
                <a:spcPts val="300"/>
              </a:spcAft>
            </a:pPr>
            <a:r>
              <a:rPr sz="1400" b="0" i="0">
                <a:solidFill>
                  <a:srgbClr val="595959"/>
                </a:solidFill>
                <a:latin typeface="Arial"/>
              </a:rPr>
              <a:t>The six stages and the score of 1.3 match.</a:t>
            </a:r>
          </a:p>
        </p:txBody>
      </p:sp>
      <p:sp>
        <p:nvSpPr>
          <p:cNvPr id="15" name="Rectangle 14"/>
          <p:cNvSpPr/>
          <p:nvPr/>
        </p:nvSpPr>
        <p:spPr>
          <a:xfrm>
            <a:off x="621792" y="41650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2702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206240"/>
            <a:ext cx="10527487" cy="640080"/>
          </a:xfrm>
          <a:prstGeom prst="rect">
            <a:avLst/>
          </a:prstGeom>
          <a:noFill/>
        </p:spPr>
        <p:txBody>
          <a:bodyPr wrap="square">
            <a:spAutoFit/>
          </a:bodyPr>
          <a:lstStyle/>
          <a:p>
            <a:pPr>
              <a:spcAft>
                <a:spcPts val="300"/>
              </a:spcAft>
            </a:pPr>
            <a:r>
              <a:rPr sz="1600" b="1" i="0">
                <a:solidFill>
                  <a:srgbClr val="1A1A1A"/>
                </a:solidFill>
                <a:latin typeface="Arial"/>
              </a:rPr>
              <a:t>A second known result</a:t>
            </a:r>
          </a:p>
          <a:p>
            <a:pPr>
              <a:spcAft>
                <a:spcPts val="300"/>
              </a:spcAft>
            </a:pPr>
            <a:r>
              <a:rPr sz="1400" b="0" i="0">
                <a:solidFill>
                  <a:srgbClr val="595959"/>
                </a:solidFill>
                <a:latin typeface="Arial"/>
              </a:rPr>
              <a:t>Interoperability, with its verified position.</a:t>
            </a:r>
          </a:p>
        </p:txBody>
      </p:sp>
      <p:sp>
        <p:nvSpPr>
          <p:cNvPr id="18" name="Rectangle 17"/>
          <p:cNvSpPr/>
          <p:nvPr/>
        </p:nvSpPr>
        <p:spPr>
          <a:xfrm>
            <a:off x="621792" y="4850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956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892040"/>
            <a:ext cx="10527487" cy="640080"/>
          </a:xfrm>
          <a:prstGeom prst="rect">
            <a:avLst/>
          </a:prstGeom>
          <a:noFill/>
        </p:spPr>
        <p:txBody>
          <a:bodyPr wrap="square">
            <a:spAutoFit/>
          </a:bodyPr>
          <a:lstStyle/>
          <a:p>
            <a:pPr>
              <a:spcAft>
                <a:spcPts val="300"/>
              </a:spcAft>
            </a:pPr>
            <a:r>
              <a:rPr sz="1600" b="1" i="0">
                <a:solidFill>
                  <a:srgbClr val="1A1A1A"/>
                </a:solidFill>
                <a:latin typeface="Arial"/>
              </a:rPr>
              <a:t>Record the confirmation</a:t>
            </a:r>
          </a:p>
          <a:p>
            <a:pPr>
              <a:spcAft>
                <a:spcPts val="300"/>
              </a:spcAft>
            </a:pPr>
            <a:r>
              <a:rPr sz="1400" b="0" i="0">
                <a:solidFill>
                  <a:srgbClr val="595959"/>
                </a:solidFill>
                <a:latin typeface="Arial"/>
              </a:rPr>
              <a:t>Each stage confirmed or changed, with its reason.</a:t>
            </a:r>
          </a:p>
        </p:txBody>
      </p:sp>
      <p:sp>
        <p:nvSpPr>
          <p:cNvPr id="21" name="TextBox 20"/>
          <p:cNvSpPr txBox="1"/>
          <p:nvPr/>
        </p:nvSpPr>
        <p:spPr>
          <a:xfrm>
            <a:off x="658368" y="565099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At every step of the method and of the build there is a task an AI assistant can draft and a check only a person can make, and no decision is handed over.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a play where the answer is known, before you trust it.</a:t>
            </a:r>
          </a:p>
          <a:p>
            <a:pPr algn="l">
              <a:spcAft>
                <a:spcPts val="400"/>
              </a:spcAft>
            </a:pPr>
            <a:r>
              <a:rPr sz="1800" b="0" i="0">
                <a:solidFill>
                  <a:srgbClr val="595959"/>
                </a:solidFill>
                <a:latin typeface="Arial"/>
              </a:rPr>
              <a:t>The prompt in the companion material gives you a proposed stage and score for each sub-component, with quoted evidence, the domain score with its arithmetic, and the answers not used.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 5.3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6.9 · The AI plays, step by step</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method to another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Change the sector's register and services and keep the five domains, the nine steps and the foundational blocks, and the same method produces a roadmap for health, agriculture or social protection.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Education is the first sector here, not the only 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does not belong to schools.</a:t>
            </a:r>
          </a:p>
          <a:p>
            <a:pPr>
              <a:spcAft>
                <a:spcPts val="800"/>
              </a:spcAft>
            </a:pPr>
            <a:r>
              <a:rPr sz="1700" b="0" i="0">
                <a:solidFill>
                  <a:srgbClr val="595959"/>
                </a:solidFill>
                <a:latin typeface="Arial"/>
              </a:rPr>
              <a:t>A ministry of health, of agriculture or of social protection can use it, if it knows what to keep and what to replace.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stays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The five domains.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The nine steps, with their roles and templates.</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The foundational blocks</a:t>
            </a:r>
          </a:p>
          <a:p>
            <a:pPr>
              <a:spcAft>
                <a:spcPts val="300"/>
              </a:spcAft>
            </a:pPr>
            <a:r>
              <a:rPr sz="1700" b="0" i="0">
                <a:solidFill>
                  <a:srgbClr val="595959"/>
                </a:solidFill>
                <a:latin typeface="Arial"/>
              </a:rPr>
              <a:t>Identity, payments, data exchange.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Sector applications sit above the core (UNDP, 2023, Exhibit 2).</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changes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sector's register</a:t>
            </a:r>
          </a:p>
          <a:p>
            <a:pPr>
              <a:spcAft>
                <a:spcPts val="300"/>
              </a:spcAft>
            </a:pPr>
            <a:r>
              <a:rPr sz="1800" b="0" i="0">
                <a:solidFill>
                  <a:srgbClr val="595959"/>
                </a:solidFill>
                <a:latin typeface="Arial"/>
              </a:rPr>
              <a:t>In health, providers and facilities; in social protection, social insurance.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sector's services, and the bodies that own them.</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Any state registry needs two blocks</a:t>
            </a:r>
          </a:p>
          <a:p>
            <a:pPr>
              <a:spcAft>
                <a:spcPts val="300"/>
              </a:spcAft>
            </a:pPr>
            <a:r>
              <a:rPr sz="1800" b="0" i="0">
                <a:solidFill>
                  <a:srgbClr val="595959"/>
                </a:solidFill>
                <a:latin typeface="Arial"/>
              </a:rPr>
              <a:t>Registration and a Digital Registry (PAERA, Annex 1).</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carry-over table</a:t>
            </a:r>
          </a:p>
        </p:txBody>
      </p:sp>
      <p:sp>
        <p:nvSpPr>
          <p:cNvPr id="4" name="TextBox 3"/>
          <p:cNvSpPr txBox="1"/>
          <p:nvPr/>
        </p:nvSpPr>
        <p:spPr>
          <a:xfrm>
            <a:off x="658368" y="2151379"/>
            <a:ext cx="3182112" cy="457200"/>
          </a:xfrm>
          <a:prstGeom prst="rect">
            <a:avLst/>
          </a:prstGeom>
          <a:noFill/>
        </p:spPr>
        <p:txBody>
          <a:bodyPr wrap="square">
            <a:spAutoFit/>
          </a:bodyPr>
          <a:lstStyle/>
          <a:p>
            <a:r>
              <a:rPr sz="1600" b="1" i="0">
                <a:solidFill>
                  <a:srgbClr val="006E96"/>
                </a:solidFill>
                <a:latin typeface="Arial"/>
              </a:rPr>
              <a:t>Part</a:t>
            </a:r>
          </a:p>
        </p:txBody>
      </p:sp>
      <p:sp>
        <p:nvSpPr>
          <p:cNvPr id="5" name="TextBox 4"/>
          <p:cNvSpPr txBox="1"/>
          <p:nvPr/>
        </p:nvSpPr>
        <p:spPr>
          <a:xfrm>
            <a:off x="3950208" y="2151379"/>
            <a:ext cx="2816352" cy="457200"/>
          </a:xfrm>
          <a:prstGeom prst="rect">
            <a:avLst/>
          </a:prstGeom>
          <a:noFill/>
        </p:spPr>
        <p:txBody>
          <a:bodyPr wrap="square">
            <a:spAutoFit/>
          </a:bodyPr>
          <a:lstStyle/>
          <a:p>
            <a:r>
              <a:rPr sz="1600" b="1" i="0">
                <a:solidFill>
                  <a:srgbClr val="006E96"/>
                </a:solidFill>
                <a:latin typeface="Arial"/>
              </a:rPr>
              <a:t>Keep or replace</a:t>
            </a:r>
          </a:p>
        </p:txBody>
      </p:sp>
      <p:sp>
        <p:nvSpPr>
          <p:cNvPr id="6" name="TextBox 5"/>
          <p:cNvSpPr txBox="1"/>
          <p:nvPr/>
        </p:nvSpPr>
        <p:spPr>
          <a:xfrm>
            <a:off x="6876288" y="2151379"/>
            <a:ext cx="4553712" cy="457200"/>
          </a:xfrm>
          <a:prstGeom prst="rect">
            <a:avLst/>
          </a:prstGeom>
          <a:noFill/>
        </p:spPr>
        <p:txBody>
          <a:bodyPr wrap="square">
            <a:spAutoFit/>
          </a:bodyPr>
          <a:lstStyle/>
          <a:p>
            <a:r>
              <a:rPr sz="1600" b="1" i="0">
                <a:solidFill>
                  <a:srgbClr val="006E96"/>
                </a:solidFill>
                <a:latin typeface="Arial"/>
              </a:rPr>
              <a:t>What changes</a:t>
            </a:r>
          </a:p>
        </p:txBody>
      </p:sp>
      <p:sp>
        <p:nvSpPr>
          <p:cNvPr id="7" name="Rectangle 6"/>
          <p:cNvSpPr/>
          <p:nvPr/>
        </p:nvSpPr>
        <p:spPr>
          <a:xfrm>
            <a:off x="658368" y="2608579"/>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700019"/>
            <a:ext cx="3182112" cy="410464"/>
          </a:xfrm>
          <a:prstGeom prst="rect">
            <a:avLst/>
          </a:prstGeom>
          <a:noFill/>
        </p:spPr>
        <p:txBody>
          <a:bodyPr wrap="square">
            <a:spAutoFit/>
          </a:bodyPr>
          <a:lstStyle/>
          <a:p>
            <a:r>
              <a:rPr sz="1600" b="1" i="0">
                <a:solidFill>
                  <a:srgbClr val="1A1A1A"/>
                </a:solidFill>
                <a:latin typeface="Arial"/>
              </a:rPr>
              <a:t>Domains</a:t>
            </a:r>
          </a:p>
        </p:txBody>
      </p:sp>
      <p:sp>
        <p:nvSpPr>
          <p:cNvPr id="9" name="TextBox 8"/>
          <p:cNvSpPr txBox="1"/>
          <p:nvPr/>
        </p:nvSpPr>
        <p:spPr>
          <a:xfrm>
            <a:off x="3950208" y="2700019"/>
            <a:ext cx="2816352" cy="410464"/>
          </a:xfrm>
          <a:prstGeom prst="rect">
            <a:avLst/>
          </a:prstGeom>
          <a:noFill/>
        </p:spPr>
        <p:txBody>
          <a:bodyPr wrap="square">
            <a:spAutoFit/>
          </a:bodyPr>
          <a:lstStyle/>
          <a:p>
            <a:r>
              <a:rPr sz="1600" b="0" i="0">
                <a:solidFill>
                  <a:srgbClr val="1A1A1A"/>
                </a:solidFill>
                <a:latin typeface="Arial"/>
              </a:rPr>
              <a:t>Keep</a:t>
            </a:r>
          </a:p>
        </p:txBody>
      </p:sp>
      <p:sp>
        <p:nvSpPr>
          <p:cNvPr id="10" name="TextBox 9"/>
          <p:cNvSpPr txBox="1"/>
          <p:nvPr/>
        </p:nvSpPr>
        <p:spPr>
          <a:xfrm>
            <a:off x="6876288" y="2700019"/>
            <a:ext cx="4553712" cy="410464"/>
          </a:xfrm>
          <a:prstGeom prst="rect">
            <a:avLst/>
          </a:prstGeom>
          <a:noFill/>
        </p:spPr>
        <p:txBody>
          <a:bodyPr wrap="square">
            <a:spAutoFit/>
          </a:bodyPr>
          <a:lstStyle/>
          <a:p>
            <a:r>
              <a:rPr sz="1600" b="0" i="0">
                <a:solidFill>
                  <a:srgbClr val="1A1A1A"/>
                </a:solidFill>
                <a:latin typeface="Arial"/>
              </a:rPr>
              <a:t>Add the sector's own questions</a:t>
            </a:r>
          </a:p>
        </p:txBody>
      </p:sp>
      <p:sp>
        <p:nvSpPr>
          <p:cNvPr id="11" name="Rectangle 10"/>
          <p:cNvSpPr/>
          <p:nvPr/>
        </p:nvSpPr>
        <p:spPr>
          <a:xfrm>
            <a:off x="658368" y="3128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183636"/>
            <a:ext cx="3182112" cy="410464"/>
          </a:xfrm>
          <a:prstGeom prst="rect">
            <a:avLst/>
          </a:prstGeom>
          <a:noFill/>
        </p:spPr>
        <p:txBody>
          <a:bodyPr wrap="square">
            <a:spAutoFit/>
          </a:bodyPr>
          <a:lstStyle/>
          <a:p>
            <a:r>
              <a:rPr sz="1600" b="1" i="0">
                <a:solidFill>
                  <a:srgbClr val="1A1A1A"/>
                </a:solidFill>
                <a:latin typeface="Arial"/>
              </a:rPr>
              <a:t>Nine steps</a:t>
            </a:r>
          </a:p>
        </p:txBody>
      </p:sp>
      <p:sp>
        <p:nvSpPr>
          <p:cNvPr id="13" name="TextBox 12"/>
          <p:cNvSpPr txBox="1"/>
          <p:nvPr/>
        </p:nvSpPr>
        <p:spPr>
          <a:xfrm>
            <a:off x="3950208" y="3183636"/>
            <a:ext cx="2816352" cy="410464"/>
          </a:xfrm>
          <a:prstGeom prst="rect">
            <a:avLst/>
          </a:prstGeom>
          <a:noFill/>
        </p:spPr>
        <p:txBody>
          <a:bodyPr wrap="square">
            <a:spAutoFit/>
          </a:bodyPr>
          <a:lstStyle/>
          <a:p>
            <a:r>
              <a:rPr sz="1600" b="0" i="0">
                <a:solidFill>
                  <a:srgbClr val="1A1A1A"/>
                </a:solidFill>
                <a:latin typeface="Arial"/>
              </a:rPr>
              <a:t>Keep</a:t>
            </a:r>
          </a:p>
        </p:txBody>
      </p:sp>
      <p:sp>
        <p:nvSpPr>
          <p:cNvPr id="14" name="TextBox 13"/>
          <p:cNvSpPr txBox="1"/>
          <p:nvPr/>
        </p:nvSpPr>
        <p:spPr>
          <a:xfrm>
            <a:off x="6876288" y="3183636"/>
            <a:ext cx="4553712" cy="410464"/>
          </a:xfrm>
          <a:prstGeom prst="rect">
            <a:avLst/>
          </a:prstGeom>
          <a:noFill/>
        </p:spPr>
        <p:txBody>
          <a:bodyPr wrap="square">
            <a:spAutoFit/>
          </a:bodyPr>
          <a:lstStyle/>
          <a:p>
            <a:r>
              <a:rPr sz="1600" b="0" i="0">
                <a:solidFill>
                  <a:srgbClr val="1A1A1A"/>
                </a:solidFill>
                <a:latin typeface="Arial"/>
              </a:rPr>
              <a:t>New bodies, sessions and documents</a:t>
            </a:r>
          </a:p>
        </p:txBody>
      </p:sp>
      <p:sp>
        <p:nvSpPr>
          <p:cNvPr id="15" name="Rectangle 14"/>
          <p:cNvSpPr/>
          <p:nvPr/>
        </p:nvSpPr>
        <p:spPr>
          <a:xfrm>
            <a:off x="658368" y="3612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667252"/>
            <a:ext cx="3182112" cy="410464"/>
          </a:xfrm>
          <a:prstGeom prst="rect">
            <a:avLst/>
          </a:prstGeom>
          <a:noFill/>
        </p:spPr>
        <p:txBody>
          <a:bodyPr wrap="square">
            <a:spAutoFit/>
          </a:bodyPr>
          <a:lstStyle/>
          <a:p>
            <a:r>
              <a:rPr sz="1600" b="1" i="0">
                <a:solidFill>
                  <a:srgbClr val="1A1A1A"/>
                </a:solidFill>
                <a:latin typeface="Arial"/>
              </a:rPr>
              <a:t>Foundational blocks</a:t>
            </a:r>
          </a:p>
        </p:txBody>
      </p:sp>
      <p:sp>
        <p:nvSpPr>
          <p:cNvPr id="17" name="TextBox 16"/>
          <p:cNvSpPr txBox="1"/>
          <p:nvPr/>
        </p:nvSpPr>
        <p:spPr>
          <a:xfrm>
            <a:off x="3950208" y="3667252"/>
            <a:ext cx="2816352" cy="410464"/>
          </a:xfrm>
          <a:prstGeom prst="rect">
            <a:avLst/>
          </a:prstGeom>
          <a:noFill/>
        </p:spPr>
        <p:txBody>
          <a:bodyPr wrap="square">
            <a:spAutoFit/>
          </a:bodyPr>
          <a:lstStyle/>
          <a:p>
            <a:r>
              <a:rPr sz="1600" b="0" i="0">
                <a:solidFill>
                  <a:srgbClr val="1A1A1A"/>
                </a:solidFill>
                <a:latin typeface="Arial"/>
              </a:rPr>
              <a:t>Keep and reuse</a:t>
            </a:r>
          </a:p>
        </p:txBody>
      </p:sp>
      <p:sp>
        <p:nvSpPr>
          <p:cNvPr id="18" name="TextBox 17"/>
          <p:cNvSpPr txBox="1"/>
          <p:nvPr/>
        </p:nvSpPr>
        <p:spPr>
          <a:xfrm>
            <a:off x="6876288" y="3667252"/>
            <a:ext cx="4553712" cy="410464"/>
          </a:xfrm>
          <a:prstGeom prst="rect">
            <a:avLst/>
          </a:prstGeom>
          <a:noFill/>
        </p:spPr>
        <p:txBody>
          <a:bodyPr wrap="square">
            <a:spAutoFit/>
          </a:bodyPr>
          <a:lstStyle/>
          <a:p>
            <a:r>
              <a:rPr sz="1600" b="0" i="0">
                <a:solidFill>
                  <a:srgbClr val="1A1A1A"/>
                </a:solidFill>
                <a:latin typeface="Arial"/>
              </a:rPr>
              <a:t>The connections only</a:t>
            </a:r>
          </a:p>
        </p:txBody>
      </p:sp>
      <p:sp>
        <p:nvSpPr>
          <p:cNvPr id="19" name="Rectangle 18"/>
          <p:cNvSpPr/>
          <p:nvPr/>
        </p:nvSpPr>
        <p:spPr>
          <a:xfrm>
            <a:off x="658368" y="409600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150868"/>
            <a:ext cx="3182112" cy="410464"/>
          </a:xfrm>
          <a:prstGeom prst="rect">
            <a:avLst/>
          </a:prstGeom>
          <a:noFill/>
        </p:spPr>
        <p:txBody>
          <a:bodyPr wrap="square">
            <a:spAutoFit/>
          </a:bodyPr>
          <a:lstStyle/>
          <a:p>
            <a:r>
              <a:rPr sz="1600" b="1" i="0">
                <a:solidFill>
                  <a:srgbClr val="1A1A1A"/>
                </a:solidFill>
                <a:latin typeface="Arial"/>
              </a:rPr>
              <a:t>Register and services</a:t>
            </a:r>
          </a:p>
        </p:txBody>
      </p:sp>
      <p:sp>
        <p:nvSpPr>
          <p:cNvPr id="21" name="TextBox 20"/>
          <p:cNvSpPr txBox="1"/>
          <p:nvPr/>
        </p:nvSpPr>
        <p:spPr>
          <a:xfrm>
            <a:off x="3950208" y="4150868"/>
            <a:ext cx="2816352" cy="410464"/>
          </a:xfrm>
          <a:prstGeom prst="rect">
            <a:avLst/>
          </a:prstGeom>
          <a:noFill/>
        </p:spPr>
        <p:txBody>
          <a:bodyPr wrap="square">
            <a:spAutoFit/>
          </a:bodyPr>
          <a:lstStyle/>
          <a:p>
            <a:r>
              <a:rPr sz="1600" b="0" i="0">
                <a:solidFill>
                  <a:srgbClr val="1A1A1A"/>
                </a:solidFill>
                <a:latin typeface="Arial"/>
              </a:rPr>
              <a:t>Replace</a:t>
            </a:r>
          </a:p>
        </p:txBody>
      </p:sp>
      <p:sp>
        <p:nvSpPr>
          <p:cNvPr id="22" name="TextBox 21"/>
          <p:cNvSpPr txBox="1"/>
          <p:nvPr/>
        </p:nvSpPr>
        <p:spPr>
          <a:xfrm>
            <a:off x="6876288" y="4150868"/>
            <a:ext cx="4553712" cy="410464"/>
          </a:xfrm>
          <a:prstGeom prst="rect">
            <a:avLst/>
          </a:prstGeom>
          <a:noFill/>
        </p:spPr>
        <p:txBody>
          <a:bodyPr wrap="square">
            <a:spAutoFit/>
          </a:bodyPr>
          <a:lstStyle/>
          <a:p>
            <a:r>
              <a:rPr sz="1600" b="0" i="0">
                <a:solidFill>
                  <a:srgbClr val="1A1A1A"/>
                </a:solidFill>
                <a:latin typeface="Arial"/>
              </a:rPr>
              <a:t>Assess afresh</a:t>
            </a:r>
          </a:p>
        </p:txBody>
      </p:sp>
      <p:sp>
        <p:nvSpPr>
          <p:cNvPr id="23" name="Rectangle 22"/>
          <p:cNvSpPr/>
          <p:nvPr/>
        </p:nvSpPr>
        <p:spPr>
          <a:xfrm>
            <a:off x="658368" y="45796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634484"/>
            <a:ext cx="3182112" cy="410464"/>
          </a:xfrm>
          <a:prstGeom prst="rect">
            <a:avLst/>
          </a:prstGeom>
          <a:noFill/>
        </p:spPr>
        <p:txBody>
          <a:bodyPr wrap="square">
            <a:spAutoFit/>
          </a:bodyPr>
          <a:lstStyle/>
          <a:p>
            <a:r>
              <a:rPr sz="1600" b="1" i="0">
                <a:solidFill>
                  <a:srgbClr val="1A1A1A"/>
                </a:solidFill>
                <a:latin typeface="Arial"/>
              </a:rPr>
              <a:t>Worked examples</a:t>
            </a:r>
          </a:p>
        </p:txBody>
      </p:sp>
      <p:sp>
        <p:nvSpPr>
          <p:cNvPr id="25" name="TextBox 24"/>
          <p:cNvSpPr txBox="1"/>
          <p:nvPr/>
        </p:nvSpPr>
        <p:spPr>
          <a:xfrm>
            <a:off x="3950208" y="4634484"/>
            <a:ext cx="2816352" cy="410464"/>
          </a:xfrm>
          <a:prstGeom prst="rect">
            <a:avLst/>
          </a:prstGeom>
          <a:noFill/>
        </p:spPr>
        <p:txBody>
          <a:bodyPr wrap="square">
            <a:spAutoFit/>
          </a:bodyPr>
          <a:lstStyle/>
          <a:p>
            <a:r>
              <a:rPr sz="1600" b="0" i="0">
                <a:solidFill>
                  <a:srgbClr val="1A1A1A"/>
                </a:solidFill>
                <a:latin typeface="Arial"/>
              </a:rPr>
              <a:t>Keep the form</a:t>
            </a:r>
          </a:p>
        </p:txBody>
      </p:sp>
      <p:sp>
        <p:nvSpPr>
          <p:cNvPr id="26" name="TextBox 25"/>
          <p:cNvSpPr txBox="1"/>
          <p:nvPr/>
        </p:nvSpPr>
        <p:spPr>
          <a:xfrm>
            <a:off x="6876288" y="4634484"/>
            <a:ext cx="4553712" cy="410464"/>
          </a:xfrm>
          <a:prstGeom prst="rect">
            <a:avLst/>
          </a:prstGeom>
          <a:noFill/>
        </p:spPr>
        <p:txBody>
          <a:bodyPr wrap="square">
            <a:spAutoFit/>
          </a:bodyPr>
          <a:lstStyle/>
          <a:p>
            <a:r>
              <a:rPr sz="1600" b="0" i="0">
                <a:solidFill>
                  <a:srgbClr val="1A1A1A"/>
                </a:solidFill>
                <a:latin typeface="Arial"/>
              </a:rPr>
              <a:t>Rebuild every value</a:t>
            </a:r>
          </a:p>
        </p:txBody>
      </p:sp>
      <p:sp>
        <p:nvSpPr>
          <p:cNvPr id="27" name="TextBox 2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Carry the method, not the results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Progressa's register came first because its own assessment put it there.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 new sector may find a different first priority.</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Run the new sector's assessment in full.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Change the sector's register and services and keep the five domains, the nine steps and the foundational blocks, and the same method produces a roadmap for health, agriculture or social protection.</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Report what carries over to a new sector, and what must be assessed afresh.</a:t>
            </a:r>
          </a:p>
          <a:p>
            <a:pPr algn="l">
              <a:spcAft>
                <a:spcPts val="400"/>
              </a:spcAft>
            </a:pPr>
            <a:r>
              <a:rPr sz="1800" b="0" i="0">
                <a:solidFill>
                  <a:srgbClr val="595959"/>
                </a:solidFill>
                <a:latin typeface="Arial"/>
              </a:rPr>
              <a:t>The prompt in the companion material gives you a carry-over table with one row for each part of the method, saying what stays, what is added and what is replaced.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Annex 3 and Annex 1, A1.2.5</a:t>
            </a:r>
          </a:p>
          <a:p>
            <a:pPr>
              <a:spcAft>
                <a:spcPts val="1000"/>
              </a:spcAft>
            </a:pPr>
            <a:r>
              <a:rPr sz="1800" b="0" i="0">
                <a:solidFill>
                  <a:srgbClr val="1A1A1A"/>
                </a:solidFill>
                <a:latin typeface="Arial"/>
              </a:rPr>
              <a:t>•  UNDP, Accelerating the SDGs through Digital Public Infrastructure: A Compendium, 2023, page 4, Exhibit 2</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6.10 · Carry the method to another sector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