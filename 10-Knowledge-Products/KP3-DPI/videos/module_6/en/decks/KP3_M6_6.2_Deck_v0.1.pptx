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704" r:id="rId26"/>
    <p:sldId id="2705" r:id="rId27"/>
    <p:sldId id="2706" r:id="rId28"/>
    <p:sldId id="2707" r:id="rId29"/>
    <p:sldId id="2708" r:id="rId30"/>
    <p:sldId id="2709" r:id="rId31"/>
    <p:sldId id="2710" r:id="rId32"/>
    <p:sldId id="2711"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26" Type="http://schemas.openxmlformats.org/officeDocument/2006/relationships/slide" Target="slides/slide11.xml"/><Relationship Id="rId27" Type="http://schemas.openxmlformats.org/officeDocument/2006/relationships/slide" Target="slides/slide12.xml"/><Relationship Id="rId28" Type="http://schemas.openxmlformats.org/officeDocument/2006/relationships/slide" Target="slides/slide13.xml"/><Relationship Id="rId29" Type="http://schemas.openxmlformats.org/officeDocument/2006/relationships/slide" Target="slides/slide14.xml"/><Relationship Id="rId30" Type="http://schemas.openxmlformats.org/officeDocument/2006/relationships/slide" Target="slides/slide15.xml"/><Relationship Id="rId31" Type="http://schemas.openxmlformats.org/officeDocument/2006/relationships/slide" Target="slides/slide16.xml"/><Relationship Id="rId32" Type="http://schemas.openxmlformats.org/officeDocument/2006/relationships/slide" Target="slides/slide17.xml"/><Relationship Id="rId33" Type="http://schemas.openxmlformats.org/officeDocument/2006/relationships/slide" Target="slides/slide18.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Every ministry asks for money for its own system, and each request looks reasonable on its own. The question a finance ministry rarely hears is how many services each system will serve. That answer changes what should be funded first.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PAERA names the problem plainly. Why would anyone invest in digital identity when no digital service uses it yet? And how can a ministry build services for people without it? Its answer is to target the foundational elements while making some quick wins that show the benefits. PAERA also gives the reason to plan for the whole government: it makes a strong case for funding platforms, registries and workflows that many agencies reuse. Inside one project, building your own looks quicker. Across the government, it means paying again for something that already exists.</a:t>
            </a:r>
          </a:p>
          <a:p/>
          <a:p>
            <a:r>
              <a:t>Production cue: Carries the planning-enables-re-use argument. Text-only.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method is simple to state. List each candidate block with its cost, from a low to a high estimate. Beside it, list the services in your plans that will use it, and the blocks that depend on it. A block that others depend on and many services use is funded first, even when it costs more. PAERA recommends dedicated budgets for platforms used across government, and the World Bank's guide for identity systems asks for a complete cost-benefit analysis of the options. No public source gives a method that weighs cost against reuse, so this step is this course's own, drawn from implementation experience in several countries.</a:t>
            </a:r>
          </a:p>
          <a:p/>
          <a:p>
            <a:r>
              <a:t>Production cue: The method is this course's own; the slide says so in the voice-over. Text-only.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Here is Progressa's table, built as an example; every figure in it is illustrative. The ministry's place on the national exchange costs least, 80 to 120 thousand dollars, and four other components depend on it, so it is funded in the first wave. The learner register costs most, 600 to 900 thousand dollars, but four services in the roadmap use it: registration, statistics, scholarships and examinations. It comes in the second wave, with the identity connection. The Payments block's place on the exchange serves one service so far, the scholarship pilot, and waits for the fourth wave. The order that results is the roadmap's own.</a:t>
            </a:r>
          </a:p>
          <a:p/>
          <a:p>
            <a:r>
              <a:t>Production cue: The worked example, built for Progressa from the illustrative lines of E8 and the components of E7. Text-only.</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reuse that is easiest to see is identity. Progressa's ministry of education does not build an identity for learners. It connects to the identity authority's sign-in, for an illustrative 150 to 220 thousand dollars. A study the World Bank cites puts building a foundational identity system in a low-income country at about 4 to 11 dollars a person registered, and warns that few data points stand behind that figure. For Progressa's 11.5 million people of school age, that is 46 to 126.5 million dollars. The comparison gives an order of magnitude only, but it shows what reuse is worth.</a:t>
            </a:r>
          </a:p>
          <a:p/>
          <a:p>
            <a:r>
              <a:t>Production cue: Every figure marked illustrative or given with its source. Text-only.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A shared block is paid for once and used by many. Count the services that will use it before you decide what to fund first.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s>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6 · VIDEO 6.2</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6.2</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What to fund first: cost against reuse</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A shared block is paid for once and used by many, so judge each investment by its cost against the number of services that will use it, a sum only the whole government can do.</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Every ministry asks for money for its own system, and each request looks reasonable on its own.</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The question a finance ministry rarely hears is how many services each system will serve.</a:t>
            </a:r>
          </a:p>
          <a:p>
            <a:pPr>
              <a:spcAft>
                <a:spcPts val="800"/>
              </a:spcAft>
            </a:pPr>
            <a:r>
              <a:rPr sz="1700" b="0" i="0">
                <a:solidFill>
                  <a:srgbClr val="595959"/>
                </a:solidFill>
                <a:latin typeface="Arial"/>
              </a:rPr>
              <a:t>That answer changes what should be funded first.</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6.2 · What to fund first: cost against reuse</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Who pays first?</a:t>
            </a:r>
          </a:p>
        </p:txBody>
      </p:sp>
      <p:sp>
        <p:nvSpPr>
          <p:cNvPr id="4" name="TextBox 3"/>
          <p:cNvSpPr txBox="1"/>
          <p:nvPr/>
        </p:nvSpPr>
        <p:spPr>
          <a:xfrm>
            <a:off x="658368" y="1540763"/>
            <a:ext cx="10984687" cy="978408"/>
          </a:xfrm>
          <a:prstGeom prst="rect">
            <a:avLst/>
          </a:prstGeom>
          <a:noFill/>
        </p:spPr>
        <p:txBody>
          <a:bodyPr wrap="square">
            <a:spAutoFit/>
          </a:bodyPr>
          <a:lstStyle/>
          <a:p>
            <a:pPr>
              <a:spcAft>
                <a:spcPts val="300"/>
              </a:spcAft>
            </a:pPr>
            <a:r>
              <a:rPr sz="2000" b="1" i="0">
                <a:solidFill>
                  <a:srgbClr val="1A1A1A"/>
                </a:solidFill>
                <a:latin typeface="Arial"/>
              </a:rPr>
              <a:t>Why invest in digital identity before any service uses it?</a:t>
            </a:r>
          </a:p>
        </p:txBody>
      </p:sp>
      <p:sp>
        <p:nvSpPr>
          <p:cNvPr id="5" name="Rectangle 4"/>
          <p:cNvSpPr/>
          <p:nvPr/>
        </p:nvSpPr>
        <p:spPr>
          <a:xfrm>
            <a:off x="621792" y="2523744"/>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64891"/>
            <a:ext cx="10984687" cy="978408"/>
          </a:xfrm>
          <a:prstGeom prst="rect">
            <a:avLst/>
          </a:prstGeom>
          <a:noFill/>
        </p:spPr>
        <p:txBody>
          <a:bodyPr wrap="square">
            <a:spAutoFit/>
          </a:bodyPr>
          <a:lstStyle/>
          <a:p>
            <a:pPr>
              <a:spcAft>
                <a:spcPts val="300"/>
              </a:spcAft>
            </a:pPr>
            <a:r>
              <a:rPr sz="2000" b="1" i="0">
                <a:solidFill>
                  <a:srgbClr val="1A1A1A"/>
                </a:solidFill>
                <a:latin typeface="Arial"/>
              </a:rPr>
              <a:t>How can a ministry build services for people without it?</a:t>
            </a:r>
          </a:p>
        </p:txBody>
      </p:sp>
      <p:sp>
        <p:nvSpPr>
          <p:cNvPr id="7" name="Rectangle 6"/>
          <p:cNvSpPr/>
          <p:nvPr/>
        </p:nvSpPr>
        <p:spPr>
          <a:xfrm>
            <a:off x="621792" y="35478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589020"/>
            <a:ext cx="10984687" cy="978408"/>
          </a:xfrm>
          <a:prstGeom prst="rect">
            <a:avLst/>
          </a:prstGeom>
          <a:noFill/>
        </p:spPr>
        <p:txBody>
          <a:bodyPr wrap="square">
            <a:spAutoFit/>
          </a:bodyPr>
          <a:lstStyle/>
          <a:p>
            <a:pPr>
              <a:spcAft>
                <a:spcPts val="300"/>
              </a:spcAft>
            </a:pPr>
            <a:r>
              <a:rPr sz="2000" b="1" i="0">
                <a:solidFill>
                  <a:srgbClr val="1A1A1A"/>
                </a:solidFill>
                <a:latin typeface="Arial"/>
              </a:rPr>
              <a:t>Target the foundations, and make some quick wins.</a:t>
            </a:r>
          </a:p>
        </p:txBody>
      </p:sp>
      <p:sp>
        <p:nvSpPr>
          <p:cNvPr id="9" name="Rectangle 8"/>
          <p:cNvSpPr/>
          <p:nvPr/>
        </p:nvSpPr>
        <p:spPr>
          <a:xfrm>
            <a:off x="621792" y="457200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613148"/>
            <a:ext cx="10984687" cy="978408"/>
          </a:xfrm>
          <a:prstGeom prst="rect">
            <a:avLst/>
          </a:prstGeom>
          <a:noFill/>
        </p:spPr>
        <p:txBody>
          <a:bodyPr wrap="square">
            <a:spAutoFit/>
          </a:bodyPr>
          <a:lstStyle/>
          <a:p>
            <a:pPr>
              <a:spcAft>
                <a:spcPts val="300"/>
              </a:spcAft>
            </a:pPr>
            <a:r>
              <a:rPr sz="2000" b="1" i="0">
                <a:solidFill>
                  <a:srgbClr val="1A1A1A"/>
                </a:solidFill>
                <a:latin typeface="Arial"/>
              </a:rPr>
              <a:t>Plan for the whole government, and fund what many agencies reuse.</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6.2 · What to fund first: cost against reuse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Cost against reuse</a:t>
            </a:r>
          </a:p>
        </p:txBody>
      </p:sp>
      <p:sp>
        <p:nvSpPr>
          <p:cNvPr id="4" name="TextBox 3"/>
          <p:cNvSpPr txBox="1"/>
          <p:nvPr/>
        </p:nvSpPr>
        <p:spPr>
          <a:xfrm>
            <a:off x="658368" y="1540763"/>
            <a:ext cx="10984687" cy="978408"/>
          </a:xfrm>
          <a:prstGeom prst="rect">
            <a:avLst/>
          </a:prstGeom>
          <a:noFill/>
        </p:spPr>
        <p:txBody>
          <a:bodyPr wrap="square">
            <a:spAutoFit/>
          </a:bodyPr>
          <a:lstStyle/>
          <a:p>
            <a:pPr>
              <a:spcAft>
                <a:spcPts val="300"/>
              </a:spcAft>
            </a:pPr>
            <a:r>
              <a:rPr sz="2000" b="1" i="0">
                <a:solidFill>
                  <a:srgbClr val="1A1A1A"/>
                </a:solidFill>
                <a:latin typeface="Arial"/>
              </a:rPr>
              <a:t>Each candidate block</a:t>
            </a:r>
          </a:p>
          <a:p>
            <a:pPr>
              <a:spcAft>
                <a:spcPts val="300"/>
              </a:spcAft>
            </a:pPr>
            <a:r>
              <a:rPr sz="1700" b="0" i="0">
                <a:solidFill>
                  <a:srgbClr val="595959"/>
                </a:solidFill>
                <a:latin typeface="Arial"/>
              </a:rPr>
              <a:t>A low and a high cost.</a:t>
            </a:r>
          </a:p>
        </p:txBody>
      </p:sp>
      <p:sp>
        <p:nvSpPr>
          <p:cNvPr id="5" name="Rectangle 4"/>
          <p:cNvSpPr/>
          <p:nvPr/>
        </p:nvSpPr>
        <p:spPr>
          <a:xfrm>
            <a:off x="621792" y="2523744"/>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64891"/>
            <a:ext cx="10984687" cy="978408"/>
          </a:xfrm>
          <a:prstGeom prst="rect">
            <a:avLst/>
          </a:prstGeom>
          <a:noFill/>
        </p:spPr>
        <p:txBody>
          <a:bodyPr wrap="square">
            <a:spAutoFit/>
          </a:bodyPr>
          <a:lstStyle/>
          <a:p>
            <a:pPr>
              <a:spcAft>
                <a:spcPts val="300"/>
              </a:spcAft>
            </a:pPr>
            <a:r>
              <a:rPr sz="2000" b="1" i="0">
                <a:solidFill>
                  <a:srgbClr val="1A1A1A"/>
                </a:solidFill>
                <a:latin typeface="Arial"/>
              </a:rPr>
              <a:t>Beside it</a:t>
            </a:r>
          </a:p>
          <a:p>
            <a:pPr>
              <a:spcAft>
                <a:spcPts val="300"/>
              </a:spcAft>
            </a:pPr>
            <a:r>
              <a:rPr sz="1700" b="0" i="0">
                <a:solidFill>
                  <a:srgbClr val="595959"/>
                </a:solidFill>
                <a:latin typeface="Arial"/>
              </a:rPr>
              <a:t>The services that will use it, and the blocks that depend on it.</a:t>
            </a:r>
          </a:p>
        </p:txBody>
      </p:sp>
      <p:sp>
        <p:nvSpPr>
          <p:cNvPr id="7" name="Rectangle 6"/>
          <p:cNvSpPr/>
          <p:nvPr/>
        </p:nvSpPr>
        <p:spPr>
          <a:xfrm>
            <a:off x="621792" y="35478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589020"/>
            <a:ext cx="10984687" cy="978408"/>
          </a:xfrm>
          <a:prstGeom prst="rect">
            <a:avLst/>
          </a:prstGeom>
          <a:noFill/>
        </p:spPr>
        <p:txBody>
          <a:bodyPr wrap="square">
            <a:spAutoFit/>
          </a:bodyPr>
          <a:lstStyle/>
          <a:p>
            <a:pPr>
              <a:spcAft>
                <a:spcPts val="300"/>
              </a:spcAft>
            </a:pPr>
            <a:r>
              <a:rPr sz="2000" b="1" i="0">
                <a:solidFill>
                  <a:srgbClr val="1A1A1A"/>
                </a:solidFill>
                <a:latin typeface="Arial"/>
              </a:rPr>
              <a:t>Fund first what others depend on and many services use.</a:t>
            </a:r>
          </a:p>
        </p:txBody>
      </p:sp>
      <p:sp>
        <p:nvSpPr>
          <p:cNvPr id="9" name="Rectangle 8"/>
          <p:cNvSpPr/>
          <p:nvPr/>
        </p:nvSpPr>
        <p:spPr>
          <a:xfrm>
            <a:off x="621792" y="457200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613148"/>
            <a:ext cx="10984687" cy="978408"/>
          </a:xfrm>
          <a:prstGeom prst="rect">
            <a:avLst/>
          </a:prstGeom>
          <a:noFill/>
        </p:spPr>
        <p:txBody>
          <a:bodyPr wrap="square">
            <a:spAutoFit/>
          </a:bodyPr>
          <a:lstStyle/>
          <a:p>
            <a:pPr>
              <a:spcAft>
                <a:spcPts val="300"/>
              </a:spcAft>
            </a:pPr>
            <a:r>
              <a:rPr sz="2000" b="1" i="0">
                <a:solidFill>
                  <a:srgbClr val="1A1A1A"/>
                </a:solidFill>
                <a:latin typeface="Arial"/>
              </a:rPr>
              <a:t>A dedicated budget for platforms used across government.</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6.2 · What to fund first: cost against reuse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Progressa's table (illustrative)</a:t>
            </a:r>
          </a:p>
        </p:txBody>
      </p:sp>
      <p:sp>
        <p:nvSpPr>
          <p:cNvPr id="4" name="TextBox 3"/>
          <p:cNvSpPr txBox="1"/>
          <p:nvPr/>
        </p:nvSpPr>
        <p:spPr>
          <a:xfrm>
            <a:off x="658368" y="1996948"/>
            <a:ext cx="3182112" cy="457200"/>
          </a:xfrm>
          <a:prstGeom prst="rect">
            <a:avLst/>
          </a:prstGeom>
          <a:noFill/>
        </p:spPr>
        <p:txBody>
          <a:bodyPr wrap="square">
            <a:spAutoFit/>
          </a:bodyPr>
          <a:lstStyle/>
          <a:p>
            <a:r>
              <a:rPr sz="1600" b="1" i="0">
                <a:solidFill>
                  <a:srgbClr val="006E96"/>
                </a:solidFill>
                <a:latin typeface="Arial"/>
              </a:rPr>
              <a:t>Component</a:t>
            </a:r>
          </a:p>
        </p:txBody>
      </p:sp>
      <p:sp>
        <p:nvSpPr>
          <p:cNvPr id="5" name="TextBox 4"/>
          <p:cNvSpPr txBox="1"/>
          <p:nvPr/>
        </p:nvSpPr>
        <p:spPr>
          <a:xfrm>
            <a:off x="3950208" y="1996948"/>
            <a:ext cx="1901952" cy="457200"/>
          </a:xfrm>
          <a:prstGeom prst="rect">
            <a:avLst/>
          </a:prstGeom>
          <a:noFill/>
        </p:spPr>
        <p:txBody>
          <a:bodyPr wrap="square">
            <a:spAutoFit/>
          </a:bodyPr>
          <a:lstStyle/>
          <a:p>
            <a:r>
              <a:rPr sz="1600" b="1" i="0">
                <a:solidFill>
                  <a:srgbClr val="006E96"/>
                </a:solidFill>
                <a:latin typeface="Arial"/>
              </a:rPr>
              <a:t>Cost (USD)</a:t>
            </a:r>
          </a:p>
        </p:txBody>
      </p:sp>
      <p:sp>
        <p:nvSpPr>
          <p:cNvPr id="6" name="TextBox 5"/>
          <p:cNvSpPr txBox="1"/>
          <p:nvPr/>
        </p:nvSpPr>
        <p:spPr>
          <a:xfrm>
            <a:off x="5961888" y="1996948"/>
            <a:ext cx="4370832" cy="457200"/>
          </a:xfrm>
          <a:prstGeom prst="rect">
            <a:avLst/>
          </a:prstGeom>
          <a:noFill/>
        </p:spPr>
        <p:txBody>
          <a:bodyPr wrap="square">
            <a:spAutoFit/>
          </a:bodyPr>
          <a:lstStyle/>
          <a:p>
            <a:r>
              <a:rPr sz="1600" b="1" i="0">
                <a:solidFill>
                  <a:srgbClr val="006E96"/>
                </a:solidFill>
                <a:latin typeface="Arial"/>
              </a:rPr>
              <a:t>Reuse</a:t>
            </a:r>
          </a:p>
        </p:txBody>
      </p:sp>
      <p:sp>
        <p:nvSpPr>
          <p:cNvPr id="7" name="TextBox 6"/>
          <p:cNvSpPr txBox="1"/>
          <p:nvPr/>
        </p:nvSpPr>
        <p:spPr>
          <a:xfrm>
            <a:off x="10442448" y="1996948"/>
            <a:ext cx="987552" cy="457200"/>
          </a:xfrm>
          <a:prstGeom prst="rect">
            <a:avLst/>
          </a:prstGeom>
          <a:noFill/>
        </p:spPr>
        <p:txBody>
          <a:bodyPr wrap="square">
            <a:spAutoFit/>
          </a:bodyPr>
          <a:lstStyle/>
          <a:p>
            <a:r>
              <a:rPr sz="1600" b="1" i="0">
                <a:solidFill>
                  <a:srgbClr val="006E96"/>
                </a:solidFill>
                <a:latin typeface="Arial"/>
              </a:rPr>
              <a:t>Wave</a:t>
            </a:r>
          </a:p>
        </p:txBody>
      </p:sp>
      <p:sp>
        <p:nvSpPr>
          <p:cNvPr id="8" name="Rectangle 7"/>
          <p:cNvSpPr/>
          <p:nvPr/>
        </p:nvSpPr>
        <p:spPr>
          <a:xfrm>
            <a:off x="658368" y="2454148"/>
            <a:ext cx="10881360" cy="15875"/>
          </a:xfrm>
          <a:prstGeom prst="rect">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2545588"/>
            <a:ext cx="3182112" cy="410464"/>
          </a:xfrm>
          <a:prstGeom prst="rect">
            <a:avLst/>
          </a:prstGeom>
          <a:noFill/>
        </p:spPr>
        <p:txBody>
          <a:bodyPr wrap="square">
            <a:spAutoFit/>
          </a:bodyPr>
          <a:lstStyle/>
          <a:p>
            <a:r>
              <a:rPr sz="1600" b="1" i="0">
                <a:solidFill>
                  <a:srgbClr val="1A1A1A"/>
                </a:solidFill>
                <a:latin typeface="Arial"/>
              </a:rPr>
              <a:t>MoEYS on the exchange (C-04)</a:t>
            </a:r>
          </a:p>
        </p:txBody>
      </p:sp>
      <p:sp>
        <p:nvSpPr>
          <p:cNvPr id="10" name="TextBox 9"/>
          <p:cNvSpPr txBox="1"/>
          <p:nvPr/>
        </p:nvSpPr>
        <p:spPr>
          <a:xfrm>
            <a:off x="3950208" y="2545588"/>
            <a:ext cx="1901952" cy="410464"/>
          </a:xfrm>
          <a:prstGeom prst="rect">
            <a:avLst/>
          </a:prstGeom>
          <a:noFill/>
        </p:spPr>
        <p:txBody>
          <a:bodyPr wrap="square">
            <a:spAutoFit/>
          </a:bodyPr>
          <a:lstStyle/>
          <a:p>
            <a:r>
              <a:rPr sz="1600" b="0" i="0">
                <a:solidFill>
                  <a:srgbClr val="1A1A1A"/>
                </a:solidFill>
                <a:latin typeface="Arial"/>
              </a:rPr>
              <a:t>80 to 120 thousand</a:t>
            </a:r>
          </a:p>
        </p:txBody>
      </p:sp>
      <p:sp>
        <p:nvSpPr>
          <p:cNvPr id="11" name="TextBox 10"/>
          <p:cNvSpPr txBox="1"/>
          <p:nvPr/>
        </p:nvSpPr>
        <p:spPr>
          <a:xfrm>
            <a:off x="5961888" y="2545588"/>
            <a:ext cx="4370832" cy="410464"/>
          </a:xfrm>
          <a:prstGeom prst="rect">
            <a:avLst/>
          </a:prstGeom>
          <a:noFill/>
        </p:spPr>
        <p:txBody>
          <a:bodyPr wrap="square">
            <a:spAutoFit/>
          </a:bodyPr>
          <a:lstStyle/>
          <a:p>
            <a:r>
              <a:rPr sz="1600" b="0" i="0">
                <a:solidFill>
                  <a:srgbClr val="1A1A1A"/>
                </a:solidFill>
                <a:latin typeface="Arial"/>
              </a:rPr>
              <a:t>Four components depend on it</a:t>
            </a:r>
          </a:p>
        </p:txBody>
      </p:sp>
      <p:sp>
        <p:nvSpPr>
          <p:cNvPr id="12" name="TextBox 11"/>
          <p:cNvSpPr txBox="1"/>
          <p:nvPr/>
        </p:nvSpPr>
        <p:spPr>
          <a:xfrm>
            <a:off x="10442448" y="2545588"/>
            <a:ext cx="987552" cy="410464"/>
          </a:xfrm>
          <a:prstGeom prst="rect">
            <a:avLst/>
          </a:prstGeom>
          <a:noFill/>
        </p:spPr>
        <p:txBody>
          <a:bodyPr wrap="square">
            <a:spAutoFit/>
          </a:bodyPr>
          <a:lstStyle/>
          <a:p>
            <a:r>
              <a:rPr sz="1600" b="0" i="0">
                <a:solidFill>
                  <a:srgbClr val="1A1A1A"/>
                </a:solidFill>
                <a:latin typeface="Arial"/>
              </a:rPr>
              <a:t>1</a:t>
            </a:r>
          </a:p>
        </p:txBody>
      </p:sp>
      <p:sp>
        <p:nvSpPr>
          <p:cNvPr id="13" name="Rectangle 12"/>
          <p:cNvSpPr/>
          <p:nvPr/>
        </p:nvSpPr>
        <p:spPr>
          <a:xfrm>
            <a:off x="658368" y="297434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 y="3029204"/>
            <a:ext cx="3182112" cy="674624"/>
          </a:xfrm>
          <a:prstGeom prst="rect">
            <a:avLst/>
          </a:prstGeom>
          <a:noFill/>
        </p:spPr>
        <p:txBody>
          <a:bodyPr wrap="square">
            <a:spAutoFit/>
          </a:bodyPr>
          <a:lstStyle/>
          <a:p>
            <a:r>
              <a:rPr sz="1600" b="1" i="0">
                <a:solidFill>
                  <a:srgbClr val="1A1A1A"/>
                </a:solidFill>
                <a:latin typeface="Arial"/>
              </a:rPr>
              <a:t>The learner register PLR (C-06)</a:t>
            </a:r>
          </a:p>
        </p:txBody>
      </p:sp>
      <p:sp>
        <p:nvSpPr>
          <p:cNvPr id="15" name="TextBox 14"/>
          <p:cNvSpPr txBox="1"/>
          <p:nvPr/>
        </p:nvSpPr>
        <p:spPr>
          <a:xfrm>
            <a:off x="3950208" y="3029204"/>
            <a:ext cx="1901952" cy="674624"/>
          </a:xfrm>
          <a:prstGeom prst="rect">
            <a:avLst/>
          </a:prstGeom>
          <a:noFill/>
        </p:spPr>
        <p:txBody>
          <a:bodyPr wrap="square">
            <a:spAutoFit/>
          </a:bodyPr>
          <a:lstStyle/>
          <a:p>
            <a:r>
              <a:rPr sz="1600" b="0" i="0">
                <a:solidFill>
                  <a:srgbClr val="1A1A1A"/>
                </a:solidFill>
                <a:latin typeface="Arial"/>
              </a:rPr>
              <a:t>600 to 900 thousand</a:t>
            </a:r>
          </a:p>
        </p:txBody>
      </p:sp>
      <p:sp>
        <p:nvSpPr>
          <p:cNvPr id="16" name="TextBox 15"/>
          <p:cNvSpPr txBox="1"/>
          <p:nvPr/>
        </p:nvSpPr>
        <p:spPr>
          <a:xfrm>
            <a:off x="5961888" y="3029204"/>
            <a:ext cx="4370832" cy="674624"/>
          </a:xfrm>
          <a:prstGeom prst="rect">
            <a:avLst/>
          </a:prstGeom>
          <a:noFill/>
        </p:spPr>
        <p:txBody>
          <a:bodyPr wrap="square">
            <a:spAutoFit/>
          </a:bodyPr>
          <a:lstStyle/>
          <a:p>
            <a:r>
              <a:rPr sz="1600" b="0" i="0">
                <a:solidFill>
                  <a:srgbClr val="1A1A1A"/>
                </a:solidFill>
                <a:latin typeface="Arial"/>
              </a:rPr>
              <a:t>Registration, statistics, scholarships, examinations</a:t>
            </a:r>
          </a:p>
        </p:txBody>
      </p:sp>
      <p:sp>
        <p:nvSpPr>
          <p:cNvPr id="17" name="TextBox 16"/>
          <p:cNvSpPr txBox="1"/>
          <p:nvPr/>
        </p:nvSpPr>
        <p:spPr>
          <a:xfrm>
            <a:off x="10442448" y="3029204"/>
            <a:ext cx="987552" cy="674624"/>
          </a:xfrm>
          <a:prstGeom prst="rect">
            <a:avLst/>
          </a:prstGeom>
          <a:noFill/>
        </p:spPr>
        <p:txBody>
          <a:bodyPr wrap="square">
            <a:spAutoFit/>
          </a:bodyPr>
          <a:lstStyle/>
          <a:p>
            <a:r>
              <a:rPr sz="1600" b="0" i="0">
                <a:solidFill>
                  <a:srgbClr val="1A1A1A"/>
                </a:solidFill>
                <a:latin typeface="Arial"/>
              </a:rPr>
              <a:t>2</a:t>
            </a:r>
          </a:p>
        </p:txBody>
      </p:sp>
      <p:sp>
        <p:nvSpPr>
          <p:cNvPr id="18" name="Rectangle 17"/>
          <p:cNvSpPr/>
          <p:nvPr/>
        </p:nvSpPr>
        <p:spPr>
          <a:xfrm>
            <a:off x="658368" y="3722116"/>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8368" y="3776980"/>
            <a:ext cx="3182112" cy="674624"/>
          </a:xfrm>
          <a:prstGeom prst="rect">
            <a:avLst/>
          </a:prstGeom>
          <a:noFill/>
        </p:spPr>
        <p:txBody>
          <a:bodyPr wrap="square">
            <a:spAutoFit/>
          </a:bodyPr>
          <a:lstStyle/>
          <a:p>
            <a:r>
              <a:rPr sz="1600" b="1" i="0">
                <a:solidFill>
                  <a:srgbClr val="1A1A1A"/>
                </a:solidFill>
                <a:latin typeface="Arial"/>
              </a:rPr>
              <a:t>The connection to PNIA's sign-in (C-07)</a:t>
            </a:r>
          </a:p>
        </p:txBody>
      </p:sp>
      <p:sp>
        <p:nvSpPr>
          <p:cNvPr id="20" name="TextBox 19"/>
          <p:cNvSpPr txBox="1"/>
          <p:nvPr/>
        </p:nvSpPr>
        <p:spPr>
          <a:xfrm>
            <a:off x="3950208" y="3776980"/>
            <a:ext cx="1901952" cy="674624"/>
          </a:xfrm>
          <a:prstGeom prst="rect">
            <a:avLst/>
          </a:prstGeom>
          <a:noFill/>
        </p:spPr>
        <p:txBody>
          <a:bodyPr wrap="square">
            <a:spAutoFit/>
          </a:bodyPr>
          <a:lstStyle/>
          <a:p>
            <a:r>
              <a:rPr sz="1600" b="0" i="0">
                <a:solidFill>
                  <a:srgbClr val="1A1A1A"/>
                </a:solidFill>
                <a:latin typeface="Arial"/>
              </a:rPr>
              <a:t>150 to 220 thousand</a:t>
            </a:r>
          </a:p>
        </p:txBody>
      </p:sp>
      <p:sp>
        <p:nvSpPr>
          <p:cNvPr id="21" name="TextBox 20"/>
          <p:cNvSpPr txBox="1"/>
          <p:nvPr/>
        </p:nvSpPr>
        <p:spPr>
          <a:xfrm>
            <a:off x="5961888" y="3776980"/>
            <a:ext cx="4370832" cy="674624"/>
          </a:xfrm>
          <a:prstGeom prst="rect">
            <a:avLst/>
          </a:prstGeom>
          <a:noFill/>
        </p:spPr>
        <p:txBody>
          <a:bodyPr wrap="square">
            <a:spAutoFit/>
          </a:bodyPr>
          <a:lstStyle/>
          <a:p>
            <a:r>
              <a:rPr sz="1600" b="0" i="0">
                <a:solidFill>
                  <a:srgbClr val="1A1A1A"/>
                </a:solidFill>
                <a:latin typeface="Arial"/>
              </a:rPr>
              <a:t>Registration and each later education service</a:t>
            </a:r>
          </a:p>
        </p:txBody>
      </p:sp>
      <p:sp>
        <p:nvSpPr>
          <p:cNvPr id="22" name="TextBox 21"/>
          <p:cNvSpPr txBox="1"/>
          <p:nvPr/>
        </p:nvSpPr>
        <p:spPr>
          <a:xfrm>
            <a:off x="10442448" y="3776980"/>
            <a:ext cx="987552" cy="674624"/>
          </a:xfrm>
          <a:prstGeom prst="rect">
            <a:avLst/>
          </a:prstGeom>
          <a:noFill/>
        </p:spPr>
        <p:txBody>
          <a:bodyPr wrap="square">
            <a:spAutoFit/>
          </a:bodyPr>
          <a:lstStyle/>
          <a:p>
            <a:r>
              <a:rPr sz="1600" b="0" i="0">
                <a:solidFill>
                  <a:srgbClr val="1A1A1A"/>
                </a:solidFill>
                <a:latin typeface="Arial"/>
              </a:rPr>
              <a:t>2</a:t>
            </a:r>
          </a:p>
        </p:txBody>
      </p:sp>
      <p:sp>
        <p:nvSpPr>
          <p:cNvPr id="23" name="Rectangle 22"/>
          <p:cNvSpPr/>
          <p:nvPr/>
        </p:nvSpPr>
        <p:spPr>
          <a:xfrm>
            <a:off x="658368" y="446989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8368" y="4524756"/>
            <a:ext cx="3182112" cy="674624"/>
          </a:xfrm>
          <a:prstGeom prst="rect">
            <a:avLst/>
          </a:prstGeom>
          <a:noFill/>
        </p:spPr>
        <p:txBody>
          <a:bodyPr wrap="square">
            <a:spAutoFit/>
          </a:bodyPr>
          <a:lstStyle/>
          <a:p>
            <a:r>
              <a:rPr sz="1600" b="1" i="0">
                <a:solidFill>
                  <a:srgbClr val="1A1A1A"/>
                </a:solidFill>
                <a:latin typeface="Arial"/>
              </a:rPr>
              <a:t>The Payments block on the exchange (C-11)</a:t>
            </a:r>
          </a:p>
        </p:txBody>
      </p:sp>
      <p:sp>
        <p:nvSpPr>
          <p:cNvPr id="25" name="TextBox 24"/>
          <p:cNvSpPr txBox="1"/>
          <p:nvPr/>
        </p:nvSpPr>
        <p:spPr>
          <a:xfrm>
            <a:off x="3950208" y="4524756"/>
            <a:ext cx="1901952" cy="674624"/>
          </a:xfrm>
          <a:prstGeom prst="rect">
            <a:avLst/>
          </a:prstGeom>
          <a:noFill/>
        </p:spPr>
        <p:txBody>
          <a:bodyPr wrap="square">
            <a:spAutoFit/>
          </a:bodyPr>
          <a:lstStyle/>
          <a:p>
            <a:r>
              <a:rPr sz="1600" b="0" i="0">
                <a:solidFill>
                  <a:srgbClr val="1A1A1A"/>
                </a:solidFill>
                <a:latin typeface="Arial"/>
              </a:rPr>
              <a:t>120 to 180 thousand</a:t>
            </a:r>
          </a:p>
        </p:txBody>
      </p:sp>
      <p:sp>
        <p:nvSpPr>
          <p:cNvPr id="26" name="TextBox 25"/>
          <p:cNvSpPr txBox="1"/>
          <p:nvPr/>
        </p:nvSpPr>
        <p:spPr>
          <a:xfrm>
            <a:off x="5961888" y="4524756"/>
            <a:ext cx="4370832" cy="674624"/>
          </a:xfrm>
          <a:prstGeom prst="rect">
            <a:avLst/>
          </a:prstGeom>
          <a:noFill/>
        </p:spPr>
        <p:txBody>
          <a:bodyPr wrap="square">
            <a:spAutoFit/>
          </a:bodyPr>
          <a:lstStyle/>
          <a:p>
            <a:r>
              <a:rPr sz="1600" b="0" i="0">
                <a:solidFill>
                  <a:srgbClr val="1A1A1A"/>
                </a:solidFill>
                <a:latin typeface="Arial"/>
              </a:rPr>
              <a:t>The scholarship pilot</a:t>
            </a:r>
          </a:p>
        </p:txBody>
      </p:sp>
      <p:sp>
        <p:nvSpPr>
          <p:cNvPr id="27" name="TextBox 26"/>
          <p:cNvSpPr txBox="1"/>
          <p:nvPr/>
        </p:nvSpPr>
        <p:spPr>
          <a:xfrm>
            <a:off x="10442448" y="4524756"/>
            <a:ext cx="987552" cy="674624"/>
          </a:xfrm>
          <a:prstGeom prst="rect">
            <a:avLst/>
          </a:prstGeom>
          <a:noFill/>
        </p:spPr>
        <p:txBody>
          <a:bodyPr wrap="square">
            <a:spAutoFit/>
          </a:bodyPr>
          <a:lstStyle/>
          <a:p>
            <a:r>
              <a:rPr sz="1600" b="0" i="0">
                <a:solidFill>
                  <a:srgbClr val="1A1A1A"/>
                </a:solidFill>
                <a:latin typeface="Arial"/>
              </a:rPr>
              <a:t>4</a:t>
            </a:r>
          </a:p>
        </p:txBody>
      </p:sp>
      <p:sp>
        <p:nvSpPr>
          <p:cNvPr id="28" name="TextBox 27"/>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6.2 · What to fund first: cost against reuse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Reuse, priced (illustrative)</a:t>
            </a:r>
          </a:p>
        </p:txBody>
      </p:sp>
      <p:sp>
        <p:nvSpPr>
          <p:cNvPr id="4" name="TextBox 3"/>
          <p:cNvSpPr txBox="1"/>
          <p:nvPr/>
        </p:nvSpPr>
        <p:spPr>
          <a:xfrm>
            <a:off x="658368" y="1805939"/>
            <a:ext cx="10984687" cy="1143000"/>
          </a:xfrm>
          <a:prstGeom prst="rect">
            <a:avLst/>
          </a:prstGeom>
          <a:noFill/>
        </p:spPr>
        <p:txBody>
          <a:bodyPr wrap="square">
            <a:spAutoFit/>
          </a:bodyPr>
          <a:lstStyle/>
          <a:p>
            <a:pPr>
              <a:spcAft>
                <a:spcPts val="300"/>
              </a:spcAft>
            </a:pPr>
            <a:r>
              <a:rPr sz="2200" b="1" i="0">
                <a:solidFill>
                  <a:srgbClr val="1A1A1A"/>
                </a:solidFill>
                <a:latin typeface="Arial"/>
              </a:rPr>
              <a:t>Connecting to the identity authority's sign-in: USD 150 to 220 thousand.</a:t>
            </a:r>
          </a:p>
        </p:txBody>
      </p:sp>
      <p:sp>
        <p:nvSpPr>
          <p:cNvPr id="5" name="Rectangle 4"/>
          <p:cNvSpPr/>
          <p:nvPr/>
        </p:nvSpPr>
        <p:spPr>
          <a:xfrm>
            <a:off x="621792" y="29535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994659"/>
            <a:ext cx="10984687" cy="1143000"/>
          </a:xfrm>
          <a:prstGeom prst="rect">
            <a:avLst/>
          </a:prstGeom>
          <a:noFill/>
        </p:spPr>
        <p:txBody>
          <a:bodyPr wrap="square">
            <a:spAutoFit/>
          </a:bodyPr>
          <a:lstStyle/>
          <a:p>
            <a:pPr>
              <a:spcAft>
                <a:spcPts val="300"/>
              </a:spcAft>
            </a:pPr>
            <a:r>
              <a:rPr sz="2200" b="1" i="0">
                <a:solidFill>
                  <a:srgbClr val="1A1A1A"/>
                </a:solidFill>
                <a:latin typeface="Arial"/>
              </a:rPr>
              <a:t>Building identity for 11.5 million people of school age, at USD 4 to 11 a person registered: USD 46 to 126.5 million.</a:t>
            </a:r>
          </a:p>
        </p:txBody>
      </p:sp>
      <p:sp>
        <p:nvSpPr>
          <p:cNvPr id="7" name="Rectangle 6"/>
          <p:cNvSpPr/>
          <p:nvPr/>
        </p:nvSpPr>
        <p:spPr>
          <a:xfrm>
            <a:off x="621792" y="414223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183379"/>
            <a:ext cx="10984687" cy="1143000"/>
          </a:xfrm>
          <a:prstGeom prst="rect">
            <a:avLst/>
          </a:prstGeom>
          <a:noFill/>
        </p:spPr>
        <p:txBody>
          <a:bodyPr wrap="square">
            <a:spAutoFit/>
          </a:bodyPr>
          <a:lstStyle/>
          <a:p>
            <a:pPr>
              <a:spcAft>
                <a:spcPts val="300"/>
              </a:spcAft>
            </a:pPr>
            <a:r>
              <a:rPr sz="2200" b="1" i="0">
                <a:solidFill>
                  <a:srgbClr val="1A1A1A"/>
                </a:solidFill>
                <a:latin typeface="Arial"/>
              </a:rPr>
              <a:t>An order of magnitude only. The rate is from a study the World Bank cites (2018, page 1).</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6.2 · What to fund first: cost against reuse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3" name="TextBox 2"/>
          <p:cNvSpPr txBox="1"/>
          <p:nvPr/>
        </p:nvSpPr>
        <p:spPr>
          <a:xfrm>
            <a:off x="1005840" y="1965960"/>
            <a:ext cx="10149840" cy="2560320"/>
          </a:xfrm>
          <a:prstGeom prst="rect">
            <a:avLst/>
          </a:prstGeom>
          <a:noFill/>
        </p:spPr>
        <p:txBody>
          <a:bodyPr wrap="square">
            <a:spAutoFit/>
          </a:bodyPr>
          <a:lstStyle/>
          <a:p>
            <a:r>
              <a:rPr sz="2800" b="1" i="0">
                <a:solidFill>
                  <a:srgbClr val="1A1A1A"/>
                </a:solidFill>
                <a:latin typeface="Arial"/>
              </a:rPr>
              <a:t>A shared block is paid for once and used by many, so judge each investment by its cost against the number of services that will use it, a sum only the whole government can do.</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Build the table of cost against reuse, and test its assumptions.</a:t>
            </a:r>
          </a:p>
          <a:p>
            <a:pPr algn="l">
              <a:spcAft>
                <a:spcPts val="400"/>
              </a:spcAft>
            </a:pPr>
            <a:r>
              <a:rPr sz="1800" b="0" i="0">
                <a:solidFill>
                  <a:srgbClr val="595959"/>
                </a:solidFill>
                <a:latin typeface="Arial"/>
              </a:rPr>
              <a:t>The prompt in the companion material gives you a table of cost against reuse with one row for each candidate block and a proposed order of funding.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6.2 · What to fund first: cost against reuse</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4114800"/>
          </a:xfrm>
          <a:prstGeom prst="rect">
            <a:avLst/>
          </a:prstGeom>
          <a:noFill/>
        </p:spPr>
        <p:txBody>
          <a:bodyPr wrap="square">
            <a:spAutoFit/>
          </a:bodyPr>
          <a:lstStyle/>
          <a:p>
            <a:pPr>
              <a:spcAft>
                <a:spcPts val="1000"/>
              </a:spcAft>
            </a:pPr>
            <a:r>
              <a:rPr sz="1800" b="0" i="0">
                <a:solidFill>
                  <a:srgbClr val="1A1A1A"/>
                </a:solidFill>
                <a:latin typeface="Arial"/>
              </a:rPr>
              <a:t>•  PAERA v1.0, sections 3.3.3 and 4.5 ('Budget')</a:t>
            </a:r>
          </a:p>
          <a:p>
            <a:pPr>
              <a:spcAft>
                <a:spcPts val="1000"/>
              </a:spcAft>
            </a:pPr>
            <a:r>
              <a:rPr sz="1800" b="0" i="0">
                <a:solidFill>
                  <a:srgbClr val="1A1A1A"/>
                </a:solidFill>
                <a:latin typeface="Arial"/>
              </a:rPr>
              <a:t>•  World Bank, ID4D Practitioner's Guide, version 1.0, 2019, page 48</a:t>
            </a:r>
          </a:p>
          <a:p>
            <a:pPr>
              <a:spcAft>
                <a:spcPts val="1000"/>
              </a:spcAft>
            </a:pPr>
            <a:r>
              <a:rPr sz="1800" b="0" i="0">
                <a:solidFill>
                  <a:srgbClr val="1A1A1A"/>
                </a:solidFill>
                <a:latin typeface="Arial"/>
              </a:rPr>
              <a:t>•  World Bank, Understanding Cost Drivers of Identification Systems, 2018, page 1</a:t>
            </a:r>
          </a:p>
        </p:txBody>
      </p:sp>
      <p:sp>
        <p:nvSpPr>
          <p:cNvPr id="5" name="TextBox 4"/>
          <p:cNvSpPr txBox="1"/>
          <p:nvPr/>
        </p:nvSpPr>
        <p:spPr>
          <a:xfrm>
            <a:off x="658368" y="5806440"/>
            <a:ext cx="10881360" cy="457200"/>
          </a:xfrm>
          <a:prstGeom prst="rect">
            <a:avLst/>
          </a:prstGeom>
          <a:noFill/>
        </p:spPr>
        <p:txBody>
          <a:bodyPr wrap="square">
            <a:spAutoFit/>
          </a:bodyPr>
          <a:lstStyle/>
          <a:p>
            <a:r>
              <a:rPr sz="15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6.2 · What to fund first: cost against reuse</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