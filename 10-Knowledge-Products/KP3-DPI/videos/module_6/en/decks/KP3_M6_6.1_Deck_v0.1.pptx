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assessment ends with many findings, spread over five domain reports. A minister cannot act on all of them. A minister can act on a short list, in order, with a reason for each place on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turning each finding into a gap. A finding says what exists today. A gap says the distance between what exists and what the country needs. Write every gap into one register, whatever its domain, and let each gap name the findings it comes from, so that anyone can trace a line of the roadmap back to its evidence. UNDP's playbook on the DPI approach works the same way: from national priorities, to the gaps, to goals and targets. Progressa's register, built as an example, turns 15 findings into 14 gaps.</a:t>
            </a:r>
          </a:p>
          <a:p/>
          <a:p>
            <a:r>
              <a:t>Production cue: The step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Rank each gap on four criteria. Impact asks how much the gap holds back service delivery, efficiency and the government's goals, the three things by which PAERA's assessment procedure ranks its recommendations. Urgency asks whether something already planned is waiting for it. Feasibility asks whether existing bodies, law and budget can close it, or whether it needs new law. Rate each of these three from 1 to 3 and add them. A score of 8 or 9 is the first band, 6 or 7 the second, 5 or less the third. The fourth criterion, dependencies, sets the order inside a band: what others depend on comes first. The criteria are this course's own practice.</a:t>
            </a:r>
          </a:p>
          <a:p/>
          <a:p>
            <a:r>
              <a:t>Production cue: The rule of the worked example E6, with PAERA's three grounds of impact. Text-only.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four gaps reach the first band, each with a score of 8. Three are quick wins that existing bodies can close within six months: a joint body to decide education's shared infrastructure, one school identifier, and the ministry of education joining the national exchange. PAERA recommends this pairing: target the foundations, and make some quick wins that show the benefits early. The fourth gap matters most: there is no authoritative learner record. It depends on two gaps of the second band, the legal basis and the link to national identity. Both are brought forward without changing their band, and the law, the slowest, starts first.</a:t>
            </a:r>
          </a:p>
          <a:p/>
          <a:p>
            <a:r>
              <a:t>Production cue: The worked example, built for Progressa; every value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read the register across domains. In Progressa, three patterns appear. The missing learner record holds back three domains: digital data, identity and the exchange. The ministry of education stays outside infrastructure that already runs, the identity authority's sign-in and the national exchange, and that is the cheapest kind of gap to close. And the law and the budget come before the build. These patterns are what you explain to the minister, because they show why the order makes sense.</a:t>
            </a:r>
          </a:p>
          <a:p/>
          <a:p>
            <a:r>
              <a:t>Production cue: What the Strategist explains to the minister. Text-only.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register, ranked on four criteria into three bands. Your minister receives a short list in order, with a reason for each place.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findings to priorities: the gap register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Gather every gap into one register and rank each by impact, urgency, feasibility and what depends on it, so the list you take to your minister is short and ordered.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assessment ends with many findings, spread over five domain reports.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minister cannot act on all of them.</a:t>
            </a:r>
          </a:p>
          <a:p>
            <a:pPr>
              <a:spcAft>
                <a:spcPts val="800"/>
              </a:spcAft>
            </a:pPr>
            <a:r>
              <a:rPr sz="1700" b="0" i="0">
                <a:solidFill>
                  <a:srgbClr val="595959"/>
                </a:solidFill>
                <a:latin typeface="Arial"/>
              </a:rPr>
              <a:t>A minister can act on a short list, in order, with a reason for each place on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finding to gap</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finding says what exists today.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 gap says the distance to what the country needs.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Each gap names the findings it comes from.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criteria, three bands</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Impact</a:t>
            </a:r>
          </a:p>
          <a:p>
            <a:pPr>
              <a:spcAft>
                <a:spcPts val="300"/>
              </a:spcAft>
            </a:pPr>
            <a:r>
              <a:rPr sz="1600" b="0" i="0">
                <a:solidFill>
                  <a:srgbClr val="595959"/>
                </a:solidFill>
                <a:latin typeface="Arial"/>
              </a:rPr>
              <a:t>On service delivery, efficiency and strategic goals: 1 to 3.</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Urgency</a:t>
            </a:r>
          </a:p>
          <a:p>
            <a:pPr>
              <a:spcAft>
                <a:spcPts val="300"/>
              </a:spcAft>
            </a:pPr>
            <a:r>
              <a:rPr sz="1600" b="0" i="0">
                <a:solidFill>
                  <a:srgbClr val="595959"/>
                </a:solidFill>
                <a:latin typeface="Arial"/>
              </a:rPr>
              <a:t>Is something planned waiting for it: 1 to 3.</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Feasibility</a:t>
            </a:r>
          </a:p>
          <a:p>
            <a:pPr>
              <a:spcAft>
                <a:spcPts val="300"/>
              </a:spcAft>
            </a:pPr>
            <a:r>
              <a:rPr sz="1600" b="0" i="0">
                <a:solidFill>
                  <a:srgbClr val="595959"/>
                </a:solidFill>
                <a:latin typeface="Arial"/>
              </a:rPr>
              <a:t>Can existing bodies, law and budget close it: 1 to 3.</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Dependencies</a:t>
            </a:r>
          </a:p>
          <a:p>
            <a:pPr>
              <a:spcAft>
                <a:spcPts val="300"/>
              </a:spcAft>
            </a:pPr>
            <a:r>
              <a:rPr sz="1600" b="0" i="0">
                <a:solidFill>
                  <a:srgbClr val="595959"/>
                </a:solidFill>
                <a:latin typeface="Arial"/>
              </a:rPr>
              <a:t>What others depend on comes first.</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Score 8 or 9: first band. 6 or 7: second. 5 or less: third.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first band (illustrative)</a:t>
            </a:r>
          </a:p>
        </p:txBody>
      </p:sp>
      <p:sp>
        <p:nvSpPr>
          <p:cNvPr id="4" name="TextBox 3"/>
          <p:cNvSpPr txBox="1"/>
          <p:nvPr/>
        </p:nvSpPr>
        <p:spPr>
          <a:xfrm>
            <a:off x="658368" y="2129028"/>
            <a:ext cx="6291072" cy="457200"/>
          </a:xfrm>
          <a:prstGeom prst="rect">
            <a:avLst/>
          </a:prstGeom>
          <a:noFill/>
        </p:spPr>
        <p:txBody>
          <a:bodyPr wrap="square">
            <a:spAutoFit/>
          </a:bodyPr>
          <a:lstStyle/>
          <a:p>
            <a:r>
              <a:rPr sz="1600" b="1" i="0">
                <a:solidFill>
                  <a:srgbClr val="006E96"/>
                </a:solidFill>
                <a:latin typeface="Arial"/>
              </a:rPr>
              <a:t>Gap</a:t>
            </a:r>
          </a:p>
        </p:txBody>
      </p:sp>
      <p:sp>
        <p:nvSpPr>
          <p:cNvPr id="5" name="TextBox 4"/>
          <p:cNvSpPr txBox="1"/>
          <p:nvPr/>
        </p:nvSpPr>
        <p:spPr>
          <a:xfrm>
            <a:off x="7059168" y="2129028"/>
            <a:ext cx="1170431" cy="457200"/>
          </a:xfrm>
          <a:prstGeom prst="rect">
            <a:avLst/>
          </a:prstGeom>
          <a:noFill/>
        </p:spPr>
        <p:txBody>
          <a:bodyPr wrap="square">
            <a:spAutoFit/>
          </a:bodyPr>
          <a:lstStyle/>
          <a:p>
            <a:r>
              <a:rPr sz="1600" b="1" i="0">
                <a:solidFill>
                  <a:srgbClr val="006E96"/>
                </a:solidFill>
                <a:latin typeface="Arial"/>
              </a:rPr>
              <a:t>Score</a:t>
            </a:r>
          </a:p>
        </p:txBody>
      </p:sp>
      <p:sp>
        <p:nvSpPr>
          <p:cNvPr id="6" name="TextBox 5"/>
          <p:cNvSpPr txBox="1"/>
          <p:nvPr/>
        </p:nvSpPr>
        <p:spPr>
          <a:xfrm>
            <a:off x="8339327" y="2129028"/>
            <a:ext cx="3090672" cy="457200"/>
          </a:xfrm>
          <a:prstGeom prst="rect">
            <a:avLst/>
          </a:prstGeom>
          <a:noFill/>
        </p:spPr>
        <p:txBody>
          <a:bodyPr wrap="square">
            <a:spAutoFit/>
          </a:bodyPr>
          <a:lstStyle/>
          <a:p>
            <a:r>
              <a:rPr sz="1600" b="1" i="0">
                <a:solidFill>
                  <a:srgbClr val="006E96"/>
                </a:solidFill>
                <a:latin typeface="Arial"/>
              </a:rPr>
              <a:t>Why first</a:t>
            </a:r>
          </a:p>
        </p:txBody>
      </p:sp>
      <p:sp>
        <p:nvSpPr>
          <p:cNvPr id="7" name="Rectangle 6"/>
          <p:cNvSpPr/>
          <p:nvPr/>
        </p:nvSpPr>
        <p:spPr>
          <a:xfrm>
            <a:off x="658368" y="258622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77668"/>
            <a:ext cx="6291072" cy="674624"/>
          </a:xfrm>
          <a:prstGeom prst="rect">
            <a:avLst/>
          </a:prstGeom>
          <a:noFill/>
        </p:spPr>
        <p:txBody>
          <a:bodyPr wrap="square">
            <a:spAutoFit/>
          </a:bodyPr>
          <a:lstStyle/>
          <a:p>
            <a:r>
              <a:rPr sz="1600" b="1" i="0">
                <a:solidFill>
                  <a:srgbClr val="1A1A1A"/>
                </a:solidFill>
                <a:latin typeface="Arial"/>
              </a:rPr>
              <a:t>G-02 No joint body to decide education’s shared infrastructure</a:t>
            </a:r>
          </a:p>
        </p:txBody>
      </p:sp>
      <p:sp>
        <p:nvSpPr>
          <p:cNvPr id="9" name="TextBox 8"/>
          <p:cNvSpPr txBox="1"/>
          <p:nvPr/>
        </p:nvSpPr>
        <p:spPr>
          <a:xfrm>
            <a:off x="7059168" y="2677668"/>
            <a:ext cx="1170431" cy="674624"/>
          </a:xfrm>
          <a:prstGeom prst="rect">
            <a:avLst/>
          </a:prstGeom>
          <a:noFill/>
        </p:spPr>
        <p:txBody>
          <a:bodyPr wrap="square">
            <a:spAutoFit/>
          </a:bodyPr>
          <a:lstStyle/>
          <a:p>
            <a:r>
              <a:rPr sz="1600" b="0" i="0">
                <a:solidFill>
                  <a:srgbClr val="1A1A1A"/>
                </a:solidFill>
                <a:latin typeface="Arial"/>
              </a:rPr>
              <a:t>8</a:t>
            </a:r>
          </a:p>
        </p:txBody>
      </p:sp>
      <p:sp>
        <p:nvSpPr>
          <p:cNvPr id="10" name="TextBox 9"/>
          <p:cNvSpPr txBox="1"/>
          <p:nvPr/>
        </p:nvSpPr>
        <p:spPr>
          <a:xfrm>
            <a:off x="8339327" y="2677668"/>
            <a:ext cx="3090672" cy="674624"/>
          </a:xfrm>
          <a:prstGeom prst="rect">
            <a:avLst/>
          </a:prstGeom>
          <a:noFill/>
        </p:spPr>
        <p:txBody>
          <a:bodyPr wrap="square">
            <a:spAutoFit/>
          </a:bodyPr>
          <a:lstStyle/>
          <a:p>
            <a:r>
              <a:rPr sz="1600" b="0" i="0">
                <a:solidFill>
                  <a:srgbClr val="1A1A1A"/>
                </a:solidFill>
                <a:latin typeface="Arial"/>
              </a:rPr>
              <a:t>Quick win</a:t>
            </a:r>
          </a:p>
        </p:txBody>
      </p:sp>
      <p:sp>
        <p:nvSpPr>
          <p:cNvPr id="11" name="Rectangle 10"/>
          <p:cNvSpPr/>
          <p:nvPr/>
        </p:nvSpPr>
        <p:spPr>
          <a:xfrm>
            <a:off x="658368" y="337058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425444"/>
            <a:ext cx="6291072" cy="410464"/>
          </a:xfrm>
          <a:prstGeom prst="rect">
            <a:avLst/>
          </a:prstGeom>
          <a:noFill/>
        </p:spPr>
        <p:txBody>
          <a:bodyPr wrap="square">
            <a:spAutoFit/>
          </a:bodyPr>
          <a:lstStyle/>
          <a:p>
            <a:r>
              <a:rPr sz="1600" b="1" i="0">
                <a:solidFill>
                  <a:srgbClr val="1A1A1A"/>
                </a:solidFill>
                <a:latin typeface="Arial"/>
              </a:rPr>
              <a:t>G-06 No common school identifier</a:t>
            </a:r>
          </a:p>
        </p:txBody>
      </p:sp>
      <p:sp>
        <p:nvSpPr>
          <p:cNvPr id="13" name="TextBox 12"/>
          <p:cNvSpPr txBox="1"/>
          <p:nvPr/>
        </p:nvSpPr>
        <p:spPr>
          <a:xfrm>
            <a:off x="7059168" y="3425444"/>
            <a:ext cx="1170431" cy="410464"/>
          </a:xfrm>
          <a:prstGeom prst="rect">
            <a:avLst/>
          </a:prstGeom>
          <a:noFill/>
        </p:spPr>
        <p:txBody>
          <a:bodyPr wrap="square">
            <a:spAutoFit/>
          </a:bodyPr>
          <a:lstStyle/>
          <a:p>
            <a:r>
              <a:rPr sz="1600" b="0" i="0">
                <a:solidFill>
                  <a:srgbClr val="1A1A1A"/>
                </a:solidFill>
                <a:latin typeface="Arial"/>
              </a:rPr>
              <a:t>8</a:t>
            </a:r>
          </a:p>
        </p:txBody>
      </p:sp>
      <p:sp>
        <p:nvSpPr>
          <p:cNvPr id="14" name="TextBox 13"/>
          <p:cNvSpPr txBox="1"/>
          <p:nvPr/>
        </p:nvSpPr>
        <p:spPr>
          <a:xfrm>
            <a:off x="8339327" y="3425444"/>
            <a:ext cx="3090672" cy="410464"/>
          </a:xfrm>
          <a:prstGeom prst="rect">
            <a:avLst/>
          </a:prstGeom>
          <a:noFill/>
        </p:spPr>
        <p:txBody>
          <a:bodyPr wrap="square">
            <a:spAutoFit/>
          </a:bodyPr>
          <a:lstStyle/>
          <a:p>
            <a:r>
              <a:rPr sz="1600" b="0" i="0">
                <a:solidFill>
                  <a:srgbClr val="1A1A1A"/>
                </a:solidFill>
                <a:latin typeface="Arial"/>
              </a:rPr>
              <a:t>Quick win</a:t>
            </a:r>
          </a:p>
        </p:txBody>
      </p:sp>
      <p:sp>
        <p:nvSpPr>
          <p:cNvPr id="15" name="Rectangle 14"/>
          <p:cNvSpPr/>
          <p:nvPr/>
        </p:nvSpPr>
        <p:spPr>
          <a:xfrm>
            <a:off x="658368" y="38541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909059"/>
            <a:ext cx="6291072" cy="410464"/>
          </a:xfrm>
          <a:prstGeom prst="rect">
            <a:avLst/>
          </a:prstGeom>
          <a:noFill/>
        </p:spPr>
        <p:txBody>
          <a:bodyPr wrap="square">
            <a:spAutoFit/>
          </a:bodyPr>
          <a:lstStyle/>
          <a:p>
            <a:r>
              <a:rPr sz="1600" b="1" i="0">
                <a:solidFill>
                  <a:srgbClr val="1A1A1A"/>
                </a:solidFill>
                <a:latin typeface="Arial"/>
              </a:rPr>
              <a:t>G-08 MoEYS is not on the national exchange</a:t>
            </a:r>
          </a:p>
        </p:txBody>
      </p:sp>
      <p:sp>
        <p:nvSpPr>
          <p:cNvPr id="17" name="TextBox 16"/>
          <p:cNvSpPr txBox="1"/>
          <p:nvPr/>
        </p:nvSpPr>
        <p:spPr>
          <a:xfrm>
            <a:off x="7059168" y="3909059"/>
            <a:ext cx="1170431" cy="410464"/>
          </a:xfrm>
          <a:prstGeom prst="rect">
            <a:avLst/>
          </a:prstGeom>
          <a:noFill/>
        </p:spPr>
        <p:txBody>
          <a:bodyPr wrap="square">
            <a:spAutoFit/>
          </a:bodyPr>
          <a:lstStyle/>
          <a:p>
            <a:r>
              <a:rPr sz="1600" b="0" i="0">
                <a:solidFill>
                  <a:srgbClr val="1A1A1A"/>
                </a:solidFill>
                <a:latin typeface="Arial"/>
              </a:rPr>
              <a:t>8</a:t>
            </a:r>
          </a:p>
        </p:txBody>
      </p:sp>
      <p:sp>
        <p:nvSpPr>
          <p:cNvPr id="18" name="TextBox 17"/>
          <p:cNvSpPr txBox="1"/>
          <p:nvPr/>
        </p:nvSpPr>
        <p:spPr>
          <a:xfrm>
            <a:off x="8339327" y="3909059"/>
            <a:ext cx="3090672" cy="410464"/>
          </a:xfrm>
          <a:prstGeom prst="rect">
            <a:avLst/>
          </a:prstGeom>
          <a:noFill/>
        </p:spPr>
        <p:txBody>
          <a:bodyPr wrap="square">
            <a:spAutoFit/>
          </a:bodyPr>
          <a:lstStyle/>
          <a:p>
            <a:r>
              <a:rPr sz="1600" b="0" i="0">
                <a:solidFill>
                  <a:srgbClr val="1A1A1A"/>
                </a:solidFill>
                <a:latin typeface="Arial"/>
              </a:rPr>
              <a:t>Quick win</a:t>
            </a:r>
          </a:p>
        </p:txBody>
      </p:sp>
      <p:sp>
        <p:nvSpPr>
          <p:cNvPr id="19" name="Rectangle 18"/>
          <p:cNvSpPr/>
          <p:nvPr/>
        </p:nvSpPr>
        <p:spPr>
          <a:xfrm>
            <a:off x="658368" y="433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392676"/>
            <a:ext cx="6291072" cy="674624"/>
          </a:xfrm>
          <a:prstGeom prst="rect">
            <a:avLst/>
          </a:prstGeom>
          <a:noFill/>
        </p:spPr>
        <p:txBody>
          <a:bodyPr wrap="square">
            <a:spAutoFit/>
          </a:bodyPr>
          <a:lstStyle/>
          <a:p>
            <a:r>
              <a:rPr sz="1600" b="1" i="0">
                <a:solidFill>
                  <a:srgbClr val="1A1A1A"/>
                </a:solidFill>
                <a:latin typeface="Arial"/>
              </a:rPr>
              <a:t>G-05 No authoritative learner record</a:t>
            </a:r>
          </a:p>
        </p:txBody>
      </p:sp>
      <p:sp>
        <p:nvSpPr>
          <p:cNvPr id="21" name="TextBox 20"/>
          <p:cNvSpPr txBox="1"/>
          <p:nvPr/>
        </p:nvSpPr>
        <p:spPr>
          <a:xfrm>
            <a:off x="7059168" y="4392676"/>
            <a:ext cx="1170431" cy="674624"/>
          </a:xfrm>
          <a:prstGeom prst="rect">
            <a:avLst/>
          </a:prstGeom>
          <a:noFill/>
        </p:spPr>
        <p:txBody>
          <a:bodyPr wrap="square">
            <a:spAutoFit/>
          </a:bodyPr>
          <a:lstStyle/>
          <a:p>
            <a:r>
              <a:rPr sz="1600" b="0" i="0">
                <a:solidFill>
                  <a:srgbClr val="1A1A1A"/>
                </a:solidFill>
                <a:latin typeface="Arial"/>
              </a:rPr>
              <a:t>8</a:t>
            </a:r>
          </a:p>
        </p:txBody>
      </p:sp>
      <p:sp>
        <p:nvSpPr>
          <p:cNvPr id="22" name="TextBox 21"/>
          <p:cNvSpPr txBox="1"/>
          <p:nvPr/>
        </p:nvSpPr>
        <p:spPr>
          <a:xfrm>
            <a:off x="8339327" y="4392676"/>
            <a:ext cx="3090672" cy="674624"/>
          </a:xfrm>
          <a:prstGeom prst="rect">
            <a:avLst/>
          </a:prstGeom>
          <a:noFill/>
        </p:spPr>
        <p:txBody>
          <a:bodyPr wrap="square">
            <a:spAutoFit/>
          </a:bodyPr>
          <a:lstStyle/>
          <a:p>
            <a:r>
              <a:rPr sz="1600" b="0" i="0">
                <a:solidFill>
                  <a:srgbClr val="1A1A1A"/>
                </a:solidFill>
                <a:latin typeface="Arial"/>
              </a:rPr>
              <a:t>Depends on G-01, G-06 and G-11</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Patterns across domains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One missing record holds back three domains (G-05, with G-09, G-11 and G-12).</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ministry of education is outside infrastructure that already runs (G-08, G-12).</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law and the budget come before the build (G-01, G-03, G-04).</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Gather every gap into one register and rank each by impact, urgency, feasibility and what depends on it, so the list you take to your minister is short and ordered.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Gather the gaps of five domain reports into one ranked register.</a:t>
            </a:r>
          </a:p>
          <a:p>
            <a:pPr algn="l">
              <a:spcAft>
                <a:spcPts val="400"/>
              </a:spcAft>
            </a:pPr>
            <a:r>
              <a:rPr sz="1800" b="0" i="0">
                <a:solidFill>
                  <a:srgbClr val="595959"/>
                </a:solidFill>
                <a:latin typeface="Arial"/>
              </a:rPr>
              <a:t>The prompt in the companion material gives you a gap register with one row for each gap, its findings, its proposed ratings with reasons, its band and its dependencies.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5.4, step 5, and section 3.3.3</a:t>
            </a:r>
          </a:p>
          <a:p>
            <a:pPr>
              <a:spcAft>
                <a:spcPts val="1000"/>
              </a:spcAft>
            </a:pPr>
            <a:r>
              <a:rPr sz="1800" b="0" i="0">
                <a:solidFill>
                  <a:srgbClr val="1A1A1A"/>
                </a:solidFill>
                <a:latin typeface="Arial"/>
              </a:rPr>
              <a:t>•  UNDP, The DPI Approach: A Playbook, 2023, page 23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