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6" r:id="rId58"/>
    <p:sldId id="2737" r:id="rId59"/>
    <p:sldId id="2738" r:id="rId60"/>
    <p:sldId id="2739" r:id="rId61"/>
    <p:sldId id="2740" r:id="rId62"/>
    <p:sldId id="2741" r:id="rId63"/>
    <p:sldId id="2742" r:id="rId64"/>
    <p:sldId id="2743"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shared block stays shared only while someone has the power to keep it shared. Without that, each new project builds its own copy, and each copy is paid for again. Governance written down on one page prevents that.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Write governance down in three layers. The political layer decides money and policy. The programme layer coordinates the work across ministries. The technical layer runs each block and sets its technical rules. No public source names these three layers; they are this course's own way of putting together what the sources say. PAERA asks for political leadership shown in words and in budgets, and a dedicated agency with a coordinating role. It describes a committee of key ministers that decides funding and advises the cabinet, and a digital officer in each ministry.</a:t>
            </a:r>
          </a:p>
          <a:p/>
          <a:p>
            <a:r>
              <a:t>Production cue: Figure F16 (the governance structure on one page) belongs to the written guide and is not on the slide. Text-only.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published examples show roles divided this way. UNDP's playbook describes Estonia's data exchange. A ministry advocates policy changes. The Information System Authority registers new members and supervises security. The Nordic Institute for Interoperability Solutions manages its day-to-day operations. The Data Protection Inspectorate supervises compliance with the data protection law. And the Bank for International Settlements describes Brazil's instant payment system, Pix, where the central bank both operates the system and sets its rules. In each case, one named body is answerable for running the shared system or setting its rules. Your page should name such a body for each shared block.</a:t>
            </a:r>
          </a:p>
          <a:p/>
          <a:p>
            <a:r>
              <a:t>Production cue: Each example with its published source. Text-only; no logos.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page, built as an example. At the political layer, a committee of ministers decides the funding, and the cabinet adopts the laws and the budget. At the programme layer, the digital government authority coordinates, and a joint board of the ministry of education and that authority, meeting monthly, decides education's shared infrastructure. At the technical layer each block has one owner: the authority for the exchange, the identity authority for identity, the register's product owner at the ministry of education for the learner register, and the ministry of finance for the Payments block. The ministry's digital officer makes sure each new project uses them.</a:t>
            </a:r>
          </a:p>
          <a:p/>
          <a:p>
            <a:r>
              <a:t>Production cue: The worked example, built for Progressa. Carries the shared-picture argument. Text-only.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Governance also says who may act for a learner. The Digital Registries specification includes delegated access, so that a guardian, a parent or a representative can act for a learner. The Consent specification defines consent as a voluntary declaration that the person may withdraw at any time. Neither replaces the law: in Progressa, the rules for children's data come from a regulation drafted in the first wave. The Universal DPI Safeguards Framework asks for transparent and participatory governance, and recommends shared oversight bodies and regular published reports. One page that the minister and the architect both read gives them a shared language for every decision.</a:t>
            </a:r>
          </a:p>
          <a:p/>
          <a:p>
            <a:r>
              <a:t>Production cue: Each statement with its specification or framework. Text-only.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Write down who decides money and policy, who coordinates, and who runs each block. Then the shared blocks stay shared.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Governance that keeps shared blocks shared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Shared blocks stay shared when it is written down who decides money and policy, who coordinates the programme, and who runs each block and sets its technical rules.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shared block stays shared only while someone has the power to keep it shared.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Without that, each new project builds its own copy, and each copy is paid for again.</a:t>
            </a:r>
          </a:p>
          <a:p>
            <a:pPr>
              <a:spcAft>
                <a:spcPts val="800"/>
              </a:spcAft>
            </a:pPr>
            <a:r>
              <a:rPr sz="1700" b="0" i="0">
                <a:solidFill>
                  <a:srgbClr val="595959"/>
                </a:solidFill>
                <a:latin typeface="Arial"/>
              </a:rPr>
              <a:t>Governance written down on one page prevents that.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layers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Political authority</a:t>
            </a:r>
          </a:p>
          <a:p>
            <a:pPr>
              <a:spcAft>
                <a:spcPts val="300"/>
              </a:spcAft>
            </a:pPr>
            <a:r>
              <a:rPr sz="1700" b="0" i="0">
                <a:solidFill>
                  <a:srgbClr val="595959"/>
                </a:solidFill>
                <a:latin typeface="Arial"/>
              </a:rPr>
              <a:t>Decides money and policy.</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Programme authority</a:t>
            </a:r>
          </a:p>
          <a:p>
            <a:pPr>
              <a:spcAft>
                <a:spcPts val="300"/>
              </a:spcAft>
            </a:pPr>
            <a:r>
              <a:rPr sz="1700" b="0" i="0">
                <a:solidFill>
                  <a:srgbClr val="595959"/>
                </a:solidFill>
                <a:latin typeface="Arial"/>
              </a:rPr>
              <a:t>Coordinates the programme across ministries.</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Technical authority</a:t>
            </a:r>
          </a:p>
          <a:p>
            <a:pPr>
              <a:spcAft>
                <a:spcPts val="300"/>
              </a:spcAft>
            </a:pPr>
            <a:r>
              <a:rPr sz="1700" b="0" i="0">
                <a:solidFill>
                  <a:srgbClr val="595959"/>
                </a:solidFill>
                <a:latin typeface="Arial"/>
              </a:rPr>
              <a:t>Runs each block and sets its technical rules.</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The three layers are the team's synthesis of public sources.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Roles divided: two published examples</a:t>
            </a:r>
          </a:p>
        </p:txBody>
      </p:sp>
      <p:sp>
        <p:nvSpPr>
          <p:cNvPr id="4" name="TextBox 3"/>
          <p:cNvSpPr txBox="1"/>
          <p:nvPr/>
        </p:nvSpPr>
        <p:spPr>
          <a:xfrm>
            <a:off x="658368" y="2221991"/>
            <a:ext cx="10984687" cy="1408176"/>
          </a:xfrm>
          <a:prstGeom prst="rect">
            <a:avLst/>
          </a:prstGeom>
          <a:noFill/>
        </p:spPr>
        <p:txBody>
          <a:bodyPr wrap="square">
            <a:spAutoFit/>
          </a:bodyPr>
          <a:lstStyle/>
          <a:p>
            <a:pPr>
              <a:spcAft>
                <a:spcPts val="300"/>
              </a:spcAft>
            </a:pPr>
            <a:r>
              <a:rPr sz="2400" b="1" i="0">
                <a:solidFill>
                  <a:srgbClr val="1A1A1A"/>
                </a:solidFill>
                <a:latin typeface="Arial"/>
              </a:rPr>
              <a:t>Estonia's data exchange</a:t>
            </a:r>
          </a:p>
          <a:p>
            <a:pPr>
              <a:spcAft>
                <a:spcPts val="300"/>
              </a:spcAft>
            </a:pPr>
            <a:r>
              <a:rPr sz="1900" b="0" i="0">
                <a:solidFill>
                  <a:srgbClr val="595959"/>
                </a:solidFill>
                <a:latin typeface="Arial"/>
              </a:rPr>
              <a:t>A ministry advocates policy; the Information System Authority registers members and supervises security; the Nordic Institute for Interoperability Solutions runs it day to day; the Data Protection Inspectorate supervises data protection (UNDP, 2023).</a:t>
            </a:r>
          </a:p>
        </p:txBody>
      </p:sp>
      <p:sp>
        <p:nvSpPr>
          <p:cNvPr id="5" name="Rectangle 4"/>
          <p:cNvSpPr/>
          <p:nvPr/>
        </p:nvSpPr>
        <p:spPr>
          <a:xfrm>
            <a:off x="621792" y="363473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75887"/>
            <a:ext cx="10984687" cy="1234439"/>
          </a:xfrm>
          <a:prstGeom prst="rect">
            <a:avLst/>
          </a:prstGeom>
          <a:noFill/>
        </p:spPr>
        <p:txBody>
          <a:bodyPr wrap="square">
            <a:spAutoFit/>
          </a:bodyPr>
          <a:lstStyle/>
          <a:p>
            <a:pPr>
              <a:spcAft>
                <a:spcPts val="300"/>
              </a:spcAft>
            </a:pPr>
            <a:r>
              <a:rPr sz="2400" b="1" i="0">
                <a:solidFill>
                  <a:srgbClr val="1A1A1A"/>
                </a:solidFill>
                <a:latin typeface="Arial"/>
              </a:rPr>
              <a:t>Brazil's Pix</a:t>
            </a:r>
          </a:p>
          <a:p>
            <a:pPr>
              <a:spcAft>
                <a:spcPts val="300"/>
              </a:spcAft>
            </a:pPr>
            <a:r>
              <a:rPr sz="1900" b="0" i="0">
                <a:solidFill>
                  <a:srgbClr val="595959"/>
                </a:solidFill>
                <a:latin typeface="Arial"/>
              </a:rPr>
              <a:t>The central bank both operates the system and sets its rules (BIS, 2022).</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governance on one page (illustrative)</a:t>
            </a:r>
          </a:p>
        </p:txBody>
      </p:sp>
      <p:sp>
        <p:nvSpPr>
          <p:cNvPr id="4" name="TextBox 3"/>
          <p:cNvSpPr txBox="1"/>
          <p:nvPr/>
        </p:nvSpPr>
        <p:spPr>
          <a:xfrm>
            <a:off x="658368" y="1996947"/>
            <a:ext cx="2542032" cy="457200"/>
          </a:xfrm>
          <a:prstGeom prst="rect">
            <a:avLst/>
          </a:prstGeom>
          <a:noFill/>
        </p:spPr>
        <p:txBody>
          <a:bodyPr wrap="square">
            <a:spAutoFit/>
          </a:bodyPr>
          <a:lstStyle/>
          <a:p>
            <a:r>
              <a:rPr sz="1600" b="1" i="0">
                <a:solidFill>
                  <a:srgbClr val="006E96"/>
                </a:solidFill>
                <a:latin typeface="Arial"/>
              </a:rPr>
              <a:t>Layer</a:t>
            </a:r>
          </a:p>
        </p:txBody>
      </p:sp>
      <p:sp>
        <p:nvSpPr>
          <p:cNvPr id="5" name="TextBox 4"/>
          <p:cNvSpPr txBox="1"/>
          <p:nvPr/>
        </p:nvSpPr>
        <p:spPr>
          <a:xfrm>
            <a:off x="3310128" y="1996947"/>
            <a:ext cx="8119872" cy="457200"/>
          </a:xfrm>
          <a:prstGeom prst="rect">
            <a:avLst/>
          </a:prstGeom>
          <a:noFill/>
        </p:spPr>
        <p:txBody>
          <a:bodyPr wrap="square">
            <a:spAutoFit/>
          </a:bodyPr>
          <a:lstStyle/>
          <a:p>
            <a:r>
              <a:rPr sz="1600" b="1" i="0">
                <a:solidFill>
                  <a:srgbClr val="006E96"/>
                </a:solidFill>
                <a:latin typeface="Arial"/>
              </a:rPr>
              <a:t>Who</a:t>
            </a:r>
          </a:p>
        </p:txBody>
      </p:sp>
      <p:sp>
        <p:nvSpPr>
          <p:cNvPr id="6" name="Rectangle 5"/>
          <p:cNvSpPr/>
          <p:nvPr/>
        </p:nvSpPr>
        <p:spPr>
          <a:xfrm>
            <a:off x="658368" y="2454147"/>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545587"/>
            <a:ext cx="2542032" cy="674624"/>
          </a:xfrm>
          <a:prstGeom prst="rect">
            <a:avLst/>
          </a:prstGeom>
          <a:noFill/>
        </p:spPr>
        <p:txBody>
          <a:bodyPr wrap="square">
            <a:spAutoFit/>
          </a:bodyPr>
          <a:lstStyle/>
          <a:p>
            <a:r>
              <a:rPr sz="1600" b="1" i="0">
                <a:solidFill>
                  <a:srgbClr val="1A1A1A"/>
                </a:solidFill>
                <a:latin typeface="Arial"/>
              </a:rPr>
              <a:t>Political</a:t>
            </a:r>
          </a:p>
        </p:txBody>
      </p:sp>
      <p:sp>
        <p:nvSpPr>
          <p:cNvPr id="8" name="TextBox 7"/>
          <p:cNvSpPr txBox="1"/>
          <p:nvPr/>
        </p:nvSpPr>
        <p:spPr>
          <a:xfrm>
            <a:off x="3310128" y="2545587"/>
            <a:ext cx="8119872" cy="674624"/>
          </a:xfrm>
          <a:prstGeom prst="rect">
            <a:avLst/>
          </a:prstGeom>
          <a:noFill/>
        </p:spPr>
        <p:txBody>
          <a:bodyPr wrap="square">
            <a:spAutoFit/>
          </a:bodyPr>
          <a:lstStyle/>
          <a:p>
            <a:r>
              <a:rPr sz="1600" b="0" i="0">
                <a:solidFill>
                  <a:srgbClr val="1A1A1A"/>
                </a:solidFill>
                <a:latin typeface="Arial"/>
              </a:rPr>
              <a:t>A committee of ministers decides the funding; the cabinet adopts the laws and the budget</a:t>
            </a:r>
          </a:p>
        </p:txBody>
      </p:sp>
      <p:sp>
        <p:nvSpPr>
          <p:cNvPr id="9" name="Rectangle 8"/>
          <p:cNvSpPr/>
          <p:nvPr/>
        </p:nvSpPr>
        <p:spPr>
          <a:xfrm>
            <a:off x="658368" y="323849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293363"/>
            <a:ext cx="2542032" cy="674624"/>
          </a:xfrm>
          <a:prstGeom prst="rect">
            <a:avLst/>
          </a:prstGeom>
          <a:noFill/>
        </p:spPr>
        <p:txBody>
          <a:bodyPr wrap="square">
            <a:spAutoFit/>
          </a:bodyPr>
          <a:lstStyle/>
          <a:p>
            <a:r>
              <a:rPr sz="1600" b="1" i="0">
                <a:solidFill>
                  <a:srgbClr val="1A1A1A"/>
                </a:solidFill>
                <a:latin typeface="Arial"/>
              </a:rPr>
              <a:t>Programme</a:t>
            </a:r>
          </a:p>
        </p:txBody>
      </p:sp>
      <p:sp>
        <p:nvSpPr>
          <p:cNvPr id="11" name="TextBox 10"/>
          <p:cNvSpPr txBox="1"/>
          <p:nvPr/>
        </p:nvSpPr>
        <p:spPr>
          <a:xfrm>
            <a:off x="3310128" y="3293363"/>
            <a:ext cx="8119872" cy="674624"/>
          </a:xfrm>
          <a:prstGeom prst="rect">
            <a:avLst/>
          </a:prstGeom>
          <a:noFill/>
        </p:spPr>
        <p:txBody>
          <a:bodyPr wrap="square">
            <a:spAutoFit/>
          </a:bodyPr>
          <a:lstStyle/>
          <a:p>
            <a:r>
              <a:rPr sz="1600" b="0" i="0">
                <a:solidFill>
                  <a:srgbClr val="1A1A1A"/>
                </a:solidFill>
                <a:latin typeface="Arial"/>
              </a:rPr>
              <a:t>PDGA coordinates; the joint board of MoEYS and PDGA decides education’s shared infrastructure</a:t>
            </a:r>
          </a:p>
        </p:txBody>
      </p:sp>
      <p:sp>
        <p:nvSpPr>
          <p:cNvPr id="12" name="Rectangle 11"/>
          <p:cNvSpPr/>
          <p:nvPr/>
        </p:nvSpPr>
        <p:spPr>
          <a:xfrm>
            <a:off x="658368" y="3986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041140"/>
            <a:ext cx="2542032" cy="674624"/>
          </a:xfrm>
          <a:prstGeom prst="rect">
            <a:avLst/>
          </a:prstGeom>
          <a:noFill/>
        </p:spPr>
        <p:txBody>
          <a:bodyPr wrap="square">
            <a:spAutoFit/>
          </a:bodyPr>
          <a:lstStyle/>
          <a:p>
            <a:r>
              <a:rPr sz="1600" b="1" i="0">
                <a:solidFill>
                  <a:srgbClr val="1A1A1A"/>
                </a:solidFill>
                <a:latin typeface="Arial"/>
              </a:rPr>
              <a:t>Technical</a:t>
            </a:r>
          </a:p>
        </p:txBody>
      </p:sp>
      <p:sp>
        <p:nvSpPr>
          <p:cNvPr id="14" name="TextBox 13"/>
          <p:cNvSpPr txBox="1"/>
          <p:nvPr/>
        </p:nvSpPr>
        <p:spPr>
          <a:xfrm>
            <a:off x="3310128" y="4041140"/>
            <a:ext cx="8119872" cy="674624"/>
          </a:xfrm>
          <a:prstGeom prst="rect">
            <a:avLst/>
          </a:prstGeom>
          <a:noFill/>
        </p:spPr>
        <p:txBody>
          <a:bodyPr wrap="square">
            <a:spAutoFit/>
          </a:bodyPr>
          <a:lstStyle/>
          <a:p>
            <a:r>
              <a:rPr sz="1600" b="0" i="0">
                <a:solidFill>
                  <a:srgbClr val="1A1A1A"/>
                </a:solidFill>
                <a:latin typeface="Arial"/>
              </a:rPr>
              <a:t>PDGA for Linkup; PNIA for identity; PLR's product owner at MoEYS for the learner register; the ministry of finance for the Payments block</a:t>
            </a:r>
          </a:p>
        </p:txBody>
      </p:sp>
      <p:sp>
        <p:nvSpPr>
          <p:cNvPr id="15" name="Rectangle 14"/>
          <p:cNvSpPr/>
          <p:nvPr/>
        </p:nvSpPr>
        <p:spPr>
          <a:xfrm>
            <a:off x="658368" y="4734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788916"/>
            <a:ext cx="2542032" cy="410464"/>
          </a:xfrm>
          <a:prstGeom prst="rect">
            <a:avLst/>
          </a:prstGeom>
          <a:noFill/>
        </p:spPr>
        <p:txBody>
          <a:bodyPr wrap="square">
            <a:spAutoFit/>
          </a:bodyPr>
          <a:lstStyle/>
          <a:p>
            <a:r>
              <a:rPr sz="1600" b="1" i="0">
                <a:solidFill>
                  <a:srgbClr val="1A1A1A"/>
                </a:solidFill>
                <a:latin typeface="Arial"/>
              </a:rPr>
              <a:t>MoEYS's digital officer</a:t>
            </a:r>
          </a:p>
        </p:txBody>
      </p:sp>
      <p:sp>
        <p:nvSpPr>
          <p:cNvPr id="17" name="TextBox 16"/>
          <p:cNvSpPr txBox="1"/>
          <p:nvPr/>
        </p:nvSpPr>
        <p:spPr>
          <a:xfrm>
            <a:off x="3310128" y="4788916"/>
            <a:ext cx="8119872" cy="410464"/>
          </a:xfrm>
          <a:prstGeom prst="rect">
            <a:avLst/>
          </a:prstGeom>
          <a:noFill/>
        </p:spPr>
        <p:txBody>
          <a:bodyPr wrap="square">
            <a:spAutoFit/>
          </a:bodyPr>
          <a:lstStyle/>
          <a:p>
            <a:r>
              <a:rPr sz="1600" b="0" i="0">
                <a:solidFill>
                  <a:srgbClr val="1A1A1A"/>
                </a:solidFill>
                <a:latin typeface="Arial"/>
              </a:rPr>
              <a:t>Each new project uses the shared blocks</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decides for the learner</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A guardian or a parent can act for a child through delegated access (GovStack Digital Registries, DRS-6).</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Consent is a voluntary declaration that can be withdrawn at any time (GovStack Consent, section 2).</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The rules for children's data come from a regulation.</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Shared oversight bodies and regular published reports (UN, 2024).</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Shared blocks stay shared when it is written down who decides money and policy, who coordinates the programme, and who runs each block and sets its technical rules.</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terms of reference of the governance board, and a table of who decides what.</a:t>
            </a:r>
          </a:p>
          <a:p>
            <a:pPr algn="l">
              <a:spcAft>
                <a:spcPts val="400"/>
              </a:spcAft>
            </a:pPr>
            <a:r>
              <a:rPr sz="1800" b="0" i="0">
                <a:solidFill>
                  <a:srgbClr val="595959"/>
                </a:solidFill>
                <a:latin typeface="Arial"/>
              </a:rPr>
              <a:t>The prompt in the companion material gives you draft terms of reference for the governance board and a table of who decides what in three layers.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600" b="0" i="0">
                <a:solidFill>
                  <a:srgbClr val="1A1A1A"/>
                </a:solidFill>
                <a:latin typeface="Arial"/>
              </a:rPr>
              <a:t>•  PAERA v1.0, sections 3.1.1 and 3.1.2</a:t>
            </a:r>
          </a:p>
          <a:p>
            <a:pPr>
              <a:spcAft>
                <a:spcPts val="1000"/>
              </a:spcAft>
            </a:pPr>
            <a:r>
              <a:rPr sz="1600" b="0" i="0">
                <a:solidFill>
                  <a:srgbClr val="1A1A1A"/>
                </a:solidFill>
                <a:latin typeface="Arial"/>
              </a:rPr>
              <a:t>•  UNDP, The DPI Approach: A Playbook, 2023, pages 34 to 41</a:t>
            </a:r>
          </a:p>
          <a:p>
            <a:pPr>
              <a:spcAft>
                <a:spcPts val="1000"/>
              </a:spcAft>
            </a:pPr>
            <a:r>
              <a:rPr sz="1600" b="0" i="0">
                <a:solidFill>
                  <a:srgbClr val="1A1A1A"/>
                </a:solidFill>
                <a:latin typeface="Arial"/>
              </a:rPr>
              <a:t>•  Universal DPI Safeguards Framework, United Nations, 2024, principle O7, page 25, and table 3.1, page 36</a:t>
            </a:r>
          </a:p>
          <a:p>
            <a:pPr>
              <a:spcAft>
                <a:spcPts val="1000"/>
              </a:spcAft>
            </a:pPr>
            <a:r>
              <a:rPr sz="1600" b="0" i="0">
                <a:solidFill>
                  <a:srgbClr val="1A1A1A"/>
                </a:solidFill>
                <a:latin typeface="Arial"/>
              </a:rPr>
              <a:t>•  BIS Bulletin No 52, 2022, page 5</a:t>
            </a:r>
          </a:p>
          <a:p>
            <a:pPr>
              <a:spcAft>
                <a:spcPts val="1000"/>
              </a:spcAft>
            </a:pPr>
            <a:r>
              <a:rPr sz="1600" b="0" i="0">
                <a:solidFill>
                  <a:srgbClr val="1A1A1A"/>
                </a:solidFill>
                <a:latin typeface="Arial"/>
              </a:rPr>
              <a:t>•  GovStack Digital Registries specification, Version 3.0-alpha, DRS-6</a:t>
            </a:r>
          </a:p>
          <a:p>
            <a:pPr>
              <a:spcAft>
                <a:spcPts val="1000"/>
              </a:spcAft>
            </a:pPr>
            <a:r>
              <a:rPr sz="1600" b="0" i="0">
                <a:solidFill>
                  <a:srgbClr val="1A1A1A"/>
                </a:solidFill>
                <a:latin typeface="Arial"/>
              </a:rPr>
              <a:t>•  GovStack Consent specification, version 1.3.0, section 2, 'What Consent Is'</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