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8" r:id="rId90"/>
    <p:sldId id="2769" r:id="rId91"/>
    <p:sldId id="2770" r:id="rId92"/>
    <p:sldId id="2771" r:id="rId93"/>
    <p:sldId id="2772" r:id="rId94"/>
    <p:sldId id="2773" r:id="rId95"/>
    <p:sldId id="2774" r:id="rId96"/>
    <p:sldId id="2775"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Education is the first sector here, not the only one. The method does not belong to schools. A ministry of health, of agriculture or of social protection can use it, if it knows what to keep and what to replace.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stays as it is. The five domains stay: governance with the law, access, digital data, interoperability and digital identity. The nine steps stay, from framing the assessment to adopting the roadmap, with their roles, their decision points and their templates. The foundational blocks stay too. UNDP's framework for the DPI approach places digital identity, digital payments and consent-based data sharing in its core, and places sector applications, among them digital education, digital health and digital agriculture, above that core. A new sector builds on the same core.</a:t>
            </a:r>
          </a:p>
          <a:p/>
          <a:p>
            <a:r>
              <a:t>Production cue: UNDP's Exhibit 2 described in words; the exhibit itself is not shown.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changes is the sector's own part. Its register changes: in education it is the learner register; in health it may be a register of providers and facilities; in social protection, a social insurance register. Its services change, and with them the bodies that own them and answer the questionnaires. PAERA lists the main state registries a country should establish, and among them are health registers, a social insurance register and an education register. It also says that digitising a state registry needs two building blocks: Registration and a Digital Registry. So a new sector's register is set up with the same two kinds of block, whatever it records.</a:t>
            </a:r>
          </a:p>
          <a:p/>
          <a:p>
            <a:r>
              <a:t>Production cue: PAERA's Annex 3 and A1.2.5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comparison on one page, part by part. For each part of the method, the table says what stays and what the new sector replaces. The domains stay, with questions added for the sector. The nine steps stay, while the bodies, the sessions and the documents change. The foundational blocks stay and are reused, so the new sector pays for a connection, not for a block. The sector's register and services are replaced and assessed afresh. And the examples keep their form, but every value is rebuilt, so a health roadmap is shown on its own registers, not on learners.</a:t>
            </a:r>
          </a:p>
          <a:p/>
          <a:p>
            <a:r>
              <a:t>Production cue: The team's blank instrument; the worked example below. Text-only.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warning. Carrying the method over does not carry the results over. Progressa's learner register came first because its own assessment found that the missing record held back three domains. A ministry of health may find something else first, such as its register of providers, or its link to the identity authority. Run the new sector's assessment in full, with its own questionnaires, its own sessions and its own verification, before anything from education is treated as a finding. Only the method moves from one sector to the other.</a:t>
            </a:r>
          </a:p>
          <a:p/>
          <a:p>
            <a:r>
              <a:t>Production cue: No second sector is worked through; the contract's demonstration is education.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domains, the steps and the foundational blocks. Change the sector's register and services, and assess the new sector afresh.</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method to another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Change the sector's register and services and keep the five domains, the nine steps and the foundational blocks, and the same method produces a roadmap for health, agriculture or social protection.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Education is the first sector here, not the only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does not belong to schools.</a:t>
            </a:r>
          </a:p>
          <a:p>
            <a:pPr>
              <a:spcAft>
                <a:spcPts val="800"/>
              </a:spcAft>
            </a:pPr>
            <a:r>
              <a:rPr sz="1700" b="0" i="0">
                <a:solidFill>
                  <a:srgbClr val="595959"/>
                </a:solidFill>
                <a:latin typeface="Arial"/>
              </a:rPr>
              <a:t>A ministry of health, of agriculture or of social protection can use it, if it knows what to keep and what to replace.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five domains.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The nine steps, with their roles and templates.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The foundational blocks</a:t>
            </a:r>
          </a:p>
          <a:p>
            <a:pPr>
              <a:spcAft>
                <a:spcPts val="300"/>
              </a:spcAft>
            </a:pPr>
            <a:r>
              <a:rPr sz="1700" b="0" i="0">
                <a:solidFill>
                  <a:srgbClr val="595959"/>
                </a:solidFill>
                <a:latin typeface="Arial"/>
              </a:rPr>
              <a:t>Identity, payments, data exchange.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Sector applications sit above the core (UNDP, 2023, Exhibit 2).</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changes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sector's register</a:t>
            </a:r>
          </a:p>
          <a:p>
            <a:pPr>
              <a:spcAft>
                <a:spcPts val="300"/>
              </a:spcAft>
            </a:pPr>
            <a:r>
              <a:rPr sz="1800" b="0" i="0">
                <a:solidFill>
                  <a:srgbClr val="595959"/>
                </a:solidFill>
                <a:latin typeface="Arial"/>
              </a:rPr>
              <a:t>In health, providers and facilities; in social protection, social insurance.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sector's services, and the bodies that own them.</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Any state registry needs two blocks</a:t>
            </a:r>
          </a:p>
          <a:p>
            <a:pPr>
              <a:spcAft>
                <a:spcPts val="300"/>
              </a:spcAft>
            </a:pPr>
            <a:r>
              <a:rPr sz="1800" b="0" i="0">
                <a:solidFill>
                  <a:srgbClr val="595959"/>
                </a:solidFill>
                <a:latin typeface="Arial"/>
              </a:rPr>
              <a:t>Registration and a Digital Registry (PAERA, Annex 1).</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carry-over table</a:t>
            </a:r>
          </a:p>
        </p:txBody>
      </p:sp>
      <p:sp>
        <p:nvSpPr>
          <p:cNvPr id="4" name="TextBox 3"/>
          <p:cNvSpPr txBox="1"/>
          <p:nvPr/>
        </p:nvSpPr>
        <p:spPr>
          <a:xfrm>
            <a:off x="658368" y="2151379"/>
            <a:ext cx="3182112" cy="457200"/>
          </a:xfrm>
          <a:prstGeom prst="rect">
            <a:avLst/>
          </a:prstGeom>
          <a:noFill/>
        </p:spPr>
        <p:txBody>
          <a:bodyPr wrap="square">
            <a:spAutoFit/>
          </a:bodyPr>
          <a:lstStyle/>
          <a:p>
            <a:r>
              <a:rPr sz="1600" b="1" i="0">
                <a:solidFill>
                  <a:srgbClr val="006E96"/>
                </a:solidFill>
                <a:latin typeface="Arial"/>
              </a:rPr>
              <a:t>Part</a:t>
            </a:r>
          </a:p>
        </p:txBody>
      </p:sp>
      <p:sp>
        <p:nvSpPr>
          <p:cNvPr id="5" name="TextBox 4"/>
          <p:cNvSpPr txBox="1"/>
          <p:nvPr/>
        </p:nvSpPr>
        <p:spPr>
          <a:xfrm>
            <a:off x="3950208" y="2151379"/>
            <a:ext cx="2816352" cy="457200"/>
          </a:xfrm>
          <a:prstGeom prst="rect">
            <a:avLst/>
          </a:prstGeom>
          <a:noFill/>
        </p:spPr>
        <p:txBody>
          <a:bodyPr wrap="square">
            <a:spAutoFit/>
          </a:bodyPr>
          <a:lstStyle/>
          <a:p>
            <a:r>
              <a:rPr sz="1600" b="1" i="0">
                <a:solidFill>
                  <a:srgbClr val="006E96"/>
                </a:solidFill>
                <a:latin typeface="Arial"/>
              </a:rPr>
              <a:t>Keep or replace</a:t>
            </a:r>
          </a:p>
        </p:txBody>
      </p:sp>
      <p:sp>
        <p:nvSpPr>
          <p:cNvPr id="6" name="TextBox 5"/>
          <p:cNvSpPr txBox="1"/>
          <p:nvPr/>
        </p:nvSpPr>
        <p:spPr>
          <a:xfrm>
            <a:off x="6876288" y="2151379"/>
            <a:ext cx="4553712" cy="457200"/>
          </a:xfrm>
          <a:prstGeom prst="rect">
            <a:avLst/>
          </a:prstGeom>
          <a:noFill/>
        </p:spPr>
        <p:txBody>
          <a:bodyPr wrap="square">
            <a:spAutoFit/>
          </a:bodyPr>
          <a:lstStyle/>
          <a:p>
            <a:r>
              <a:rPr sz="1600" b="1" i="0">
                <a:solidFill>
                  <a:srgbClr val="006E96"/>
                </a:solidFill>
                <a:latin typeface="Arial"/>
              </a:rPr>
              <a:t>What changes</a:t>
            </a:r>
          </a:p>
        </p:txBody>
      </p:sp>
      <p:sp>
        <p:nvSpPr>
          <p:cNvPr id="7" name="Rectangle 6"/>
          <p:cNvSpPr/>
          <p:nvPr/>
        </p:nvSpPr>
        <p:spPr>
          <a:xfrm>
            <a:off x="658368" y="2608579"/>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700019"/>
            <a:ext cx="3182112" cy="410464"/>
          </a:xfrm>
          <a:prstGeom prst="rect">
            <a:avLst/>
          </a:prstGeom>
          <a:noFill/>
        </p:spPr>
        <p:txBody>
          <a:bodyPr wrap="square">
            <a:spAutoFit/>
          </a:bodyPr>
          <a:lstStyle/>
          <a:p>
            <a:r>
              <a:rPr sz="1600" b="1" i="0">
                <a:solidFill>
                  <a:srgbClr val="1A1A1A"/>
                </a:solidFill>
                <a:latin typeface="Arial"/>
              </a:rPr>
              <a:t>Domains</a:t>
            </a:r>
          </a:p>
        </p:txBody>
      </p:sp>
      <p:sp>
        <p:nvSpPr>
          <p:cNvPr id="9" name="TextBox 8"/>
          <p:cNvSpPr txBox="1"/>
          <p:nvPr/>
        </p:nvSpPr>
        <p:spPr>
          <a:xfrm>
            <a:off x="3950208" y="2700019"/>
            <a:ext cx="2816352" cy="410464"/>
          </a:xfrm>
          <a:prstGeom prst="rect">
            <a:avLst/>
          </a:prstGeom>
          <a:noFill/>
        </p:spPr>
        <p:txBody>
          <a:bodyPr wrap="square">
            <a:spAutoFit/>
          </a:bodyPr>
          <a:lstStyle/>
          <a:p>
            <a:r>
              <a:rPr sz="1600" b="0" i="0">
                <a:solidFill>
                  <a:srgbClr val="1A1A1A"/>
                </a:solidFill>
                <a:latin typeface="Arial"/>
              </a:rPr>
              <a:t>Keep</a:t>
            </a:r>
          </a:p>
        </p:txBody>
      </p:sp>
      <p:sp>
        <p:nvSpPr>
          <p:cNvPr id="10" name="TextBox 9"/>
          <p:cNvSpPr txBox="1"/>
          <p:nvPr/>
        </p:nvSpPr>
        <p:spPr>
          <a:xfrm>
            <a:off x="6876288" y="2700019"/>
            <a:ext cx="4553712" cy="410464"/>
          </a:xfrm>
          <a:prstGeom prst="rect">
            <a:avLst/>
          </a:prstGeom>
          <a:noFill/>
        </p:spPr>
        <p:txBody>
          <a:bodyPr wrap="square">
            <a:spAutoFit/>
          </a:bodyPr>
          <a:lstStyle/>
          <a:p>
            <a:r>
              <a:rPr sz="1600" b="0" i="0">
                <a:solidFill>
                  <a:srgbClr val="1A1A1A"/>
                </a:solidFill>
                <a:latin typeface="Arial"/>
              </a:rPr>
              <a:t>Add the sector's own questions</a:t>
            </a:r>
          </a:p>
        </p:txBody>
      </p:sp>
      <p:sp>
        <p:nvSpPr>
          <p:cNvPr id="11" name="Rectangle 10"/>
          <p:cNvSpPr/>
          <p:nvPr/>
        </p:nvSpPr>
        <p:spPr>
          <a:xfrm>
            <a:off x="658368" y="3128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83636"/>
            <a:ext cx="3182112" cy="410464"/>
          </a:xfrm>
          <a:prstGeom prst="rect">
            <a:avLst/>
          </a:prstGeom>
          <a:noFill/>
        </p:spPr>
        <p:txBody>
          <a:bodyPr wrap="square">
            <a:spAutoFit/>
          </a:bodyPr>
          <a:lstStyle/>
          <a:p>
            <a:r>
              <a:rPr sz="1600" b="1" i="0">
                <a:solidFill>
                  <a:srgbClr val="1A1A1A"/>
                </a:solidFill>
                <a:latin typeface="Arial"/>
              </a:rPr>
              <a:t>Nine steps</a:t>
            </a:r>
          </a:p>
        </p:txBody>
      </p:sp>
      <p:sp>
        <p:nvSpPr>
          <p:cNvPr id="13" name="TextBox 12"/>
          <p:cNvSpPr txBox="1"/>
          <p:nvPr/>
        </p:nvSpPr>
        <p:spPr>
          <a:xfrm>
            <a:off x="3950208" y="3183636"/>
            <a:ext cx="2816352" cy="410464"/>
          </a:xfrm>
          <a:prstGeom prst="rect">
            <a:avLst/>
          </a:prstGeom>
          <a:noFill/>
        </p:spPr>
        <p:txBody>
          <a:bodyPr wrap="square">
            <a:spAutoFit/>
          </a:bodyPr>
          <a:lstStyle/>
          <a:p>
            <a:r>
              <a:rPr sz="1600" b="0" i="0">
                <a:solidFill>
                  <a:srgbClr val="1A1A1A"/>
                </a:solidFill>
                <a:latin typeface="Arial"/>
              </a:rPr>
              <a:t>Keep</a:t>
            </a:r>
          </a:p>
        </p:txBody>
      </p:sp>
      <p:sp>
        <p:nvSpPr>
          <p:cNvPr id="14" name="TextBox 13"/>
          <p:cNvSpPr txBox="1"/>
          <p:nvPr/>
        </p:nvSpPr>
        <p:spPr>
          <a:xfrm>
            <a:off x="6876288" y="3183636"/>
            <a:ext cx="4553712" cy="410464"/>
          </a:xfrm>
          <a:prstGeom prst="rect">
            <a:avLst/>
          </a:prstGeom>
          <a:noFill/>
        </p:spPr>
        <p:txBody>
          <a:bodyPr wrap="square">
            <a:spAutoFit/>
          </a:bodyPr>
          <a:lstStyle/>
          <a:p>
            <a:r>
              <a:rPr sz="1600" b="0" i="0">
                <a:solidFill>
                  <a:srgbClr val="1A1A1A"/>
                </a:solidFill>
                <a:latin typeface="Arial"/>
              </a:rPr>
              <a:t>New bodies, sessions and documents</a:t>
            </a:r>
          </a:p>
        </p:txBody>
      </p:sp>
      <p:sp>
        <p:nvSpPr>
          <p:cNvPr id="15" name="Rectangle 14"/>
          <p:cNvSpPr/>
          <p:nvPr/>
        </p:nvSpPr>
        <p:spPr>
          <a:xfrm>
            <a:off x="658368" y="3612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667252"/>
            <a:ext cx="3182112" cy="410464"/>
          </a:xfrm>
          <a:prstGeom prst="rect">
            <a:avLst/>
          </a:prstGeom>
          <a:noFill/>
        </p:spPr>
        <p:txBody>
          <a:bodyPr wrap="square">
            <a:spAutoFit/>
          </a:bodyPr>
          <a:lstStyle/>
          <a:p>
            <a:r>
              <a:rPr sz="1600" b="1" i="0">
                <a:solidFill>
                  <a:srgbClr val="1A1A1A"/>
                </a:solidFill>
                <a:latin typeface="Arial"/>
              </a:rPr>
              <a:t>Foundational blocks</a:t>
            </a:r>
          </a:p>
        </p:txBody>
      </p:sp>
      <p:sp>
        <p:nvSpPr>
          <p:cNvPr id="17" name="TextBox 16"/>
          <p:cNvSpPr txBox="1"/>
          <p:nvPr/>
        </p:nvSpPr>
        <p:spPr>
          <a:xfrm>
            <a:off x="3950208" y="3667252"/>
            <a:ext cx="2816352" cy="410464"/>
          </a:xfrm>
          <a:prstGeom prst="rect">
            <a:avLst/>
          </a:prstGeom>
          <a:noFill/>
        </p:spPr>
        <p:txBody>
          <a:bodyPr wrap="square">
            <a:spAutoFit/>
          </a:bodyPr>
          <a:lstStyle/>
          <a:p>
            <a:r>
              <a:rPr sz="1600" b="0" i="0">
                <a:solidFill>
                  <a:srgbClr val="1A1A1A"/>
                </a:solidFill>
                <a:latin typeface="Arial"/>
              </a:rPr>
              <a:t>Keep and reuse</a:t>
            </a:r>
          </a:p>
        </p:txBody>
      </p:sp>
      <p:sp>
        <p:nvSpPr>
          <p:cNvPr id="18" name="TextBox 17"/>
          <p:cNvSpPr txBox="1"/>
          <p:nvPr/>
        </p:nvSpPr>
        <p:spPr>
          <a:xfrm>
            <a:off x="6876288" y="3667252"/>
            <a:ext cx="4553712" cy="410464"/>
          </a:xfrm>
          <a:prstGeom prst="rect">
            <a:avLst/>
          </a:prstGeom>
          <a:noFill/>
        </p:spPr>
        <p:txBody>
          <a:bodyPr wrap="square">
            <a:spAutoFit/>
          </a:bodyPr>
          <a:lstStyle/>
          <a:p>
            <a:r>
              <a:rPr sz="1600" b="0" i="0">
                <a:solidFill>
                  <a:srgbClr val="1A1A1A"/>
                </a:solidFill>
                <a:latin typeface="Arial"/>
              </a:rPr>
              <a:t>The connections only</a:t>
            </a:r>
          </a:p>
        </p:txBody>
      </p:sp>
      <p:sp>
        <p:nvSpPr>
          <p:cNvPr id="19" name="Rectangle 18"/>
          <p:cNvSpPr/>
          <p:nvPr/>
        </p:nvSpPr>
        <p:spPr>
          <a:xfrm>
            <a:off x="658368" y="4096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50868"/>
            <a:ext cx="3182112" cy="410464"/>
          </a:xfrm>
          <a:prstGeom prst="rect">
            <a:avLst/>
          </a:prstGeom>
          <a:noFill/>
        </p:spPr>
        <p:txBody>
          <a:bodyPr wrap="square">
            <a:spAutoFit/>
          </a:bodyPr>
          <a:lstStyle/>
          <a:p>
            <a:r>
              <a:rPr sz="1600" b="1" i="0">
                <a:solidFill>
                  <a:srgbClr val="1A1A1A"/>
                </a:solidFill>
                <a:latin typeface="Arial"/>
              </a:rPr>
              <a:t>Register and services</a:t>
            </a:r>
          </a:p>
        </p:txBody>
      </p:sp>
      <p:sp>
        <p:nvSpPr>
          <p:cNvPr id="21" name="TextBox 20"/>
          <p:cNvSpPr txBox="1"/>
          <p:nvPr/>
        </p:nvSpPr>
        <p:spPr>
          <a:xfrm>
            <a:off x="3950208" y="4150868"/>
            <a:ext cx="2816352" cy="410464"/>
          </a:xfrm>
          <a:prstGeom prst="rect">
            <a:avLst/>
          </a:prstGeom>
          <a:noFill/>
        </p:spPr>
        <p:txBody>
          <a:bodyPr wrap="square">
            <a:spAutoFit/>
          </a:bodyPr>
          <a:lstStyle/>
          <a:p>
            <a:r>
              <a:rPr sz="1600" b="0" i="0">
                <a:solidFill>
                  <a:srgbClr val="1A1A1A"/>
                </a:solidFill>
                <a:latin typeface="Arial"/>
              </a:rPr>
              <a:t>Replace</a:t>
            </a:r>
          </a:p>
        </p:txBody>
      </p:sp>
      <p:sp>
        <p:nvSpPr>
          <p:cNvPr id="22" name="TextBox 21"/>
          <p:cNvSpPr txBox="1"/>
          <p:nvPr/>
        </p:nvSpPr>
        <p:spPr>
          <a:xfrm>
            <a:off x="6876288" y="4150868"/>
            <a:ext cx="4553712" cy="410464"/>
          </a:xfrm>
          <a:prstGeom prst="rect">
            <a:avLst/>
          </a:prstGeom>
          <a:noFill/>
        </p:spPr>
        <p:txBody>
          <a:bodyPr wrap="square">
            <a:spAutoFit/>
          </a:bodyPr>
          <a:lstStyle/>
          <a:p>
            <a:r>
              <a:rPr sz="1600" b="0" i="0">
                <a:solidFill>
                  <a:srgbClr val="1A1A1A"/>
                </a:solidFill>
                <a:latin typeface="Arial"/>
              </a:rPr>
              <a:t>Assess afresh</a:t>
            </a:r>
          </a:p>
        </p:txBody>
      </p:sp>
      <p:sp>
        <p:nvSpPr>
          <p:cNvPr id="23" name="Rectangle 22"/>
          <p:cNvSpPr/>
          <p:nvPr/>
        </p:nvSpPr>
        <p:spPr>
          <a:xfrm>
            <a:off x="658368" y="45796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634484"/>
            <a:ext cx="3182112" cy="410464"/>
          </a:xfrm>
          <a:prstGeom prst="rect">
            <a:avLst/>
          </a:prstGeom>
          <a:noFill/>
        </p:spPr>
        <p:txBody>
          <a:bodyPr wrap="square">
            <a:spAutoFit/>
          </a:bodyPr>
          <a:lstStyle/>
          <a:p>
            <a:r>
              <a:rPr sz="1600" b="1" i="0">
                <a:solidFill>
                  <a:srgbClr val="1A1A1A"/>
                </a:solidFill>
                <a:latin typeface="Arial"/>
              </a:rPr>
              <a:t>Worked examples</a:t>
            </a:r>
          </a:p>
        </p:txBody>
      </p:sp>
      <p:sp>
        <p:nvSpPr>
          <p:cNvPr id="25" name="TextBox 24"/>
          <p:cNvSpPr txBox="1"/>
          <p:nvPr/>
        </p:nvSpPr>
        <p:spPr>
          <a:xfrm>
            <a:off x="3950208" y="4634484"/>
            <a:ext cx="2816352" cy="410464"/>
          </a:xfrm>
          <a:prstGeom prst="rect">
            <a:avLst/>
          </a:prstGeom>
          <a:noFill/>
        </p:spPr>
        <p:txBody>
          <a:bodyPr wrap="square">
            <a:spAutoFit/>
          </a:bodyPr>
          <a:lstStyle/>
          <a:p>
            <a:r>
              <a:rPr sz="1600" b="0" i="0">
                <a:solidFill>
                  <a:srgbClr val="1A1A1A"/>
                </a:solidFill>
                <a:latin typeface="Arial"/>
              </a:rPr>
              <a:t>Keep the form</a:t>
            </a:r>
          </a:p>
        </p:txBody>
      </p:sp>
      <p:sp>
        <p:nvSpPr>
          <p:cNvPr id="26" name="TextBox 25"/>
          <p:cNvSpPr txBox="1"/>
          <p:nvPr/>
        </p:nvSpPr>
        <p:spPr>
          <a:xfrm>
            <a:off x="6876288" y="4634484"/>
            <a:ext cx="4553712" cy="410464"/>
          </a:xfrm>
          <a:prstGeom prst="rect">
            <a:avLst/>
          </a:prstGeom>
          <a:noFill/>
        </p:spPr>
        <p:txBody>
          <a:bodyPr wrap="square">
            <a:spAutoFit/>
          </a:bodyPr>
          <a:lstStyle/>
          <a:p>
            <a:r>
              <a:rPr sz="1600" b="0" i="0">
                <a:solidFill>
                  <a:srgbClr val="1A1A1A"/>
                </a:solidFill>
                <a:latin typeface="Arial"/>
              </a:rPr>
              <a:t>Rebuild every value</a:t>
            </a:r>
          </a:p>
        </p:txBody>
      </p:sp>
      <p:sp>
        <p:nvSpPr>
          <p:cNvPr id="27" name="TextBox 2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Carry the method, not the results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Progressa's register came first because its own assessment put it there.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new sector may find a different first priority.</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Run the new sector's assessment in full.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Change the sector's register and services and keep the five domains, the nine steps and the foundational blocks, and the same method produces a roadmap for health, agriculture or social protection.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Report what carries over to a new sector, and what must be assessed afresh.</a:t>
            </a:r>
          </a:p>
          <a:p>
            <a:pPr algn="l">
              <a:spcAft>
                <a:spcPts val="400"/>
              </a:spcAft>
            </a:pPr>
            <a:r>
              <a:rPr sz="1800" b="0" i="0">
                <a:solidFill>
                  <a:srgbClr val="595959"/>
                </a:solidFill>
                <a:latin typeface="Arial"/>
              </a:rPr>
              <a:t>The prompt in the companion material gives you a carry-over table with one row for each part of the method, saying what stays, what is added and what is replaced.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Annex 3 and Annex 1, A1.2.5</a:t>
            </a:r>
          </a:p>
          <a:p>
            <a:pPr>
              <a:spcAft>
                <a:spcPts val="1000"/>
              </a:spcAft>
            </a:pPr>
            <a:r>
              <a:rPr sz="1800" b="0" i="0">
                <a:solidFill>
                  <a:srgbClr val="1A1A1A"/>
                </a:solidFill>
                <a:latin typeface="Arial"/>
              </a:rPr>
              <a:t>•  UNDP, Accelerating the SDGs through Digital Public Infrastructure: A Compendium, 2023, page 4, Exhibit 2</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