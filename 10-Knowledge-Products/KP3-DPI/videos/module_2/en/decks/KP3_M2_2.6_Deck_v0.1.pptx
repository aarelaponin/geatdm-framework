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6" r:id="rId58"/>
    <p:sldId id="2737" r:id="rId59"/>
    <p:sldId id="2738" r:id="rId60"/>
    <p:sldId id="2739" r:id="rId61"/>
    <p:sldId id="2740" r:id="rId62"/>
    <p:sldId id="2741" r:id="rId63"/>
    <p:sldId id="2742" r:id="rId64"/>
    <p:sldId id="2743"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ministry that needs a registration service should not start from a blank screen. If the first ministry kept its service as a description, the second can take it, change what differs and test it. That is how a shared block pays back.</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with testing. The specification requires the analyst to preview the service before applicants see it, at three depths: each screen on its own, the full service, and the full service in a test installation, where it can be tried from beginning to end before it is published to the live one. Use test cases that look like the real cases your office sees: a transferring learner, a missing document, a learner of the wrong age. The test installation is also where the registry's office reads every screen before the public does. Nothing should reach a parent that has not been through that last step.</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the description itself. The specification requires that the full service can be exported and imported, and that the description holds at least the screens and fields, the process flow and the service settings. Settings that belong to one installation are made there and do not travel. A service can also be published to another installation; the specification recommends this rather than requiring it, so ask your vendor whether the product does it. One caution: no published operation creates, changes or exports a service. Export and import are the product's own tools, so the file names its product and format.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more things make the description worth keeping. Several registrations can be combined in one service, and a document that two of them need is asked for only once; one registration's result can even be another's input. And the block keeps statistics: the number of applications processed, by operator, registration, service and date. That count is how the owner of a service shows it is used. This is where planning for the whole government pays: each service kept as a description is re-use waiting to happen.</a:t>
            </a:r>
          </a:p>
          <a:p/>
          <a:p>
            <a:r>
              <a:t>Production cue: the pivotal slide of this video and the module's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Progressa, the learner registration is exported, imported into a clean installation and compared with the original, screen by screen. The comparison is the check. If the copy's screens equal the original's, the file carried everything that matters. If not, the difference is either a setting that belongs to one installation or a gap in the product's export, and you need to know which. The number of applications processed is read from the block's own statistics. When a second ministry needs a registration, it begins from this file.</a:t>
            </a:r>
          </a:p>
          <a:p/>
          <a:p>
            <a:r>
              <a:t>On screen: the text stand-in for the demonstration segment, with the footer marking the storyboard, until the configurations it needs have passed their checks and the segment is recorded. The narration never says that anything has run.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Keep the whole service as one file. Test it, export it, import it elsewhere and compare. The next ministry then starts from your work, not from nothing.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whole service as a description you can move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whole service is a description you can test, publish, export and import elsewhere, so a second ministry starts from yours and not from nothing.</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second ministry that needs a registration service should not start from a blank screen.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If the first ministry kept its service as a description, the second can take it, change what differs and test it.</a:t>
            </a:r>
          </a:p>
          <a:p>
            <a:pPr>
              <a:spcAft>
                <a:spcPts val="800"/>
              </a:spcAft>
            </a:pPr>
            <a:r>
              <a:rPr sz="1700" b="0" i="0">
                <a:solidFill>
                  <a:srgbClr val="595959"/>
                </a:solidFill>
                <a:latin typeface="Arial"/>
              </a:rPr>
              <a:t>That is how a shared block pays back.</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whole service as a description you can move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Test before anyone uses it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Preview each screen</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Preview the full service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Run the full service in a test installation</a:t>
            </a:r>
          </a:p>
          <a:p>
            <a:pPr>
              <a:spcAft>
                <a:spcPts val="300"/>
              </a:spcAft>
            </a:pPr>
            <a:r>
              <a:rPr sz="1550" b="0" i="0">
                <a:solidFill>
                  <a:srgbClr val="595959"/>
                </a:solidFill>
                <a:latin typeface="Arial"/>
              </a:rPr>
              <a:t>Before publishing it to the live one.</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Nothing should reach a parent that has not been through that last step.</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whole service as a description you can move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Export, import, publish</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A service description holds at least the screens and fields, the process flow and the service settings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Settings that belong to one installation are set there, and do not travel</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Export and import are the product's own tools</a:t>
            </a:r>
          </a:p>
          <a:p>
            <a:pPr>
              <a:spcAft>
                <a:spcPts val="300"/>
              </a:spcAft>
            </a:pPr>
            <a:r>
              <a:rPr sz="1550" b="0" i="0">
                <a:solidFill>
                  <a:srgbClr val="595959"/>
                </a:solidFill>
                <a:latin typeface="Arial"/>
              </a:rPr>
              <a:t>No published operation does them.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whole service as a description you can move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Combine, and count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Several registrations can be combined in one service; a requirement shared by two is asked only once.</a:t>
            </a:r>
          </a:p>
          <a:p>
            <a:pPr>
              <a:spcAft>
                <a:spcPts val="1200"/>
              </a:spcAft>
            </a:pPr>
            <a:r>
              <a:rPr sz="2000" b="0" i="0">
                <a:solidFill>
                  <a:srgbClr val="1A1A1A"/>
                </a:solidFill>
                <a:latin typeface="Arial"/>
              </a:rPr>
              <a:t>The block's statistics count applications processed by operator, registration, service and date.</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Each service kept as a description is re-use waiting to happen.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whole service as a description you can move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service, moved</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264920"/>
          </a:xfrm>
          <a:prstGeom prst="rect">
            <a:avLst/>
          </a:prstGeom>
          <a:noFill/>
        </p:spPr>
        <p:txBody>
          <a:bodyPr wrap="square">
            <a:spAutoFit/>
          </a:bodyPr>
          <a:lstStyle/>
          <a:p>
            <a:pPr>
              <a:spcAft>
                <a:spcPts val="300"/>
              </a:spcAft>
            </a:pPr>
            <a:r>
              <a:rPr sz="1900" b="1" i="0">
                <a:solidFill>
                  <a:srgbClr val="1A1A1A"/>
                </a:solidFill>
                <a:latin typeface="Arial"/>
              </a:rPr>
              <a:t>Exported from the first installation</a:t>
            </a:r>
          </a:p>
        </p:txBody>
      </p:sp>
      <p:sp>
        <p:nvSpPr>
          <p:cNvPr id="6" name="Rectangle 5"/>
          <p:cNvSpPr/>
          <p:nvPr/>
        </p:nvSpPr>
        <p:spPr>
          <a:xfrm>
            <a:off x="621792" y="27325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8194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773680"/>
            <a:ext cx="10527487" cy="1264920"/>
          </a:xfrm>
          <a:prstGeom prst="rect">
            <a:avLst/>
          </a:prstGeom>
          <a:noFill/>
        </p:spPr>
        <p:txBody>
          <a:bodyPr wrap="square">
            <a:spAutoFit/>
          </a:bodyPr>
          <a:lstStyle/>
          <a:p>
            <a:pPr>
              <a:spcAft>
                <a:spcPts val="300"/>
              </a:spcAft>
            </a:pPr>
            <a:r>
              <a:rPr sz="1900" b="1" i="0">
                <a:solidFill>
                  <a:srgbClr val="1A1A1A"/>
                </a:solidFill>
                <a:latin typeface="Arial"/>
              </a:rPr>
              <a:t>Imported into a clean installation, and compared screen by screen</a:t>
            </a:r>
          </a:p>
        </p:txBody>
      </p:sp>
      <p:sp>
        <p:nvSpPr>
          <p:cNvPr id="9" name="Rectangle 8"/>
          <p:cNvSpPr/>
          <p:nvPr/>
        </p:nvSpPr>
        <p:spPr>
          <a:xfrm>
            <a:off x="621792" y="40431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130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084320"/>
            <a:ext cx="10527487" cy="1264920"/>
          </a:xfrm>
          <a:prstGeom prst="rect">
            <a:avLst/>
          </a:prstGeom>
          <a:noFill/>
        </p:spPr>
        <p:txBody>
          <a:bodyPr wrap="square">
            <a:spAutoFit/>
          </a:bodyPr>
          <a:lstStyle/>
          <a:p>
            <a:pPr>
              <a:spcAft>
                <a:spcPts val="300"/>
              </a:spcAft>
            </a:pPr>
            <a:r>
              <a:rPr sz="1900" b="1" i="0">
                <a:solidFill>
                  <a:srgbClr val="1A1A1A"/>
                </a:solidFill>
                <a:latin typeface="Arial"/>
              </a:rPr>
              <a:t>The number of applications processed read from the block's statistics</a:t>
            </a:r>
          </a:p>
        </p:txBody>
      </p:sp>
      <p:sp>
        <p:nvSpPr>
          <p:cNvPr id="12" name="TextBox 11"/>
          <p:cNvSpPr txBox="1"/>
          <p:nvPr/>
        </p:nvSpPr>
        <p:spPr>
          <a:xfrm>
            <a:off x="658368" y="5577840"/>
            <a:ext cx="10881360" cy="365760"/>
          </a:xfrm>
          <a:prstGeom prst="rect">
            <a:avLst/>
          </a:prstGeom>
          <a:noFill/>
        </p:spPr>
        <p:txBody>
          <a:bodyPr wrap="square">
            <a:spAutoFit/>
          </a:bodyPr>
          <a:lstStyle/>
          <a:p>
            <a:r>
              <a:rPr sz="1200" b="0" i="1">
                <a:solidFill>
                  <a:srgbClr val="595959"/>
                </a:solidFill>
                <a:latin typeface="Arial"/>
              </a:rPr>
              <a:t>Walkthrough: what a good run shows.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whole service as a description you can move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whole service is a description you can test, publish, export and import elsewhere, so a second ministry starts from yours and not from nothing.</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Compare two exported descriptions of a service.</a:t>
            </a:r>
          </a:p>
          <a:p>
            <a:pPr algn="l">
              <a:spcAft>
                <a:spcPts val="400"/>
              </a:spcAft>
            </a:pPr>
            <a:r>
              <a:rPr sz="1800" b="0" i="0">
                <a:solidFill>
                  <a:srgbClr val="595959"/>
                </a:solidFill>
                <a:latin typeface="Arial"/>
              </a:rPr>
              <a:t>The prompt in the companion material gives you a note of changes between two versions of a service, written for the service's owner.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whole service as a description you can move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default edition — sections 6.3.1.2, 6.3.1.9, 6.3.2.9, 6.3.2.10 and 8.3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2.6 · The whole service as a description you can move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