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12" r:id="rId34"/>
    <p:sldId id="2713" r:id="rId35"/>
    <p:sldId id="2714" r:id="rId36"/>
    <p:sldId id="2715" r:id="rId37"/>
    <p:sldId id="2716" r:id="rId38"/>
    <p:sldId id="2717" r:id="rId39"/>
    <p:sldId id="2718" r:id="rId40"/>
    <p:sldId id="2719"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Progressa's learner registration written that way. There is one registration, and PLR, the learner registry, is in charge of it. One determinant matters: a learner who transfers from another school must add a transfer letter. The data are the learner's names, date of birth, school and grade. The result is a registration confirmation with the learner's register number. The screens are the guide, the applicant form, the documents and the send screen. The payment screen is switched off, because registering a learner carries no fee.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Registration specification gives you the words. A service is a name that holds one or more registrations. Each registration has a name and an entity in charge. Its subjects say who must register, and its determinants say what changes the requirements for a given case. Its result is the proof the applicant receives. Its requirements are the documents and the data asked for. Then come the screens and the fields, in order. These terms are a shared language: the officer who knows the procedure and the analyst who sets up the product mean the same thing by each word.</a:t>
            </a:r>
          </a:p>
          <a:p/>
          <a:p>
            <a:r>
              <a:t>Production cue: the pivotal slide of this video — the vocabulary. Reveal the rows 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registration of a learner is written today in a law, a circular and a paper form. Before any product can carry it, someone has to restate it in the block's own terms. An AI assistant can draft that restatement in an afternoon.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From that brief the assistant drafts the service description. Be clear about what this file is. The specification requires that a full service description can be exported and imported, with its screens, fields, process flow and settings. But it publishes no operation for creating or changing a service, and it does not define the file's format. The format is the product's own. So the description names the product and the format it is written in, and every assumption the assistant made is marked for someone to confirm. Give the assistant the format as the product documents it, with an exported example if you have one, so that it does not invent one.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the draft goes into a test installation. The check is simple to state. The block lists the service, and its screens come back in the order the brief gave. Then send one test application down each path the brief describes, one learner who transfers and one who does not; the two must be asked for different documents. Each marked assumption is confirmed by the registry's office or corrected. Progressa's description is a worked example, ready to import once the product is chosen.</a:t>
            </a:r>
          </a:p>
          <a:p/>
          <a:p>
            <a:r>
              <a:t>On screen: the text stand-in for the demonstration segment, with the footer marking the storyboard, until the configurations it needs have passed their checks and the segment is recorded. The narration never says that anything has run.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Write the registration in the specification's words. The assistant drafts the file that sets the block up; you import it, test it and correct it before anyone relies on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Generating the registration service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Describe your registration in the specification's terms, and an AI assistant drafts the service description that sets the block up, which you then import, test and correct.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registration of a learner is written today in a law, a circular and a paper form.</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Before any product can carry it, someone has to restate it in the block's own terms.</a:t>
            </a:r>
          </a:p>
          <a:p>
            <a:pPr>
              <a:spcAft>
                <a:spcPts val="800"/>
              </a:spcAft>
            </a:pPr>
            <a:r>
              <a:rPr sz="1700" b="0" i="0">
                <a:solidFill>
                  <a:srgbClr val="595959"/>
                </a:solidFill>
                <a:latin typeface="Arial"/>
              </a:rPr>
              <a:t>An AI assistant can draft that restatement in an afternoon.</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Generating the registration service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specification's terms</a:t>
            </a:r>
          </a:p>
        </p:txBody>
      </p:sp>
      <p:sp>
        <p:nvSpPr>
          <p:cNvPr id="4" name="TextBox 3"/>
          <p:cNvSpPr txBox="1"/>
          <p:nvPr/>
        </p:nvSpPr>
        <p:spPr>
          <a:xfrm>
            <a:off x="658368" y="1463040"/>
            <a:ext cx="10984687" cy="640080"/>
          </a:xfrm>
          <a:prstGeom prst="rect">
            <a:avLst/>
          </a:prstGeom>
          <a:noFill/>
        </p:spPr>
        <p:txBody>
          <a:bodyPr wrap="square">
            <a:spAutoFit/>
          </a:bodyPr>
          <a:lstStyle/>
          <a:p>
            <a:pPr>
              <a:spcAft>
                <a:spcPts val="300"/>
              </a:spcAft>
            </a:pPr>
            <a:r>
              <a:rPr sz="1900" b="1" i="0">
                <a:solidFill>
                  <a:srgbClr val="1A1A1A"/>
                </a:solidFill>
                <a:latin typeface="Arial"/>
              </a:rPr>
              <a:t>Service</a:t>
            </a:r>
          </a:p>
          <a:p>
            <a:pPr>
              <a:spcAft>
                <a:spcPts val="300"/>
              </a:spcAft>
            </a:pPr>
            <a:r>
              <a:rPr sz="1550" b="0" i="0">
                <a:solidFill>
                  <a:srgbClr val="595959"/>
                </a:solidFill>
                <a:latin typeface="Arial"/>
              </a:rPr>
              <a:t>A name, holding one or more registrations.</a:t>
            </a:r>
          </a:p>
        </p:txBody>
      </p:sp>
      <p:sp>
        <p:nvSpPr>
          <p:cNvPr id="5" name="Rectangle 4"/>
          <p:cNvSpPr/>
          <p:nvPr/>
        </p:nvSpPr>
        <p:spPr>
          <a:xfrm>
            <a:off x="621792" y="21076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148840"/>
            <a:ext cx="10984687" cy="640080"/>
          </a:xfrm>
          <a:prstGeom prst="rect">
            <a:avLst/>
          </a:prstGeom>
          <a:noFill/>
        </p:spPr>
        <p:txBody>
          <a:bodyPr wrap="square">
            <a:spAutoFit/>
          </a:bodyPr>
          <a:lstStyle/>
          <a:p>
            <a:pPr>
              <a:spcAft>
                <a:spcPts val="300"/>
              </a:spcAft>
            </a:pPr>
            <a:r>
              <a:rPr sz="1900" b="1" i="0">
                <a:solidFill>
                  <a:srgbClr val="1A1A1A"/>
                </a:solidFill>
                <a:latin typeface="Arial"/>
              </a:rPr>
              <a:t>Registration</a:t>
            </a:r>
          </a:p>
          <a:p>
            <a:pPr>
              <a:spcAft>
                <a:spcPts val="300"/>
              </a:spcAft>
            </a:pPr>
            <a:r>
              <a:rPr sz="1550" b="0" i="0">
                <a:solidFill>
                  <a:srgbClr val="595959"/>
                </a:solidFill>
                <a:latin typeface="Arial"/>
              </a:rPr>
              <a:t>Its name and the entity in charge.</a:t>
            </a:r>
          </a:p>
        </p:txBody>
      </p:sp>
      <p:sp>
        <p:nvSpPr>
          <p:cNvPr id="7" name="Rectangle 6"/>
          <p:cNvSpPr/>
          <p:nvPr/>
        </p:nvSpPr>
        <p:spPr>
          <a:xfrm>
            <a:off x="621792" y="27934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834640"/>
            <a:ext cx="10984687" cy="640080"/>
          </a:xfrm>
          <a:prstGeom prst="rect">
            <a:avLst/>
          </a:prstGeom>
          <a:noFill/>
        </p:spPr>
        <p:txBody>
          <a:bodyPr wrap="square">
            <a:spAutoFit/>
          </a:bodyPr>
          <a:lstStyle/>
          <a:p>
            <a:pPr>
              <a:spcAft>
                <a:spcPts val="300"/>
              </a:spcAft>
            </a:pPr>
            <a:r>
              <a:rPr sz="1900" b="1" i="0">
                <a:solidFill>
                  <a:srgbClr val="1A1A1A"/>
                </a:solidFill>
                <a:latin typeface="Arial"/>
              </a:rPr>
              <a:t>Subjects and determinants</a:t>
            </a:r>
          </a:p>
          <a:p>
            <a:pPr>
              <a:spcAft>
                <a:spcPts val="300"/>
              </a:spcAft>
            </a:pPr>
            <a:r>
              <a:rPr sz="1550" b="0" i="0">
                <a:solidFill>
                  <a:srgbClr val="595959"/>
                </a:solidFill>
                <a:latin typeface="Arial"/>
              </a:rPr>
              <a:t>Who must register, and what changes the requirements.</a:t>
            </a:r>
          </a:p>
        </p:txBody>
      </p:sp>
      <p:sp>
        <p:nvSpPr>
          <p:cNvPr id="9" name="Rectangle 8"/>
          <p:cNvSpPr/>
          <p:nvPr/>
        </p:nvSpPr>
        <p:spPr>
          <a:xfrm>
            <a:off x="621792" y="34792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520440"/>
            <a:ext cx="10984687" cy="640080"/>
          </a:xfrm>
          <a:prstGeom prst="rect">
            <a:avLst/>
          </a:prstGeom>
          <a:noFill/>
        </p:spPr>
        <p:txBody>
          <a:bodyPr wrap="square">
            <a:spAutoFit/>
          </a:bodyPr>
          <a:lstStyle/>
          <a:p>
            <a:pPr>
              <a:spcAft>
                <a:spcPts val="300"/>
              </a:spcAft>
            </a:pPr>
            <a:r>
              <a:rPr sz="1900" b="1" i="0">
                <a:solidFill>
                  <a:srgbClr val="1A1A1A"/>
                </a:solidFill>
                <a:latin typeface="Arial"/>
              </a:rPr>
              <a:t>Result</a:t>
            </a:r>
          </a:p>
          <a:p>
            <a:pPr>
              <a:spcAft>
                <a:spcPts val="300"/>
              </a:spcAft>
            </a:pPr>
            <a:r>
              <a:rPr sz="1550" b="0" i="0">
                <a:solidFill>
                  <a:srgbClr val="595959"/>
                </a:solidFill>
                <a:latin typeface="Arial"/>
              </a:rPr>
              <a:t>The proof the applicant receives.</a:t>
            </a:r>
          </a:p>
        </p:txBody>
      </p:sp>
      <p:sp>
        <p:nvSpPr>
          <p:cNvPr id="11" name="Rectangle 10"/>
          <p:cNvSpPr/>
          <p:nvPr/>
        </p:nvSpPr>
        <p:spPr>
          <a:xfrm>
            <a:off x="621792" y="416509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206240"/>
            <a:ext cx="10984687" cy="640080"/>
          </a:xfrm>
          <a:prstGeom prst="rect">
            <a:avLst/>
          </a:prstGeom>
          <a:noFill/>
        </p:spPr>
        <p:txBody>
          <a:bodyPr wrap="square">
            <a:spAutoFit/>
          </a:bodyPr>
          <a:lstStyle/>
          <a:p>
            <a:pPr>
              <a:spcAft>
                <a:spcPts val="300"/>
              </a:spcAft>
            </a:pPr>
            <a:r>
              <a:rPr sz="1900" b="1" i="0">
                <a:solidFill>
                  <a:srgbClr val="1A1A1A"/>
                </a:solidFill>
                <a:latin typeface="Arial"/>
              </a:rPr>
              <a:t>Requirements</a:t>
            </a:r>
          </a:p>
          <a:p>
            <a:pPr>
              <a:spcAft>
                <a:spcPts val="300"/>
              </a:spcAft>
            </a:pPr>
            <a:r>
              <a:rPr sz="1550" b="0" i="0">
                <a:solidFill>
                  <a:srgbClr val="595959"/>
                </a:solidFill>
                <a:latin typeface="Arial"/>
              </a:rPr>
              <a:t>The documents and the data.</a:t>
            </a:r>
          </a:p>
        </p:txBody>
      </p:sp>
      <p:sp>
        <p:nvSpPr>
          <p:cNvPr id="13" name="Rectangle 12"/>
          <p:cNvSpPr/>
          <p:nvPr/>
        </p:nvSpPr>
        <p:spPr>
          <a:xfrm>
            <a:off x="621792" y="48508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4892040"/>
            <a:ext cx="10984687" cy="640080"/>
          </a:xfrm>
          <a:prstGeom prst="rect">
            <a:avLst/>
          </a:prstGeom>
          <a:noFill/>
        </p:spPr>
        <p:txBody>
          <a:bodyPr wrap="square">
            <a:spAutoFit/>
          </a:bodyPr>
          <a:lstStyle/>
          <a:p>
            <a:pPr>
              <a:spcAft>
                <a:spcPts val="300"/>
              </a:spcAft>
            </a:pPr>
            <a:r>
              <a:rPr sz="1900" b="1" i="0">
                <a:solidFill>
                  <a:srgbClr val="1A1A1A"/>
                </a:solidFill>
                <a:latin typeface="Arial"/>
              </a:rPr>
              <a:t>Screens and fields</a:t>
            </a:r>
          </a:p>
          <a:p>
            <a:pPr>
              <a:spcAft>
                <a:spcPts val="300"/>
              </a:spcAft>
            </a:pPr>
            <a:r>
              <a:rPr sz="1550" b="0" i="0">
                <a:solidFill>
                  <a:srgbClr val="595959"/>
                </a:solidFill>
                <a:latin typeface="Arial"/>
              </a:rPr>
              <a:t>What the applicant sees, in order.</a:t>
            </a:r>
          </a:p>
        </p:txBody>
      </p:sp>
      <p:sp>
        <p:nvSpPr>
          <p:cNvPr id="15" name="TextBox 14"/>
          <p:cNvSpPr txBox="1"/>
          <p:nvPr/>
        </p:nvSpPr>
        <p:spPr>
          <a:xfrm>
            <a:off x="658368" y="5687568"/>
            <a:ext cx="10881360" cy="548640"/>
          </a:xfrm>
          <a:prstGeom prst="rect">
            <a:avLst/>
          </a:prstGeom>
          <a:noFill/>
        </p:spPr>
        <p:txBody>
          <a:bodyPr wrap="square">
            <a:spAutoFit/>
          </a:bodyPr>
          <a:lstStyle/>
          <a:p>
            <a:r>
              <a:rPr sz="1550" b="1" i="0">
                <a:solidFill>
                  <a:srgbClr val="006E96"/>
                </a:solidFill>
                <a:latin typeface="Arial"/>
              </a:rPr>
              <a:t>A shared language: the officer who knows the procedure and the analyst who sets up the product mean the same thing by each word.</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Generating the registration service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learner registration, in those terms</a:t>
            </a:r>
          </a:p>
        </p:txBody>
      </p:sp>
      <p:sp>
        <p:nvSpPr>
          <p:cNvPr id="4" name="TextBox 3"/>
          <p:cNvSpPr txBox="1"/>
          <p:nvPr/>
        </p:nvSpPr>
        <p:spPr>
          <a:xfrm>
            <a:off x="658368" y="1463040"/>
            <a:ext cx="10984687" cy="813815"/>
          </a:xfrm>
          <a:prstGeom prst="rect">
            <a:avLst/>
          </a:prstGeom>
          <a:noFill/>
        </p:spPr>
        <p:txBody>
          <a:bodyPr wrap="square">
            <a:spAutoFit/>
          </a:bodyPr>
          <a:lstStyle/>
          <a:p>
            <a:pPr>
              <a:spcAft>
                <a:spcPts val="300"/>
              </a:spcAft>
            </a:pPr>
            <a:r>
              <a:rPr sz="1900" b="1" i="0">
                <a:solidFill>
                  <a:srgbClr val="1A1A1A"/>
                </a:solidFill>
                <a:latin typeface="Arial"/>
              </a:rPr>
              <a:t>One registration</a:t>
            </a:r>
          </a:p>
          <a:p>
            <a:pPr>
              <a:spcAft>
                <a:spcPts val="300"/>
              </a:spcAft>
            </a:pPr>
            <a:r>
              <a:rPr sz="1550" b="0" i="0">
                <a:solidFill>
                  <a:srgbClr val="595959"/>
                </a:solidFill>
                <a:latin typeface="Arial"/>
              </a:rPr>
              <a:t>Entity in charge: PLR.</a:t>
            </a:r>
          </a:p>
        </p:txBody>
      </p:sp>
      <p:sp>
        <p:nvSpPr>
          <p:cNvPr id="5" name="Rectangle 4"/>
          <p:cNvSpPr/>
          <p:nvPr/>
        </p:nvSpPr>
        <p:spPr>
          <a:xfrm>
            <a:off x="621792" y="228142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22576"/>
            <a:ext cx="10984687" cy="813815"/>
          </a:xfrm>
          <a:prstGeom prst="rect">
            <a:avLst/>
          </a:prstGeom>
          <a:noFill/>
        </p:spPr>
        <p:txBody>
          <a:bodyPr wrap="square">
            <a:spAutoFit/>
          </a:bodyPr>
          <a:lstStyle/>
          <a:p>
            <a:pPr>
              <a:spcAft>
                <a:spcPts val="300"/>
              </a:spcAft>
            </a:pPr>
            <a:r>
              <a:rPr sz="1900" b="1" i="0">
                <a:solidFill>
                  <a:srgbClr val="1A1A1A"/>
                </a:solidFill>
                <a:latin typeface="Arial"/>
              </a:rPr>
              <a:t>Determinant</a:t>
            </a:r>
          </a:p>
          <a:p>
            <a:pPr>
              <a:spcAft>
                <a:spcPts val="300"/>
              </a:spcAft>
            </a:pPr>
            <a:r>
              <a:rPr sz="1550" b="0" i="0">
                <a:solidFill>
                  <a:srgbClr val="595959"/>
                </a:solidFill>
                <a:latin typeface="Arial"/>
              </a:rPr>
              <a:t>The learner transfers from another school — adds a required document, the transfer letter.</a:t>
            </a:r>
          </a:p>
        </p:txBody>
      </p:sp>
      <p:sp>
        <p:nvSpPr>
          <p:cNvPr id="7" name="Rectangle 6"/>
          <p:cNvSpPr/>
          <p:nvPr/>
        </p:nvSpPr>
        <p:spPr>
          <a:xfrm>
            <a:off x="621792" y="314096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182111"/>
            <a:ext cx="10984687" cy="813815"/>
          </a:xfrm>
          <a:prstGeom prst="rect">
            <a:avLst/>
          </a:prstGeom>
          <a:noFill/>
        </p:spPr>
        <p:txBody>
          <a:bodyPr wrap="square">
            <a:spAutoFit/>
          </a:bodyPr>
          <a:lstStyle/>
          <a:p>
            <a:pPr>
              <a:spcAft>
                <a:spcPts val="300"/>
              </a:spcAft>
            </a:pPr>
            <a:r>
              <a:rPr sz="1900" b="1" i="0">
                <a:solidFill>
                  <a:srgbClr val="1A1A1A"/>
                </a:solidFill>
                <a:latin typeface="Arial"/>
              </a:rPr>
              <a:t>Data</a:t>
            </a:r>
          </a:p>
          <a:p>
            <a:pPr>
              <a:spcAft>
                <a:spcPts val="300"/>
              </a:spcAft>
            </a:pPr>
            <a:r>
              <a:rPr sz="1550" b="0" i="0">
                <a:solidFill>
                  <a:srgbClr val="595959"/>
                </a:solidFill>
                <a:latin typeface="Arial"/>
              </a:rPr>
              <a:t>Names, date of birth, school, grade.</a:t>
            </a:r>
          </a:p>
        </p:txBody>
      </p:sp>
      <p:sp>
        <p:nvSpPr>
          <p:cNvPr id="9" name="Rectangle 8"/>
          <p:cNvSpPr/>
          <p:nvPr/>
        </p:nvSpPr>
        <p:spPr>
          <a:xfrm>
            <a:off x="621792" y="40005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041648"/>
            <a:ext cx="10984687" cy="813815"/>
          </a:xfrm>
          <a:prstGeom prst="rect">
            <a:avLst/>
          </a:prstGeom>
          <a:noFill/>
        </p:spPr>
        <p:txBody>
          <a:bodyPr wrap="square">
            <a:spAutoFit/>
          </a:bodyPr>
          <a:lstStyle/>
          <a:p>
            <a:pPr>
              <a:spcAft>
                <a:spcPts val="300"/>
              </a:spcAft>
            </a:pPr>
            <a:r>
              <a:rPr sz="1900" b="1" i="0">
                <a:solidFill>
                  <a:srgbClr val="1A1A1A"/>
                </a:solidFill>
                <a:latin typeface="Arial"/>
              </a:rPr>
              <a:t>Result</a:t>
            </a:r>
          </a:p>
          <a:p>
            <a:pPr>
              <a:spcAft>
                <a:spcPts val="300"/>
              </a:spcAft>
            </a:pPr>
            <a:r>
              <a:rPr sz="1550" b="0" i="0">
                <a:solidFill>
                  <a:srgbClr val="595959"/>
                </a:solidFill>
                <a:latin typeface="Arial"/>
              </a:rPr>
              <a:t>A registration confirmation with the learner's register number.</a:t>
            </a:r>
          </a:p>
        </p:txBody>
      </p:sp>
      <p:sp>
        <p:nvSpPr>
          <p:cNvPr id="11" name="Rectangle 10"/>
          <p:cNvSpPr/>
          <p:nvPr/>
        </p:nvSpPr>
        <p:spPr>
          <a:xfrm>
            <a:off x="621792" y="486003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901183"/>
            <a:ext cx="10984687" cy="813815"/>
          </a:xfrm>
          <a:prstGeom prst="rect">
            <a:avLst/>
          </a:prstGeom>
          <a:noFill/>
        </p:spPr>
        <p:txBody>
          <a:bodyPr wrap="square">
            <a:spAutoFit/>
          </a:bodyPr>
          <a:lstStyle/>
          <a:p>
            <a:pPr>
              <a:spcAft>
                <a:spcPts val="300"/>
              </a:spcAft>
            </a:pPr>
            <a:r>
              <a:rPr sz="1900" b="1" i="0">
                <a:solidFill>
                  <a:srgbClr val="1A1A1A"/>
                </a:solidFill>
                <a:latin typeface="Arial"/>
              </a:rPr>
              <a:t>Screens</a:t>
            </a:r>
          </a:p>
          <a:p>
            <a:pPr>
              <a:spcAft>
                <a:spcPts val="300"/>
              </a:spcAft>
            </a:pPr>
            <a:r>
              <a:rPr sz="1550" b="0" i="0">
                <a:solidFill>
                  <a:srgbClr val="595959"/>
                </a:solidFill>
                <a:latin typeface="Arial"/>
              </a:rPr>
              <a:t>Guide, applicant form, documents, send — the payment screen switched off, as there is no fee.</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Generating the registration service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file is</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The specification requires that a full service description can be exported and imported</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It publishes no operation to create or change a service, and does not define the file's format</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So the file names the product and the format it is written in</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Give the assistant the format as the product documents it, with an exported example — so that it does not invent one.</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Generating the registration service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Import, test, correct</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264920"/>
          </a:xfrm>
          <a:prstGeom prst="rect">
            <a:avLst/>
          </a:prstGeom>
          <a:noFill/>
        </p:spPr>
        <p:txBody>
          <a:bodyPr wrap="square">
            <a:spAutoFit/>
          </a:bodyPr>
          <a:lstStyle/>
          <a:p>
            <a:pPr>
              <a:spcAft>
                <a:spcPts val="300"/>
              </a:spcAft>
            </a:pPr>
            <a:r>
              <a:rPr sz="1900" b="1" i="0">
                <a:solidFill>
                  <a:srgbClr val="1A1A1A"/>
                </a:solidFill>
                <a:latin typeface="Arial"/>
              </a:rPr>
              <a:t>Import the draft into a test installation</a:t>
            </a:r>
          </a:p>
        </p:txBody>
      </p:sp>
      <p:sp>
        <p:nvSpPr>
          <p:cNvPr id="6" name="Rectangle 5"/>
          <p:cNvSpPr/>
          <p:nvPr/>
        </p:nvSpPr>
        <p:spPr>
          <a:xfrm>
            <a:off x="621792" y="27325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8194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773680"/>
            <a:ext cx="10527487" cy="1264920"/>
          </a:xfrm>
          <a:prstGeom prst="rect">
            <a:avLst/>
          </a:prstGeom>
          <a:noFill/>
        </p:spPr>
        <p:txBody>
          <a:bodyPr wrap="square">
            <a:spAutoFit/>
          </a:bodyPr>
          <a:lstStyle/>
          <a:p>
            <a:pPr>
              <a:spcAft>
                <a:spcPts val="300"/>
              </a:spcAft>
            </a:pPr>
            <a:r>
              <a:rPr sz="1900" b="1" i="0">
                <a:solidFill>
                  <a:srgbClr val="1A1A1A"/>
                </a:solidFill>
                <a:latin typeface="Arial"/>
              </a:rPr>
              <a:t>The block lists the service, with its screens in order</a:t>
            </a:r>
          </a:p>
        </p:txBody>
      </p:sp>
      <p:sp>
        <p:nvSpPr>
          <p:cNvPr id="9" name="Rectangle 8"/>
          <p:cNvSpPr/>
          <p:nvPr/>
        </p:nvSpPr>
        <p:spPr>
          <a:xfrm>
            <a:off x="621792" y="40431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130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084320"/>
            <a:ext cx="10527487" cy="1264920"/>
          </a:xfrm>
          <a:prstGeom prst="rect">
            <a:avLst/>
          </a:prstGeom>
          <a:noFill/>
        </p:spPr>
        <p:txBody>
          <a:bodyPr wrap="square">
            <a:spAutoFit/>
          </a:bodyPr>
          <a:lstStyle/>
          <a:p>
            <a:pPr>
              <a:spcAft>
                <a:spcPts val="300"/>
              </a:spcAft>
            </a:pPr>
            <a:r>
              <a:rPr sz="1900" b="1" i="0">
                <a:solidFill>
                  <a:srgbClr val="1A1A1A"/>
                </a:solidFill>
                <a:latin typeface="Arial"/>
              </a:rPr>
              <a:t>Confirm or correct every marked assumption</a:t>
            </a:r>
          </a:p>
        </p:txBody>
      </p:sp>
      <p:sp>
        <p:nvSpPr>
          <p:cNvPr id="12" name="TextBox 11"/>
          <p:cNvSpPr txBox="1"/>
          <p:nvPr/>
        </p:nvSpPr>
        <p:spPr>
          <a:xfrm>
            <a:off x="658368" y="5577840"/>
            <a:ext cx="10881360" cy="365760"/>
          </a:xfrm>
          <a:prstGeom prst="rect">
            <a:avLst/>
          </a:prstGeom>
          <a:noFill/>
        </p:spPr>
        <p:txBody>
          <a:bodyPr wrap="square">
            <a:spAutoFit/>
          </a:bodyPr>
          <a:lstStyle/>
          <a:p>
            <a:r>
              <a:rPr sz="1200" b="0" i="1">
                <a:solidFill>
                  <a:srgbClr val="595959"/>
                </a:solidFill>
                <a:latin typeface="Arial"/>
              </a:rPr>
              <a:t>Progressa's description is a worked example.</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Generating the registration service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Describe your registration in the specification's terms, and an AI assistant drafts the service description that sets the block up, which you then import, test and correct.</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service description from your registration brief.</a:t>
            </a:r>
          </a:p>
          <a:p>
            <a:pPr algn="l">
              <a:spcAft>
                <a:spcPts val="400"/>
              </a:spcAft>
            </a:pPr>
            <a:r>
              <a:rPr sz="1800" b="0" i="0">
                <a:solidFill>
                  <a:srgbClr val="595959"/>
                </a:solidFill>
                <a:latin typeface="Arial"/>
              </a:rPr>
              <a:t>The prompt in the companion material gives you a draft service description in the product's named format, with every assumption marked for confirmation.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Generating the registration service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Registration Building Block specification, default edition — sections 6.3.1.1, 6.3.1.3 to 6.3.1.6, 6.3.1.8, 6.3.1.10, 6.3.2.1, 6.3.2.2, 6.3.2.10 and 8.3</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Generating the registration service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