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8" r:id="rId13"/>
    <p:sldId id="2729" r:id="rId12"/>
    <p:sldId id="2730" r:id="rId11"/>
    <p:sldId id="2731" r:id="rId10"/>
    <p:sldId id="2732" r:id="rId54"/>
    <p:sldId id="2733" r:id="rId55"/>
    <p:sldId id="2734" r:id="rId56"/>
    <p:sldId id="2735"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Software can check an application. It cannot take responsibility for it. In registration, a named officer decides, and the register is written only after that decision. Getting this order right is what makes the record worth trusting.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specification gives the operator three decisions: approve, reject, or send back for correction, marking the field that is wrong so the applicant sees it. The analyst builds the processing part as a chain of roles. Each role has a list of files and a screen on which to decide. For each status a role may give, pending, approved, rejected or sent back, the analyst sets where the file goes next: to another role, back to the applicant, or to the end. A role can be a person or an automated role, and the specification lets an automated role carry actions, such as a call to another service. The tasks are read and completed through published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flow has three roles. An automated role takes the file as sent and checks it again. It decides nothing that the law gives to the registrar; it only prepares the file for the person who does. The registrar of PLR, a person, then decides. Only on approval does a second automated role write the record to the register and issue the confirmation with the learner's register number. A rejected file is closed, and nothing is written.</a:t>
            </a:r>
          </a:p>
          <a:p/>
          <a:p>
            <a:r>
              <a:t>Production cue: the pivotal slide of this video — the order that makes the record worth trusting. Reveal the chain left to right. The written guide carries figure F7.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write. On approval, the specification says, the system sends the information to a registry, using an action that sends form data to another service. Its traffic must pass through an Information Mediator or a secure gateway; in Progressa that is Linkup. The register accepts the record through its create-or-update operation. But neither specification publishes the order of calls or the data between the two blocks. Joining them is your team's own work. Write it down as a short agreement between the two owners: which call is made, with which fields, at which moment, and what happens when the register refuses. Then test both outcomes: an approval that writes, and a refusal that leaves the file waiting.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Where does the record land? PLR, the Progressa Learner Registry, is already a member of Linkup, with one enrolment service. This course sets up the authoritative learner register behind it, and that register is what this service writes to. The record carries the identifier PNIA gave the service, never the national number. And the order matters to a minister as much as to an architect: a record written before a decision is a record nobody answers for.</a:t>
            </a:r>
          </a:p>
          <a:p/>
          <a:p>
            <a:r>
              <a:t>On screen: the text stand-in for the demonstration segment, with the footer marking the storyboard, until the configurations it needs have passed their checks and the segment is recorded. The narration never says that anything has run.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The registrar decides. Only an approval writes the record. The order between the two blocks is yours to define, so write it down and test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officer decides, and the record is written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registrar approves, rejects or sends back each application, and only on approval does the block write the record to the register, in a sequence the specifications leave you to define and test.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Software can check an application. It cannot take responsibility for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In registration, a named officer decides, and the register is written only after that decision.</a:t>
            </a:r>
          </a:p>
          <a:p>
            <a:pPr>
              <a:spcAft>
                <a:spcPts val="800"/>
              </a:spcAft>
            </a:pPr>
            <a:r>
              <a:rPr sz="1700" b="0" i="0">
                <a:solidFill>
                  <a:srgbClr val="595959"/>
                </a:solidFill>
                <a:latin typeface="Arial"/>
              </a:rPr>
              <a:t>Getting this order right is what makes the record worth trusting.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decision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Approve, reject, or send back for correction</a:t>
            </a:r>
          </a:p>
          <a:p>
            <a:pPr>
              <a:spcAft>
                <a:spcPts val="300"/>
              </a:spcAft>
            </a:pPr>
            <a:r>
              <a:rPr sz="1550" b="0" i="0">
                <a:solidFill>
                  <a:srgbClr val="595959"/>
                </a:solidFill>
                <a:latin typeface="Arial"/>
              </a:rPr>
              <a:t>With the wrong field marked.</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Each processing role has a list screen and a decision screen</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For each status, the analyst sets where the file goes next</a:t>
            </a:r>
          </a:p>
          <a:p>
            <a:pPr>
              <a:spcAft>
                <a:spcPts val="300"/>
              </a:spcAft>
            </a:pPr>
            <a:r>
              <a:rPr sz="1550" b="0" i="0">
                <a:solidFill>
                  <a:srgbClr val="595959"/>
                </a:solidFill>
                <a:latin typeface="Arial"/>
              </a:rPr>
              <a:t>To another role, back to the applicant, or to the end.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Progressa's flow</a:t>
            </a:r>
          </a:p>
        </p:txBody>
      </p:sp>
      <p:cxnSp>
        <p:nvCxnSpPr>
          <p:cNvPr id="4" name="Connector 3"/>
          <p:cNvCxnSpPr/>
          <p:nvPr/>
        </p:nvCxnSpPr>
        <p:spPr>
          <a:xfrm>
            <a:off x="3106674" y="3154680"/>
            <a:ext cx="33832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29884" y="3154680"/>
            <a:ext cx="33832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53094" y="3154680"/>
            <a:ext cx="338328"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828800"/>
            <a:ext cx="2411730" cy="26517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SENT</a:t>
            </a:r>
          </a:p>
          <a:p>
            <a:pPr algn="l">
              <a:spcAft>
                <a:spcPts val="300"/>
              </a:spcAft>
            </a:pPr>
            <a:r>
              <a:rPr sz="1400" b="0" i="0">
                <a:solidFill>
                  <a:srgbClr val="1A1A1A"/>
                </a:solidFill>
                <a:latin typeface="Arial"/>
              </a:rPr>
              <a:t>The application, as the parent sent it.</a:t>
            </a:r>
          </a:p>
        </p:txBody>
      </p:sp>
      <p:sp>
        <p:nvSpPr>
          <p:cNvPr id="8" name="Rounded Rectangle 7"/>
          <p:cNvSpPr/>
          <p:nvPr/>
        </p:nvSpPr>
        <p:spPr>
          <a:xfrm>
            <a:off x="3481578" y="1828800"/>
            <a:ext cx="2411730" cy="26517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AUTOMATED ROLE</a:t>
            </a:r>
          </a:p>
          <a:p>
            <a:pPr algn="l">
              <a:spcAft>
                <a:spcPts val="300"/>
              </a:spcAft>
            </a:pPr>
            <a:r>
              <a:rPr sz="1400" b="0" i="0">
                <a:solidFill>
                  <a:srgbClr val="1A1A1A"/>
                </a:solidFill>
                <a:latin typeface="Arial"/>
              </a:rPr>
              <a:t>Checks the file as sent. Decides nothing the law gives to the registrar.</a:t>
            </a:r>
          </a:p>
        </p:txBody>
      </p:sp>
      <p:sp>
        <p:nvSpPr>
          <p:cNvPr id="9" name="Rounded Rectangle 8"/>
          <p:cNvSpPr/>
          <p:nvPr/>
        </p:nvSpPr>
        <p:spPr>
          <a:xfrm>
            <a:off x="6304788" y="1828800"/>
            <a:ext cx="2411730" cy="26517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REGISTRAR OF PLR</a:t>
            </a:r>
          </a:p>
          <a:p>
            <a:pPr algn="l">
              <a:spcAft>
                <a:spcPts val="300"/>
              </a:spcAft>
            </a:pPr>
            <a:r>
              <a:rPr sz="1400" b="0" i="0">
                <a:solidFill>
                  <a:srgbClr val="FFFFFF"/>
                </a:solidFill>
                <a:latin typeface="Arial"/>
              </a:rPr>
              <a:t>A person: approves, rejects or sends back.</a:t>
            </a:r>
          </a:p>
        </p:txBody>
      </p:sp>
      <p:sp>
        <p:nvSpPr>
          <p:cNvPr id="10" name="Rounded Rectangle 9"/>
          <p:cNvSpPr/>
          <p:nvPr/>
        </p:nvSpPr>
        <p:spPr>
          <a:xfrm>
            <a:off x="9127998" y="1828800"/>
            <a:ext cx="2411730" cy="26517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AUTOMATED ROLE</a:t>
            </a:r>
          </a:p>
          <a:p>
            <a:pPr algn="l">
              <a:spcAft>
                <a:spcPts val="300"/>
              </a:spcAft>
            </a:pPr>
            <a:r>
              <a:rPr sz="1400" b="0" i="0">
                <a:solidFill>
                  <a:srgbClr val="1A1A1A"/>
                </a:solidFill>
                <a:latin typeface="Arial"/>
              </a:rPr>
              <a:t>On approval: writes the record and issues the confirmation.</a:t>
            </a:r>
          </a:p>
        </p:txBody>
      </p:sp>
      <p:sp>
        <p:nvSpPr>
          <p:cNvPr id="11" name="TextBox 10"/>
          <p:cNvSpPr txBox="1"/>
          <p:nvPr/>
        </p:nvSpPr>
        <p:spPr>
          <a:xfrm>
            <a:off x="658368" y="4800600"/>
            <a:ext cx="10881360" cy="548640"/>
          </a:xfrm>
          <a:prstGeom prst="rect">
            <a:avLst/>
          </a:prstGeom>
          <a:noFill/>
        </p:spPr>
        <p:txBody>
          <a:bodyPr wrap="square">
            <a:spAutoFit/>
          </a:bodyPr>
          <a:lstStyle/>
          <a:p>
            <a:r>
              <a:rPr sz="1550" b="1" i="0">
                <a:solidFill>
                  <a:srgbClr val="006E96"/>
                </a:solidFill>
                <a:latin typeface="Arial"/>
              </a:rPr>
              <a:t>A rejected file is closed, and nothing is written.</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write, and what nobody publishes</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On approval, an action sends the record to the register, through the Information Mediator</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The register accepts it through its create-or-update operation</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order between the two blocks is not published</a:t>
            </a:r>
          </a:p>
          <a:p>
            <a:pPr>
              <a:spcAft>
                <a:spcPts val="300"/>
              </a:spcAft>
            </a:pPr>
            <a:r>
              <a:rPr sz="1550" b="0" i="0">
                <a:solidFill>
                  <a:srgbClr val="595959"/>
                </a:solidFill>
                <a:latin typeface="Arial"/>
              </a:rPr>
              <a:t>You define it, and you test it.</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Write it down as a short agreement between the two owners — then test both outcomes.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record lands</a:t>
            </a:r>
          </a:p>
        </p:txBody>
      </p:sp>
      <p:sp>
        <p:nvSpPr>
          <p:cNvPr id="4" name="TextBox 3"/>
          <p:cNvSpPr txBox="1"/>
          <p:nvPr/>
        </p:nvSpPr>
        <p:spPr>
          <a:xfrm>
            <a:off x="658368" y="1463040"/>
            <a:ext cx="10984687" cy="1371600"/>
          </a:xfrm>
          <a:prstGeom prst="rect">
            <a:avLst/>
          </a:prstGeom>
          <a:noFill/>
        </p:spPr>
        <p:txBody>
          <a:bodyPr wrap="square">
            <a:spAutoFit/>
          </a:bodyPr>
          <a:lstStyle/>
          <a:p>
            <a:pPr>
              <a:spcAft>
                <a:spcPts val="300"/>
              </a:spcAft>
            </a:pPr>
            <a:r>
              <a:rPr sz="1900" b="1" i="0">
                <a:solidFill>
                  <a:srgbClr val="1A1A1A"/>
                </a:solidFill>
                <a:latin typeface="Arial"/>
              </a:rPr>
              <a:t>PLR: already a member of Linkup, with one enrolment service</a:t>
            </a:r>
          </a:p>
        </p:txBody>
      </p:sp>
      <p:sp>
        <p:nvSpPr>
          <p:cNvPr id="5" name="Rectangle 4"/>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80360"/>
            <a:ext cx="10984687" cy="1371600"/>
          </a:xfrm>
          <a:prstGeom prst="rect">
            <a:avLst/>
          </a:prstGeom>
          <a:noFill/>
        </p:spPr>
        <p:txBody>
          <a:bodyPr wrap="square">
            <a:spAutoFit/>
          </a:bodyPr>
          <a:lstStyle/>
          <a:p>
            <a:pPr>
              <a:spcAft>
                <a:spcPts val="300"/>
              </a:spcAft>
            </a:pPr>
            <a:r>
              <a:rPr sz="1900" b="1" i="0">
                <a:solidFill>
                  <a:srgbClr val="1A1A1A"/>
                </a:solidFill>
                <a:latin typeface="Arial"/>
              </a:rPr>
              <a:t>This course sets up the authoritative learner register behind it — the register this service writes to</a:t>
            </a:r>
          </a:p>
        </p:txBody>
      </p:sp>
      <p:sp>
        <p:nvSpPr>
          <p:cNvPr id="7" name="TextBox 6"/>
          <p:cNvSpPr txBox="1"/>
          <p:nvPr/>
        </p:nvSpPr>
        <p:spPr>
          <a:xfrm>
            <a:off x="658368" y="4480560"/>
            <a:ext cx="10881360" cy="365760"/>
          </a:xfrm>
          <a:prstGeom prst="rect">
            <a:avLst/>
          </a:prstGeom>
          <a:noFill/>
        </p:spPr>
        <p:txBody>
          <a:bodyPr wrap="square">
            <a:spAutoFit/>
          </a:bodyPr>
          <a:lstStyle/>
          <a:p>
            <a:r>
              <a:rPr sz="1200" b="0" i="1">
                <a:solidFill>
                  <a:srgbClr val="595959"/>
                </a:solidFill>
                <a:latin typeface="Arial"/>
              </a:rPr>
              <a:t>Walkthrough: what a good run shows.</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3" name="TextBox 2"/>
          <p:cNvSpPr txBox="1"/>
          <p:nvPr/>
        </p:nvSpPr>
        <p:spPr>
          <a:xfrm>
            <a:off x="1005840" y="1965960"/>
            <a:ext cx="10149840" cy="2560320"/>
          </a:xfrm>
          <a:prstGeom prst="rect">
            <a:avLst/>
          </a:prstGeom>
          <a:noFill/>
        </p:spPr>
        <p:txBody>
          <a:bodyPr wrap="square">
            <a:spAutoFit/>
          </a:bodyPr>
          <a:lstStyle/>
          <a:p>
            <a:r>
              <a:rPr sz="2500" b="1" i="0">
                <a:solidFill>
                  <a:srgbClr val="1A1A1A"/>
                </a:solidFill>
                <a:latin typeface="Arial"/>
              </a:rPr>
              <a:t>A registrar approves, rejects or sends back each application, and only on approval does the block write the record to the register, in a sequence the specifications leave you to define and test.</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the form to the register and write the test of the write.</a:t>
            </a:r>
          </a:p>
          <a:p>
            <a:pPr algn="l">
              <a:spcAft>
                <a:spcPts val="400"/>
              </a:spcAft>
            </a:pPr>
            <a:r>
              <a:rPr sz="1800" b="0" i="0">
                <a:solidFill>
                  <a:srgbClr val="595959"/>
                </a:solidFill>
                <a:latin typeface="Arial"/>
              </a:rPr>
              <a:t>The prompt in the companion material gives you a table mapping each form field to a register field, and the test sequence for the write.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Registration Building Block specification, default edition — sections 4.2, 5.1.4, 6.2.3, 6.3.2.3, 6.3.2.4, 6.3.2.7, 8.2 and 9.2.2</a:t>
            </a:r>
          </a:p>
          <a:p>
            <a:pPr>
              <a:spcAft>
                <a:spcPts val="1200"/>
              </a:spcAft>
            </a:pPr>
            <a:r>
              <a:rPr sz="1700" b="0" i="0">
                <a:solidFill>
                  <a:srgbClr val="1A1A1A"/>
                </a:solidFill>
                <a:latin typeface="Arial"/>
              </a:rPr>
              <a:t>•  GovStack Digital Registries Building Block specification, Version 3.0-alpha — requirement DRS-33 and section 8.1</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The officer decides, and the record is written</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