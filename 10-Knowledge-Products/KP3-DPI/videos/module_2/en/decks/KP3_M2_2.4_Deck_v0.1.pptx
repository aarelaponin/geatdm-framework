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0" r:id="rId42"/>
    <p:sldId id="2721" r:id="rId43"/>
    <p:sldId id="2722" r:id="rId44"/>
    <p:sldId id="2723" r:id="rId45"/>
    <p:sldId id="2724" r:id="rId17"/>
    <p:sldId id="2725" r:id="rId16"/>
    <p:sldId id="2726" r:id="rId15"/>
    <p:sldId id="272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registrar's time is the scarcest thing in a registration office. Every application that arrives with a wrong date, a wrong name or a missing document costs that time twice. Three kinds of check catch those faults before the file reaches the desk.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kind is a rule on each field. The specification lets the analyst set them without code: whether a field is required, a number range, a text pattern, a date that must be earlier or later than another, a minimum age, the size and type of an uploaded file. In Progressa, the rule on date of birth asks for a learner aged three or older. An application whose date makes the learner two is refused, with a message the parent can understand. Rules like these cost the analyst minutes and save the registrar hours, so set one for every field the law constrains.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kind compares the application with an outside source. The specification's own example is a name and an identifier matched against a civil registry. For a person, the published way runs through the identity block's sign-in, OpenID Connect. The person signs in with PNIA, Progressa's identity authority, and approves what may be shared. PNIA releases the name, and an identifier made for this one service. The form's action compares the typed name with the released one, at the moment of applying, while the person is there. Progressa's second failing application has a name that differs, and it is refused. The service keeps PNIA's identifier for it, never the national number.</a:t>
            </a:r>
          </a:p>
          <a:p/>
          <a:p>
            <a:r>
              <a:t>Production cue: the pivotal slide of this video — the published way, with the person present. No sign-in screens of any product.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 precise about one gap. The Identity specification requires a way to verify a person from a known identifier, but its published set of interfaces has none for it. Progressa has one service of that kind: PNIA's read of a person by national number on Linkup, a contract of Progressa's own that only the examination authority may call. Wherever it appears, it is named as Progressa's own contract, not as a GovStack interface.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kind runs when the applicant presses send. Every required field must be filled and every required document uploaded, or the file cannot be sent, and the screen says what is missing. Write those messages with the registry's office, because a parent who cannot understand the message comes to the counter instead. Progressa's third application is a transferring learner without the transfer letter. It stops at the send screen. All three kinds of check act before a person sees the file, so the registrar's attention goes to judgement, not to typing errors.</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Field rules, a comparison with PNIA's record made with the person present, and a completeness test on sending. Faulty applications stop there, not at the registrar's desk.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Checks before the officer decides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Three kinds of check stop a bad application before it reaches the officer: rules on each field, a comparison with the identity authority's record, and a test of completeness on sending.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registrar's time is the scarcest thing in a registration office.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application that arrives with a wrong date, a wrong name or a missing document costs that time twice.</a:t>
            </a:r>
          </a:p>
          <a:p>
            <a:pPr>
              <a:spcAft>
                <a:spcPts val="800"/>
              </a:spcAft>
            </a:pPr>
            <a:r>
              <a:rPr sz="1700" b="0" i="0">
                <a:solidFill>
                  <a:srgbClr val="595959"/>
                </a:solidFill>
                <a:latin typeface="Arial"/>
              </a:rPr>
              <a:t>Three kinds of check catch those faults before the file reaches the desk.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 one: rules on each field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Required or optional; numbers, ranges, patterns; dates earlier, later, older than an age; file size and type.</a:t>
            </a:r>
          </a:p>
          <a:p>
            <a:pPr>
              <a:spcAft>
                <a:spcPts val="1200"/>
              </a:spcAft>
            </a:pPr>
            <a:r>
              <a:rPr sz="2000" b="0" i="0">
                <a:solidFill>
                  <a:srgbClr val="1A1A1A"/>
                </a:solidFill>
                <a:latin typeface="Arial"/>
              </a:rPr>
              <a:t>Progressa: a date of birth that makes the learner two years old is refused — the rule asks for three or older.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Rules like these cost the analyst minutes and save the registrar hours.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 two: the identity record, with the person present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person signs in with PNIA and approves what is shared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PNIA releases the name, and an identifier made for this one service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form compares the typed name with the released name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service keeps PNIA's identifier for it — never the national number.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is not published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check from server to server, by a known identifier, is required of the block — but no interface for it is published.</a:t>
            </a:r>
          </a:p>
          <a:p>
            <a:pPr>
              <a:spcAft>
                <a:spcPts val="1200"/>
              </a:spcAft>
            </a:pPr>
            <a:r>
              <a:rPr sz="2000" b="0" i="0">
                <a:solidFill>
                  <a:srgbClr val="1A1A1A"/>
                </a:solidFill>
                <a:latin typeface="Arial"/>
              </a:rPr>
              <a:t>PNIA's one service on Linkup reads a person by national number: a Progressa contract, not a GovStack interface.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Wherever it appears, it is named as Progressa's own contract.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 three: complete before sending</a:t>
            </a:r>
          </a:p>
        </p:txBody>
      </p:sp>
      <p:sp>
        <p:nvSpPr>
          <p:cNvPr id="4" name="TextBox 3"/>
          <p:cNvSpPr txBox="1"/>
          <p:nvPr/>
        </p:nvSpPr>
        <p:spPr>
          <a:xfrm>
            <a:off x="658368" y="1463040"/>
            <a:ext cx="10984687" cy="1371600"/>
          </a:xfrm>
          <a:prstGeom prst="rect">
            <a:avLst/>
          </a:prstGeom>
          <a:noFill/>
        </p:spPr>
        <p:txBody>
          <a:bodyPr wrap="square">
            <a:spAutoFit/>
          </a:bodyPr>
          <a:lstStyle/>
          <a:p>
            <a:pPr>
              <a:spcAft>
                <a:spcPts val="300"/>
              </a:spcAft>
            </a:pPr>
            <a:r>
              <a:rPr sz="1900" b="1" i="0">
                <a:solidFill>
                  <a:srgbClr val="1A1A1A"/>
                </a:solidFill>
                <a:latin typeface="Arial"/>
              </a:rPr>
              <a:t>Every required field filled, every required document uploaded — or no sending, with a clear message</a:t>
            </a:r>
          </a:p>
        </p:txBody>
      </p:sp>
      <p:sp>
        <p:nvSpPr>
          <p:cNvPr id="5" name="Rectangle 4"/>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80360"/>
            <a:ext cx="10984687" cy="1371600"/>
          </a:xfrm>
          <a:prstGeom prst="rect">
            <a:avLst/>
          </a:prstGeom>
          <a:noFill/>
        </p:spPr>
        <p:txBody>
          <a:bodyPr wrap="square">
            <a:spAutoFit/>
          </a:bodyPr>
          <a:lstStyle/>
          <a:p>
            <a:pPr>
              <a:spcAft>
                <a:spcPts val="300"/>
              </a:spcAft>
            </a:pPr>
            <a:r>
              <a:rPr sz="1900" b="1" i="0">
                <a:solidFill>
                  <a:srgbClr val="1A1A1A"/>
                </a:solidFill>
                <a:latin typeface="Arial"/>
              </a:rPr>
              <a:t>Progressa: a transferring learner without the transfer letter cannot send</a:t>
            </a:r>
          </a:p>
        </p:txBody>
      </p:sp>
      <p:sp>
        <p:nvSpPr>
          <p:cNvPr id="7" name="TextBox 6"/>
          <p:cNvSpPr txBox="1"/>
          <p:nvPr/>
        </p:nvSpPr>
        <p:spPr>
          <a:xfrm>
            <a:off x="658368" y="4480560"/>
            <a:ext cx="10881360" cy="365760"/>
          </a:xfrm>
          <a:prstGeom prst="rect">
            <a:avLst/>
          </a:prstGeom>
          <a:noFill/>
        </p:spPr>
        <p:txBody>
          <a:bodyPr wrap="square">
            <a:spAutoFit/>
          </a:bodyPr>
          <a:lstStyle/>
          <a:p>
            <a:r>
              <a:rPr sz="1200" b="0" i="1">
                <a:solidFill>
                  <a:srgbClr val="595959"/>
                </a:solidFill>
                <a:latin typeface="Arial"/>
              </a:rPr>
              <a:t>Walkthrough: what a good run shows.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Three kinds of check stop a bad application before it reaches the officer: rules on each field, a comparison with the identity authority's record, and a test of completeness on sending.</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Derive the validation rules and the test applications.</a:t>
            </a:r>
          </a:p>
          <a:p>
            <a:pPr algn="l">
              <a:spcAft>
                <a:spcPts val="400"/>
              </a:spcAft>
            </a:pPr>
            <a:r>
              <a:rPr sz="1800" b="0" i="0">
                <a:solidFill>
                  <a:srgbClr val="595959"/>
                </a:solidFill>
                <a:latin typeface="Arial"/>
              </a:rPr>
              <a:t>The prompt in the companion material gives you a table of validation rules and a set of test applications that should pass and that should fail.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6.3.2.7 and 6.3.3.1 to 6.3.3.3</a:t>
            </a:r>
          </a:p>
          <a:p>
            <a:pPr>
              <a:spcAft>
                <a:spcPts val="1200"/>
              </a:spcAft>
            </a:pPr>
            <a:r>
              <a:rPr sz="1700" b="0" i="0">
                <a:solidFill>
                  <a:srgbClr val="1A1A1A"/>
                </a:solidFill>
                <a:latin typeface="Arial"/>
              </a:rPr>
              <a:t>•  GovStack Identity Building Block specification, Version 2.0 — sections 6.2, 7.2.1, 8 and 9.1.1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