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learner registration written that way. There is one registration, and PLR, the learner registry, is in charge of it. One determinant matters: a learner who transfers from another school must add a transfer letter. The data are the learner's names, date of birth, school and grade. The result is a registration confirmation with the learner's register number. The screens are the guide, the applicant form, the documents and the send screen. The payment screen is switched off, because registering a learner carries no fee.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Registration specification gives you the words. A service is a name that holds one or more registrations. Each registration has a name and an entity in charge. Its subjects say who must register, and its determinants say what changes the requirements for a given case. Its result is the proof the applicant receives. Its requirements are the documents and the data asked for. Then come the screens and the fields, in order. These terms are a shared language: the officer who knows the procedure and the analyst who sets up the product mean the same thing by each word.</a:t>
            </a:r>
          </a:p>
          <a:p/>
          <a:p>
            <a:r>
              <a:t>Production cue: the pivotal slide of this video — the vocabulary. Reveal the rows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ministry registers something. Schools register learners. A business registry registers companies. A population registry records births. Each office asks for information, checks it, decides, records it and gives back proof. The Registration block is shared software that does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defines registration in one sentence. It is the process through which an applicant gets information recorded in a registry and receives a credential as proof of registration. At least two parties are involved: the applicant, and the authorised representative of the registry, whom the specification calls the registrar. Others may join. A witness, another public body or a database may confirm what the applicant says. A bank may receive a fee. Notice the two outcomes. A record is written, and proof goes back to the applicant. A service that stops at capturing a form has done neither.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block has three capabilities. The first is online registration. The applicant fills in a form, uploads documents, pays a fee where there is one, sends the file and follows its status until a decision arrives. The second is processing. In the back office an operator, who may be a person or an automated role, approves the file, rejects it or sends it back for correction. On approval the system sends the information to a registry and issues the credential. The third is the development platform. There an analyst sets up the rules, the screens and the checks of each service, without writing code.</a:t>
            </a:r>
          </a:p>
          <a:p/>
          <a:p>
            <a:r>
              <a:t>Production cue: the centrepiece of the module — the three capabilities every later video returns to. Reveal the panels left to right.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learner registration seen through those three parts. A parent, or a learner old enough, applies online. The registrar of PLR, the Progressa Learner Registry, decides in the back office. An analyst in the ministry configures the service. In the service, the parent meets the guide, the form, the documents and the send button, and later the decision and the confirmation. One thing the block does not do is keep the record for the long term. The specification leaves storage to the Digital Registries block. The registration block's job is to connect to it and write there.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reason this is a shared block and not a school system. PAERA, the GovStack reference architecture, says that digitising a state registry needs two building blocks: Registration and a Digital Registry. That holds for a business registry, a population registry and a learner register alike. So the ministry that builds the block first pays for it, and each ministry after it sets up a new service on the same block. That re-use is only visible to someone planning for the whole government, which is why the decision belongs above any single project.</a:t>
            </a:r>
          </a:p>
          <a:p/>
          <a:p>
            <a:r>
              <a:t>Production cue: the pivotal slide of this video — planning is what makes re-use possible.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An application comes in, an officer decides, the register is written and proof goes out. Build that once, and every ministry that registers can use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vendor tells you the product is GovStack compliant. That sentence alone tells you very little. What you need is the product shown against the published specification, one requirement at a time, with evidence your own team can check.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by naming the edition. The GovStack site labels the default edition of the Registration specification 23Q4. Write that edition into your tender and your questionnaire, so every answer refers to the same text. The edition holds forty-two functional requirements in three groups: ten for the applicant, six for the operator who processes applications, and twenty-six for the analyst who builds services. It defines twelve data structures, such as the service, the registration and the role, and thirteen published operations. Each requirement is marked required or recommended.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Turn that list into the vendor's homework. For every requirement, the vendor answers one of three things: met as delivered, met by configuration, or not met. Under every answer, ask for evidence you can check: a screen, a test record or a document. Do the same for the operations. Which of the thirteen does the product offer, and where are its test results? Ask also how the product exports and imports a service description, because the specification publishes no operation for creating or changing a service, and each product does it its own way. A product that answers in this form can be compared with the next one. A brochure cannot.</a:t>
            </a:r>
          </a:p>
          <a:p/>
          <a:p>
            <a:r>
              <a:t>Production cue: the pivotal slide of this video — the method the listener takes away.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what GovStack itself offers. Its testing application has a self-assessment form, where a software provider assesses the product against the functional requirements, and a set of automated tests of the interfaces. GovStack's website grades software at Level 1 or Level 2, depending on how many requirements are met. Its team checks a submission for completeness and plausibility, which is a review of what the provider sent, not a test of your installation. Accepted software is listed on the website with its level and a link to the full report. Be careful with thresholds, too: the website and the Architecture specification set different ones. When you quote a threshold, name its source.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such a sheet, built as an example for the product Progressa uses; it names no real product. Three rows show the pattern. The operator's decision is met by configuration, and the evidence is the registrar's screen with its three choices. Import and export of a service description is met, and the evidence is a file exported and imported into a second installation. The payment of fees is met but not used, because registering a learner carries no fee.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Ask for evidence against each published requirement, and check whether GovStack lists the product and at which level.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registration of a learner is written today in a law, a circular and a paper form. Before any product can carry it, someone has to restate it in the block's own terms. An AI assistant can draft that restatement in an afternoon.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2 deck. Each section that follows is one standalone ~5 minute video. This is the first Architect-facing module of KP3 — the ministry's technical lead or solution architect who sets up the registration service and judges the products offered for it. Module 1 set the first proof: one service on four blocks. This module stands up the first of them.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2.1 and 2.2 are what the block is and how to judge a product for it. 2.3 to 2.5 are the build — the service description, the checks, the decision and the write. 2.6 steps back to the service as a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From that brief the assistant drafts the service description. Be clear about what this file is. The specification requires that a full service description can be exported and imported, with its screens, fields, process flow and settings. But it publishes no operation for creating or changing a service, and it does not define the file's format. The format is the product's own. So the description names the product and the format it is written in, and every assumption the assistant made is marked for someone to confirm. Give the assistant the format as the product documents it, with an exported example if you have one, so that it does not invent one.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draft goes into a test installation. The check is simple to state. The block lists the service, and its screens come back in the order the brief gave. Then send one test application down each path the brief describes, one learner who transfers and one who does not; the two must be asked for different documents. Each marked assumption is confirmed by the registry's office or corrected. Progressa's description is a worked example, ready to import once the product is chosen.</a:t>
            </a:r>
          </a:p>
          <a:p/>
          <a:p>
            <a:r>
              <a:t>On screen: the text stand-in for the demonstration segment, with the footer marking the storyboard, until the configurations it needs have passed their checks and the segment is recorded. The narration never says that anything has run.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Write the registration in the specification's words. The assistant drafts the file that sets the block up; you import it, test it and correct it before anyone relies on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registrar's time is the scarcest thing in a registration office. Every application that arrives with a wrong date, a wrong name or a missing document costs that time twice. Three kinds of check catch those faults before the file reaches the desk.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kind is a rule on each field. The specification lets the analyst set them without code: whether a field is required, a number range, a text pattern, a date that must be earlier or later than another, a minimum age, the size and type of an uploaded file. In Progressa, the rule on date of birth asks for a learner aged three or older. An application whose date makes the learner two is refused, with a message the parent can understand. Rules like these cost the analyst minutes and save the registrar hours, so set one for every field the law constrains.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kind compares the application with an outside source. The specification's own example is a name and an identifier matched against a civil registry. For a person, the published way runs through the identity block's sign-in, OpenID Connect. The person signs in with PNIA, Progressa's identity authority, and approves what may be shared. PNIA releases the name, and an identifier made for this one service. The form's action compares the typed name with the released one, at the moment of applying, while the person is there. Progressa's second failing application has a name that differs, and it is refused. The service keeps PNIA's identifier for it, never the national number.</a:t>
            </a:r>
          </a:p>
          <a:p/>
          <a:p>
            <a:r>
              <a:t>Production cue: the pivotal slide of this video — the published way, with the person present. No sign-in screens of any product.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 precise about one gap. The Identity specification requires a way to verify a person from a known identifier, but its published set of interfaces has none for it. Progressa has one service of that kind: PNIA's read of a person by national number on Linkup, a contract of Progressa's own that only the examination authority may call. Wherever it appears, it is named as Progressa's own contract, not as a GovStack interface.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kind runs when the applicant presses send. Every required field must be filled and every required document uploaded, or the file cannot be sent, and the screen says what is missing. Write those messages with the registry's office, because a parent who cannot understand the message comes to the counter instead. Progressa's third application is a transferring learner without the transfer letter. It stops at the send screen. All three kinds of check act before a person sees the file, so the registrar's attention goes to judgement, not to typing errors.</a:t>
            </a:r>
          </a:p>
          <a:p/>
          <a:p>
            <a:r>
              <a:t>On screen: the text stand-in for the demonstration segment, with the footer marking the storyboard, until the configurations it needs have passed their checks and the segment is recorded. The narration never says that anything has run.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Field rules, a comparison with PNIA's record made with the person present, and a completeness test on sending. Faulty applications stop there, not at the registrar's desk.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Software can check an application. It cannot take responsibility for it. In registration, a named officer decides, and the register is written only after that decision. Getting this order right is what makes the record worth trusting.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specification gives the operator three decisions: approve, reject, or send back for correction, marking the field that is wrong so the applicant sees it. The analyst builds the processing part as a chain of roles. Each role has a list of files and a screen on which to decide. For each status a role may give, pending, approved, rejected or sent back, the analyst sets where the file goes next: to another role, back to the applicant, or to the end. A role can be a person or an automated role, and the specification lets an automated role carry actions, such as a call to another service. The tasks are read and completed through published operations.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Progressa's flow has three roles. An automated role takes the file as sent and checks it again. It decides nothing that the law gives to the registrar; it only prepares the file for the person who does. The registrar of PLR, a person, then decides. Only on approval does a second automated role write the record to the register and issue the confirmation with the learner's register number. A rejected file is closed, and nothing is written.</a:t>
            </a:r>
          </a:p>
          <a:p/>
          <a:p>
            <a:r>
              <a:t>Production cue: the pivotal slide of this video — the order that makes the record worth trusting. Reveal the chain left to right. The written guide carries figure F7.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write. On approval, the specification says, the system sends the information to a registry, using an action that sends form data to another service. Its traffic must pass through an Information Mediator or a secure gateway; in Progressa that is Linkup. The register accepts the record through its create-or-update operation. But neither specification publishes the order of calls or the data between the two blocks. Joining them is your team's own work. Write it down as a short agreement between the two owners: which call is made, with which fields, at which moment, and what happens when the register refuses. Then test both outcomes: an approval that writes, and a refusal that leaves the file waiting.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Where does the record land? PLR, the Progressa Learner Registry, is already a member of Linkup, with one enrolment service. This course sets up the authoritative learner register behind it, and that register is what this service writes to. The record carries the identifier PNIA gave the service, never the national number. And the order matters to a minister as much as to an architect: a record written before a decision is a record nobody answers for.</a:t>
            </a:r>
          </a:p>
          <a:p/>
          <a:p>
            <a:r>
              <a:t>On screen: the text stand-in for the demonstration segment, with the footer marking the storyboard, until the configurations it needs have passed their checks and the segment is recorded. The narration never says that anything has run.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registrar decides. Only an approval writes the record. The order between the two blocks is yours to define, so write it down and test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ministry that needs a registration service should not start from a blank screen. If the first ministry kept its service as a description, the second can take it, change what differs and test it. That is how a shared block pays back.</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testing. The specification requires the analyst to preview the service before applicants see it, at three depths: each screen on its own, the full service, and the full service in a test installation, where it can be tried from beginning to end before it is published to the live one. Use test cases that look like the real cases your office sees: a transferring learner, a missing document, a learner of the wrong age. The test installation is also where the registry's office reads every screen before the public does. Nothing should reach a parent that has not been through that last step.</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description itself. The specification requires that the full service can be exported and imported, and that the description holds at least the screens and fields, the process flow and the service settings. Settings that belong to one installation are made there and do not travel. A service can also be published to another installation; the specification recommends this rather than requiring it, so ask your vendor whether the product does it. One caution: no published operation creates, changes or exports a service. Export and import are the product's own tools, so the file names its product and format.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more things make the description worth keeping. Several registrations can be combined in one service, and a document that two of them need is asked for only once; one registration's result can even be another's input. And the block keeps statistics: the number of applications processed, by operator, registration, service and date. That count is how the owner of a service shows it is used. This is where planning for the whole government pays: each service kept as a description is re-use waiting to happen.</a:t>
            </a:r>
          </a:p>
          <a:p/>
          <a:p>
            <a:r>
              <a:t>Production cue: the pivotal slide of this video and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Progressa, the learner registration is exported, imported into a clean installation and compared with the original, screen by screen. The comparison is the check. If the copy's screens equal the original's, the file carried everything that matters. If not, the difference is either a setting that belongs to one installation or a gap in the product's export, and you need to know which. The number of applications processed is read from the block's own statistics. When a second ministry needs a registration, it begins from this file.</a:t>
            </a:r>
          </a:p>
          <a:p/>
          <a:p>
            <a:r>
              <a:t>On screen: the text stand-in for the demonstration segment, with the footer marking the storyboard, until the configurations it needs have passed their checks and the segment is recorded. The narration never says that anything has run.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Keep the whole service as one file. Test it, export it, import it elsewhere and compare. The next ministry then starts from your work, not from nothing.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The Registration block</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KP3 · Education DPI Roadmap · Module 2</a:t>
            </a:r>
          </a:p>
          <a:p>
            <a:r>
              <a:rPr sz="1400" b="0" i="0">
                <a:solidFill>
                  <a:srgbClr val="595959"/>
                </a:solidFill>
                <a:latin typeface="Arial"/>
              </a:rPr>
              <a:t>Six standalone videos for the architect who sets up the first block of the education foundation: what the Registration block does, how to judge a product against the published specification, how an AI assistant drafts the service description, the three checks before the officer, the officer's decision and the write to the register — and the whole service as a description a second ministry can start from.</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~30 mins across 6 videos (2.1 – 2.6)</a:t>
            </a:r>
          </a:p>
          <a:p>
            <a:r>
              <a:rPr sz="1400" b="1" i="0">
                <a:solidFill>
                  <a:srgbClr val="1A1A1A"/>
                </a:solidFill>
                <a:latin typeface="Arial"/>
              </a:rPr>
              <a:t>Target audience: </a:t>
            </a:r>
            <a:r>
              <a:rPr sz="1400" b="0" i="0">
                <a:solidFill>
                  <a:srgbClr val="1A1A1A"/>
                </a:solidFill>
                <a:latin typeface="Arial"/>
              </a:rPr>
              <a:t>The ministry's technical lead or solution architect who sets up the registration service and judges the products offered for it</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STANDS UP</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Application · decision · record · proof</a:t>
            </a:r>
          </a:p>
        </p:txBody>
      </p:sp>
      <p:sp>
        <p:nvSpPr>
          <p:cNvPr id="21" name="Rounded Rectangle 20"/>
          <p:cNvSpPr/>
          <p:nvPr/>
        </p:nvSpPr>
        <p:spPr>
          <a:xfrm>
            <a:off x="7452360" y="175260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product judged against the spec</a:t>
            </a:r>
          </a:p>
        </p:txBody>
      </p:sp>
      <p:sp>
        <p:nvSpPr>
          <p:cNvPr id="22" name="Rounded Rectangle 21"/>
          <p:cNvSpPr/>
          <p:nvPr/>
        </p:nvSpPr>
        <p:spPr>
          <a:xfrm>
            <a:off x="7452360" y="254508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service drafted, imported, tested</a:t>
            </a:r>
          </a:p>
        </p:txBody>
      </p:sp>
      <p:sp>
        <p:nvSpPr>
          <p:cNvPr id="23" name="Rounded Rectangle 22"/>
          <p:cNvSpPr/>
          <p:nvPr/>
        </p:nvSpPr>
        <p:spPr>
          <a:xfrm>
            <a:off x="7452360" y="333756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Three checks before the officer</a:t>
            </a:r>
          </a:p>
        </p:txBody>
      </p:sp>
      <p:sp>
        <p:nvSpPr>
          <p:cNvPr id="24" name="Rounded Rectangle 23"/>
          <p:cNvSpPr/>
          <p:nvPr/>
        </p:nvSpPr>
        <p:spPr>
          <a:xfrm>
            <a:off x="7452360" y="413004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officer decides, then the write</a:t>
            </a:r>
          </a:p>
        </p:txBody>
      </p:sp>
      <p:sp>
        <p:nvSpPr>
          <p:cNvPr id="25" name="Rounded Rectangle 24"/>
          <p:cNvSpPr/>
          <p:nvPr/>
        </p:nvSpPr>
        <p:spPr>
          <a:xfrm>
            <a:off x="7452360" y="4922520"/>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A service you can move</a:t>
            </a:r>
          </a:p>
        </p:txBody>
      </p:sp>
      <p:sp>
        <p:nvSpPr>
          <p:cNvPr id="26" name="TextBox 25"/>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42 requirements · 13 operations · 1 service description</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2 — six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2.1  What the Registration block does</a:t>
            </a:r>
            <a:r>
              <a:rPr sz="1200" b="0" i="0">
                <a:solidFill>
                  <a:srgbClr val="595959"/>
                </a:solidFill>
                <a:latin typeface="Arial"/>
              </a:rPr>
              <a:t>   ~5 min</a:t>
            </a:r>
          </a:p>
          <a:p>
            <a:pPr algn="l">
              <a:spcAft>
                <a:spcPts val="900"/>
              </a:spcAft>
            </a:pPr>
            <a:r>
              <a:rPr sz="1500" b="1" i="0">
                <a:solidFill>
                  <a:srgbClr val="1A1A1A"/>
                </a:solidFill>
                <a:latin typeface="Arial"/>
              </a:rPr>
              <a:t>2.2  The published specification, and how to judge a product against it</a:t>
            </a:r>
            <a:r>
              <a:rPr sz="1200" b="0" i="0">
                <a:solidFill>
                  <a:srgbClr val="595959"/>
                </a:solidFill>
                <a:latin typeface="Arial"/>
              </a:rPr>
              <a:t>   ~5 min</a:t>
            </a:r>
          </a:p>
          <a:p>
            <a:pPr algn="l">
              <a:spcAft>
                <a:spcPts val="900"/>
              </a:spcAft>
            </a:pPr>
            <a:r>
              <a:rPr sz="1500" b="1" i="0">
                <a:solidFill>
                  <a:srgbClr val="1A1A1A"/>
                </a:solidFill>
                <a:latin typeface="Arial"/>
              </a:rPr>
              <a:t>2.3  Generating the registration service</a:t>
            </a:r>
            <a:r>
              <a:rPr sz="1200" b="0" i="0">
                <a:solidFill>
                  <a:srgbClr val="595959"/>
                </a:solidFill>
                <a:latin typeface="Arial"/>
              </a:rPr>
              <a:t>   ~5 min</a:t>
            </a:r>
          </a:p>
          <a:p>
            <a:pPr algn="l">
              <a:spcAft>
                <a:spcPts val="900"/>
              </a:spcAft>
            </a:pPr>
            <a:r>
              <a:rPr sz="1500" b="1" i="0">
                <a:solidFill>
                  <a:srgbClr val="1A1A1A"/>
                </a:solidFill>
                <a:latin typeface="Arial"/>
              </a:rPr>
              <a:t>2.4  Checks before the officer decides</a:t>
            </a:r>
            <a:r>
              <a:rPr sz="1200" b="0" i="0">
                <a:solidFill>
                  <a:srgbClr val="595959"/>
                </a:solidFill>
                <a:latin typeface="Arial"/>
              </a:rPr>
              <a:t>   ~5 min</a:t>
            </a:r>
          </a:p>
          <a:p>
            <a:pPr algn="l">
              <a:spcAft>
                <a:spcPts val="900"/>
              </a:spcAft>
            </a:pPr>
            <a:r>
              <a:rPr sz="1500" b="1" i="0">
                <a:solidFill>
                  <a:srgbClr val="1A1A1A"/>
                </a:solidFill>
                <a:latin typeface="Arial"/>
              </a:rPr>
              <a:t>2.5  The officer decides, and the record is written</a:t>
            </a:r>
            <a:r>
              <a:rPr sz="1200" b="0" i="0">
                <a:solidFill>
                  <a:srgbClr val="595959"/>
                </a:solidFill>
                <a:latin typeface="Arial"/>
              </a:rPr>
              <a:t>   ~5 min</a:t>
            </a:r>
          </a:p>
          <a:p>
            <a:pPr algn="l">
              <a:spcAft>
                <a:spcPts val="900"/>
              </a:spcAft>
            </a:pPr>
            <a:r>
              <a:rPr sz="1500" b="1" i="0">
                <a:solidFill>
                  <a:srgbClr val="1A1A1A"/>
                </a:solidFill>
                <a:latin typeface="Arial"/>
              </a:rPr>
              <a:t>2.6  The whole service as a description you can move</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 registration block takes an application, lets an officer decide and, on approval, writes to a register and gives the applicant proof — built once for every ministry.</a:t>
            </a:r>
          </a:p>
          <a:p>
            <a:pPr>
              <a:spcAft>
                <a:spcPts val="1000"/>
              </a:spcAft>
            </a:pPr>
            <a:r>
              <a:rPr sz="1900" b="0" i="1">
                <a:solidFill>
                  <a:srgbClr val="1A1A1A"/>
                </a:solidFill>
                <a:latin typeface="Arial"/>
              </a:rPr>
              <a:t>Judge the product against the published specification; draft the service with an assistant, then import, test and correct it; keep it as a description you can move.</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Registration block does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registration block takes an application, lets an officer decide and, on approval, writes to a register and gives the applicant proof, and built once it serves every ministry that registers people or things.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ministry registers something.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Schools register learners. A business registry registers companies. A population registry records births.</a:t>
            </a:r>
          </a:p>
          <a:p>
            <a:pPr>
              <a:spcAft>
                <a:spcPts val="800"/>
              </a:spcAft>
            </a:pPr>
            <a:r>
              <a:rPr sz="1700" b="0" i="0">
                <a:solidFill>
                  <a:srgbClr val="595959"/>
                </a:solidFill>
                <a:latin typeface="Arial"/>
              </a:rPr>
              <a:t>Each office asks for information, checks it, decides, records it and gives back proof. The Registration block is shared software that does exactly that.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registration means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An applicant asks for information to be recorded in a registry</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A registrar, the authorised representative of the registry, records it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applicant receives a credential as proof of registration</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Two outcomes: a record is written, and proof goes back. A service that stops at capturing a form has done neither.</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capabilities</a:t>
            </a:r>
          </a:p>
        </p:txBody>
      </p:sp>
      <p:sp>
        <p:nvSpPr>
          <p:cNvPr id="4" name="Rounded Rectangle 3"/>
          <p:cNvSpPr/>
          <p:nvPr/>
        </p:nvSpPr>
        <p:spPr>
          <a:xfrm>
            <a:off x="658368" y="1554480"/>
            <a:ext cx="3383280" cy="24688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ONLINE REGISTRATION</a:t>
            </a:r>
          </a:p>
          <a:p>
            <a:pPr algn="l">
              <a:spcAft>
                <a:spcPts val="300"/>
              </a:spcAft>
            </a:pPr>
            <a:r>
              <a:rPr sz="1500" b="0" i="0">
                <a:solidFill>
                  <a:srgbClr val="1A1A1A"/>
                </a:solidFill>
                <a:latin typeface="Arial"/>
              </a:rPr>
              <a:t>The applicant fills in the form, uploads documents, sends and follows the status.</a:t>
            </a:r>
          </a:p>
        </p:txBody>
      </p:sp>
      <p:sp>
        <p:nvSpPr>
          <p:cNvPr id="5" name="Rounded Rectangle 4"/>
          <p:cNvSpPr/>
          <p:nvPr/>
        </p:nvSpPr>
        <p:spPr>
          <a:xfrm>
            <a:off x="4407408" y="1554480"/>
            <a:ext cx="3383280" cy="24688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PROCESSING</a:t>
            </a:r>
          </a:p>
          <a:p>
            <a:pPr algn="l">
              <a:spcAft>
                <a:spcPts val="300"/>
              </a:spcAft>
            </a:pPr>
            <a:r>
              <a:rPr sz="1500" b="0" i="0">
                <a:solidFill>
                  <a:srgbClr val="1A1A1A"/>
                </a:solidFill>
                <a:latin typeface="Arial"/>
              </a:rPr>
              <a:t>An operator approves, rejects or sends back; on approval the record is sent to a registry and a credential issued.</a:t>
            </a:r>
          </a:p>
        </p:txBody>
      </p:sp>
      <p:sp>
        <p:nvSpPr>
          <p:cNvPr id="6" name="Rounded Rectangle 5"/>
          <p:cNvSpPr/>
          <p:nvPr/>
        </p:nvSpPr>
        <p:spPr>
          <a:xfrm>
            <a:off x="8156448" y="1554480"/>
            <a:ext cx="3383280" cy="24688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DEVELOPMENT PLATFORM</a:t>
            </a:r>
          </a:p>
          <a:p>
            <a:pPr algn="l">
              <a:spcAft>
                <a:spcPts val="300"/>
              </a:spcAft>
            </a:pPr>
            <a:r>
              <a:rPr sz="1500" b="0" i="0">
                <a:solidFill>
                  <a:srgbClr val="1A1A1A"/>
                </a:solidFill>
                <a:latin typeface="Arial"/>
              </a:rPr>
              <a:t>An analyst sets up rules, screens and checks without programming.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learner registration, in three parts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parent or the learner applies online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registrar of PLR decides in the back office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analyst configures the service</a:t>
            </a:r>
          </a:p>
          <a:p>
            <a:pPr>
              <a:spcAft>
                <a:spcPts val="300"/>
              </a:spcAft>
            </a:pPr>
            <a:r>
              <a:rPr sz="1550" b="0" i="0">
                <a:solidFill>
                  <a:srgbClr val="595959"/>
                </a:solidFill>
                <a:latin typeface="Arial"/>
              </a:rPr>
              <a:t>The record itself is kept in the learner register.</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Storage belongs to the Digital Registries block — the registration block writes there.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Built once, used by every ministry</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Digitising a state registry needs two building blocks: Registration and Digital Registry.</a:t>
            </a:r>
          </a:p>
          <a:p>
            <a:pPr>
              <a:spcAft>
                <a:spcPts val="1200"/>
              </a:spcAft>
            </a:pPr>
            <a:r>
              <a:rPr sz="2000" b="0" i="0">
                <a:solidFill>
                  <a:srgbClr val="1A1A1A"/>
                </a:solidFill>
                <a:latin typeface="Arial"/>
              </a:rPr>
              <a:t>Each new registration is a new service set up on the same block — not new software.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ministry that builds the block first pays for it. Each ministry after it sets up a new service on the same block.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200" b="1" i="0">
                <a:solidFill>
                  <a:srgbClr val="1A1A1A"/>
                </a:solidFill>
                <a:latin typeface="Arial"/>
              </a:rPr>
              <a:t>A registration block takes an application, lets an officer decide and, on approval, writes to a register and gives the applicant proof, and built once it serves every ministry that registers people or things.</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paper registration onto the block's three capabilities.</a:t>
            </a:r>
          </a:p>
          <a:p>
            <a:pPr algn="l">
              <a:spcAft>
                <a:spcPts val="400"/>
              </a:spcAft>
            </a:pPr>
            <a:r>
              <a:rPr sz="1800" b="0" i="0">
                <a:solidFill>
                  <a:srgbClr val="595959"/>
                </a:solidFill>
                <a:latin typeface="Arial"/>
              </a:rPr>
              <a:t>The prompt in the companion material gives you a table that sorts each step of your procedure into the three capabilities, with the decisions an officer takes.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default edition — sections 2 and 4.1 to 4.4</a:t>
            </a:r>
          </a:p>
          <a:p>
            <a:pPr>
              <a:spcAft>
                <a:spcPts val="1200"/>
              </a:spcAft>
            </a:pPr>
            <a:r>
              <a:rPr sz="1700" b="0" i="0">
                <a:solidFill>
                  <a:srgbClr val="1A1A1A"/>
                </a:solidFill>
                <a:latin typeface="Arial"/>
              </a:rPr>
              <a:t>•  PAERA v1.0 — Annex 1, A1.2.5</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What the Registration block does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published specification, and how to judge a product against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Ask every vendor to show the product against the published specification, requirement by requirement, and check whether GovStack lists it and at which compliance level.</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vendor tells you the product is GovStack compliant.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That sentence alone tells you very little.</a:t>
            </a:r>
          </a:p>
          <a:p>
            <a:pPr>
              <a:spcAft>
                <a:spcPts val="800"/>
              </a:spcAft>
            </a:pPr>
            <a:r>
              <a:rPr sz="1700" b="0" i="0">
                <a:solidFill>
                  <a:srgbClr val="595959"/>
                </a:solidFill>
                <a:latin typeface="Arial"/>
              </a:rPr>
              <a:t>What you need is the product shown against the published specification, one requirement at a time, with evidence your own team can check.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specification contains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42 functional requirements</a:t>
            </a:r>
          </a:p>
          <a:p>
            <a:pPr>
              <a:spcAft>
                <a:spcPts val="300"/>
              </a:spcAft>
            </a:pPr>
            <a:r>
              <a:rPr sz="1550" b="0" i="0">
                <a:solidFill>
                  <a:srgbClr val="595959"/>
                </a:solidFill>
                <a:latin typeface="Arial"/>
              </a:rPr>
              <a:t>In three groups: the applicant, the operator, the analyst.</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12 data structures</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13 published operations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Each requirement marked REQUIRED or RECOMMENDED</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Name the edition — the site labels the default edition 23Q4 — in your tender and your questionnaire, so every answer refers to the same text.</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Requirement by requirement</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For each requirement</a:t>
            </a:r>
          </a:p>
          <a:p>
            <a:pPr>
              <a:spcAft>
                <a:spcPts val="300"/>
              </a:spcAft>
            </a:pPr>
            <a:r>
              <a:rPr sz="1550" b="0" i="0">
                <a:solidFill>
                  <a:srgbClr val="595959"/>
                </a:solidFill>
                <a:latin typeface="Arial"/>
              </a:rPr>
              <a:t>Met as delivered, met by configuration, or not met.</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For each answer</a:t>
            </a:r>
          </a:p>
          <a:p>
            <a:pPr>
              <a:spcAft>
                <a:spcPts val="300"/>
              </a:spcAft>
            </a:pPr>
            <a:r>
              <a:rPr sz="1550" b="0" i="0">
                <a:solidFill>
                  <a:srgbClr val="595959"/>
                </a:solidFill>
                <a:latin typeface="Arial"/>
              </a:rPr>
              <a:t>The evidence — a screen, a test record, a document.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For the operations</a:t>
            </a:r>
          </a:p>
          <a:p>
            <a:pPr>
              <a:spcAft>
                <a:spcPts val="300"/>
              </a:spcAft>
            </a:pPr>
            <a:r>
              <a:rPr sz="1550" b="0" i="0">
                <a:solidFill>
                  <a:srgbClr val="595959"/>
                </a:solidFill>
                <a:latin typeface="Arial"/>
              </a:rPr>
              <a:t>Which of the thirteen the product offers.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product that answers in this form can be compared with the next one. A brochure cannot.</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GovStack itself offers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 self-assessment form for requirements, and automated tests of the interfaces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A listing at Level 1 or Level 2</a:t>
            </a:r>
          </a:p>
          <a:p>
            <a:pPr>
              <a:spcAft>
                <a:spcPts val="300"/>
              </a:spcAft>
            </a:pPr>
            <a:r>
              <a:rPr sz="1550" b="0" i="0">
                <a:solidFill>
                  <a:srgbClr val="595959"/>
                </a:solidFill>
                <a:latin typeface="Arial"/>
              </a:rPr>
              <a:t>On the GovStack website.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level and a link to the full report</a:t>
            </a:r>
          </a:p>
          <a:p>
            <a:pPr>
              <a:spcAft>
                <a:spcPts val="300"/>
              </a:spcAft>
            </a:pPr>
            <a:r>
              <a:rPr sz="1550" b="0" i="0">
                <a:solidFill>
                  <a:srgbClr val="595959"/>
                </a:solidFill>
                <a:latin typeface="Arial"/>
              </a:rPr>
              <a:t>Shown in the listing.</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When you quote a threshold, name its source.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self-assessment sheet</a:t>
            </a:r>
          </a:p>
        </p:txBody>
      </p:sp>
      <p:sp>
        <p:nvSpPr>
          <p:cNvPr id="4" name="TextBox 3"/>
          <p:cNvSpPr txBox="1"/>
          <p:nvPr/>
        </p:nvSpPr>
        <p:spPr>
          <a:xfrm>
            <a:off x="658368" y="1417320"/>
            <a:ext cx="3273552" cy="384048"/>
          </a:xfrm>
          <a:prstGeom prst="rect">
            <a:avLst/>
          </a:prstGeom>
          <a:noFill/>
        </p:spPr>
        <p:txBody>
          <a:bodyPr wrap="square">
            <a:spAutoFit/>
          </a:bodyPr>
          <a:lstStyle/>
          <a:p>
            <a:r>
              <a:rPr sz="1400" b="1" i="0">
                <a:solidFill>
                  <a:srgbClr val="006E96"/>
                </a:solidFill>
                <a:latin typeface="Arial"/>
              </a:rPr>
              <a:t>Requirement</a:t>
            </a:r>
          </a:p>
        </p:txBody>
      </p:sp>
      <p:sp>
        <p:nvSpPr>
          <p:cNvPr id="5" name="TextBox 4"/>
          <p:cNvSpPr txBox="1"/>
          <p:nvPr/>
        </p:nvSpPr>
        <p:spPr>
          <a:xfrm>
            <a:off x="4041648" y="1417320"/>
            <a:ext cx="1261872" cy="384048"/>
          </a:xfrm>
          <a:prstGeom prst="rect">
            <a:avLst/>
          </a:prstGeom>
          <a:noFill/>
        </p:spPr>
        <p:txBody>
          <a:bodyPr wrap="square">
            <a:spAutoFit/>
          </a:bodyPr>
          <a:lstStyle/>
          <a:p>
            <a:r>
              <a:rPr sz="1400" b="1" i="0">
                <a:solidFill>
                  <a:srgbClr val="006E96"/>
                </a:solidFill>
                <a:latin typeface="Arial"/>
              </a:rPr>
              <a:t>Level</a:t>
            </a:r>
          </a:p>
        </p:txBody>
      </p:sp>
      <p:sp>
        <p:nvSpPr>
          <p:cNvPr id="6" name="TextBox 5"/>
          <p:cNvSpPr txBox="1"/>
          <p:nvPr/>
        </p:nvSpPr>
        <p:spPr>
          <a:xfrm>
            <a:off x="5413248" y="1417320"/>
            <a:ext cx="1993391" cy="384048"/>
          </a:xfrm>
          <a:prstGeom prst="rect">
            <a:avLst/>
          </a:prstGeom>
          <a:noFill/>
        </p:spPr>
        <p:txBody>
          <a:bodyPr wrap="square">
            <a:spAutoFit/>
          </a:bodyPr>
          <a:lstStyle/>
          <a:p>
            <a:r>
              <a:rPr sz="1400" b="1" i="0">
                <a:solidFill>
                  <a:srgbClr val="006E96"/>
                </a:solidFill>
                <a:latin typeface="Arial"/>
              </a:rPr>
              <a:t>Answer</a:t>
            </a:r>
          </a:p>
        </p:txBody>
      </p:sp>
      <p:sp>
        <p:nvSpPr>
          <p:cNvPr id="7" name="TextBox 6"/>
          <p:cNvSpPr txBox="1"/>
          <p:nvPr/>
        </p:nvSpPr>
        <p:spPr>
          <a:xfrm>
            <a:off x="7516367" y="1417320"/>
            <a:ext cx="3913632" cy="384048"/>
          </a:xfrm>
          <a:prstGeom prst="rect">
            <a:avLst/>
          </a:prstGeom>
          <a:noFill/>
        </p:spPr>
        <p:txBody>
          <a:bodyPr wrap="square">
            <a:spAutoFit/>
          </a:bodyPr>
          <a:lstStyle/>
          <a:p>
            <a:r>
              <a:rPr sz="1400" b="1" i="0">
                <a:solidFill>
                  <a:srgbClr val="006E96"/>
                </a:solidFill>
                <a:latin typeface="Arial"/>
              </a:rPr>
              <a:t>Evidence</a:t>
            </a:r>
          </a:p>
        </p:txBody>
      </p:sp>
      <p:sp>
        <p:nvSpPr>
          <p:cNvPr id="8" name="Rectangle 7"/>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11095"/>
            <a:ext cx="3273552" cy="1008888"/>
          </a:xfrm>
          <a:prstGeom prst="rect">
            <a:avLst/>
          </a:prstGeom>
          <a:noFill/>
        </p:spPr>
        <p:txBody>
          <a:bodyPr wrap="square">
            <a:spAutoFit/>
          </a:bodyPr>
          <a:lstStyle/>
          <a:p>
            <a:r>
              <a:rPr sz="1400" b="1" i="0">
                <a:solidFill>
                  <a:srgbClr val="1A1A1A"/>
                </a:solidFill>
                <a:latin typeface="Arial"/>
              </a:rPr>
              <a:t>6.2.3 Make decisions about an application</a:t>
            </a:r>
          </a:p>
        </p:txBody>
      </p:sp>
      <p:sp>
        <p:nvSpPr>
          <p:cNvPr id="10" name="TextBox 9"/>
          <p:cNvSpPr txBox="1"/>
          <p:nvPr/>
        </p:nvSpPr>
        <p:spPr>
          <a:xfrm>
            <a:off x="4041648" y="1911095"/>
            <a:ext cx="1261872" cy="1008888"/>
          </a:xfrm>
          <a:prstGeom prst="rect">
            <a:avLst/>
          </a:prstGeom>
          <a:noFill/>
        </p:spPr>
        <p:txBody>
          <a:bodyPr wrap="square">
            <a:spAutoFit/>
          </a:bodyPr>
          <a:lstStyle/>
          <a:p>
            <a:r>
              <a:rPr sz="1400" b="0" i="0">
                <a:solidFill>
                  <a:srgbClr val="1A1A1A"/>
                </a:solidFill>
                <a:latin typeface="Arial"/>
              </a:rPr>
              <a:t>REQUIRED</a:t>
            </a:r>
          </a:p>
        </p:txBody>
      </p:sp>
      <p:sp>
        <p:nvSpPr>
          <p:cNvPr id="11" name="TextBox 10"/>
          <p:cNvSpPr txBox="1"/>
          <p:nvPr/>
        </p:nvSpPr>
        <p:spPr>
          <a:xfrm>
            <a:off x="5413248" y="1911095"/>
            <a:ext cx="1993391" cy="1008888"/>
          </a:xfrm>
          <a:prstGeom prst="rect">
            <a:avLst/>
          </a:prstGeom>
          <a:noFill/>
        </p:spPr>
        <p:txBody>
          <a:bodyPr wrap="square">
            <a:spAutoFit/>
          </a:bodyPr>
          <a:lstStyle/>
          <a:p>
            <a:r>
              <a:rPr sz="1400" b="0" i="0">
                <a:solidFill>
                  <a:srgbClr val="1A1A1A"/>
                </a:solidFill>
                <a:latin typeface="Arial"/>
              </a:rPr>
              <a:t>Met by configuration</a:t>
            </a:r>
          </a:p>
        </p:txBody>
      </p:sp>
      <p:sp>
        <p:nvSpPr>
          <p:cNvPr id="12" name="TextBox 11"/>
          <p:cNvSpPr txBox="1"/>
          <p:nvPr/>
        </p:nvSpPr>
        <p:spPr>
          <a:xfrm>
            <a:off x="7516367" y="1911095"/>
            <a:ext cx="3913632" cy="1008888"/>
          </a:xfrm>
          <a:prstGeom prst="rect">
            <a:avLst/>
          </a:prstGeom>
          <a:noFill/>
        </p:spPr>
        <p:txBody>
          <a:bodyPr wrap="square">
            <a:spAutoFit/>
          </a:bodyPr>
          <a:lstStyle/>
          <a:p>
            <a:r>
              <a:rPr sz="1400" b="0" i="0">
                <a:solidFill>
                  <a:srgbClr val="1A1A1A"/>
                </a:solidFill>
                <a:latin typeface="Arial"/>
              </a:rPr>
              <a:t>The registrar's screen with approve, reject and send back</a:t>
            </a:r>
          </a:p>
        </p:txBody>
      </p:sp>
      <p:sp>
        <p:nvSpPr>
          <p:cNvPr id="13" name="Rectangle 12"/>
          <p:cNvSpPr/>
          <p:nvPr/>
        </p:nvSpPr>
        <p:spPr>
          <a:xfrm>
            <a:off x="658368" y="29382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993136"/>
            <a:ext cx="3273552" cy="1008888"/>
          </a:xfrm>
          <a:prstGeom prst="rect">
            <a:avLst/>
          </a:prstGeom>
          <a:noFill/>
        </p:spPr>
        <p:txBody>
          <a:bodyPr wrap="square">
            <a:spAutoFit/>
          </a:bodyPr>
          <a:lstStyle/>
          <a:p>
            <a:r>
              <a:rPr sz="1400" b="1" i="0">
                <a:solidFill>
                  <a:srgbClr val="1A1A1A"/>
                </a:solidFill>
                <a:latin typeface="Arial"/>
              </a:rPr>
              <a:t>6.3.2.10 Import/Export of service descriptions</a:t>
            </a:r>
          </a:p>
        </p:txBody>
      </p:sp>
      <p:sp>
        <p:nvSpPr>
          <p:cNvPr id="15" name="TextBox 14"/>
          <p:cNvSpPr txBox="1"/>
          <p:nvPr/>
        </p:nvSpPr>
        <p:spPr>
          <a:xfrm>
            <a:off x="4041648" y="2993136"/>
            <a:ext cx="1261872" cy="1008888"/>
          </a:xfrm>
          <a:prstGeom prst="rect">
            <a:avLst/>
          </a:prstGeom>
          <a:noFill/>
        </p:spPr>
        <p:txBody>
          <a:bodyPr wrap="square">
            <a:spAutoFit/>
          </a:bodyPr>
          <a:lstStyle/>
          <a:p>
            <a:r>
              <a:rPr sz="1400" b="0" i="0">
                <a:solidFill>
                  <a:srgbClr val="1A1A1A"/>
                </a:solidFill>
                <a:latin typeface="Arial"/>
              </a:rPr>
              <a:t>REQUIRED</a:t>
            </a:r>
          </a:p>
        </p:txBody>
      </p:sp>
      <p:sp>
        <p:nvSpPr>
          <p:cNvPr id="16" name="TextBox 15"/>
          <p:cNvSpPr txBox="1"/>
          <p:nvPr/>
        </p:nvSpPr>
        <p:spPr>
          <a:xfrm>
            <a:off x="5413248" y="2993136"/>
            <a:ext cx="1993391" cy="1008888"/>
          </a:xfrm>
          <a:prstGeom prst="rect">
            <a:avLst/>
          </a:prstGeom>
          <a:noFill/>
        </p:spPr>
        <p:txBody>
          <a:bodyPr wrap="square">
            <a:spAutoFit/>
          </a:bodyPr>
          <a:lstStyle/>
          <a:p>
            <a:r>
              <a:rPr sz="1400" b="0" i="0">
                <a:solidFill>
                  <a:srgbClr val="1A1A1A"/>
                </a:solidFill>
                <a:latin typeface="Arial"/>
              </a:rPr>
              <a:t>Met</a:t>
            </a:r>
          </a:p>
        </p:txBody>
      </p:sp>
      <p:sp>
        <p:nvSpPr>
          <p:cNvPr id="17" name="TextBox 16"/>
          <p:cNvSpPr txBox="1"/>
          <p:nvPr/>
        </p:nvSpPr>
        <p:spPr>
          <a:xfrm>
            <a:off x="7516367" y="2993136"/>
            <a:ext cx="3913632" cy="1008888"/>
          </a:xfrm>
          <a:prstGeom prst="rect">
            <a:avLst/>
          </a:prstGeom>
          <a:noFill/>
        </p:spPr>
        <p:txBody>
          <a:bodyPr wrap="square">
            <a:spAutoFit/>
          </a:bodyPr>
          <a:lstStyle/>
          <a:p>
            <a:r>
              <a:rPr sz="1400" b="0" i="0">
                <a:solidFill>
                  <a:srgbClr val="1A1A1A"/>
                </a:solidFill>
                <a:latin typeface="Arial"/>
              </a:rPr>
              <a:t>An exported file imported into a second installation</a:t>
            </a:r>
          </a:p>
        </p:txBody>
      </p:sp>
      <p:sp>
        <p:nvSpPr>
          <p:cNvPr id="18" name="Rectangle 17"/>
          <p:cNvSpPr/>
          <p:nvPr/>
        </p:nvSpPr>
        <p:spPr>
          <a:xfrm>
            <a:off x="658368" y="4020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075175"/>
            <a:ext cx="3273552" cy="1008888"/>
          </a:xfrm>
          <a:prstGeom prst="rect">
            <a:avLst/>
          </a:prstGeom>
          <a:noFill/>
        </p:spPr>
        <p:txBody>
          <a:bodyPr wrap="square">
            <a:spAutoFit/>
          </a:bodyPr>
          <a:lstStyle/>
          <a:p>
            <a:r>
              <a:rPr sz="1400" b="1" i="0">
                <a:solidFill>
                  <a:srgbClr val="1A1A1A"/>
                </a:solidFill>
                <a:latin typeface="Arial"/>
              </a:rPr>
              <a:t>6.1.7 Pay fees for application</a:t>
            </a:r>
          </a:p>
        </p:txBody>
      </p:sp>
      <p:sp>
        <p:nvSpPr>
          <p:cNvPr id="20" name="TextBox 19"/>
          <p:cNvSpPr txBox="1"/>
          <p:nvPr/>
        </p:nvSpPr>
        <p:spPr>
          <a:xfrm>
            <a:off x="4041648" y="4075175"/>
            <a:ext cx="1261872" cy="1008888"/>
          </a:xfrm>
          <a:prstGeom prst="rect">
            <a:avLst/>
          </a:prstGeom>
          <a:noFill/>
        </p:spPr>
        <p:txBody>
          <a:bodyPr wrap="square">
            <a:spAutoFit/>
          </a:bodyPr>
          <a:lstStyle/>
          <a:p>
            <a:r>
              <a:rPr sz="1400" b="0" i="0">
                <a:solidFill>
                  <a:srgbClr val="1A1A1A"/>
                </a:solidFill>
                <a:latin typeface="Arial"/>
              </a:rPr>
              <a:t>REQUIRED</a:t>
            </a:r>
          </a:p>
        </p:txBody>
      </p:sp>
      <p:sp>
        <p:nvSpPr>
          <p:cNvPr id="21" name="TextBox 20"/>
          <p:cNvSpPr txBox="1"/>
          <p:nvPr/>
        </p:nvSpPr>
        <p:spPr>
          <a:xfrm>
            <a:off x="5413248" y="4075175"/>
            <a:ext cx="1993391" cy="1008888"/>
          </a:xfrm>
          <a:prstGeom prst="rect">
            <a:avLst/>
          </a:prstGeom>
          <a:noFill/>
        </p:spPr>
        <p:txBody>
          <a:bodyPr wrap="square">
            <a:spAutoFit/>
          </a:bodyPr>
          <a:lstStyle/>
          <a:p>
            <a:r>
              <a:rPr sz="1400" b="0" i="0">
                <a:solidFill>
                  <a:srgbClr val="1A1A1A"/>
                </a:solidFill>
                <a:latin typeface="Arial"/>
              </a:rPr>
              <a:t>Met — not used</a:t>
            </a:r>
          </a:p>
        </p:txBody>
      </p:sp>
      <p:sp>
        <p:nvSpPr>
          <p:cNvPr id="22" name="TextBox 21"/>
          <p:cNvSpPr txBox="1"/>
          <p:nvPr/>
        </p:nvSpPr>
        <p:spPr>
          <a:xfrm>
            <a:off x="7516367" y="4075175"/>
            <a:ext cx="3913632" cy="1008888"/>
          </a:xfrm>
          <a:prstGeom prst="rect">
            <a:avLst/>
          </a:prstGeom>
          <a:noFill/>
        </p:spPr>
        <p:txBody>
          <a:bodyPr wrap="square">
            <a:spAutoFit/>
          </a:bodyPr>
          <a:lstStyle/>
          <a:p>
            <a:r>
              <a:rPr sz="1400" b="0" i="0">
                <a:solidFill>
                  <a:srgbClr val="1A1A1A"/>
                </a:solidFill>
                <a:latin typeface="Arial"/>
              </a:rPr>
              <a:t>Learner registration carries no fee</a:t>
            </a:r>
          </a:p>
        </p:txBody>
      </p:sp>
      <p:sp>
        <p:nvSpPr>
          <p:cNvPr id="23" name="TextBox 22"/>
          <p:cNvSpPr txBox="1"/>
          <p:nvPr/>
        </p:nvSpPr>
        <p:spPr>
          <a:xfrm>
            <a:off x="658368" y="5212079"/>
            <a:ext cx="10881360" cy="365760"/>
          </a:xfrm>
          <a:prstGeom prst="rect">
            <a:avLst/>
          </a:prstGeom>
          <a:noFill/>
        </p:spPr>
        <p:txBody>
          <a:bodyPr wrap="square">
            <a:spAutoFit/>
          </a:bodyPr>
          <a:lstStyle/>
          <a:p>
            <a:r>
              <a:rPr sz="1200" b="0" i="1">
                <a:solidFill>
                  <a:srgbClr val="595959"/>
                </a:solidFill>
                <a:latin typeface="Arial"/>
              </a:rPr>
              <a:t>Built as an example for the product Progressa uses; it names no real product.</a:t>
            </a:r>
          </a:p>
        </p:txBody>
      </p:sp>
      <p:sp>
        <p:nvSpPr>
          <p:cNvPr id="24" name="TextBox 2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Ask every vendor to show the product against the published specification, requirement by requirement, and check whether GovStack lists it and at which compliance level.</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the specification's requirements into a vendor questionnaire.</a:t>
            </a:r>
          </a:p>
          <a:p>
            <a:pPr algn="l">
              <a:spcAft>
                <a:spcPts val="400"/>
              </a:spcAft>
            </a:pPr>
            <a:r>
              <a:rPr sz="1800" b="0" i="0">
                <a:solidFill>
                  <a:srgbClr val="595959"/>
                </a:solidFill>
                <a:latin typeface="Arial"/>
              </a:rPr>
              <a:t>The prompt in the companion material gives you a questionnaire for vendors with one row for each requirement and the evidence to ask for under it.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default edition — sections 6.1 to 6.3, 7.2 and 8.1 to 8.3</a:t>
            </a:r>
          </a:p>
          <a:p>
            <a:pPr>
              <a:spcAft>
                <a:spcPts val="1200"/>
              </a:spcAft>
            </a:pPr>
            <a:r>
              <a:rPr sz="1700" b="0" i="0">
                <a:solidFill>
                  <a:srgbClr val="1A1A1A"/>
                </a:solidFill>
                <a:latin typeface="Arial"/>
              </a:rPr>
              <a:t>•  GovStack testing application; GovStack website pages 'How is Compliance Measured?' and 'How to Submit Software?'</a:t>
            </a:r>
          </a:p>
          <a:p>
            <a:pPr>
              <a:spcAft>
                <a:spcPts val="1200"/>
              </a:spcAft>
            </a:pPr>
            <a:r>
              <a:rPr sz="1700" b="0" i="0">
                <a:solidFill>
                  <a:srgbClr val="1A1A1A"/>
                </a:solidFill>
                <a:latin typeface="Arial"/>
              </a:rPr>
              <a:t>•  GovStack Architecture specification, edition 2.1.0 — section 5.5.4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Generating the registration service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Describe your registration in the specification's terms, and an AI assistant drafts the service description that sets the block up, which you then import, test and correct.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registration of a learner is written today in a law, a circular and a paper form.</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Before any product can carry it, someone has to restate it in the block's own terms.</a:t>
            </a:r>
          </a:p>
          <a:p>
            <a:pPr>
              <a:spcAft>
                <a:spcPts val="800"/>
              </a:spcAft>
            </a:pPr>
            <a:r>
              <a:rPr sz="1700" b="0" i="0">
                <a:solidFill>
                  <a:srgbClr val="595959"/>
                </a:solidFill>
                <a:latin typeface="Arial"/>
              </a:rPr>
              <a:t>An AI assistant can draft that restatement in an afternoon.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specification's terms</a:t>
            </a:r>
          </a:p>
        </p:txBody>
      </p:sp>
      <p:sp>
        <p:nvSpPr>
          <p:cNvPr id="4" name="TextBox 3"/>
          <p:cNvSpPr txBox="1"/>
          <p:nvPr/>
        </p:nvSpPr>
        <p:spPr>
          <a:xfrm>
            <a:off x="658368" y="1463040"/>
            <a:ext cx="10984687" cy="640080"/>
          </a:xfrm>
          <a:prstGeom prst="rect">
            <a:avLst/>
          </a:prstGeom>
          <a:noFill/>
        </p:spPr>
        <p:txBody>
          <a:bodyPr wrap="square">
            <a:spAutoFit/>
          </a:bodyPr>
          <a:lstStyle/>
          <a:p>
            <a:pPr>
              <a:spcAft>
                <a:spcPts val="300"/>
              </a:spcAft>
            </a:pPr>
            <a:r>
              <a:rPr sz="1900" b="1" i="0">
                <a:solidFill>
                  <a:srgbClr val="1A1A1A"/>
                </a:solidFill>
                <a:latin typeface="Arial"/>
              </a:rPr>
              <a:t>Service</a:t>
            </a:r>
          </a:p>
          <a:p>
            <a:pPr>
              <a:spcAft>
                <a:spcPts val="300"/>
              </a:spcAft>
            </a:pPr>
            <a:r>
              <a:rPr sz="1550" b="0" i="0">
                <a:solidFill>
                  <a:srgbClr val="595959"/>
                </a:solidFill>
                <a:latin typeface="Arial"/>
              </a:rPr>
              <a:t>A name, holding one or more registrations.</a:t>
            </a:r>
          </a:p>
        </p:txBody>
      </p:sp>
      <p:sp>
        <p:nvSpPr>
          <p:cNvPr id="5" name="Rectangle 4"/>
          <p:cNvSpPr/>
          <p:nvPr/>
        </p:nvSpPr>
        <p:spPr>
          <a:xfrm>
            <a:off x="621792" y="21076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148840"/>
            <a:ext cx="10984687" cy="640080"/>
          </a:xfrm>
          <a:prstGeom prst="rect">
            <a:avLst/>
          </a:prstGeom>
          <a:noFill/>
        </p:spPr>
        <p:txBody>
          <a:bodyPr wrap="square">
            <a:spAutoFit/>
          </a:bodyPr>
          <a:lstStyle/>
          <a:p>
            <a:pPr>
              <a:spcAft>
                <a:spcPts val="300"/>
              </a:spcAft>
            </a:pPr>
            <a:r>
              <a:rPr sz="1900" b="1" i="0">
                <a:solidFill>
                  <a:srgbClr val="1A1A1A"/>
                </a:solidFill>
                <a:latin typeface="Arial"/>
              </a:rPr>
              <a:t>Registration</a:t>
            </a:r>
          </a:p>
          <a:p>
            <a:pPr>
              <a:spcAft>
                <a:spcPts val="300"/>
              </a:spcAft>
            </a:pPr>
            <a:r>
              <a:rPr sz="1550" b="0" i="0">
                <a:solidFill>
                  <a:srgbClr val="595959"/>
                </a:solidFill>
                <a:latin typeface="Arial"/>
              </a:rPr>
              <a:t>Its name and the entity in charge.</a:t>
            </a:r>
          </a:p>
        </p:txBody>
      </p:sp>
      <p:sp>
        <p:nvSpPr>
          <p:cNvPr id="7" name="Rectangle 6"/>
          <p:cNvSpPr/>
          <p:nvPr/>
        </p:nvSpPr>
        <p:spPr>
          <a:xfrm>
            <a:off x="621792" y="2793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834640"/>
            <a:ext cx="10984687" cy="640080"/>
          </a:xfrm>
          <a:prstGeom prst="rect">
            <a:avLst/>
          </a:prstGeom>
          <a:noFill/>
        </p:spPr>
        <p:txBody>
          <a:bodyPr wrap="square">
            <a:spAutoFit/>
          </a:bodyPr>
          <a:lstStyle/>
          <a:p>
            <a:pPr>
              <a:spcAft>
                <a:spcPts val="300"/>
              </a:spcAft>
            </a:pPr>
            <a:r>
              <a:rPr sz="1900" b="1" i="0">
                <a:solidFill>
                  <a:srgbClr val="1A1A1A"/>
                </a:solidFill>
                <a:latin typeface="Arial"/>
              </a:rPr>
              <a:t>Subjects and determinants</a:t>
            </a:r>
          </a:p>
          <a:p>
            <a:pPr>
              <a:spcAft>
                <a:spcPts val="300"/>
              </a:spcAft>
            </a:pPr>
            <a:r>
              <a:rPr sz="1550" b="0" i="0">
                <a:solidFill>
                  <a:srgbClr val="595959"/>
                </a:solidFill>
                <a:latin typeface="Arial"/>
              </a:rPr>
              <a:t>Who must register, and what changes the requirements.</a:t>
            </a:r>
          </a:p>
        </p:txBody>
      </p:sp>
      <p:sp>
        <p:nvSpPr>
          <p:cNvPr id="9" name="Rectangle 8"/>
          <p:cNvSpPr/>
          <p:nvPr/>
        </p:nvSpPr>
        <p:spPr>
          <a:xfrm>
            <a:off x="621792" y="3479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520440"/>
            <a:ext cx="10984687" cy="640080"/>
          </a:xfrm>
          <a:prstGeom prst="rect">
            <a:avLst/>
          </a:prstGeom>
          <a:noFill/>
        </p:spPr>
        <p:txBody>
          <a:bodyPr wrap="square">
            <a:spAutoFit/>
          </a:bodyPr>
          <a:lstStyle/>
          <a:p>
            <a:pPr>
              <a:spcAft>
                <a:spcPts val="300"/>
              </a:spcAft>
            </a:pPr>
            <a:r>
              <a:rPr sz="1900" b="1" i="0">
                <a:solidFill>
                  <a:srgbClr val="1A1A1A"/>
                </a:solidFill>
                <a:latin typeface="Arial"/>
              </a:rPr>
              <a:t>Result</a:t>
            </a:r>
          </a:p>
          <a:p>
            <a:pPr>
              <a:spcAft>
                <a:spcPts val="300"/>
              </a:spcAft>
            </a:pPr>
            <a:r>
              <a:rPr sz="1550" b="0" i="0">
                <a:solidFill>
                  <a:srgbClr val="595959"/>
                </a:solidFill>
                <a:latin typeface="Arial"/>
              </a:rPr>
              <a:t>The proof the applicant receives.</a:t>
            </a:r>
          </a:p>
        </p:txBody>
      </p:sp>
      <p:sp>
        <p:nvSpPr>
          <p:cNvPr id="11" name="Rectangle 10"/>
          <p:cNvSpPr/>
          <p:nvPr/>
        </p:nvSpPr>
        <p:spPr>
          <a:xfrm>
            <a:off x="621792" y="41650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206240"/>
            <a:ext cx="10984687" cy="640080"/>
          </a:xfrm>
          <a:prstGeom prst="rect">
            <a:avLst/>
          </a:prstGeom>
          <a:noFill/>
        </p:spPr>
        <p:txBody>
          <a:bodyPr wrap="square">
            <a:spAutoFit/>
          </a:bodyPr>
          <a:lstStyle/>
          <a:p>
            <a:pPr>
              <a:spcAft>
                <a:spcPts val="300"/>
              </a:spcAft>
            </a:pPr>
            <a:r>
              <a:rPr sz="1900" b="1" i="0">
                <a:solidFill>
                  <a:srgbClr val="1A1A1A"/>
                </a:solidFill>
                <a:latin typeface="Arial"/>
              </a:rPr>
              <a:t>Requirements</a:t>
            </a:r>
          </a:p>
          <a:p>
            <a:pPr>
              <a:spcAft>
                <a:spcPts val="300"/>
              </a:spcAft>
            </a:pPr>
            <a:r>
              <a:rPr sz="1550" b="0" i="0">
                <a:solidFill>
                  <a:srgbClr val="595959"/>
                </a:solidFill>
                <a:latin typeface="Arial"/>
              </a:rPr>
              <a:t>The documents and the data.</a:t>
            </a:r>
          </a:p>
        </p:txBody>
      </p:sp>
      <p:sp>
        <p:nvSpPr>
          <p:cNvPr id="13" name="Rectangle 12"/>
          <p:cNvSpPr/>
          <p:nvPr/>
        </p:nvSpPr>
        <p:spPr>
          <a:xfrm>
            <a:off x="621792" y="4850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892040"/>
            <a:ext cx="10984687" cy="640080"/>
          </a:xfrm>
          <a:prstGeom prst="rect">
            <a:avLst/>
          </a:prstGeom>
          <a:noFill/>
        </p:spPr>
        <p:txBody>
          <a:bodyPr wrap="square">
            <a:spAutoFit/>
          </a:bodyPr>
          <a:lstStyle/>
          <a:p>
            <a:pPr>
              <a:spcAft>
                <a:spcPts val="300"/>
              </a:spcAft>
            </a:pPr>
            <a:r>
              <a:rPr sz="1900" b="1" i="0">
                <a:solidFill>
                  <a:srgbClr val="1A1A1A"/>
                </a:solidFill>
                <a:latin typeface="Arial"/>
              </a:rPr>
              <a:t>Screens and fields</a:t>
            </a:r>
          </a:p>
          <a:p>
            <a:pPr>
              <a:spcAft>
                <a:spcPts val="300"/>
              </a:spcAft>
            </a:pPr>
            <a:r>
              <a:rPr sz="1550" b="0" i="0">
                <a:solidFill>
                  <a:srgbClr val="595959"/>
                </a:solidFill>
                <a:latin typeface="Arial"/>
              </a:rPr>
              <a:t>What the applicant sees, in order.</a:t>
            </a:r>
          </a:p>
        </p:txBody>
      </p:sp>
      <p:sp>
        <p:nvSpPr>
          <p:cNvPr id="15" name="TextBox 14"/>
          <p:cNvSpPr txBox="1"/>
          <p:nvPr/>
        </p:nvSpPr>
        <p:spPr>
          <a:xfrm>
            <a:off x="658368" y="5687568"/>
            <a:ext cx="10881360" cy="548640"/>
          </a:xfrm>
          <a:prstGeom prst="rect">
            <a:avLst/>
          </a:prstGeom>
          <a:noFill/>
        </p:spPr>
        <p:txBody>
          <a:bodyPr wrap="square">
            <a:spAutoFit/>
          </a:bodyPr>
          <a:lstStyle/>
          <a:p>
            <a:r>
              <a:rPr sz="1550" b="1" i="0">
                <a:solidFill>
                  <a:srgbClr val="006E96"/>
                </a:solidFill>
                <a:latin typeface="Arial"/>
              </a:rPr>
              <a:t>A shared language: the officer who knows the procedure and the analyst who sets up the product mean the same thing by each word.</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learner registration, in those terms</a:t>
            </a:r>
          </a:p>
        </p:txBody>
      </p:sp>
      <p:sp>
        <p:nvSpPr>
          <p:cNvPr id="4" name="TextBox 3"/>
          <p:cNvSpPr txBox="1"/>
          <p:nvPr/>
        </p:nvSpPr>
        <p:spPr>
          <a:xfrm>
            <a:off x="658368" y="1463040"/>
            <a:ext cx="10984687" cy="813815"/>
          </a:xfrm>
          <a:prstGeom prst="rect">
            <a:avLst/>
          </a:prstGeom>
          <a:noFill/>
        </p:spPr>
        <p:txBody>
          <a:bodyPr wrap="square">
            <a:spAutoFit/>
          </a:bodyPr>
          <a:lstStyle/>
          <a:p>
            <a:pPr>
              <a:spcAft>
                <a:spcPts val="300"/>
              </a:spcAft>
            </a:pPr>
            <a:r>
              <a:rPr sz="1900" b="1" i="0">
                <a:solidFill>
                  <a:srgbClr val="1A1A1A"/>
                </a:solidFill>
                <a:latin typeface="Arial"/>
              </a:rPr>
              <a:t>One registration</a:t>
            </a:r>
          </a:p>
          <a:p>
            <a:pPr>
              <a:spcAft>
                <a:spcPts val="300"/>
              </a:spcAft>
            </a:pPr>
            <a:r>
              <a:rPr sz="1550" b="0" i="0">
                <a:solidFill>
                  <a:srgbClr val="595959"/>
                </a:solidFill>
                <a:latin typeface="Arial"/>
              </a:rPr>
              <a:t>Entity in charge: PLR.</a:t>
            </a:r>
          </a:p>
        </p:txBody>
      </p:sp>
      <p:sp>
        <p:nvSpPr>
          <p:cNvPr id="5" name="Rectangle 4"/>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22576"/>
            <a:ext cx="10984687" cy="813815"/>
          </a:xfrm>
          <a:prstGeom prst="rect">
            <a:avLst/>
          </a:prstGeom>
          <a:noFill/>
        </p:spPr>
        <p:txBody>
          <a:bodyPr wrap="square">
            <a:spAutoFit/>
          </a:bodyPr>
          <a:lstStyle/>
          <a:p>
            <a:pPr>
              <a:spcAft>
                <a:spcPts val="300"/>
              </a:spcAft>
            </a:pPr>
            <a:r>
              <a:rPr sz="1900" b="1" i="0">
                <a:solidFill>
                  <a:srgbClr val="1A1A1A"/>
                </a:solidFill>
                <a:latin typeface="Arial"/>
              </a:rPr>
              <a:t>Determinant</a:t>
            </a:r>
          </a:p>
          <a:p>
            <a:pPr>
              <a:spcAft>
                <a:spcPts val="300"/>
              </a:spcAft>
            </a:pPr>
            <a:r>
              <a:rPr sz="1550" b="0" i="0">
                <a:solidFill>
                  <a:srgbClr val="595959"/>
                </a:solidFill>
                <a:latin typeface="Arial"/>
              </a:rPr>
              <a:t>The learner transfers from another school — adds a required document, the transfer letter.</a:t>
            </a:r>
          </a:p>
        </p:txBody>
      </p:sp>
      <p:sp>
        <p:nvSpPr>
          <p:cNvPr id="7" name="Rectangle 6"/>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82111"/>
            <a:ext cx="10984687" cy="813815"/>
          </a:xfrm>
          <a:prstGeom prst="rect">
            <a:avLst/>
          </a:prstGeom>
          <a:noFill/>
        </p:spPr>
        <p:txBody>
          <a:bodyPr wrap="square">
            <a:spAutoFit/>
          </a:bodyPr>
          <a:lstStyle/>
          <a:p>
            <a:pPr>
              <a:spcAft>
                <a:spcPts val="300"/>
              </a:spcAft>
            </a:pPr>
            <a:r>
              <a:rPr sz="1900" b="1" i="0">
                <a:solidFill>
                  <a:srgbClr val="1A1A1A"/>
                </a:solidFill>
                <a:latin typeface="Arial"/>
              </a:rPr>
              <a:t>Data</a:t>
            </a:r>
          </a:p>
          <a:p>
            <a:pPr>
              <a:spcAft>
                <a:spcPts val="300"/>
              </a:spcAft>
            </a:pPr>
            <a:r>
              <a:rPr sz="1550" b="0" i="0">
                <a:solidFill>
                  <a:srgbClr val="595959"/>
                </a:solidFill>
                <a:latin typeface="Arial"/>
              </a:rPr>
              <a:t>Names, date of birth, school, grade.</a:t>
            </a:r>
          </a:p>
        </p:txBody>
      </p:sp>
      <p:sp>
        <p:nvSpPr>
          <p:cNvPr id="9" name="Rectangle 8"/>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41648"/>
            <a:ext cx="10984687" cy="813815"/>
          </a:xfrm>
          <a:prstGeom prst="rect">
            <a:avLst/>
          </a:prstGeom>
          <a:noFill/>
        </p:spPr>
        <p:txBody>
          <a:bodyPr wrap="square">
            <a:spAutoFit/>
          </a:bodyPr>
          <a:lstStyle/>
          <a:p>
            <a:pPr>
              <a:spcAft>
                <a:spcPts val="300"/>
              </a:spcAft>
            </a:pPr>
            <a:r>
              <a:rPr sz="1900" b="1" i="0">
                <a:solidFill>
                  <a:srgbClr val="1A1A1A"/>
                </a:solidFill>
                <a:latin typeface="Arial"/>
              </a:rPr>
              <a:t>Result</a:t>
            </a:r>
          </a:p>
          <a:p>
            <a:pPr>
              <a:spcAft>
                <a:spcPts val="300"/>
              </a:spcAft>
            </a:pPr>
            <a:r>
              <a:rPr sz="1550" b="0" i="0">
                <a:solidFill>
                  <a:srgbClr val="595959"/>
                </a:solidFill>
                <a:latin typeface="Arial"/>
              </a:rPr>
              <a:t>A registration confirmation with the learner's register number.</a:t>
            </a:r>
          </a:p>
        </p:txBody>
      </p:sp>
      <p:sp>
        <p:nvSpPr>
          <p:cNvPr id="11" name="Rectangle 10"/>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01183"/>
            <a:ext cx="10984687" cy="813815"/>
          </a:xfrm>
          <a:prstGeom prst="rect">
            <a:avLst/>
          </a:prstGeom>
          <a:noFill/>
        </p:spPr>
        <p:txBody>
          <a:bodyPr wrap="square">
            <a:spAutoFit/>
          </a:bodyPr>
          <a:lstStyle/>
          <a:p>
            <a:pPr>
              <a:spcAft>
                <a:spcPts val="300"/>
              </a:spcAft>
            </a:pPr>
            <a:r>
              <a:rPr sz="1900" b="1" i="0">
                <a:solidFill>
                  <a:srgbClr val="1A1A1A"/>
                </a:solidFill>
                <a:latin typeface="Arial"/>
              </a:rPr>
              <a:t>Screens</a:t>
            </a:r>
          </a:p>
          <a:p>
            <a:pPr>
              <a:spcAft>
                <a:spcPts val="300"/>
              </a:spcAft>
            </a:pPr>
            <a:r>
              <a:rPr sz="1550" b="0" i="0">
                <a:solidFill>
                  <a:srgbClr val="595959"/>
                </a:solidFill>
                <a:latin typeface="Arial"/>
              </a:rPr>
              <a:t>Guide, applicant form, documents, send — the payment screen switched off, as there is no fee.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file is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specification requires that a full service description can be exported and imported</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It publishes no operation to create or change a service, and does not define the file's format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So the file names the product and the format it is written in</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Give the assistant the format as the product documents it, with an exported example — so that it does not invent one.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Import, test, correct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264920"/>
          </a:xfrm>
          <a:prstGeom prst="rect">
            <a:avLst/>
          </a:prstGeom>
          <a:noFill/>
        </p:spPr>
        <p:txBody>
          <a:bodyPr wrap="square">
            <a:spAutoFit/>
          </a:bodyPr>
          <a:lstStyle/>
          <a:p>
            <a:pPr>
              <a:spcAft>
                <a:spcPts val="300"/>
              </a:spcAft>
            </a:pPr>
            <a:r>
              <a:rPr sz="1900" b="1" i="0">
                <a:solidFill>
                  <a:srgbClr val="1A1A1A"/>
                </a:solidFill>
                <a:latin typeface="Arial"/>
              </a:rPr>
              <a:t>Import the draft into a test installation</a:t>
            </a:r>
          </a:p>
        </p:txBody>
      </p:sp>
      <p:sp>
        <p:nvSpPr>
          <p:cNvPr id="6" name="Rectangle 5"/>
          <p:cNvSpPr/>
          <p:nvPr/>
        </p:nvSpPr>
        <p:spPr>
          <a:xfrm>
            <a:off x="621792" y="27325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194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73680"/>
            <a:ext cx="10527487" cy="1264920"/>
          </a:xfrm>
          <a:prstGeom prst="rect">
            <a:avLst/>
          </a:prstGeom>
          <a:noFill/>
        </p:spPr>
        <p:txBody>
          <a:bodyPr wrap="square">
            <a:spAutoFit/>
          </a:bodyPr>
          <a:lstStyle/>
          <a:p>
            <a:pPr>
              <a:spcAft>
                <a:spcPts val="300"/>
              </a:spcAft>
            </a:pPr>
            <a:r>
              <a:rPr sz="1900" b="1" i="0">
                <a:solidFill>
                  <a:srgbClr val="1A1A1A"/>
                </a:solidFill>
                <a:latin typeface="Arial"/>
              </a:rPr>
              <a:t>The block lists the service, with its screens in order</a:t>
            </a:r>
          </a:p>
        </p:txBody>
      </p:sp>
      <p:sp>
        <p:nvSpPr>
          <p:cNvPr id="9" name="Rectangle 8"/>
          <p:cNvSpPr/>
          <p:nvPr/>
        </p:nvSpPr>
        <p:spPr>
          <a:xfrm>
            <a:off x="621792" y="40431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130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084320"/>
            <a:ext cx="10527487" cy="1264920"/>
          </a:xfrm>
          <a:prstGeom prst="rect">
            <a:avLst/>
          </a:prstGeom>
          <a:noFill/>
        </p:spPr>
        <p:txBody>
          <a:bodyPr wrap="square">
            <a:spAutoFit/>
          </a:bodyPr>
          <a:lstStyle/>
          <a:p>
            <a:pPr>
              <a:spcAft>
                <a:spcPts val="300"/>
              </a:spcAft>
            </a:pPr>
            <a:r>
              <a:rPr sz="1900" b="1" i="0">
                <a:solidFill>
                  <a:srgbClr val="1A1A1A"/>
                </a:solidFill>
                <a:latin typeface="Arial"/>
              </a:rPr>
              <a:t>Confirm or correct every marked assumption</a:t>
            </a:r>
          </a:p>
        </p:txBody>
      </p:sp>
      <p:sp>
        <p:nvSpPr>
          <p:cNvPr id="12" name="TextBox 11"/>
          <p:cNvSpPr txBox="1"/>
          <p:nvPr/>
        </p:nvSpPr>
        <p:spPr>
          <a:xfrm>
            <a:off x="658368" y="5577840"/>
            <a:ext cx="10881360" cy="365760"/>
          </a:xfrm>
          <a:prstGeom prst="rect">
            <a:avLst/>
          </a:prstGeom>
          <a:noFill/>
        </p:spPr>
        <p:txBody>
          <a:bodyPr wrap="square">
            <a:spAutoFit/>
          </a:bodyPr>
          <a:lstStyle/>
          <a:p>
            <a:r>
              <a:rPr sz="1200" b="0" i="1">
                <a:solidFill>
                  <a:srgbClr val="595959"/>
                </a:solidFill>
                <a:latin typeface="Arial"/>
              </a:rPr>
              <a:t>Progressa's description is a worked example.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Describe your registration in the specification's terms, and an AI assistant drafts the service description that sets the block up, which you then import, test and correct.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service description from your registration brief.</a:t>
            </a:r>
          </a:p>
          <a:p>
            <a:pPr algn="l">
              <a:spcAft>
                <a:spcPts val="400"/>
              </a:spcAft>
            </a:pPr>
            <a:r>
              <a:rPr sz="1800" b="0" i="0">
                <a:solidFill>
                  <a:srgbClr val="595959"/>
                </a:solidFill>
                <a:latin typeface="Arial"/>
              </a:rPr>
              <a:t>The prompt in the companion material gives you a draft service description in the product's named format, with every assumption marked for confirmation.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default edition — sections 6.3.1.1, 6.3.1.3 to 6.3.1.6, 6.3.1.8, 6.3.1.10, 6.3.2.1, 6.3.2.2, 6.3.2.10 and 8.3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Generating the registration service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Checks before the officer decides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Three kinds of check stop a bad application before it reaches the officer: rules on each field, a comparison with the identity authority's record, and a test of completeness on sending.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registrar's time is the scarcest thing in a registration office.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application that arrives with a wrong date, a wrong name or a missing document costs that time twice.</a:t>
            </a:r>
          </a:p>
          <a:p>
            <a:pPr>
              <a:spcAft>
                <a:spcPts val="800"/>
              </a:spcAft>
            </a:pPr>
            <a:r>
              <a:rPr sz="1700" b="0" i="0">
                <a:solidFill>
                  <a:srgbClr val="595959"/>
                </a:solidFill>
                <a:latin typeface="Arial"/>
              </a:rPr>
              <a:t>Three kinds of check catch those faults before the file reaches the desk.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Check one: rules on each field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Required or optional; numbers, ranges, patterns; dates earlier, later, older than an age; file size and type.</a:t>
            </a:r>
          </a:p>
          <a:p>
            <a:pPr>
              <a:spcAft>
                <a:spcPts val="1200"/>
              </a:spcAft>
            </a:pPr>
            <a:r>
              <a:rPr sz="2000" b="0" i="0">
                <a:solidFill>
                  <a:srgbClr val="1A1A1A"/>
                </a:solidFill>
                <a:latin typeface="Arial"/>
              </a:rPr>
              <a:t>Progressa: a date of birth that makes the learner two years old is refused — the rule asks for three or older.</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Rules like these cost the analyst minutes and save the registrar hours.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Check two: the identity record, with the person present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person signs in with PNIA and approves what is shared</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PNIA releases the name, and an identifier made for this one service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form compares the typed name with the released name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service keeps PNIA's identifier for it — never the national number.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is not published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check from server to server, by a known identifier, is required of the block — but no interface for it is published.</a:t>
            </a:r>
          </a:p>
          <a:p>
            <a:pPr>
              <a:spcAft>
                <a:spcPts val="1200"/>
              </a:spcAft>
            </a:pPr>
            <a:r>
              <a:rPr sz="2000" b="0" i="0">
                <a:solidFill>
                  <a:srgbClr val="1A1A1A"/>
                </a:solidFill>
                <a:latin typeface="Arial"/>
              </a:rPr>
              <a:t>PNIA's one service on Linkup reads a person by national number: a Progressa contract, not a GovStack interface.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Wherever it appears, it is named as Progressa's own contract.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Check three: complete before sending</a:t>
            </a:r>
          </a:p>
        </p:txBody>
      </p:sp>
      <p:sp>
        <p:nvSpPr>
          <p:cNvPr id="4" name="TextBox 3"/>
          <p:cNvSpPr txBox="1"/>
          <p:nvPr/>
        </p:nvSpPr>
        <p:spPr>
          <a:xfrm>
            <a:off x="658368" y="1463040"/>
            <a:ext cx="10984687" cy="1371600"/>
          </a:xfrm>
          <a:prstGeom prst="rect">
            <a:avLst/>
          </a:prstGeom>
          <a:noFill/>
        </p:spPr>
        <p:txBody>
          <a:bodyPr wrap="square">
            <a:spAutoFit/>
          </a:bodyPr>
          <a:lstStyle/>
          <a:p>
            <a:pPr>
              <a:spcAft>
                <a:spcPts val="300"/>
              </a:spcAft>
            </a:pPr>
            <a:r>
              <a:rPr sz="1900" b="1" i="0">
                <a:solidFill>
                  <a:srgbClr val="1A1A1A"/>
                </a:solidFill>
                <a:latin typeface="Arial"/>
              </a:rPr>
              <a:t>Every required field filled, every required document uploaded — or no sending, with a clear message</a:t>
            </a:r>
          </a:p>
        </p:txBody>
      </p:sp>
      <p:sp>
        <p:nvSpPr>
          <p:cNvPr id="5" name="Rectangle 4"/>
          <p:cNvSpPr/>
          <p:nvPr/>
        </p:nvSpPr>
        <p:spPr>
          <a:xfrm>
            <a:off x="621792" y="2839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80360"/>
            <a:ext cx="10984687" cy="1371600"/>
          </a:xfrm>
          <a:prstGeom prst="rect">
            <a:avLst/>
          </a:prstGeom>
          <a:noFill/>
        </p:spPr>
        <p:txBody>
          <a:bodyPr wrap="square">
            <a:spAutoFit/>
          </a:bodyPr>
          <a:lstStyle/>
          <a:p>
            <a:pPr>
              <a:spcAft>
                <a:spcPts val="300"/>
              </a:spcAft>
            </a:pPr>
            <a:r>
              <a:rPr sz="1900" b="1" i="0">
                <a:solidFill>
                  <a:srgbClr val="1A1A1A"/>
                </a:solidFill>
                <a:latin typeface="Arial"/>
              </a:rPr>
              <a:t>Progressa: a transferring learner without the transfer letter cannot send</a:t>
            </a:r>
          </a:p>
        </p:txBody>
      </p:sp>
      <p:sp>
        <p:nvSpPr>
          <p:cNvPr id="7" name="TextBox 6"/>
          <p:cNvSpPr txBox="1"/>
          <p:nvPr/>
        </p:nvSpPr>
        <p:spPr>
          <a:xfrm>
            <a:off x="658368" y="4480560"/>
            <a:ext cx="10881360" cy="365760"/>
          </a:xfrm>
          <a:prstGeom prst="rect">
            <a:avLst/>
          </a:prstGeom>
          <a:noFill/>
        </p:spPr>
        <p:txBody>
          <a:bodyPr wrap="square">
            <a:spAutoFit/>
          </a:bodyPr>
          <a:lstStyle/>
          <a:p>
            <a:r>
              <a:rPr sz="1200" b="0" i="1">
                <a:solidFill>
                  <a:srgbClr val="595959"/>
                </a:solidFill>
                <a:latin typeface="Arial"/>
              </a:rPr>
              <a:t>Walkthrough: what a good run shows.</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Three kinds of check stop a bad application before it reaches the officer: rules on each field, a comparison with the identity authority's record, and a test of completeness on sending.</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Derive the validation rules and the test applications.</a:t>
            </a:r>
          </a:p>
          <a:p>
            <a:pPr algn="l">
              <a:spcAft>
                <a:spcPts val="400"/>
              </a:spcAft>
            </a:pPr>
            <a:r>
              <a:rPr sz="1800" b="0" i="0">
                <a:solidFill>
                  <a:srgbClr val="595959"/>
                </a:solidFill>
                <a:latin typeface="Arial"/>
              </a:rPr>
              <a:t>The prompt in the companion material gives you a table of validation rules and a set of test applications that should pass and that should fail.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default edition — sections 6.3.2.7 and 6.3.3.1 to 6.3.3.3</a:t>
            </a:r>
          </a:p>
          <a:p>
            <a:pPr>
              <a:spcAft>
                <a:spcPts val="1200"/>
              </a:spcAft>
            </a:pPr>
            <a:r>
              <a:rPr sz="1700" b="0" i="0">
                <a:solidFill>
                  <a:srgbClr val="1A1A1A"/>
                </a:solidFill>
                <a:latin typeface="Arial"/>
              </a:rPr>
              <a:t>•  GovStack Identity Building Block specification, Version 2.0 — sections 6.2, 7.2.1, 8 and 9.1.1</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Checks before the officer decides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officer decides, and the record is written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registrar approves, rejects or sends back each application, and only on approval does the block write the record to the register, in a sequence the specifications leave you to define and test.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Software can check an application. It cannot take responsibility for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In registration, a named officer decides, and the register is written only after that decision.</a:t>
            </a:r>
          </a:p>
          <a:p>
            <a:pPr>
              <a:spcAft>
                <a:spcPts val="800"/>
              </a:spcAft>
            </a:pPr>
            <a:r>
              <a:rPr sz="1700" b="0" i="0">
                <a:solidFill>
                  <a:srgbClr val="595959"/>
                </a:solidFill>
                <a:latin typeface="Arial"/>
              </a:rPr>
              <a:t>Getting this order right is what makes the record worth trusting.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decision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Approve, reject, or send back for correction</a:t>
            </a:r>
          </a:p>
          <a:p>
            <a:pPr>
              <a:spcAft>
                <a:spcPts val="300"/>
              </a:spcAft>
            </a:pPr>
            <a:r>
              <a:rPr sz="1550" b="0" i="0">
                <a:solidFill>
                  <a:srgbClr val="595959"/>
                </a:solidFill>
                <a:latin typeface="Arial"/>
              </a:rPr>
              <a:t>With the wrong field marked.</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Each processing role has a list screen and a decision screen</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For each status, the analyst sets where the file goes next</a:t>
            </a:r>
          </a:p>
          <a:p>
            <a:pPr>
              <a:spcAft>
                <a:spcPts val="300"/>
              </a:spcAft>
            </a:pPr>
            <a:r>
              <a:rPr sz="1550" b="0" i="0">
                <a:solidFill>
                  <a:srgbClr val="595959"/>
                </a:solidFill>
                <a:latin typeface="Arial"/>
              </a:rPr>
              <a:t>To another role, back to the applicant, or to the end.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flow</a:t>
            </a:r>
          </a:p>
        </p:txBody>
      </p:sp>
      <p:cxnSp>
        <p:nvCxnSpPr>
          <p:cNvPr id="4" name="Connector 3"/>
          <p:cNvCxnSpPr/>
          <p:nvPr/>
        </p:nvCxnSpPr>
        <p:spPr>
          <a:xfrm>
            <a:off x="3106674" y="3154680"/>
            <a:ext cx="338328"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29884" y="3154680"/>
            <a:ext cx="338328"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753094" y="3154680"/>
            <a:ext cx="338328"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828800"/>
            <a:ext cx="2411730" cy="26517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SENT</a:t>
            </a:r>
          </a:p>
          <a:p>
            <a:pPr algn="l">
              <a:spcAft>
                <a:spcPts val="300"/>
              </a:spcAft>
            </a:pPr>
            <a:r>
              <a:rPr sz="1400" b="0" i="0">
                <a:solidFill>
                  <a:srgbClr val="1A1A1A"/>
                </a:solidFill>
                <a:latin typeface="Arial"/>
              </a:rPr>
              <a:t>The application, as the parent sent it.</a:t>
            </a:r>
          </a:p>
        </p:txBody>
      </p:sp>
      <p:sp>
        <p:nvSpPr>
          <p:cNvPr id="8" name="Rounded Rectangle 7"/>
          <p:cNvSpPr/>
          <p:nvPr/>
        </p:nvSpPr>
        <p:spPr>
          <a:xfrm>
            <a:off x="3481578" y="1828800"/>
            <a:ext cx="2411730" cy="26517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AUTOMATED ROLE</a:t>
            </a:r>
          </a:p>
          <a:p>
            <a:pPr algn="l">
              <a:spcAft>
                <a:spcPts val="300"/>
              </a:spcAft>
            </a:pPr>
            <a:r>
              <a:rPr sz="1400" b="0" i="0">
                <a:solidFill>
                  <a:srgbClr val="1A1A1A"/>
                </a:solidFill>
                <a:latin typeface="Arial"/>
              </a:rPr>
              <a:t>Checks the file as sent. Decides nothing the law gives to the registrar.</a:t>
            </a:r>
          </a:p>
        </p:txBody>
      </p:sp>
      <p:sp>
        <p:nvSpPr>
          <p:cNvPr id="9" name="Rounded Rectangle 8"/>
          <p:cNvSpPr/>
          <p:nvPr/>
        </p:nvSpPr>
        <p:spPr>
          <a:xfrm>
            <a:off x="6304788" y="1828800"/>
            <a:ext cx="2411730" cy="265176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REGISTRAR OF PLR</a:t>
            </a:r>
          </a:p>
          <a:p>
            <a:pPr algn="l">
              <a:spcAft>
                <a:spcPts val="300"/>
              </a:spcAft>
            </a:pPr>
            <a:r>
              <a:rPr sz="1400" b="0" i="0">
                <a:solidFill>
                  <a:srgbClr val="FFFFFF"/>
                </a:solidFill>
                <a:latin typeface="Arial"/>
              </a:rPr>
              <a:t>A person: approves, rejects or sends back.</a:t>
            </a:r>
          </a:p>
        </p:txBody>
      </p:sp>
      <p:sp>
        <p:nvSpPr>
          <p:cNvPr id="10" name="Rounded Rectangle 9"/>
          <p:cNvSpPr/>
          <p:nvPr/>
        </p:nvSpPr>
        <p:spPr>
          <a:xfrm>
            <a:off x="9127998" y="1828800"/>
            <a:ext cx="2411730" cy="26517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AUTOMATED ROLE</a:t>
            </a:r>
          </a:p>
          <a:p>
            <a:pPr algn="l">
              <a:spcAft>
                <a:spcPts val="300"/>
              </a:spcAft>
            </a:pPr>
            <a:r>
              <a:rPr sz="1400" b="0" i="0">
                <a:solidFill>
                  <a:srgbClr val="1A1A1A"/>
                </a:solidFill>
                <a:latin typeface="Arial"/>
              </a:rPr>
              <a:t>On approval: writes the record and issues the confirmation.</a:t>
            </a:r>
          </a:p>
        </p:txBody>
      </p:sp>
      <p:sp>
        <p:nvSpPr>
          <p:cNvPr id="11" name="TextBox 10"/>
          <p:cNvSpPr txBox="1"/>
          <p:nvPr/>
        </p:nvSpPr>
        <p:spPr>
          <a:xfrm>
            <a:off x="658368" y="4800600"/>
            <a:ext cx="10881360" cy="548640"/>
          </a:xfrm>
          <a:prstGeom prst="rect">
            <a:avLst/>
          </a:prstGeom>
          <a:noFill/>
        </p:spPr>
        <p:txBody>
          <a:bodyPr wrap="square">
            <a:spAutoFit/>
          </a:bodyPr>
          <a:lstStyle/>
          <a:p>
            <a:r>
              <a:rPr sz="1550" b="1" i="0">
                <a:solidFill>
                  <a:srgbClr val="006E96"/>
                </a:solidFill>
                <a:latin typeface="Arial"/>
              </a:rPr>
              <a:t>A rejected file is closed, and nothing is written.</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write, and what nobody publishes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On approval, an action sends the record to the register, through the Information Mediator</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register accepts it through its create-or-update operation</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order between the two blocks is not published</a:t>
            </a:r>
          </a:p>
          <a:p>
            <a:pPr>
              <a:spcAft>
                <a:spcPts val="300"/>
              </a:spcAft>
            </a:pPr>
            <a:r>
              <a:rPr sz="1550" b="0" i="0">
                <a:solidFill>
                  <a:srgbClr val="595959"/>
                </a:solidFill>
                <a:latin typeface="Arial"/>
              </a:rPr>
              <a:t>You define it, and you test it.</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Write it down as a short agreement between the two owners — then test both outcomes.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record lands</a:t>
            </a:r>
          </a:p>
        </p:txBody>
      </p:sp>
      <p:sp>
        <p:nvSpPr>
          <p:cNvPr id="4" name="TextBox 3"/>
          <p:cNvSpPr txBox="1"/>
          <p:nvPr/>
        </p:nvSpPr>
        <p:spPr>
          <a:xfrm>
            <a:off x="658368" y="1463040"/>
            <a:ext cx="10984687" cy="1371600"/>
          </a:xfrm>
          <a:prstGeom prst="rect">
            <a:avLst/>
          </a:prstGeom>
          <a:noFill/>
        </p:spPr>
        <p:txBody>
          <a:bodyPr wrap="square">
            <a:spAutoFit/>
          </a:bodyPr>
          <a:lstStyle/>
          <a:p>
            <a:pPr>
              <a:spcAft>
                <a:spcPts val="300"/>
              </a:spcAft>
            </a:pPr>
            <a:r>
              <a:rPr sz="1900" b="1" i="0">
                <a:solidFill>
                  <a:srgbClr val="1A1A1A"/>
                </a:solidFill>
                <a:latin typeface="Arial"/>
              </a:rPr>
              <a:t>PLR: already a member of Linkup, with one enrolment service</a:t>
            </a:r>
          </a:p>
        </p:txBody>
      </p:sp>
      <p:sp>
        <p:nvSpPr>
          <p:cNvPr id="5" name="Rectangle 4"/>
          <p:cNvSpPr/>
          <p:nvPr/>
        </p:nvSpPr>
        <p:spPr>
          <a:xfrm>
            <a:off x="621792" y="2839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80360"/>
            <a:ext cx="10984687" cy="1371600"/>
          </a:xfrm>
          <a:prstGeom prst="rect">
            <a:avLst/>
          </a:prstGeom>
          <a:noFill/>
        </p:spPr>
        <p:txBody>
          <a:bodyPr wrap="square">
            <a:spAutoFit/>
          </a:bodyPr>
          <a:lstStyle/>
          <a:p>
            <a:pPr>
              <a:spcAft>
                <a:spcPts val="300"/>
              </a:spcAft>
            </a:pPr>
            <a:r>
              <a:rPr sz="1900" b="1" i="0">
                <a:solidFill>
                  <a:srgbClr val="1A1A1A"/>
                </a:solidFill>
                <a:latin typeface="Arial"/>
              </a:rPr>
              <a:t>This course sets up the authoritative learner register behind it — the register this service writes to</a:t>
            </a:r>
          </a:p>
        </p:txBody>
      </p:sp>
      <p:sp>
        <p:nvSpPr>
          <p:cNvPr id="7" name="TextBox 6"/>
          <p:cNvSpPr txBox="1"/>
          <p:nvPr/>
        </p:nvSpPr>
        <p:spPr>
          <a:xfrm>
            <a:off x="658368" y="4480560"/>
            <a:ext cx="10881360" cy="365760"/>
          </a:xfrm>
          <a:prstGeom prst="rect">
            <a:avLst/>
          </a:prstGeom>
          <a:noFill/>
        </p:spPr>
        <p:txBody>
          <a:bodyPr wrap="square">
            <a:spAutoFit/>
          </a:bodyPr>
          <a:lstStyle/>
          <a:p>
            <a:r>
              <a:rPr sz="1200" b="0" i="1">
                <a:solidFill>
                  <a:srgbClr val="595959"/>
                </a:solidFill>
                <a:latin typeface="Arial"/>
              </a:rPr>
              <a:t>Walkthrough: what a good run shows.</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 registrar approves, rejects or sends back each application, and only on approval does the block write the record to the register, in a sequence the specifications leave you to define and test.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the form to the register and write the test of the write.</a:t>
            </a:r>
          </a:p>
          <a:p>
            <a:pPr algn="l">
              <a:spcAft>
                <a:spcPts val="400"/>
              </a:spcAft>
            </a:pPr>
            <a:r>
              <a:rPr sz="1800" b="0" i="0">
                <a:solidFill>
                  <a:srgbClr val="595959"/>
                </a:solidFill>
                <a:latin typeface="Arial"/>
              </a:rPr>
              <a:t>The prompt in the companion material gives you a table mapping each form field to a register field, and the test sequence for the write.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default edition — sections 4.2, 5.1.4, 6.2.3, 6.3.2.3, 6.3.2.4, 6.3.2.7, 8.2 and 9.2.2</a:t>
            </a:r>
          </a:p>
          <a:p>
            <a:pPr>
              <a:spcAft>
                <a:spcPts val="1200"/>
              </a:spcAft>
            </a:pPr>
            <a:r>
              <a:rPr sz="1700" b="0" i="0">
                <a:solidFill>
                  <a:srgbClr val="1A1A1A"/>
                </a:solidFill>
                <a:latin typeface="Arial"/>
              </a:rPr>
              <a:t>•  GovStack Digital Registries Building Block specification, Version 3.0-alpha — requirement DRS-33 and section 8.1</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whole service as a description you can move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whole service is a description you can test, publish, export and import elsewhere, so a second ministry starts from yours and not from nothing.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second ministry that needs a registration service should not start from a blank screen.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If the first ministry kept its service as a description, the second can take it, change what differs and test it.</a:t>
            </a:r>
          </a:p>
          <a:p>
            <a:pPr>
              <a:spcAft>
                <a:spcPts val="800"/>
              </a:spcAft>
            </a:pPr>
            <a:r>
              <a:rPr sz="1700" b="0" i="0">
                <a:solidFill>
                  <a:srgbClr val="595959"/>
                </a:solidFill>
                <a:latin typeface="Arial"/>
              </a:rPr>
              <a:t>That is how a shared block pays back.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Test before anyone uses it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Preview each screen</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Preview the full service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Run the full service in a test installation</a:t>
            </a:r>
          </a:p>
          <a:p>
            <a:pPr>
              <a:spcAft>
                <a:spcPts val="300"/>
              </a:spcAft>
            </a:pPr>
            <a:r>
              <a:rPr sz="1550" b="0" i="0">
                <a:solidFill>
                  <a:srgbClr val="595959"/>
                </a:solidFill>
                <a:latin typeface="Arial"/>
              </a:rPr>
              <a:t>Before publishing it to the live one.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Nothing should reach a parent that has not been through that last step.</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Export, import, publish</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 service description holds at least the screens and fields, the process flow and the service settings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Settings that belong to one installation are set there, and do not travel</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Export and import are the product's own tools</a:t>
            </a:r>
          </a:p>
          <a:p>
            <a:pPr>
              <a:spcAft>
                <a:spcPts val="300"/>
              </a:spcAft>
            </a:pPr>
            <a:r>
              <a:rPr sz="1550" b="0" i="0">
                <a:solidFill>
                  <a:srgbClr val="595959"/>
                </a:solidFill>
                <a:latin typeface="Arial"/>
              </a:rPr>
              <a:t>No published operation does them.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Combine, and count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Several registrations can be combined in one service; a requirement shared by two is asked only once.</a:t>
            </a:r>
          </a:p>
          <a:p>
            <a:pPr>
              <a:spcAft>
                <a:spcPts val="1200"/>
              </a:spcAft>
            </a:pPr>
            <a:r>
              <a:rPr sz="2000" b="0" i="0">
                <a:solidFill>
                  <a:srgbClr val="1A1A1A"/>
                </a:solidFill>
                <a:latin typeface="Arial"/>
              </a:rPr>
              <a:t>The block's statistics count applications processed by operator, registration, service and date.</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Each service kept as a description is re-use waiting to happen.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service, moved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264920"/>
          </a:xfrm>
          <a:prstGeom prst="rect">
            <a:avLst/>
          </a:prstGeom>
          <a:noFill/>
        </p:spPr>
        <p:txBody>
          <a:bodyPr wrap="square">
            <a:spAutoFit/>
          </a:bodyPr>
          <a:lstStyle/>
          <a:p>
            <a:pPr>
              <a:spcAft>
                <a:spcPts val="300"/>
              </a:spcAft>
            </a:pPr>
            <a:r>
              <a:rPr sz="1900" b="1" i="0">
                <a:solidFill>
                  <a:srgbClr val="1A1A1A"/>
                </a:solidFill>
                <a:latin typeface="Arial"/>
              </a:rPr>
              <a:t>Exported from the first installation</a:t>
            </a:r>
          </a:p>
        </p:txBody>
      </p:sp>
      <p:sp>
        <p:nvSpPr>
          <p:cNvPr id="6" name="Rectangle 5"/>
          <p:cNvSpPr/>
          <p:nvPr/>
        </p:nvSpPr>
        <p:spPr>
          <a:xfrm>
            <a:off x="621792" y="27325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194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73680"/>
            <a:ext cx="10527487" cy="1264920"/>
          </a:xfrm>
          <a:prstGeom prst="rect">
            <a:avLst/>
          </a:prstGeom>
          <a:noFill/>
        </p:spPr>
        <p:txBody>
          <a:bodyPr wrap="square">
            <a:spAutoFit/>
          </a:bodyPr>
          <a:lstStyle/>
          <a:p>
            <a:pPr>
              <a:spcAft>
                <a:spcPts val="300"/>
              </a:spcAft>
            </a:pPr>
            <a:r>
              <a:rPr sz="1900" b="1" i="0">
                <a:solidFill>
                  <a:srgbClr val="1A1A1A"/>
                </a:solidFill>
                <a:latin typeface="Arial"/>
              </a:rPr>
              <a:t>Imported into a clean installation, and compared screen by screen</a:t>
            </a:r>
          </a:p>
        </p:txBody>
      </p:sp>
      <p:sp>
        <p:nvSpPr>
          <p:cNvPr id="9" name="Rectangle 8"/>
          <p:cNvSpPr/>
          <p:nvPr/>
        </p:nvSpPr>
        <p:spPr>
          <a:xfrm>
            <a:off x="621792" y="40431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130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084320"/>
            <a:ext cx="10527487" cy="1264920"/>
          </a:xfrm>
          <a:prstGeom prst="rect">
            <a:avLst/>
          </a:prstGeom>
          <a:noFill/>
        </p:spPr>
        <p:txBody>
          <a:bodyPr wrap="square">
            <a:spAutoFit/>
          </a:bodyPr>
          <a:lstStyle/>
          <a:p>
            <a:pPr>
              <a:spcAft>
                <a:spcPts val="300"/>
              </a:spcAft>
            </a:pPr>
            <a:r>
              <a:rPr sz="1900" b="1" i="0">
                <a:solidFill>
                  <a:srgbClr val="1A1A1A"/>
                </a:solidFill>
                <a:latin typeface="Arial"/>
              </a:rPr>
              <a:t>The number of applications processed read from the block's statistics</a:t>
            </a:r>
          </a:p>
        </p:txBody>
      </p:sp>
      <p:sp>
        <p:nvSpPr>
          <p:cNvPr id="12" name="TextBox 11"/>
          <p:cNvSpPr txBox="1"/>
          <p:nvPr/>
        </p:nvSpPr>
        <p:spPr>
          <a:xfrm>
            <a:off x="658368" y="5577840"/>
            <a:ext cx="10881360" cy="365760"/>
          </a:xfrm>
          <a:prstGeom prst="rect">
            <a:avLst/>
          </a:prstGeom>
          <a:noFill/>
        </p:spPr>
        <p:txBody>
          <a:bodyPr wrap="square">
            <a:spAutoFit/>
          </a:bodyPr>
          <a:lstStyle/>
          <a:p>
            <a:r>
              <a:rPr sz="1200" b="0" i="1">
                <a:solidFill>
                  <a:srgbClr val="595959"/>
                </a:solidFill>
                <a:latin typeface="Arial"/>
              </a:rPr>
              <a:t>Walkthrough: what a good run shows.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whole service is a description you can test, publish, export and import elsewhere, so a second ministry starts from yours and not from nothing.</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Compare two exported descriptions of a service.</a:t>
            </a:r>
          </a:p>
          <a:p>
            <a:pPr algn="l">
              <a:spcAft>
                <a:spcPts val="400"/>
              </a:spcAft>
            </a:pPr>
            <a:r>
              <a:rPr sz="1800" b="0" i="0">
                <a:solidFill>
                  <a:srgbClr val="595959"/>
                </a:solidFill>
                <a:latin typeface="Arial"/>
              </a:rPr>
              <a:t>The prompt in the companion material gives you a note of changes between two versions of a service, written for the service's owner.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default edition — sections 6.3.1.2, 6.3.1.9, 6.3.2.9, 6.3.2.10 and 8.3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