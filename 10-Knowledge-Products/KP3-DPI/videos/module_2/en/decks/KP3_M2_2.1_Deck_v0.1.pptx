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ministry registers something. Schools register learners. A business registry registers companies. A population registry records births. Each office asks for information, checks it, decides, records it and gives back proof. The Registration block is shared software that does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defines registration in one sentence. It is the process through which an applicant gets information recorded in a registry and receives a credential as proof of registration. At least two parties are involved: the applicant, and the authorised representative of the registry, whom the specification calls the registrar. Others may join. A witness, another public body or a database may confirm what the applicant says. A bank may receive a fee. Notice the two outcomes. A record is written, and proof goes back to the applicant. A service that stops at capturing a form has done neither.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 has three capabilities. The first is online registration. The applicant fills in a form, uploads documents, pays a fee where there is one, sends the file and follows its status until a decision arrives. The second is processing. In the back office an operator, who may be a person or an automated role, approves the file, rejects it or sends it back for correction. On approval the system sends the information to a registry and issues the credential. The third is the development platform. There an analyst sets up the rules, the screens and the checks of each service, without writing code.</a:t>
            </a:r>
          </a:p>
          <a:p/>
          <a:p>
            <a:r>
              <a:t>Production cue: the centrepiece of the module — the three capabilities every later video returns to. Reveal the panels left to right.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learner registration seen through those three parts. A parent, or a learner old enough, applies online. The registrar of PLR, the Progressa Learner Registry, decides in the back office. An analyst in the ministry configures the service. In the service, the parent meets the guide, the form, the documents and the send button, and later the decision and the confirmation. One thing the block does not do is keep the record for the long term. The specification leaves storage to the Digital Registries block. The registration block's job is to connect to it and write there.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reason this is a shared block and not a school system. PAERA, the GovStack reference architecture, says that digitising a state registry needs two building blocks: Registration and a Digital Registry. That holds for a business registry, a population registry and a learner register alike. So the ministry that builds the block first pays for it, and each ministry after it sets up a new service on the same block. That re-use is only visible to someone planning for the whole government, which is why the decision belongs above any single project.</a:t>
            </a:r>
          </a:p>
          <a:p/>
          <a:p>
            <a:r>
              <a:t>Production cue: the pivotal slide of this video — planning is what makes re-use possible.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An application comes in, an officer decides, the register is written and proof goes out. Build that once, and every ministry that registers can use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Registration block does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registration block takes an application, lets an officer decide and, on approval, writes to a register and gives the applicant proof, and built once it serves every ministry that registers people or things.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ministry registers something.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Schools register learners. A business registry registers companies. A population registry records births.</a:t>
            </a:r>
          </a:p>
          <a:p>
            <a:pPr>
              <a:spcAft>
                <a:spcPts val="800"/>
              </a:spcAft>
            </a:pPr>
            <a:r>
              <a:rPr sz="1700" b="0" i="0">
                <a:solidFill>
                  <a:srgbClr val="595959"/>
                </a:solidFill>
                <a:latin typeface="Arial"/>
              </a:rPr>
              <a:t>Each office asks for information, checks it, decides, records it and gives back proof. The Registration block is shared software that does exactly that.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registration means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An applicant asks for information to be recorded in a registry</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registrar, the authorised representative of the registry, records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applicant receives a credential as proof of registration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outcomes: a record is written, and proof goes back. A service that stops at capturing a form has done neither.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capabilities</a:t>
            </a:r>
          </a:p>
        </p:txBody>
      </p:sp>
      <p:sp>
        <p:nvSpPr>
          <p:cNvPr id="4" name="Rounded Rectangle 3"/>
          <p:cNvSpPr/>
          <p:nvPr/>
        </p:nvSpPr>
        <p:spPr>
          <a:xfrm>
            <a:off x="658368" y="1554480"/>
            <a:ext cx="3383280" cy="2468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ONLINE REGISTRATION</a:t>
            </a:r>
          </a:p>
          <a:p>
            <a:pPr algn="l">
              <a:spcAft>
                <a:spcPts val="300"/>
              </a:spcAft>
            </a:pPr>
            <a:r>
              <a:rPr sz="1500" b="0" i="0">
                <a:solidFill>
                  <a:srgbClr val="1A1A1A"/>
                </a:solidFill>
                <a:latin typeface="Arial"/>
              </a:rPr>
              <a:t>The applicant fills in the form, uploads documents, sends and follows the status.</a:t>
            </a:r>
          </a:p>
        </p:txBody>
      </p:sp>
      <p:sp>
        <p:nvSpPr>
          <p:cNvPr id="5" name="Rounded Rectangle 4"/>
          <p:cNvSpPr/>
          <p:nvPr/>
        </p:nvSpPr>
        <p:spPr>
          <a:xfrm>
            <a:off x="4407408" y="1554480"/>
            <a:ext cx="3383280" cy="2468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PROCESSING</a:t>
            </a:r>
          </a:p>
          <a:p>
            <a:pPr algn="l">
              <a:spcAft>
                <a:spcPts val="300"/>
              </a:spcAft>
            </a:pPr>
            <a:r>
              <a:rPr sz="1500" b="0" i="0">
                <a:solidFill>
                  <a:srgbClr val="1A1A1A"/>
                </a:solidFill>
                <a:latin typeface="Arial"/>
              </a:rPr>
              <a:t>An operator approves, rejects or sends back; on approval the record is sent to a registry and a credential issued.</a:t>
            </a:r>
          </a:p>
        </p:txBody>
      </p:sp>
      <p:sp>
        <p:nvSpPr>
          <p:cNvPr id="6" name="Rounded Rectangle 5"/>
          <p:cNvSpPr/>
          <p:nvPr/>
        </p:nvSpPr>
        <p:spPr>
          <a:xfrm>
            <a:off x="8156448" y="1554480"/>
            <a:ext cx="3383280" cy="2468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DEVELOPMENT PLATFORM</a:t>
            </a:r>
          </a:p>
          <a:p>
            <a:pPr algn="l">
              <a:spcAft>
                <a:spcPts val="300"/>
              </a:spcAft>
            </a:pPr>
            <a:r>
              <a:rPr sz="1500" b="0" i="0">
                <a:solidFill>
                  <a:srgbClr val="1A1A1A"/>
                </a:solidFill>
                <a:latin typeface="Arial"/>
              </a:rPr>
              <a:t>An analyst sets up rules, screens and checks without programming.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learner registration, in three parts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parent or the learner applies online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registrar of PLR decides in the back office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analyst configures the service</a:t>
            </a:r>
          </a:p>
          <a:p>
            <a:pPr>
              <a:spcAft>
                <a:spcPts val="300"/>
              </a:spcAft>
            </a:pPr>
            <a:r>
              <a:rPr sz="1550" b="0" i="0">
                <a:solidFill>
                  <a:srgbClr val="595959"/>
                </a:solidFill>
                <a:latin typeface="Arial"/>
              </a:rPr>
              <a:t>The record itself is kept in the learner register.</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Storage belongs to the Digital Registries block — the registration block writes there.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Built once, used by every ministry</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Digitising a state registry needs two building blocks: Registration and Digital Registry.</a:t>
            </a:r>
          </a:p>
          <a:p>
            <a:pPr>
              <a:spcAft>
                <a:spcPts val="1200"/>
              </a:spcAft>
            </a:pPr>
            <a:r>
              <a:rPr sz="2000" b="0" i="0">
                <a:solidFill>
                  <a:srgbClr val="1A1A1A"/>
                </a:solidFill>
                <a:latin typeface="Arial"/>
              </a:rPr>
              <a:t>Each new registration is a new service set up on the same block — not new software.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ministry that builds the block first pays for it. Each ministry after it sets up a new service on the same block.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A registration block takes an application, lets an officer decide and, on approval, writes to a register and gives the applicant proof, and built once it serves every ministry that registers people or things.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paper registration onto the block's three capabilities.</a:t>
            </a:r>
          </a:p>
          <a:p>
            <a:pPr algn="l">
              <a:spcAft>
                <a:spcPts val="400"/>
              </a:spcAft>
            </a:pPr>
            <a:r>
              <a:rPr sz="1800" b="0" i="0">
                <a:solidFill>
                  <a:srgbClr val="595959"/>
                </a:solidFill>
                <a:latin typeface="Arial"/>
              </a:rPr>
              <a:t>The prompt in the companion material gives you a table that sorts each step of your procedure into the three capabilities, with the decisions an officer takes.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2 and 4.1 to 4.4</a:t>
            </a:r>
          </a:p>
          <a:p>
            <a:pPr>
              <a:spcAft>
                <a:spcPts val="1200"/>
              </a:spcAft>
            </a:pPr>
            <a:r>
              <a:rPr sz="1700" b="0" i="0">
                <a:solidFill>
                  <a:srgbClr val="1A1A1A"/>
                </a:solidFill>
                <a:latin typeface="Arial"/>
              </a:rPr>
              <a:t>•  PAERA v1.0 — Annex 1, A1.2.5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