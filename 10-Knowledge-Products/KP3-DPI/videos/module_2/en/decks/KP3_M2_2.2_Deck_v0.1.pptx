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4" r:id="rId26"/>
    <p:sldId id="2705" r:id="rId27"/>
    <p:sldId id="2706" r:id="rId28"/>
    <p:sldId id="2707" r:id="rId29"/>
    <p:sldId id="2708" r:id="rId30"/>
    <p:sldId id="2709" r:id="rId31"/>
    <p:sldId id="2710" r:id="rId32"/>
    <p:sldId id="2711"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vendor tells you the product is GovStack compliant. That sentence alone tells you very little. What you need is the product shown against the published specification, one requirement at a time, with evidence your own team can check.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by naming the edition. The GovStack site labels the default edition of the Registration specification 23Q4. Write that edition into your tender and your questionnaire, so every answer refers to the same text. The edition holds forty-two functional requirements in three groups: ten for the applicant, six for the operator who processes applications, and twenty-six for the analyst who builds services. It defines twelve data structures, such as the service, the registration and the role, and thirteen published operations. Each requirement is marked required or recommended.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Turn that list into the vendor's homework. For every requirement, the vendor answers one of three things: met as delivered, met by configuration, or not met. Under every answer, ask for evidence you can check: a screen, a test record or a document. Do the same for the operations. Which of the thirteen does the product offer, and where are its test results? Ask also how the product exports and imports a service description, because the specification publishes no operation for creating or changing a service, and each product does it its own way. A product that answers in this form can be compared with the next one. A brochure cannot.</a:t>
            </a:r>
          </a:p>
          <a:p/>
          <a:p>
            <a:r>
              <a:t>Production cue: the pivotal slide of this video — the method the listener takes away.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what GovStack itself offers. Its testing application has a self-assessment form, where a software provider assesses the product against the functional requirements, and a set of automated tests of the interfaces. GovStack's website grades software at Level 1 or Level 2, depending on how many requirements are met. Its team checks a submission for completeness and plausibility, which is a review of what the provider sent, not a test of your installation. Accepted software is listed on the website with its level and a link to the full report. Be careful with thresholds, too: the website and the Architecture specification set different ones. When you quote a threshold, name its source.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such a sheet, built as an example for the product Progressa uses; it names no real product. Three rows show the pattern. The operator's decision is met by configuration, and the evidence is the registrar's screen with its three choices. Import and export of a service description is met, and the evidence is a file exported and imported into a second installation. The payment of fees is met but not used, because registering a learner carries no fee.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Ask for evidence against each published requirement, and check whether GovStack lists the product and at which level.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published specification, and how to judge a product against it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Ask every vendor to show the product against the published specification, requirement by requirement, and check whether GovStack lists it and at which compliance level.</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vendor tells you the product is GovStack compliant.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That sentence alone tells you very little.</a:t>
            </a:r>
          </a:p>
          <a:p>
            <a:pPr>
              <a:spcAft>
                <a:spcPts val="800"/>
              </a:spcAft>
            </a:pPr>
            <a:r>
              <a:rPr sz="1700" b="0" i="0">
                <a:solidFill>
                  <a:srgbClr val="595959"/>
                </a:solidFill>
                <a:latin typeface="Arial"/>
              </a:rPr>
              <a:t>What you need is the product shown against the published specification, one requirement at a time, with evidence your own team can check.</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published specification, and how to judge a product against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specification contains</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42 functional requirements</a:t>
            </a:r>
          </a:p>
          <a:p>
            <a:pPr>
              <a:spcAft>
                <a:spcPts val="300"/>
              </a:spcAft>
            </a:pPr>
            <a:r>
              <a:rPr sz="1550" b="0" i="0">
                <a:solidFill>
                  <a:srgbClr val="595959"/>
                </a:solidFill>
                <a:latin typeface="Arial"/>
              </a:rPr>
              <a:t>In three groups: the applicant, the operator, the analyst.</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12 data structures</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13 published operations</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Each requirement marked REQUIRED or RECOMMENDED</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Name the edition — the site labels the default edition 23Q4 — in your tender and your questionnaire, so every answer refers to the same text.</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published specification, and how to judge a product against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Requirement by requirement</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For each requirement</a:t>
            </a:r>
          </a:p>
          <a:p>
            <a:pPr>
              <a:spcAft>
                <a:spcPts val="300"/>
              </a:spcAft>
            </a:pPr>
            <a:r>
              <a:rPr sz="1550" b="0" i="0">
                <a:solidFill>
                  <a:srgbClr val="595959"/>
                </a:solidFill>
                <a:latin typeface="Arial"/>
              </a:rPr>
              <a:t>Met as delivered, met by configuration, or not met.</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For each answer</a:t>
            </a:r>
          </a:p>
          <a:p>
            <a:pPr>
              <a:spcAft>
                <a:spcPts val="300"/>
              </a:spcAft>
            </a:pPr>
            <a:r>
              <a:rPr sz="1550" b="0" i="0">
                <a:solidFill>
                  <a:srgbClr val="595959"/>
                </a:solidFill>
                <a:latin typeface="Arial"/>
              </a:rPr>
              <a:t>The evidence — a screen, a test record, a document.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For the operations</a:t>
            </a:r>
          </a:p>
          <a:p>
            <a:pPr>
              <a:spcAft>
                <a:spcPts val="300"/>
              </a:spcAft>
            </a:pPr>
            <a:r>
              <a:rPr sz="1550" b="0" i="0">
                <a:solidFill>
                  <a:srgbClr val="595959"/>
                </a:solidFill>
                <a:latin typeface="Arial"/>
              </a:rPr>
              <a:t>Which of the thirteen the product offers.</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product that answers in this form can be compared with the next one. A brochure cannot.</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published specification, and how to judge a product against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GovStack itself offers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A self-assessment form for requirements, and automated tests of the interfaces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A listing at Level 1 or Level 2</a:t>
            </a:r>
          </a:p>
          <a:p>
            <a:pPr>
              <a:spcAft>
                <a:spcPts val="300"/>
              </a:spcAft>
            </a:pPr>
            <a:r>
              <a:rPr sz="1550" b="0" i="0">
                <a:solidFill>
                  <a:srgbClr val="595959"/>
                </a:solidFill>
                <a:latin typeface="Arial"/>
              </a:rPr>
              <a:t>On the GovStack website.</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The level and a link to the full report</a:t>
            </a:r>
          </a:p>
          <a:p>
            <a:pPr>
              <a:spcAft>
                <a:spcPts val="300"/>
              </a:spcAft>
            </a:pPr>
            <a:r>
              <a:rPr sz="1550" b="0" i="0">
                <a:solidFill>
                  <a:srgbClr val="595959"/>
                </a:solidFill>
                <a:latin typeface="Arial"/>
              </a:rPr>
              <a:t>Shown in the listing.</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When you quote a threshold, name its source.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published specification, and how to judge a product against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self-assessment sheet</a:t>
            </a:r>
          </a:p>
        </p:txBody>
      </p:sp>
      <p:sp>
        <p:nvSpPr>
          <p:cNvPr id="4" name="TextBox 3"/>
          <p:cNvSpPr txBox="1"/>
          <p:nvPr/>
        </p:nvSpPr>
        <p:spPr>
          <a:xfrm>
            <a:off x="658368" y="1417320"/>
            <a:ext cx="3273552" cy="384048"/>
          </a:xfrm>
          <a:prstGeom prst="rect">
            <a:avLst/>
          </a:prstGeom>
          <a:noFill/>
        </p:spPr>
        <p:txBody>
          <a:bodyPr wrap="square">
            <a:spAutoFit/>
          </a:bodyPr>
          <a:lstStyle/>
          <a:p>
            <a:r>
              <a:rPr sz="1400" b="1" i="0">
                <a:solidFill>
                  <a:srgbClr val="006E96"/>
                </a:solidFill>
                <a:latin typeface="Arial"/>
              </a:rPr>
              <a:t>Requirement</a:t>
            </a:r>
          </a:p>
        </p:txBody>
      </p:sp>
      <p:sp>
        <p:nvSpPr>
          <p:cNvPr id="5" name="TextBox 4"/>
          <p:cNvSpPr txBox="1"/>
          <p:nvPr/>
        </p:nvSpPr>
        <p:spPr>
          <a:xfrm>
            <a:off x="4041648" y="1417320"/>
            <a:ext cx="1261872" cy="384048"/>
          </a:xfrm>
          <a:prstGeom prst="rect">
            <a:avLst/>
          </a:prstGeom>
          <a:noFill/>
        </p:spPr>
        <p:txBody>
          <a:bodyPr wrap="square">
            <a:spAutoFit/>
          </a:bodyPr>
          <a:lstStyle/>
          <a:p>
            <a:r>
              <a:rPr sz="1400" b="1" i="0">
                <a:solidFill>
                  <a:srgbClr val="006E96"/>
                </a:solidFill>
                <a:latin typeface="Arial"/>
              </a:rPr>
              <a:t>Level</a:t>
            </a:r>
          </a:p>
        </p:txBody>
      </p:sp>
      <p:sp>
        <p:nvSpPr>
          <p:cNvPr id="6" name="TextBox 5"/>
          <p:cNvSpPr txBox="1"/>
          <p:nvPr/>
        </p:nvSpPr>
        <p:spPr>
          <a:xfrm>
            <a:off x="5413248" y="1417320"/>
            <a:ext cx="1993391" cy="384048"/>
          </a:xfrm>
          <a:prstGeom prst="rect">
            <a:avLst/>
          </a:prstGeom>
          <a:noFill/>
        </p:spPr>
        <p:txBody>
          <a:bodyPr wrap="square">
            <a:spAutoFit/>
          </a:bodyPr>
          <a:lstStyle/>
          <a:p>
            <a:r>
              <a:rPr sz="1400" b="1" i="0">
                <a:solidFill>
                  <a:srgbClr val="006E96"/>
                </a:solidFill>
                <a:latin typeface="Arial"/>
              </a:rPr>
              <a:t>Answer</a:t>
            </a:r>
          </a:p>
        </p:txBody>
      </p:sp>
      <p:sp>
        <p:nvSpPr>
          <p:cNvPr id="7" name="TextBox 6"/>
          <p:cNvSpPr txBox="1"/>
          <p:nvPr/>
        </p:nvSpPr>
        <p:spPr>
          <a:xfrm>
            <a:off x="7516367" y="1417320"/>
            <a:ext cx="3913632" cy="384048"/>
          </a:xfrm>
          <a:prstGeom prst="rect">
            <a:avLst/>
          </a:prstGeom>
          <a:noFill/>
        </p:spPr>
        <p:txBody>
          <a:bodyPr wrap="square">
            <a:spAutoFit/>
          </a:bodyPr>
          <a:lstStyle/>
          <a:p>
            <a:r>
              <a:rPr sz="1400" b="1" i="0">
                <a:solidFill>
                  <a:srgbClr val="006E96"/>
                </a:solidFill>
                <a:latin typeface="Arial"/>
              </a:rPr>
              <a:t>Evidence</a:t>
            </a:r>
          </a:p>
        </p:txBody>
      </p:sp>
      <p:sp>
        <p:nvSpPr>
          <p:cNvPr id="8" name="Rectangle 7"/>
          <p:cNvSpPr/>
          <p:nvPr/>
        </p:nvSpPr>
        <p:spPr>
          <a:xfrm>
            <a:off x="658368" y="180136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911095"/>
            <a:ext cx="3273552" cy="1008888"/>
          </a:xfrm>
          <a:prstGeom prst="rect">
            <a:avLst/>
          </a:prstGeom>
          <a:noFill/>
        </p:spPr>
        <p:txBody>
          <a:bodyPr wrap="square">
            <a:spAutoFit/>
          </a:bodyPr>
          <a:lstStyle/>
          <a:p>
            <a:r>
              <a:rPr sz="1400" b="1" i="0">
                <a:solidFill>
                  <a:srgbClr val="1A1A1A"/>
                </a:solidFill>
                <a:latin typeface="Arial"/>
              </a:rPr>
              <a:t>6.2.3 Make decisions about an application</a:t>
            </a:r>
          </a:p>
        </p:txBody>
      </p:sp>
      <p:sp>
        <p:nvSpPr>
          <p:cNvPr id="10" name="TextBox 9"/>
          <p:cNvSpPr txBox="1"/>
          <p:nvPr/>
        </p:nvSpPr>
        <p:spPr>
          <a:xfrm>
            <a:off x="4041648" y="1911095"/>
            <a:ext cx="1261872" cy="1008888"/>
          </a:xfrm>
          <a:prstGeom prst="rect">
            <a:avLst/>
          </a:prstGeom>
          <a:noFill/>
        </p:spPr>
        <p:txBody>
          <a:bodyPr wrap="square">
            <a:spAutoFit/>
          </a:bodyPr>
          <a:lstStyle/>
          <a:p>
            <a:r>
              <a:rPr sz="1400" b="0" i="0">
                <a:solidFill>
                  <a:srgbClr val="1A1A1A"/>
                </a:solidFill>
                <a:latin typeface="Arial"/>
              </a:rPr>
              <a:t>REQUIRED</a:t>
            </a:r>
          </a:p>
        </p:txBody>
      </p:sp>
      <p:sp>
        <p:nvSpPr>
          <p:cNvPr id="11" name="TextBox 10"/>
          <p:cNvSpPr txBox="1"/>
          <p:nvPr/>
        </p:nvSpPr>
        <p:spPr>
          <a:xfrm>
            <a:off x="5413248" y="1911095"/>
            <a:ext cx="1993391" cy="1008888"/>
          </a:xfrm>
          <a:prstGeom prst="rect">
            <a:avLst/>
          </a:prstGeom>
          <a:noFill/>
        </p:spPr>
        <p:txBody>
          <a:bodyPr wrap="square">
            <a:spAutoFit/>
          </a:bodyPr>
          <a:lstStyle/>
          <a:p>
            <a:r>
              <a:rPr sz="1400" b="0" i="0">
                <a:solidFill>
                  <a:srgbClr val="1A1A1A"/>
                </a:solidFill>
                <a:latin typeface="Arial"/>
              </a:rPr>
              <a:t>Met by configuration</a:t>
            </a:r>
          </a:p>
        </p:txBody>
      </p:sp>
      <p:sp>
        <p:nvSpPr>
          <p:cNvPr id="12" name="TextBox 11"/>
          <p:cNvSpPr txBox="1"/>
          <p:nvPr/>
        </p:nvSpPr>
        <p:spPr>
          <a:xfrm>
            <a:off x="7516367" y="1911095"/>
            <a:ext cx="3913632" cy="1008888"/>
          </a:xfrm>
          <a:prstGeom prst="rect">
            <a:avLst/>
          </a:prstGeom>
          <a:noFill/>
        </p:spPr>
        <p:txBody>
          <a:bodyPr wrap="square">
            <a:spAutoFit/>
          </a:bodyPr>
          <a:lstStyle/>
          <a:p>
            <a:r>
              <a:rPr sz="1400" b="0" i="0">
                <a:solidFill>
                  <a:srgbClr val="1A1A1A"/>
                </a:solidFill>
                <a:latin typeface="Arial"/>
              </a:rPr>
              <a:t>The registrar's screen with approve, reject and send back</a:t>
            </a:r>
          </a:p>
        </p:txBody>
      </p:sp>
      <p:sp>
        <p:nvSpPr>
          <p:cNvPr id="13" name="Rectangle 12"/>
          <p:cNvSpPr/>
          <p:nvPr/>
        </p:nvSpPr>
        <p:spPr>
          <a:xfrm>
            <a:off x="658368" y="29382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993136"/>
            <a:ext cx="3273552" cy="1008888"/>
          </a:xfrm>
          <a:prstGeom prst="rect">
            <a:avLst/>
          </a:prstGeom>
          <a:noFill/>
        </p:spPr>
        <p:txBody>
          <a:bodyPr wrap="square">
            <a:spAutoFit/>
          </a:bodyPr>
          <a:lstStyle/>
          <a:p>
            <a:r>
              <a:rPr sz="1400" b="1" i="0">
                <a:solidFill>
                  <a:srgbClr val="1A1A1A"/>
                </a:solidFill>
                <a:latin typeface="Arial"/>
              </a:rPr>
              <a:t>6.3.2.10 Import/Export of service descriptions</a:t>
            </a:r>
          </a:p>
        </p:txBody>
      </p:sp>
      <p:sp>
        <p:nvSpPr>
          <p:cNvPr id="15" name="TextBox 14"/>
          <p:cNvSpPr txBox="1"/>
          <p:nvPr/>
        </p:nvSpPr>
        <p:spPr>
          <a:xfrm>
            <a:off x="4041648" y="2993136"/>
            <a:ext cx="1261872" cy="1008888"/>
          </a:xfrm>
          <a:prstGeom prst="rect">
            <a:avLst/>
          </a:prstGeom>
          <a:noFill/>
        </p:spPr>
        <p:txBody>
          <a:bodyPr wrap="square">
            <a:spAutoFit/>
          </a:bodyPr>
          <a:lstStyle/>
          <a:p>
            <a:r>
              <a:rPr sz="1400" b="0" i="0">
                <a:solidFill>
                  <a:srgbClr val="1A1A1A"/>
                </a:solidFill>
                <a:latin typeface="Arial"/>
              </a:rPr>
              <a:t>REQUIRED</a:t>
            </a:r>
          </a:p>
        </p:txBody>
      </p:sp>
      <p:sp>
        <p:nvSpPr>
          <p:cNvPr id="16" name="TextBox 15"/>
          <p:cNvSpPr txBox="1"/>
          <p:nvPr/>
        </p:nvSpPr>
        <p:spPr>
          <a:xfrm>
            <a:off x="5413248" y="2993136"/>
            <a:ext cx="1993391" cy="1008888"/>
          </a:xfrm>
          <a:prstGeom prst="rect">
            <a:avLst/>
          </a:prstGeom>
          <a:noFill/>
        </p:spPr>
        <p:txBody>
          <a:bodyPr wrap="square">
            <a:spAutoFit/>
          </a:bodyPr>
          <a:lstStyle/>
          <a:p>
            <a:r>
              <a:rPr sz="1400" b="0" i="0">
                <a:solidFill>
                  <a:srgbClr val="1A1A1A"/>
                </a:solidFill>
                <a:latin typeface="Arial"/>
              </a:rPr>
              <a:t>Met</a:t>
            </a:r>
          </a:p>
        </p:txBody>
      </p:sp>
      <p:sp>
        <p:nvSpPr>
          <p:cNvPr id="17" name="TextBox 16"/>
          <p:cNvSpPr txBox="1"/>
          <p:nvPr/>
        </p:nvSpPr>
        <p:spPr>
          <a:xfrm>
            <a:off x="7516367" y="2993136"/>
            <a:ext cx="3913632" cy="1008888"/>
          </a:xfrm>
          <a:prstGeom prst="rect">
            <a:avLst/>
          </a:prstGeom>
          <a:noFill/>
        </p:spPr>
        <p:txBody>
          <a:bodyPr wrap="square">
            <a:spAutoFit/>
          </a:bodyPr>
          <a:lstStyle/>
          <a:p>
            <a:r>
              <a:rPr sz="1400" b="0" i="0">
                <a:solidFill>
                  <a:srgbClr val="1A1A1A"/>
                </a:solidFill>
                <a:latin typeface="Arial"/>
              </a:rPr>
              <a:t>An exported file imported into a second installation</a:t>
            </a:r>
          </a:p>
        </p:txBody>
      </p:sp>
      <p:sp>
        <p:nvSpPr>
          <p:cNvPr id="18" name="Rectangle 17"/>
          <p:cNvSpPr/>
          <p:nvPr/>
        </p:nvSpPr>
        <p:spPr>
          <a:xfrm>
            <a:off x="658368" y="4020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075175"/>
            <a:ext cx="3273552" cy="1008888"/>
          </a:xfrm>
          <a:prstGeom prst="rect">
            <a:avLst/>
          </a:prstGeom>
          <a:noFill/>
        </p:spPr>
        <p:txBody>
          <a:bodyPr wrap="square">
            <a:spAutoFit/>
          </a:bodyPr>
          <a:lstStyle/>
          <a:p>
            <a:r>
              <a:rPr sz="1400" b="1" i="0">
                <a:solidFill>
                  <a:srgbClr val="1A1A1A"/>
                </a:solidFill>
                <a:latin typeface="Arial"/>
              </a:rPr>
              <a:t>6.1.7 Pay fees for application</a:t>
            </a:r>
          </a:p>
        </p:txBody>
      </p:sp>
      <p:sp>
        <p:nvSpPr>
          <p:cNvPr id="20" name="TextBox 19"/>
          <p:cNvSpPr txBox="1"/>
          <p:nvPr/>
        </p:nvSpPr>
        <p:spPr>
          <a:xfrm>
            <a:off x="4041648" y="4075175"/>
            <a:ext cx="1261872" cy="1008888"/>
          </a:xfrm>
          <a:prstGeom prst="rect">
            <a:avLst/>
          </a:prstGeom>
          <a:noFill/>
        </p:spPr>
        <p:txBody>
          <a:bodyPr wrap="square">
            <a:spAutoFit/>
          </a:bodyPr>
          <a:lstStyle/>
          <a:p>
            <a:r>
              <a:rPr sz="1400" b="0" i="0">
                <a:solidFill>
                  <a:srgbClr val="1A1A1A"/>
                </a:solidFill>
                <a:latin typeface="Arial"/>
              </a:rPr>
              <a:t>REQUIRED</a:t>
            </a:r>
          </a:p>
        </p:txBody>
      </p:sp>
      <p:sp>
        <p:nvSpPr>
          <p:cNvPr id="21" name="TextBox 20"/>
          <p:cNvSpPr txBox="1"/>
          <p:nvPr/>
        </p:nvSpPr>
        <p:spPr>
          <a:xfrm>
            <a:off x="5413248" y="4075175"/>
            <a:ext cx="1993391" cy="1008888"/>
          </a:xfrm>
          <a:prstGeom prst="rect">
            <a:avLst/>
          </a:prstGeom>
          <a:noFill/>
        </p:spPr>
        <p:txBody>
          <a:bodyPr wrap="square">
            <a:spAutoFit/>
          </a:bodyPr>
          <a:lstStyle/>
          <a:p>
            <a:r>
              <a:rPr sz="1400" b="0" i="0">
                <a:solidFill>
                  <a:srgbClr val="1A1A1A"/>
                </a:solidFill>
                <a:latin typeface="Arial"/>
              </a:rPr>
              <a:t>Met — not used</a:t>
            </a:r>
          </a:p>
        </p:txBody>
      </p:sp>
      <p:sp>
        <p:nvSpPr>
          <p:cNvPr id="22" name="TextBox 21"/>
          <p:cNvSpPr txBox="1"/>
          <p:nvPr/>
        </p:nvSpPr>
        <p:spPr>
          <a:xfrm>
            <a:off x="7516367" y="4075175"/>
            <a:ext cx="3913632" cy="1008888"/>
          </a:xfrm>
          <a:prstGeom prst="rect">
            <a:avLst/>
          </a:prstGeom>
          <a:noFill/>
        </p:spPr>
        <p:txBody>
          <a:bodyPr wrap="square">
            <a:spAutoFit/>
          </a:bodyPr>
          <a:lstStyle/>
          <a:p>
            <a:r>
              <a:rPr sz="1400" b="0" i="0">
                <a:solidFill>
                  <a:srgbClr val="1A1A1A"/>
                </a:solidFill>
                <a:latin typeface="Arial"/>
              </a:rPr>
              <a:t>Learner registration carries no fee</a:t>
            </a:r>
          </a:p>
        </p:txBody>
      </p:sp>
      <p:sp>
        <p:nvSpPr>
          <p:cNvPr id="23" name="TextBox 22"/>
          <p:cNvSpPr txBox="1"/>
          <p:nvPr/>
        </p:nvSpPr>
        <p:spPr>
          <a:xfrm>
            <a:off x="658368" y="5212079"/>
            <a:ext cx="10881360" cy="365760"/>
          </a:xfrm>
          <a:prstGeom prst="rect">
            <a:avLst/>
          </a:prstGeom>
          <a:noFill/>
        </p:spPr>
        <p:txBody>
          <a:bodyPr wrap="square">
            <a:spAutoFit/>
          </a:bodyPr>
          <a:lstStyle/>
          <a:p>
            <a:r>
              <a:rPr sz="1200" b="0" i="1">
                <a:solidFill>
                  <a:srgbClr val="595959"/>
                </a:solidFill>
                <a:latin typeface="Arial"/>
              </a:rPr>
              <a:t>Built as an example for the product Progressa uses; it names no real product.</a:t>
            </a:r>
          </a:p>
        </p:txBody>
      </p:sp>
      <p:sp>
        <p:nvSpPr>
          <p:cNvPr id="24" name="TextBox 2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published specification, and how to judge a product against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Ask every vendor to show the product against the published specification, requirement by requirement, and check whether GovStack lists it and at which compliance level.</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Turn the specification's requirements into a vendor questionnaire.</a:t>
            </a:r>
          </a:p>
          <a:p>
            <a:pPr algn="l">
              <a:spcAft>
                <a:spcPts val="400"/>
              </a:spcAft>
            </a:pPr>
            <a:r>
              <a:rPr sz="1800" b="0" i="0">
                <a:solidFill>
                  <a:srgbClr val="595959"/>
                </a:solidFill>
                <a:latin typeface="Arial"/>
              </a:rPr>
              <a:t>The prompt in the companion material gives you a questionnaire for vendors with one row for each requirement and the evidence to ask for under it.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published specification, and how to judge a product against it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default edition — sections 6.1 to 6.3, 7.2 and 8.1 to 8.3</a:t>
            </a:r>
          </a:p>
          <a:p>
            <a:pPr>
              <a:spcAft>
                <a:spcPts val="1200"/>
              </a:spcAft>
            </a:pPr>
            <a:r>
              <a:rPr sz="1700" b="0" i="0">
                <a:solidFill>
                  <a:srgbClr val="1A1A1A"/>
                </a:solidFill>
                <a:latin typeface="Arial"/>
              </a:rPr>
              <a:t>•  GovStack testing application; GovStack website pages 'How is Compliance Measured?' and 'How to Submit Software?'</a:t>
            </a:r>
          </a:p>
          <a:p>
            <a:pPr>
              <a:spcAft>
                <a:spcPts val="1200"/>
              </a:spcAft>
            </a:pPr>
            <a:r>
              <a:rPr sz="1700" b="0" i="0">
                <a:solidFill>
                  <a:srgbClr val="1A1A1A"/>
                </a:solidFill>
                <a:latin typeface="Arial"/>
              </a:rPr>
              <a:t>•  GovStack Architecture specification, edition 2.1.0 — section 5.5.4</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published specification, and how to judge a product against it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