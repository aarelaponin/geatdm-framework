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6" r:id="rId58"/>
    <p:sldId id="2737" r:id="rId59"/>
    <p:sldId id="2738" r:id="rId60"/>
    <p:sldId id="2739" r:id="rId61"/>
    <p:sldId id="2740" r:id="rId62"/>
    <p:sldId id="2741" r:id="rId63"/>
    <p:sldId id="2742" r:id="rId64"/>
    <p:sldId id="274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questionnaire answer is what a body says about itself. A desk result is what the public record suggests. Neither is a finding yet. Score them as they stand, and the first official who disagrees can overturn your result.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Verification runs in six activities, in order. The facilitator receives the signed questionnaires. The facilitator then reads every document they name, and compares it with the desk results. Each disputed point goes to the person who owns it, in a clarification interview. In technical workshops the team sees the systems working: a screen, a report, a log. The facilitator then writes a verified position for every point. Last, a validation workshop with all the bodies closes what is still disputed. PAERA, the GovStack reference architecture, names the same tools: document review, interviews and focus groups, followed by the conduct of the assessment and the analysis of its results.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sources disagree, a rule settles it: the evidence ladder. A system seen working stands highest. Then comes an official document in force, such as a law or an approved budget. Then official statistics, then an internal report, and last a statement in an interview. The higher level wins. A position counts as verified only with one source at the first level, or with two independent sources at the second or third. Where two sources at the same level still disagree, the point is marked disputed and goes to the validation workshop.</a:t>
            </a:r>
          </a:p>
          <a:p/>
          <a:p>
            <a:r>
              <a:t>Production cue: the pivotal slide of this video — the rule that settles disagreements.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blank templates carry the work. The map of the bodies involved says who takes part, and how. The session plan sets out each interview and workshop, with the points to clarify and the evidence to bring. The reconciled-response table holds the verified position on every point, with its evidence and its status: verified, corrected or disputed. The agenda of the final validation workshop orders the half day in which every body sees the result. A validation chair, a senior official named by the sponsor of the assessment, decides the points still disputed.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it worked in Progressa, the fictional country of these examples. Sessions were held in week eight. Here are three of the points they settled. The desk review had suggested that PEMIS, the ministry's school information system, held learner-level data. In session V-01 the team saw PEMIS working: it holds totals by district, grade and sex. The point was corrected. In session V-02, PDGA, which operates Linkup, the data exchange, exported its member list: MoEYS, the ministry of education, is not a member. Verified. In session V-03, PNIA, the identity authority, showed its service log. Only PNEA, the examination authority, reads persons from PNIA, by national number. No education service uses PNIA's sign-in. Verified. All three were settled at the first level: a system seen working.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An answer becomes a finding only after it is checked: in documents, in interviews and workshops, and in a validation session with the people who gave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Verify before you score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answer becomes a finding only when it has been checked against documents, in interviews and workshops, and in a validation session with the people who gave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questionnaire answer is what a body says about itself.</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desk result is what the public record suggests. Neither is a finding yet.</a:t>
            </a:r>
          </a:p>
          <a:p>
            <a:pPr>
              <a:spcAft>
                <a:spcPts val="800"/>
              </a:spcAft>
            </a:pPr>
            <a:r>
              <a:rPr sz="1700" b="0" i="0">
                <a:solidFill>
                  <a:srgbClr val="595959"/>
                </a:solidFill>
                <a:latin typeface="Arial"/>
              </a:rPr>
              <a:t>Score them as they stand, and the first official who disagrees can overturn your result.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activities, in order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16280"/>
          </a:xfrm>
          <a:prstGeom prst="rect">
            <a:avLst/>
          </a:prstGeom>
          <a:noFill/>
        </p:spPr>
        <p:txBody>
          <a:bodyPr wrap="square">
            <a:spAutoFit/>
          </a:bodyPr>
          <a:lstStyle/>
          <a:p>
            <a:pPr>
              <a:spcAft>
                <a:spcPts val="300"/>
              </a:spcAft>
            </a:pPr>
            <a:r>
              <a:rPr sz="1900" b="1" i="0">
                <a:solidFill>
                  <a:srgbClr val="1A1A1A"/>
                </a:solidFill>
                <a:latin typeface="Arial"/>
              </a:rPr>
              <a:t>Receive the signed questionnaires</a:t>
            </a:r>
          </a:p>
        </p:txBody>
      </p:sp>
      <p:sp>
        <p:nvSpPr>
          <p:cNvPr id="6" name="Rectangle 5"/>
          <p:cNvSpPr/>
          <p:nvPr/>
        </p:nvSpPr>
        <p:spPr>
          <a:xfrm>
            <a:off x="621792" y="2183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70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25040"/>
            <a:ext cx="10527487" cy="716280"/>
          </a:xfrm>
          <a:prstGeom prst="rect">
            <a:avLst/>
          </a:prstGeom>
          <a:noFill/>
        </p:spPr>
        <p:txBody>
          <a:bodyPr wrap="square">
            <a:spAutoFit/>
          </a:bodyPr>
          <a:lstStyle/>
          <a:p>
            <a:pPr>
              <a:spcAft>
                <a:spcPts val="300"/>
              </a:spcAft>
            </a:pPr>
            <a:r>
              <a:rPr sz="1900" b="1" i="0">
                <a:solidFill>
                  <a:srgbClr val="1A1A1A"/>
                </a:solidFill>
                <a:latin typeface="Arial"/>
              </a:rPr>
              <a:t>Review every document they name</a:t>
            </a:r>
          </a:p>
          <a:p>
            <a:pPr>
              <a:spcAft>
                <a:spcPts val="300"/>
              </a:spcAft>
            </a:pPr>
            <a:r>
              <a:rPr sz="1550" b="0" i="0">
                <a:solidFill>
                  <a:srgbClr val="595959"/>
                </a:solidFill>
                <a:latin typeface="Arial"/>
              </a:rPr>
              <a:t>Against the desk results.</a:t>
            </a:r>
          </a:p>
        </p:txBody>
      </p:sp>
      <p:sp>
        <p:nvSpPr>
          <p:cNvPr id="9" name="Rectangle 8"/>
          <p:cNvSpPr/>
          <p:nvPr/>
        </p:nvSpPr>
        <p:spPr>
          <a:xfrm>
            <a:off x="621792" y="2945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32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987040"/>
            <a:ext cx="10527487" cy="716280"/>
          </a:xfrm>
          <a:prstGeom prst="rect">
            <a:avLst/>
          </a:prstGeom>
          <a:noFill/>
        </p:spPr>
        <p:txBody>
          <a:bodyPr wrap="square">
            <a:spAutoFit/>
          </a:bodyPr>
          <a:lstStyle/>
          <a:p>
            <a:pPr>
              <a:spcAft>
                <a:spcPts val="300"/>
              </a:spcAft>
            </a:pPr>
            <a:r>
              <a:rPr sz="1900" b="1" i="0">
                <a:solidFill>
                  <a:srgbClr val="1A1A1A"/>
                </a:solidFill>
                <a:latin typeface="Arial"/>
              </a:rPr>
              <a:t>Clarification interviews</a:t>
            </a:r>
          </a:p>
          <a:p>
            <a:pPr>
              <a:spcAft>
                <a:spcPts val="300"/>
              </a:spcAft>
            </a:pPr>
            <a:r>
              <a:rPr sz="1550" b="0" i="0">
                <a:solidFill>
                  <a:srgbClr val="595959"/>
                </a:solidFill>
                <a:latin typeface="Arial"/>
              </a:rPr>
              <a:t>On each disputed point.</a:t>
            </a:r>
          </a:p>
        </p:txBody>
      </p:sp>
      <p:sp>
        <p:nvSpPr>
          <p:cNvPr id="12" name="Rectangle 11"/>
          <p:cNvSpPr/>
          <p:nvPr/>
        </p:nvSpPr>
        <p:spPr>
          <a:xfrm>
            <a:off x="621792" y="37078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79475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749039"/>
            <a:ext cx="10527487" cy="716280"/>
          </a:xfrm>
          <a:prstGeom prst="rect">
            <a:avLst/>
          </a:prstGeom>
          <a:noFill/>
        </p:spPr>
        <p:txBody>
          <a:bodyPr wrap="square">
            <a:spAutoFit/>
          </a:bodyPr>
          <a:lstStyle/>
          <a:p>
            <a:pPr>
              <a:spcAft>
                <a:spcPts val="300"/>
              </a:spcAft>
            </a:pPr>
            <a:r>
              <a:rPr sz="1900" b="1" i="0">
                <a:solidFill>
                  <a:srgbClr val="1A1A1A"/>
                </a:solidFill>
                <a:latin typeface="Arial"/>
              </a:rPr>
              <a:t>Technical workshops</a:t>
            </a:r>
          </a:p>
          <a:p>
            <a:pPr>
              <a:spcAft>
                <a:spcPts val="300"/>
              </a:spcAft>
            </a:pPr>
            <a:r>
              <a:rPr sz="1550" b="0" i="0">
                <a:solidFill>
                  <a:srgbClr val="595959"/>
                </a:solidFill>
                <a:latin typeface="Arial"/>
              </a:rPr>
              <a:t>See the systems working.</a:t>
            </a:r>
          </a:p>
        </p:txBody>
      </p:sp>
      <p:sp>
        <p:nvSpPr>
          <p:cNvPr id="15" name="Rectangle 14"/>
          <p:cNvSpPr/>
          <p:nvPr/>
        </p:nvSpPr>
        <p:spPr>
          <a:xfrm>
            <a:off x="621792" y="4469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556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511040"/>
            <a:ext cx="10527487" cy="716280"/>
          </a:xfrm>
          <a:prstGeom prst="rect">
            <a:avLst/>
          </a:prstGeom>
          <a:noFill/>
        </p:spPr>
        <p:txBody>
          <a:bodyPr wrap="square">
            <a:spAutoFit/>
          </a:bodyPr>
          <a:lstStyle/>
          <a:p>
            <a:pPr>
              <a:spcAft>
                <a:spcPts val="300"/>
              </a:spcAft>
            </a:pPr>
            <a:r>
              <a:rPr sz="1900" b="1" i="0">
                <a:solidFill>
                  <a:srgbClr val="1A1A1A"/>
                </a:solidFill>
                <a:latin typeface="Arial"/>
              </a:rPr>
              <a:t>Synthesis</a:t>
            </a:r>
          </a:p>
          <a:p>
            <a:pPr>
              <a:spcAft>
                <a:spcPts val="300"/>
              </a:spcAft>
            </a:pPr>
            <a:r>
              <a:rPr sz="1550" b="0" i="0">
                <a:solidFill>
                  <a:srgbClr val="595959"/>
                </a:solidFill>
                <a:latin typeface="Arial"/>
              </a:rPr>
              <a:t>A verified position for every point.</a:t>
            </a:r>
          </a:p>
        </p:txBody>
      </p:sp>
      <p:sp>
        <p:nvSpPr>
          <p:cNvPr id="18" name="Rectangle 17"/>
          <p:cNvSpPr/>
          <p:nvPr/>
        </p:nvSpPr>
        <p:spPr>
          <a:xfrm>
            <a:off x="621792" y="5231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31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273040"/>
            <a:ext cx="10527487" cy="716280"/>
          </a:xfrm>
          <a:prstGeom prst="rect">
            <a:avLst/>
          </a:prstGeom>
          <a:noFill/>
        </p:spPr>
        <p:txBody>
          <a:bodyPr wrap="square">
            <a:spAutoFit/>
          </a:bodyPr>
          <a:lstStyle/>
          <a:p>
            <a:pPr>
              <a:spcAft>
                <a:spcPts val="300"/>
              </a:spcAft>
            </a:pPr>
            <a:r>
              <a:rPr sz="1900" b="1" i="0">
                <a:solidFill>
                  <a:srgbClr val="1A1A1A"/>
                </a:solidFill>
                <a:latin typeface="Arial"/>
              </a:rPr>
              <a:t>Final validation</a:t>
            </a:r>
          </a:p>
          <a:p>
            <a:pPr>
              <a:spcAft>
                <a:spcPts val="300"/>
              </a:spcAft>
            </a:pPr>
            <a:r>
              <a:rPr sz="1550" b="0" i="0">
                <a:solidFill>
                  <a:srgbClr val="595959"/>
                </a:solidFill>
                <a:latin typeface="Arial"/>
              </a:rPr>
              <a:t>With every body.</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evidence ladder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04087"/>
          </a:xfrm>
          <a:prstGeom prst="rect">
            <a:avLst/>
          </a:prstGeom>
          <a:noFill/>
        </p:spPr>
        <p:txBody>
          <a:bodyPr wrap="square">
            <a:spAutoFit/>
          </a:bodyPr>
          <a:lstStyle/>
          <a:p>
            <a:pPr>
              <a:spcAft>
                <a:spcPts val="300"/>
              </a:spcAft>
            </a:pPr>
            <a:r>
              <a:rPr sz="1900" b="1" i="0">
                <a:solidFill>
                  <a:srgbClr val="1A1A1A"/>
                </a:solidFill>
                <a:latin typeface="Arial"/>
              </a:rPr>
              <a:t>A system seen working</a:t>
            </a:r>
          </a:p>
        </p:txBody>
      </p:sp>
      <p:sp>
        <p:nvSpPr>
          <p:cNvPr id="6" name="Rectangle 5"/>
          <p:cNvSpPr/>
          <p:nvPr/>
        </p:nvSpPr>
        <p:spPr>
          <a:xfrm>
            <a:off x="621792" y="21717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585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12848"/>
            <a:ext cx="10527487" cy="704087"/>
          </a:xfrm>
          <a:prstGeom prst="rect">
            <a:avLst/>
          </a:prstGeom>
          <a:noFill/>
        </p:spPr>
        <p:txBody>
          <a:bodyPr wrap="square">
            <a:spAutoFit/>
          </a:bodyPr>
          <a:lstStyle/>
          <a:p>
            <a:pPr>
              <a:spcAft>
                <a:spcPts val="300"/>
              </a:spcAft>
            </a:pPr>
            <a:r>
              <a:rPr sz="1900" b="1" i="0">
                <a:solidFill>
                  <a:srgbClr val="1A1A1A"/>
                </a:solidFill>
                <a:latin typeface="Arial"/>
              </a:rPr>
              <a:t>An official document in force</a:t>
            </a:r>
          </a:p>
        </p:txBody>
      </p:sp>
      <p:sp>
        <p:nvSpPr>
          <p:cNvPr id="9" name="Rectangle 8"/>
          <p:cNvSpPr/>
          <p:nvPr/>
        </p:nvSpPr>
        <p:spPr>
          <a:xfrm>
            <a:off x="621792" y="292150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083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962656"/>
            <a:ext cx="10527487" cy="704087"/>
          </a:xfrm>
          <a:prstGeom prst="rect">
            <a:avLst/>
          </a:prstGeom>
          <a:noFill/>
        </p:spPr>
        <p:txBody>
          <a:bodyPr wrap="square">
            <a:spAutoFit/>
          </a:bodyPr>
          <a:lstStyle/>
          <a:p>
            <a:pPr>
              <a:spcAft>
                <a:spcPts val="300"/>
              </a:spcAft>
            </a:pPr>
            <a:r>
              <a:rPr sz="1900" b="1" i="0">
                <a:solidFill>
                  <a:srgbClr val="1A1A1A"/>
                </a:solidFill>
                <a:latin typeface="Arial"/>
              </a:rPr>
              <a:t>Official statistics</a:t>
            </a:r>
          </a:p>
        </p:txBody>
      </p:sp>
      <p:sp>
        <p:nvSpPr>
          <p:cNvPr id="12" name="Rectangle 11"/>
          <p:cNvSpPr/>
          <p:nvPr/>
        </p:nvSpPr>
        <p:spPr>
          <a:xfrm>
            <a:off x="621792" y="36713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75818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712464"/>
            <a:ext cx="10527487" cy="704087"/>
          </a:xfrm>
          <a:prstGeom prst="rect">
            <a:avLst/>
          </a:prstGeom>
          <a:noFill/>
        </p:spPr>
        <p:txBody>
          <a:bodyPr wrap="square">
            <a:spAutoFit/>
          </a:bodyPr>
          <a:lstStyle/>
          <a:p>
            <a:pPr>
              <a:spcAft>
                <a:spcPts val="300"/>
              </a:spcAft>
            </a:pPr>
            <a:r>
              <a:rPr sz="1900" b="1" i="0">
                <a:solidFill>
                  <a:srgbClr val="1A1A1A"/>
                </a:solidFill>
                <a:latin typeface="Arial"/>
              </a:rPr>
              <a:t>An internal report</a:t>
            </a:r>
          </a:p>
        </p:txBody>
      </p:sp>
      <p:sp>
        <p:nvSpPr>
          <p:cNvPr id="15" name="Rectangle 14"/>
          <p:cNvSpPr/>
          <p:nvPr/>
        </p:nvSpPr>
        <p:spPr>
          <a:xfrm>
            <a:off x="621792" y="44211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50799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462272"/>
            <a:ext cx="10527487" cy="704087"/>
          </a:xfrm>
          <a:prstGeom prst="rect">
            <a:avLst/>
          </a:prstGeom>
          <a:noFill/>
        </p:spPr>
        <p:txBody>
          <a:bodyPr wrap="square">
            <a:spAutoFit/>
          </a:bodyPr>
          <a:lstStyle/>
          <a:p>
            <a:pPr>
              <a:spcAft>
                <a:spcPts val="300"/>
              </a:spcAft>
            </a:pPr>
            <a:r>
              <a:rPr sz="1900" b="1" i="0">
                <a:solidFill>
                  <a:srgbClr val="1A1A1A"/>
                </a:solidFill>
                <a:latin typeface="Arial"/>
              </a:rPr>
              <a:t>A statement in an interview</a:t>
            </a:r>
          </a:p>
        </p:txBody>
      </p:sp>
      <p:sp>
        <p:nvSpPr>
          <p:cNvPr id="18" name="TextBox 17"/>
          <p:cNvSpPr txBox="1"/>
          <p:nvPr/>
        </p:nvSpPr>
        <p:spPr>
          <a:xfrm>
            <a:off x="658368" y="5321808"/>
            <a:ext cx="10881360" cy="548640"/>
          </a:xfrm>
          <a:prstGeom prst="rect">
            <a:avLst/>
          </a:prstGeom>
          <a:noFill/>
        </p:spPr>
        <p:txBody>
          <a:bodyPr wrap="square">
            <a:spAutoFit/>
          </a:bodyPr>
          <a:lstStyle/>
          <a:p>
            <a:r>
              <a:rPr sz="1550" b="1" i="0">
                <a:solidFill>
                  <a:srgbClr val="006E96"/>
                </a:solidFill>
                <a:latin typeface="Arial"/>
              </a:rPr>
              <a:t>When sources disagree, the higher level wins. A verified position needs one source at level 1, or two independent sources at levels 2 or 3.</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templates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The map of the bodies involved</a:t>
            </a:r>
          </a:p>
          <a:p>
            <a:pPr>
              <a:spcAft>
                <a:spcPts val="300"/>
              </a:spcAft>
            </a:pPr>
            <a:r>
              <a:rPr sz="1550" b="0" i="0">
                <a:solidFill>
                  <a:srgbClr val="595959"/>
                </a:solidFill>
                <a:latin typeface="Arial"/>
              </a:rPr>
              <a:t>Who takes part, and how.</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session plan</a:t>
            </a:r>
          </a:p>
          <a:p>
            <a:pPr>
              <a:spcAft>
                <a:spcPts val="300"/>
              </a:spcAft>
            </a:pPr>
            <a:r>
              <a:rPr sz="1550" b="0" i="0">
                <a:solidFill>
                  <a:srgbClr val="595959"/>
                </a:solidFill>
                <a:latin typeface="Arial"/>
              </a:rPr>
              <a:t>Each interview and workshop, the points to clarify, the evidence to bring.</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reconciled-response table</a:t>
            </a:r>
          </a:p>
          <a:p>
            <a:pPr>
              <a:spcAft>
                <a:spcPts val="300"/>
              </a:spcAft>
            </a:pPr>
            <a:r>
              <a:rPr sz="1550" b="0" i="0">
                <a:solidFill>
                  <a:srgbClr val="595959"/>
                </a:solidFill>
                <a:latin typeface="Arial"/>
              </a:rPr>
              <a:t>The verified position on every point, with its evidence and its status.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agenda of the final validation workshop</a:t>
            </a:r>
          </a:p>
          <a:p>
            <a:pPr>
              <a:spcAft>
                <a:spcPts val="300"/>
              </a:spcAft>
            </a:pPr>
            <a:r>
              <a:rPr sz="1550" b="0" i="0">
                <a:solidFill>
                  <a:srgbClr val="595959"/>
                </a:solidFill>
                <a:latin typeface="Arial"/>
              </a:rPr>
              <a:t>Half a day, chaired by the validation chair.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points Progressa's team verified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AF-DAT-02 — corrected</a:t>
            </a:r>
          </a:p>
          <a:p>
            <a:pPr>
              <a:spcAft>
                <a:spcPts val="300"/>
              </a:spcAft>
            </a:pPr>
            <a:r>
              <a:rPr sz="1550" b="0" i="0">
                <a:solidFill>
                  <a:srgbClr val="595959"/>
                </a:solidFill>
                <a:latin typeface="Arial"/>
              </a:rPr>
              <a:t>PEMIS holds totals by district, grade and sex; PEMIS shown in session V-01 (level 1).</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AF-INT-01 — verified</a:t>
            </a:r>
          </a:p>
          <a:p>
            <a:pPr>
              <a:spcAft>
                <a:spcPts val="300"/>
              </a:spcAft>
            </a:pPr>
            <a:r>
              <a:rPr sz="1550" b="0" i="0">
                <a:solidFill>
                  <a:srgbClr val="595959"/>
                </a:solidFill>
                <a:latin typeface="Arial"/>
              </a:rPr>
              <a:t>MoEYS is not a member of Linkup and runs no service on it; member list exported by PDGA in session V-02 (level 1).</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AF-IDN-02 — verified</a:t>
            </a:r>
          </a:p>
          <a:p>
            <a:pPr>
              <a:spcAft>
                <a:spcPts val="300"/>
              </a:spcAft>
            </a:pPr>
            <a:r>
              <a:rPr sz="1550" b="0" i="0">
                <a:solidFill>
                  <a:srgbClr val="595959"/>
                </a:solidFill>
                <a:latin typeface="Arial"/>
              </a:rPr>
              <a:t>Only PNEA reads persons from PNIA, through the read by national number; no education service is a client of PNIA's sign-in; shown in session V-03 (level 1).</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Worked example E4, illustrative.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An answer becomes a finding only when it has been checked against documents, in interviews and workshops, and in a validation session with the people who gave it.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Set two disagreeing sources side by side and draft the clarification question.</a:t>
            </a:r>
          </a:p>
          <a:p>
            <a:pPr algn="l">
              <a:spcAft>
                <a:spcPts val="400"/>
              </a:spcAft>
            </a:pPr>
            <a:r>
              <a:rPr sz="1800" b="0" i="0">
                <a:solidFill>
                  <a:srgbClr val="595959"/>
                </a:solidFill>
                <a:latin typeface="Arial"/>
              </a:rPr>
              <a:t>The prompt in the companion material gives you a two-column comparison of the sources with their levels, the evidence that would settle the point, and the question for the clarification interview.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 5.4, steps 2 to 4</a:t>
            </a:r>
          </a:p>
          <a:p>
            <a:pPr>
              <a:spcAft>
                <a:spcPts val="1200"/>
              </a:spcAft>
            </a:pPr>
            <a:r>
              <a:rPr sz="1700" b="0" i="0">
                <a:solidFill>
                  <a:srgbClr val="1A1A1A"/>
                </a:solidFill>
                <a:latin typeface="Arial"/>
              </a:rPr>
              <a:t>•  The verification templates and the evidence ladder — this course's own instruments, in the assessment toolkit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