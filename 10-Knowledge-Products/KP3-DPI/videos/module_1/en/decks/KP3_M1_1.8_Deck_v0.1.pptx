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52" r:id="rId74"/>
    <p:sldId id="2753" r:id="rId75"/>
    <p:sldId id="2754" r:id="rId76"/>
    <p:sldId id="2755" r:id="rId77"/>
    <p:sldId id="2756" r:id="rId78"/>
    <p:sldId id="2757" r:id="rId79"/>
    <p:sldId id="2758" r:id="rId80"/>
    <p:sldId id="2759" r:id="rId8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74" Type="http://schemas.openxmlformats.org/officeDocument/2006/relationships/slide" Target="slides/slide59.xml"/><Relationship Id="rId75" Type="http://schemas.openxmlformats.org/officeDocument/2006/relationships/slide" Target="slides/slide60.xml"/><Relationship Id="rId76" Type="http://schemas.openxmlformats.org/officeDocument/2006/relationships/slide" Target="slides/slide61.xml"/><Relationship Id="rId77" Type="http://schemas.openxmlformats.org/officeDocument/2006/relationships/slide" Target="slides/slide62.xml"/><Relationship Id="rId78" Type="http://schemas.openxmlformats.org/officeDocument/2006/relationships/slide" Target="slides/slide63.xml"/><Relationship Id="rId79" Type="http://schemas.openxmlformats.org/officeDocument/2006/relationships/slide" Target="slides/slide64.xml"/><Relationship Id="rId80" Type="http://schemas.openxmlformats.org/officeDocument/2006/relationships/slide" Target="slides/slide65.xml"/><Relationship Id="rId81" Type="http://schemas.openxmlformats.org/officeDocument/2006/relationships/slide" Target="slides/slide6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Once the country is scored, the money requests come. The first question for each is whose system it is. Is it shared by every sector, or does it belong to one? Get that wrong, and the budget pays for the same thing twice.</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UNDP's compendium on digital public infrastructure draws three layers. At the bottom are the governance foundations: leadership, accountable institutions, policy, law, engagement with users, and technical expertise. In the middle is the core of the infrastructure: digital identity, digital payments and data sharing based on consent, with others emerging. On top are the sector applications, and digital education is one of them, beside digital health and others. So in UNDP's picture, education's own systems stand on the core. They are not part of it.</a:t>
            </a:r>
          </a:p>
          <a:p/>
          <a:p>
            <a:r>
              <a:t>Production cue: reveal the layers bottom to top.</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registers come next. Digital ID, payments and legal data registries count as basic national infrastructure. A country should have a set of main state registries, and an Education Register is one of them. Digitalising a state registry needs two building blocks: Registration and a Digital Registry. So a learner register is a state register, but it belongs to education, and so does the registration service that writes to it.</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Identity shows why the line matters. The GovStack Identity specification covers foundational identity: proof of who a person is, for a wide variety of public and private services. It places functional identity, for one purpose or one sector, outside its scope, and it names education as one such sector. It also notes that where a proper foundational identity exists, a separate functional one is no longer needed. So education does not build an identity of its own. Its services use the national one.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Now sort Progressa, the fictional country of these examples. Its governance foundations include the mandate of PDGA, the digital government authority, for the national exchange, the education act and the data protection act. Its core is the identity and sign-in of PNIA, the identity authority, and Linkup, the data exchange. A Payments block belongs there too: it reaches PayPro, the payment provider, through its payer bank, and it is not yet on Linkup. Education's own layer holds PLR, the learner register, and PEMIS, the school information system. The learner registration service, still to be built, belongs there too. Fund the core once, for every sector. Fund the register and the service as education's, built on the core. A sector's register funded as national infrastructure takes money from the core. A core funded inside one project leaves every other sector to build it again.</a:t>
            </a:r>
          </a:p>
          <a:p/>
          <a:p>
            <a:r>
              <a:t>Production cue: the pivotal slide of this video — the funding rule made concrete.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Identity, payments and data exchange serve every sector. The learner register and its registration service are education's own, standing on them. Fund each as what it is.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6.xml"/></Relationships>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1.8</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1.8</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Foundational blocks and the sector's own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Identity, payments and data exchange are foundations for every sector, while a learner register and its registration service belong to education and stand on them, and each must be funded as what it is.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When a ministry asks for money for a system, the first question is whose system it is.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Shared by every sector — or one sector's own?</a:t>
            </a:r>
          </a:p>
          <a:p>
            <a:pPr>
              <a:spcAft>
                <a:spcPts val="800"/>
              </a:spcAft>
            </a:pPr>
            <a:r>
              <a:rPr sz="1700" b="0" i="0">
                <a:solidFill>
                  <a:srgbClr val="595959"/>
                </a:solidFill>
                <a:latin typeface="Arial"/>
              </a:rPr>
              <a:t>Get that wrong, and the budget pays for the same thing twice.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1.8 · Foundational blocks and the sector's own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layers</a:t>
            </a:r>
          </a:p>
        </p:txBody>
      </p:sp>
      <p:sp>
        <p:nvSpPr>
          <p:cNvPr id="4" name="Rounded Rectangle 3"/>
          <p:cNvSpPr/>
          <p:nvPr/>
        </p:nvSpPr>
        <p:spPr>
          <a:xfrm>
            <a:off x="658368" y="1508760"/>
            <a:ext cx="10881360" cy="105156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SECTOR APPLICATIONS</a:t>
            </a:r>
          </a:p>
          <a:p>
            <a:pPr algn="l">
              <a:spcAft>
                <a:spcPts val="300"/>
              </a:spcAft>
            </a:pPr>
            <a:r>
              <a:rPr sz="1500" b="0" i="0">
                <a:solidFill>
                  <a:srgbClr val="1A1A1A"/>
                </a:solidFill>
                <a:latin typeface="Arial"/>
              </a:rPr>
              <a:t>Digital education, digital health, and others.</a:t>
            </a:r>
          </a:p>
        </p:txBody>
      </p:sp>
      <p:sp>
        <p:nvSpPr>
          <p:cNvPr id="5" name="Rounded Rectangle 4"/>
          <p:cNvSpPr/>
          <p:nvPr/>
        </p:nvSpPr>
        <p:spPr>
          <a:xfrm>
            <a:off x="658368" y="2724911"/>
            <a:ext cx="10881360" cy="105156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CORE DPI</a:t>
            </a:r>
          </a:p>
          <a:p>
            <a:pPr algn="l">
              <a:spcAft>
                <a:spcPts val="300"/>
              </a:spcAft>
            </a:pPr>
            <a:r>
              <a:rPr sz="1500" b="0" i="0">
                <a:solidFill>
                  <a:srgbClr val="1A1A1A"/>
                </a:solidFill>
                <a:latin typeface="Arial"/>
              </a:rPr>
              <a:t>Digital identity, digital payments, consent-based data sharing — others emerging.</a:t>
            </a:r>
          </a:p>
        </p:txBody>
      </p:sp>
      <p:sp>
        <p:nvSpPr>
          <p:cNvPr id="6" name="Rounded Rectangle 5"/>
          <p:cNvSpPr/>
          <p:nvPr/>
        </p:nvSpPr>
        <p:spPr>
          <a:xfrm>
            <a:off x="658368" y="3941063"/>
            <a:ext cx="10881360" cy="105156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FFFFFF"/>
                </a:solidFill>
                <a:latin typeface="Arial"/>
              </a:rPr>
              <a:t>GOVERNANCE FOUNDATIONS</a:t>
            </a:r>
          </a:p>
          <a:p>
            <a:pPr algn="l">
              <a:spcAft>
                <a:spcPts val="300"/>
              </a:spcAft>
            </a:pPr>
            <a:r>
              <a:rPr sz="1500" b="0" i="0">
                <a:solidFill>
                  <a:srgbClr val="FFFFFF"/>
                </a:solidFill>
                <a:latin typeface="Arial"/>
              </a:rPr>
              <a:t>Leadership, institutions, policy, law, engagement, technical expertise.</a:t>
            </a:r>
          </a:p>
        </p:txBody>
      </p:sp>
      <p:sp>
        <p:nvSpPr>
          <p:cNvPr id="7" name="TextBox 6"/>
          <p:cNvSpPr txBox="1"/>
          <p:nvPr/>
        </p:nvSpPr>
        <p:spPr>
          <a:xfrm>
            <a:off x="658368" y="5248655"/>
            <a:ext cx="10881360" cy="548640"/>
          </a:xfrm>
          <a:prstGeom prst="rect">
            <a:avLst/>
          </a:prstGeom>
          <a:noFill/>
        </p:spPr>
        <p:txBody>
          <a:bodyPr wrap="square">
            <a:spAutoFit/>
          </a:bodyPr>
          <a:lstStyle/>
          <a:p>
            <a:r>
              <a:rPr sz="1550" b="1" i="0">
                <a:solidFill>
                  <a:srgbClr val="006E96"/>
                </a:solidFill>
                <a:latin typeface="Arial"/>
              </a:rPr>
              <a:t>Education's own systems stand on the core. They are not part of it.</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1.8 · Foundational blocks and the sector's own</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Where the registers sit</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Basic national infrastructure</a:t>
            </a:r>
          </a:p>
          <a:p>
            <a:pPr>
              <a:spcAft>
                <a:spcPts val="300"/>
              </a:spcAft>
            </a:pPr>
            <a:r>
              <a:rPr sz="1550" b="0" i="0">
                <a:solidFill>
                  <a:srgbClr val="595959"/>
                </a:solidFill>
                <a:latin typeface="Arial"/>
              </a:rPr>
              <a:t>Digital ID, payments, legal data registries.</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A state registry needs two building blocks</a:t>
            </a:r>
          </a:p>
          <a:p>
            <a:pPr>
              <a:spcAft>
                <a:spcPts val="300"/>
              </a:spcAft>
            </a:pPr>
            <a:r>
              <a:rPr sz="1550" b="0" i="0">
                <a:solidFill>
                  <a:srgbClr val="595959"/>
                </a:solidFill>
                <a:latin typeface="Arial"/>
              </a:rPr>
              <a:t>Registration and Digital Registry.</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The main state registries include an Education Register</a:t>
            </a:r>
          </a:p>
          <a:p>
            <a:pPr>
              <a:spcAft>
                <a:spcPts val="300"/>
              </a:spcAft>
            </a:pPr>
            <a:r>
              <a:rPr sz="1550" b="0" i="0">
                <a:solidFill>
                  <a:srgbClr val="595959"/>
                </a:solidFill>
                <a:latin typeface="Arial"/>
              </a:rPr>
              <a:t>One of the registers a country should have.</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A learner register is a state register — but it belongs to education, and so does the registration service that writes to it.</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1.8 · Foundational blocks and the sector's own</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Identity is foundational; a learner's identity is not</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The Identity block covers foundational identity: proof of identity for a wide variety of public and private services.</a:t>
            </a:r>
          </a:p>
          <a:p>
            <a:pPr>
              <a:spcAft>
                <a:spcPts val="1200"/>
              </a:spcAft>
            </a:pPr>
            <a:r>
              <a:rPr sz="2000" b="0" i="0">
                <a:solidFill>
                  <a:srgbClr val="1A1A1A"/>
                </a:solidFill>
                <a:latin typeface="Arial"/>
              </a:rPr>
              <a:t>A functional identity, for one purpose or one sector such as education, is outside its scope.</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Education does not build an identity of its own. Its services use the national one.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1.8 · Foundational blocks and the sector's own</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sorted into the three layers</a:t>
            </a:r>
          </a:p>
        </p:txBody>
      </p:sp>
      <p:sp>
        <p:nvSpPr>
          <p:cNvPr id="4" name="TextBox 3"/>
          <p:cNvSpPr txBox="1"/>
          <p:nvPr/>
        </p:nvSpPr>
        <p:spPr>
          <a:xfrm>
            <a:off x="658368" y="1417320"/>
            <a:ext cx="2176272" cy="384048"/>
          </a:xfrm>
          <a:prstGeom prst="rect">
            <a:avLst/>
          </a:prstGeom>
          <a:noFill/>
        </p:spPr>
        <p:txBody>
          <a:bodyPr wrap="square">
            <a:spAutoFit/>
          </a:bodyPr>
          <a:lstStyle/>
          <a:p>
            <a:r>
              <a:rPr sz="1400" b="1" i="0">
                <a:solidFill>
                  <a:srgbClr val="006E96"/>
                </a:solidFill>
                <a:latin typeface="Arial"/>
              </a:rPr>
              <a:t>Layer</a:t>
            </a:r>
          </a:p>
        </p:txBody>
      </p:sp>
      <p:sp>
        <p:nvSpPr>
          <p:cNvPr id="5" name="TextBox 4"/>
          <p:cNvSpPr txBox="1"/>
          <p:nvPr/>
        </p:nvSpPr>
        <p:spPr>
          <a:xfrm>
            <a:off x="2944368" y="1417320"/>
            <a:ext cx="5285232" cy="384048"/>
          </a:xfrm>
          <a:prstGeom prst="rect">
            <a:avLst/>
          </a:prstGeom>
          <a:noFill/>
        </p:spPr>
        <p:txBody>
          <a:bodyPr wrap="square">
            <a:spAutoFit/>
          </a:bodyPr>
          <a:lstStyle/>
          <a:p>
            <a:r>
              <a:rPr sz="1400" b="1" i="0">
                <a:solidFill>
                  <a:srgbClr val="006E96"/>
                </a:solidFill>
                <a:latin typeface="Arial"/>
              </a:rPr>
              <a:t>Progressa</a:t>
            </a:r>
          </a:p>
        </p:txBody>
      </p:sp>
      <p:sp>
        <p:nvSpPr>
          <p:cNvPr id="6" name="TextBox 5"/>
          <p:cNvSpPr txBox="1"/>
          <p:nvPr/>
        </p:nvSpPr>
        <p:spPr>
          <a:xfrm>
            <a:off x="8339328" y="1417320"/>
            <a:ext cx="3090672" cy="384048"/>
          </a:xfrm>
          <a:prstGeom prst="rect">
            <a:avLst/>
          </a:prstGeom>
          <a:noFill/>
        </p:spPr>
        <p:txBody>
          <a:bodyPr wrap="square">
            <a:spAutoFit/>
          </a:bodyPr>
          <a:lstStyle/>
          <a:p>
            <a:r>
              <a:rPr sz="1400" b="1" i="0">
                <a:solidFill>
                  <a:srgbClr val="006E96"/>
                </a:solidFill>
                <a:latin typeface="Arial"/>
              </a:rPr>
              <a:t>Funded as</a:t>
            </a:r>
          </a:p>
        </p:txBody>
      </p:sp>
      <p:sp>
        <p:nvSpPr>
          <p:cNvPr id="7" name="Rectangle 6"/>
          <p:cNvSpPr/>
          <p:nvPr/>
        </p:nvSpPr>
        <p:spPr>
          <a:xfrm>
            <a:off x="658368" y="1801368"/>
            <a:ext cx="10881360" cy="15875"/>
          </a:xfrm>
          <a:prstGeom prst="rect">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911095"/>
            <a:ext cx="2176272" cy="1207008"/>
          </a:xfrm>
          <a:prstGeom prst="rect">
            <a:avLst/>
          </a:prstGeom>
          <a:noFill/>
        </p:spPr>
        <p:txBody>
          <a:bodyPr wrap="square">
            <a:spAutoFit/>
          </a:bodyPr>
          <a:lstStyle/>
          <a:p>
            <a:r>
              <a:rPr sz="1400" b="1" i="0">
                <a:solidFill>
                  <a:srgbClr val="1A1A1A"/>
                </a:solidFill>
                <a:latin typeface="Arial"/>
              </a:rPr>
              <a:t>Governance foundations</a:t>
            </a:r>
          </a:p>
        </p:txBody>
      </p:sp>
      <p:sp>
        <p:nvSpPr>
          <p:cNvPr id="9" name="TextBox 8"/>
          <p:cNvSpPr txBox="1"/>
          <p:nvPr/>
        </p:nvSpPr>
        <p:spPr>
          <a:xfrm>
            <a:off x="2944368" y="1911095"/>
            <a:ext cx="5285232" cy="1207008"/>
          </a:xfrm>
          <a:prstGeom prst="rect">
            <a:avLst/>
          </a:prstGeom>
          <a:noFill/>
        </p:spPr>
        <p:txBody>
          <a:bodyPr wrap="square">
            <a:spAutoFit/>
          </a:bodyPr>
          <a:lstStyle/>
          <a:p>
            <a:r>
              <a:rPr sz="1400" b="0" i="0">
                <a:solidFill>
                  <a:srgbClr val="1A1A1A"/>
                </a:solidFill>
                <a:latin typeface="Arial"/>
              </a:rPr>
              <a:t>PDGA's mandate for the national exchange; the education act; the data protection act</a:t>
            </a:r>
          </a:p>
        </p:txBody>
      </p:sp>
      <p:sp>
        <p:nvSpPr>
          <p:cNvPr id="10" name="TextBox 9"/>
          <p:cNvSpPr txBox="1"/>
          <p:nvPr/>
        </p:nvSpPr>
        <p:spPr>
          <a:xfrm>
            <a:off x="8339328" y="1911095"/>
            <a:ext cx="3090672" cy="1207008"/>
          </a:xfrm>
          <a:prstGeom prst="rect">
            <a:avLst/>
          </a:prstGeom>
          <a:noFill/>
        </p:spPr>
        <p:txBody>
          <a:bodyPr wrap="square">
            <a:spAutoFit/>
          </a:bodyPr>
          <a:lstStyle/>
          <a:p>
            <a:r>
              <a:rPr sz="1400" b="0" i="0">
                <a:solidFill>
                  <a:srgbClr val="1A1A1A"/>
                </a:solidFill>
                <a:latin typeface="Arial"/>
              </a:rPr>
              <a:t>Law and budget, decided above any one project</a:t>
            </a:r>
          </a:p>
        </p:txBody>
      </p:sp>
      <p:sp>
        <p:nvSpPr>
          <p:cNvPr id="11" name="Rectangle 10"/>
          <p:cNvSpPr/>
          <p:nvPr/>
        </p:nvSpPr>
        <p:spPr>
          <a:xfrm>
            <a:off x="658368" y="31363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3191256"/>
            <a:ext cx="2176272" cy="1207008"/>
          </a:xfrm>
          <a:prstGeom prst="rect">
            <a:avLst/>
          </a:prstGeom>
          <a:noFill/>
        </p:spPr>
        <p:txBody>
          <a:bodyPr wrap="square">
            <a:spAutoFit/>
          </a:bodyPr>
          <a:lstStyle/>
          <a:p>
            <a:r>
              <a:rPr sz="1400" b="1" i="0">
                <a:solidFill>
                  <a:srgbClr val="1A1A1A"/>
                </a:solidFill>
                <a:latin typeface="Arial"/>
              </a:rPr>
              <a:t>Core</a:t>
            </a:r>
          </a:p>
        </p:txBody>
      </p:sp>
      <p:sp>
        <p:nvSpPr>
          <p:cNvPr id="13" name="TextBox 12"/>
          <p:cNvSpPr txBox="1"/>
          <p:nvPr/>
        </p:nvSpPr>
        <p:spPr>
          <a:xfrm>
            <a:off x="2944368" y="3191256"/>
            <a:ext cx="5285232" cy="1207008"/>
          </a:xfrm>
          <a:prstGeom prst="rect">
            <a:avLst/>
          </a:prstGeom>
          <a:noFill/>
        </p:spPr>
        <p:txBody>
          <a:bodyPr wrap="square">
            <a:spAutoFit/>
          </a:bodyPr>
          <a:lstStyle/>
          <a:p>
            <a:r>
              <a:rPr sz="1400" b="0" i="0">
                <a:solidFill>
                  <a:srgbClr val="1A1A1A"/>
                </a:solidFill>
                <a:latin typeface="Arial"/>
              </a:rPr>
              <a:t>PNIA's identity and sign-in; Linkup, the data exchange; the Payments block, which reaches PayPro through its payer bank</a:t>
            </a:r>
          </a:p>
        </p:txBody>
      </p:sp>
      <p:sp>
        <p:nvSpPr>
          <p:cNvPr id="14" name="TextBox 13"/>
          <p:cNvSpPr txBox="1"/>
          <p:nvPr/>
        </p:nvSpPr>
        <p:spPr>
          <a:xfrm>
            <a:off x="8339328" y="3191256"/>
            <a:ext cx="3090672" cy="1207008"/>
          </a:xfrm>
          <a:prstGeom prst="rect">
            <a:avLst/>
          </a:prstGeom>
          <a:noFill/>
        </p:spPr>
        <p:txBody>
          <a:bodyPr wrap="square">
            <a:spAutoFit/>
          </a:bodyPr>
          <a:lstStyle/>
          <a:p>
            <a:r>
              <a:rPr sz="1400" b="0" i="0">
                <a:solidFill>
                  <a:srgbClr val="1A1A1A"/>
                </a:solidFill>
                <a:latin typeface="Arial"/>
              </a:rPr>
              <a:t>Once, for every sector</a:t>
            </a:r>
          </a:p>
        </p:txBody>
      </p:sp>
      <p:sp>
        <p:nvSpPr>
          <p:cNvPr id="15" name="Rectangle 14"/>
          <p:cNvSpPr/>
          <p:nvPr/>
        </p:nvSpPr>
        <p:spPr>
          <a:xfrm>
            <a:off x="658368" y="44165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4471416"/>
            <a:ext cx="2176272" cy="1207008"/>
          </a:xfrm>
          <a:prstGeom prst="rect">
            <a:avLst/>
          </a:prstGeom>
          <a:noFill/>
        </p:spPr>
        <p:txBody>
          <a:bodyPr wrap="square">
            <a:spAutoFit/>
          </a:bodyPr>
          <a:lstStyle/>
          <a:p>
            <a:r>
              <a:rPr sz="1400" b="1" i="0">
                <a:solidFill>
                  <a:srgbClr val="1A1A1A"/>
                </a:solidFill>
                <a:latin typeface="Arial"/>
              </a:rPr>
              <a:t>Education</a:t>
            </a:r>
          </a:p>
        </p:txBody>
      </p:sp>
      <p:sp>
        <p:nvSpPr>
          <p:cNvPr id="17" name="TextBox 16"/>
          <p:cNvSpPr txBox="1"/>
          <p:nvPr/>
        </p:nvSpPr>
        <p:spPr>
          <a:xfrm>
            <a:off x="2944368" y="4471416"/>
            <a:ext cx="5285232" cy="1207008"/>
          </a:xfrm>
          <a:prstGeom prst="rect">
            <a:avLst/>
          </a:prstGeom>
          <a:noFill/>
        </p:spPr>
        <p:txBody>
          <a:bodyPr wrap="square">
            <a:spAutoFit/>
          </a:bodyPr>
          <a:lstStyle/>
          <a:p>
            <a:r>
              <a:rPr sz="1400" b="0" i="0">
                <a:solidFill>
                  <a:srgbClr val="1A1A1A"/>
                </a:solidFill>
                <a:latin typeface="Arial"/>
              </a:rPr>
              <a:t>PLR, the learner register; the learner registration service; PEMIS</a:t>
            </a:r>
          </a:p>
        </p:txBody>
      </p:sp>
      <p:sp>
        <p:nvSpPr>
          <p:cNvPr id="18" name="TextBox 17"/>
          <p:cNvSpPr txBox="1"/>
          <p:nvPr/>
        </p:nvSpPr>
        <p:spPr>
          <a:xfrm>
            <a:off x="8339328" y="4471416"/>
            <a:ext cx="3090672" cy="1207008"/>
          </a:xfrm>
          <a:prstGeom prst="rect">
            <a:avLst/>
          </a:prstGeom>
          <a:noFill/>
        </p:spPr>
        <p:txBody>
          <a:bodyPr wrap="square">
            <a:spAutoFit/>
          </a:bodyPr>
          <a:lstStyle/>
          <a:p>
            <a:r>
              <a:rPr sz="1400" b="0" i="0">
                <a:solidFill>
                  <a:srgbClr val="1A1A1A"/>
                </a:solidFill>
                <a:latin typeface="Arial"/>
              </a:rPr>
              <a:t>By the sector, standing on the core</a:t>
            </a:r>
          </a:p>
        </p:txBody>
      </p:sp>
      <p:sp>
        <p:nvSpPr>
          <p:cNvPr id="19" name="TextBox 18"/>
          <p:cNvSpPr txBox="1"/>
          <p:nvPr/>
        </p:nvSpPr>
        <p:spPr>
          <a:xfrm>
            <a:off x="658368" y="5806440"/>
            <a:ext cx="10881360" cy="365760"/>
          </a:xfrm>
          <a:prstGeom prst="rect">
            <a:avLst/>
          </a:prstGeom>
          <a:noFill/>
        </p:spPr>
        <p:txBody>
          <a:bodyPr wrap="square">
            <a:spAutoFit/>
          </a:bodyPr>
          <a:lstStyle/>
          <a:p>
            <a:r>
              <a:rPr sz="1200" b="0" i="1">
                <a:solidFill>
                  <a:srgbClr val="595959"/>
                </a:solidFill>
                <a:latin typeface="Arial"/>
              </a:rPr>
              <a:t>Illustrative.</a:t>
            </a:r>
          </a:p>
        </p:txBody>
      </p:sp>
      <p:sp>
        <p:nvSpPr>
          <p:cNvPr id="20" name="TextBox 1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1.8 · Foundational blocks and the sector's own</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200" b="1" i="0">
                <a:solidFill>
                  <a:srgbClr val="1A1A1A"/>
                </a:solidFill>
                <a:latin typeface="Arial"/>
              </a:rPr>
              <a:t>Identity, payments and data exchange are foundations for every sector, while a learner register and its registration service belong to education and stand on them, and each must be funded as what it is.</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Decide whether a proposed system is a shared block, a sector's register or a sector's application.</a:t>
            </a:r>
          </a:p>
          <a:p>
            <a:pPr algn="l">
              <a:spcAft>
                <a:spcPts val="400"/>
              </a:spcAft>
            </a:pPr>
            <a:r>
              <a:rPr sz="1800" b="0" i="0">
                <a:solidFill>
                  <a:srgbClr val="595959"/>
                </a:solidFill>
                <a:latin typeface="Arial"/>
              </a:rPr>
              <a:t>The prompt in the companion material gives you a three-question assessment with a recommended answer.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1.8 · Foundational blocks and the sector's own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UNDP — Accelerating the SDGs through Digital Public Infrastructure: A Compendium (2023), page 4, Exhibit 2</a:t>
            </a:r>
          </a:p>
          <a:p>
            <a:pPr>
              <a:spcAft>
                <a:spcPts val="1200"/>
              </a:spcAft>
            </a:pPr>
            <a:r>
              <a:rPr sz="1700" b="0" i="0">
                <a:solidFill>
                  <a:srgbClr val="1A1A1A"/>
                </a:solidFill>
                <a:latin typeface="Arial"/>
              </a:rPr>
              <a:t>•  PAERA v1.0 — section 3.3.3, Annex 1 (A1.2.5) and Annex 3</a:t>
            </a:r>
          </a:p>
          <a:p>
            <a:pPr>
              <a:spcAft>
                <a:spcPts val="1200"/>
              </a:spcAft>
            </a:pPr>
            <a:r>
              <a:rPr sz="1700" b="0" i="0">
                <a:solidFill>
                  <a:srgbClr val="1A1A1A"/>
                </a:solidFill>
                <a:latin typeface="Arial"/>
              </a:rPr>
              <a:t>•  GovStack Identity Building Block specification, Version 2.0 (December 2025), sections 2 and 3</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1.8 · Foundational blocks and the sector's own</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