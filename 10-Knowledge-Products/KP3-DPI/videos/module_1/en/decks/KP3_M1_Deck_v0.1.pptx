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 id="2763" r:id="rId85"/>
    <p:sldId id="2764" r:id="rId86"/>
    <p:sldId id="2765" r:id="rId87"/>
    <p:sldId id="2766" r:id="rId88"/>
    <p:sldId id="2767" r:id="rId89"/>
    <p:sldId id="2768" r:id="rId90"/>
    <p:sldId id="2769" r:id="rId91"/>
    <p:sldId id="2770" r:id="rId92"/>
    <p:sldId id="2771" r:id="rId93"/>
    <p:sldId id="2772" r:id="rId94"/>
    <p:sldId id="2773" r:id="rId95"/>
    <p:sldId id="2774" r:id="rId96"/>
    <p:sldId id="2775" r:id="rId97"/>
    <p:sldId id="2776" r:id="rId9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 Id="rId98" Type="http://schemas.openxmlformats.org/officeDocument/2006/relationships/slide" Target="slides/slide8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five steps find out where the country stands. Step one frames the work on one page. In Progressa, the fictional country of these examples, the ministry of education sponsors it together with PDGA, the digital government authority. Step two reads what the country has published, with an AI assistant; nothing it drafts is yet a finding. Step three sends one questionnaire to each domain. Step four checks every answer before anything is scored; in Progressa, four verification sessions took place in the eighth week. Step five scores each domain on five stages and puts the result on one table. An assistant may propose each stage; a person decides on the evidence, and a reviewer checks.</a:t>
            </a:r>
          </a:p>
          <a:p/>
          <a:p>
            <a:r>
              <a:t>Production cue: the pivotal slide of this video — the method table, first half. The written guide carries figure F3 and the full table.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step you can say five things: who acts, what goes in, what comes out, who decides, and how the result is checked. Add one more: the tool or template the step uses. The roles are few and they recur. The facilitator plans and runs the assessment and keeps its evidence. A respondent team answers for one domain, with a section lead for each part of its questionnaire. Focal points in other bodies confirm what is said about their systems. Reviewers check each step before the next one starts. At the end, an adopting authority makes the roadmap the government's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Donors and vendors all speak of DPI, digital public infrastructure. Some of what they offer is shared by the whole government. Some of it is one ministry's system under a new name. Before your ministry pays for either, you need a test you can defend.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UNDP defines digital public infrastructure as a set of foundational digital systems. Its compendium of 2023 gives the longer description from the G20 agreement of that year. These are shared digital systems, secure and interoperable. They can be built on open standards. They deliver services at the scale of a whole society. And legal frameworks and enabling rules govern them. The compendium names three kinds so far: digital identity, digital payments, and data sharing based on consent. It expects others to emerge.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From that description the compendium draws four characteristics. Turn them into four marks you can test. First, it serves the whole society, not one region or one group. Second, many services can connect to it, from many providers. Third, it is built on open standards, so that anyone may build on it. Fourth, clear rules govern it, to protect people and prevent misuse. Do not treat the fourth mark as a formality. PAERA, the GovStack reference architecture, places governance, policy and law at the foundation of a country's digital infrastructure, under its four pillars. It also says that such infrastructure shapes what can be built on top of it. The rules decide who gains from it.</a:t>
            </a:r>
          </a:p>
          <a:p/>
          <a:p>
            <a:r>
              <a:t>Production cue: the core of the video — the test the listener carries away. Reveal the four rows one at a time.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does the test matter? See what shared systems did. A World Bank report for the G20 looks at India. There, the share of adults with a transaction account rose from about one in four in 2008 to over 80 percent. The report estimates that without such infrastructure the same change could have taken up to 47 years. The report adds that other policies mattered as well. In Brazil, by the end of February 2022, 67 percent of adults had used Pix, the central bank's payment system, 15 months after its launch. Procurement rules can require interoperability, but they cannot deliver it. A project pays only for its own users. Only whole-of-government planning sees the total: the first ministry pays, and every ministry after it re-uses what was built.</a:t>
            </a:r>
          </a:p>
          <a:p/>
          <a:p>
            <a:r>
              <a:t>On screen: country names in plain typography only — no flags, emblems or logos.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apply the four marks to Progressa, the fictional country of these examples. Its national identity, run by PNIA, the identity authority, covers 78 per cent of adults. Children below the age of issue have no identity number, and no education service uses its sign-in yet. Foundational, with gaps. PayPro, the payment provider, runs a fast-payment system, but no payments service for government is joined to Linkup, the national data exchange, yet. So no education programme can pay through it. Linkup is built for many bodies to connect, but it is still a pilot, and the ministry of education is not a member. PLR, the learner registry, holds records for some learners only. It belongs to education and is not yet the authoritative register. PEMIS, the ministry's school information system, holds totals, not learners. It is a sector application.</a:t>
            </a:r>
          </a:p>
          <a:p/>
          <a:p>
            <a:r>
              <a:t>Production cue: the worked example —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Test anything called DPI against four marks: the whole society, many services, open standards, clear rules. A system that misses a mark is not yet infrastructure, whatever it is called.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a ministry what the country has for digital government, and you often get a list of projects, each with its own donor. A list hides what is missing. One page with five domains shows your minister both.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gives the picture. It says that a country's digital governance infrastructure has two parts. The first is a foundation framework of governance, policy and legal components. The second is four pillars: Access, Digital Data, Interoperability and Digital Identity. Services, such as registering a learner or paying a scholarship, stand on the pillars. PAERA also explains why the pillars come early. They are the technical conditions that services need, and a country should address them before it pursues wide and ambitious plans.</a:t>
            </a:r>
          </a:p>
          <a:p/>
          <a:p>
            <a:r>
              <a:t>Production cue: the centrepiece of the module — the picture every later video scores against. Reveal the foundation first, then the four pillars, then the services on top. Hold it a beat longer. The written guide carries figure F2.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method reads the foundation as a fifth domain beside the four pillars. That reading is this course's own. Its reason is practical: a pillar without a law, a budget and a body that decides is not yet infrastructure. So there are five domains, each with a short code. GOV is governance and policy, with the legal framework. ACC is access: connections, devices, skills, and help for people who need it. DAT is digital data, with the state registers. INT is interoperability, the exchange of data between systems. IDN is digital identity.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map for Progressa, the fictional country of these examples. It is step one of the method, and the first output of the assessment: one page that fixes its scope. For each domain it names the body that answers. For digital data, that is the statistics unit of the ministry of education, which runs PEMIS, its school information system, with PNEA, the examination authority. For interoperability, it is PDGA, the digital government authority, which operates Linkup, the national data exchange. The page also records what is there and what is not. Linkup runs as a pilot. PLR, the learner registry, holds records for some learners only, and is not yet the authoritative learner register.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one page? PAERA describes enterprise architecture as documents that look at an organisation from business and IT together. Their purpose is to close the gap in communication between the two. The five-domain map does the same for a country's infrastructure. It gives the policy side and the technical side one shared language. The minister reads the gaps in law, money and ownership. The architect reads the gaps in systems and data. When they decide what comes first, both point to the same part of the same page. A list of projects cannot do this, because it shows only what someone chose to fund.</a:t>
            </a:r>
          </a:p>
          <a:p/>
          <a:p>
            <a:r>
              <a:t>Production cue: the pivotal slide of this video — the shared-language argument.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Five domains on one page: a foundation of governance, policy and law, and four pillars on it. It shows the minister what exists and what is missing.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minister who commissions a roadmap will ask three things. Who does the work? When must I decide? How will anyone know the result is right? Nine named steps let you answer all three before the work starts.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section that follows is one standalone ~5 minute video. This is the Strategist-facing entry point to KP3 — the public-sector middle manager who commissions the assessment, defends its result to the minister and plans what to build first. Modules 2 to 5 then stand up the four blocks the first proof needs; Module 6 turns the proof into a national roadmap.</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1.1 and 1.2 are the frame. 1.3 to 1.7 are the first five steps of the method — the plan, the desk review, the questionnaires, verification, scoring. 1.8 to 1.10 reason from the result to the first proof for education.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last four steps turn the result into a roadmap. Step six turns findings into gaps and ranks them, and a workshop of the bodies concerned decides the order. Step seven writes the roadmap over time. Its dates stay proposals until the budget and the owners of the work confirm them. Step eight costs the roadmap in four sheets that a finance ministry can read. Step nine sends everything back to the bodies for comment, answers every comment in writing, and revises. In Progressa, the ministry of education and PDGA adopt the roadmap, with the cabinet where the budget requires it. Module 6 takes these four steps in full.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Where do the nine steps come from? No public source gives them in this form. PAERA lists nine questions that a national assessment must answer, and gives no scale. It gives eight steps for assessing one organisation, from setting the criteria to continuous improvement. It also lists seven signs of low maturity, such as a lack of digital data. UNDP's playbook gives six steps that lead from national priorities to a roadmap. The sequence of nine steps is this course's own, drawn from its authors' implementation experience in several countries.</a:t>
            </a:r>
          </a:p>
          <a:p/>
          <a:p>
            <a:r>
              <a:t>Production cue: marked place 1 of 2 (naming) — if ITU agrees to name the country in which the method was first applied, one sentence of provenance is added to the end of this narration in the bundle; nothing else in the video changes.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Nine steps, and for each one five answers: who acts, what goes in, what comes out, who decides, and how the result is checked. A minister can follow that.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assessment usually starts by asking officials for documents, and then waiting. Start instead with what your country has already published. In a few days an AI assistant gives you a first picture, and a list of points to check.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desk review runs on a question bank. The bank in the assessment toolkit holds 62 questions, arranged by the five domains and their 26 parts, called sub-components. Each question has a code. It names the part it informs, the documents that answer it, and what a good answer looks like. Take question DAT-Q03: is there an authoritative register of learners, and which body keeps it? A good answer is one register, kept by a named body under law, linked to the national identity. PAERA, the GovStack reference architecture, lists the subjects such an assessment must cover. It also says that GovStack has a tool for a quick assessment, which it does not name.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assistant works in five stages. It collects what the public sources say, each note with its source and date. It drafts one result per question, with a provisional stage and a confidence between zero and one. It writes the gap between each result and good practice. It assembles a desk report, one chapter per domain. Then it removes duplicate gaps and sorts them, so that each can go to the right person. A person reads the output of every stage before the next one runs. The assistant drafts; it does not decide.</a:t>
            </a:r>
          </a:p>
          <a:p/>
          <a:p>
            <a:r>
              <a:t>Production cue: the pivotal slide of this video. Reveal the stages one at a time; let the closing line land.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run on the public record of Progressa, the fictional country of these examples. It read six sources, from the education statistics yearbook to the data protection act. Desk result AF-DAT-01 says that PLR, the learner registry, holds enrolment records for some learners. Enrolment is still counted from school returns. Provisional stage Basic, confidence 0.8. AF-INT-01 says that Linkup, the national data exchange, runs as a pilot, and that MoEYS, the ministry of education, is not a member: confidence 0.7. AF-DAT-02 suggests learner-level data for secondary schools, with a confidence of only 0.4. The run ends with desk gaps, such as DG-03: PLR not yet the authoritative learner register. It also reads the record against PAERA's seven signs of low maturity. Lack of digital data: yes, for learners.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follows one domain, digital data, through the five stages, from the question bank to the sorted desk gaps. A good run passes when every draft result names its question and its source, carries a provisional stage and a confidence, and is marked unverified. Nothing in it counts as a finding. The point with the lowest confidence goes to the officials first. In Progressa, that point, AF-DAT-02, turned out to be wrong when the officials showed their system.</a:t>
            </a:r>
          </a:p>
          <a:p/>
          <a:p>
            <a:r>
              <a:t>On screen: the storyboard's steps as text, marked 'What a good run shows', in the place of the demonstration segment until it is recorded. The narration says what the walkthrough shows and what counts as a pass, never that it has run.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Read what the country has published, with AI, before you ask anyone. You get first findings and gaps, each tied to its source: a draft to verify, not a verdict.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public record tells you what a country says about its systems. The people who run them know what the systems actually do. Ask them, in writing, and ask for the document behind every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are five questionnaires, one for each domain. PAERA, the GovStack reference architecture, lists nine questions that a national assessment must answer. Each questionnaire expands one or more of them. The digital data questionnaire, for example, expands PAERA's question on the status of the national infrastructure for managing digital data. Together the five ask 93 questions. They cover the same 26 parts, or sub-components, as the desk review of the public record, so every answer can be set beside the desk result for the same part. PAERA names questionnaires, interviews and document review as tools of an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question opens with one short lead question, and then asks for three things: what to describe, what to indicate, and what to provide. Take question D2.2 of the digital data questionnaire: is there one authoritative record of each learner? Describe where a learner's identity and enrolment are recorded today. Indicate whether the record is on paper, in a spreadsheet or in a system. Provide a blank copy of the form or screen used. An answer with a document behind it counts for more than an answer without one. And 'we do not have this' is a useful answer.</a:t>
            </a:r>
          </a:p>
          <a:p/>
          <a:p>
            <a:r>
              <a:t>Production cue: the pivotal slide of this video — the team's blank instrument, as the toolkit words it.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questionnaire comes with two guides. The guide for the respondent says who answers, which documents to collect, how to answer, and what to check before submitting. In a typical case the work takes about 13 working days, and the head of the responding unit signs the answers. The guide for the facilitator says how to prepare, how to run a session, and how to record each answer with its evidence. Respondents describe; they do not score. Each questionnaire also carries the points from the desk review, so that the respondents can confirm or correct them.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Progressa, the fictional country of these examples, answered that question. The statistics unit of its ministry of education replied, with PNEA, the examination authority, in week six of the assessment. There is no single record of a learner. PLR, the learner registry, holds enrolment records for some learners and serves them to PNEA alone. Primary schools keep class registers on paper. Each school sends totals by grade and sex once a year, and PEMIS, the ministry's school information system, holds no record of individual learners. The answer names its documents: the blank annual school return form and the PEMIS data dictionary.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Five questionnaires, one for each domain, put the questions to the people who run the systems. Every answer names its evidence, or says plainly that none exists.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questionnaire answer is what a body says about itself. A desk result is what the public record suggests. Neither is a finding yet. Score them as they stand, and the first official who disagrees can overturn your result.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Verification runs in six activities, in order. The facilitator receives the signed questionnaires. The facilitator then reads every document they name, and compares it with the desk results. Each disputed point goes to the person who owns it, in a clarification interview. In technical workshops the team sees the systems working: a screen, a report, a log. The facilitator then writes a verified position for every point. Last, a validation workshop with all the bodies closes what is still disputed. PAERA, the GovStack reference architecture, names the same tools: document review, interviews and focus groups, followed by the conduct of the assessment and the analysis of its results.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sources disagree, a rule settles it: the evidence ladder. A system seen working stands highest. Then comes an official document in force, such as a law or an approved budget. Then official statistics, then an internal report, and last a statement in an interview. The higher level wins. A position counts as verified only with one source at the first level, or with two independent sources at the second or third. Where two sources at the same level still disagree, the point is marked disputed and goes to the validation workshop.</a:t>
            </a:r>
          </a:p>
          <a:p/>
          <a:p>
            <a:r>
              <a:t>Production cue: the pivotal slide of this video — the rule that settles disagreements.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blank templates carry the work. The map of the bodies involved says who takes part, and how. The session plan sets out each interview and workshop, with the points to clarify and the evidence to bring. The reconciled-response table holds the verified position on every point, with its evidence and its status: verified, corrected or disputed. The agenda of the final validation workshop orders the half day in which every body sees the result. A validation chair, a senior official named by the sponsor of the assessment, decides the points still disputed.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worked in Progressa, the fictional country of these examples. Sessions were held in week eight. Here are three of the points they settled. The desk review had suggested that PEMIS, the ministry's school information system, held learner-level data. In session V-01 the team saw PEMIS working: it holds totals by district, grade and sex. The point was corrected. In session V-02, PDGA, which operates Linkup, the data exchange, exported its member list: MoEYS, the ministry of education, is not a member. Verified. In session V-03, PNIA, the identity authority, showed its service log. Only PNEA, the examination authority, reads persons from PNIA, by national number. No education service uses PNIA's sign-in. Verified. All three were settled at the first level: a system seen working.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An answer becomes a finding only after it is checked: in documents, in interviews and workshops, and in a validation session with the people who gave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assessors who read the same evidence should reach the same score. If they do not, the score is an opinion, and a minister can set it aside. Written criteria on a published scale prevent that.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scale is the one UNDP publishes in its Digital Development Compass. It has five stages, under these names: Basic, Opportunistic, Systematic, Differentiating and Transformational. The Compass rescales all scores between zero and five, with no zero scores, so that each stage takes one unit of that range. The domains you score are those of PAERA, the GovStack reference architecture, which gives no scale of its own for a national assessment.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rule that lays the Compass over the five domains is this course's own, and it has four parts. Each of the 26 sub-components has written criteria at three levels: Basic, Systematic and Transformational. Meeting part of the Systematic criterion places a sub-component at Opportunistic; part of the Transformational one, at Differentiating. Only verified positions are scored. Each stage scores the middle of its unit, from 0.5 for Basic to 4.5 for Transformational. A domain's score is the mean of its sub-components, to one decimal place, and its stage is the unit the score falls in.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result for Progressa, the fictional country of these examples, on one table. Governance, 1.9, Opportunistic. Access, 1.3, Opportunistic. Digital data, 1.3, Opportunistic. Interoperability, 2.1, Systematic. Digital identity, 2.3, Systematic. Each row also names a main strength and a development priority. For digital data, the strength is a working national identity register, and the priority is to make PLR, the learner registry, the authoritative learner register. The digital data score is the mean of six sub-components. Five sit at Opportunistic and one, data quality and master data, at Basic. That gives 1.3.</a:t>
            </a:r>
          </a:p>
          <a:p/>
          <a:p>
            <a:r>
              <a:t>Production cue: the pivotal slide of this video — the whole picture on one table. The written guide carries figure F4. Reveal the rows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applies the scoring prompt to Progressa's digital data domain. The prompt proposes a stage for each sub-component, and quotes the evidence for each criterion. The assessor confirms or changes each stage in a written record. A good run passes when every stage rests on quoted, verified evidence and the arithmetic gives 1.3. One correction shows why the rule matters. Progressa's draft placed interoperability at 2.3, from an unverified desk result. But a session had already verified that the ministry of education is not a member of Linkup, the data exchange. Once that was pointed out, the score fell to 2.1. Its stage stayed Systematic.</a:t>
            </a:r>
          </a:p>
          <a:p/>
          <a:p>
            <a:r>
              <a:t>On screen: the storyboard's steps as text, marked 'What a good run shows', in the place of the demonstration segment until it is recorded. The narration says what the walkthrough shows and what counts as a pass, never that it has run.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Score every domain on five published stages against written criteria. Two assessors then reach the same result, and the whole picture fits on one table.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Once the country is scored, the money requests come. The first question for each is whose system it is. Is it shared by every sector, or does it belong to one? Get that wrong, and the budget pays for the same thing twice.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UNDP's compendium on digital public infrastructure draws three layers. At the bottom are the governance foundations: leadership, accountable institutions, policy, law, engagement with users, and technical expertise. In the middle is the core of the infrastructure: digital identity, digital payments and data sharing based on consent, with others emerging. On top are the sector applications, and digital education is one of them, beside digital health and others. So in UNDP's picture, education's own systems stand on the core. They are not part of it.</a:t>
            </a:r>
          </a:p>
          <a:p/>
          <a:p>
            <a:r>
              <a:t>Production cue: reveal the layers bottom to top.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registers come next. Digital ID, payments and legal data registries count as basic national infrastructure. A country should have a set of main state registries, and an Education Register is one of them. Digitalising a state registry needs two building blocks: Registration and a Digital Registry. So a learner register is a state register, but it belongs to education, and so does the registration service that writes to 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Identity shows why the line matters. The GovStack Identity specification covers foundational identity: proof of who a person is, for a wide variety of public and private services. It places functional identity, for one purpose or one sector, outside its scope, and it names education as one such sector. It also notes that where a proper foundational identity exists, a separate functional one is no longer needed. So education does not build an identity of its own. Its services use the national one.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sort Progressa, the fictional country of these examples. Its governance foundations include the mandate of PDGA, the digital government authority, for the national exchange, the education act and the data protection act. Its core is the identity and sign-in of PNIA, the identity authority, and Linkup, the data exchange. A Payments block belongs there too: it reaches PayPro, the payment provider, through its payer bank, and it is not yet on Linkup. Education's own layer holds PLR, the learner register, and PEMIS, the school information system. The learner registration service, still to be built, belongs there too. Fund the core once, for every sector. Fund the register and the service as education's, built on the core. A sector's register funded as national infrastructure takes money from the core. A core funded inside one project leaves every other sector to build it again.</a:t>
            </a:r>
          </a:p>
          <a:p/>
          <a:p>
            <a:r>
              <a:t>Production cue: the pivotal slide of this video — the funding rule made concrete.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payments and data exchange serve every sector. The learner register and its registration service are education's own, standing on them. Fund each as what it is.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Money for digital government comes in pieces: a donor here, a budget line there. Each piece is spent on something. Unless someone has fixed the order of building, the pieces arrive in an order that nobody chose.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gives an order in four phases. In the first phase, inception, the country puts in place the Identity and Payment building blocks. It adds a platform for building services with little or no code. In the second, it picks high-priority services and builds them fast. They are built on the Information Mediator, which is the data exchange layer, on Registration and on other shared blocks. In the third, all main state registries are digitalised, in no more than two to three years. The fourth completes the digitalisation of every government service. Each phase puts in place the blocks that the next one needs.</a:t>
            </a:r>
          </a:p>
          <a:p/>
          <a:p>
            <a:r>
              <a:t>Production cue: the pivotal slide of this video. The written guide carries figure F5. Reveal the phases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adds two rules. Every internal prerequisite must be in place before a service opens to the public. And citizens and businesses should always see a positive result. PAERA explains why both matter. Nobody wants to fund a digital identity while no service uses it, and no ministry can build personal services without one. The answer is to do two things at once. Put the foundational elements in place, and show early results that political leaders and the public can see. A service that opens before its foundations are ready fails in public, and the whole plan loses support.</a:t>
            </a:r>
          </a:p>
          <a:p/>
          <a:p>
            <a:r>
              <a:t>Production cue: the module's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Estonia's official record shows the order there. The tax board offered online tax returns in 2000. X-Road, the data exchange layer, followed in 2001, and the electronic identity with the digital signature in 2002. So in Estonia the first services came before the shared blocks. The lesson lies in what those blocks became once they existed. Estonia's own account names X-Road and the digital identity as part of the foundation that makes digital Estonia possible.</a:t>
            </a:r>
          </a:p>
          <a:p/>
          <a:p>
            <a:r>
              <a:t>On screen: the country name in plain typography only — no flags or emblems. Estonia is cited for what the shared blocks became, not as a case of identity coming before services.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order for Progressa, the fictional country of these examples, on one page. Identity and payments already run there: PNIA, the identity authority, offers a sign-in, and PayPro, the payment provider, runs a fast-payment system. So phase one connects to them instead of building them, and sets up the decision body and the legal basis. Phase two brings the ministry of education onto Linkup, the data exchange. It builds the registration service, and brings the learner register forward because that service needs it. Its visible result: a parent registers a child once. Phase three takes the register to every district. Phase four lets parents and learners see their own records.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Identity and payments first. Data exchange and registration with the first priority services. The registers next. And one result people can see, early, so that support holds.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roadmap that promises everything proves nothing for years. Pick one service that shows the shared blocks serving real people, and prove it first. For education, that service is registering a learner once.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the GovStack reference architecture, starts its second phase with high-priority services. Each is prototyped quickly, and then a local system integrator rolls it out in a few months. That gives the government its first practical experience of building fast on shared blocks. A learner registration is such a service. Families meet it when a child starts school, and every later education service needs its record. It needs two building blocks, Registration and a Digital Registry: one registers the learner; the other keeps the record.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first proof. The registration service and the learner register are education's own, and the sector builds them. Identity and payments belong to the country, and the service uses them as they are. The data exchange layer joins them. The parent signs in through the national identity authority. The service registers the child, an officer approves, and the record is written to the learner register. The Payments block is set up beside the service and joined to the data exchange. A payment, such as a scholarship, can then reach a learner in the register.</a:t>
            </a:r>
          </a:p>
          <a:p/>
          <a:p>
            <a:r>
              <a:t>Production cue: the pivotal slide of this video and the spine of Modules 2 to 5. Reveal the service first, then education's two blocks, then the country's two, then the data exchange layer.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shortlist for Progressa, the fictional country of these examples, on one table. For each block it names the owner, the published specification with its edition, and whether the block is reused or built. Registration and the learner register are built for education. The register is set up behind PLR, the learner registry. PLR is a member of Linkup, the data exchange, but is not yet the authoritative register. Identity is reused: the service signs people in through PNIA, the identity authority. Linkup, operated by PDGA, the digital government authority, is reused, and the ministry joins it. The Payments block is set up and joined to Linkup, and it reaches PayPro, the payment provider, through its payer bank. Consent and messaging are cited where the service touches them, and neither is built.</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choice must be stated openly. PAERA digitalises all main state registries in its third phase. This proof brings one register forward, the learner register, because its priority service cannot work without it. That choice is this course's own, not PAERA's. Present the proof to your minister as what it is: one priority service, proven on the country's foundation. It is not the first phase of the national plan, and it does not replace the plan.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Prove one service first: register a learner once, with the sector's own service and register, on the country's identity and payment blocks and its data exchange layer.</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Where your country stands,
and what to build first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KP3 · Education DPI Roadmap · Module 1</a:t>
            </a:r>
          </a:p>
          <a:p>
            <a:r>
              <a:rPr sz="1400" b="0" i="0">
                <a:solidFill>
                  <a:srgbClr val="595959"/>
                </a:solidFill>
                <a:latin typeface="Arial"/>
              </a:rPr>
              <a:t>Ten standalone videos for the person who commissions a DPI assessment and plans what to build first: what makes infrastructure foundational, the five domains on one page, the nine steps of the method, the desk review, the questionnaires, verification, scoring on five stages — and the order of building, down to the first proof for education.</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~50 mins across 10 videos (1.1 – 1.10)</a:t>
            </a:r>
          </a:p>
          <a:p>
            <a:r>
              <a:rPr sz="1400" b="1" i="0">
                <a:solidFill>
                  <a:srgbClr val="1A1A1A"/>
                </a:solidFill>
                <a:latin typeface="Arial"/>
              </a:rPr>
              <a:t>Target audience: </a:t>
            </a:r>
            <a:r>
              <a:rPr sz="1400" b="0" i="0">
                <a:solidFill>
                  <a:srgbClr val="1A1A1A"/>
                </a:solidFill>
                <a:latin typeface="Arial"/>
              </a:rPr>
              <a:t>The public-sector middle manager who commissions the assessment, defends its result to the minister and plans what to build first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Four marks for anything called DPI</a:t>
            </a:r>
          </a:p>
        </p:txBody>
      </p:sp>
      <p:sp>
        <p:nvSpPr>
          <p:cNvPr id="21" name="Rounded Rectangle 20"/>
          <p:cNvSpPr/>
          <p:nvPr/>
        </p:nvSpPr>
        <p:spPr>
          <a:xfrm>
            <a:off x="7452360" y="175260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Five domains on one page</a:t>
            </a:r>
          </a:p>
        </p:txBody>
      </p:sp>
      <p:sp>
        <p:nvSpPr>
          <p:cNvPr id="22" name="Rounded Rectangle 21"/>
          <p:cNvSpPr/>
          <p:nvPr/>
        </p:nvSpPr>
        <p:spPr>
          <a:xfrm>
            <a:off x="7452360" y="254508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Nine steps, five answers each</a:t>
            </a:r>
          </a:p>
        </p:txBody>
      </p:sp>
      <p:sp>
        <p:nvSpPr>
          <p:cNvPr id="23" name="Rounded Rectangle 22"/>
          <p:cNvSpPr/>
          <p:nvPr/>
        </p:nvSpPr>
        <p:spPr>
          <a:xfrm>
            <a:off x="7452360" y="333756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Desk review · questionnaires · verification</a:t>
            </a:r>
          </a:p>
        </p:txBody>
      </p:sp>
      <p:sp>
        <p:nvSpPr>
          <p:cNvPr id="24" name="Rounded Rectangle 23"/>
          <p:cNvSpPr/>
          <p:nvPr/>
        </p:nvSpPr>
        <p:spPr>
          <a:xfrm>
            <a:off x="7452360" y="413004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Five stages, one table</a:t>
            </a:r>
          </a:p>
        </p:txBody>
      </p:sp>
      <p:sp>
        <p:nvSpPr>
          <p:cNvPr id="25" name="Rounded Rectangle 24"/>
          <p:cNvSpPr/>
          <p:nvPr/>
        </p:nvSpPr>
        <p:spPr>
          <a:xfrm>
            <a:off x="7452360" y="4922520"/>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Blocks, order, first proof</a:t>
            </a:r>
          </a:p>
        </p:txBody>
      </p:sp>
      <p:sp>
        <p:nvSpPr>
          <p:cNvPr id="26" name="TextBox 25"/>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marks · 5 domains · 9 steps · 5 stages · 1 first proof</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1 — ten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1.1  What makes infrastructure foundational</a:t>
            </a:r>
            <a:r>
              <a:rPr sz="1200" b="0" i="0">
                <a:solidFill>
                  <a:srgbClr val="595959"/>
                </a:solidFill>
                <a:latin typeface="Arial"/>
              </a:rPr>
              <a:t>   ~5 min</a:t>
            </a:r>
          </a:p>
          <a:p>
            <a:pPr algn="l">
              <a:spcAft>
                <a:spcPts val="900"/>
              </a:spcAft>
            </a:pPr>
            <a:r>
              <a:rPr sz="1500" b="1" i="0">
                <a:solidFill>
                  <a:srgbClr val="1A1A1A"/>
                </a:solidFill>
                <a:latin typeface="Arial"/>
              </a:rPr>
              <a:t>1.2  The five domains, as a map</a:t>
            </a:r>
            <a:r>
              <a:rPr sz="1200" b="0" i="0">
                <a:solidFill>
                  <a:srgbClr val="595959"/>
                </a:solidFill>
                <a:latin typeface="Arial"/>
              </a:rPr>
              <a:t>   ~5 min</a:t>
            </a:r>
          </a:p>
          <a:p>
            <a:pPr algn="l">
              <a:spcAft>
                <a:spcPts val="900"/>
              </a:spcAft>
            </a:pPr>
            <a:r>
              <a:rPr sz="1500" b="1" i="0">
                <a:solidFill>
                  <a:srgbClr val="1A1A1A"/>
                </a:solidFill>
                <a:latin typeface="Arial"/>
              </a:rPr>
              <a:t>1.3  The roadmap method in nine steps: who does what</a:t>
            </a:r>
            <a:r>
              <a:rPr sz="1200" b="0" i="0">
                <a:solidFill>
                  <a:srgbClr val="595959"/>
                </a:solidFill>
                <a:latin typeface="Arial"/>
              </a:rPr>
              <a:t>   ~5 min</a:t>
            </a:r>
          </a:p>
          <a:p>
            <a:pPr algn="l">
              <a:spcAft>
                <a:spcPts val="900"/>
              </a:spcAft>
            </a:pPr>
            <a:r>
              <a:rPr sz="1500" b="1" i="0">
                <a:solidFill>
                  <a:srgbClr val="1A1A1A"/>
                </a:solidFill>
                <a:latin typeface="Arial"/>
              </a:rPr>
              <a:t>1.4  Start at the desk: a first assessment from public sources, with AI</a:t>
            </a:r>
            <a:r>
              <a:rPr sz="1200" b="0" i="0">
                <a:solidFill>
                  <a:srgbClr val="595959"/>
                </a:solidFill>
                <a:latin typeface="Arial"/>
              </a:rPr>
              <a:t>   ~5 min</a:t>
            </a:r>
          </a:p>
          <a:p>
            <a:pPr algn="l">
              <a:spcAft>
                <a:spcPts val="900"/>
              </a:spcAft>
            </a:pPr>
            <a:r>
              <a:rPr sz="1500" b="1" i="0">
                <a:solidFill>
                  <a:srgbClr val="1A1A1A"/>
                </a:solidFill>
                <a:latin typeface="Arial"/>
              </a:rPr>
              <a:t>1.5  Ask the people who run the systems: the five questionnaires</a:t>
            </a:r>
            <a:r>
              <a:rPr sz="1200" b="0" i="0">
                <a:solidFill>
                  <a:srgbClr val="595959"/>
                </a:solidFill>
                <a:latin typeface="Arial"/>
              </a:rPr>
              <a:t>   ~5 min</a:t>
            </a:r>
          </a:p>
          <a:p>
            <a:pPr algn="l">
              <a:spcAft>
                <a:spcPts val="900"/>
              </a:spcAft>
            </a:pPr>
            <a:r>
              <a:rPr sz="1500" b="1" i="0">
                <a:solidFill>
                  <a:srgbClr val="1A1A1A"/>
                </a:solidFill>
                <a:latin typeface="Arial"/>
              </a:rPr>
              <a:t>1.6  Verify before you score</a:t>
            </a:r>
            <a:r>
              <a:rPr sz="1200" b="0" i="0">
                <a:solidFill>
                  <a:srgbClr val="595959"/>
                </a:solidFill>
                <a:latin typeface="Arial"/>
              </a:rPr>
              <a:t>   ~5 min</a:t>
            </a:r>
          </a:p>
          <a:p>
            <a:pPr algn="l">
              <a:spcAft>
                <a:spcPts val="900"/>
              </a:spcAft>
            </a:pPr>
            <a:r>
              <a:rPr sz="1500" b="1" i="0">
                <a:solidFill>
                  <a:srgbClr val="1A1A1A"/>
                </a:solidFill>
                <a:latin typeface="Arial"/>
              </a:rPr>
              <a:t>1.7  Score each domain: five stages and one table</a:t>
            </a:r>
            <a:r>
              <a:rPr sz="1200" b="0" i="0">
                <a:solidFill>
                  <a:srgbClr val="595959"/>
                </a:solidFill>
                <a:latin typeface="Arial"/>
              </a:rPr>
              <a:t>   ~5 min</a:t>
            </a:r>
          </a:p>
          <a:p>
            <a:pPr algn="l">
              <a:spcAft>
                <a:spcPts val="900"/>
              </a:spcAft>
            </a:pPr>
            <a:r>
              <a:rPr sz="1500" b="1" i="0">
                <a:solidFill>
                  <a:srgbClr val="1A1A1A"/>
                </a:solidFill>
                <a:latin typeface="Arial"/>
              </a:rPr>
              <a:t>1.8  Foundational blocks and the sector's own</a:t>
            </a:r>
            <a:r>
              <a:rPr sz="1200" b="0" i="0">
                <a:solidFill>
                  <a:srgbClr val="595959"/>
                </a:solidFill>
                <a:latin typeface="Arial"/>
              </a:rPr>
              <a:t>   ~5 min</a:t>
            </a:r>
          </a:p>
          <a:p>
            <a:pPr algn="l">
              <a:spcAft>
                <a:spcPts val="900"/>
              </a:spcAft>
            </a:pPr>
            <a:r>
              <a:rPr sz="1500" b="1" i="0">
                <a:solidFill>
                  <a:srgbClr val="1A1A1A"/>
                </a:solidFill>
                <a:latin typeface="Arial"/>
              </a:rPr>
              <a:t>1.9  What comes first: the order of building</a:t>
            </a:r>
            <a:r>
              <a:rPr sz="1200" b="0" i="0">
                <a:solidFill>
                  <a:srgbClr val="595959"/>
                </a:solidFill>
                <a:latin typeface="Arial"/>
              </a:rPr>
              <a:t>   ~5 min</a:t>
            </a:r>
          </a:p>
          <a:p>
            <a:pPr algn="l">
              <a:spcAft>
                <a:spcPts val="900"/>
              </a:spcAft>
            </a:pPr>
            <a:r>
              <a:rPr sz="1500" b="1" i="0">
                <a:solidFill>
                  <a:srgbClr val="1A1A1A"/>
                </a:solidFill>
                <a:latin typeface="Arial"/>
              </a:rPr>
              <a:t>1.10  The first proof for education: one service on four blocks</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Test anything called DPI against four marks; see the country on one page of five domains; assess it in five steps a ministry can commission and defend.</a:t>
            </a:r>
          </a:p>
          <a:p>
            <a:pPr>
              <a:spcAft>
                <a:spcPts val="1000"/>
              </a:spcAft>
            </a:pPr>
            <a:r>
              <a:rPr sz="1900" b="0" i="1">
                <a:solidFill>
                  <a:srgbClr val="1A1A1A"/>
                </a:solidFill>
                <a:latin typeface="Arial"/>
              </a:rPr>
              <a:t>Then fund each block as what it is, build in PAERA's order, and prove one service first: a learner registered once, on four blocks.</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makes infrastructure foundational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Before you fund anything called "DPI", test it against four marks: it serves the whole society, many services can connect to it, it is built on open standards, and clear rules govern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Donors and vendors all speak of DPI.</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Some of what they offer is shared by the whole government. Some of it is one ministry's system under a new name.</a:t>
            </a:r>
          </a:p>
          <a:p>
            <a:pPr>
              <a:spcAft>
                <a:spcPts val="800"/>
              </a:spcAft>
            </a:pPr>
            <a:r>
              <a:rPr sz="1700" b="0" i="0">
                <a:solidFill>
                  <a:srgbClr val="595959"/>
                </a:solidFill>
                <a:latin typeface="Arial"/>
              </a:rPr>
              <a:t>Before your ministry pays for either, you need a test you can defend.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DPI means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UNDP: a set of foundational digital systems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description from the G20 agreement of 2023</a:t>
            </a:r>
          </a:p>
          <a:p>
            <a:pPr>
              <a:spcAft>
                <a:spcPts val="300"/>
              </a:spcAft>
            </a:pPr>
            <a:r>
              <a:rPr sz="1550" b="0" i="0">
                <a:solidFill>
                  <a:srgbClr val="595959"/>
                </a:solidFill>
                <a:latin typeface="Arial"/>
              </a:rPr>
              <a:t>Shared, secure and interoperable systems, built on open standards, serving a whole society, governed by legal frameworks and enabling rules.</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Three kinds so far</a:t>
            </a:r>
          </a:p>
          <a:p>
            <a:pPr>
              <a:spcAft>
                <a:spcPts val="300"/>
              </a:spcAft>
            </a:pPr>
            <a:r>
              <a:rPr sz="1550" b="0" i="0">
                <a:solidFill>
                  <a:srgbClr val="595959"/>
                </a:solidFill>
                <a:latin typeface="Arial"/>
              </a:rPr>
              <a:t>Digital identity, digital payments, consent-based data sharing — and others emerging.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marks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It serves the whole society</a:t>
            </a:r>
          </a:p>
          <a:p>
            <a:pPr>
              <a:spcAft>
                <a:spcPts val="300"/>
              </a:spcAft>
            </a:pPr>
            <a:r>
              <a:rPr sz="1550" b="0" i="0">
                <a:solidFill>
                  <a:srgbClr val="595959"/>
                </a:solidFill>
                <a:latin typeface="Arial"/>
              </a:rPr>
              <a:t>Not limited by place or by group.</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Many services can connect to it</a:t>
            </a:r>
          </a:p>
          <a:p>
            <a:pPr>
              <a:spcAft>
                <a:spcPts val="300"/>
              </a:spcAft>
            </a:pPr>
            <a:r>
              <a:rPr sz="1550" b="0" i="0">
                <a:solidFill>
                  <a:srgbClr val="595959"/>
                </a:solidFill>
                <a:latin typeface="Arial"/>
              </a:rPr>
              <a:t>Many uses, many providers.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It is built on open standards</a:t>
            </a:r>
          </a:p>
          <a:p>
            <a:pPr>
              <a:spcAft>
                <a:spcPts val="300"/>
              </a:spcAft>
            </a:pPr>
            <a:r>
              <a:rPr sz="1550" b="0" i="0">
                <a:solidFill>
                  <a:srgbClr val="595959"/>
                </a:solidFill>
                <a:latin typeface="Arial"/>
              </a:rPr>
              <a:t>Anyone may build on it.</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Clear rules govern it</a:t>
            </a:r>
          </a:p>
          <a:p>
            <a:pPr>
              <a:spcAft>
                <a:spcPts val="300"/>
              </a:spcAft>
            </a:pPr>
            <a:r>
              <a:rPr sz="1550" b="0" i="0">
                <a:solidFill>
                  <a:srgbClr val="595959"/>
                </a:solidFill>
                <a:latin typeface="Arial"/>
              </a:rPr>
              <a:t>To protect people and prevent misuse.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rules decide who gains from it.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shared infrastructure has done</a:t>
            </a:r>
          </a:p>
        </p:txBody>
      </p:sp>
      <p:sp>
        <p:nvSpPr>
          <p:cNvPr id="4" name="TextBox 3"/>
          <p:cNvSpPr txBox="1"/>
          <p:nvPr/>
        </p:nvSpPr>
        <p:spPr>
          <a:xfrm>
            <a:off x="658368" y="1463040"/>
            <a:ext cx="10984687" cy="1463040"/>
          </a:xfrm>
          <a:prstGeom prst="rect">
            <a:avLst/>
          </a:prstGeom>
          <a:noFill/>
        </p:spPr>
        <p:txBody>
          <a:bodyPr wrap="square">
            <a:spAutoFit/>
          </a:bodyPr>
          <a:lstStyle/>
          <a:p>
            <a:pPr>
              <a:spcAft>
                <a:spcPts val="300"/>
              </a:spcAft>
            </a:pPr>
            <a:r>
              <a:rPr sz="1900" b="1" i="0">
                <a:solidFill>
                  <a:srgbClr val="1A1A1A"/>
                </a:solidFill>
                <a:latin typeface="Arial"/>
              </a:rPr>
              <a:t>India</a:t>
            </a:r>
          </a:p>
          <a:p>
            <a:pPr>
              <a:spcAft>
                <a:spcPts val="300"/>
              </a:spcAft>
            </a:pPr>
            <a:r>
              <a:rPr sz="1550" b="0" i="0">
                <a:solidFill>
                  <a:srgbClr val="595959"/>
                </a:solidFill>
                <a:latin typeface="Arial"/>
              </a:rPr>
              <a:t>Adults with a transaction account rose from about one in four in 2008 to over 80 percent — a change estimated to have taken up to 47 years without DPI (World Bank report for the G20, 2023, page 2).</a:t>
            </a:r>
          </a:p>
        </p:txBody>
      </p:sp>
      <p:sp>
        <p:nvSpPr>
          <p:cNvPr id="5" name="Rectangle 4"/>
          <p:cNvSpPr/>
          <p:nvPr/>
        </p:nvSpPr>
        <p:spPr>
          <a:xfrm>
            <a:off x="621792" y="2930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71800"/>
            <a:ext cx="10984687" cy="1463040"/>
          </a:xfrm>
          <a:prstGeom prst="rect">
            <a:avLst/>
          </a:prstGeom>
          <a:noFill/>
        </p:spPr>
        <p:txBody>
          <a:bodyPr wrap="square">
            <a:spAutoFit/>
          </a:bodyPr>
          <a:lstStyle/>
          <a:p>
            <a:pPr>
              <a:spcAft>
                <a:spcPts val="300"/>
              </a:spcAft>
            </a:pPr>
            <a:r>
              <a:rPr sz="1900" b="1" i="0">
                <a:solidFill>
                  <a:srgbClr val="1A1A1A"/>
                </a:solidFill>
                <a:latin typeface="Arial"/>
              </a:rPr>
              <a:t>Brazil</a:t>
            </a:r>
          </a:p>
          <a:p>
            <a:pPr>
              <a:spcAft>
                <a:spcPts val="300"/>
              </a:spcAft>
            </a:pPr>
            <a:r>
              <a:rPr sz="1550" b="0" i="0">
                <a:solidFill>
                  <a:srgbClr val="595959"/>
                </a:solidFill>
                <a:latin typeface="Arial"/>
              </a:rPr>
              <a:t>By the end of February 2022, 15 months after launch, 67% of adults had made or received a payment through Pix (BIS Bulletin No 52, 2022, page 5).</a:t>
            </a:r>
          </a:p>
        </p:txBody>
      </p:sp>
      <p:sp>
        <p:nvSpPr>
          <p:cNvPr id="7" name="TextBox 6"/>
          <p:cNvSpPr txBox="1"/>
          <p:nvPr/>
        </p:nvSpPr>
        <p:spPr>
          <a:xfrm>
            <a:off x="658368" y="4590288"/>
            <a:ext cx="10881360" cy="548640"/>
          </a:xfrm>
          <a:prstGeom prst="rect">
            <a:avLst/>
          </a:prstGeom>
          <a:noFill/>
        </p:spPr>
        <p:txBody>
          <a:bodyPr wrap="square">
            <a:spAutoFit/>
          </a:bodyPr>
          <a:lstStyle/>
          <a:p>
            <a:r>
              <a:rPr sz="1550" b="1" i="0">
                <a:solidFill>
                  <a:srgbClr val="006E96"/>
                </a:solidFill>
                <a:latin typeface="Arial"/>
              </a:rPr>
              <a:t>Procurement rules can require interoperability, but they cannot deliver it. Only whole-of-government planning sees the total.</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systems against the four marks</a:t>
            </a:r>
          </a:p>
        </p:txBody>
      </p:sp>
      <p:sp>
        <p:nvSpPr>
          <p:cNvPr id="4" name="TextBox 3"/>
          <p:cNvSpPr txBox="1"/>
          <p:nvPr/>
        </p:nvSpPr>
        <p:spPr>
          <a:xfrm>
            <a:off x="658368" y="1417320"/>
            <a:ext cx="2724912" cy="384048"/>
          </a:xfrm>
          <a:prstGeom prst="rect">
            <a:avLst/>
          </a:prstGeom>
          <a:noFill/>
        </p:spPr>
        <p:txBody>
          <a:bodyPr wrap="square">
            <a:spAutoFit/>
          </a:bodyPr>
          <a:lstStyle/>
          <a:p>
            <a:r>
              <a:rPr sz="1300" b="1" i="0">
                <a:solidFill>
                  <a:srgbClr val="006E96"/>
                </a:solidFill>
                <a:latin typeface="Arial"/>
              </a:rPr>
              <a:t>System</a:t>
            </a:r>
          </a:p>
        </p:txBody>
      </p:sp>
      <p:sp>
        <p:nvSpPr>
          <p:cNvPr id="5" name="TextBox 4"/>
          <p:cNvSpPr txBox="1"/>
          <p:nvPr/>
        </p:nvSpPr>
        <p:spPr>
          <a:xfrm>
            <a:off x="3493008" y="1417320"/>
            <a:ext cx="2542032" cy="384048"/>
          </a:xfrm>
          <a:prstGeom prst="rect">
            <a:avLst/>
          </a:prstGeom>
          <a:noFill/>
        </p:spPr>
        <p:txBody>
          <a:bodyPr wrap="square">
            <a:spAutoFit/>
          </a:bodyPr>
          <a:lstStyle/>
          <a:p>
            <a:r>
              <a:rPr sz="1300" b="1" i="0">
                <a:solidFill>
                  <a:srgbClr val="006E96"/>
                </a:solidFill>
                <a:latin typeface="Arial"/>
              </a:rPr>
              <a:t>Result</a:t>
            </a:r>
          </a:p>
        </p:txBody>
      </p:sp>
      <p:sp>
        <p:nvSpPr>
          <p:cNvPr id="6" name="TextBox 5"/>
          <p:cNvSpPr txBox="1"/>
          <p:nvPr/>
        </p:nvSpPr>
        <p:spPr>
          <a:xfrm>
            <a:off x="6144768" y="1417320"/>
            <a:ext cx="5285232" cy="384048"/>
          </a:xfrm>
          <a:prstGeom prst="rect">
            <a:avLst/>
          </a:prstGeom>
          <a:noFill/>
        </p:spPr>
        <p:txBody>
          <a:bodyPr wrap="square">
            <a:spAutoFit/>
          </a:bodyPr>
          <a:lstStyle/>
          <a:p>
            <a:r>
              <a:rPr sz="1300" b="1" i="0">
                <a:solidFill>
                  <a:srgbClr val="006E96"/>
                </a:solidFill>
                <a:latin typeface="Arial"/>
              </a:rPr>
              <a:t>Reason</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724912" cy="694944"/>
          </a:xfrm>
          <a:prstGeom prst="rect">
            <a:avLst/>
          </a:prstGeom>
          <a:noFill/>
        </p:spPr>
        <p:txBody>
          <a:bodyPr wrap="square">
            <a:spAutoFit/>
          </a:bodyPr>
          <a:lstStyle/>
          <a:p>
            <a:r>
              <a:rPr sz="1300" b="1" i="0">
                <a:solidFill>
                  <a:srgbClr val="1A1A1A"/>
                </a:solidFill>
                <a:latin typeface="Arial"/>
              </a:rPr>
              <a:t>National identity (PNIA)</a:t>
            </a:r>
          </a:p>
        </p:txBody>
      </p:sp>
      <p:sp>
        <p:nvSpPr>
          <p:cNvPr id="9" name="TextBox 8"/>
          <p:cNvSpPr txBox="1"/>
          <p:nvPr/>
        </p:nvSpPr>
        <p:spPr>
          <a:xfrm>
            <a:off x="3493008" y="1911095"/>
            <a:ext cx="2542032" cy="694944"/>
          </a:xfrm>
          <a:prstGeom prst="rect">
            <a:avLst/>
          </a:prstGeom>
          <a:noFill/>
        </p:spPr>
        <p:txBody>
          <a:bodyPr wrap="square">
            <a:spAutoFit/>
          </a:bodyPr>
          <a:lstStyle/>
          <a:p>
            <a:r>
              <a:rPr sz="1300" b="0" i="0">
                <a:solidFill>
                  <a:srgbClr val="1A1A1A"/>
                </a:solidFill>
                <a:latin typeface="Arial"/>
              </a:rPr>
              <a:t>Foundational, with gaps</a:t>
            </a:r>
          </a:p>
        </p:txBody>
      </p:sp>
      <p:sp>
        <p:nvSpPr>
          <p:cNvPr id="10" name="TextBox 9"/>
          <p:cNvSpPr txBox="1"/>
          <p:nvPr/>
        </p:nvSpPr>
        <p:spPr>
          <a:xfrm>
            <a:off x="6144768" y="1911095"/>
            <a:ext cx="5285232" cy="694944"/>
          </a:xfrm>
          <a:prstGeom prst="rect">
            <a:avLst/>
          </a:prstGeom>
          <a:noFill/>
        </p:spPr>
        <p:txBody>
          <a:bodyPr wrap="square">
            <a:spAutoFit/>
          </a:bodyPr>
          <a:lstStyle/>
          <a:p>
            <a:r>
              <a:rPr sz="1300" b="0" i="0">
                <a:solidFill>
                  <a:srgbClr val="1A1A1A"/>
                </a:solidFill>
                <a:latin typeface="Arial"/>
              </a:rPr>
              <a:t>78 per cent of adults covered; no identity number below the age of issue; no education service uses its sign-in.</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2724912" cy="694944"/>
          </a:xfrm>
          <a:prstGeom prst="rect">
            <a:avLst/>
          </a:prstGeom>
          <a:noFill/>
        </p:spPr>
        <p:txBody>
          <a:bodyPr wrap="square">
            <a:spAutoFit/>
          </a:bodyPr>
          <a:lstStyle/>
          <a:p>
            <a:r>
              <a:rPr sz="1300" b="1" i="0">
                <a:solidFill>
                  <a:srgbClr val="1A1A1A"/>
                </a:solidFill>
                <a:latin typeface="Arial"/>
              </a:rPr>
              <a:t>Payments</a:t>
            </a:r>
          </a:p>
        </p:txBody>
      </p:sp>
      <p:sp>
        <p:nvSpPr>
          <p:cNvPr id="13" name="TextBox 12"/>
          <p:cNvSpPr txBox="1"/>
          <p:nvPr/>
        </p:nvSpPr>
        <p:spPr>
          <a:xfrm>
            <a:off x="3493008" y="2679191"/>
            <a:ext cx="2542032" cy="694944"/>
          </a:xfrm>
          <a:prstGeom prst="rect">
            <a:avLst/>
          </a:prstGeom>
          <a:noFill/>
        </p:spPr>
        <p:txBody>
          <a:bodyPr wrap="square">
            <a:spAutoFit/>
          </a:bodyPr>
          <a:lstStyle/>
          <a:p>
            <a:r>
              <a:rPr sz="1300" b="0" i="0">
                <a:solidFill>
                  <a:srgbClr val="1A1A1A"/>
                </a:solidFill>
                <a:latin typeface="Arial"/>
              </a:rPr>
              <a:t>Not yet in place for government</a:t>
            </a:r>
          </a:p>
        </p:txBody>
      </p:sp>
      <p:sp>
        <p:nvSpPr>
          <p:cNvPr id="14" name="TextBox 13"/>
          <p:cNvSpPr txBox="1"/>
          <p:nvPr/>
        </p:nvSpPr>
        <p:spPr>
          <a:xfrm>
            <a:off x="6144768" y="2679191"/>
            <a:ext cx="5285232" cy="694944"/>
          </a:xfrm>
          <a:prstGeom prst="rect">
            <a:avLst/>
          </a:prstGeom>
          <a:noFill/>
        </p:spPr>
        <p:txBody>
          <a:bodyPr wrap="square">
            <a:spAutoFit/>
          </a:bodyPr>
          <a:lstStyle/>
          <a:p>
            <a:r>
              <a:rPr sz="1300" b="0" i="0">
                <a:solidFill>
                  <a:srgbClr val="1A1A1A"/>
                </a:solidFill>
                <a:latin typeface="Arial"/>
              </a:rPr>
              <a:t>PayPro runs a fast-payment system; no government payments service is joined to Linkup.</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2724912" cy="694944"/>
          </a:xfrm>
          <a:prstGeom prst="rect">
            <a:avLst/>
          </a:prstGeom>
          <a:noFill/>
        </p:spPr>
        <p:txBody>
          <a:bodyPr wrap="square">
            <a:spAutoFit/>
          </a:bodyPr>
          <a:lstStyle/>
          <a:p>
            <a:r>
              <a:rPr sz="1300" b="1" i="0">
                <a:solidFill>
                  <a:srgbClr val="1A1A1A"/>
                </a:solidFill>
                <a:latin typeface="Arial"/>
              </a:rPr>
              <a:t>Linkup, the data exchange</a:t>
            </a:r>
          </a:p>
        </p:txBody>
      </p:sp>
      <p:sp>
        <p:nvSpPr>
          <p:cNvPr id="17" name="TextBox 16"/>
          <p:cNvSpPr txBox="1"/>
          <p:nvPr/>
        </p:nvSpPr>
        <p:spPr>
          <a:xfrm>
            <a:off x="3493008" y="3447288"/>
            <a:ext cx="2542032" cy="694944"/>
          </a:xfrm>
          <a:prstGeom prst="rect">
            <a:avLst/>
          </a:prstGeom>
          <a:noFill/>
        </p:spPr>
        <p:txBody>
          <a:bodyPr wrap="square">
            <a:spAutoFit/>
          </a:bodyPr>
          <a:lstStyle/>
          <a:p>
            <a:r>
              <a:rPr sz="1300" b="0" i="0">
                <a:solidFill>
                  <a:srgbClr val="1A1A1A"/>
                </a:solidFill>
                <a:latin typeface="Arial"/>
              </a:rPr>
              <a:t>Foundational, still a pilot</a:t>
            </a:r>
          </a:p>
        </p:txBody>
      </p:sp>
      <p:sp>
        <p:nvSpPr>
          <p:cNvPr id="18" name="TextBox 17"/>
          <p:cNvSpPr txBox="1"/>
          <p:nvPr/>
        </p:nvSpPr>
        <p:spPr>
          <a:xfrm>
            <a:off x="6144768" y="3447288"/>
            <a:ext cx="5285232" cy="694944"/>
          </a:xfrm>
          <a:prstGeom prst="rect">
            <a:avLst/>
          </a:prstGeom>
          <a:noFill/>
        </p:spPr>
        <p:txBody>
          <a:bodyPr wrap="square">
            <a:spAutoFit/>
          </a:bodyPr>
          <a:lstStyle/>
          <a:p>
            <a:r>
              <a:rPr sz="1300" b="0" i="0">
                <a:solidFill>
                  <a:srgbClr val="1A1A1A"/>
                </a:solidFill>
                <a:latin typeface="Arial"/>
              </a:rPr>
              <a:t>Built for many bodies to connect; the ministry of education is not yet a member.</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2724912" cy="694944"/>
          </a:xfrm>
          <a:prstGeom prst="rect">
            <a:avLst/>
          </a:prstGeom>
          <a:noFill/>
        </p:spPr>
        <p:txBody>
          <a:bodyPr wrap="square">
            <a:spAutoFit/>
          </a:bodyPr>
          <a:lstStyle/>
          <a:p>
            <a:r>
              <a:rPr sz="1300" b="1" i="0">
                <a:solidFill>
                  <a:srgbClr val="1A1A1A"/>
                </a:solidFill>
                <a:latin typeface="Arial"/>
              </a:rPr>
              <a:t>Learner registry (PLR)</a:t>
            </a:r>
          </a:p>
        </p:txBody>
      </p:sp>
      <p:sp>
        <p:nvSpPr>
          <p:cNvPr id="21" name="TextBox 20"/>
          <p:cNvSpPr txBox="1"/>
          <p:nvPr/>
        </p:nvSpPr>
        <p:spPr>
          <a:xfrm>
            <a:off x="3493008" y="4215384"/>
            <a:ext cx="2542032" cy="694944"/>
          </a:xfrm>
          <a:prstGeom prst="rect">
            <a:avLst/>
          </a:prstGeom>
          <a:noFill/>
        </p:spPr>
        <p:txBody>
          <a:bodyPr wrap="square">
            <a:spAutoFit/>
          </a:bodyPr>
          <a:lstStyle/>
          <a:p>
            <a:r>
              <a:rPr sz="1300" b="0" i="0">
                <a:solidFill>
                  <a:srgbClr val="1A1A1A"/>
                </a:solidFill>
                <a:latin typeface="Arial"/>
              </a:rPr>
              <a:t>The sector's own, not yet authoritative</a:t>
            </a:r>
          </a:p>
        </p:txBody>
      </p:sp>
      <p:sp>
        <p:nvSpPr>
          <p:cNvPr id="22" name="TextBox 21"/>
          <p:cNvSpPr txBox="1"/>
          <p:nvPr/>
        </p:nvSpPr>
        <p:spPr>
          <a:xfrm>
            <a:off x="6144768" y="4215384"/>
            <a:ext cx="5285232" cy="694944"/>
          </a:xfrm>
          <a:prstGeom prst="rect">
            <a:avLst/>
          </a:prstGeom>
          <a:noFill/>
        </p:spPr>
        <p:txBody>
          <a:bodyPr wrap="square">
            <a:spAutoFit/>
          </a:bodyPr>
          <a:lstStyle/>
          <a:p>
            <a:r>
              <a:rPr sz="1300" b="0" i="0">
                <a:solidFill>
                  <a:srgbClr val="1A1A1A"/>
                </a:solidFill>
                <a:latin typeface="Arial"/>
              </a:rPr>
              <a:t>Records for some learners only, served to the examination authority alone.</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2724912" cy="694944"/>
          </a:xfrm>
          <a:prstGeom prst="rect">
            <a:avLst/>
          </a:prstGeom>
          <a:noFill/>
        </p:spPr>
        <p:txBody>
          <a:bodyPr wrap="square">
            <a:spAutoFit/>
          </a:bodyPr>
          <a:lstStyle/>
          <a:p>
            <a:r>
              <a:rPr sz="1300" b="1" i="0">
                <a:solidFill>
                  <a:srgbClr val="1A1A1A"/>
                </a:solidFill>
                <a:latin typeface="Arial"/>
              </a:rPr>
              <a:t>PEMIS, the ministry's school information system</a:t>
            </a:r>
          </a:p>
        </p:txBody>
      </p:sp>
      <p:sp>
        <p:nvSpPr>
          <p:cNvPr id="25" name="TextBox 24"/>
          <p:cNvSpPr txBox="1"/>
          <p:nvPr/>
        </p:nvSpPr>
        <p:spPr>
          <a:xfrm>
            <a:off x="3493008" y="4983480"/>
            <a:ext cx="2542032" cy="694944"/>
          </a:xfrm>
          <a:prstGeom prst="rect">
            <a:avLst/>
          </a:prstGeom>
          <a:noFill/>
        </p:spPr>
        <p:txBody>
          <a:bodyPr wrap="square">
            <a:spAutoFit/>
          </a:bodyPr>
          <a:lstStyle/>
          <a:p>
            <a:r>
              <a:rPr sz="1300" b="0" i="0">
                <a:solidFill>
                  <a:srgbClr val="1A1A1A"/>
                </a:solidFill>
                <a:latin typeface="Arial"/>
              </a:rPr>
              <a:t>A sector application</a:t>
            </a:r>
          </a:p>
        </p:txBody>
      </p:sp>
      <p:sp>
        <p:nvSpPr>
          <p:cNvPr id="26" name="TextBox 25"/>
          <p:cNvSpPr txBox="1"/>
          <p:nvPr/>
        </p:nvSpPr>
        <p:spPr>
          <a:xfrm>
            <a:off x="6144768" y="4983480"/>
            <a:ext cx="5285232" cy="694944"/>
          </a:xfrm>
          <a:prstGeom prst="rect">
            <a:avLst/>
          </a:prstGeom>
          <a:noFill/>
        </p:spPr>
        <p:txBody>
          <a:bodyPr wrap="square">
            <a:spAutoFit/>
          </a:bodyPr>
          <a:lstStyle/>
          <a:p>
            <a:r>
              <a:rPr sz="1300" b="0" i="0">
                <a:solidFill>
                  <a:srgbClr val="1A1A1A"/>
                </a:solidFill>
                <a:latin typeface="Arial"/>
              </a:rPr>
              <a:t>Holds totals, not learners; shares data by file export.</a:t>
            </a:r>
          </a:p>
        </p:txBody>
      </p:sp>
      <p:sp>
        <p:nvSpPr>
          <p:cNvPr id="27" name="TextBox 26"/>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Progressa is a fictional country. The screen is illustrative.</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Before you fund anything called "DPI", test it against four marks: it serves the whole society, many services can connect to it, it is built on open standards, and clear rules govern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Screen your systems against the four marks of foundational infrastructure.</a:t>
            </a:r>
          </a:p>
          <a:p>
            <a:pPr algn="l">
              <a:spcAft>
                <a:spcPts val="400"/>
              </a:spcAft>
            </a:pPr>
            <a:r>
              <a:rPr sz="1800" b="0" i="0">
                <a:solidFill>
                  <a:srgbClr val="595959"/>
                </a:solidFill>
                <a:latin typeface="Arial"/>
              </a:rPr>
              <a:t>The prompt in the companion material gives you a table with one line of reasoning for each mark, for each system.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Digital public infrastructure (web page)</a:t>
            </a:r>
          </a:p>
          <a:p>
            <a:pPr>
              <a:spcAft>
                <a:spcPts val="1200"/>
              </a:spcAft>
            </a:pPr>
            <a:r>
              <a:rPr sz="1700" b="0" i="0">
                <a:solidFill>
                  <a:srgbClr val="1A1A1A"/>
                </a:solidFill>
                <a:latin typeface="Arial"/>
              </a:rPr>
              <a:t>•  UNDP — Accelerating the SDGs through Digital Public Infrastructure: A Compendium (2023), pages 3 and 4</a:t>
            </a:r>
          </a:p>
          <a:p>
            <a:pPr>
              <a:spcAft>
                <a:spcPts val="1200"/>
              </a:spcAft>
            </a:pPr>
            <a:r>
              <a:rPr sz="1700" b="0" i="0">
                <a:solidFill>
                  <a:srgbClr val="1A1A1A"/>
                </a:solidFill>
                <a:latin typeface="Arial"/>
              </a:rPr>
              <a:t>•  PAERA v1.0 — sections 2.6 and 3.3.1</a:t>
            </a:r>
          </a:p>
          <a:p>
            <a:pPr>
              <a:spcAft>
                <a:spcPts val="1200"/>
              </a:spcAft>
            </a:pPr>
            <a:r>
              <a:rPr sz="1700" b="0" i="0">
                <a:solidFill>
                  <a:srgbClr val="1A1A1A"/>
                </a:solidFill>
                <a:latin typeface="Arial"/>
              </a:rPr>
              <a:t>•  World Bank — G20 Policy Recommendations for Advancing Financial Inclusion and Productivity Gains through Digital Public Infrastructure (2023), page 2</a:t>
            </a:r>
          </a:p>
          <a:p>
            <a:pPr>
              <a:spcAft>
                <a:spcPts val="1200"/>
              </a:spcAft>
            </a:pPr>
            <a:r>
              <a:rPr sz="1700" b="0" i="0">
                <a:solidFill>
                  <a:srgbClr val="1A1A1A"/>
                </a:solidFill>
                <a:latin typeface="Arial"/>
              </a:rPr>
              <a:t>•  BIS Bulletin No 52 (2022), page 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What makes infrastructure foundational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five domains, as a map</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One page with five domains, a foundation of governance, policy and law carrying access, digital data, interoperability and digital identity, shows your minister what the country has and what it lacks.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Ask a ministry what the country has, and you get a list of projects.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Each with its own donor. A list hides what is missing.</a:t>
            </a:r>
          </a:p>
          <a:p>
            <a:pPr>
              <a:spcAft>
                <a:spcPts val="800"/>
              </a:spcAft>
            </a:pPr>
            <a:r>
              <a:rPr sz="1700" b="0" i="0">
                <a:solidFill>
                  <a:srgbClr val="595959"/>
                </a:solidFill>
                <a:latin typeface="Arial"/>
              </a:rPr>
              <a:t>One page with five domains shows your minister both.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PAERA's picture of the infrastructure</a:t>
            </a:r>
          </a:p>
        </p:txBody>
      </p:sp>
      <p:sp>
        <p:nvSpPr>
          <p:cNvPr id="4" name="Rounded Rectangle 3"/>
          <p:cNvSpPr/>
          <p:nvPr/>
        </p:nvSpPr>
        <p:spPr>
          <a:xfrm>
            <a:off x="658368" y="1417320"/>
            <a:ext cx="10881360" cy="9144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SERVICES</a:t>
            </a:r>
          </a:p>
          <a:p>
            <a:pPr algn="l">
              <a:spcAft>
                <a:spcPts val="300"/>
              </a:spcAft>
            </a:pPr>
            <a:r>
              <a:rPr sz="1400" b="0" i="0">
                <a:solidFill>
                  <a:srgbClr val="1A1A1A"/>
                </a:solidFill>
                <a:latin typeface="Arial"/>
              </a:rPr>
              <a:t>For example, registering a learner, paying a scholarship.</a:t>
            </a:r>
          </a:p>
        </p:txBody>
      </p:sp>
      <p:sp>
        <p:nvSpPr>
          <p:cNvPr id="5" name="Rounded Rectangle 4"/>
          <p:cNvSpPr/>
          <p:nvPr/>
        </p:nvSpPr>
        <p:spPr>
          <a:xfrm>
            <a:off x="658368"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ACCESS</a:t>
            </a:r>
          </a:p>
          <a:p>
            <a:pPr algn="l">
              <a:spcAft>
                <a:spcPts val="300"/>
              </a:spcAft>
            </a:pPr>
            <a:r>
              <a:rPr sz="1300" b="0" i="0">
                <a:solidFill>
                  <a:srgbClr val="1A1A1A"/>
                </a:solidFill>
                <a:latin typeface="Arial"/>
              </a:rPr>
              <a:t>Connections, devices, skills, and help for people who need it.</a:t>
            </a:r>
          </a:p>
        </p:txBody>
      </p:sp>
      <p:sp>
        <p:nvSpPr>
          <p:cNvPr id="6" name="Rounded Rectangle 5"/>
          <p:cNvSpPr/>
          <p:nvPr/>
        </p:nvSpPr>
        <p:spPr>
          <a:xfrm>
            <a:off x="3447287"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DIGITAL DATA</a:t>
            </a:r>
          </a:p>
          <a:p>
            <a:pPr algn="l">
              <a:spcAft>
                <a:spcPts val="300"/>
              </a:spcAft>
            </a:pPr>
            <a:r>
              <a:rPr sz="1300" b="0" i="0">
                <a:solidFill>
                  <a:srgbClr val="1A1A1A"/>
                </a:solidFill>
                <a:latin typeface="Arial"/>
              </a:rPr>
              <a:t>The state registers.</a:t>
            </a:r>
          </a:p>
        </p:txBody>
      </p:sp>
      <p:sp>
        <p:nvSpPr>
          <p:cNvPr id="7" name="Rounded Rectangle 6"/>
          <p:cNvSpPr/>
          <p:nvPr/>
        </p:nvSpPr>
        <p:spPr>
          <a:xfrm>
            <a:off x="6236207"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INTEROPERABILITY</a:t>
            </a:r>
          </a:p>
          <a:p>
            <a:pPr algn="l">
              <a:spcAft>
                <a:spcPts val="300"/>
              </a:spcAft>
            </a:pPr>
            <a:r>
              <a:rPr sz="1300" b="0" i="0">
                <a:solidFill>
                  <a:srgbClr val="1A1A1A"/>
                </a:solidFill>
                <a:latin typeface="Arial"/>
              </a:rPr>
              <a:t>The exchange of data between systems.</a:t>
            </a:r>
          </a:p>
        </p:txBody>
      </p:sp>
      <p:sp>
        <p:nvSpPr>
          <p:cNvPr id="8" name="Rounded Rectangle 7"/>
          <p:cNvSpPr/>
          <p:nvPr/>
        </p:nvSpPr>
        <p:spPr>
          <a:xfrm>
            <a:off x="9025128" y="2560320"/>
            <a:ext cx="2514600" cy="17373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DIGITAL IDENTITY</a:t>
            </a:r>
          </a:p>
          <a:p>
            <a:pPr algn="l">
              <a:spcAft>
                <a:spcPts val="300"/>
              </a:spcAft>
            </a:pPr>
            <a:r>
              <a:rPr sz="1300" b="0" i="0">
                <a:solidFill>
                  <a:srgbClr val="1A1A1A"/>
                </a:solidFill>
                <a:latin typeface="Arial"/>
              </a:rPr>
              <a:t>Who a person is.</a:t>
            </a:r>
          </a:p>
        </p:txBody>
      </p:sp>
      <p:sp>
        <p:nvSpPr>
          <p:cNvPr id="9" name="Rounded Rectangle 8"/>
          <p:cNvSpPr/>
          <p:nvPr/>
        </p:nvSpPr>
        <p:spPr>
          <a:xfrm>
            <a:off x="658368" y="4526280"/>
            <a:ext cx="10881360" cy="10058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FOUNDATION</a:t>
            </a:r>
          </a:p>
          <a:p>
            <a:pPr algn="l">
              <a:spcAft>
                <a:spcPts val="300"/>
              </a:spcAft>
            </a:pPr>
            <a:r>
              <a:rPr sz="1400" b="0" i="0">
                <a:solidFill>
                  <a:srgbClr val="FFFFFF"/>
                </a:solidFill>
                <a:latin typeface="Arial"/>
              </a:rPr>
              <a:t>Governance and policy, with the legal framework.</a:t>
            </a:r>
          </a:p>
        </p:txBody>
      </p:sp>
      <p:sp>
        <p:nvSpPr>
          <p:cNvPr id="10" name="TextBox 9"/>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Services stand on the pillars; the pillars stand on the foundation.</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domains, with their codes</a:t>
            </a:r>
          </a:p>
        </p:txBody>
      </p:sp>
      <p:sp>
        <p:nvSpPr>
          <p:cNvPr id="4" name="TextBox 3"/>
          <p:cNvSpPr txBox="1"/>
          <p:nvPr/>
        </p:nvSpPr>
        <p:spPr>
          <a:xfrm>
            <a:off x="658368" y="1463040"/>
            <a:ext cx="10984687" cy="740664"/>
          </a:xfrm>
          <a:prstGeom prst="rect">
            <a:avLst/>
          </a:prstGeom>
          <a:noFill/>
        </p:spPr>
        <p:txBody>
          <a:bodyPr wrap="square">
            <a:spAutoFit/>
          </a:bodyPr>
          <a:lstStyle/>
          <a:p>
            <a:pPr>
              <a:spcAft>
                <a:spcPts val="300"/>
              </a:spcAft>
            </a:pPr>
            <a:r>
              <a:rPr sz="1900" b="1" i="0">
                <a:solidFill>
                  <a:srgbClr val="1A1A1A"/>
                </a:solidFill>
                <a:latin typeface="Arial"/>
              </a:rPr>
              <a:t>GOV</a:t>
            </a:r>
          </a:p>
          <a:p>
            <a:pPr>
              <a:spcAft>
                <a:spcPts val="300"/>
              </a:spcAft>
            </a:pPr>
            <a:r>
              <a:rPr sz="1550" b="0" i="0">
                <a:solidFill>
                  <a:srgbClr val="595959"/>
                </a:solidFill>
                <a:latin typeface="Arial"/>
              </a:rPr>
              <a:t>Governance and policy, with the legal framework.</a:t>
            </a:r>
          </a:p>
        </p:txBody>
      </p:sp>
      <p:sp>
        <p:nvSpPr>
          <p:cNvPr id="5" name="Rectangle 4"/>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9424"/>
            <a:ext cx="10984687" cy="740664"/>
          </a:xfrm>
          <a:prstGeom prst="rect">
            <a:avLst/>
          </a:prstGeom>
          <a:noFill/>
        </p:spPr>
        <p:txBody>
          <a:bodyPr wrap="square">
            <a:spAutoFit/>
          </a:bodyPr>
          <a:lstStyle/>
          <a:p>
            <a:pPr>
              <a:spcAft>
                <a:spcPts val="300"/>
              </a:spcAft>
            </a:pPr>
            <a:r>
              <a:rPr sz="1900" b="1" i="0">
                <a:solidFill>
                  <a:srgbClr val="1A1A1A"/>
                </a:solidFill>
                <a:latin typeface="Arial"/>
              </a:rPr>
              <a:t>ACC</a:t>
            </a:r>
          </a:p>
          <a:p>
            <a:pPr>
              <a:spcAft>
                <a:spcPts val="300"/>
              </a:spcAft>
            </a:pPr>
            <a:r>
              <a:rPr sz="1550" b="0" i="0">
                <a:solidFill>
                  <a:srgbClr val="595959"/>
                </a:solidFill>
                <a:latin typeface="Arial"/>
              </a:rPr>
              <a:t>Access.</a:t>
            </a:r>
          </a:p>
        </p:txBody>
      </p:sp>
      <p:sp>
        <p:nvSpPr>
          <p:cNvPr id="7" name="Rectangle 6"/>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5808"/>
            <a:ext cx="10984687" cy="740664"/>
          </a:xfrm>
          <a:prstGeom prst="rect">
            <a:avLst/>
          </a:prstGeom>
          <a:noFill/>
        </p:spPr>
        <p:txBody>
          <a:bodyPr wrap="square">
            <a:spAutoFit/>
          </a:bodyPr>
          <a:lstStyle/>
          <a:p>
            <a:pPr>
              <a:spcAft>
                <a:spcPts val="300"/>
              </a:spcAft>
            </a:pPr>
            <a:r>
              <a:rPr sz="1900" b="1" i="0">
                <a:solidFill>
                  <a:srgbClr val="1A1A1A"/>
                </a:solidFill>
                <a:latin typeface="Arial"/>
              </a:rPr>
              <a:t>DAT</a:t>
            </a:r>
          </a:p>
          <a:p>
            <a:pPr>
              <a:spcAft>
                <a:spcPts val="300"/>
              </a:spcAft>
            </a:pPr>
            <a:r>
              <a:rPr sz="1550" b="0" i="0">
                <a:solidFill>
                  <a:srgbClr val="595959"/>
                </a:solidFill>
                <a:latin typeface="Arial"/>
              </a:rPr>
              <a:t>Digital Data.</a:t>
            </a:r>
          </a:p>
        </p:txBody>
      </p:sp>
      <p:sp>
        <p:nvSpPr>
          <p:cNvPr id="9" name="Rectangle 8"/>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22191"/>
            <a:ext cx="10984687" cy="740664"/>
          </a:xfrm>
          <a:prstGeom prst="rect">
            <a:avLst/>
          </a:prstGeom>
          <a:noFill/>
        </p:spPr>
        <p:txBody>
          <a:bodyPr wrap="square">
            <a:spAutoFit/>
          </a:bodyPr>
          <a:lstStyle/>
          <a:p>
            <a:pPr>
              <a:spcAft>
                <a:spcPts val="300"/>
              </a:spcAft>
            </a:pPr>
            <a:r>
              <a:rPr sz="1900" b="1" i="0">
                <a:solidFill>
                  <a:srgbClr val="1A1A1A"/>
                </a:solidFill>
                <a:latin typeface="Arial"/>
              </a:rPr>
              <a:t>INT</a:t>
            </a:r>
          </a:p>
          <a:p>
            <a:pPr>
              <a:spcAft>
                <a:spcPts val="300"/>
              </a:spcAft>
            </a:pPr>
            <a:r>
              <a:rPr sz="1550" b="0" i="0">
                <a:solidFill>
                  <a:srgbClr val="595959"/>
                </a:solidFill>
                <a:latin typeface="Arial"/>
              </a:rPr>
              <a:t>Interoperability.</a:t>
            </a:r>
          </a:p>
        </p:txBody>
      </p:sp>
      <p:sp>
        <p:nvSpPr>
          <p:cNvPr id="11" name="Rectangle 10"/>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8576"/>
            <a:ext cx="10984687" cy="740664"/>
          </a:xfrm>
          <a:prstGeom prst="rect">
            <a:avLst/>
          </a:prstGeom>
          <a:noFill/>
        </p:spPr>
        <p:txBody>
          <a:bodyPr wrap="square">
            <a:spAutoFit/>
          </a:bodyPr>
          <a:lstStyle/>
          <a:p>
            <a:pPr>
              <a:spcAft>
                <a:spcPts val="300"/>
              </a:spcAft>
            </a:pPr>
            <a:r>
              <a:rPr sz="1900" b="1" i="0">
                <a:solidFill>
                  <a:srgbClr val="1A1A1A"/>
                </a:solidFill>
                <a:latin typeface="Arial"/>
              </a:rPr>
              <a:t>IDN</a:t>
            </a:r>
          </a:p>
          <a:p>
            <a:pPr>
              <a:spcAft>
                <a:spcPts val="300"/>
              </a:spcAft>
            </a:pPr>
            <a:r>
              <a:rPr sz="1550" b="0" i="0">
                <a:solidFill>
                  <a:srgbClr val="595959"/>
                </a:solidFill>
                <a:latin typeface="Arial"/>
              </a:rPr>
              <a:t>Digital Identity.</a:t>
            </a:r>
          </a:p>
        </p:txBody>
      </p:sp>
      <p:sp>
        <p:nvSpPr>
          <p:cNvPr id="13" name="TextBox 12"/>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Reading the foundation as a fifth domain is this course's own reading of PAERA.</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frame page</a:t>
            </a:r>
          </a:p>
        </p:txBody>
      </p:sp>
      <p:sp>
        <p:nvSpPr>
          <p:cNvPr id="4" name="TextBox 3"/>
          <p:cNvSpPr txBox="1"/>
          <p:nvPr/>
        </p:nvSpPr>
        <p:spPr>
          <a:xfrm>
            <a:off x="658368" y="1417320"/>
            <a:ext cx="1901952" cy="384048"/>
          </a:xfrm>
          <a:prstGeom prst="rect">
            <a:avLst/>
          </a:prstGeom>
          <a:noFill/>
        </p:spPr>
        <p:txBody>
          <a:bodyPr wrap="square">
            <a:spAutoFit/>
          </a:bodyPr>
          <a:lstStyle/>
          <a:p>
            <a:r>
              <a:rPr sz="1400" b="1" i="0">
                <a:solidFill>
                  <a:srgbClr val="006E96"/>
                </a:solidFill>
                <a:latin typeface="Arial"/>
              </a:rPr>
              <a:t>Domain</a:t>
            </a:r>
          </a:p>
        </p:txBody>
      </p:sp>
      <p:sp>
        <p:nvSpPr>
          <p:cNvPr id="5" name="TextBox 4"/>
          <p:cNvSpPr txBox="1"/>
          <p:nvPr/>
        </p:nvSpPr>
        <p:spPr>
          <a:xfrm>
            <a:off x="2670048" y="1417320"/>
            <a:ext cx="8759952" cy="384048"/>
          </a:xfrm>
          <a:prstGeom prst="rect">
            <a:avLst/>
          </a:prstGeom>
          <a:noFill/>
        </p:spPr>
        <p:txBody>
          <a:bodyPr wrap="square">
            <a:spAutoFit/>
          </a:bodyPr>
          <a:lstStyle/>
          <a:p>
            <a:r>
              <a:rPr sz="1400" b="1" i="0">
                <a:solidFill>
                  <a:srgbClr val="006E96"/>
                </a:solidFill>
                <a:latin typeface="Arial"/>
              </a:rPr>
              <a:t>Who answers for Progressa</a:t>
            </a:r>
          </a:p>
        </p:txBody>
      </p:sp>
      <p:sp>
        <p:nvSpPr>
          <p:cNvPr id="6" name="Rectangle 5"/>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11095"/>
            <a:ext cx="1901952" cy="694944"/>
          </a:xfrm>
          <a:prstGeom prst="rect">
            <a:avLst/>
          </a:prstGeom>
          <a:noFill/>
        </p:spPr>
        <p:txBody>
          <a:bodyPr wrap="square">
            <a:spAutoFit/>
          </a:bodyPr>
          <a:lstStyle/>
          <a:p>
            <a:r>
              <a:rPr sz="1400" b="1" i="0">
                <a:solidFill>
                  <a:srgbClr val="1A1A1A"/>
                </a:solidFill>
                <a:latin typeface="Arial"/>
              </a:rPr>
              <a:t>GOV</a:t>
            </a:r>
          </a:p>
        </p:txBody>
      </p:sp>
      <p:sp>
        <p:nvSpPr>
          <p:cNvPr id="8" name="TextBox 7"/>
          <p:cNvSpPr txBox="1"/>
          <p:nvPr/>
        </p:nvSpPr>
        <p:spPr>
          <a:xfrm>
            <a:off x="2670048" y="1911095"/>
            <a:ext cx="8759952" cy="694944"/>
          </a:xfrm>
          <a:prstGeom prst="rect">
            <a:avLst/>
          </a:prstGeom>
          <a:noFill/>
        </p:spPr>
        <p:txBody>
          <a:bodyPr wrap="square">
            <a:spAutoFit/>
          </a:bodyPr>
          <a:lstStyle/>
          <a:p>
            <a:r>
              <a:rPr sz="1400" b="0" i="0">
                <a:solidFill>
                  <a:srgbClr val="1A1A1A"/>
                </a:solidFill>
                <a:latin typeface="Arial"/>
              </a:rPr>
              <a:t>The ministry's planning directorate, with PDGA for the national rules.</a:t>
            </a:r>
          </a:p>
        </p:txBody>
      </p:sp>
      <p:sp>
        <p:nvSpPr>
          <p:cNvPr id="9" name="Rectangle 8"/>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79191"/>
            <a:ext cx="1901952" cy="694944"/>
          </a:xfrm>
          <a:prstGeom prst="rect">
            <a:avLst/>
          </a:prstGeom>
          <a:noFill/>
        </p:spPr>
        <p:txBody>
          <a:bodyPr wrap="square">
            <a:spAutoFit/>
          </a:bodyPr>
          <a:lstStyle/>
          <a:p>
            <a:r>
              <a:rPr sz="1400" b="1" i="0">
                <a:solidFill>
                  <a:srgbClr val="1A1A1A"/>
                </a:solidFill>
                <a:latin typeface="Arial"/>
              </a:rPr>
              <a:t>ACC</a:t>
            </a:r>
          </a:p>
        </p:txBody>
      </p:sp>
      <p:sp>
        <p:nvSpPr>
          <p:cNvPr id="11" name="TextBox 10"/>
          <p:cNvSpPr txBox="1"/>
          <p:nvPr/>
        </p:nvSpPr>
        <p:spPr>
          <a:xfrm>
            <a:off x="2670048" y="2679191"/>
            <a:ext cx="8759952" cy="694944"/>
          </a:xfrm>
          <a:prstGeom prst="rect">
            <a:avLst/>
          </a:prstGeom>
          <a:noFill/>
        </p:spPr>
        <p:txBody>
          <a:bodyPr wrap="square">
            <a:spAutoFit/>
          </a:bodyPr>
          <a:lstStyle/>
          <a:p>
            <a:r>
              <a:rPr sz="1400" b="0" i="0">
                <a:solidFill>
                  <a:srgbClr val="1A1A1A"/>
                </a:solidFill>
                <a:latin typeface="Arial"/>
              </a:rPr>
              <a:t>The ministry's ICT unit, with the district education offices.</a:t>
            </a:r>
          </a:p>
        </p:txBody>
      </p:sp>
      <p:sp>
        <p:nvSpPr>
          <p:cNvPr id="12" name="Rectangle 11"/>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447288"/>
            <a:ext cx="1901952" cy="694944"/>
          </a:xfrm>
          <a:prstGeom prst="rect">
            <a:avLst/>
          </a:prstGeom>
          <a:noFill/>
        </p:spPr>
        <p:txBody>
          <a:bodyPr wrap="square">
            <a:spAutoFit/>
          </a:bodyPr>
          <a:lstStyle/>
          <a:p>
            <a:r>
              <a:rPr sz="1400" b="1" i="0">
                <a:solidFill>
                  <a:srgbClr val="1A1A1A"/>
                </a:solidFill>
                <a:latin typeface="Arial"/>
              </a:rPr>
              <a:t>DAT</a:t>
            </a:r>
          </a:p>
        </p:txBody>
      </p:sp>
      <p:sp>
        <p:nvSpPr>
          <p:cNvPr id="14" name="TextBox 13"/>
          <p:cNvSpPr txBox="1"/>
          <p:nvPr/>
        </p:nvSpPr>
        <p:spPr>
          <a:xfrm>
            <a:off x="2670048" y="3447288"/>
            <a:ext cx="8759952" cy="694944"/>
          </a:xfrm>
          <a:prstGeom prst="rect">
            <a:avLst/>
          </a:prstGeom>
          <a:noFill/>
        </p:spPr>
        <p:txBody>
          <a:bodyPr wrap="square">
            <a:spAutoFit/>
          </a:bodyPr>
          <a:lstStyle/>
          <a:p>
            <a:r>
              <a:rPr sz="1400" b="0" i="0">
                <a:solidFill>
                  <a:srgbClr val="1A1A1A"/>
                </a:solidFill>
                <a:latin typeface="Arial"/>
              </a:rPr>
              <a:t>The ministry's statistics unit, which runs PEMIS, with PNEA, the examination authority.</a:t>
            </a:r>
          </a:p>
        </p:txBody>
      </p:sp>
      <p:sp>
        <p:nvSpPr>
          <p:cNvPr id="15" name="Rectangle 14"/>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215384"/>
            <a:ext cx="1901952" cy="694944"/>
          </a:xfrm>
          <a:prstGeom prst="rect">
            <a:avLst/>
          </a:prstGeom>
          <a:noFill/>
        </p:spPr>
        <p:txBody>
          <a:bodyPr wrap="square">
            <a:spAutoFit/>
          </a:bodyPr>
          <a:lstStyle/>
          <a:p>
            <a:r>
              <a:rPr sz="1400" b="1" i="0">
                <a:solidFill>
                  <a:srgbClr val="1A1A1A"/>
                </a:solidFill>
                <a:latin typeface="Arial"/>
              </a:rPr>
              <a:t>INT</a:t>
            </a:r>
          </a:p>
        </p:txBody>
      </p:sp>
      <p:sp>
        <p:nvSpPr>
          <p:cNvPr id="17" name="TextBox 16"/>
          <p:cNvSpPr txBox="1"/>
          <p:nvPr/>
        </p:nvSpPr>
        <p:spPr>
          <a:xfrm>
            <a:off x="2670048" y="4215384"/>
            <a:ext cx="8759952" cy="694944"/>
          </a:xfrm>
          <a:prstGeom prst="rect">
            <a:avLst/>
          </a:prstGeom>
          <a:noFill/>
        </p:spPr>
        <p:txBody>
          <a:bodyPr wrap="square">
            <a:spAutoFit/>
          </a:bodyPr>
          <a:lstStyle/>
          <a:p>
            <a:r>
              <a:rPr sz="1400" b="0" i="0">
                <a:solidFill>
                  <a:srgbClr val="1A1A1A"/>
                </a:solidFill>
                <a:latin typeface="Arial"/>
              </a:rPr>
              <a:t>PDGA, which operates Linkup, with the ministry's ICT unit.</a:t>
            </a:r>
          </a:p>
        </p:txBody>
      </p:sp>
      <p:sp>
        <p:nvSpPr>
          <p:cNvPr id="18" name="Rectangle 17"/>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4983480"/>
            <a:ext cx="1901952" cy="694944"/>
          </a:xfrm>
          <a:prstGeom prst="rect">
            <a:avLst/>
          </a:prstGeom>
          <a:noFill/>
        </p:spPr>
        <p:txBody>
          <a:bodyPr wrap="square">
            <a:spAutoFit/>
          </a:bodyPr>
          <a:lstStyle/>
          <a:p>
            <a:r>
              <a:rPr sz="1400" b="1" i="0">
                <a:solidFill>
                  <a:srgbClr val="1A1A1A"/>
                </a:solidFill>
                <a:latin typeface="Arial"/>
              </a:rPr>
              <a:t>IDN</a:t>
            </a:r>
          </a:p>
        </p:txBody>
      </p:sp>
      <p:sp>
        <p:nvSpPr>
          <p:cNvPr id="20" name="TextBox 19"/>
          <p:cNvSpPr txBox="1"/>
          <p:nvPr/>
        </p:nvSpPr>
        <p:spPr>
          <a:xfrm>
            <a:off x="2670048" y="4983480"/>
            <a:ext cx="8759952" cy="694944"/>
          </a:xfrm>
          <a:prstGeom prst="rect">
            <a:avLst/>
          </a:prstGeom>
          <a:noFill/>
        </p:spPr>
        <p:txBody>
          <a:bodyPr wrap="square">
            <a:spAutoFit/>
          </a:bodyPr>
          <a:lstStyle/>
          <a:p>
            <a:r>
              <a:rPr sz="1400" b="0" i="0">
                <a:solidFill>
                  <a:srgbClr val="1A1A1A"/>
                </a:solidFill>
                <a:latin typeface="Arial"/>
              </a:rPr>
              <a:t>PNIA, the national identity authority, with the ministry's ICT unit.</a:t>
            </a:r>
          </a:p>
        </p:txBody>
      </p:sp>
      <p:sp>
        <p:nvSpPr>
          <p:cNvPr id="21" name="TextBox 20"/>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Progressa is a fictional country. Worked example E1.</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page both sides can read</a:t>
            </a:r>
          </a:p>
        </p:txBody>
      </p:sp>
      <p:sp>
        <p:nvSpPr>
          <p:cNvPr id="4" name="Rounded Rectangle 3"/>
          <p:cNvSpPr/>
          <p:nvPr/>
        </p:nvSpPr>
        <p:spPr>
          <a:xfrm>
            <a:off x="658368" y="1554480"/>
            <a:ext cx="5394960" cy="219456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192024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The gaps in law, money and ownership.</a:t>
            </a:r>
          </a:p>
        </p:txBody>
      </p:sp>
      <p:sp>
        <p:nvSpPr>
          <p:cNvPr id="6" name="Rounded Rectangle 5"/>
          <p:cNvSpPr/>
          <p:nvPr/>
        </p:nvSpPr>
        <p:spPr>
          <a:xfrm>
            <a:off x="6263640" y="1554480"/>
            <a:ext cx="5394960" cy="219456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192024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The gaps in systems and data.</a:t>
            </a:r>
          </a:p>
        </p:txBody>
      </p:sp>
      <p:sp>
        <p:nvSpPr>
          <p:cNvPr id="8" name="TextBox 7"/>
          <p:cNvSpPr txBox="1"/>
          <p:nvPr/>
        </p:nvSpPr>
        <p:spPr>
          <a:xfrm>
            <a:off x="658368" y="3931920"/>
            <a:ext cx="10881360" cy="548640"/>
          </a:xfrm>
          <a:prstGeom prst="rect">
            <a:avLst/>
          </a:prstGeom>
          <a:noFill/>
        </p:spPr>
        <p:txBody>
          <a:bodyPr wrap="square">
            <a:spAutoFit/>
          </a:bodyPr>
          <a:lstStyle/>
          <a:p>
            <a:r>
              <a:rPr sz="1550" b="1" i="0">
                <a:solidFill>
                  <a:srgbClr val="006E96"/>
                </a:solidFill>
                <a:latin typeface="Arial"/>
              </a:rPr>
              <a:t>When they decide what comes first, both point to the same part of the same page.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One page with five domains, a foundation of governance, policy and law carrying access, digital data, interoperability and digital identity, shows your minister what the country has and what it lacks.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your systems, laws and public bodies on the five-domain map.</a:t>
            </a:r>
          </a:p>
          <a:p>
            <a:pPr algn="l">
              <a:spcAft>
                <a:spcPts val="400"/>
              </a:spcAft>
            </a:pPr>
            <a:r>
              <a:rPr sz="1800" b="0" i="0">
                <a:solidFill>
                  <a:srgbClr val="595959"/>
                </a:solidFill>
                <a:latin typeface="Arial"/>
              </a:rPr>
              <a:t>The prompt in the companion material gives you a map of the five domains with every item placed and its reasoning.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2.3, 2.5, 3.1, 3.3.1 and 3.4.1 to 3.4.4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The five domains, as a map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roadmap method in nine steps: who does what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roadmap is produced in nine steps, and for each step you can say who acts, what goes in, what comes out, who decides and how the result is checked.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minister who commissions a roadmap will ask three things.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Who does the work? When must I decide? How will anyone know the result is right?</a:t>
            </a:r>
          </a:p>
          <a:p>
            <a:pPr>
              <a:spcAft>
                <a:spcPts val="800"/>
              </a:spcAft>
            </a:pPr>
            <a:r>
              <a:rPr sz="1700" b="0" i="0">
                <a:solidFill>
                  <a:srgbClr val="595959"/>
                </a:solidFill>
                <a:latin typeface="Arial"/>
              </a:rPr>
              <a:t>Nine named steps let you answer all three before the work starts.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for every step</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40664"/>
          </a:xfrm>
          <a:prstGeom prst="rect">
            <a:avLst/>
          </a:prstGeom>
          <a:noFill/>
        </p:spPr>
        <p:txBody>
          <a:bodyPr wrap="square">
            <a:spAutoFit/>
          </a:bodyPr>
          <a:lstStyle/>
          <a:p>
            <a:pPr>
              <a:spcAft>
                <a:spcPts val="300"/>
              </a:spcAft>
            </a:pPr>
            <a:r>
              <a:rPr sz="1900" b="1" i="0">
                <a:solidFill>
                  <a:srgbClr val="1A1A1A"/>
                </a:solidFill>
                <a:latin typeface="Arial"/>
              </a:rPr>
              <a:t>Who acts?</a:t>
            </a:r>
          </a:p>
        </p:txBody>
      </p:sp>
      <p:sp>
        <p:nvSpPr>
          <p:cNvPr id="6" name="Rectangle 5"/>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5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9424"/>
            <a:ext cx="10527487" cy="740664"/>
          </a:xfrm>
          <a:prstGeom prst="rect">
            <a:avLst/>
          </a:prstGeom>
          <a:noFill/>
        </p:spPr>
        <p:txBody>
          <a:bodyPr wrap="square">
            <a:spAutoFit/>
          </a:bodyPr>
          <a:lstStyle/>
          <a:p>
            <a:pPr>
              <a:spcAft>
                <a:spcPts val="300"/>
              </a:spcAft>
            </a:pPr>
            <a:r>
              <a:rPr sz="1900" b="1" i="0">
                <a:solidFill>
                  <a:srgbClr val="1A1A1A"/>
                </a:solidFill>
                <a:latin typeface="Arial"/>
              </a:rPr>
              <a:t>What goes in?</a:t>
            </a:r>
          </a:p>
        </p:txBody>
      </p:sp>
      <p:sp>
        <p:nvSpPr>
          <p:cNvPr id="9" name="Rectangle 8"/>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815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5808"/>
            <a:ext cx="10527487" cy="740664"/>
          </a:xfrm>
          <a:prstGeom prst="rect">
            <a:avLst/>
          </a:prstGeom>
          <a:noFill/>
        </p:spPr>
        <p:txBody>
          <a:bodyPr wrap="square">
            <a:spAutoFit/>
          </a:bodyPr>
          <a:lstStyle/>
          <a:p>
            <a:pPr>
              <a:spcAft>
                <a:spcPts val="300"/>
              </a:spcAft>
            </a:pPr>
            <a:r>
              <a:rPr sz="1900" b="1" i="0">
                <a:solidFill>
                  <a:srgbClr val="1A1A1A"/>
                </a:solidFill>
                <a:latin typeface="Arial"/>
              </a:rPr>
              <a:t>What comes out?</a:t>
            </a:r>
          </a:p>
        </p:txBody>
      </p:sp>
      <p:sp>
        <p:nvSpPr>
          <p:cNvPr id="12" name="Rectangle 11"/>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79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22191"/>
            <a:ext cx="10527487" cy="740664"/>
          </a:xfrm>
          <a:prstGeom prst="rect">
            <a:avLst/>
          </a:prstGeom>
          <a:noFill/>
        </p:spPr>
        <p:txBody>
          <a:bodyPr wrap="square">
            <a:spAutoFit/>
          </a:bodyPr>
          <a:lstStyle/>
          <a:p>
            <a:pPr>
              <a:spcAft>
                <a:spcPts val="300"/>
              </a:spcAft>
            </a:pPr>
            <a:r>
              <a:rPr sz="1900" b="1" i="0">
                <a:solidFill>
                  <a:srgbClr val="1A1A1A"/>
                </a:solidFill>
                <a:latin typeface="Arial"/>
              </a:rPr>
              <a:t>Who decides?</a:t>
            </a:r>
          </a:p>
        </p:txBody>
      </p:sp>
      <p:sp>
        <p:nvSpPr>
          <p:cNvPr id="15" name="Rectangle 14"/>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54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8576"/>
            <a:ext cx="10527487" cy="740664"/>
          </a:xfrm>
          <a:prstGeom prst="rect">
            <a:avLst/>
          </a:prstGeom>
          <a:noFill/>
        </p:spPr>
        <p:txBody>
          <a:bodyPr wrap="square">
            <a:spAutoFit/>
          </a:bodyPr>
          <a:lstStyle/>
          <a:p>
            <a:pPr>
              <a:spcAft>
                <a:spcPts val="300"/>
              </a:spcAft>
            </a:pPr>
            <a:r>
              <a:rPr sz="1900" b="1" i="0">
                <a:solidFill>
                  <a:srgbClr val="1A1A1A"/>
                </a:solidFill>
                <a:latin typeface="Arial"/>
              </a:rPr>
              <a:t>How is the result checked?</a:t>
            </a:r>
          </a:p>
        </p:txBody>
      </p:sp>
      <p:sp>
        <p:nvSpPr>
          <p:cNvPr id="18" name="TextBox 17"/>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And which tool or template the step uses.</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Steps 1 to 5: where the country stands</a:t>
            </a:r>
          </a:p>
        </p:txBody>
      </p:sp>
      <p:sp>
        <p:nvSpPr>
          <p:cNvPr id="4" name="TextBox 3"/>
          <p:cNvSpPr txBox="1"/>
          <p:nvPr/>
        </p:nvSpPr>
        <p:spPr>
          <a:xfrm>
            <a:off x="658368" y="1417320"/>
            <a:ext cx="2359152" cy="384048"/>
          </a:xfrm>
          <a:prstGeom prst="rect">
            <a:avLst/>
          </a:prstGeom>
          <a:noFill/>
        </p:spPr>
        <p:txBody>
          <a:bodyPr wrap="square">
            <a:spAutoFit/>
          </a:bodyPr>
          <a:lstStyle/>
          <a:p>
            <a:r>
              <a:rPr sz="1300" b="1" i="0">
                <a:solidFill>
                  <a:srgbClr val="006E96"/>
                </a:solidFill>
                <a:latin typeface="Arial"/>
              </a:rPr>
              <a:t>Step</a:t>
            </a:r>
          </a:p>
        </p:txBody>
      </p:sp>
      <p:sp>
        <p:nvSpPr>
          <p:cNvPr id="5" name="TextBox 4"/>
          <p:cNvSpPr txBox="1"/>
          <p:nvPr/>
        </p:nvSpPr>
        <p:spPr>
          <a:xfrm>
            <a:off x="3127248" y="1417320"/>
            <a:ext cx="4462272" cy="384048"/>
          </a:xfrm>
          <a:prstGeom prst="rect">
            <a:avLst/>
          </a:prstGeom>
          <a:noFill/>
        </p:spPr>
        <p:txBody>
          <a:bodyPr wrap="square">
            <a:spAutoFit/>
          </a:bodyPr>
          <a:lstStyle/>
          <a:p>
            <a:r>
              <a:rPr sz="1300" b="1" i="0">
                <a:solidFill>
                  <a:srgbClr val="006E96"/>
                </a:solidFill>
                <a:latin typeface="Arial"/>
              </a:rPr>
              <a:t>What comes out</a:t>
            </a:r>
          </a:p>
        </p:txBody>
      </p:sp>
      <p:sp>
        <p:nvSpPr>
          <p:cNvPr id="6" name="TextBox 5"/>
          <p:cNvSpPr txBox="1"/>
          <p:nvPr/>
        </p:nvSpPr>
        <p:spPr>
          <a:xfrm>
            <a:off x="7699248" y="1417320"/>
            <a:ext cx="3730752" cy="384048"/>
          </a:xfrm>
          <a:prstGeom prst="rect">
            <a:avLst/>
          </a:prstGeom>
          <a:noFill/>
        </p:spPr>
        <p:txBody>
          <a:bodyPr wrap="square">
            <a:spAutoFit/>
          </a:bodyPr>
          <a:lstStyle/>
          <a:p>
            <a:r>
              <a:rPr sz="1300" b="1" i="0">
                <a:solidFill>
                  <a:srgbClr val="006E96"/>
                </a:solidFill>
                <a:latin typeface="Arial"/>
              </a:rPr>
              <a:t>Tool or template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359152" cy="694944"/>
          </a:xfrm>
          <a:prstGeom prst="rect">
            <a:avLst/>
          </a:prstGeom>
          <a:noFill/>
        </p:spPr>
        <p:txBody>
          <a:bodyPr wrap="square">
            <a:spAutoFit/>
          </a:bodyPr>
          <a:lstStyle/>
          <a:p>
            <a:r>
              <a:rPr sz="1300" b="1" i="0">
                <a:solidFill>
                  <a:srgbClr val="1A1A1A"/>
                </a:solidFill>
                <a:latin typeface="Arial"/>
              </a:rPr>
              <a:t>1. Frame</a:t>
            </a:r>
          </a:p>
        </p:txBody>
      </p:sp>
      <p:sp>
        <p:nvSpPr>
          <p:cNvPr id="9" name="TextBox 8"/>
          <p:cNvSpPr txBox="1"/>
          <p:nvPr/>
        </p:nvSpPr>
        <p:spPr>
          <a:xfrm>
            <a:off x="3127248" y="1911095"/>
            <a:ext cx="4462272" cy="694944"/>
          </a:xfrm>
          <a:prstGeom prst="rect">
            <a:avLst/>
          </a:prstGeom>
          <a:noFill/>
        </p:spPr>
        <p:txBody>
          <a:bodyPr wrap="square">
            <a:spAutoFit/>
          </a:bodyPr>
          <a:lstStyle/>
          <a:p>
            <a:r>
              <a:rPr sz="1300" b="0" i="0">
                <a:solidFill>
                  <a:srgbClr val="1A1A1A"/>
                </a:solidFill>
                <a:latin typeface="Arial"/>
              </a:rPr>
              <a:t>One page: the five domains and who answers for each</a:t>
            </a:r>
          </a:p>
        </p:txBody>
      </p:sp>
      <p:sp>
        <p:nvSpPr>
          <p:cNvPr id="10" name="TextBox 9"/>
          <p:cNvSpPr txBox="1"/>
          <p:nvPr/>
        </p:nvSpPr>
        <p:spPr>
          <a:xfrm>
            <a:off x="7699248" y="1911095"/>
            <a:ext cx="3730752" cy="694944"/>
          </a:xfrm>
          <a:prstGeom prst="rect">
            <a:avLst/>
          </a:prstGeom>
          <a:noFill/>
        </p:spPr>
        <p:txBody>
          <a:bodyPr wrap="square">
            <a:spAutoFit/>
          </a:bodyPr>
          <a:lstStyle/>
          <a:p>
            <a:r>
              <a:rPr sz="1300" b="0" i="0">
                <a:solidFill>
                  <a:srgbClr val="1A1A1A"/>
                </a:solidFill>
                <a:latin typeface="Arial"/>
              </a:rPr>
              <a:t>The frame page</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2359152" cy="694944"/>
          </a:xfrm>
          <a:prstGeom prst="rect">
            <a:avLst/>
          </a:prstGeom>
          <a:noFill/>
        </p:spPr>
        <p:txBody>
          <a:bodyPr wrap="square">
            <a:spAutoFit/>
          </a:bodyPr>
          <a:lstStyle/>
          <a:p>
            <a:r>
              <a:rPr sz="1300" b="1" i="0">
                <a:solidFill>
                  <a:srgbClr val="1A1A1A"/>
                </a:solidFill>
                <a:latin typeface="Arial"/>
              </a:rPr>
              <a:t>2. Automatic assessment</a:t>
            </a:r>
          </a:p>
        </p:txBody>
      </p:sp>
      <p:sp>
        <p:nvSpPr>
          <p:cNvPr id="13" name="TextBox 12"/>
          <p:cNvSpPr txBox="1"/>
          <p:nvPr/>
        </p:nvSpPr>
        <p:spPr>
          <a:xfrm>
            <a:off x="3127248" y="2679191"/>
            <a:ext cx="4462272" cy="694944"/>
          </a:xfrm>
          <a:prstGeom prst="rect">
            <a:avLst/>
          </a:prstGeom>
          <a:noFill/>
        </p:spPr>
        <p:txBody>
          <a:bodyPr wrap="square">
            <a:spAutoFit/>
          </a:bodyPr>
          <a:lstStyle/>
          <a:p>
            <a:r>
              <a:rPr sz="1300" b="0" i="0">
                <a:solidFill>
                  <a:srgbClr val="1A1A1A"/>
                </a:solidFill>
                <a:latin typeface="Arial"/>
              </a:rPr>
              <a:t>First findings and gaps, each with its source, unverified</a:t>
            </a:r>
          </a:p>
        </p:txBody>
      </p:sp>
      <p:sp>
        <p:nvSpPr>
          <p:cNvPr id="14" name="TextBox 13"/>
          <p:cNvSpPr txBox="1"/>
          <p:nvPr/>
        </p:nvSpPr>
        <p:spPr>
          <a:xfrm>
            <a:off x="7699248" y="2679191"/>
            <a:ext cx="3730752" cy="694944"/>
          </a:xfrm>
          <a:prstGeom prst="rect">
            <a:avLst/>
          </a:prstGeom>
          <a:noFill/>
        </p:spPr>
        <p:txBody>
          <a:bodyPr wrap="square">
            <a:spAutoFit/>
          </a:bodyPr>
          <a:lstStyle/>
          <a:p>
            <a:r>
              <a:rPr sz="1300" b="0" i="0">
                <a:solidFill>
                  <a:srgbClr val="1A1A1A"/>
                </a:solidFill>
                <a:latin typeface="Arial"/>
              </a:rPr>
              <a:t>The question bank and the workflow that runs it</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2359152" cy="694944"/>
          </a:xfrm>
          <a:prstGeom prst="rect">
            <a:avLst/>
          </a:prstGeom>
          <a:noFill/>
        </p:spPr>
        <p:txBody>
          <a:bodyPr wrap="square">
            <a:spAutoFit/>
          </a:bodyPr>
          <a:lstStyle/>
          <a:p>
            <a:r>
              <a:rPr sz="1300" b="1" i="0">
                <a:solidFill>
                  <a:srgbClr val="1A1A1A"/>
                </a:solidFill>
                <a:latin typeface="Arial"/>
              </a:rPr>
              <a:t>3. Questionnaires</a:t>
            </a:r>
          </a:p>
        </p:txBody>
      </p:sp>
      <p:sp>
        <p:nvSpPr>
          <p:cNvPr id="17" name="TextBox 16"/>
          <p:cNvSpPr txBox="1"/>
          <p:nvPr/>
        </p:nvSpPr>
        <p:spPr>
          <a:xfrm>
            <a:off x="3127248" y="3447288"/>
            <a:ext cx="4462272" cy="694944"/>
          </a:xfrm>
          <a:prstGeom prst="rect">
            <a:avLst/>
          </a:prstGeom>
          <a:noFill/>
        </p:spPr>
        <p:txBody>
          <a:bodyPr wrap="square">
            <a:spAutoFit/>
          </a:bodyPr>
          <a:lstStyle/>
          <a:p>
            <a:r>
              <a:rPr sz="1300" b="0" i="0">
                <a:solidFill>
                  <a:srgbClr val="1A1A1A"/>
                </a:solidFill>
                <a:latin typeface="Arial"/>
              </a:rPr>
              <a:t>One answered questionnaire per domain, with its evidence</a:t>
            </a:r>
          </a:p>
        </p:txBody>
      </p:sp>
      <p:sp>
        <p:nvSpPr>
          <p:cNvPr id="18" name="TextBox 17"/>
          <p:cNvSpPr txBox="1"/>
          <p:nvPr/>
        </p:nvSpPr>
        <p:spPr>
          <a:xfrm>
            <a:off x="7699248" y="3447288"/>
            <a:ext cx="3730752" cy="694944"/>
          </a:xfrm>
          <a:prstGeom prst="rect">
            <a:avLst/>
          </a:prstGeom>
          <a:noFill/>
        </p:spPr>
        <p:txBody>
          <a:bodyPr wrap="square">
            <a:spAutoFit/>
          </a:bodyPr>
          <a:lstStyle/>
          <a:p>
            <a:r>
              <a:rPr sz="1300" b="0" i="0">
                <a:solidFill>
                  <a:srgbClr val="1A1A1A"/>
                </a:solidFill>
                <a:latin typeface="Arial"/>
              </a:rPr>
              <a:t>The five questionnaires and their two guides</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2359152" cy="694944"/>
          </a:xfrm>
          <a:prstGeom prst="rect">
            <a:avLst/>
          </a:prstGeom>
          <a:noFill/>
        </p:spPr>
        <p:txBody>
          <a:bodyPr wrap="square">
            <a:spAutoFit/>
          </a:bodyPr>
          <a:lstStyle/>
          <a:p>
            <a:r>
              <a:rPr sz="1300" b="1" i="0">
                <a:solidFill>
                  <a:srgbClr val="1A1A1A"/>
                </a:solidFill>
                <a:latin typeface="Arial"/>
              </a:rPr>
              <a:t>4. Verification</a:t>
            </a:r>
          </a:p>
        </p:txBody>
      </p:sp>
      <p:sp>
        <p:nvSpPr>
          <p:cNvPr id="21" name="TextBox 20"/>
          <p:cNvSpPr txBox="1"/>
          <p:nvPr/>
        </p:nvSpPr>
        <p:spPr>
          <a:xfrm>
            <a:off x="3127248" y="4215384"/>
            <a:ext cx="4462272" cy="694944"/>
          </a:xfrm>
          <a:prstGeom prst="rect">
            <a:avLst/>
          </a:prstGeom>
          <a:noFill/>
        </p:spPr>
        <p:txBody>
          <a:bodyPr wrap="square">
            <a:spAutoFit/>
          </a:bodyPr>
          <a:lstStyle/>
          <a:p>
            <a:r>
              <a:rPr sz="1300" b="0" i="0">
                <a:solidFill>
                  <a:srgbClr val="1A1A1A"/>
                </a:solidFill>
                <a:latin typeface="Arial"/>
              </a:rPr>
              <a:t>A verified position on every point</a:t>
            </a:r>
          </a:p>
        </p:txBody>
      </p:sp>
      <p:sp>
        <p:nvSpPr>
          <p:cNvPr id="22" name="TextBox 21"/>
          <p:cNvSpPr txBox="1"/>
          <p:nvPr/>
        </p:nvSpPr>
        <p:spPr>
          <a:xfrm>
            <a:off x="7699248" y="4215384"/>
            <a:ext cx="3730752" cy="694944"/>
          </a:xfrm>
          <a:prstGeom prst="rect">
            <a:avLst/>
          </a:prstGeom>
          <a:noFill/>
        </p:spPr>
        <p:txBody>
          <a:bodyPr wrap="square">
            <a:spAutoFit/>
          </a:bodyPr>
          <a:lstStyle/>
          <a:p>
            <a:r>
              <a:rPr sz="1300" b="0" i="0">
                <a:solidFill>
                  <a:srgbClr val="1A1A1A"/>
                </a:solidFill>
                <a:latin typeface="Arial"/>
              </a:rPr>
              <a:t>The templates for verification</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2359152" cy="694944"/>
          </a:xfrm>
          <a:prstGeom prst="rect">
            <a:avLst/>
          </a:prstGeom>
          <a:noFill/>
        </p:spPr>
        <p:txBody>
          <a:bodyPr wrap="square">
            <a:spAutoFit/>
          </a:bodyPr>
          <a:lstStyle/>
          <a:p>
            <a:r>
              <a:rPr sz="1300" b="1" i="0">
                <a:solidFill>
                  <a:srgbClr val="1A1A1A"/>
                </a:solidFill>
                <a:latin typeface="Arial"/>
              </a:rPr>
              <a:t>5. Scoring</a:t>
            </a:r>
          </a:p>
        </p:txBody>
      </p:sp>
      <p:sp>
        <p:nvSpPr>
          <p:cNvPr id="25" name="TextBox 24"/>
          <p:cNvSpPr txBox="1"/>
          <p:nvPr/>
        </p:nvSpPr>
        <p:spPr>
          <a:xfrm>
            <a:off x="3127248" y="4983480"/>
            <a:ext cx="4462272" cy="694944"/>
          </a:xfrm>
          <a:prstGeom prst="rect">
            <a:avLst/>
          </a:prstGeom>
          <a:noFill/>
        </p:spPr>
        <p:txBody>
          <a:bodyPr wrap="square">
            <a:spAutoFit/>
          </a:bodyPr>
          <a:lstStyle/>
          <a:p>
            <a:r>
              <a:rPr sz="1300" b="0" i="0">
                <a:solidFill>
                  <a:srgbClr val="1A1A1A"/>
                </a:solidFill>
                <a:latin typeface="Arial"/>
              </a:rPr>
              <a:t>Five domain reports and the maturity table</a:t>
            </a:r>
          </a:p>
        </p:txBody>
      </p:sp>
      <p:sp>
        <p:nvSpPr>
          <p:cNvPr id="26" name="TextBox 25"/>
          <p:cNvSpPr txBox="1"/>
          <p:nvPr/>
        </p:nvSpPr>
        <p:spPr>
          <a:xfrm>
            <a:off x="7699248" y="4983480"/>
            <a:ext cx="3730752" cy="694944"/>
          </a:xfrm>
          <a:prstGeom prst="rect">
            <a:avLst/>
          </a:prstGeom>
          <a:noFill/>
        </p:spPr>
        <p:txBody>
          <a:bodyPr wrap="square">
            <a:spAutoFit/>
          </a:bodyPr>
          <a:lstStyle/>
          <a:p>
            <a:r>
              <a:rPr sz="1300" b="0" i="0">
                <a:solidFill>
                  <a:srgbClr val="1A1A1A"/>
                </a:solidFill>
                <a:latin typeface="Arial"/>
              </a:rPr>
              <a:t>The scoring criteria and the scoring prompt</a:t>
            </a:r>
          </a:p>
        </p:txBody>
      </p:sp>
      <p:sp>
        <p:nvSpPr>
          <p:cNvPr id="27" name="TextBox 2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Steps 6 to 9: from the result to an adopted roadmap</a:t>
            </a:r>
          </a:p>
        </p:txBody>
      </p:sp>
      <p:sp>
        <p:nvSpPr>
          <p:cNvPr id="4" name="TextBox 3"/>
          <p:cNvSpPr txBox="1"/>
          <p:nvPr/>
        </p:nvSpPr>
        <p:spPr>
          <a:xfrm>
            <a:off x="658368" y="1417320"/>
            <a:ext cx="2542032" cy="384048"/>
          </a:xfrm>
          <a:prstGeom prst="rect">
            <a:avLst/>
          </a:prstGeom>
          <a:noFill/>
        </p:spPr>
        <p:txBody>
          <a:bodyPr wrap="square">
            <a:spAutoFit/>
          </a:bodyPr>
          <a:lstStyle/>
          <a:p>
            <a:r>
              <a:rPr sz="1300" b="1" i="0">
                <a:solidFill>
                  <a:srgbClr val="006E96"/>
                </a:solidFill>
                <a:latin typeface="Arial"/>
              </a:rPr>
              <a:t>Step</a:t>
            </a:r>
          </a:p>
        </p:txBody>
      </p:sp>
      <p:sp>
        <p:nvSpPr>
          <p:cNvPr id="5" name="TextBox 4"/>
          <p:cNvSpPr txBox="1"/>
          <p:nvPr/>
        </p:nvSpPr>
        <p:spPr>
          <a:xfrm>
            <a:off x="3310128" y="1417320"/>
            <a:ext cx="3822191" cy="384048"/>
          </a:xfrm>
          <a:prstGeom prst="rect">
            <a:avLst/>
          </a:prstGeom>
          <a:noFill/>
        </p:spPr>
        <p:txBody>
          <a:bodyPr wrap="square">
            <a:spAutoFit/>
          </a:bodyPr>
          <a:lstStyle/>
          <a:p>
            <a:r>
              <a:rPr sz="1300" b="1" i="0">
                <a:solidFill>
                  <a:srgbClr val="006E96"/>
                </a:solidFill>
                <a:latin typeface="Arial"/>
              </a:rPr>
              <a:t>What comes out</a:t>
            </a:r>
          </a:p>
        </p:txBody>
      </p:sp>
      <p:sp>
        <p:nvSpPr>
          <p:cNvPr id="6" name="TextBox 5"/>
          <p:cNvSpPr txBox="1"/>
          <p:nvPr/>
        </p:nvSpPr>
        <p:spPr>
          <a:xfrm>
            <a:off x="7242048" y="1417320"/>
            <a:ext cx="4187952" cy="384048"/>
          </a:xfrm>
          <a:prstGeom prst="rect">
            <a:avLst/>
          </a:prstGeom>
          <a:noFill/>
        </p:spPr>
        <p:txBody>
          <a:bodyPr wrap="square">
            <a:spAutoFit/>
          </a:bodyPr>
          <a:lstStyle/>
          <a:p>
            <a:r>
              <a:rPr sz="1300" b="1" i="0">
                <a:solidFill>
                  <a:srgbClr val="006E96"/>
                </a:solidFill>
                <a:latin typeface="Arial"/>
              </a:rPr>
              <a:t>Who decides</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542032" cy="886968"/>
          </a:xfrm>
          <a:prstGeom prst="rect">
            <a:avLst/>
          </a:prstGeom>
          <a:noFill/>
        </p:spPr>
        <p:txBody>
          <a:bodyPr wrap="square">
            <a:spAutoFit/>
          </a:bodyPr>
          <a:lstStyle/>
          <a:p>
            <a:r>
              <a:rPr sz="1300" b="1" i="0">
                <a:solidFill>
                  <a:srgbClr val="1A1A1A"/>
                </a:solidFill>
                <a:latin typeface="Arial"/>
              </a:rPr>
              <a:t>6. Gaps and priorities</a:t>
            </a:r>
          </a:p>
        </p:txBody>
      </p:sp>
      <p:sp>
        <p:nvSpPr>
          <p:cNvPr id="9" name="TextBox 8"/>
          <p:cNvSpPr txBox="1"/>
          <p:nvPr/>
        </p:nvSpPr>
        <p:spPr>
          <a:xfrm>
            <a:off x="3310128" y="1911095"/>
            <a:ext cx="3822191" cy="886968"/>
          </a:xfrm>
          <a:prstGeom prst="rect">
            <a:avLst/>
          </a:prstGeom>
          <a:noFill/>
        </p:spPr>
        <p:txBody>
          <a:bodyPr wrap="square">
            <a:spAutoFit/>
          </a:bodyPr>
          <a:lstStyle/>
          <a:p>
            <a:r>
              <a:rPr sz="1300" b="0" i="0">
                <a:solidFill>
                  <a:srgbClr val="1A1A1A"/>
                </a:solidFill>
                <a:latin typeface="Arial"/>
              </a:rPr>
              <a:t>The gap register, ranked</a:t>
            </a:r>
          </a:p>
        </p:txBody>
      </p:sp>
      <p:sp>
        <p:nvSpPr>
          <p:cNvPr id="10" name="TextBox 9"/>
          <p:cNvSpPr txBox="1"/>
          <p:nvPr/>
        </p:nvSpPr>
        <p:spPr>
          <a:xfrm>
            <a:off x="7242048" y="1911095"/>
            <a:ext cx="4187952" cy="886968"/>
          </a:xfrm>
          <a:prstGeom prst="rect">
            <a:avLst/>
          </a:prstGeom>
          <a:noFill/>
        </p:spPr>
        <p:txBody>
          <a:bodyPr wrap="square">
            <a:spAutoFit/>
          </a:bodyPr>
          <a:lstStyle/>
          <a:p>
            <a:r>
              <a:rPr sz="1300" b="0" i="0">
                <a:solidFill>
                  <a:srgbClr val="1A1A1A"/>
                </a:solidFill>
                <a:latin typeface="Arial"/>
              </a:rPr>
              <a:t>A workshop of the bodies on the frame page</a:t>
            </a:r>
          </a:p>
        </p:txBody>
      </p:sp>
      <p:sp>
        <p:nvSpPr>
          <p:cNvPr id="11" name="Rectangle 10"/>
          <p:cNvSpPr/>
          <p:nvPr/>
        </p:nvSpPr>
        <p:spPr>
          <a:xfrm>
            <a:off x="658368" y="281635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71215"/>
            <a:ext cx="2542032" cy="886968"/>
          </a:xfrm>
          <a:prstGeom prst="rect">
            <a:avLst/>
          </a:prstGeom>
          <a:noFill/>
        </p:spPr>
        <p:txBody>
          <a:bodyPr wrap="square">
            <a:spAutoFit/>
          </a:bodyPr>
          <a:lstStyle/>
          <a:p>
            <a:r>
              <a:rPr sz="1300" b="1" i="0">
                <a:solidFill>
                  <a:srgbClr val="1A1A1A"/>
                </a:solidFill>
                <a:latin typeface="Arial"/>
              </a:rPr>
              <a:t>7. Roadmap</a:t>
            </a:r>
          </a:p>
        </p:txBody>
      </p:sp>
      <p:sp>
        <p:nvSpPr>
          <p:cNvPr id="13" name="TextBox 12"/>
          <p:cNvSpPr txBox="1"/>
          <p:nvPr/>
        </p:nvSpPr>
        <p:spPr>
          <a:xfrm>
            <a:off x="3310128" y="2871215"/>
            <a:ext cx="3822191" cy="886968"/>
          </a:xfrm>
          <a:prstGeom prst="rect">
            <a:avLst/>
          </a:prstGeom>
          <a:noFill/>
        </p:spPr>
        <p:txBody>
          <a:bodyPr wrap="square">
            <a:spAutoFit/>
          </a:bodyPr>
          <a:lstStyle/>
          <a:p>
            <a:r>
              <a:rPr sz="1300" b="0" i="0">
                <a:solidFill>
                  <a:srgbClr val="1A1A1A"/>
                </a:solidFill>
                <a:latin typeface="Arial"/>
              </a:rPr>
              <a:t>The roadmap over time, with its dependencies</a:t>
            </a:r>
          </a:p>
        </p:txBody>
      </p:sp>
      <p:sp>
        <p:nvSpPr>
          <p:cNvPr id="14" name="TextBox 13"/>
          <p:cNvSpPr txBox="1"/>
          <p:nvPr/>
        </p:nvSpPr>
        <p:spPr>
          <a:xfrm>
            <a:off x="7242048" y="2871215"/>
            <a:ext cx="4187952" cy="886968"/>
          </a:xfrm>
          <a:prstGeom prst="rect">
            <a:avLst/>
          </a:prstGeom>
          <a:noFill/>
        </p:spPr>
        <p:txBody>
          <a:bodyPr wrap="square">
            <a:spAutoFit/>
          </a:bodyPr>
          <a:lstStyle/>
          <a:p>
            <a:r>
              <a:rPr sz="1300" b="0" i="0">
                <a:solidFill>
                  <a:srgbClr val="1A1A1A"/>
                </a:solidFill>
                <a:latin typeface="Arial"/>
              </a:rPr>
              <a:t>Dates stay proposals until the budget and the owners of the work confirm them</a:t>
            </a:r>
          </a:p>
        </p:txBody>
      </p:sp>
      <p:sp>
        <p:nvSpPr>
          <p:cNvPr id="15" name="Rectangle 14"/>
          <p:cNvSpPr/>
          <p:nvPr/>
        </p:nvSpPr>
        <p:spPr>
          <a:xfrm>
            <a:off x="658368"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831336"/>
            <a:ext cx="2542032" cy="886968"/>
          </a:xfrm>
          <a:prstGeom prst="rect">
            <a:avLst/>
          </a:prstGeom>
          <a:noFill/>
        </p:spPr>
        <p:txBody>
          <a:bodyPr wrap="square">
            <a:spAutoFit/>
          </a:bodyPr>
          <a:lstStyle/>
          <a:p>
            <a:r>
              <a:rPr sz="1300" b="1" i="0">
                <a:solidFill>
                  <a:srgbClr val="1A1A1A"/>
                </a:solidFill>
                <a:latin typeface="Arial"/>
              </a:rPr>
              <a:t>8. Investment breakdown</a:t>
            </a:r>
          </a:p>
        </p:txBody>
      </p:sp>
      <p:sp>
        <p:nvSpPr>
          <p:cNvPr id="17" name="TextBox 16"/>
          <p:cNvSpPr txBox="1"/>
          <p:nvPr/>
        </p:nvSpPr>
        <p:spPr>
          <a:xfrm>
            <a:off x="3310128" y="3831336"/>
            <a:ext cx="3822191" cy="886968"/>
          </a:xfrm>
          <a:prstGeom prst="rect">
            <a:avLst/>
          </a:prstGeom>
          <a:noFill/>
        </p:spPr>
        <p:txBody>
          <a:bodyPr wrap="square">
            <a:spAutoFit/>
          </a:bodyPr>
          <a:lstStyle/>
          <a:p>
            <a:r>
              <a:rPr sz="1300" b="0" i="0">
                <a:solidFill>
                  <a:srgbClr val="1A1A1A"/>
                </a:solidFill>
                <a:latin typeface="Arial"/>
              </a:rPr>
              <a:t>The investment case in four sheets</a:t>
            </a:r>
          </a:p>
        </p:txBody>
      </p:sp>
      <p:sp>
        <p:nvSpPr>
          <p:cNvPr id="18" name="TextBox 17"/>
          <p:cNvSpPr txBox="1"/>
          <p:nvPr/>
        </p:nvSpPr>
        <p:spPr>
          <a:xfrm>
            <a:off x="7242048" y="3831336"/>
            <a:ext cx="4187952" cy="886968"/>
          </a:xfrm>
          <a:prstGeom prst="rect">
            <a:avLst/>
          </a:prstGeom>
          <a:noFill/>
        </p:spPr>
        <p:txBody>
          <a:bodyPr wrap="square">
            <a:spAutoFit/>
          </a:bodyPr>
          <a:lstStyle/>
          <a:p>
            <a:r>
              <a:rPr sz="1300" b="0" i="0">
                <a:solidFill>
                  <a:srgbClr val="1A1A1A"/>
                </a:solidFill>
                <a:latin typeface="Arial"/>
              </a:rPr>
              <a:t>What is funded first, cost against reuse</a:t>
            </a:r>
          </a:p>
        </p:txBody>
      </p:sp>
      <p:sp>
        <p:nvSpPr>
          <p:cNvPr id="19" name="Rectangle 18"/>
          <p:cNvSpPr/>
          <p:nvPr/>
        </p:nvSpPr>
        <p:spPr>
          <a:xfrm>
            <a:off x="658368" y="47365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791456"/>
            <a:ext cx="2542032" cy="886968"/>
          </a:xfrm>
          <a:prstGeom prst="rect">
            <a:avLst/>
          </a:prstGeom>
          <a:noFill/>
        </p:spPr>
        <p:txBody>
          <a:bodyPr wrap="square">
            <a:spAutoFit/>
          </a:bodyPr>
          <a:lstStyle/>
          <a:p>
            <a:r>
              <a:rPr sz="1300" b="1" i="0">
                <a:solidFill>
                  <a:srgbClr val="1A1A1A"/>
                </a:solidFill>
                <a:latin typeface="Arial"/>
              </a:rPr>
              <a:t>9. Validation and revision</a:t>
            </a:r>
          </a:p>
        </p:txBody>
      </p:sp>
      <p:sp>
        <p:nvSpPr>
          <p:cNvPr id="21" name="TextBox 20"/>
          <p:cNvSpPr txBox="1"/>
          <p:nvPr/>
        </p:nvSpPr>
        <p:spPr>
          <a:xfrm>
            <a:off x="3310128" y="4791456"/>
            <a:ext cx="3822191" cy="886968"/>
          </a:xfrm>
          <a:prstGeom prst="rect">
            <a:avLst/>
          </a:prstGeom>
          <a:noFill/>
        </p:spPr>
        <p:txBody>
          <a:bodyPr wrap="square">
            <a:spAutoFit/>
          </a:bodyPr>
          <a:lstStyle/>
          <a:p>
            <a:r>
              <a:rPr sz="1300" b="0" i="0">
                <a:solidFill>
                  <a:srgbClr val="1A1A1A"/>
                </a:solidFill>
                <a:latin typeface="Arial"/>
              </a:rPr>
              <a:t>Every comment answered; the revised documents</a:t>
            </a:r>
          </a:p>
        </p:txBody>
      </p:sp>
      <p:sp>
        <p:nvSpPr>
          <p:cNvPr id="22" name="TextBox 21"/>
          <p:cNvSpPr txBox="1"/>
          <p:nvPr/>
        </p:nvSpPr>
        <p:spPr>
          <a:xfrm>
            <a:off x="7242048" y="4791456"/>
            <a:ext cx="4187952" cy="886968"/>
          </a:xfrm>
          <a:prstGeom prst="rect">
            <a:avLst/>
          </a:prstGeom>
          <a:noFill/>
        </p:spPr>
        <p:txBody>
          <a:bodyPr wrap="square">
            <a:spAutoFit/>
          </a:bodyPr>
          <a:lstStyle/>
          <a:p>
            <a:r>
              <a:rPr sz="1300" b="0" i="0">
                <a:solidFill>
                  <a:srgbClr val="1A1A1A"/>
                </a:solidFill>
                <a:latin typeface="Arial"/>
              </a:rPr>
              <a:t>The adopting authority adopts the roadmap</a:t>
            </a:r>
          </a:p>
        </p:txBody>
      </p:sp>
      <p:sp>
        <p:nvSpPr>
          <p:cNvPr id="23" name="TextBox 2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nine steps come from</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PAERA 5.3</a:t>
            </a:r>
          </a:p>
          <a:p>
            <a:pPr>
              <a:spcAft>
                <a:spcPts val="300"/>
              </a:spcAft>
            </a:pPr>
            <a:r>
              <a:rPr sz="1550" b="0" i="0">
                <a:solidFill>
                  <a:srgbClr val="595959"/>
                </a:solidFill>
                <a:latin typeface="Arial"/>
              </a:rPr>
              <a:t>The nine questions a national assessment must answer; no scale.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PAERA 5.4</a:t>
            </a:r>
          </a:p>
          <a:p>
            <a:pPr>
              <a:spcAft>
                <a:spcPts val="300"/>
              </a:spcAft>
            </a:pPr>
            <a:r>
              <a:rPr sz="1550" b="0" i="0">
                <a:solidFill>
                  <a:srgbClr val="595959"/>
                </a:solidFill>
                <a:latin typeface="Arial"/>
              </a:rPr>
              <a:t>Eight steps for assessing one organisation, from criteria to continuous improvement.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UNDP Playbook, page 23</a:t>
            </a:r>
          </a:p>
          <a:p>
            <a:pPr>
              <a:spcAft>
                <a:spcPts val="300"/>
              </a:spcAft>
            </a:pPr>
            <a:r>
              <a:rPr sz="1550" b="0" i="0">
                <a:solidFill>
                  <a:srgbClr val="595959"/>
                </a:solidFill>
                <a:latin typeface="Arial"/>
              </a:rPr>
              <a:t>Six steps from national priorities to a roadmap.</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sequence of nine steps is this course's own.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roadmap is produced in nine steps, and for each step you can say who acts, what goes in, what comes out, who decides and how the result is checked.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Turn your list of institutions and a start date into an assessment plan.</a:t>
            </a:r>
          </a:p>
          <a:p>
            <a:pPr algn="l">
              <a:spcAft>
                <a:spcPts val="400"/>
              </a:spcAft>
            </a:pPr>
            <a:r>
              <a:rPr sz="1800" b="0" i="0">
                <a:solidFill>
                  <a:srgbClr val="595959"/>
                </a:solidFill>
                <a:latin typeface="Arial"/>
              </a:rPr>
              <a:t>The prompt in the companion material gives you a stakeholder map, a schedule by step, a plan of sessions and the list of documents to request.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3.1.3, 5.3 and 5.4</a:t>
            </a:r>
          </a:p>
          <a:p>
            <a:pPr>
              <a:spcAft>
                <a:spcPts val="1200"/>
              </a:spcAft>
            </a:pPr>
            <a:r>
              <a:rPr sz="1700" b="0" i="0">
                <a:solidFill>
                  <a:srgbClr val="1A1A1A"/>
                </a:solidFill>
                <a:latin typeface="Arial"/>
              </a:rPr>
              <a:t>•  UNDP — The DPI Approach: A Playbook (2023), page 23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The roadmap method in nine steps: who does what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Start at the desk: a first assessment from public sources, with AI</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AI-assisted review of what your country has already published gives you first findings and gaps before you ask anyone a question, each tied to its source, and it is a draft to verify, not a verdict.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An assessment usually starts by asking officials for documents — and then waiting.</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Start instead with what your country has already published.</a:t>
            </a:r>
          </a:p>
          <a:p>
            <a:pPr>
              <a:spcAft>
                <a:spcPts val="800"/>
              </a:spcAft>
            </a:pPr>
            <a:r>
              <a:rPr sz="1700" b="0" i="0">
                <a:solidFill>
                  <a:srgbClr val="595959"/>
                </a:solidFill>
                <a:latin typeface="Arial"/>
              </a:rPr>
              <a:t>In a few days an AI assistant gives you a first picture, and a list of points to check.</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question bank</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62 questions</a:t>
            </a:r>
          </a:p>
          <a:p>
            <a:pPr>
              <a:spcAft>
                <a:spcPts val="300"/>
              </a:spcAft>
            </a:pPr>
            <a:r>
              <a:rPr sz="1550" b="0" i="0">
                <a:solidFill>
                  <a:srgbClr val="595959"/>
                </a:solidFill>
                <a:latin typeface="Arial"/>
              </a:rPr>
              <a:t>Arranged by the five domains and their 26 sub-components.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Each question</a:t>
            </a:r>
          </a:p>
          <a:p>
            <a:pPr>
              <a:spcAft>
                <a:spcPts val="300"/>
              </a:spcAft>
            </a:pPr>
            <a:r>
              <a:rPr sz="1550" b="0" i="0">
                <a:solidFill>
                  <a:srgbClr val="595959"/>
                </a:solidFill>
                <a:latin typeface="Arial"/>
              </a:rPr>
              <a:t>Its code, the sub-component it informs, the evidence that answers it, what a good answer looks like.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Example — DAT-Q03</a:t>
            </a:r>
          </a:p>
          <a:p>
            <a:pPr>
              <a:spcAft>
                <a:spcPts val="300"/>
              </a:spcAft>
            </a:pPr>
            <a:r>
              <a:rPr sz="1550" b="0" i="0">
                <a:solidFill>
                  <a:srgbClr val="595959"/>
                </a:solidFill>
                <a:latin typeface="Arial"/>
              </a:rPr>
              <a:t>Is there an authoritative register of learners, and which body keeps it?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workflow, in five stages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40664"/>
          </a:xfrm>
          <a:prstGeom prst="rect">
            <a:avLst/>
          </a:prstGeom>
          <a:noFill/>
        </p:spPr>
        <p:txBody>
          <a:bodyPr wrap="square">
            <a:spAutoFit/>
          </a:bodyPr>
          <a:lstStyle/>
          <a:p>
            <a:pPr>
              <a:spcAft>
                <a:spcPts val="300"/>
              </a:spcAft>
            </a:pPr>
            <a:r>
              <a:rPr sz="1900" b="1" i="0">
                <a:solidFill>
                  <a:srgbClr val="1A1A1A"/>
                </a:solidFill>
                <a:latin typeface="Arial"/>
              </a:rPr>
              <a:t>Collect practice</a:t>
            </a:r>
          </a:p>
          <a:p>
            <a:pPr>
              <a:spcAft>
                <a:spcPts val="300"/>
              </a:spcAft>
            </a:pPr>
            <a:r>
              <a:rPr sz="1550" b="0" i="0">
                <a:solidFill>
                  <a:srgbClr val="595959"/>
                </a:solidFill>
                <a:latin typeface="Arial"/>
              </a:rPr>
              <a:t>Evidence notes, each with its source and date.</a:t>
            </a:r>
          </a:p>
        </p:txBody>
      </p:sp>
      <p:sp>
        <p:nvSpPr>
          <p:cNvPr id="6" name="Rectangle 5"/>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95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49424"/>
            <a:ext cx="10527487" cy="740664"/>
          </a:xfrm>
          <a:prstGeom prst="rect">
            <a:avLst/>
          </a:prstGeom>
          <a:noFill/>
        </p:spPr>
        <p:txBody>
          <a:bodyPr wrap="square">
            <a:spAutoFit/>
          </a:bodyPr>
          <a:lstStyle/>
          <a:p>
            <a:pPr>
              <a:spcAft>
                <a:spcPts val="300"/>
              </a:spcAft>
            </a:pPr>
            <a:r>
              <a:rPr sz="1900" b="1" i="0">
                <a:solidFill>
                  <a:srgbClr val="1A1A1A"/>
                </a:solidFill>
                <a:latin typeface="Arial"/>
              </a:rPr>
              <a:t>Draft findings</a:t>
            </a:r>
          </a:p>
          <a:p>
            <a:pPr>
              <a:spcAft>
                <a:spcPts val="300"/>
              </a:spcAft>
            </a:pPr>
            <a:r>
              <a:rPr sz="1550" b="0" i="0">
                <a:solidFill>
                  <a:srgbClr val="595959"/>
                </a:solidFill>
                <a:latin typeface="Arial"/>
              </a:rPr>
              <a:t>One draft result per question, with a provisional stage and a confidence between 0 and 1.</a:t>
            </a:r>
          </a:p>
        </p:txBody>
      </p:sp>
      <p:sp>
        <p:nvSpPr>
          <p:cNvPr id="9" name="Rectangle 8"/>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815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035808"/>
            <a:ext cx="10527487" cy="740664"/>
          </a:xfrm>
          <a:prstGeom prst="rect">
            <a:avLst/>
          </a:prstGeom>
          <a:noFill/>
        </p:spPr>
        <p:txBody>
          <a:bodyPr wrap="square">
            <a:spAutoFit/>
          </a:bodyPr>
          <a:lstStyle/>
          <a:p>
            <a:pPr>
              <a:spcAft>
                <a:spcPts val="300"/>
              </a:spcAft>
            </a:pPr>
            <a:r>
              <a:rPr sz="1900" b="1" i="0">
                <a:solidFill>
                  <a:srgbClr val="1A1A1A"/>
                </a:solidFill>
                <a:latin typeface="Arial"/>
              </a:rPr>
              <a:t>Draft the gap analysis</a:t>
            </a:r>
          </a:p>
          <a:p>
            <a:pPr>
              <a:spcAft>
                <a:spcPts val="300"/>
              </a:spcAft>
            </a:pPr>
            <a:r>
              <a:rPr sz="1550" b="0" i="0">
                <a:solidFill>
                  <a:srgbClr val="595959"/>
                </a:solidFill>
                <a:latin typeface="Arial"/>
              </a:rPr>
              <a:t>The desk gaps.</a:t>
            </a:r>
          </a:p>
        </p:txBody>
      </p:sp>
      <p:sp>
        <p:nvSpPr>
          <p:cNvPr id="12" name="Rectangle 11"/>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8679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822191"/>
            <a:ext cx="10527487" cy="740664"/>
          </a:xfrm>
          <a:prstGeom prst="rect">
            <a:avLst/>
          </a:prstGeom>
          <a:noFill/>
        </p:spPr>
        <p:txBody>
          <a:bodyPr wrap="square">
            <a:spAutoFit/>
          </a:bodyPr>
          <a:lstStyle/>
          <a:p>
            <a:pPr>
              <a:spcAft>
                <a:spcPts val="300"/>
              </a:spcAft>
            </a:pPr>
            <a:r>
              <a:rPr sz="1900" b="1" i="0">
                <a:solidFill>
                  <a:srgbClr val="1A1A1A"/>
                </a:solidFill>
                <a:latin typeface="Arial"/>
              </a:rPr>
              <a:t>Make the report</a:t>
            </a:r>
          </a:p>
          <a:p>
            <a:pPr>
              <a:spcAft>
                <a:spcPts val="300"/>
              </a:spcAft>
            </a:pPr>
            <a:r>
              <a:rPr sz="1550" b="0" i="0">
                <a:solidFill>
                  <a:srgbClr val="595959"/>
                </a:solidFill>
                <a:latin typeface="Arial"/>
              </a:rPr>
              <a:t>One chapter per domain.</a:t>
            </a:r>
          </a:p>
        </p:txBody>
      </p:sp>
      <p:sp>
        <p:nvSpPr>
          <p:cNvPr id="15" name="Rectangle 14"/>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654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608576"/>
            <a:ext cx="10527487" cy="740664"/>
          </a:xfrm>
          <a:prstGeom prst="rect">
            <a:avLst/>
          </a:prstGeom>
          <a:noFill/>
        </p:spPr>
        <p:txBody>
          <a:bodyPr wrap="square">
            <a:spAutoFit/>
          </a:bodyPr>
          <a:lstStyle/>
          <a:p>
            <a:pPr>
              <a:spcAft>
                <a:spcPts val="300"/>
              </a:spcAft>
            </a:pPr>
            <a:r>
              <a:rPr sz="1900" b="1" i="0">
                <a:solidFill>
                  <a:srgbClr val="1A1A1A"/>
                </a:solidFill>
                <a:latin typeface="Arial"/>
              </a:rPr>
              <a:t>Clean and sort</a:t>
            </a:r>
          </a:p>
          <a:p>
            <a:pPr>
              <a:spcAft>
                <a:spcPts val="300"/>
              </a:spcAft>
            </a:pPr>
            <a:r>
              <a:rPr sz="1550" b="0" i="0">
                <a:solidFill>
                  <a:srgbClr val="595959"/>
                </a:solidFill>
                <a:latin typeface="Arial"/>
              </a:rPr>
              <a:t>The sorted list of desk gaps.</a:t>
            </a:r>
          </a:p>
        </p:txBody>
      </p:sp>
      <p:sp>
        <p:nvSpPr>
          <p:cNvPr id="18" name="TextBox 17"/>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A person reads the output of each stage before the next stage runs.</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desk run</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AF-DAT-01</a:t>
            </a:r>
          </a:p>
          <a:p>
            <a:pPr>
              <a:spcAft>
                <a:spcPts val="300"/>
              </a:spcAft>
            </a:pPr>
            <a:r>
              <a:rPr sz="1550" b="0" i="0">
                <a:solidFill>
                  <a:srgbClr val="595959"/>
                </a:solidFill>
                <a:latin typeface="Arial"/>
              </a:rPr>
              <a:t>PLR holds enrolment records for some learners; enrolment is counted from school returns. Basic; confidence 0.8.</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AF-INT-01</a:t>
            </a:r>
          </a:p>
          <a:p>
            <a:pPr>
              <a:spcAft>
                <a:spcPts val="300"/>
              </a:spcAft>
            </a:pPr>
            <a:r>
              <a:rPr sz="1550" b="0" i="0">
                <a:solidFill>
                  <a:srgbClr val="595959"/>
                </a:solidFill>
                <a:latin typeface="Arial"/>
              </a:rPr>
              <a:t>Linkup runs as a pilot; PNEA, PLR and PNIA are among its members; MoEYS is not. Systematic; confidence 0.7.</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AF-DAT-02</a:t>
            </a:r>
          </a:p>
          <a:p>
            <a:pPr>
              <a:spcAft>
                <a:spcPts val="300"/>
              </a:spcAft>
            </a:pPr>
            <a:r>
              <a:rPr sz="1550" b="0" i="0">
                <a:solidFill>
                  <a:srgbClr val="595959"/>
                </a:solidFill>
                <a:latin typeface="Arial"/>
              </a:rPr>
              <a:t>The yearbook appears to report learner-level data for secondary schools. Systematic; confidence 0.4.</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Desk gaps</a:t>
            </a:r>
          </a:p>
          <a:p>
            <a:pPr>
              <a:spcAft>
                <a:spcPts val="300"/>
              </a:spcAft>
            </a:pPr>
            <a:r>
              <a:rPr sz="1550" b="0" i="0">
                <a:solidFill>
                  <a:srgbClr val="595959"/>
                </a:solidFill>
                <a:latin typeface="Arial"/>
              </a:rPr>
              <a:t>DG-03: PLR not yet the authoritative learner register. DG-05: MoEYS not a member of Linkup.</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Every desk result is unverified. Worked example E2, illustrative.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Demonstration: the desk assessment on Progressa</a:t>
            </a:r>
          </a:p>
        </p:txBody>
      </p:sp>
      <p:sp>
        <p:nvSpPr>
          <p:cNvPr id="4" name="TextBox 3"/>
          <p:cNvSpPr txBox="1"/>
          <p:nvPr/>
        </p:nvSpPr>
        <p:spPr>
          <a:xfrm>
            <a:off x="658368" y="1280160"/>
            <a:ext cx="5486400" cy="320040"/>
          </a:xfrm>
          <a:prstGeom prst="rect">
            <a:avLst/>
          </a:prstGeom>
          <a:noFill/>
        </p:spPr>
        <p:txBody>
          <a:bodyPr wrap="square">
            <a:spAutoFit/>
          </a:bodyPr>
          <a:lstStyle/>
          <a:p>
            <a:r>
              <a:rPr sz="1200" b="1" i="0">
                <a:solidFill>
                  <a:srgbClr val="595959"/>
                </a:solidFill>
                <a:latin typeface="Arial"/>
              </a:rPr>
              <a:t>WHAT A GOOD RUN SHOWS</a:t>
            </a:r>
          </a:p>
        </p:txBody>
      </p:sp>
      <p:sp>
        <p:nvSpPr>
          <p:cNvPr id="5" name="Oval 4"/>
          <p:cNvSpPr/>
          <p:nvPr/>
        </p:nvSpPr>
        <p:spPr>
          <a:xfrm>
            <a:off x="621792" y="1737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6" name="TextBox 5"/>
          <p:cNvSpPr txBox="1"/>
          <p:nvPr/>
        </p:nvSpPr>
        <p:spPr>
          <a:xfrm>
            <a:off x="1115568" y="1691640"/>
            <a:ext cx="10527487" cy="804672"/>
          </a:xfrm>
          <a:prstGeom prst="rect">
            <a:avLst/>
          </a:prstGeom>
          <a:noFill/>
        </p:spPr>
        <p:txBody>
          <a:bodyPr wrap="square">
            <a:spAutoFit/>
          </a:bodyPr>
          <a:lstStyle/>
          <a:p>
            <a:pPr>
              <a:spcAft>
                <a:spcPts val="300"/>
              </a:spcAft>
            </a:pPr>
            <a:r>
              <a:rPr sz="1700" b="1" i="0">
                <a:solidFill>
                  <a:srgbClr val="1A1A1A"/>
                </a:solidFill>
                <a:latin typeface="Arial"/>
              </a:rPr>
              <a:t>The settings of the run — Progressa, education, the six public sources with their dates, the digital data questions loaded from the bank</a:t>
            </a:r>
          </a:p>
        </p:txBody>
      </p:sp>
      <p:sp>
        <p:nvSpPr>
          <p:cNvPr id="7" name="Rectangle 6"/>
          <p:cNvSpPr/>
          <p:nvPr/>
        </p:nvSpPr>
        <p:spPr>
          <a:xfrm>
            <a:off x="621792" y="250088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258775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9" name="TextBox 8"/>
          <p:cNvSpPr txBox="1"/>
          <p:nvPr/>
        </p:nvSpPr>
        <p:spPr>
          <a:xfrm>
            <a:off x="1115568" y="2542032"/>
            <a:ext cx="10527487" cy="804672"/>
          </a:xfrm>
          <a:prstGeom prst="rect">
            <a:avLst/>
          </a:prstGeom>
          <a:noFill/>
        </p:spPr>
        <p:txBody>
          <a:bodyPr wrap="square">
            <a:spAutoFit/>
          </a:bodyPr>
          <a:lstStyle/>
          <a:p>
            <a:pPr>
              <a:spcAft>
                <a:spcPts val="300"/>
              </a:spcAft>
            </a:pPr>
            <a:r>
              <a:rPr sz="1700" b="1" i="0">
                <a:solidFill>
                  <a:srgbClr val="1A1A1A"/>
                </a:solidFill>
                <a:latin typeface="Arial"/>
              </a:rPr>
              <a:t>Stage 1, collect practice — the evidence notes, each with its source and date</a:t>
            </a:r>
          </a:p>
        </p:txBody>
      </p:sp>
      <p:sp>
        <p:nvSpPr>
          <p:cNvPr id="10" name="Rectangle 9"/>
          <p:cNvSpPr/>
          <p:nvPr/>
        </p:nvSpPr>
        <p:spPr>
          <a:xfrm>
            <a:off x="621792" y="3351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3438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1115568" y="3392424"/>
            <a:ext cx="10527487" cy="804672"/>
          </a:xfrm>
          <a:prstGeom prst="rect">
            <a:avLst/>
          </a:prstGeom>
          <a:noFill/>
        </p:spPr>
        <p:txBody>
          <a:bodyPr wrap="square">
            <a:spAutoFit/>
          </a:bodyPr>
          <a:lstStyle/>
          <a:p>
            <a:pPr>
              <a:spcAft>
                <a:spcPts val="300"/>
              </a:spcAft>
            </a:pPr>
            <a:r>
              <a:rPr sz="1700" b="1" i="0">
                <a:solidFill>
                  <a:srgbClr val="1A1A1A"/>
                </a:solidFill>
                <a:latin typeface="Arial"/>
              </a:rPr>
              <a:t>Stage 2, draft findings — AF-DAT-01 (Basic, confidence 0.8) and AF-DAT-02 (Systematic, confidence 0.4), both marked unverified</a:t>
            </a:r>
          </a:p>
        </p:txBody>
      </p:sp>
      <p:sp>
        <p:nvSpPr>
          <p:cNvPr id="13" name="Rectangle 12"/>
          <p:cNvSpPr/>
          <p:nvPr/>
        </p:nvSpPr>
        <p:spPr>
          <a:xfrm>
            <a:off x="621792" y="4201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42885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5" name="TextBox 14"/>
          <p:cNvSpPr txBox="1"/>
          <p:nvPr/>
        </p:nvSpPr>
        <p:spPr>
          <a:xfrm>
            <a:off x="1115568" y="4242816"/>
            <a:ext cx="10527487" cy="804672"/>
          </a:xfrm>
          <a:prstGeom prst="rect">
            <a:avLst/>
          </a:prstGeom>
          <a:noFill/>
        </p:spPr>
        <p:txBody>
          <a:bodyPr wrap="square">
            <a:spAutoFit/>
          </a:bodyPr>
          <a:lstStyle/>
          <a:p>
            <a:pPr>
              <a:spcAft>
                <a:spcPts val="300"/>
              </a:spcAft>
            </a:pPr>
            <a:r>
              <a:rPr sz="1700" b="1" i="0">
                <a:solidFill>
                  <a:srgbClr val="1A1A1A"/>
                </a:solidFill>
                <a:latin typeface="Arial"/>
              </a:rPr>
              <a:t>Stages 3 and 4 — the desk gaps DG-03 and DG-04, and the report's chapter on digital data</a:t>
            </a:r>
          </a:p>
        </p:txBody>
      </p:sp>
      <p:sp>
        <p:nvSpPr>
          <p:cNvPr id="16" name="Rectangle 15"/>
          <p:cNvSpPr/>
          <p:nvPr/>
        </p:nvSpPr>
        <p:spPr>
          <a:xfrm>
            <a:off x="621792" y="50520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1792" y="51389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8" name="TextBox 17"/>
          <p:cNvSpPr txBox="1"/>
          <p:nvPr/>
        </p:nvSpPr>
        <p:spPr>
          <a:xfrm>
            <a:off x="1115568" y="5093208"/>
            <a:ext cx="10527487" cy="804672"/>
          </a:xfrm>
          <a:prstGeom prst="rect">
            <a:avLst/>
          </a:prstGeom>
          <a:noFill/>
        </p:spPr>
        <p:txBody>
          <a:bodyPr wrap="square">
            <a:spAutoFit/>
          </a:bodyPr>
          <a:lstStyle/>
          <a:p>
            <a:pPr>
              <a:spcAft>
                <a:spcPts val="300"/>
              </a:spcAft>
            </a:pPr>
            <a:r>
              <a:rPr sz="1700" b="1" i="0">
                <a:solidFill>
                  <a:srgbClr val="1A1A1A"/>
                </a:solidFill>
                <a:latin typeface="Arial"/>
              </a:rPr>
              <a:t>Stage 5, clean and sort — the sorted desk gaps, each with the unit it is put to; AF-DAT-02 marked to check first</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An AI-assisted review of what your country has already published gives you first findings and gaps before you ask anyone a question, each tied to its source, and it is a draft to verify, not a verdict.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Run a desk assessment from the question bank and your country's public sources.</a:t>
            </a:r>
          </a:p>
          <a:p>
            <a:pPr algn="l">
              <a:spcAft>
                <a:spcPts val="400"/>
              </a:spcAft>
            </a:pPr>
            <a:r>
              <a:rPr sz="1800" b="0" i="0">
                <a:solidFill>
                  <a:srgbClr val="595959"/>
                </a:solidFill>
                <a:latin typeface="Arial"/>
              </a:rPr>
              <a:t>The prompt in the companion material gives you a table of draft findings, each with its source, a provisional stage, a confidence and the mark UNVERIFIED.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3.1.3 and 5.3</a:t>
            </a:r>
          </a:p>
          <a:p>
            <a:pPr>
              <a:spcAft>
                <a:spcPts val="1200"/>
              </a:spcAft>
            </a:pPr>
            <a:r>
              <a:rPr sz="1700" b="0" i="0">
                <a:solidFill>
                  <a:srgbClr val="1A1A1A"/>
                </a:solidFill>
                <a:latin typeface="Arial"/>
              </a:rPr>
              <a:t>•  The question bank and the workflow that runs it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Start at the desk: a first assessment from public sources, with AI</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Ask the people who run the systems: the five questionnaires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Five questionnaires, one for each domain, put the same questions to the people who run the systems and ask for evidence with every answer.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public record tells you what a country says about its systems.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people who run them know what the systems actually do.</a:t>
            </a:r>
          </a:p>
          <a:p>
            <a:pPr>
              <a:spcAft>
                <a:spcPts val="800"/>
              </a:spcAft>
            </a:pPr>
            <a:r>
              <a:rPr sz="1700" b="0" i="0">
                <a:solidFill>
                  <a:srgbClr val="595959"/>
                </a:solidFill>
                <a:latin typeface="Arial"/>
              </a:rPr>
              <a:t>Ask them, in writing — and ask for the document behind every answer.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questionnaire for each domain</a:t>
            </a:r>
          </a:p>
        </p:txBody>
      </p:sp>
      <p:sp>
        <p:nvSpPr>
          <p:cNvPr id="4" name="TextBox 3"/>
          <p:cNvSpPr txBox="1"/>
          <p:nvPr/>
        </p:nvSpPr>
        <p:spPr>
          <a:xfrm>
            <a:off x="658368" y="1463040"/>
            <a:ext cx="10984687" cy="740664"/>
          </a:xfrm>
          <a:prstGeom prst="rect">
            <a:avLst/>
          </a:prstGeom>
          <a:noFill/>
        </p:spPr>
        <p:txBody>
          <a:bodyPr wrap="square">
            <a:spAutoFit/>
          </a:bodyPr>
          <a:lstStyle/>
          <a:p>
            <a:pPr>
              <a:spcAft>
                <a:spcPts val="300"/>
              </a:spcAft>
            </a:pPr>
            <a:r>
              <a:rPr sz="1900" b="1" i="0">
                <a:solidFill>
                  <a:srgbClr val="1A1A1A"/>
                </a:solidFill>
                <a:latin typeface="Arial"/>
              </a:rPr>
              <a:t>Q-GOV</a:t>
            </a:r>
          </a:p>
          <a:p>
            <a:pPr>
              <a:spcAft>
                <a:spcPts val="300"/>
              </a:spcAft>
            </a:pPr>
            <a:r>
              <a:rPr sz="1550" b="0" i="0">
                <a:solidFill>
                  <a:srgbClr val="595959"/>
                </a:solidFill>
                <a:latin typeface="Arial"/>
              </a:rPr>
              <a:t>Governance and policy, with the legal framework.</a:t>
            </a:r>
          </a:p>
        </p:txBody>
      </p:sp>
      <p:sp>
        <p:nvSpPr>
          <p:cNvPr id="5" name="Rectangle 4"/>
          <p:cNvSpPr/>
          <p:nvPr/>
        </p:nvSpPr>
        <p:spPr>
          <a:xfrm>
            <a:off x="621792" y="2208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9424"/>
            <a:ext cx="10984687" cy="740664"/>
          </a:xfrm>
          <a:prstGeom prst="rect">
            <a:avLst/>
          </a:prstGeom>
          <a:noFill/>
        </p:spPr>
        <p:txBody>
          <a:bodyPr wrap="square">
            <a:spAutoFit/>
          </a:bodyPr>
          <a:lstStyle/>
          <a:p>
            <a:pPr>
              <a:spcAft>
                <a:spcPts val="300"/>
              </a:spcAft>
            </a:pPr>
            <a:r>
              <a:rPr sz="1900" b="1" i="0">
                <a:solidFill>
                  <a:srgbClr val="1A1A1A"/>
                </a:solidFill>
                <a:latin typeface="Arial"/>
              </a:rPr>
              <a:t>Q-ACC</a:t>
            </a:r>
          </a:p>
          <a:p>
            <a:pPr>
              <a:spcAft>
                <a:spcPts val="300"/>
              </a:spcAft>
            </a:pPr>
            <a:r>
              <a:rPr sz="1550" b="0" i="0">
                <a:solidFill>
                  <a:srgbClr val="595959"/>
                </a:solidFill>
                <a:latin typeface="Arial"/>
              </a:rPr>
              <a:t>Access.</a:t>
            </a:r>
          </a:p>
        </p:txBody>
      </p:sp>
      <p:sp>
        <p:nvSpPr>
          <p:cNvPr id="7" name="Rectangle 6"/>
          <p:cNvSpPr/>
          <p:nvPr/>
        </p:nvSpPr>
        <p:spPr>
          <a:xfrm>
            <a:off x="621792" y="29946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5808"/>
            <a:ext cx="10984687" cy="740664"/>
          </a:xfrm>
          <a:prstGeom prst="rect">
            <a:avLst/>
          </a:prstGeom>
          <a:noFill/>
        </p:spPr>
        <p:txBody>
          <a:bodyPr wrap="square">
            <a:spAutoFit/>
          </a:bodyPr>
          <a:lstStyle/>
          <a:p>
            <a:pPr>
              <a:spcAft>
                <a:spcPts val="300"/>
              </a:spcAft>
            </a:pPr>
            <a:r>
              <a:rPr sz="1900" b="1" i="0">
                <a:solidFill>
                  <a:srgbClr val="1A1A1A"/>
                </a:solidFill>
                <a:latin typeface="Arial"/>
              </a:rPr>
              <a:t>Q-DAT</a:t>
            </a:r>
          </a:p>
          <a:p>
            <a:pPr>
              <a:spcAft>
                <a:spcPts val="300"/>
              </a:spcAft>
            </a:pPr>
            <a:r>
              <a:rPr sz="1550" b="0" i="0">
                <a:solidFill>
                  <a:srgbClr val="595959"/>
                </a:solidFill>
                <a:latin typeface="Arial"/>
              </a:rPr>
              <a:t>Digital data.</a:t>
            </a:r>
          </a:p>
        </p:txBody>
      </p:sp>
      <p:sp>
        <p:nvSpPr>
          <p:cNvPr id="9" name="Rectangle 8"/>
          <p:cNvSpPr/>
          <p:nvPr/>
        </p:nvSpPr>
        <p:spPr>
          <a:xfrm>
            <a:off x="621792" y="37810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22191"/>
            <a:ext cx="10984687" cy="740664"/>
          </a:xfrm>
          <a:prstGeom prst="rect">
            <a:avLst/>
          </a:prstGeom>
          <a:noFill/>
        </p:spPr>
        <p:txBody>
          <a:bodyPr wrap="square">
            <a:spAutoFit/>
          </a:bodyPr>
          <a:lstStyle/>
          <a:p>
            <a:pPr>
              <a:spcAft>
                <a:spcPts val="300"/>
              </a:spcAft>
            </a:pPr>
            <a:r>
              <a:rPr sz="1900" b="1" i="0">
                <a:solidFill>
                  <a:srgbClr val="1A1A1A"/>
                </a:solidFill>
                <a:latin typeface="Arial"/>
              </a:rPr>
              <a:t>Q-INT</a:t>
            </a:r>
          </a:p>
          <a:p>
            <a:pPr>
              <a:spcAft>
                <a:spcPts val="300"/>
              </a:spcAft>
            </a:pPr>
            <a:r>
              <a:rPr sz="1550" b="0" i="0">
                <a:solidFill>
                  <a:srgbClr val="595959"/>
                </a:solidFill>
                <a:latin typeface="Arial"/>
              </a:rPr>
              <a:t>Interoperability.</a:t>
            </a:r>
          </a:p>
        </p:txBody>
      </p:sp>
      <p:sp>
        <p:nvSpPr>
          <p:cNvPr id="11" name="Rectangle 10"/>
          <p:cNvSpPr/>
          <p:nvPr/>
        </p:nvSpPr>
        <p:spPr>
          <a:xfrm>
            <a:off x="621792" y="4567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08576"/>
            <a:ext cx="10984687" cy="740664"/>
          </a:xfrm>
          <a:prstGeom prst="rect">
            <a:avLst/>
          </a:prstGeom>
          <a:noFill/>
        </p:spPr>
        <p:txBody>
          <a:bodyPr wrap="square">
            <a:spAutoFit/>
          </a:bodyPr>
          <a:lstStyle/>
          <a:p>
            <a:pPr>
              <a:spcAft>
                <a:spcPts val="300"/>
              </a:spcAft>
            </a:pPr>
            <a:r>
              <a:rPr sz="1900" b="1" i="0">
                <a:solidFill>
                  <a:srgbClr val="1A1A1A"/>
                </a:solidFill>
                <a:latin typeface="Arial"/>
              </a:rPr>
              <a:t>Q-IDN</a:t>
            </a:r>
          </a:p>
          <a:p>
            <a:pPr>
              <a:spcAft>
                <a:spcPts val="300"/>
              </a:spcAft>
            </a:pPr>
            <a:r>
              <a:rPr sz="1550" b="0" i="0">
                <a:solidFill>
                  <a:srgbClr val="595959"/>
                </a:solidFill>
                <a:latin typeface="Arial"/>
              </a:rPr>
              <a:t>Digital identity.</a:t>
            </a:r>
          </a:p>
        </p:txBody>
      </p:sp>
      <p:sp>
        <p:nvSpPr>
          <p:cNvPr id="13" name="TextBox 12"/>
          <p:cNvSpPr txBox="1"/>
          <p:nvPr/>
        </p:nvSpPr>
        <p:spPr>
          <a:xfrm>
            <a:off x="658368" y="5504688"/>
            <a:ext cx="10881360" cy="548640"/>
          </a:xfrm>
          <a:prstGeom prst="rect">
            <a:avLst/>
          </a:prstGeom>
          <a:noFill/>
        </p:spPr>
        <p:txBody>
          <a:bodyPr wrap="square">
            <a:spAutoFit/>
          </a:bodyPr>
          <a:lstStyle/>
          <a:p>
            <a:r>
              <a:rPr sz="1550" b="1" i="0">
                <a:solidFill>
                  <a:srgbClr val="006E96"/>
                </a:solidFill>
                <a:latin typeface="Arial"/>
              </a:rPr>
              <a:t>93 questions in all, grouped by the same 26 sub-components as the question bank.</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How a question asks for evidence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D2.2  Is there one authoritative record of each learner?</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Describe</a:t>
            </a:r>
          </a:p>
          <a:p>
            <a:pPr>
              <a:spcAft>
                <a:spcPts val="300"/>
              </a:spcAft>
            </a:pPr>
            <a:r>
              <a:rPr sz="1550" b="0" i="0">
                <a:solidFill>
                  <a:srgbClr val="595959"/>
                </a:solidFill>
                <a:latin typeface="Arial"/>
              </a:rPr>
              <a:t>Where a learner's identity and enrolment are recorded today.</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Indicate</a:t>
            </a:r>
          </a:p>
          <a:p>
            <a:pPr>
              <a:spcAft>
                <a:spcPts val="300"/>
              </a:spcAft>
            </a:pPr>
            <a:r>
              <a:rPr sz="1550" b="0" i="0">
                <a:solidFill>
                  <a:srgbClr val="595959"/>
                </a:solidFill>
                <a:latin typeface="Arial"/>
              </a:rPr>
              <a:t>Whether the record is on paper, in a spreadsheet or in a system.</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Provide</a:t>
            </a:r>
          </a:p>
          <a:p>
            <a:pPr>
              <a:spcAft>
                <a:spcPts val="300"/>
              </a:spcAft>
            </a:pPr>
            <a:r>
              <a:rPr sz="1550" b="0" i="0">
                <a:solidFill>
                  <a:srgbClr val="595959"/>
                </a:solidFill>
                <a:latin typeface="Arial"/>
              </a:rPr>
              <a:t>A blank copy of the form or screen used.</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An answer with a document behind it counts for more. And "we do not have this" is a useful answer.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guides with every questionnaire</a:t>
            </a:r>
          </a:p>
        </p:txBody>
      </p:sp>
      <p:sp>
        <p:nvSpPr>
          <p:cNvPr id="4" name="Rounded Rectangle 3"/>
          <p:cNvSpPr/>
          <p:nvPr/>
        </p:nvSpPr>
        <p:spPr>
          <a:xfrm>
            <a:off x="658368" y="1554480"/>
            <a:ext cx="5394960" cy="25603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286000"/>
          </a:xfrm>
          <a:prstGeom prst="rect">
            <a:avLst/>
          </a:prstGeom>
          <a:noFill/>
        </p:spPr>
        <p:txBody>
          <a:bodyPr wrap="square">
            <a:spAutoFit/>
          </a:bodyPr>
          <a:lstStyle/>
          <a:p>
            <a:pPr>
              <a:spcAft>
                <a:spcPts val="700"/>
              </a:spcAft>
            </a:pPr>
            <a:r>
              <a:rPr sz="1900" b="1" i="0">
                <a:solidFill>
                  <a:srgbClr val="006E96"/>
                </a:solidFill>
                <a:latin typeface="Arial"/>
              </a:rPr>
              <a:t>FOR THE RESPONDENT</a:t>
            </a:r>
          </a:p>
          <a:p>
            <a:pPr>
              <a:spcAft>
                <a:spcPts val="700"/>
              </a:spcAft>
            </a:pPr>
            <a:r>
              <a:rPr sz="1600" b="0" i="0">
                <a:solidFill>
                  <a:srgbClr val="1A1A1A"/>
                </a:solidFill>
                <a:latin typeface="Arial"/>
              </a:rPr>
              <a:t>Who answers, what to prepare, how to answer, the five stages for describing, the checks before submitting.</a:t>
            </a:r>
          </a:p>
        </p:txBody>
      </p:sp>
      <p:sp>
        <p:nvSpPr>
          <p:cNvPr id="6" name="Rounded Rectangle 5"/>
          <p:cNvSpPr/>
          <p:nvPr/>
        </p:nvSpPr>
        <p:spPr>
          <a:xfrm>
            <a:off x="6263640" y="1554480"/>
            <a:ext cx="5394960" cy="256032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286000"/>
          </a:xfrm>
          <a:prstGeom prst="rect">
            <a:avLst/>
          </a:prstGeom>
          <a:noFill/>
        </p:spPr>
        <p:txBody>
          <a:bodyPr wrap="square">
            <a:spAutoFit/>
          </a:bodyPr>
          <a:lstStyle/>
          <a:p>
            <a:pPr>
              <a:spcAft>
                <a:spcPts val="700"/>
              </a:spcAft>
            </a:pPr>
            <a:r>
              <a:rPr sz="1900" b="1" i="0">
                <a:solidFill>
                  <a:srgbClr val="006E96"/>
                </a:solidFill>
                <a:latin typeface="Arial"/>
              </a:rPr>
              <a:t>FOR THE FACILITATOR</a:t>
            </a:r>
          </a:p>
          <a:p>
            <a:pPr>
              <a:spcAft>
                <a:spcPts val="700"/>
              </a:spcAft>
            </a:pPr>
            <a:r>
              <a:rPr sz="1600" b="0" i="0">
                <a:solidFill>
                  <a:srgbClr val="1A1A1A"/>
                </a:solidFill>
                <a:latin typeface="Arial"/>
              </a:rPr>
              <a:t>Before the session, how to run it, what to look for, how to record answers and evidence, difficult situations, checks before scoring.</a:t>
            </a:r>
          </a:p>
        </p:txBody>
      </p:sp>
      <p:sp>
        <p:nvSpPr>
          <p:cNvPr id="8" name="TextBox 7"/>
          <p:cNvSpPr txBox="1"/>
          <p:nvPr/>
        </p:nvSpPr>
        <p:spPr>
          <a:xfrm>
            <a:off x="658368" y="4297680"/>
            <a:ext cx="10881360" cy="548640"/>
          </a:xfrm>
          <a:prstGeom prst="rect">
            <a:avLst/>
          </a:prstGeom>
          <a:noFill/>
        </p:spPr>
        <p:txBody>
          <a:bodyPr wrap="square">
            <a:spAutoFit/>
          </a:bodyPr>
          <a:lstStyle/>
          <a:p>
            <a:r>
              <a:rPr sz="1550" b="1" i="0">
                <a:solidFill>
                  <a:srgbClr val="006E96"/>
                </a:solidFill>
                <a:latin typeface="Arial"/>
              </a:rPr>
              <a:t>Respondents describe; they do not score.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answer on learner records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There is no single record of a learner.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PLR holds enrolment records for some learners and serves them to PNEA alone</a:t>
            </a:r>
          </a:p>
          <a:p>
            <a:pPr>
              <a:spcAft>
                <a:spcPts val="300"/>
              </a:spcAft>
            </a:pPr>
            <a:r>
              <a:rPr sz="1550" b="0" i="0">
                <a:solidFill>
                  <a:srgbClr val="595959"/>
                </a:solidFill>
                <a:latin typeface="Arial"/>
              </a:rPr>
              <a:t>Primary schools keep class registers on paper.</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Schools send totals by grade and sex once a year</a:t>
            </a:r>
          </a:p>
          <a:p>
            <a:pPr>
              <a:spcAft>
                <a:spcPts val="300"/>
              </a:spcAft>
            </a:pPr>
            <a:r>
              <a:rPr sz="1550" b="0" i="0">
                <a:solidFill>
                  <a:srgbClr val="595959"/>
                </a:solidFill>
                <a:latin typeface="Arial"/>
              </a:rPr>
              <a:t>PEMIS holds no record of individual learners.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Documents: the blank annual school return form; the PEMIS data dictionary. Worked example E3, illustrative.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Five questionnaires, one for each domain, put the same questions to the people who run the systems and ask for evidence with every answer.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Read a filled questionnaire against its evidence.</a:t>
            </a:r>
          </a:p>
          <a:p>
            <a:pPr algn="l">
              <a:spcAft>
                <a:spcPts val="400"/>
              </a:spcAft>
            </a:pPr>
            <a:r>
              <a:rPr sz="1800" b="0" i="0">
                <a:solidFill>
                  <a:srgbClr val="595959"/>
                </a:solidFill>
                <a:latin typeface="Arial"/>
              </a:rPr>
              <a:t>The prompt in the companion material gives you a table with one row per question — what the evidence supports, what is stated without evidence, the question to ask next.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5.3 and 5.4</a:t>
            </a:r>
          </a:p>
          <a:p>
            <a:pPr>
              <a:spcAft>
                <a:spcPts val="1200"/>
              </a:spcAft>
            </a:pPr>
            <a:r>
              <a:rPr sz="1700" b="0" i="0">
                <a:solidFill>
                  <a:srgbClr val="1A1A1A"/>
                </a:solidFill>
                <a:latin typeface="Arial"/>
              </a:rPr>
              <a:t>•  The questionnaires and their guides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Ask the people who run the systems: the five questionnaires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Verify before you score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answer becomes a finding only when it has been checked against documents, in interviews and workshops, and in a validation session with the people who gave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questionnaire answer is what a body says about itself.</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desk result is what the public record suggests. Neither is a finding yet.</a:t>
            </a:r>
          </a:p>
          <a:p>
            <a:pPr>
              <a:spcAft>
                <a:spcPts val="800"/>
              </a:spcAft>
            </a:pPr>
            <a:r>
              <a:rPr sz="1700" b="0" i="0">
                <a:solidFill>
                  <a:srgbClr val="595959"/>
                </a:solidFill>
                <a:latin typeface="Arial"/>
              </a:rPr>
              <a:t>Score them as they stand, and the first official who disagrees can overturn your result.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activities, in order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16280"/>
          </a:xfrm>
          <a:prstGeom prst="rect">
            <a:avLst/>
          </a:prstGeom>
          <a:noFill/>
        </p:spPr>
        <p:txBody>
          <a:bodyPr wrap="square">
            <a:spAutoFit/>
          </a:bodyPr>
          <a:lstStyle/>
          <a:p>
            <a:pPr>
              <a:spcAft>
                <a:spcPts val="300"/>
              </a:spcAft>
            </a:pPr>
            <a:r>
              <a:rPr sz="1900" b="1" i="0">
                <a:solidFill>
                  <a:srgbClr val="1A1A1A"/>
                </a:solidFill>
                <a:latin typeface="Arial"/>
              </a:rPr>
              <a:t>Receive the signed questionnaires</a:t>
            </a:r>
          </a:p>
        </p:txBody>
      </p:sp>
      <p:sp>
        <p:nvSpPr>
          <p:cNvPr id="6" name="Rectangle 5"/>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70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25040"/>
            <a:ext cx="10527487" cy="716280"/>
          </a:xfrm>
          <a:prstGeom prst="rect">
            <a:avLst/>
          </a:prstGeom>
          <a:noFill/>
        </p:spPr>
        <p:txBody>
          <a:bodyPr wrap="square">
            <a:spAutoFit/>
          </a:bodyPr>
          <a:lstStyle/>
          <a:p>
            <a:pPr>
              <a:spcAft>
                <a:spcPts val="300"/>
              </a:spcAft>
            </a:pPr>
            <a:r>
              <a:rPr sz="1900" b="1" i="0">
                <a:solidFill>
                  <a:srgbClr val="1A1A1A"/>
                </a:solidFill>
                <a:latin typeface="Arial"/>
              </a:rPr>
              <a:t>Review every document they name</a:t>
            </a:r>
          </a:p>
          <a:p>
            <a:pPr>
              <a:spcAft>
                <a:spcPts val="300"/>
              </a:spcAft>
            </a:pPr>
            <a:r>
              <a:rPr sz="1550" b="0" i="0">
                <a:solidFill>
                  <a:srgbClr val="595959"/>
                </a:solidFill>
                <a:latin typeface="Arial"/>
              </a:rPr>
              <a:t>Against the desk results.</a:t>
            </a:r>
          </a:p>
        </p:txBody>
      </p:sp>
      <p:sp>
        <p:nvSpPr>
          <p:cNvPr id="9" name="Rectangle 8"/>
          <p:cNvSpPr/>
          <p:nvPr/>
        </p:nvSpPr>
        <p:spPr>
          <a:xfrm>
            <a:off x="621792" y="2945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32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987040"/>
            <a:ext cx="10527487" cy="716280"/>
          </a:xfrm>
          <a:prstGeom prst="rect">
            <a:avLst/>
          </a:prstGeom>
          <a:noFill/>
        </p:spPr>
        <p:txBody>
          <a:bodyPr wrap="square">
            <a:spAutoFit/>
          </a:bodyPr>
          <a:lstStyle/>
          <a:p>
            <a:pPr>
              <a:spcAft>
                <a:spcPts val="300"/>
              </a:spcAft>
            </a:pPr>
            <a:r>
              <a:rPr sz="1900" b="1" i="0">
                <a:solidFill>
                  <a:srgbClr val="1A1A1A"/>
                </a:solidFill>
                <a:latin typeface="Arial"/>
              </a:rPr>
              <a:t>Clarification interviews</a:t>
            </a:r>
          </a:p>
          <a:p>
            <a:pPr>
              <a:spcAft>
                <a:spcPts val="300"/>
              </a:spcAft>
            </a:pPr>
            <a:r>
              <a:rPr sz="1550" b="0" i="0">
                <a:solidFill>
                  <a:srgbClr val="595959"/>
                </a:solidFill>
                <a:latin typeface="Arial"/>
              </a:rPr>
              <a:t>On each disputed point.</a:t>
            </a:r>
          </a:p>
        </p:txBody>
      </p:sp>
      <p:sp>
        <p:nvSpPr>
          <p:cNvPr id="12" name="Rectangle 11"/>
          <p:cNvSpPr/>
          <p:nvPr/>
        </p:nvSpPr>
        <p:spPr>
          <a:xfrm>
            <a:off x="621792" y="370789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79475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749039"/>
            <a:ext cx="10527487" cy="716280"/>
          </a:xfrm>
          <a:prstGeom prst="rect">
            <a:avLst/>
          </a:prstGeom>
          <a:noFill/>
        </p:spPr>
        <p:txBody>
          <a:bodyPr wrap="square">
            <a:spAutoFit/>
          </a:bodyPr>
          <a:lstStyle/>
          <a:p>
            <a:pPr>
              <a:spcAft>
                <a:spcPts val="300"/>
              </a:spcAft>
            </a:pPr>
            <a:r>
              <a:rPr sz="1900" b="1" i="0">
                <a:solidFill>
                  <a:srgbClr val="1A1A1A"/>
                </a:solidFill>
                <a:latin typeface="Arial"/>
              </a:rPr>
              <a:t>Technical workshops</a:t>
            </a:r>
          </a:p>
          <a:p>
            <a:pPr>
              <a:spcAft>
                <a:spcPts val="300"/>
              </a:spcAft>
            </a:pPr>
            <a:r>
              <a:rPr sz="1550" b="0" i="0">
                <a:solidFill>
                  <a:srgbClr val="595959"/>
                </a:solidFill>
                <a:latin typeface="Arial"/>
              </a:rPr>
              <a:t>See the systems working.</a:t>
            </a:r>
          </a:p>
        </p:txBody>
      </p:sp>
      <p:sp>
        <p:nvSpPr>
          <p:cNvPr id="15" name="Rectangle 14"/>
          <p:cNvSpPr/>
          <p:nvPr/>
        </p:nvSpPr>
        <p:spPr>
          <a:xfrm>
            <a:off x="621792" y="4469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556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511040"/>
            <a:ext cx="10527487" cy="716280"/>
          </a:xfrm>
          <a:prstGeom prst="rect">
            <a:avLst/>
          </a:prstGeom>
          <a:noFill/>
        </p:spPr>
        <p:txBody>
          <a:bodyPr wrap="square">
            <a:spAutoFit/>
          </a:bodyPr>
          <a:lstStyle/>
          <a:p>
            <a:pPr>
              <a:spcAft>
                <a:spcPts val="300"/>
              </a:spcAft>
            </a:pPr>
            <a:r>
              <a:rPr sz="1900" b="1" i="0">
                <a:solidFill>
                  <a:srgbClr val="1A1A1A"/>
                </a:solidFill>
                <a:latin typeface="Arial"/>
              </a:rPr>
              <a:t>Synthesis</a:t>
            </a:r>
          </a:p>
          <a:p>
            <a:pPr>
              <a:spcAft>
                <a:spcPts val="300"/>
              </a:spcAft>
            </a:pPr>
            <a:r>
              <a:rPr sz="1550" b="0" i="0">
                <a:solidFill>
                  <a:srgbClr val="595959"/>
                </a:solidFill>
                <a:latin typeface="Arial"/>
              </a:rPr>
              <a:t>A verified position for every point.</a:t>
            </a:r>
          </a:p>
        </p:txBody>
      </p:sp>
      <p:sp>
        <p:nvSpPr>
          <p:cNvPr id="18" name="Rectangle 17"/>
          <p:cNvSpPr/>
          <p:nvPr/>
        </p:nvSpPr>
        <p:spPr>
          <a:xfrm>
            <a:off x="621792" y="5231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31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273040"/>
            <a:ext cx="10527487" cy="716280"/>
          </a:xfrm>
          <a:prstGeom prst="rect">
            <a:avLst/>
          </a:prstGeom>
          <a:noFill/>
        </p:spPr>
        <p:txBody>
          <a:bodyPr wrap="square">
            <a:spAutoFit/>
          </a:bodyPr>
          <a:lstStyle/>
          <a:p>
            <a:pPr>
              <a:spcAft>
                <a:spcPts val="300"/>
              </a:spcAft>
            </a:pPr>
            <a:r>
              <a:rPr sz="1900" b="1" i="0">
                <a:solidFill>
                  <a:srgbClr val="1A1A1A"/>
                </a:solidFill>
                <a:latin typeface="Arial"/>
              </a:rPr>
              <a:t>Final validation</a:t>
            </a:r>
          </a:p>
          <a:p>
            <a:pPr>
              <a:spcAft>
                <a:spcPts val="300"/>
              </a:spcAft>
            </a:pPr>
            <a:r>
              <a:rPr sz="1550" b="0" i="0">
                <a:solidFill>
                  <a:srgbClr val="595959"/>
                </a:solidFill>
                <a:latin typeface="Arial"/>
              </a:rPr>
              <a:t>With every body.</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evidence ladder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704087"/>
          </a:xfrm>
          <a:prstGeom prst="rect">
            <a:avLst/>
          </a:prstGeom>
          <a:noFill/>
        </p:spPr>
        <p:txBody>
          <a:bodyPr wrap="square">
            <a:spAutoFit/>
          </a:bodyPr>
          <a:lstStyle/>
          <a:p>
            <a:pPr>
              <a:spcAft>
                <a:spcPts val="300"/>
              </a:spcAft>
            </a:pPr>
            <a:r>
              <a:rPr sz="1900" b="1" i="0">
                <a:solidFill>
                  <a:srgbClr val="1A1A1A"/>
                </a:solidFill>
                <a:latin typeface="Arial"/>
              </a:rPr>
              <a:t>A system seen working</a:t>
            </a:r>
          </a:p>
        </p:txBody>
      </p:sp>
      <p:sp>
        <p:nvSpPr>
          <p:cNvPr id="6" name="Rectangle 5"/>
          <p:cNvSpPr/>
          <p:nvPr/>
        </p:nvSpPr>
        <p:spPr>
          <a:xfrm>
            <a:off x="621792" y="2171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2585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12848"/>
            <a:ext cx="10527487" cy="704087"/>
          </a:xfrm>
          <a:prstGeom prst="rect">
            <a:avLst/>
          </a:prstGeom>
          <a:noFill/>
        </p:spPr>
        <p:txBody>
          <a:bodyPr wrap="square">
            <a:spAutoFit/>
          </a:bodyPr>
          <a:lstStyle/>
          <a:p>
            <a:pPr>
              <a:spcAft>
                <a:spcPts val="300"/>
              </a:spcAft>
            </a:pPr>
            <a:r>
              <a:rPr sz="1900" b="1" i="0">
                <a:solidFill>
                  <a:srgbClr val="1A1A1A"/>
                </a:solidFill>
                <a:latin typeface="Arial"/>
              </a:rPr>
              <a:t>An official document in force</a:t>
            </a:r>
          </a:p>
        </p:txBody>
      </p:sp>
      <p:sp>
        <p:nvSpPr>
          <p:cNvPr id="9" name="Rectangle 8"/>
          <p:cNvSpPr/>
          <p:nvPr/>
        </p:nvSpPr>
        <p:spPr>
          <a:xfrm>
            <a:off x="621792" y="29215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00837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962656"/>
            <a:ext cx="10527487" cy="704087"/>
          </a:xfrm>
          <a:prstGeom prst="rect">
            <a:avLst/>
          </a:prstGeom>
          <a:noFill/>
        </p:spPr>
        <p:txBody>
          <a:bodyPr wrap="square">
            <a:spAutoFit/>
          </a:bodyPr>
          <a:lstStyle/>
          <a:p>
            <a:pPr>
              <a:spcAft>
                <a:spcPts val="300"/>
              </a:spcAft>
            </a:pPr>
            <a:r>
              <a:rPr sz="1900" b="1" i="0">
                <a:solidFill>
                  <a:srgbClr val="1A1A1A"/>
                </a:solidFill>
                <a:latin typeface="Arial"/>
              </a:rPr>
              <a:t>Official statistics</a:t>
            </a:r>
          </a:p>
        </p:txBody>
      </p:sp>
      <p:sp>
        <p:nvSpPr>
          <p:cNvPr id="12" name="Rectangle 11"/>
          <p:cNvSpPr/>
          <p:nvPr/>
        </p:nvSpPr>
        <p:spPr>
          <a:xfrm>
            <a:off x="621792" y="36713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75818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712464"/>
            <a:ext cx="10527487" cy="704087"/>
          </a:xfrm>
          <a:prstGeom prst="rect">
            <a:avLst/>
          </a:prstGeom>
          <a:noFill/>
        </p:spPr>
        <p:txBody>
          <a:bodyPr wrap="square">
            <a:spAutoFit/>
          </a:bodyPr>
          <a:lstStyle/>
          <a:p>
            <a:pPr>
              <a:spcAft>
                <a:spcPts val="300"/>
              </a:spcAft>
            </a:pPr>
            <a:r>
              <a:rPr sz="1900" b="1" i="0">
                <a:solidFill>
                  <a:srgbClr val="1A1A1A"/>
                </a:solidFill>
                <a:latin typeface="Arial"/>
              </a:rPr>
              <a:t>An internal report</a:t>
            </a:r>
          </a:p>
        </p:txBody>
      </p:sp>
      <p:sp>
        <p:nvSpPr>
          <p:cNvPr id="15" name="Rectangle 14"/>
          <p:cNvSpPr/>
          <p:nvPr/>
        </p:nvSpPr>
        <p:spPr>
          <a:xfrm>
            <a:off x="621792" y="44211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50799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462272"/>
            <a:ext cx="10527487" cy="704087"/>
          </a:xfrm>
          <a:prstGeom prst="rect">
            <a:avLst/>
          </a:prstGeom>
          <a:noFill/>
        </p:spPr>
        <p:txBody>
          <a:bodyPr wrap="square">
            <a:spAutoFit/>
          </a:bodyPr>
          <a:lstStyle/>
          <a:p>
            <a:pPr>
              <a:spcAft>
                <a:spcPts val="300"/>
              </a:spcAft>
            </a:pPr>
            <a:r>
              <a:rPr sz="1900" b="1" i="0">
                <a:solidFill>
                  <a:srgbClr val="1A1A1A"/>
                </a:solidFill>
                <a:latin typeface="Arial"/>
              </a:rPr>
              <a:t>A statement in an interview</a:t>
            </a:r>
          </a:p>
        </p:txBody>
      </p:sp>
      <p:sp>
        <p:nvSpPr>
          <p:cNvPr id="18" name="TextBox 17"/>
          <p:cNvSpPr txBox="1"/>
          <p:nvPr/>
        </p:nvSpPr>
        <p:spPr>
          <a:xfrm>
            <a:off x="658368" y="5321808"/>
            <a:ext cx="10881360" cy="548640"/>
          </a:xfrm>
          <a:prstGeom prst="rect">
            <a:avLst/>
          </a:prstGeom>
          <a:noFill/>
        </p:spPr>
        <p:txBody>
          <a:bodyPr wrap="square">
            <a:spAutoFit/>
          </a:bodyPr>
          <a:lstStyle/>
          <a:p>
            <a:r>
              <a:rPr sz="1550" b="1" i="0">
                <a:solidFill>
                  <a:srgbClr val="006E96"/>
                </a:solidFill>
                <a:latin typeface="Arial"/>
              </a:rPr>
              <a:t>When sources disagree, the higher level wins. A verified position needs one source at level 1, or two independent sources at levels 2 or 3.</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templates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map of the bodies involved</a:t>
            </a:r>
          </a:p>
          <a:p>
            <a:pPr>
              <a:spcAft>
                <a:spcPts val="300"/>
              </a:spcAft>
            </a:pPr>
            <a:r>
              <a:rPr sz="1550" b="0" i="0">
                <a:solidFill>
                  <a:srgbClr val="595959"/>
                </a:solidFill>
                <a:latin typeface="Arial"/>
              </a:rPr>
              <a:t>Who takes part, and how.</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The session plan</a:t>
            </a:r>
          </a:p>
          <a:p>
            <a:pPr>
              <a:spcAft>
                <a:spcPts val="300"/>
              </a:spcAft>
            </a:pPr>
            <a:r>
              <a:rPr sz="1550" b="0" i="0">
                <a:solidFill>
                  <a:srgbClr val="595959"/>
                </a:solidFill>
                <a:latin typeface="Arial"/>
              </a:rPr>
              <a:t>Each interview and workshop, the points to clarify, the evidence to bring.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The reconciled-response table</a:t>
            </a:r>
          </a:p>
          <a:p>
            <a:pPr>
              <a:spcAft>
                <a:spcPts val="300"/>
              </a:spcAft>
            </a:pPr>
            <a:r>
              <a:rPr sz="1550" b="0" i="0">
                <a:solidFill>
                  <a:srgbClr val="595959"/>
                </a:solidFill>
                <a:latin typeface="Arial"/>
              </a:rPr>
              <a:t>The verified position on every point, with its evidence and its status.</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agenda of the final validation workshop</a:t>
            </a:r>
          </a:p>
          <a:p>
            <a:pPr>
              <a:spcAft>
                <a:spcPts val="300"/>
              </a:spcAft>
            </a:pPr>
            <a:r>
              <a:rPr sz="1550" b="0" i="0">
                <a:solidFill>
                  <a:srgbClr val="595959"/>
                </a:solidFill>
                <a:latin typeface="Arial"/>
              </a:rPr>
              <a:t>Half a day, chaired by the validation chair.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points Progressa's team verified</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AF-DAT-02 — corrected</a:t>
            </a:r>
          </a:p>
          <a:p>
            <a:pPr>
              <a:spcAft>
                <a:spcPts val="300"/>
              </a:spcAft>
            </a:pPr>
            <a:r>
              <a:rPr sz="1550" b="0" i="0">
                <a:solidFill>
                  <a:srgbClr val="595959"/>
                </a:solidFill>
                <a:latin typeface="Arial"/>
              </a:rPr>
              <a:t>PEMIS holds totals by district, grade and sex; PEMIS shown in session V-01 (level 1).</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AF-INT-01 — verified</a:t>
            </a:r>
          </a:p>
          <a:p>
            <a:pPr>
              <a:spcAft>
                <a:spcPts val="300"/>
              </a:spcAft>
            </a:pPr>
            <a:r>
              <a:rPr sz="1550" b="0" i="0">
                <a:solidFill>
                  <a:srgbClr val="595959"/>
                </a:solidFill>
                <a:latin typeface="Arial"/>
              </a:rPr>
              <a:t>MoEYS is not a member of Linkup and runs no service on it; member list exported by PDGA in session V-02 (level 1).</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AF-IDN-02 — verified</a:t>
            </a:r>
          </a:p>
          <a:p>
            <a:pPr>
              <a:spcAft>
                <a:spcPts val="300"/>
              </a:spcAft>
            </a:pPr>
            <a:r>
              <a:rPr sz="1550" b="0" i="0">
                <a:solidFill>
                  <a:srgbClr val="595959"/>
                </a:solidFill>
                <a:latin typeface="Arial"/>
              </a:rPr>
              <a:t>Only PNEA reads persons from PNIA, through the read by national number; no education service is a client of PNIA's sign-in; shown in session V-03 (level 1).</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Worked example E4, illustrative.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An answer becomes a finding only when it has been checked against documents, in interviews and workshops, and in a validation session with the people who gave it.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Set two disagreeing sources side by side and draft the clarification question.</a:t>
            </a:r>
          </a:p>
          <a:p>
            <a:pPr algn="l">
              <a:spcAft>
                <a:spcPts val="400"/>
              </a:spcAft>
            </a:pPr>
            <a:r>
              <a:rPr sz="1800" b="0" i="0">
                <a:solidFill>
                  <a:srgbClr val="595959"/>
                </a:solidFill>
                <a:latin typeface="Arial"/>
              </a:rPr>
              <a:t>The prompt in the companion material gives you a two-column comparison of the sources with their levels, the evidence that would settle the point, and the question for the clarification interview.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 5.4, steps 2 to 4</a:t>
            </a:r>
          </a:p>
          <a:p>
            <a:pPr>
              <a:spcAft>
                <a:spcPts val="1200"/>
              </a:spcAft>
            </a:pPr>
            <a:r>
              <a:rPr sz="1700" b="0" i="0">
                <a:solidFill>
                  <a:srgbClr val="1A1A1A"/>
                </a:solidFill>
                <a:latin typeface="Arial"/>
              </a:rPr>
              <a:t>•  The verification templates and the evidence ladder — this course's own instruments,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1.6 · Verify before you score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Score each domain: five stages and one table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Score each domain on five published stages against written criteria, so that two assessors reach the same result and the whole picture fits on one table.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Two assessors who read the same evidence should reach the same score.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If they do not, the score is an opinion, and a minister can set it aside.</a:t>
            </a:r>
          </a:p>
          <a:p>
            <a:pPr>
              <a:spcAft>
                <a:spcPts val="800"/>
              </a:spcAft>
            </a:pPr>
            <a:r>
              <a:rPr sz="1700" b="0" i="0">
                <a:solidFill>
                  <a:srgbClr val="595959"/>
                </a:solidFill>
                <a:latin typeface="Arial"/>
              </a:rPr>
              <a:t>Written criteria on a published scale prevent that.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published stages</a:t>
            </a:r>
          </a:p>
        </p:txBody>
      </p:sp>
      <p:sp>
        <p:nvSpPr>
          <p:cNvPr id="4" name="TextBox 3"/>
          <p:cNvSpPr txBox="1"/>
          <p:nvPr/>
        </p:nvSpPr>
        <p:spPr>
          <a:xfrm>
            <a:off x="658368" y="1463040"/>
            <a:ext cx="10984687" cy="704087"/>
          </a:xfrm>
          <a:prstGeom prst="rect">
            <a:avLst/>
          </a:prstGeom>
          <a:noFill/>
        </p:spPr>
        <p:txBody>
          <a:bodyPr wrap="square">
            <a:spAutoFit/>
          </a:bodyPr>
          <a:lstStyle/>
          <a:p>
            <a:pPr>
              <a:spcAft>
                <a:spcPts val="300"/>
              </a:spcAft>
            </a:pPr>
            <a:r>
              <a:rPr sz="1900" b="1" i="0">
                <a:solidFill>
                  <a:srgbClr val="1A1A1A"/>
                </a:solidFill>
                <a:latin typeface="Arial"/>
              </a:rPr>
              <a:t>Basic</a:t>
            </a:r>
          </a:p>
          <a:p>
            <a:pPr>
              <a:spcAft>
                <a:spcPts val="300"/>
              </a:spcAft>
            </a:pPr>
            <a:r>
              <a:rPr sz="1550" b="0" i="0">
                <a:solidFill>
                  <a:srgbClr val="595959"/>
                </a:solidFill>
                <a:latin typeface="Arial"/>
              </a:rPr>
              <a:t>0 to 1.</a:t>
            </a:r>
          </a:p>
        </p:txBody>
      </p:sp>
      <p:sp>
        <p:nvSpPr>
          <p:cNvPr id="5" name="Rectangle 4"/>
          <p:cNvSpPr/>
          <p:nvPr/>
        </p:nvSpPr>
        <p:spPr>
          <a:xfrm>
            <a:off x="621792" y="21717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12848"/>
            <a:ext cx="10984687" cy="704087"/>
          </a:xfrm>
          <a:prstGeom prst="rect">
            <a:avLst/>
          </a:prstGeom>
          <a:noFill/>
        </p:spPr>
        <p:txBody>
          <a:bodyPr wrap="square">
            <a:spAutoFit/>
          </a:bodyPr>
          <a:lstStyle/>
          <a:p>
            <a:pPr>
              <a:spcAft>
                <a:spcPts val="300"/>
              </a:spcAft>
            </a:pPr>
            <a:r>
              <a:rPr sz="1900" b="1" i="0">
                <a:solidFill>
                  <a:srgbClr val="1A1A1A"/>
                </a:solidFill>
                <a:latin typeface="Arial"/>
              </a:rPr>
              <a:t>Opportunistic</a:t>
            </a:r>
          </a:p>
          <a:p>
            <a:pPr>
              <a:spcAft>
                <a:spcPts val="300"/>
              </a:spcAft>
            </a:pPr>
            <a:r>
              <a:rPr sz="1550" b="0" i="0">
                <a:solidFill>
                  <a:srgbClr val="595959"/>
                </a:solidFill>
                <a:latin typeface="Arial"/>
              </a:rPr>
              <a:t>1 to 2.</a:t>
            </a:r>
          </a:p>
        </p:txBody>
      </p:sp>
      <p:sp>
        <p:nvSpPr>
          <p:cNvPr id="7" name="Rectangle 6"/>
          <p:cNvSpPr/>
          <p:nvPr/>
        </p:nvSpPr>
        <p:spPr>
          <a:xfrm>
            <a:off x="621792" y="292150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962656"/>
            <a:ext cx="10984687" cy="704087"/>
          </a:xfrm>
          <a:prstGeom prst="rect">
            <a:avLst/>
          </a:prstGeom>
          <a:noFill/>
        </p:spPr>
        <p:txBody>
          <a:bodyPr wrap="square">
            <a:spAutoFit/>
          </a:bodyPr>
          <a:lstStyle/>
          <a:p>
            <a:pPr>
              <a:spcAft>
                <a:spcPts val="300"/>
              </a:spcAft>
            </a:pPr>
            <a:r>
              <a:rPr sz="1900" b="1" i="0">
                <a:solidFill>
                  <a:srgbClr val="1A1A1A"/>
                </a:solidFill>
                <a:latin typeface="Arial"/>
              </a:rPr>
              <a:t>Systematic</a:t>
            </a:r>
          </a:p>
          <a:p>
            <a:pPr>
              <a:spcAft>
                <a:spcPts val="300"/>
              </a:spcAft>
            </a:pPr>
            <a:r>
              <a:rPr sz="1550" b="0" i="0">
                <a:solidFill>
                  <a:srgbClr val="595959"/>
                </a:solidFill>
                <a:latin typeface="Arial"/>
              </a:rPr>
              <a:t>2 to 3.</a:t>
            </a:r>
          </a:p>
        </p:txBody>
      </p:sp>
      <p:sp>
        <p:nvSpPr>
          <p:cNvPr id="9" name="Rectangle 8"/>
          <p:cNvSpPr/>
          <p:nvPr/>
        </p:nvSpPr>
        <p:spPr>
          <a:xfrm>
            <a:off x="621792" y="36713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712464"/>
            <a:ext cx="10984687" cy="704087"/>
          </a:xfrm>
          <a:prstGeom prst="rect">
            <a:avLst/>
          </a:prstGeom>
          <a:noFill/>
        </p:spPr>
        <p:txBody>
          <a:bodyPr wrap="square">
            <a:spAutoFit/>
          </a:bodyPr>
          <a:lstStyle/>
          <a:p>
            <a:pPr>
              <a:spcAft>
                <a:spcPts val="300"/>
              </a:spcAft>
            </a:pPr>
            <a:r>
              <a:rPr sz="1900" b="1" i="0">
                <a:solidFill>
                  <a:srgbClr val="1A1A1A"/>
                </a:solidFill>
                <a:latin typeface="Arial"/>
              </a:rPr>
              <a:t>Differentiating</a:t>
            </a:r>
          </a:p>
          <a:p>
            <a:pPr>
              <a:spcAft>
                <a:spcPts val="300"/>
              </a:spcAft>
            </a:pPr>
            <a:r>
              <a:rPr sz="1550" b="0" i="0">
                <a:solidFill>
                  <a:srgbClr val="595959"/>
                </a:solidFill>
                <a:latin typeface="Arial"/>
              </a:rPr>
              <a:t>3 to 4.</a:t>
            </a:r>
          </a:p>
        </p:txBody>
      </p:sp>
      <p:sp>
        <p:nvSpPr>
          <p:cNvPr id="11" name="Rectangle 10"/>
          <p:cNvSpPr/>
          <p:nvPr/>
        </p:nvSpPr>
        <p:spPr>
          <a:xfrm>
            <a:off x="621792" y="44211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462272"/>
            <a:ext cx="10984687" cy="704087"/>
          </a:xfrm>
          <a:prstGeom prst="rect">
            <a:avLst/>
          </a:prstGeom>
          <a:noFill/>
        </p:spPr>
        <p:txBody>
          <a:bodyPr wrap="square">
            <a:spAutoFit/>
          </a:bodyPr>
          <a:lstStyle/>
          <a:p>
            <a:pPr>
              <a:spcAft>
                <a:spcPts val="300"/>
              </a:spcAft>
            </a:pPr>
            <a:r>
              <a:rPr sz="1900" b="1" i="0">
                <a:solidFill>
                  <a:srgbClr val="1A1A1A"/>
                </a:solidFill>
                <a:latin typeface="Arial"/>
              </a:rPr>
              <a:t>Transformational</a:t>
            </a:r>
          </a:p>
          <a:p>
            <a:pPr>
              <a:spcAft>
                <a:spcPts val="300"/>
              </a:spcAft>
            </a:pPr>
            <a:r>
              <a:rPr sz="1550" b="0" i="0">
                <a:solidFill>
                  <a:srgbClr val="595959"/>
                </a:solidFill>
                <a:latin typeface="Arial"/>
              </a:rPr>
              <a:t>4 to 5.</a:t>
            </a:r>
          </a:p>
        </p:txBody>
      </p:sp>
      <p:sp>
        <p:nvSpPr>
          <p:cNvPr id="13" name="TextBox 12"/>
          <p:cNvSpPr txBox="1"/>
          <p:nvPr/>
        </p:nvSpPr>
        <p:spPr>
          <a:xfrm>
            <a:off x="658368" y="5321808"/>
            <a:ext cx="10881360" cy="548640"/>
          </a:xfrm>
          <a:prstGeom prst="rect">
            <a:avLst/>
          </a:prstGeom>
          <a:noFill/>
        </p:spPr>
        <p:txBody>
          <a:bodyPr wrap="square">
            <a:spAutoFit/>
          </a:bodyPr>
          <a:lstStyle/>
          <a:p>
            <a:r>
              <a:rPr sz="1550" b="1" i="0">
                <a:solidFill>
                  <a:srgbClr val="006E96"/>
                </a:solidFill>
                <a:latin typeface="Arial"/>
              </a:rPr>
              <a:t>UNDP Digital Development Compass: all scores rescaled between 0 and 5, with no zero scores.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scoring rule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Each sub-component has written criteria</a:t>
            </a:r>
          </a:p>
          <a:p>
            <a:pPr>
              <a:spcAft>
                <a:spcPts val="300"/>
              </a:spcAft>
            </a:pPr>
            <a:r>
              <a:rPr sz="1550" b="0" i="0">
                <a:solidFill>
                  <a:srgbClr val="595959"/>
                </a:solidFill>
                <a:latin typeface="Arial"/>
              </a:rPr>
              <a:t>At Basic, Systematic and Transformational.</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Each sub-component is placed at one stage</a:t>
            </a:r>
          </a:p>
          <a:p>
            <a:pPr>
              <a:spcAft>
                <a:spcPts val="300"/>
              </a:spcAft>
            </a:pPr>
            <a:r>
              <a:rPr sz="1550" b="0" i="0">
                <a:solidFill>
                  <a:srgbClr val="595959"/>
                </a:solidFill>
                <a:latin typeface="Arial"/>
              </a:rPr>
              <a:t>From verified positions only.</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Each stage scores the middle of its unit</a:t>
            </a:r>
          </a:p>
          <a:p>
            <a:pPr>
              <a:spcAft>
                <a:spcPts val="300"/>
              </a:spcAft>
            </a:pPr>
            <a:r>
              <a:rPr sz="1550" b="0" i="0">
                <a:solidFill>
                  <a:srgbClr val="595959"/>
                </a:solidFill>
                <a:latin typeface="Arial"/>
              </a:rPr>
              <a:t>0.5, 1.5, 2.5, 3.5, 4.5.</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domain's score is the mean of its sub-components</a:t>
            </a:r>
          </a:p>
          <a:p>
            <a:pPr>
              <a:spcAft>
                <a:spcPts val="300"/>
              </a:spcAft>
            </a:pPr>
            <a:r>
              <a:rPr sz="1550" b="0" i="0">
                <a:solidFill>
                  <a:srgbClr val="595959"/>
                </a:solidFill>
                <a:latin typeface="Arial"/>
              </a:rPr>
              <a:t>Its stage is the unit the score falls in.</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maturity table</a:t>
            </a:r>
          </a:p>
        </p:txBody>
      </p:sp>
      <p:sp>
        <p:nvSpPr>
          <p:cNvPr id="4" name="TextBox 3"/>
          <p:cNvSpPr txBox="1"/>
          <p:nvPr/>
        </p:nvSpPr>
        <p:spPr>
          <a:xfrm>
            <a:off x="658368" y="1417320"/>
            <a:ext cx="3730752" cy="384048"/>
          </a:xfrm>
          <a:prstGeom prst="rect">
            <a:avLst/>
          </a:prstGeom>
          <a:noFill/>
        </p:spPr>
        <p:txBody>
          <a:bodyPr wrap="square">
            <a:spAutoFit/>
          </a:bodyPr>
          <a:lstStyle/>
          <a:p>
            <a:r>
              <a:rPr sz="1500" b="1" i="0">
                <a:solidFill>
                  <a:srgbClr val="006E96"/>
                </a:solidFill>
                <a:latin typeface="Arial"/>
              </a:rPr>
              <a:t>Domain</a:t>
            </a:r>
          </a:p>
        </p:txBody>
      </p:sp>
      <p:sp>
        <p:nvSpPr>
          <p:cNvPr id="5" name="TextBox 4"/>
          <p:cNvSpPr txBox="1"/>
          <p:nvPr/>
        </p:nvSpPr>
        <p:spPr>
          <a:xfrm>
            <a:off x="4498848" y="1417320"/>
            <a:ext cx="2267712" cy="384048"/>
          </a:xfrm>
          <a:prstGeom prst="rect">
            <a:avLst/>
          </a:prstGeom>
          <a:noFill/>
        </p:spPr>
        <p:txBody>
          <a:bodyPr wrap="square">
            <a:spAutoFit/>
          </a:bodyPr>
          <a:lstStyle/>
          <a:p>
            <a:r>
              <a:rPr sz="1500" b="1" i="0">
                <a:solidFill>
                  <a:srgbClr val="006E96"/>
                </a:solidFill>
                <a:latin typeface="Arial"/>
              </a:rPr>
              <a:t>Score</a:t>
            </a:r>
          </a:p>
        </p:txBody>
      </p:sp>
      <p:sp>
        <p:nvSpPr>
          <p:cNvPr id="6" name="TextBox 5"/>
          <p:cNvSpPr txBox="1"/>
          <p:nvPr/>
        </p:nvSpPr>
        <p:spPr>
          <a:xfrm>
            <a:off x="6876288" y="1417320"/>
            <a:ext cx="4553712" cy="384048"/>
          </a:xfrm>
          <a:prstGeom prst="rect">
            <a:avLst/>
          </a:prstGeom>
          <a:noFill/>
        </p:spPr>
        <p:txBody>
          <a:bodyPr wrap="square">
            <a:spAutoFit/>
          </a:bodyPr>
          <a:lstStyle/>
          <a:p>
            <a:r>
              <a:rPr sz="1500" b="1" i="0">
                <a:solidFill>
                  <a:srgbClr val="006E96"/>
                </a:solidFill>
                <a:latin typeface="Arial"/>
              </a:rPr>
              <a:t>Stage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3730752" cy="694944"/>
          </a:xfrm>
          <a:prstGeom prst="rect">
            <a:avLst/>
          </a:prstGeom>
          <a:noFill/>
        </p:spPr>
        <p:txBody>
          <a:bodyPr wrap="square">
            <a:spAutoFit/>
          </a:bodyPr>
          <a:lstStyle/>
          <a:p>
            <a:r>
              <a:rPr sz="1500" b="1" i="0">
                <a:solidFill>
                  <a:srgbClr val="1A1A1A"/>
                </a:solidFill>
                <a:latin typeface="Arial"/>
              </a:rPr>
              <a:t>GOV</a:t>
            </a:r>
          </a:p>
        </p:txBody>
      </p:sp>
      <p:sp>
        <p:nvSpPr>
          <p:cNvPr id="9" name="TextBox 8"/>
          <p:cNvSpPr txBox="1"/>
          <p:nvPr/>
        </p:nvSpPr>
        <p:spPr>
          <a:xfrm>
            <a:off x="4498848" y="1911095"/>
            <a:ext cx="2267712" cy="694944"/>
          </a:xfrm>
          <a:prstGeom prst="rect">
            <a:avLst/>
          </a:prstGeom>
          <a:noFill/>
        </p:spPr>
        <p:txBody>
          <a:bodyPr wrap="square">
            <a:spAutoFit/>
          </a:bodyPr>
          <a:lstStyle/>
          <a:p>
            <a:r>
              <a:rPr sz="1500" b="0" i="0">
                <a:solidFill>
                  <a:srgbClr val="1A1A1A"/>
                </a:solidFill>
                <a:latin typeface="Arial"/>
              </a:rPr>
              <a:t>1.9</a:t>
            </a:r>
          </a:p>
        </p:txBody>
      </p:sp>
      <p:sp>
        <p:nvSpPr>
          <p:cNvPr id="10" name="TextBox 9"/>
          <p:cNvSpPr txBox="1"/>
          <p:nvPr/>
        </p:nvSpPr>
        <p:spPr>
          <a:xfrm>
            <a:off x="6876288" y="1911095"/>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1" name="Rectangle 10"/>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679191"/>
            <a:ext cx="3730752" cy="694944"/>
          </a:xfrm>
          <a:prstGeom prst="rect">
            <a:avLst/>
          </a:prstGeom>
          <a:noFill/>
        </p:spPr>
        <p:txBody>
          <a:bodyPr wrap="square">
            <a:spAutoFit/>
          </a:bodyPr>
          <a:lstStyle/>
          <a:p>
            <a:r>
              <a:rPr sz="1500" b="1" i="0">
                <a:solidFill>
                  <a:srgbClr val="1A1A1A"/>
                </a:solidFill>
                <a:latin typeface="Arial"/>
              </a:rPr>
              <a:t>ACC</a:t>
            </a:r>
          </a:p>
        </p:txBody>
      </p:sp>
      <p:sp>
        <p:nvSpPr>
          <p:cNvPr id="13" name="TextBox 12"/>
          <p:cNvSpPr txBox="1"/>
          <p:nvPr/>
        </p:nvSpPr>
        <p:spPr>
          <a:xfrm>
            <a:off x="4498848" y="2679191"/>
            <a:ext cx="2267712" cy="694944"/>
          </a:xfrm>
          <a:prstGeom prst="rect">
            <a:avLst/>
          </a:prstGeom>
          <a:noFill/>
        </p:spPr>
        <p:txBody>
          <a:bodyPr wrap="square">
            <a:spAutoFit/>
          </a:bodyPr>
          <a:lstStyle/>
          <a:p>
            <a:r>
              <a:rPr sz="1500" b="0" i="0">
                <a:solidFill>
                  <a:srgbClr val="1A1A1A"/>
                </a:solidFill>
                <a:latin typeface="Arial"/>
              </a:rPr>
              <a:t>1.3</a:t>
            </a:r>
          </a:p>
        </p:txBody>
      </p:sp>
      <p:sp>
        <p:nvSpPr>
          <p:cNvPr id="14" name="TextBox 13"/>
          <p:cNvSpPr txBox="1"/>
          <p:nvPr/>
        </p:nvSpPr>
        <p:spPr>
          <a:xfrm>
            <a:off x="6876288" y="2679191"/>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5" name="Rectangle 14"/>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447288"/>
            <a:ext cx="3730752" cy="694944"/>
          </a:xfrm>
          <a:prstGeom prst="rect">
            <a:avLst/>
          </a:prstGeom>
          <a:noFill/>
        </p:spPr>
        <p:txBody>
          <a:bodyPr wrap="square">
            <a:spAutoFit/>
          </a:bodyPr>
          <a:lstStyle/>
          <a:p>
            <a:r>
              <a:rPr sz="1500" b="1" i="0">
                <a:solidFill>
                  <a:srgbClr val="1A1A1A"/>
                </a:solidFill>
                <a:latin typeface="Arial"/>
              </a:rPr>
              <a:t>DAT</a:t>
            </a:r>
          </a:p>
        </p:txBody>
      </p:sp>
      <p:sp>
        <p:nvSpPr>
          <p:cNvPr id="17" name="TextBox 16"/>
          <p:cNvSpPr txBox="1"/>
          <p:nvPr/>
        </p:nvSpPr>
        <p:spPr>
          <a:xfrm>
            <a:off x="4498848" y="3447288"/>
            <a:ext cx="2267712" cy="694944"/>
          </a:xfrm>
          <a:prstGeom prst="rect">
            <a:avLst/>
          </a:prstGeom>
          <a:noFill/>
        </p:spPr>
        <p:txBody>
          <a:bodyPr wrap="square">
            <a:spAutoFit/>
          </a:bodyPr>
          <a:lstStyle/>
          <a:p>
            <a:r>
              <a:rPr sz="1500" b="0" i="0">
                <a:solidFill>
                  <a:srgbClr val="1A1A1A"/>
                </a:solidFill>
                <a:latin typeface="Arial"/>
              </a:rPr>
              <a:t>1.3</a:t>
            </a:r>
          </a:p>
        </p:txBody>
      </p:sp>
      <p:sp>
        <p:nvSpPr>
          <p:cNvPr id="18" name="TextBox 17"/>
          <p:cNvSpPr txBox="1"/>
          <p:nvPr/>
        </p:nvSpPr>
        <p:spPr>
          <a:xfrm>
            <a:off x="6876288" y="3447288"/>
            <a:ext cx="4553712" cy="694944"/>
          </a:xfrm>
          <a:prstGeom prst="rect">
            <a:avLst/>
          </a:prstGeom>
          <a:noFill/>
        </p:spPr>
        <p:txBody>
          <a:bodyPr wrap="square">
            <a:spAutoFit/>
          </a:bodyPr>
          <a:lstStyle/>
          <a:p>
            <a:r>
              <a:rPr sz="1500" b="0" i="0">
                <a:solidFill>
                  <a:srgbClr val="1A1A1A"/>
                </a:solidFill>
                <a:latin typeface="Arial"/>
              </a:rPr>
              <a:t>Opportunistic</a:t>
            </a:r>
          </a:p>
        </p:txBody>
      </p:sp>
      <p:sp>
        <p:nvSpPr>
          <p:cNvPr id="19" name="Rectangle 18"/>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215384"/>
            <a:ext cx="3730752" cy="694944"/>
          </a:xfrm>
          <a:prstGeom prst="rect">
            <a:avLst/>
          </a:prstGeom>
          <a:noFill/>
        </p:spPr>
        <p:txBody>
          <a:bodyPr wrap="square">
            <a:spAutoFit/>
          </a:bodyPr>
          <a:lstStyle/>
          <a:p>
            <a:r>
              <a:rPr sz="1500" b="1" i="0">
                <a:solidFill>
                  <a:srgbClr val="1A1A1A"/>
                </a:solidFill>
                <a:latin typeface="Arial"/>
              </a:rPr>
              <a:t>INT</a:t>
            </a:r>
          </a:p>
        </p:txBody>
      </p:sp>
      <p:sp>
        <p:nvSpPr>
          <p:cNvPr id="21" name="TextBox 20"/>
          <p:cNvSpPr txBox="1"/>
          <p:nvPr/>
        </p:nvSpPr>
        <p:spPr>
          <a:xfrm>
            <a:off x="4498848" y="4215384"/>
            <a:ext cx="2267712" cy="694944"/>
          </a:xfrm>
          <a:prstGeom prst="rect">
            <a:avLst/>
          </a:prstGeom>
          <a:noFill/>
        </p:spPr>
        <p:txBody>
          <a:bodyPr wrap="square">
            <a:spAutoFit/>
          </a:bodyPr>
          <a:lstStyle/>
          <a:p>
            <a:r>
              <a:rPr sz="1500" b="0" i="0">
                <a:solidFill>
                  <a:srgbClr val="1A1A1A"/>
                </a:solidFill>
                <a:latin typeface="Arial"/>
              </a:rPr>
              <a:t>2.1</a:t>
            </a:r>
          </a:p>
        </p:txBody>
      </p:sp>
      <p:sp>
        <p:nvSpPr>
          <p:cNvPr id="22" name="TextBox 21"/>
          <p:cNvSpPr txBox="1"/>
          <p:nvPr/>
        </p:nvSpPr>
        <p:spPr>
          <a:xfrm>
            <a:off x="6876288" y="4215384"/>
            <a:ext cx="4553712" cy="694944"/>
          </a:xfrm>
          <a:prstGeom prst="rect">
            <a:avLst/>
          </a:prstGeom>
          <a:noFill/>
        </p:spPr>
        <p:txBody>
          <a:bodyPr wrap="square">
            <a:spAutoFit/>
          </a:bodyPr>
          <a:lstStyle/>
          <a:p>
            <a:r>
              <a:rPr sz="1500" b="0" i="0">
                <a:solidFill>
                  <a:srgbClr val="1A1A1A"/>
                </a:solidFill>
                <a:latin typeface="Arial"/>
              </a:rPr>
              <a:t>Systematic</a:t>
            </a:r>
          </a:p>
        </p:txBody>
      </p:sp>
      <p:sp>
        <p:nvSpPr>
          <p:cNvPr id="23" name="Rectangle 22"/>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83480"/>
            <a:ext cx="3730752" cy="694944"/>
          </a:xfrm>
          <a:prstGeom prst="rect">
            <a:avLst/>
          </a:prstGeom>
          <a:noFill/>
        </p:spPr>
        <p:txBody>
          <a:bodyPr wrap="square">
            <a:spAutoFit/>
          </a:bodyPr>
          <a:lstStyle/>
          <a:p>
            <a:r>
              <a:rPr sz="1500" b="1" i="0">
                <a:solidFill>
                  <a:srgbClr val="1A1A1A"/>
                </a:solidFill>
                <a:latin typeface="Arial"/>
              </a:rPr>
              <a:t>IDN</a:t>
            </a:r>
          </a:p>
        </p:txBody>
      </p:sp>
      <p:sp>
        <p:nvSpPr>
          <p:cNvPr id="25" name="TextBox 24"/>
          <p:cNvSpPr txBox="1"/>
          <p:nvPr/>
        </p:nvSpPr>
        <p:spPr>
          <a:xfrm>
            <a:off x="4498848" y="4983480"/>
            <a:ext cx="2267712" cy="694944"/>
          </a:xfrm>
          <a:prstGeom prst="rect">
            <a:avLst/>
          </a:prstGeom>
          <a:noFill/>
        </p:spPr>
        <p:txBody>
          <a:bodyPr wrap="square">
            <a:spAutoFit/>
          </a:bodyPr>
          <a:lstStyle/>
          <a:p>
            <a:r>
              <a:rPr sz="1500" b="0" i="0">
                <a:solidFill>
                  <a:srgbClr val="1A1A1A"/>
                </a:solidFill>
                <a:latin typeface="Arial"/>
              </a:rPr>
              <a:t>2.3</a:t>
            </a:r>
          </a:p>
        </p:txBody>
      </p:sp>
      <p:sp>
        <p:nvSpPr>
          <p:cNvPr id="26" name="TextBox 25"/>
          <p:cNvSpPr txBox="1"/>
          <p:nvPr/>
        </p:nvSpPr>
        <p:spPr>
          <a:xfrm>
            <a:off x="6876288" y="4983480"/>
            <a:ext cx="4553712" cy="694944"/>
          </a:xfrm>
          <a:prstGeom prst="rect">
            <a:avLst/>
          </a:prstGeom>
          <a:noFill/>
        </p:spPr>
        <p:txBody>
          <a:bodyPr wrap="square">
            <a:spAutoFit/>
          </a:bodyPr>
          <a:lstStyle/>
          <a:p>
            <a:r>
              <a:rPr sz="1500" b="0" i="0">
                <a:solidFill>
                  <a:srgbClr val="1A1A1A"/>
                </a:solidFill>
                <a:latin typeface="Arial"/>
              </a:rPr>
              <a:t>Systematic</a:t>
            </a:r>
          </a:p>
        </p:txBody>
      </p:sp>
      <p:sp>
        <p:nvSpPr>
          <p:cNvPr id="27" name="TextBox 26"/>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 Worked example E5.</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Demonstration: scoring Progressa's digital data domain</a:t>
            </a:r>
          </a:p>
        </p:txBody>
      </p:sp>
      <p:sp>
        <p:nvSpPr>
          <p:cNvPr id="4" name="TextBox 3"/>
          <p:cNvSpPr txBox="1"/>
          <p:nvPr/>
        </p:nvSpPr>
        <p:spPr>
          <a:xfrm>
            <a:off x="658368" y="1280160"/>
            <a:ext cx="5486400" cy="320040"/>
          </a:xfrm>
          <a:prstGeom prst="rect">
            <a:avLst/>
          </a:prstGeom>
          <a:noFill/>
        </p:spPr>
        <p:txBody>
          <a:bodyPr wrap="square">
            <a:spAutoFit/>
          </a:bodyPr>
          <a:lstStyle/>
          <a:p>
            <a:r>
              <a:rPr sz="1200" b="1" i="0">
                <a:solidFill>
                  <a:srgbClr val="595959"/>
                </a:solidFill>
                <a:latin typeface="Arial"/>
              </a:rPr>
              <a:t>WHAT A GOOD RUN SHOWS</a:t>
            </a:r>
          </a:p>
        </p:txBody>
      </p:sp>
      <p:sp>
        <p:nvSpPr>
          <p:cNvPr id="5" name="Oval 4"/>
          <p:cNvSpPr/>
          <p:nvPr/>
        </p:nvSpPr>
        <p:spPr>
          <a:xfrm>
            <a:off x="621792" y="1737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6" name="TextBox 5"/>
          <p:cNvSpPr txBox="1"/>
          <p:nvPr/>
        </p:nvSpPr>
        <p:spPr>
          <a:xfrm>
            <a:off x="1115568" y="1691640"/>
            <a:ext cx="10527487" cy="804672"/>
          </a:xfrm>
          <a:prstGeom prst="rect">
            <a:avLst/>
          </a:prstGeom>
          <a:noFill/>
        </p:spPr>
        <p:txBody>
          <a:bodyPr wrap="square">
            <a:spAutoFit/>
          </a:bodyPr>
          <a:lstStyle/>
          <a:p>
            <a:pPr>
              <a:spcAft>
                <a:spcPts val="300"/>
              </a:spcAft>
            </a:pPr>
            <a:r>
              <a:rPr sz="1700" b="1" i="0">
                <a:solidFill>
                  <a:srgbClr val="1A1A1A"/>
                </a:solidFill>
                <a:latin typeface="Arial"/>
              </a:rPr>
              <a:t>The two inputs — the criteria of digital data, D1 to D6 with five rows each, and the domain's verified answers with their evidence</a:t>
            </a:r>
          </a:p>
        </p:txBody>
      </p:sp>
      <p:sp>
        <p:nvSpPr>
          <p:cNvPr id="7" name="Rectangle 6"/>
          <p:cNvSpPr/>
          <p:nvPr/>
        </p:nvSpPr>
        <p:spPr>
          <a:xfrm>
            <a:off x="621792" y="250088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21792" y="2587752"/>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9" name="TextBox 8"/>
          <p:cNvSpPr txBox="1"/>
          <p:nvPr/>
        </p:nvSpPr>
        <p:spPr>
          <a:xfrm>
            <a:off x="1115568" y="2542032"/>
            <a:ext cx="10527487" cy="804672"/>
          </a:xfrm>
          <a:prstGeom prst="rect">
            <a:avLst/>
          </a:prstGeom>
          <a:noFill/>
        </p:spPr>
        <p:txBody>
          <a:bodyPr wrap="square">
            <a:spAutoFit/>
          </a:bodyPr>
          <a:lstStyle/>
          <a:p>
            <a:pPr>
              <a:spcAft>
                <a:spcPts val="300"/>
              </a:spcAft>
            </a:pPr>
            <a:r>
              <a:rPr sz="1700" b="1" i="0">
                <a:solidFill>
                  <a:srgbClr val="1A1A1A"/>
                </a:solidFill>
                <a:latin typeface="Arial"/>
              </a:rPr>
              <a:t>Part A — one row per sub-component: proposed stage, score, and the quotations for the parts of the criterion met and not met</a:t>
            </a:r>
          </a:p>
        </p:txBody>
      </p:sp>
      <p:sp>
        <p:nvSpPr>
          <p:cNvPr id="10" name="Rectangle 9"/>
          <p:cNvSpPr/>
          <p:nvPr/>
        </p:nvSpPr>
        <p:spPr>
          <a:xfrm>
            <a:off x="621792" y="33512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1792" y="34381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1115568" y="3392424"/>
            <a:ext cx="10527487" cy="804672"/>
          </a:xfrm>
          <a:prstGeom prst="rect">
            <a:avLst/>
          </a:prstGeom>
          <a:noFill/>
        </p:spPr>
        <p:txBody>
          <a:bodyPr wrap="square">
            <a:spAutoFit/>
          </a:bodyPr>
          <a:lstStyle/>
          <a:p>
            <a:pPr>
              <a:spcAft>
                <a:spcPts val="300"/>
              </a:spcAft>
            </a:pPr>
            <a:r>
              <a:rPr sz="1700" b="1" i="0">
                <a:solidFill>
                  <a:srgbClr val="1A1A1A"/>
                </a:solidFill>
                <a:latin typeface="Arial"/>
              </a:rPr>
              <a:t>Part B, the arithmetic — (1.5 + 1.5 + 0.5 + 1.5 + 1.5 + 1.5) ÷ 6 = 1.3, Opportunistic</a:t>
            </a:r>
          </a:p>
        </p:txBody>
      </p:sp>
      <p:sp>
        <p:nvSpPr>
          <p:cNvPr id="13" name="Rectangle 12"/>
          <p:cNvSpPr/>
          <p:nvPr/>
        </p:nvSpPr>
        <p:spPr>
          <a:xfrm>
            <a:off x="621792" y="42016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21792" y="42885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5" name="TextBox 14"/>
          <p:cNvSpPr txBox="1"/>
          <p:nvPr/>
        </p:nvSpPr>
        <p:spPr>
          <a:xfrm>
            <a:off x="1115568" y="4242816"/>
            <a:ext cx="10527487" cy="804672"/>
          </a:xfrm>
          <a:prstGeom prst="rect">
            <a:avLst/>
          </a:prstGeom>
          <a:noFill/>
        </p:spPr>
        <p:txBody>
          <a:bodyPr wrap="square">
            <a:spAutoFit/>
          </a:bodyPr>
          <a:lstStyle/>
          <a:p>
            <a:pPr>
              <a:spcAft>
                <a:spcPts val="300"/>
              </a:spcAft>
            </a:pPr>
            <a:r>
              <a:rPr sz="1700" b="1" i="0">
                <a:solidFill>
                  <a:srgbClr val="1A1A1A"/>
                </a:solidFill>
                <a:latin typeface="Arial"/>
              </a:rPr>
              <a:t>Parts C and D — the answers not used, with the reason, and any two pieces of evidence that disagree, quoted side by side</a:t>
            </a:r>
          </a:p>
        </p:txBody>
      </p:sp>
      <p:sp>
        <p:nvSpPr>
          <p:cNvPr id="16" name="Rectangle 15"/>
          <p:cNvSpPr/>
          <p:nvPr/>
        </p:nvSpPr>
        <p:spPr>
          <a:xfrm>
            <a:off x="621792" y="50520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21792" y="513892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8" name="TextBox 17"/>
          <p:cNvSpPr txBox="1"/>
          <p:nvPr/>
        </p:nvSpPr>
        <p:spPr>
          <a:xfrm>
            <a:off x="1115568" y="5093208"/>
            <a:ext cx="10527487" cy="804672"/>
          </a:xfrm>
          <a:prstGeom prst="rect">
            <a:avLst/>
          </a:prstGeom>
          <a:noFill/>
        </p:spPr>
        <p:txBody>
          <a:bodyPr wrap="square">
            <a:spAutoFit/>
          </a:bodyPr>
          <a:lstStyle/>
          <a:p>
            <a:pPr>
              <a:spcAft>
                <a:spcPts val="300"/>
              </a:spcAft>
            </a:pPr>
            <a:r>
              <a:rPr sz="1700" b="1" i="0">
                <a:solidFill>
                  <a:srgbClr val="1A1A1A"/>
                </a:solidFill>
                <a:latin typeface="Arial"/>
              </a:rPr>
              <a:t>The record of confirmation — the stage proposed and the stage confirmed for each sub-component, with the reason for any change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Score each domain on five published stages against written criteria, so that two assessors reach the same result and the whole picture fits on one table.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Propose a stage for each sub-component with the scoring prompt.</a:t>
            </a:r>
          </a:p>
          <a:p>
            <a:pPr algn="l">
              <a:spcAft>
                <a:spcPts val="400"/>
              </a:spcAft>
            </a:pPr>
            <a:r>
              <a:rPr sz="1800" b="0" i="0">
                <a:solidFill>
                  <a:srgbClr val="595959"/>
                </a:solidFill>
                <a:latin typeface="Arial"/>
              </a:rPr>
              <a:t>The prompt in the companion material gives you a proposed stage and score for every sub-component, each criterion quoted against the evidence.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Digital Development Compass: Methodology (web page)</a:t>
            </a:r>
          </a:p>
          <a:p>
            <a:pPr>
              <a:spcAft>
                <a:spcPts val="1200"/>
              </a:spcAft>
            </a:pPr>
            <a:r>
              <a:rPr sz="1700" b="0" i="0">
                <a:solidFill>
                  <a:srgbClr val="1A1A1A"/>
                </a:solidFill>
                <a:latin typeface="Arial"/>
              </a:rPr>
              <a:t>•  PAERA v1.0 — sections 3.3.1, 5.1, 5.3 and 5.4</a:t>
            </a:r>
          </a:p>
          <a:p>
            <a:pPr>
              <a:spcAft>
                <a:spcPts val="1200"/>
              </a:spcAft>
            </a:pPr>
            <a:r>
              <a:rPr sz="1700" b="0" i="0">
                <a:solidFill>
                  <a:srgbClr val="1A1A1A"/>
                </a:solidFill>
                <a:latin typeface="Arial"/>
              </a:rPr>
              <a:t>•  The criteria and the scoring rule — this course's own, in the assessment toolkit</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Score each domain: five stages and one table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Foundational blocks and the sector's own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Identity, payments and data exchange are foundations for every sector, while a learner register and its registration service belong to education and stand on them, and each must be funded as what it is.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When a ministry asks for money for a system, the first question is whose system it is.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Shared by every sector — or one sector's own?</a:t>
            </a:r>
          </a:p>
          <a:p>
            <a:pPr>
              <a:spcAft>
                <a:spcPts val="800"/>
              </a:spcAft>
            </a:pPr>
            <a:r>
              <a:rPr sz="1700" b="0" i="0">
                <a:solidFill>
                  <a:srgbClr val="595959"/>
                </a:solidFill>
                <a:latin typeface="Arial"/>
              </a:rPr>
              <a:t>Get that wrong, and the budget pays for the same thing twice.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layers</a:t>
            </a:r>
          </a:p>
        </p:txBody>
      </p:sp>
      <p:sp>
        <p:nvSpPr>
          <p:cNvPr id="4" name="Rounded Rectangle 3"/>
          <p:cNvSpPr/>
          <p:nvPr/>
        </p:nvSpPr>
        <p:spPr>
          <a:xfrm>
            <a:off x="658368" y="1508760"/>
            <a:ext cx="1088136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SECTOR APPLICATIONS</a:t>
            </a:r>
          </a:p>
          <a:p>
            <a:pPr algn="l">
              <a:spcAft>
                <a:spcPts val="300"/>
              </a:spcAft>
            </a:pPr>
            <a:r>
              <a:rPr sz="1500" b="0" i="0">
                <a:solidFill>
                  <a:srgbClr val="1A1A1A"/>
                </a:solidFill>
                <a:latin typeface="Arial"/>
              </a:rPr>
              <a:t>Digital education, digital health, and others.</a:t>
            </a:r>
          </a:p>
        </p:txBody>
      </p:sp>
      <p:sp>
        <p:nvSpPr>
          <p:cNvPr id="5" name="Rounded Rectangle 4"/>
          <p:cNvSpPr/>
          <p:nvPr/>
        </p:nvSpPr>
        <p:spPr>
          <a:xfrm>
            <a:off x="658368" y="2724911"/>
            <a:ext cx="1088136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CORE DPI</a:t>
            </a:r>
          </a:p>
          <a:p>
            <a:pPr algn="l">
              <a:spcAft>
                <a:spcPts val="300"/>
              </a:spcAft>
            </a:pPr>
            <a:r>
              <a:rPr sz="1500" b="0" i="0">
                <a:solidFill>
                  <a:srgbClr val="1A1A1A"/>
                </a:solidFill>
                <a:latin typeface="Arial"/>
              </a:rPr>
              <a:t>Digital identity, digital payments, consent-based data sharing — others emerging.</a:t>
            </a:r>
          </a:p>
        </p:txBody>
      </p:sp>
      <p:sp>
        <p:nvSpPr>
          <p:cNvPr id="6" name="Rounded Rectangle 5"/>
          <p:cNvSpPr/>
          <p:nvPr/>
        </p:nvSpPr>
        <p:spPr>
          <a:xfrm>
            <a:off x="658368" y="3941063"/>
            <a:ext cx="10881360" cy="10515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GOVERNANCE FOUNDATIONS</a:t>
            </a:r>
          </a:p>
          <a:p>
            <a:pPr algn="l">
              <a:spcAft>
                <a:spcPts val="300"/>
              </a:spcAft>
            </a:pPr>
            <a:r>
              <a:rPr sz="1500" b="0" i="0">
                <a:solidFill>
                  <a:srgbClr val="FFFFFF"/>
                </a:solidFill>
                <a:latin typeface="Arial"/>
              </a:rPr>
              <a:t>Leadership, institutions, policy, law, engagement, technical expertise.</a:t>
            </a:r>
          </a:p>
        </p:txBody>
      </p:sp>
      <p:sp>
        <p:nvSpPr>
          <p:cNvPr id="7" name="TextBox 6"/>
          <p:cNvSpPr txBox="1"/>
          <p:nvPr/>
        </p:nvSpPr>
        <p:spPr>
          <a:xfrm>
            <a:off x="658368" y="5248655"/>
            <a:ext cx="10881360" cy="548640"/>
          </a:xfrm>
          <a:prstGeom prst="rect">
            <a:avLst/>
          </a:prstGeom>
          <a:noFill/>
        </p:spPr>
        <p:txBody>
          <a:bodyPr wrap="square">
            <a:spAutoFit/>
          </a:bodyPr>
          <a:lstStyle/>
          <a:p>
            <a:r>
              <a:rPr sz="1550" b="1" i="0">
                <a:solidFill>
                  <a:srgbClr val="006E96"/>
                </a:solidFill>
                <a:latin typeface="Arial"/>
              </a:rPr>
              <a:t>Education's own systems stand on the core. They are not part of it.</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registers sit</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Basic national infrastructure</a:t>
            </a:r>
          </a:p>
          <a:p>
            <a:pPr>
              <a:spcAft>
                <a:spcPts val="300"/>
              </a:spcAft>
            </a:pPr>
            <a:r>
              <a:rPr sz="1550" b="0" i="0">
                <a:solidFill>
                  <a:srgbClr val="595959"/>
                </a:solidFill>
                <a:latin typeface="Arial"/>
              </a:rPr>
              <a:t>Digital ID, payments, legal data registries.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state registry needs two building blocks</a:t>
            </a:r>
          </a:p>
          <a:p>
            <a:pPr>
              <a:spcAft>
                <a:spcPts val="300"/>
              </a:spcAft>
            </a:pPr>
            <a:r>
              <a:rPr sz="1550" b="0" i="0">
                <a:solidFill>
                  <a:srgbClr val="595959"/>
                </a:solidFill>
                <a:latin typeface="Arial"/>
              </a:rPr>
              <a:t>Registration and Digital Registry.</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main state registries include an Education Register</a:t>
            </a:r>
          </a:p>
          <a:p>
            <a:pPr>
              <a:spcAft>
                <a:spcPts val="300"/>
              </a:spcAft>
            </a:pPr>
            <a:r>
              <a:rPr sz="1550" b="0" i="0">
                <a:solidFill>
                  <a:srgbClr val="595959"/>
                </a:solidFill>
                <a:latin typeface="Arial"/>
              </a:rPr>
              <a:t>One of the registers a country should have.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learner register is a state register — but it belongs to education, and so does the registration service that writes to it.</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Identity is foundational; a learner's identity is not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Identity block covers foundational identity: proof of identity for a wide variety of public and private services.</a:t>
            </a:r>
          </a:p>
          <a:p>
            <a:pPr>
              <a:spcAft>
                <a:spcPts val="1200"/>
              </a:spcAft>
            </a:pPr>
            <a:r>
              <a:rPr sz="2000" b="0" i="0">
                <a:solidFill>
                  <a:srgbClr val="1A1A1A"/>
                </a:solidFill>
                <a:latin typeface="Arial"/>
              </a:rPr>
              <a:t>A functional identity, for one purpose or one sector such as education, is outside its scope.</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Education does not build an identity of its own. Its services use the national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sorted into the three layers</a:t>
            </a:r>
          </a:p>
        </p:txBody>
      </p:sp>
      <p:sp>
        <p:nvSpPr>
          <p:cNvPr id="4" name="TextBox 3"/>
          <p:cNvSpPr txBox="1"/>
          <p:nvPr/>
        </p:nvSpPr>
        <p:spPr>
          <a:xfrm>
            <a:off x="658368" y="1417320"/>
            <a:ext cx="2176272" cy="384048"/>
          </a:xfrm>
          <a:prstGeom prst="rect">
            <a:avLst/>
          </a:prstGeom>
          <a:noFill/>
        </p:spPr>
        <p:txBody>
          <a:bodyPr wrap="square">
            <a:spAutoFit/>
          </a:bodyPr>
          <a:lstStyle/>
          <a:p>
            <a:r>
              <a:rPr sz="1400" b="1" i="0">
                <a:solidFill>
                  <a:srgbClr val="006E96"/>
                </a:solidFill>
                <a:latin typeface="Arial"/>
              </a:rPr>
              <a:t>Layer</a:t>
            </a:r>
          </a:p>
        </p:txBody>
      </p:sp>
      <p:sp>
        <p:nvSpPr>
          <p:cNvPr id="5" name="TextBox 4"/>
          <p:cNvSpPr txBox="1"/>
          <p:nvPr/>
        </p:nvSpPr>
        <p:spPr>
          <a:xfrm>
            <a:off x="2944368" y="1417320"/>
            <a:ext cx="5285232" cy="384048"/>
          </a:xfrm>
          <a:prstGeom prst="rect">
            <a:avLst/>
          </a:prstGeom>
          <a:noFill/>
        </p:spPr>
        <p:txBody>
          <a:bodyPr wrap="square">
            <a:spAutoFit/>
          </a:bodyPr>
          <a:lstStyle/>
          <a:p>
            <a:r>
              <a:rPr sz="1400" b="1" i="0">
                <a:solidFill>
                  <a:srgbClr val="006E96"/>
                </a:solidFill>
                <a:latin typeface="Arial"/>
              </a:rPr>
              <a:t>Progressa</a:t>
            </a:r>
          </a:p>
        </p:txBody>
      </p:sp>
      <p:sp>
        <p:nvSpPr>
          <p:cNvPr id="6" name="TextBox 5"/>
          <p:cNvSpPr txBox="1"/>
          <p:nvPr/>
        </p:nvSpPr>
        <p:spPr>
          <a:xfrm>
            <a:off x="8339328" y="1417320"/>
            <a:ext cx="3090672" cy="384048"/>
          </a:xfrm>
          <a:prstGeom prst="rect">
            <a:avLst/>
          </a:prstGeom>
          <a:noFill/>
        </p:spPr>
        <p:txBody>
          <a:bodyPr wrap="square">
            <a:spAutoFit/>
          </a:bodyPr>
          <a:lstStyle/>
          <a:p>
            <a:r>
              <a:rPr sz="1400" b="1" i="0">
                <a:solidFill>
                  <a:srgbClr val="006E96"/>
                </a:solidFill>
                <a:latin typeface="Arial"/>
              </a:rPr>
              <a:t>Funded as</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2176272" cy="1207008"/>
          </a:xfrm>
          <a:prstGeom prst="rect">
            <a:avLst/>
          </a:prstGeom>
          <a:noFill/>
        </p:spPr>
        <p:txBody>
          <a:bodyPr wrap="square">
            <a:spAutoFit/>
          </a:bodyPr>
          <a:lstStyle/>
          <a:p>
            <a:r>
              <a:rPr sz="1400" b="1" i="0">
                <a:solidFill>
                  <a:srgbClr val="1A1A1A"/>
                </a:solidFill>
                <a:latin typeface="Arial"/>
              </a:rPr>
              <a:t>Governance foundations</a:t>
            </a:r>
          </a:p>
        </p:txBody>
      </p:sp>
      <p:sp>
        <p:nvSpPr>
          <p:cNvPr id="9" name="TextBox 8"/>
          <p:cNvSpPr txBox="1"/>
          <p:nvPr/>
        </p:nvSpPr>
        <p:spPr>
          <a:xfrm>
            <a:off x="2944368" y="1911095"/>
            <a:ext cx="5285232" cy="1207008"/>
          </a:xfrm>
          <a:prstGeom prst="rect">
            <a:avLst/>
          </a:prstGeom>
          <a:noFill/>
        </p:spPr>
        <p:txBody>
          <a:bodyPr wrap="square">
            <a:spAutoFit/>
          </a:bodyPr>
          <a:lstStyle/>
          <a:p>
            <a:r>
              <a:rPr sz="1400" b="0" i="0">
                <a:solidFill>
                  <a:srgbClr val="1A1A1A"/>
                </a:solidFill>
                <a:latin typeface="Arial"/>
              </a:rPr>
              <a:t>PDGA's mandate for the national exchange; the education act; the data protection act</a:t>
            </a:r>
          </a:p>
        </p:txBody>
      </p:sp>
      <p:sp>
        <p:nvSpPr>
          <p:cNvPr id="10" name="TextBox 9"/>
          <p:cNvSpPr txBox="1"/>
          <p:nvPr/>
        </p:nvSpPr>
        <p:spPr>
          <a:xfrm>
            <a:off x="8339328" y="1911095"/>
            <a:ext cx="3090672" cy="1207008"/>
          </a:xfrm>
          <a:prstGeom prst="rect">
            <a:avLst/>
          </a:prstGeom>
          <a:noFill/>
        </p:spPr>
        <p:txBody>
          <a:bodyPr wrap="square">
            <a:spAutoFit/>
          </a:bodyPr>
          <a:lstStyle/>
          <a:p>
            <a:r>
              <a:rPr sz="1400" b="0" i="0">
                <a:solidFill>
                  <a:srgbClr val="1A1A1A"/>
                </a:solidFill>
                <a:latin typeface="Arial"/>
              </a:rPr>
              <a:t>Law and budget, decided above any one project</a:t>
            </a:r>
          </a:p>
        </p:txBody>
      </p:sp>
      <p:sp>
        <p:nvSpPr>
          <p:cNvPr id="11" name="Rectangle 10"/>
          <p:cNvSpPr/>
          <p:nvPr/>
        </p:nvSpPr>
        <p:spPr>
          <a:xfrm>
            <a:off x="658368" y="31363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3191256"/>
            <a:ext cx="2176272" cy="1207008"/>
          </a:xfrm>
          <a:prstGeom prst="rect">
            <a:avLst/>
          </a:prstGeom>
          <a:noFill/>
        </p:spPr>
        <p:txBody>
          <a:bodyPr wrap="square">
            <a:spAutoFit/>
          </a:bodyPr>
          <a:lstStyle/>
          <a:p>
            <a:r>
              <a:rPr sz="1400" b="1" i="0">
                <a:solidFill>
                  <a:srgbClr val="1A1A1A"/>
                </a:solidFill>
                <a:latin typeface="Arial"/>
              </a:rPr>
              <a:t>Core</a:t>
            </a:r>
          </a:p>
        </p:txBody>
      </p:sp>
      <p:sp>
        <p:nvSpPr>
          <p:cNvPr id="13" name="TextBox 12"/>
          <p:cNvSpPr txBox="1"/>
          <p:nvPr/>
        </p:nvSpPr>
        <p:spPr>
          <a:xfrm>
            <a:off x="2944368" y="3191256"/>
            <a:ext cx="5285232" cy="1207008"/>
          </a:xfrm>
          <a:prstGeom prst="rect">
            <a:avLst/>
          </a:prstGeom>
          <a:noFill/>
        </p:spPr>
        <p:txBody>
          <a:bodyPr wrap="square">
            <a:spAutoFit/>
          </a:bodyPr>
          <a:lstStyle/>
          <a:p>
            <a:r>
              <a:rPr sz="1400" b="0" i="0">
                <a:solidFill>
                  <a:srgbClr val="1A1A1A"/>
                </a:solidFill>
                <a:latin typeface="Arial"/>
              </a:rPr>
              <a:t>PNIA's identity and sign-in; Linkup, the data exchange; the Payments block, which reaches PayPro through its payer bank</a:t>
            </a:r>
          </a:p>
        </p:txBody>
      </p:sp>
      <p:sp>
        <p:nvSpPr>
          <p:cNvPr id="14" name="TextBox 13"/>
          <p:cNvSpPr txBox="1"/>
          <p:nvPr/>
        </p:nvSpPr>
        <p:spPr>
          <a:xfrm>
            <a:off x="8339328" y="3191256"/>
            <a:ext cx="3090672" cy="1207008"/>
          </a:xfrm>
          <a:prstGeom prst="rect">
            <a:avLst/>
          </a:prstGeom>
          <a:noFill/>
        </p:spPr>
        <p:txBody>
          <a:bodyPr wrap="square">
            <a:spAutoFit/>
          </a:bodyPr>
          <a:lstStyle/>
          <a:p>
            <a:r>
              <a:rPr sz="1400" b="0" i="0">
                <a:solidFill>
                  <a:srgbClr val="1A1A1A"/>
                </a:solidFill>
                <a:latin typeface="Arial"/>
              </a:rPr>
              <a:t>Once, for every sector</a:t>
            </a:r>
          </a:p>
        </p:txBody>
      </p:sp>
      <p:sp>
        <p:nvSpPr>
          <p:cNvPr id="15" name="Rectangle 14"/>
          <p:cNvSpPr/>
          <p:nvPr/>
        </p:nvSpPr>
        <p:spPr>
          <a:xfrm>
            <a:off x="658368" y="44165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4471416"/>
            <a:ext cx="2176272" cy="1207008"/>
          </a:xfrm>
          <a:prstGeom prst="rect">
            <a:avLst/>
          </a:prstGeom>
          <a:noFill/>
        </p:spPr>
        <p:txBody>
          <a:bodyPr wrap="square">
            <a:spAutoFit/>
          </a:bodyPr>
          <a:lstStyle/>
          <a:p>
            <a:r>
              <a:rPr sz="1400" b="1" i="0">
                <a:solidFill>
                  <a:srgbClr val="1A1A1A"/>
                </a:solidFill>
                <a:latin typeface="Arial"/>
              </a:rPr>
              <a:t>Education</a:t>
            </a:r>
          </a:p>
        </p:txBody>
      </p:sp>
      <p:sp>
        <p:nvSpPr>
          <p:cNvPr id="17" name="TextBox 16"/>
          <p:cNvSpPr txBox="1"/>
          <p:nvPr/>
        </p:nvSpPr>
        <p:spPr>
          <a:xfrm>
            <a:off x="2944368" y="4471416"/>
            <a:ext cx="5285232" cy="1207008"/>
          </a:xfrm>
          <a:prstGeom prst="rect">
            <a:avLst/>
          </a:prstGeom>
          <a:noFill/>
        </p:spPr>
        <p:txBody>
          <a:bodyPr wrap="square">
            <a:spAutoFit/>
          </a:bodyPr>
          <a:lstStyle/>
          <a:p>
            <a:r>
              <a:rPr sz="1400" b="0" i="0">
                <a:solidFill>
                  <a:srgbClr val="1A1A1A"/>
                </a:solidFill>
                <a:latin typeface="Arial"/>
              </a:rPr>
              <a:t>PLR, the learner register; the learner registration service; PEMIS</a:t>
            </a:r>
          </a:p>
        </p:txBody>
      </p:sp>
      <p:sp>
        <p:nvSpPr>
          <p:cNvPr id="18" name="TextBox 17"/>
          <p:cNvSpPr txBox="1"/>
          <p:nvPr/>
        </p:nvSpPr>
        <p:spPr>
          <a:xfrm>
            <a:off x="8339328" y="4471416"/>
            <a:ext cx="3090672" cy="1207008"/>
          </a:xfrm>
          <a:prstGeom prst="rect">
            <a:avLst/>
          </a:prstGeom>
          <a:noFill/>
        </p:spPr>
        <p:txBody>
          <a:bodyPr wrap="square">
            <a:spAutoFit/>
          </a:bodyPr>
          <a:lstStyle/>
          <a:p>
            <a:r>
              <a:rPr sz="1400" b="0" i="0">
                <a:solidFill>
                  <a:srgbClr val="1A1A1A"/>
                </a:solidFill>
                <a:latin typeface="Arial"/>
              </a:rPr>
              <a:t>By the sector, standing on the core</a:t>
            </a:r>
          </a:p>
        </p:txBody>
      </p:sp>
      <p:sp>
        <p:nvSpPr>
          <p:cNvPr id="19" name="TextBox 18"/>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a:t>
            </a:r>
          </a:p>
        </p:txBody>
      </p:sp>
      <p:sp>
        <p:nvSpPr>
          <p:cNvPr id="20" name="TextBox 1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Identity, payments and data exchange are foundations for every sector, while a learner register and its registration service belong to education and stand on them, and each must be funded as what it is.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Decide whether a proposed system is a shared block, a sector's register or a sector's application.</a:t>
            </a:r>
          </a:p>
          <a:p>
            <a:pPr algn="l">
              <a:spcAft>
                <a:spcPts val="400"/>
              </a:spcAft>
            </a:pPr>
            <a:r>
              <a:rPr sz="1800" b="0" i="0">
                <a:solidFill>
                  <a:srgbClr val="595959"/>
                </a:solidFill>
                <a:latin typeface="Arial"/>
              </a:rPr>
              <a:t>The prompt in the companion material gives you a three-question assessment with a recommended answer.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UNDP — Accelerating the SDGs through Digital Public Infrastructure: A Compendium (2023), page 4, Exhibit 2</a:t>
            </a:r>
          </a:p>
          <a:p>
            <a:pPr>
              <a:spcAft>
                <a:spcPts val="1200"/>
              </a:spcAft>
            </a:pPr>
            <a:r>
              <a:rPr sz="1700" b="0" i="0">
                <a:solidFill>
                  <a:srgbClr val="1A1A1A"/>
                </a:solidFill>
                <a:latin typeface="Arial"/>
              </a:rPr>
              <a:t>•  PAERA v1.0 — section 3.3.3, Annex 1 (A1.2.5) and Annex 3</a:t>
            </a:r>
          </a:p>
          <a:p>
            <a:pPr>
              <a:spcAft>
                <a:spcPts val="1200"/>
              </a:spcAft>
            </a:pPr>
            <a:r>
              <a:rPr sz="1700" b="0" i="0">
                <a:solidFill>
                  <a:srgbClr val="1A1A1A"/>
                </a:solidFill>
                <a:latin typeface="Arial"/>
              </a:rPr>
              <a:t>•  GovStack Identity Building Block specification, Version 2.0 (December 2025), sections 2 and 3</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Foundational blocks and the sector's own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comes first: the order of building</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Build identity and payments first, bring in data exchange and registration with the first priority services, digitalise the registers next, and show one visible result early so that support holds.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Money for digital government comes in pieces.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donor here, a budget line there. Each piece is spent on something.</a:t>
            </a:r>
          </a:p>
          <a:p>
            <a:pPr>
              <a:spcAft>
                <a:spcPts val="800"/>
              </a:spcAft>
            </a:pPr>
            <a:r>
              <a:rPr sz="1700" b="0" i="0">
                <a:solidFill>
                  <a:srgbClr val="595959"/>
                </a:solidFill>
                <a:latin typeface="Arial"/>
              </a:rPr>
              <a:t>Unless someone has fixed the order of building, the pieces arrive in an order that nobody chose.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PAERA's four phases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Inception</a:t>
            </a:r>
          </a:p>
          <a:p>
            <a:pPr>
              <a:spcAft>
                <a:spcPts val="300"/>
              </a:spcAft>
            </a:pPr>
            <a:r>
              <a:rPr sz="1550" b="0" i="0">
                <a:solidFill>
                  <a:srgbClr val="595959"/>
                </a:solidFill>
                <a:latin typeface="Arial"/>
              </a:rPr>
              <a:t>Identity, Payment, and no-code or low-code development.</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High-priority use cases</a:t>
            </a:r>
          </a:p>
          <a:p>
            <a:pPr>
              <a:spcAft>
                <a:spcPts val="300"/>
              </a:spcAft>
            </a:pPr>
            <a:r>
              <a:rPr sz="1550" b="0" i="0">
                <a:solidFill>
                  <a:srgbClr val="595959"/>
                </a:solidFill>
                <a:latin typeface="Arial"/>
              </a:rPr>
              <a:t>The Information Mediator, Registration and other infrastructural blocks, with the first services.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Initial transformation</a:t>
            </a:r>
          </a:p>
          <a:p>
            <a:pPr>
              <a:spcAft>
                <a:spcPts val="300"/>
              </a:spcAft>
            </a:pPr>
            <a:r>
              <a:rPr sz="1550" b="0" i="0">
                <a:solidFill>
                  <a:srgbClr val="595959"/>
                </a:solidFill>
                <a:latin typeface="Arial"/>
              </a:rPr>
              <a:t>All main state registries digitalised, in no more than 2 to 3 years.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Mass-scale transformation</a:t>
            </a:r>
          </a:p>
          <a:p>
            <a:pPr>
              <a:spcAft>
                <a:spcPts val="300"/>
              </a:spcAft>
            </a:pPr>
            <a:r>
              <a:rPr sz="1550" b="0" i="0">
                <a:solidFill>
                  <a:srgbClr val="595959"/>
                </a:solidFill>
                <a:latin typeface="Arial"/>
              </a:rPr>
              <a:t>Every government service.</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phase puts in place the blocks that the next one needs.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rules for the order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prerequisite is in place before a service opens to the public.</a:t>
            </a:r>
          </a:p>
          <a:p>
            <a:pPr>
              <a:spcAft>
                <a:spcPts val="1200"/>
              </a:spcAft>
            </a:pPr>
            <a:r>
              <a:rPr sz="2000" b="0" i="0">
                <a:solidFill>
                  <a:srgbClr val="1A1A1A"/>
                </a:solidFill>
                <a:latin typeface="Arial"/>
              </a:rPr>
              <a:t>Citizens and businesses see a positive result in every phase.</a:t>
            </a:r>
          </a:p>
        </p:txBody>
      </p:sp>
      <p:sp>
        <p:nvSpPr>
          <p:cNvPr id="5" name="Rounded Rectangle 4"/>
          <p:cNvSpPr/>
          <p:nvPr/>
        </p:nvSpPr>
        <p:spPr>
          <a:xfrm>
            <a:off x="658368" y="3977639"/>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FFFFFF"/>
                </a:solidFill>
                <a:latin typeface="Arial"/>
              </a:rPr>
              <a:t>PAERA 3.3.3: target the foundational elements — and show early results.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Estonia's shared blocks became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2000</a:t>
            </a:r>
          </a:p>
          <a:p>
            <a:pPr>
              <a:spcAft>
                <a:spcPts val="300"/>
              </a:spcAft>
            </a:pPr>
            <a:r>
              <a:rPr sz="1550" b="0" i="0">
                <a:solidFill>
                  <a:srgbClr val="595959"/>
                </a:solidFill>
                <a:latin typeface="Arial"/>
              </a:rPr>
              <a:t>The tax board's e-services.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2001</a:t>
            </a:r>
          </a:p>
          <a:p>
            <a:pPr>
              <a:spcAft>
                <a:spcPts val="300"/>
              </a:spcAft>
            </a:pPr>
            <a:r>
              <a:rPr sz="1550" b="0" i="0">
                <a:solidFill>
                  <a:srgbClr val="595959"/>
                </a:solidFill>
                <a:latin typeface="Arial"/>
              </a:rPr>
              <a:t>X-Road, the data exchange layer.</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2002</a:t>
            </a:r>
          </a:p>
          <a:p>
            <a:pPr>
              <a:spcAft>
                <a:spcPts val="300"/>
              </a:spcAft>
            </a:pPr>
            <a:r>
              <a:rPr sz="1550" b="0" i="0">
                <a:solidFill>
                  <a:srgbClr val="595959"/>
                </a:solidFill>
                <a:latin typeface="Arial"/>
              </a:rPr>
              <a:t>The electronic identity and the digital signature.</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first services came before the shared blocks; once the blocks existed, they became part of the foundation.</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order of building</a:t>
            </a:r>
          </a:p>
        </p:txBody>
      </p:sp>
      <p:sp>
        <p:nvSpPr>
          <p:cNvPr id="4" name="TextBox 3"/>
          <p:cNvSpPr txBox="1"/>
          <p:nvPr/>
        </p:nvSpPr>
        <p:spPr>
          <a:xfrm>
            <a:off x="658368" y="1417320"/>
            <a:ext cx="1078992" cy="384048"/>
          </a:xfrm>
          <a:prstGeom prst="rect">
            <a:avLst/>
          </a:prstGeom>
          <a:noFill/>
        </p:spPr>
        <p:txBody>
          <a:bodyPr wrap="square">
            <a:spAutoFit/>
          </a:bodyPr>
          <a:lstStyle/>
          <a:p>
            <a:r>
              <a:rPr sz="1400" b="1" i="0">
                <a:solidFill>
                  <a:srgbClr val="006E96"/>
                </a:solidFill>
                <a:latin typeface="Arial"/>
              </a:rPr>
              <a:t>Phase</a:t>
            </a:r>
          </a:p>
        </p:txBody>
      </p:sp>
      <p:sp>
        <p:nvSpPr>
          <p:cNvPr id="5" name="TextBox 4"/>
          <p:cNvSpPr txBox="1"/>
          <p:nvPr/>
        </p:nvSpPr>
        <p:spPr>
          <a:xfrm>
            <a:off x="1847088" y="1417320"/>
            <a:ext cx="5925312" cy="384048"/>
          </a:xfrm>
          <a:prstGeom prst="rect">
            <a:avLst/>
          </a:prstGeom>
          <a:noFill/>
        </p:spPr>
        <p:txBody>
          <a:bodyPr wrap="square">
            <a:spAutoFit/>
          </a:bodyPr>
          <a:lstStyle/>
          <a:p>
            <a:r>
              <a:rPr sz="1400" b="1" i="0">
                <a:solidFill>
                  <a:srgbClr val="006E96"/>
                </a:solidFill>
                <a:latin typeface="Arial"/>
              </a:rPr>
              <a:t>What it brings</a:t>
            </a:r>
          </a:p>
        </p:txBody>
      </p:sp>
      <p:sp>
        <p:nvSpPr>
          <p:cNvPr id="6" name="TextBox 5"/>
          <p:cNvSpPr txBox="1"/>
          <p:nvPr/>
        </p:nvSpPr>
        <p:spPr>
          <a:xfrm>
            <a:off x="7882127" y="1417320"/>
            <a:ext cx="3547872" cy="384048"/>
          </a:xfrm>
          <a:prstGeom prst="rect">
            <a:avLst/>
          </a:prstGeom>
          <a:noFill/>
        </p:spPr>
        <p:txBody>
          <a:bodyPr wrap="square">
            <a:spAutoFit/>
          </a:bodyPr>
          <a:lstStyle/>
          <a:p>
            <a:r>
              <a:rPr sz="1400" b="1" i="0">
                <a:solidFill>
                  <a:srgbClr val="006E96"/>
                </a:solidFill>
                <a:latin typeface="Arial"/>
              </a:rPr>
              <a:t>The result people see</a:t>
            </a:r>
          </a:p>
        </p:txBody>
      </p:sp>
      <p:sp>
        <p:nvSpPr>
          <p:cNvPr id="7" name="Rectangle 6"/>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11095"/>
            <a:ext cx="1078992" cy="886968"/>
          </a:xfrm>
          <a:prstGeom prst="rect">
            <a:avLst/>
          </a:prstGeom>
          <a:noFill/>
        </p:spPr>
        <p:txBody>
          <a:bodyPr wrap="square">
            <a:spAutoFit/>
          </a:bodyPr>
          <a:lstStyle/>
          <a:p>
            <a:r>
              <a:rPr sz="1400" b="1" i="0">
                <a:solidFill>
                  <a:srgbClr val="1A1A1A"/>
                </a:solidFill>
                <a:latin typeface="Arial"/>
              </a:rPr>
              <a:t>1</a:t>
            </a:r>
          </a:p>
        </p:txBody>
      </p:sp>
      <p:sp>
        <p:nvSpPr>
          <p:cNvPr id="9" name="TextBox 8"/>
          <p:cNvSpPr txBox="1"/>
          <p:nvPr/>
        </p:nvSpPr>
        <p:spPr>
          <a:xfrm>
            <a:off x="1847088" y="1911095"/>
            <a:ext cx="5925312" cy="886968"/>
          </a:xfrm>
          <a:prstGeom prst="rect">
            <a:avLst/>
          </a:prstGeom>
          <a:noFill/>
        </p:spPr>
        <p:txBody>
          <a:bodyPr wrap="square">
            <a:spAutoFit/>
          </a:bodyPr>
          <a:lstStyle/>
          <a:p>
            <a:r>
              <a:rPr sz="1400" b="0" i="0">
                <a:solidFill>
                  <a:srgbClr val="1A1A1A"/>
                </a:solidFill>
                <a:latin typeface="Arial"/>
              </a:rPr>
              <a:t>Identity (PNIA) and a payment system (PayPro) already run: connect to them; set up the decision body and the legal basis</a:t>
            </a:r>
          </a:p>
        </p:txBody>
      </p:sp>
      <p:sp>
        <p:nvSpPr>
          <p:cNvPr id="10" name="TextBox 9"/>
          <p:cNvSpPr txBox="1"/>
          <p:nvPr/>
        </p:nvSpPr>
        <p:spPr>
          <a:xfrm>
            <a:off x="7882127" y="1911095"/>
            <a:ext cx="3547872" cy="886968"/>
          </a:xfrm>
          <a:prstGeom prst="rect">
            <a:avLst/>
          </a:prstGeom>
          <a:noFill/>
        </p:spPr>
        <p:txBody>
          <a:bodyPr wrap="square">
            <a:spAutoFit/>
          </a:bodyPr>
          <a:lstStyle/>
          <a:p>
            <a:r>
              <a:rPr sz="1400" b="0" i="0">
                <a:solidFill>
                  <a:srgbClr val="1A1A1A"/>
                </a:solidFill>
                <a:latin typeface="Arial"/>
              </a:rPr>
              <a:t>Online sign-in and fast payment, already offered to the public</a:t>
            </a:r>
          </a:p>
        </p:txBody>
      </p:sp>
      <p:sp>
        <p:nvSpPr>
          <p:cNvPr id="11" name="Rectangle 10"/>
          <p:cNvSpPr/>
          <p:nvPr/>
        </p:nvSpPr>
        <p:spPr>
          <a:xfrm>
            <a:off x="658368" y="281635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871215"/>
            <a:ext cx="1078992" cy="886968"/>
          </a:xfrm>
          <a:prstGeom prst="rect">
            <a:avLst/>
          </a:prstGeom>
          <a:noFill/>
        </p:spPr>
        <p:txBody>
          <a:bodyPr wrap="square">
            <a:spAutoFit/>
          </a:bodyPr>
          <a:lstStyle/>
          <a:p>
            <a:r>
              <a:rPr sz="1400" b="1" i="0">
                <a:solidFill>
                  <a:srgbClr val="1A1A1A"/>
                </a:solidFill>
                <a:latin typeface="Arial"/>
              </a:rPr>
              <a:t>2</a:t>
            </a:r>
          </a:p>
        </p:txBody>
      </p:sp>
      <p:sp>
        <p:nvSpPr>
          <p:cNvPr id="13" name="TextBox 12"/>
          <p:cNvSpPr txBox="1"/>
          <p:nvPr/>
        </p:nvSpPr>
        <p:spPr>
          <a:xfrm>
            <a:off x="1847088" y="2871215"/>
            <a:ext cx="5925312" cy="886968"/>
          </a:xfrm>
          <a:prstGeom prst="rect">
            <a:avLst/>
          </a:prstGeom>
          <a:noFill/>
        </p:spPr>
        <p:txBody>
          <a:bodyPr wrap="square">
            <a:spAutoFit/>
          </a:bodyPr>
          <a:lstStyle/>
          <a:p>
            <a:r>
              <a:rPr sz="1400" b="0" i="0">
                <a:solidFill>
                  <a:srgbClr val="1A1A1A"/>
                </a:solidFill>
                <a:latin typeface="Arial"/>
              </a:rPr>
              <a:t>The ministry on Linkup; the registration service; the learner register, brought forward; the Payments block on Linkup</a:t>
            </a:r>
          </a:p>
        </p:txBody>
      </p:sp>
      <p:sp>
        <p:nvSpPr>
          <p:cNvPr id="14" name="TextBox 13"/>
          <p:cNvSpPr txBox="1"/>
          <p:nvPr/>
        </p:nvSpPr>
        <p:spPr>
          <a:xfrm>
            <a:off x="7882127" y="2871215"/>
            <a:ext cx="3547872" cy="886968"/>
          </a:xfrm>
          <a:prstGeom prst="rect">
            <a:avLst/>
          </a:prstGeom>
          <a:noFill/>
        </p:spPr>
        <p:txBody>
          <a:bodyPr wrap="square">
            <a:spAutoFit/>
          </a:bodyPr>
          <a:lstStyle/>
          <a:p>
            <a:r>
              <a:rPr sz="1400" b="0" i="0">
                <a:solidFill>
                  <a:srgbClr val="1A1A1A"/>
                </a:solidFill>
                <a:latin typeface="Arial"/>
              </a:rPr>
              <a:t>A parent registers a child once</a:t>
            </a:r>
          </a:p>
        </p:txBody>
      </p:sp>
      <p:sp>
        <p:nvSpPr>
          <p:cNvPr id="15" name="Rectangle 14"/>
          <p:cNvSpPr/>
          <p:nvPr/>
        </p:nvSpPr>
        <p:spPr>
          <a:xfrm>
            <a:off x="658368"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831336"/>
            <a:ext cx="1078992" cy="886968"/>
          </a:xfrm>
          <a:prstGeom prst="rect">
            <a:avLst/>
          </a:prstGeom>
          <a:noFill/>
        </p:spPr>
        <p:txBody>
          <a:bodyPr wrap="square">
            <a:spAutoFit/>
          </a:bodyPr>
          <a:lstStyle/>
          <a:p>
            <a:r>
              <a:rPr sz="1400" b="1" i="0">
                <a:solidFill>
                  <a:srgbClr val="1A1A1A"/>
                </a:solidFill>
                <a:latin typeface="Arial"/>
              </a:rPr>
              <a:t>3</a:t>
            </a:r>
          </a:p>
        </p:txBody>
      </p:sp>
      <p:sp>
        <p:nvSpPr>
          <p:cNvPr id="17" name="TextBox 16"/>
          <p:cNvSpPr txBox="1"/>
          <p:nvPr/>
        </p:nvSpPr>
        <p:spPr>
          <a:xfrm>
            <a:off x="1847088" y="3831336"/>
            <a:ext cx="5925312" cy="886968"/>
          </a:xfrm>
          <a:prstGeom prst="rect">
            <a:avLst/>
          </a:prstGeom>
          <a:noFill/>
        </p:spPr>
        <p:txBody>
          <a:bodyPr wrap="square">
            <a:spAutoFit/>
          </a:bodyPr>
          <a:lstStyle/>
          <a:p>
            <a:r>
              <a:rPr sz="1400" b="0" i="0">
                <a:solidFill>
                  <a:srgbClr val="1A1A1A"/>
                </a:solidFill>
                <a:latin typeface="Arial"/>
              </a:rPr>
              <a:t>The learner register and registration in every district</a:t>
            </a:r>
          </a:p>
        </p:txBody>
      </p:sp>
      <p:sp>
        <p:nvSpPr>
          <p:cNvPr id="18" name="TextBox 17"/>
          <p:cNvSpPr txBox="1"/>
          <p:nvPr/>
        </p:nvSpPr>
        <p:spPr>
          <a:xfrm>
            <a:off x="7882127" y="3831336"/>
            <a:ext cx="3547872" cy="886968"/>
          </a:xfrm>
          <a:prstGeom prst="rect">
            <a:avLst/>
          </a:prstGeom>
          <a:noFill/>
        </p:spPr>
        <p:txBody>
          <a:bodyPr wrap="square">
            <a:spAutoFit/>
          </a:bodyPr>
          <a:lstStyle/>
          <a:p>
            <a:r>
              <a:rPr sz="1400" b="0" i="0">
                <a:solidFill>
                  <a:srgbClr val="1A1A1A"/>
                </a:solidFill>
                <a:latin typeface="Arial"/>
              </a:rPr>
              <a:t>Every district registers learners the same way</a:t>
            </a:r>
          </a:p>
        </p:txBody>
      </p:sp>
      <p:sp>
        <p:nvSpPr>
          <p:cNvPr id="19" name="Rectangle 18"/>
          <p:cNvSpPr/>
          <p:nvPr/>
        </p:nvSpPr>
        <p:spPr>
          <a:xfrm>
            <a:off x="658368" y="47365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791456"/>
            <a:ext cx="1078992" cy="886968"/>
          </a:xfrm>
          <a:prstGeom prst="rect">
            <a:avLst/>
          </a:prstGeom>
          <a:noFill/>
        </p:spPr>
        <p:txBody>
          <a:bodyPr wrap="square">
            <a:spAutoFit/>
          </a:bodyPr>
          <a:lstStyle/>
          <a:p>
            <a:r>
              <a:rPr sz="1400" b="1" i="0">
                <a:solidFill>
                  <a:srgbClr val="1A1A1A"/>
                </a:solidFill>
                <a:latin typeface="Arial"/>
              </a:rPr>
              <a:t>4</a:t>
            </a:r>
          </a:p>
        </p:txBody>
      </p:sp>
      <p:sp>
        <p:nvSpPr>
          <p:cNvPr id="21" name="TextBox 20"/>
          <p:cNvSpPr txBox="1"/>
          <p:nvPr/>
        </p:nvSpPr>
        <p:spPr>
          <a:xfrm>
            <a:off x="1847088" y="4791456"/>
            <a:ext cx="5925312" cy="886968"/>
          </a:xfrm>
          <a:prstGeom prst="rect">
            <a:avLst/>
          </a:prstGeom>
          <a:noFill/>
        </p:spPr>
        <p:txBody>
          <a:bodyPr wrap="square">
            <a:spAutoFit/>
          </a:bodyPr>
          <a:lstStyle/>
          <a:p>
            <a:r>
              <a:rPr sz="1400" b="0" i="0">
                <a:solidFill>
                  <a:srgbClr val="1A1A1A"/>
                </a:solidFill>
                <a:latin typeface="Arial"/>
              </a:rPr>
              <a:t>Every education service on the same blocks</a:t>
            </a:r>
          </a:p>
        </p:txBody>
      </p:sp>
      <p:sp>
        <p:nvSpPr>
          <p:cNvPr id="22" name="TextBox 21"/>
          <p:cNvSpPr txBox="1"/>
          <p:nvPr/>
        </p:nvSpPr>
        <p:spPr>
          <a:xfrm>
            <a:off x="7882127" y="4791456"/>
            <a:ext cx="3547872" cy="886968"/>
          </a:xfrm>
          <a:prstGeom prst="rect">
            <a:avLst/>
          </a:prstGeom>
          <a:noFill/>
        </p:spPr>
        <p:txBody>
          <a:bodyPr wrap="square">
            <a:spAutoFit/>
          </a:bodyPr>
          <a:lstStyle/>
          <a:p>
            <a:r>
              <a:rPr sz="1400" b="0" i="0">
                <a:solidFill>
                  <a:srgbClr val="1A1A1A"/>
                </a:solidFill>
                <a:latin typeface="Arial"/>
              </a:rPr>
              <a:t>Parents and learners see their own records</a:t>
            </a:r>
          </a:p>
        </p:txBody>
      </p:sp>
      <p:sp>
        <p:nvSpPr>
          <p:cNvPr id="23" name="TextBox 22"/>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Illustrative.</a:t>
            </a:r>
          </a:p>
        </p:txBody>
      </p:sp>
      <p:sp>
        <p:nvSpPr>
          <p:cNvPr id="24" name="TextBox 2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Build identity and payments first, bring in data exchange and registration with the first priority services, digitalise the registers next, and show one visible result early so that support holds.</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Order your planned services and blocks by what each depends on.</a:t>
            </a:r>
          </a:p>
          <a:p>
            <a:pPr algn="l">
              <a:spcAft>
                <a:spcPts val="400"/>
              </a:spcAft>
            </a:pPr>
            <a:r>
              <a:rPr sz="1800" b="0" i="0">
                <a:solidFill>
                  <a:srgbClr val="595959"/>
                </a:solidFill>
                <a:latin typeface="Arial"/>
              </a:rPr>
              <a:t>The prompt in the companion material gives you the order the dependencies allow, in four phases, with every service placed before a block it needs marked.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3.3.3 and 5.7.1 to 5.7.5</a:t>
            </a:r>
          </a:p>
          <a:p>
            <a:pPr>
              <a:spcAft>
                <a:spcPts val="1200"/>
              </a:spcAft>
            </a:pPr>
            <a:r>
              <a:rPr sz="1700" b="0" i="0">
                <a:solidFill>
                  <a:srgbClr val="1A1A1A"/>
                </a:solidFill>
                <a:latin typeface="Arial"/>
              </a:rPr>
              <a:t>•  e-Estonia — 'e-Estonia story' and 'Frequently asked questions — Story of e-Estonia'</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1.9 · What comes first: the order of building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first proof for education: one service on four blocks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first proof for education is one service that registers a learner once: the sector's own registration service and learner register, using the country's identity and payment blocks through the data exchange layer.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roadmap that promises everything proves nothing for years.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Pick one service that shows the shared blocks serving real people, and prove it first.</a:t>
            </a:r>
          </a:p>
          <a:p>
            <a:pPr>
              <a:spcAft>
                <a:spcPts val="800"/>
              </a:spcAft>
            </a:pPr>
            <a:r>
              <a:rPr sz="1700" b="0" i="0">
                <a:solidFill>
                  <a:srgbClr val="595959"/>
                </a:solidFill>
                <a:latin typeface="Arial"/>
              </a:rPr>
              <a:t>For education, that service is registering a learner once.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one priority service</a:t>
            </a:r>
          </a:p>
        </p:txBody>
      </p:sp>
      <p:sp>
        <p:nvSpPr>
          <p:cNvPr id="4" name="TextBox 3"/>
          <p:cNvSpPr txBox="1"/>
          <p:nvPr/>
        </p:nvSpPr>
        <p:spPr>
          <a:xfrm>
            <a:off x="658368" y="1463040"/>
            <a:ext cx="10984687" cy="1645919"/>
          </a:xfrm>
          <a:prstGeom prst="rect">
            <a:avLst/>
          </a:prstGeom>
          <a:noFill/>
        </p:spPr>
        <p:txBody>
          <a:bodyPr wrap="square">
            <a:spAutoFit/>
          </a:bodyPr>
          <a:lstStyle/>
          <a:p>
            <a:pPr>
              <a:spcAft>
                <a:spcPts val="300"/>
              </a:spcAft>
            </a:pPr>
            <a:r>
              <a:rPr sz="1900" b="1" i="0">
                <a:solidFill>
                  <a:srgbClr val="1A1A1A"/>
                </a:solidFill>
                <a:latin typeface="Arial"/>
              </a:rPr>
              <a:t>PAERA 5.7.3</a:t>
            </a:r>
          </a:p>
          <a:p>
            <a:pPr>
              <a:spcAft>
                <a:spcPts val="300"/>
              </a:spcAft>
            </a:pPr>
            <a:r>
              <a:rPr sz="1550" b="0" i="0">
                <a:solidFill>
                  <a:srgbClr val="595959"/>
                </a:solidFill>
                <a:latin typeface="Arial"/>
              </a:rPr>
              <a:t>High-priority services, prototyped quickly and rolled out in a few months.</a:t>
            </a:r>
          </a:p>
        </p:txBody>
      </p:sp>
      <p:sp>
        <p:nvSpPr>
          <p:cNvPr id="5" name="Rectangle 4"/>
          <p:cNvSpPr/>
          <p:nvPr/>
        </p:nvSpPr>
        <p:spPr>
          <a:xfrm>
            <a:off x="621792" y="31135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154680"/>
            <a:ext cx="10984687" cy="1645919"/>
          </a:xfrm>
          <a:prstGeom prst="rect">
            <a:avLst/>
          </a:prstGeom>
          <a:noFill/>
        </p:spPr>
        <p:txBody>
          <a:bodyPr wrap="square">
            <a:spAutoFit/>
          </a:bodyPr>
          <a:lstStyle/>
          <a:p>
            <a:pPr>
              <a:spcAft>
                <a:spcPts val="300"/>
              </a:spcAft>
            </a:pPr>
            <a:r>
              <a:rPr sz="1900" b="1" i="0">
                <a:solidFill>
                  <a:srgbClr val="1A1A1A"/>
                </a:solidFill>
                <a:latin typeface="Arial"/>
              </a:rPr>
              <a:t>PAERA Annex 1</a:t>
            </a:r>
          </a:p>
          <a:p>
            <a:pPr>
              <a:spcAft>
                <a:spcPts val="300"/>
              </a:spcAft>
            </a:pPr>
            <a:r>
              <a:rPr sz="1550" b="0" i="0">
                <a:solidFill>
                  <a:srgbClr val="595959"/>
                </a:solidFill>
                <a:latin typeface="Arial"/>
              </a:rPr>
              <a:t>A state registry needs two building blocks, Registration and Digital Registry.</a:t>
            </a:r>
          </a:p>
        </p:txBody>
      </p:sp>
      <p:sp>
        <p:nvSpPr>
          <p:cNvPr id="7" name="TextBox 6"/>
          <p:cNvSpPr txBox="1"/>
          <p:nvPr/>
        </p:nvSpPr>
        <p:spPr>
          <a:xfrm>
            <a:off x="658368" y="4956048"/>
            <a:ext cx="10881360" cy="548640"/>
          </a:xfrm>
          <a:prstGeom prst="rect">
            <a:avLst/>
          </a:prstGeom>
          <a:noFill/>
        </p:spPr>
        <p:txBody>
          <a:bodyPr wrap="square">
            <a:spAutoFit/>
          </a:bodyPr>
          <a:lstStyle/>
          <a:p>
            <a:r>
              <a:rPr sz="1550" b="1" i="0">
                <a:solidFill>
                  <a:srgbClr val="006E96"/>
                </a:solidFill>
                <a:latin typeface="Arial"/>
              </a:rPr>
              <a:t>One registers the learner; the other keeps the record.</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service, four blocks, on the data exchange layer</a:t>
            </a:r>
          </a:p>
        </p:txBody>
      </p:sp>
      <p:sp>
        <p:nvSpPr>
          <p:cNvPr id="4" name="Rounded Rectangle 3"/>
          <p:cNvSpPr/>
          <p:nvPr/>
        </p:nvSpPr>
        <p:spPr>
          <a:xfrm>
            <a:off x="658368" y="1371600"/>
            <a:ext cx="10881360" cy="8686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LEARNER REGISTRATION SERVICE</a:t>
            </a:r>
          </a:p>
          <a:p>
            <a:pPr algn="l">
              <a:spcAft>
                <a:spcPts val="300"/>
              </a:spcAft>
            </a:pPr>
            <a:r>
              <a:rPr sz="1400" b="0" i="0">
                <a:solidFill>
                  <a:srgbClr val="1A1A1A"/>
                </a:solidFill>
                <a:latin typeface="Arial"/>
              </a:rPr>
              <a:t>The first proof: a learner registered once.</a:t>
            </a:r>
          </a:p>
        </p:txBody>
      </p:sp>
      <p:sp>
        <p:nvSpPr>
          <p:cNvPr id="5" name="Rounded Rectangle 4"/>
          <p:cNvSpPr/>
          <p:nvPr/>
        </p:nvSpPr>
        <p:spPr>
          <a:xfrm>
            <a:off x="658368" y="242316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REGISTRATION</a:t>
            </a:r>
          </a:p>
          <a:p>
            <a:pPr algn="l">
              <a:spcAft>
                <a:spcPts val="300"/>
              </a:spcAft>
            </a:pPr>
            <a:r>
              <a:rPr sz="1400" b="0" i="0">
                <a:solidFill>
                  <a:srgbClr val="1A1A1A"/>
                </a:solidFill>
                <a:latin typeface="Arial"/>
              </a:rPr>
              <a:t>Education's own — the sector builds it.</a:t>
            </a:r>
          </a:p>
        </p:txBody>
      </p:sp>
      <p:sp>
        <p:nvSpPr>
          <p:cNvPr id="6" name="Rounded Rectangle 5"/>
          <p:cNvSpPr/>
          <p:nvPr/>
        </p:nvSpPr>
        <p:spPr>
          <a:xfrm>
            <a:off x="6236207" y="242316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LEARNER REGISTER</a:t>
            </a:r>
          </a:p>
          <a:p>
            <a:pPr algn="l">
              <a:spcAft>
                <a:spcPts val="300"/>
              </a:spcAft>
            </a:pPr>
            <a:r>
              <a:rPr sz="1400" b="0" i="0">
                <a:solidFill>
                  <a:srgbClr val="1A1A1A"/>
                </a:solidFill>
                <a:latin typeface="Arial"/>
              </a:rPr>
              <a:t>Education's own — the sector builds it.</a:t>
            </a:r>
          </a:p>
        </p:txBody>
      </p:sp>
      <p:sp>
        <p:nvSpPr>
          <p:cNvPr id="7" name="Rounded Rectangle 6"/>
          <p:cNvSpPr/>
          <p:nvPr/>
        </p:nvSpPr>
        <p:spPr>
          <a:xfrm>
            <a:off x="658368" y="361188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IDENTITY</a:t>
            </a:r>
          </a:p>
          <a:p>
            <a:pPr algn="l">
              <a:spcAft>
                <a:spcPts val="300"/>
              </a:spcAft>
            </a:pPr>
            <a:r>
              <a:rPr sz="1400" b="0" i="0">
                <a:solidFill>
                  <a:srgbClr val="1A1A1A"/>
                </a:solidFill>
                <a:latin typeface="Arial"/>
              </a:rPr>
              <a:t>The country's — used as it is.</a:t>
            </a:r>
          </a:p>
        </p:txBody>
      </p:sp>
      <p:sp>
        <p:nvSpPr>
          <p:cNvPr id="8" name="Rounded Rectangle 7"/>
          <p:cNvSpPr/>
          <p:nvPr/>
        </p:nvSpPr>
        <p:spPr>
          <a:xfrm>
            <a:off x="6236207" y="3611880"/>
            <a:ext cx="5303520" cy="10058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PAYMENTS</a:t>
            </a:r>
          </a:p>
          <a:p>
            <a:pPr algn="l">
              <a:spcAft>
                <a:spcPts val="300"/>
              </a:spcAft>
            </a:pPr>
            <a:r>
              <a:rPr sz="1400" b="0" i="0">
                <a:solidFill>
                  <a:srgbClr val="1A1A1A"/>
                </a:solidFill>
                <a:latin typeface="Arial"/>
              </a:rPr>
              <a:t>The country's — set up beside the service.</a:t>
            </a:r>
          </a:p>
        </p:txBody>
      </p:sp>
      <p:sp>
        <p:nvSpPr>
          <p:cNvPr id="9" name="Rounded Rectangle 8"/>
          <p:cNvSpPr/>
          <p:nvPr/>
        </p:nvSpPr>
        <p:spPr>
          <a:xfrm>
            <a:off x="658368" y="4800600"/>
            <a:ext cx="10881360" cy="868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DATA EXCHANGE LAYER</a:t>
            </a:r>
          </a:p>
          <a:p>
            <a:pPr algn="l">
              <a:spcAft>
                <a:spcPts val="300"/>
              </a:spcAft>
            </a:pPr>
            <a:r>
              <a:rPr sz="1400" b="0" i="0">
                <a:solidFill>
                  <a:srgbClr val="FFFFFF"/>
                </a:solidFill>
                <a:latin typeface="Arial"/>
              </a:rPr>
              <a:t>Joins the four blocks to the service.</a:t>
            </a:r>
          </a:p>
        </p:txBody>
      </p:sp>
      <p:sp>
        <p:nvSpPr>
          <p:cNvPr id="10" name="TextBox 9"/>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The written guide carries figure F6 for this picture.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shortlist</a:t>
            </a:r>
          </a:p>
        </p:txBody>
      </p:sp>
      <p:sp>
        <p:nvSpPr>
          <p:cNvPr id="4" name="TextBox 3"/>
          <p:cNvSpPr txBox="1"/>
          <p:nvPr/>
        </p:nvSpPr>
        <p:spPr>
          <a:xfrm>
            <a:off x="658368" y="1417320"/>
            <a:ext cx="1627631" cy="384048"/>
          </a:xfrm>
          <a:prstGeom prst="rect">
            <a:avLst/>
          </a:prstGeom>
          <a:noFill/>
        </p:spPr>
        <p:txBody>
          <a:bodyPr wrap="square">
            <a:spAutoFit/>
          </a:bodyPr>
          <a:lstStyle/>
          <a:p>
            <a:r>
              <a:rPr sz="1200" b="1" i="0">
                <a:solidFill>
                  <a:srgbClr val="006E96"/>
                </a:solidFill>
                <a:latin typeface="Arial"/>
              </a:rPr>
              <a:t>Block</a:t>
            </a:r>
          </a:p>
        </p:txBody>
      </p:sp>
      <p:sp>
        <p:nvSpPr>
          <p:cNvPr id="5" name="TextBox 4"/>
          <p:cNvSpPr txBox="1"/>
          <p:nvPr/>
        </p:nvSpPr>
        <p:spPr>
          <a:xfrm>
            <a:off x="2395728" y="1417320"/>
            <a:ext cx="2724912" cy="384048"/>
          </a:xfrm>
          <a:prstGeom prst="rect">
            <a:avLst/>
          </a:prstGeom>
          <a:noFill/>
        </p:spPr>
        <p:txBody>
          <a:bodyPr wrap="square">
            <a:spAutoFit/>
          </a:bodyPr>
          <a:lstStyle/>
          <a:p>
            <a:r>
              <a:rPr sz="1200" b="1" i="0">
                <a:solidFill>
                  <a:srgbClr val="006E96"/>
                </a:solidFill>
                <a:latin typeface="Arial"/>
              </a:rPr>
              <a:t>Owner</a:t>
            </a:r>
          </a:p>
        </p:txBody>
      </p:sp>
      <p:sp>
        <p:nvSpPr>
          <p:cNvPr id="6" name="TextBox 5"/>
          <p:cNvSpPr txBox="1"/>
          <p:nvPr/>
        </p:nvSpPr>
        <p:spPr>
          <a:xfrm>
            <a:off x="5230368" y="1417320"/>
            <a:ext cx="2816352" cy="384048"/>
          </a:xfrm>
          <a:prstGeom prst="rect">
            <a:avLst/>
          </a:prstGeom>
          <a:noFill/>
        </p:spPr>
        <p:txBody>
          <a:bodyPr wrap="square">
            <a:spAutoFit/>
          </a:bodyPr>
          <a:lstStyle/>
          <a:p>
            <a:r>
              <a:rPr sz="1200" b="1" i="0">
                <a:solidFill>
                  <a:srgbClr val="006E96"/>
                </a:solidFill>
                <a:latin typeface="Arial"/>
              </a:rPr>
              <a:t>Specification and edition</a:t>
            </a:r>
          </a:p>
        </p:txBody>
      </p:sp>
      <p:sp>
        <p:nvSpPr>
          <p:cNvPr id="7" name="TextBox 6"/>
          <p:cNvSpPr txBox="1"/>
          <p:nvPr/>
        </p:nvSpPr>
        <p:spPr>
          <a:xfrm>
            <a:off x="8156448" y="1417320"/>
            <a:ext cx="3273552" cy="384048"/>
          </a:xfrm>
          <a:prstGeom prst="rect">
            <a:avLst/>
          </a:prstGeom>
          <a:noFill/>
        </p:spPr>
        <p:txBody>
          <a:bodyPr wrap="square">
            <a:spAutoFit/>
          </a:bodyPr>
          <a:lstStyle/>
          <a:p>
            <a:r>
              <a:rPr sz="1200" b="1" i="0">
                <a:solidFill>
                  <a:srgbClr val="006E96"/>
                </a:solidFill>
                <a:latin typeface="Arial"/>
              </a:rPr>
              <a:t>Reused or built</a:t>
            </a:r>
          </a:p>
        </p:txBody>
      </p:sp>
      <p:sp>
        <p:nvSpPr>
          <p:cNvPr id="8" name="Rectangle 7"/>
          <p:cNvSpPr/>
          <p:nvPr/>
        </p:nvSpPr>
        <p:spPr>
          <a:xfrm>
            <a:off x="658368" y="1801368"/>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911095"/>
            <a:ext cx="1627631" cy="694944"/>
          </a:xfrm>
          <a:prstGeom prst="rect">
            <a:avLst/>
          </a:prstGeom>
          <a:noFill/>
        </p:spPr>
        <p:txBody>
          <a:bodyPr wrap="square">
            <a:spAutoFit/>
          </a:bodyPr>
          <a:lstStyle/>
          <a:p>
            <a:r>
              <a:rPr sz="1200" b="1" i="0">
                <a:solidFill>
                  <a:srgbClr val="1A1A1A"/>
                </a:solidFill>
                <a:latin typeface="Arial"/>
              </a:rPr>
              <a:t>Registration</a:t>
            </a:r>
          </a:p>
        </p:txBody>
      </p:sp>
      <p:sp>
        <p:nvSpPr>
          <p:cNvPr id="10" name="TextBox 9"/>
          <p:cNvSpPr txBox="1"/>
          <p:nvPr/>
        </p:nvSpPr>
        <p:spPr>
          <a:xfrm>
            <a:off x="2395728" y="1911095"/>
            <a:ext cx="2724912" cy="694944"/>
          </a:xfrm>
          <a:prstGeom prst="rect">
            <a:avLst/>
          </a:prstGeom>
          <a:noFill/>
        </p:spPr>
        <p:txBody>
          <a:bodyPr wrap="square">
            <a:spAutoFit/>
          </a:bodyPr>
          <a:lstStyle/>
          <a:p>
            <a:r>
              <a:rPr sz="1200" b="0" i="0">
                <a:solidFill>
                  <a:srgbClr val="1A1A1A"/>
                </a:solidFill>
                <a:latin typeface="Arial"/>
              </a:rPr>
              <a:t>The ministry of education; PLR in charge of the registration</a:t>
            </a:r>
          </a:p>
        </p:txBody>
      </p:sp>
      <p:sp>
        <p:nvSpPr>
          <p:cNvPr id="11" name="TextBox 10"/>
          <p:cNvSpPr txBox="1"/>
          <p:nvPr/>
        </p:nvSpPr>
        <p:spPr>
          <a:xfrm>
            <a:off x="5230368" y="1911095"/>
            <a:ext cx="2816352" cy="694944"/>
          </a:xfrm>
          <a:prstGeom prst="rect">
            <a:avLst/>
          </a:prstGeom>
          <a:noFill/>
        </p:spPr>
        <p:txBody>
          <a:bodyPr wrap="square">
            <a:spAutoFit/>
          </a:bodyPr>
          <a:lstStyle/>
          <a:p>
            <a:r>
              <a:rPr sz="1200" b="0" i="0">
                <a:solidFill>
                  <a:srgbClr val="1A1A1A"/>
                </a:solidFill>
                <a:latin typeface="Arial"/>
              </a:rPr>
              <a:t>GovStack Registration, default edition</a:t>
            </a:r>
          </a:p>
        </p:txBody>
      </p:sp>
      <p:sp>
        <p:nvSpPr>
          <p:cNvPr id="12" name="TextBox 11"/>
          <p:cNvSpPr txBox="1"/>
          <p:nvPr/>
        </p:nvSpPr>
        <p:spPr>
          <a:xfrm>
            <a:off x="8156448" y="1911095"/>
            <a:ext cx="3273552" cy="694944"/>
          </a:xfrm>
          <a:prstGeom prst="rect">
            <a:avLst/>
          </a:prstGeom>
          <a:noFill/>
        </p:spPr>
        <p:txBody>
          <a:bodyPr wrap="square">
            <a:spAutoFit/>
          </a:bodyPr>
          <a:lstStyle/>
          <a:p>
            <a:r>
              <a:rPr sz="1200" b="0" i="0">
                <a:solidFill>
                  <a:srgbClr val="1A1A1A"/>
                </a:solidFill>
                <a:latin typeface="Arial"/>
              </a:rPr>
              <a:t>Built for education</a:t>
            </a:r>
          </a:p>
        </p:txBody>
      </p:sp>
      <p:sp>
        <p:nvSpPr>
          <p:cNvPr id="13" name="Rectangle 12"/>
          <p:cNvSpPr/>
          <p:nvPr/>
        </p:nvSpPr>
        <p:spPr>
          <a:xfrm>
            <a:off x="658368" y="2624327"/>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679191"/>
            <a:ext cx="1627631" cy="694944"/>
          </a:xfrm>
          <a:prstGeom prst="rect">
            <a:avLst/>
          </a:prstGeom>
          <a:noFill/>
        </p:spPr>
        <p:txBody>
          <a:bodyPr wrap="square">
            <a:spAutoFit/>
          </a:bodyPr>
          <a:lstStyle/>
          <a:p>
            <a:r>
              <a:rPr sz="1200" b="1" i="0">
                <a:solidFill>
                  <a:srgbClr val="1A1A1A"/>
                </a:solidFill>
                <a:latin typeface="Arial"/>
              </a:rPr>
              <a:t>Digital Registries</a:t>
            </a:r>
          </a:p>
        </p:txBody>
      </p:sp>
      <p:sp>
        <p:nvSpPr>
          <p:cNvPr id="15" name="TextBox 14"/>
          <p:cNvSpPr txBox="1"/>
          <p:nvPr/>
        </p:nvSpPr>
        <p:spPr>
          <a:xfrm>
            <a:off x="2395728" y="2679191"/>
            <a:ext cx="2724912" cy="694944"/>
          </a:xfrm>
          <a:prstGeom prst="rect">
            <a:avLst/>
          </a:prstGeom>
          <a:noFill/>
        </p:spPr>
        <p:txBody>
          <a:bodyPr wrap="square">
            <a:spAutoFit/>
          </a:bodyPr>
          <a:lstStyle/>
          <a:p>
            <a:r>
              <a:rPr sz="1200" b="0" i="0">
                <a:solidFill>
                  <a:srgbClr val="1A1A1A"/>
                </a:solidFill>
                <a:latin typeface="Arial"/>
              </a:rPr>
              <a:t>PLR, the learner registry</a:t>
            </a:r>
          </a:p>
        </p:txBody>
      </p:sp>
      <p:sp>
        <p:nvSpPr>
          <p:cNvPr id="16" name="TextBox 15"/>
          <p:cNvSpPr txBox="1"/>
          <p:nvPr/>
        </p:nvSpPr>
        <p:spPr>
          <a:xfrm>
            <a:off x="5230368" y="2679191"/>
            <a:ext cx="2816352" cy="694944"/>
          </a:xfrm>
          <a:prstGeom prst="rect">
            <a:avLst/>
          </a:prstGeom>
          <a:noFill/>
        </p:spPr>
        <p:txBody>
          <a:bodyPr wrap="square">
            <a:spAutoFit/>
          </a:bodyPr>
          <a:lstStyle/>
          <a:p>
            <a:r>
              <a:rPr sz="1200" b="0" i="0">
                <a:solidFill>
                  <a:srgbClr val="1A1A1A"/>
                </a:solidFill>
                <a:latin typeface="Arial"/>
              </a:rPr>
              <a:t>GovStack Digital Registries, Version 3.0-alpha</a:t>
            </a:r>
          </a:p>
        </p:txBody>
      </p:sp>
      <p:sp>
        <p:nvSpPr>
          <p:cNvPr id="17" name="TextBox 16"/>
          <p:cNvSpPr txBox="1"/>
          <p:nvPr/>
        </p:nvSpPr>
        <p:spPr>
          <a:xfrm>
            <a:off x="8156448" y="2679191"/>
            <a:ext cx="3273552" cy="694944"/>
          </a:xfrm>
          <a:prstGeom prst="rect">
            <a:avLst/>
          </a:prstGeom>
          <a:noFill/>
        </p:spPr>
        <p:txBody>
          <a:bodyPr wrap="square">
            <a:spAutoFit/>
          </a:bodyPr>
          <a:lstStyle/>
          <a:p>
            <a:r>
              <a:rPr sz="1200" b="0" i="0">
                <a:solidFill>
                  <a:srgbClr val="1A1A1A"/>
                </a:solidFill>
                <a:latin typeface="Arial"/>
              </a:rPr>
              <a:t>Built: the authoritative register behind PLR</a:t>
            </a:r>
          </a:p>
        </p:txBody>
      </p:sp>
      <p:sp>
        <p:nvSpPr>
          <p:cNvPr id="18" name="Rectangle 17"/>
          <p:cNvSpPr/>
          <p:nvPr/>
        </p:nvSpPr>
        <p:spPr>
          <a:xfrm>
            <a:off x="658368" y="339242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447288"/>
            <a:ext cx="1627631" cy="694944"/>
          </a:xfrm>
          <a:prstGeom prst="rect">
            <a:avLst/>
          </a:prstGeom>
          <a:noFill/>
        </p:spPr>
        <p:txBody>
          <a:bodyPr wrap="square">
            <a:spAutoFit/>
          </a:bodyPr>
          <a:lstStyle/>
          <a:p>
            <a:r>
              <a:rPr sz="1200" b="1" i="0">
                <a:solidFill>
                  <a:srgbClr val="1A1A1A"/>
                </a:solidFill>
                <a:latin typeface="Arial"/>
              </a:rPr>
              <a:t>Identity</a:t>
            </a:r>
          </a:p>
        </p:txBody>
      </p:sp>
      <p:sp>
        <p:nvSpPr>
          <p:cNvPr id="20" name="TextBox 19"/>
          <p:cNvSpPr txBox="1"/>
          <p:nvPr/>
        </p:nvSpPr>
        <p:spPr>
          <a:xfrm>
            <a:off x="2395728" y="3447288"/>
            <a:ext cx="2724912" cy="694944"/>
          </a:xfrm>
          <a:prstGeom prst="rect">
            <a:avLst/>
          </a:prstGeom>
          <a:noFill/>
        </p:spPr>
        <p:txBody>
          <a:bodyPr wrap="square">
            <a:spAutoFit/>
          </a:bodyPr>
          <a:lstStyle/>
          <a:p>
            <a:r>
              <a:rPr sz="1200" b="0" i="0">
                <a:solidFill>
                  <a:srgbClr val="1A1A1A"/>
                </a:solidFill>
                <a:latin typeface="Arial"/>
              </a:rPr>
              <a:t>PNIA</a:t>
            </a:r>
          </a:p>
        </p:txBody>
      </p:sp>
      <p:sp>
        <p:nvSpPr>
          <p:cNvPr id="21" name="TextBox 20"/>
          <p:cNvSpPr txBox="1"/>
          <p:nvPr/>
        </p:nvSpPr>
        <p:spPr>
          <a:xfrm>
            <a:off x="5230368" y="3447288"/>
            <a:ext cx="2816352" cy="694944"/>
          </a:xfrm>
          <a:prstGeom prst="rect">
            <a:avLst/>
          </a:prstGeom>
          <a:noFill/>
        </p:spPr>
        <p:txBody>
          <a:bodyPr wrap="square">
            <a:spAutoFit/>
          </a:bodyPr>
          <a:lstStyle/>
          <a:p>
            <a:r>
              <a:rPr sz="1200" b="0" i="0">
                <a:solidFill>
                  <a:srgbClr val="1A1A1A"/>
                </a:solidFill>
                <a:latin typeface="Arial"/>
              </a:rPr>
              <a:t>GovStack Identity, Version 2.0</a:t>
            </a:r>
          </a:p>
        </p:txBody>
      </p:sp>
      <p:sp>
        <p:nvSpPr>
          <p:cNvPr id="22" name="TextBox 21"/>
          <p:cNvSpPr txBox="1"/>
          <p:nvPr/>
        </p:nvSpPr>
        <p:spPr>
          <a:xfrm>
            <a:off x="8156448" y="3447288"/>
            <a:ext cx="3273552" cy="694944"/>
          </a:xfrm>
          <a:prstGeom prst="rect">
            <a:avLst/>
          </a:prstGeom>
          <a:noFill/>
        </p:spPr>
        <p:txBody>
          <a:bodyPr wrap="square">
            <a:spAutoFit/>
          </a:bodyPr>
          <a:lstStyle/>
          <a:p>
            <a:r>
              <a:rPr sz="1200" b="0" i="0">
                <a:solidFill>
                  <a:srgbClr val="1A1A1A"/>
                </a:solidFill>
                <a:latin typeface="Arial"/>
              </a:rPr>
              <a:t>Reused: the service signs people in through PNIA</a:t>
            </a:r>
          </a:p>
        </p:txBody>
      </p:sp>
      <p:sp>
        <p:nvSpPr>
          <p:cNvPr id="23" name="Rectangle 22"/>
          <p:cNvSpPr/>
          <p:nvPr/>
        </p:nvSpPr>
        <p:spPr>
          <a:xfrm>
            <a:off x="658368" y="41605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215384"/>
            <a:ext cx="1627631" cy="694944"/>
          </a:xfrm>
          <a:prstGeom prst="rect">
            <a:avLst/>
          </a:prstGeom>
          <a:noFill/>
        </p:spPr>
        <p:txBody>
          <a:bodyPr wrap="square">
            <a:spAutoFit/>
          </a:bodyPr>
          <a:lstStyle/>
          <a:p>
            <a:r>
              <a:rPr sz="1200" b="1" i="0">
                <a:solidFill>
                  <a:srgbClr val="1A1A1A"/>
                </a:solidFill>
                <a:latin typeface="Arial"/>
              </a:rPr>
              <a:t>Payments</a:t>
            </a:r>
          </a:p>
        </p:txBody>
      </p:sp>
      <p:sp>
        <p:nvSpPr>
          <p:cNvPr id="25" name="TextBox 24"/>
          <p:cNvSpPr txBox="1"/>
          <p:nvPr/>
        </p:nvSpPr>
        <p:spPr>
          <a:xfrm>
            <a:off x="2395728" y="4215384"/>
            <a:ext cx="2724912" cy="694944"/>
          </a:xfrm>
          <a:prstGeom prst="rect">
            <a:avLst/>
          </a:prstGeom>
          <a:noFill/>
        </p:spPr>
        <p:txBody>
          <a:bodyPr wrap="square">
            <a:spAutoFit/>
          </a:bodyPr>
          <a:lstStyle/>
          <a:p>
            <a:r>
              <a:rPr sz="1200" b="0" i="0">
                <a:solidFill>
                  <a:srgbClr val="1A1A1A"/>
                </a:solidFill>
                <a:latin typeface="Arial"/>
              </a:rPr>
              <a:t>The government's Payments block, with PayPro behind its payer bank</a:t>
            </a:r>
          </a:p>
        </p:txBody>
      </p:sp>
      <p:sp>
        <p:nvSpPr>
          <p:cNvPr id="26" name="TextBox 25"/>
          <p:cNvSpPr txBox="1"/>
          <p:nvPr/>
        </p:nvSpPr>
        <p:spPr>
          <a:xfrm>
            <a:off x="5230368" y="4215384"/>
            <a:ext cx="2816352" cy="694944"/>
          </a:xfrm>
          <a:prstGeom prst="rect">
            <a:avLst/>
          </a:prstGeom>
          <a:noFill/>
        </p:spPr>
        <p:txBody>
          <a:bodyPr wrap="square">
            <a:spAutoFit/>
          </a:bodyPr>
          <a:lstStyle/>
          <a:p>
            <a:r>
              <a:rPr sz="1200" b="0" i="0">
                <a:solidFill>
                  <a:srgbClr val="1A1A1A"/>
                </a:solidFill>
                <a:latin typeface="Arial"/>
              </a:rPr>
              <a:t>GovStack Payments, Version 3.0</a:t>
            </a:r>
          </a:p>
        </p:txBody>
      </p:sp>
      <p:sp>
        <p:nvSpPr>
          <p:cNvPr id="27" name="TextBox 26"/>
          <p:cNvSpPr txBox="1"/>
          <p:nvPr/>
        </p:nvSpPr>
        <p:spPr>
          <a:xfrm>
            <a:off x="8156448" y="4215384"/>
            <a:ext cx="3273552" cy="694944"/>
          </a:xfrm>
          <a:prstGeom prst="rect">
            <a:avLst/>
          </a:prstGeom>
          <a:noFill/>
        </p:spPr>
        <p:txBody>
          <a:bodyPr wrap="square">
            <a:spAutoFit/>
          </a:bodyPr>
          <a:lstStyle/>
          <a:p>
            <a:r>
              <a:rPr sz="1200" b="0" i="0">
                <a:solidFill>
                  <a:srgbClr val="1A1A1A"/>
                </a:solidFill>
                <a:latin typeface="Arial"/>
              </a:rPr>
              <a:t>Set up and joined to Linkup; PayPro reused behind it</a:t>
            </a:r>
          </a:p>
        </p:txBody>
      </p:sp>
      <p:sp>
        <p:nvSpPr>
          <p:cNvPr id="28" name="Rectangle 27"/>
          <p:cNvSpPr/>
          <p:nvPr/>
        </p:nvSpPr>
        <p:spPr>
          <a:xfrm>
            <a:off x="658368" y="492861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4983480"/>
            <a:ext cx="1627631" cy="694944"/>
          </a:xfrm>
          <a:prstGeom prst="rect">
            <a:avLst/>
          </a:prstGeom>
          <a:noFill/>
        </p:spPr>
        <p:txBody>
          <a:bodyPr wrap="square">
            <a:spAutoFit/>
          </a:bodyPr>
          <a:lstStyle/>
          <a:p>
            <a:r>
              <a:rPr sz="1200" b="1" i="0">
                <a:solidFill>
                  <a:srgbClr val="1A1A1A"/>
                </a:solidFill>
                <a:latin typeface="Arial"/>
              </a:rPr>
              <a:t>Data exchange</a:t>
            </a:r>
          </a:p>
        </p:txBody>
      </p:sp>
      <p:sp>
        <p:nvSpPr>
          <p:cNvPr id="30" name="TextBox 29"/>
          <p:cNvSpPr txBox="1"/>
          <p:nvPr/>
        </p:nvSpPr>
        <p:spPr>
          <a:xfrm>
            <a:off x="2395728" y="4983480"/>
            <a:ext cx="2724912" cy="694944"/>
          </a:xfrm>
          <a:prstGeom prst="rect">
            <a:avLst/>
          </a:prstGeom>
          <a:noFill/>
        </p:spPr>
        <p:txBody>
          <a:bodyPr wrap="square">
            <a:spAutoFit/>
          </a:bodyPr>
          <a:lstStyle/>
          <a:p>
            <a:r>
              <a:rPr sz="1200" b="0" i="0">
                <a:solidFill>
                  <a:srgbClr val="1A1A1A"/>
                </a:solidFill>
                <a:latin typeface="Arial"/>
              </a:rPr>
              <a:t>PDGA, which operates Linkup</a:t>
            </a:r>
          </a:p>
        </p:txBody>
      </p:sp>
      <p:sp>
        <p:nvSpPr>
          <p:cNvPr id="31" name="TextBox 30"/>
          <p:cNvSpPr txBox="1"/>
          <p:nvPr/>
        </p:nvSpPr>
        <p:spPr>
          <a:xfrm>
            <a:off x="5230368" y="4983480"/>
            <a:ext cx="2816352" cy="694944"/>
          </a:xfrm>
          <a:prstGeom prst="rect">
            <a:avLst/>
          </a:prstGeom>
          <a:noFill/>
        </p:spPr>
        <p:txBody>
          <a:bodyPr wrap="square">
            <a:spAutoFit/>
          </a:bodyPr>
          <a:lstStyle/>
          <a:p>
            <a:r>
              <a:rPr sz="1200" b="0" i="0">
                <a:solidFill>
                  <a:srgbClr val="1A1A1A"/>
                </a:solidFill>
                <a:latin typeface="Arial"/>
              </a:rPr>
              <a:t>GovStack Information Mediator, 1.1.1</a:t>
            </a:r>
          </a:p>
        </p:txBody>
      </p:sp>
      <p:sp>
        <p:nvSpPr>
          <p:cNvPr id="32" name="TextBox 31"/>
          <p:cNvSpPr txBox="1"/>
          <p:nvPr/>
        </p:nvSpPr>
        <p:spPr>
          <a:xfrm>
            <a:off x="8156448" y="4983480"/>
            <a:ext cx="3273552" cy="694944"/>
          </a:xfrm>
          <a:prstGeom prst="rect">
            <a:avLst/>
          </a:prstGeom>
          <a:noFill/>
        </p:spPr>
        <p:txBody>
          <a:bodyPr wrap="square">
            <a:spAutoFit/>
          </a:bodyPr>
          <a:lstStyle/>
          <a:p>
            <a:r>
              <a:rPr sz="1200" b="0" i="0">
                <a:solidFill>
                  <a:srgbClr val="1A1A1A"/>
                </a:solidFill>
                <a:latin typeface="Arial"/>
              </a:rPr>
              <a:t>Reused: Linkup; the ministry joins as a member</a:t>
            </a:r>
          </a:p>
        </p:txBody>
      </p:sp>
      <p:sp>
        <p:nvSpPr>
          <p:cNvPr id="33" name="TextBox 32"/>
          <p:cNvSpPr txBox="1"/>
          <p:nvPr/>
        </p:nvSpPr>
        <p:spPr>
          <a:xfrm>
            <a:off x="658368" y="5806440"/>
            <a:ext cx="10881360" cy="365760"/>
          </a:xfrm>
          <a:prstGeom prst="rect">
            <a:avLst/>
          </a:prstGeom>
          <a:noFill/>
        </p:spPr>
        <p:txBody>
          <a:bodyPr wrap="square">
            <a:spAutoFit/>
          </a:bodyPr>
          <a:lstStyle/>
          <a:p>
            <a:r>
              <a:rPr sz="1200" b="0" i="1">
                <a:solidFill>
                  <a:srgbClr val="595959"/>
                </a:solidFill>
                <a:latin typeface="Arial"/>
              </a:rPr>
              <a:t>Consent (1.3.0) and Messaging are cited, not built. Illustrative.</a:t>
            </a:r>
          </a:p>
        </p:txBody>
      </p:sp>
      <p:sp>
        <p:nvSpPr>
          <p:cNvPr id="34" name="TextBox 3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Brought forward on purpose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PAERA 5.7.4 digitalises all main state registries in its third phase.</a:t>
            </a:r>
          </a:p>
          <a:p>
            <a:pPr>
              <a:spcAft>
                <a:spcPts val="1200"/>
              </a:spcAft>
            </a:pPr>
            <a:r>
              <a:rPr sz="2000" b="0" i="0">
                <a:solidFill>
                  <a:srgbClr val="1A1A1A"/>
                </a:solidFill>
                <a:latin typeface="Arial"/>
              </a:rPr>
              <a:t>This proof brings one register forward — the one its priority service needs. That choice is this course's own.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One priority service, proven on the country's foundation. Not the first phase of the national plan — and no replacement for 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The first proof for education is one service that registers a learner once: the sector's own registration service and learner register, using the country's identity and payment blocks through the data exchange layer.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sector's shortlist of blocks for its first priority service.</a:t>
            </a:r>
          </a:p>
          <a:p>
            <a:pPr algn="l">
              <a:spcAft>
                <a:spcPts val="400"/>
              </a:spcAft>
            </a:pPr>
            <a:r>
              <a:rPr sz="1800" b="0" i="0">
                <a:solidFill>
                  <a:srgbClr val="595959"/>
                </a:solidFill>
                <a:latin typeface="Arial"/>
              </a:rPr>
              <a:t>The prompt in the companion material gives you a shortlist table with one row per block.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sections 5.7.3 and 5.7.4, and Annex 1 (A1.2.5)</a:t>
            </a:r>
          </a:p>
          <a:p>
            <a:pPr>
              <a:spcAft>
                <a:spcPts val="1200"/>
              </a:spcAft>
            </a:pPr>
            <a:r>
              <a:rPr sz="1700" b="0" i="0">
                <a:solidFill>
                  <a:srgbClr val="1A1A1A"/>
                </a:solidFill>
                <a:latin typeface="Arial"/>
              </a:rPr>
              <a:t>•  GovStack Building Block specifications — Registration (default edition), Digital Registries (Version 3.0-alpha; June 2026), Identity (Version 2.0; December 2025), Payments (Version 3.0; December 2025)</a:t>
            </a:r>
          </a:p>
          <a:p>
            <a:pPr>
              <a:spcAft>
                <a:spcPts val="1200"/>
              </a:spcAft>
            </a:pPr>
            <a:r>
              <a:rPr sz="1700" b="0" i="0">
                <a:solidFill>
                  <a:srgbClr val="1A1A1A"/>
                </a:solidFill>
                <a:latin typeface="Arial"/>
              </a:rPr>
              <a:t>•  GovStack — Information Mediator (1.1.1), Consent (1.3.0), Messaging (messaging-23Q4.1)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1.10 · The first proof for education: one service on four blocks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