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04" r:id="rId26"/>
    <p:sldId id="2705" r:id="rId27"/>
    <p:sldId id="2706" r:id="rId28"/>
    <p:sldId id="2707" r:id="rId29"/>
    <p:sldId id="2708" r:id="rId30"/>
    <p:sldId id="2709" r:id="rId31"/>
    <p:sldId id="2710" r:id="rId32"/>
    <p:sldId id="2711"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Ask a ministry what the country has for digital government, and you often get a list of projects, each with its own donor. A list hides what is missing. One page with five domains shows your minister both.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PAERA, the GovStack reference architecture, gives the picture. It says that a country's digital governance infrastructure has two parts. The first is a foundation framework of governance, policy and legal components. The second is four pillars: Access, Digital Data, Interoperability and Digital Identity. Services, such as registering a learner or paying a scholarship, stand on the pillars. PAERA also explains why the pillars come early. They are the technical conditions that services need, and a country should address them before it pursues wide and ambitious plans.</a:t>
            </a:r>
          </a:p>
          <a:p/>
          <a:p>
            <a:r>
              <a:t>Production cue: the centrepiece of the module — the picture every later video scores against. Reveal the foundation first, then the four pillars, then the services on top. Hold it a beat longer. The written guide carries figure F2.</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method reads the foundation as a fifth domain beside the four pillars. That reading is this course's own. Its reason is practical: a pillar without a law, a budget and a body that decides is not yet infrastructure. So there are five domains, each with a short code. GOV is governance and policy, with the legal framework. ACC is access: connections, devices, skills, and help for people who need it. DAT is digital data, with the state registers. INT is interoperability, the exchange of data between systems. IDN is digital identity.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the map for Progressa, the fictional country of these examples. It is step one of the method, and the first output of the assessment: one page that fixes its scope. For each domain it names the body that answers. For digital data, that is the statistics unit of the ministry of education, which runs PEMIS, its school information system, with PNEA, the examination authority. For interoperability, it is PDGA, the digital government authority, which operates Linkup, the national data exchange. The page also records what is there and what is not. Linkup runs as a pilot. PLR, the learner registry, holds records for some learners only, and is not yet the authoritative learner register.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Why one page? PAERA describes enterprise architecture as documents that look at an organisation from business and IT together. Their purpose is to close the gap in communication between the two. The five-domain map does the same for a country's infrastructure. It gives the policy side and the technical side one shared language. The minister reads the gaps in law, money and ownership. The architect reads the gaps in systems and data. When they decide what comes first, both point to the same part of the same page. A list of projects cannot do this, because it shows only what someone chose to fund.</a:t>
            </a:r>
          </a:p>
          <a:p/>
          <a:p>
            <a:r>
              <a:t>Production cue: the pivotal slide of this video — the shared-language argument.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Five domains on one page: a foundation of governance, policy and law, and four pillars on it. It shows the minister what exists and what is missing.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1 · VIDEO 1.2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five domains, as a map</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One page with five domains, a foundation of governance, policy and law carrying access, digital data, interoperability and digital identity, shows your minister what the country has and what it lacks.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Ask a ministry what the country has, and you get a list of projects.</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Each with its own donor. A list hides what is missing.</a:t>
            </a:r>
          </a:p>
          <a:p>
            <a:pPr>
              <a:spcAft>
                <a:spcPts val="800"/>
              </a:spcAft>
            </a:pPr>
            <a:r>
              <a:rPr sz="1700" b="0" i="0">
                <a:solidFill>
                  <a:srgbClr val="595959"/>
                </a:solidFill>
                <a:latin typeface="Arial"/>
              </a:rPr>
              <a:t>One page with five domains shows your minister both.</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The five domains, as a map</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PAERA's picture of the infrastructure</a:t>
            </a:r>
          </a:p>
        </p:txBody>
      </p:sp>
      <p:sp>
        <p:nvSpPr>
          <p:cNvPr id="4" name="Rounded Rectangle 3"/>
          <p:cNvSpPr/>
          <p:nvPr/>
        </p:nvSpPr>
        <p:spPr>
          <a:xfrm>
            <a:off x="658368" y="1417320"/>
            <a:ext cx="10881360" cy="9144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006E96"/>
                </a:solidFill>
                <a:latin typeface="Arial"/>
              </a:rPr>
              <a:t>SERVICES</a:t>
            </a:r>
          </a:p>
          <a:p>
            <a:pPr algn="l">
              <a:spcAft>
                <a:spcPts val="300"/>
              </a:spcAft>
            </a:pPr>
            <a:r>
              <a:rPr sz="1400" b="0" i="0">
                <a:solidFill>
                  <a:srgbClr val="1A1A1A"/>
                </a:solidFill>
                <a:latin typeface="Arial"/>
              </a:rPr>
              <a:t>For example, registering a learner, paying a scholarship.</a:t>
            </a:r>
          </a:p>
        </p:txBody>
      </p:sp>
      <p:sp>
        <p:nvSpPr>
          <p:cNvPr id="5" name="Rounded Rectangle 4"/>
          <p:cNvSpPr/>
          <p:nvPr/>
        </p:nvSpPr>
        <p:spPr>
          <a:xfrm>
            <a:off x="658368" y="2560320"/>
            <a:ext cx="2514600" cy="173736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006E96"/>
                </a:solidFill>
                <a:latin typeface="Arial"/>
              </a:rPr>
              <a:t>ACCESS</a:t>
            </a:r>
          </a:p>
          <a:p>
            <a:pPr algn="l">
              <a:spcAft>
                <a:spcPts val="300"/>
              </a:spcAft>
            </a:pPr>
            <a:r>
              <a:rPr sz="1300" b="0" i="0">
                <a:solidFill>
                  <a:srgbClr val="1A1A1A"/>
                </a:solidFill>
                <a:latin typeface="Arial"/>
              </a:rPr>
              <a:t>Connections, devices, skills, and help for people who need it.</a:t>
            </a:r>
          </a:p>
        </p:txBody>
      </p:sp>
      <p:sp>
        <p:nvSpPr>
          <p:cNvPr id="6" name="Rounded Rectangle 5"/>
          <p:cNvSpPr/>
          <p:nvPr/>
        </p:nvSpPr>
        <p:spPr>
          <a:xfrm>
            <a:off x="3447287" y="2560320"/>
            <a:ext cx="2514600" cy="173736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006E96"/>
                </a:solidFill>
                <a:latin typeface="Arial"/>
              </a:rPr>
              <a:t>DIGITAL DATA</a:t>
            </a:r>
          </a:p>
          <a:p>
            <a:pPr algn="l">
              <a:spcAft>
                <a:spcPts val="300"/>
              </a:spcAft>
            </a:pPr>
            <a:r>
              <a:rPr sz="1300" b="0" i="0">
                <a:solidFill>
                  <a:srgbClr val="1A1A1A"/>
                </a:solidFill>
                <a:latin typeface="Arial"/>
              </a:rPr>
              <a:t>The state registers.</a:t>
            </a:r>
          </a:p>
        </p:txBody>
      </p:sp>
      <p:sp>
        <p:nvSpPr>
          <p:cNvPr id="7" name="Rounded Rectangle 6"/>
          <p:cNvSpPr/>
          <p:nvPr/>
        </p:nvSpPr>
        <p:spPr>
          <a:xfrm>
            <a:off x="6236207" y="2560320"/>
            <a:ext cx="2514600" cy="173736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006E96"/>
                </a:solidFill>
                <a:latin typeface="Arial"/>
              </a:rPr>
              <a:t>INTEROPERABILITY</a:t>
            </a:r>
          </a:p>
          <a:p>
            <a:pPr algn="l">
              <a:spcAft>
                <a:spcPts val="300"/>
              </a:spcAft>
            </a:pPr>
            <a:r>
              <a:rPr sz="1300" b="0" i="0">
                <a:solidFill>
                  <a:srgbClr val="1A1A1A"/>
                </a:solidFill>
                <a:latin typeface="Arial"/>
              </a:rPr>
              <a:t>The exchange of data between systems.</a:t>
            </a:r>
          </a:p>
        </p:txBody>
      </p:sp>
      <p:sp>
        <p:nvSpPr>
          <p:cNvPr id="8" name="Rounded Rectangle 7"/>
          <p:cNvSpPr/>
          <p:nvPr/>
        </p:nvSpPr>
        <p:spPr>
          <a:xfrm>
            <a:off x="9025128" y="2560320"/>
            <a:ext cx="2514600" cy="173736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006E96"/>
                </a:solidFill>
                <a:latin typeface="Arial"/>
              </a:rPr>
              <a:t>DIGITAL IDENTITY</a:t>
            </a:r>
          </a:p>
          <a:p>
            <a:pPr algn="l">
              <a:spcAft>
                <a:spcPts val="300"/>
              </a:spcAft>
            </a:pPr>
            <a:r>
              <a:rPr sz="1300" b="0" i="0">
                <a:solidFill>
                  <a:srgbClr val="1A1A1A"/>
                </a:solidFill>
                <a:latin typeface="Arial"/>
              </a:rPr>
              <a:t>Who a person is.</a:t>
            </a:r>
          </a:p>
        </p:txBody>
      </p:sp>
      <p:sp>
        <p:nvSpPr>
          <p:cNvPr id="9" name="Rounded Rectangle 8"/>
          <p:cNvSpPr/>
          <p:nvPr/>
        </p:nvSpPr>
        <p:spPr>
          <a:xfrm>
            <a:off x="658368" y="4526280"/>
            <a:ext cx="10881360" cy="100584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FFFFFF"/>
                </a:solidFill>
                <a:latin typeface="Arial"/>
              </a:rPr>
              <a:t>FOUNDATION</a:t>
            </a:r>
          </a:p>
          <a:p>
            <a:pPr algn="l">
              <a:spcAft>
                <a:spcPts val="300"/>
              </a:spcAft>
            </a:pPr>
            <a:r>
              <a:rPr sz="1400" b="0" i="0">
                <a:solidFill>
                  <a:srgbClr val="FFFFFF"/>
                </a:solidFill>
                <a:latin typeface="Arial"/>
              </a:rPr>
              <a:t>Governance and policy, with the legal framework.</a:t>
            </a:r>
          </a:p>
        </p:txBody>
      </p:sp>
      <p:sp>
        <p:nvSpPr>
          <p:cNvPr id="10" name="TextBox 9"/>
          <p:cNvSpPr txBox="1"/>
          <p:nvPr/>
        </p:nvSpPr>
        <p:spPr>
          <a:xfrm>
            <a:off x="658368" y="5715000"/>
            <a:ext cx="10881360" cy="548640"/>
          </a:xfrm>
          <a:prstGeom prst="rect">
            <a:avLst/>
          </a:prstGeom>
          <a:noFill/>
        </p:spPr>
        <p:txBody>
          <a:bodyPr wrap="square">
            <a:spAutoFit/>
          </a:bodyPr>
          <a:lstStyle/>
          <a:p>
            <a:r>
              <a:rPr sz="1550" b="1" i="0">
                <a:solidFill>
                  <a:srgbClr val="006E96"/>
                </a:solidFill>
                <a:latin typeface="Arial"/>
              </a:rPr>
              <a:t>Services stand on the pillars; the pillars stand on the foundation.</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The five domains, as a map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Five domains, with their codes</a:t>
            </a:r>
          </a:p>
        </p:txBody>
      </p:sp>
      <p:sp>
        <p:nvSpPr>
          <p:cNvPr id="4" name="TextBox 3"/>
          <p:cNvSpPr txBox="1"/>
          <p:nvPr/>
        </p:nvSpPr>
        <p:spPr>
          <a:xfrm>
            <a:off x="658368" y="1463040"/>
            <a:ext cx="10984687" cy="740664"/>
          </a:xfrm>
          <a:prstGeom prst="rect">
            <a:avLst/>
          </a:prstGeom>
          <a:noFill/>
        </p:spPr>
        <p:txBody>
          <a:bodyPr wrap="square">
            <a:spAutoFit/>
          </a:bodyPr>
          <a:lstStyle/>
          <a:p>
            <a:pPr>
              <a:spcAft>
                <a:spcPts val="300"/>
              </a:spcAft>
            </a:pPr>
            <a:r>
              <a:rPr sz="1900" b="1" i="0">
                <a:solidFill>
                  <a:srgbClr val="1A1A1A"/>
                </a:solidFill>
                <a:latin typeface="Arial"/>
              </a:rPr>
              <a:t>GOV</a:t>
            </a:r>
          </a:p>
          <a:p>
            <a:pPr>
              <a:spcAft>
                <a:spcPts val="300"/>
              </a:spcAft>
            </a:pPr>
            <a:r>
              <a:rPr sz="1550" b="0" i="0">
                <a:solidFill>
                  <a:srgbClr val="595959"/>
                </a:solidFill>
                <a:latin typeface="Arial"/>
              </a:rPr>
              <a:t>Governance and policy, with the legal framework.</a:t>
            </a:r>
          </a:p>
        </p:txBody>
      </p:sp>
      <p:sp>
        <p:nvSpPr>
          <p:cNvPr id="5" name="Rectangle 4"/>
          <p:cNvSpPr/>
          <p:nvPr/>
        </p:nvSpPr>
        <p:spPr>
          <a:xfrm>
            <a:off x="621792" y="220827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249424"/>
            <a:ext cx="10984687" cy="740664"/>
          </a:xfrm>
          <a:prstGeom prst="rect">
            <a:avLst/>
          </a:prstGeom>
          <a:noFill/>
        </p:spPr>
        <p:txBody>
          <a:bodyPr wrap="square">
            <a:spAutoFit/>
          </a:bodyPr>
          <a:lstStyle/>
          <a:p>
            <a:pPr>
              <a:spcAft>
                <a:spcPts val="300"/>
              </a:spcAft>
            </a:pPr>
            <a:r>
              <a:rPr sz="1900" b="1" i="0">
                <a:solidFill>
                  <a:srgbClr val="1A1A1A"/>
                </a:solidFill>
                <a:latin typeface="Arial"/>
              </a:rPr>
              <a:t>ACC</a:t>
            </a:r>
          </a:p>
          <a:p>
            <a:pPr>
              <a:spcAft>
                <a:spcPts val="300"/>
              </a:spcAft>
            </a:pPr>
            <a:r>
              <a:rPr sz="1550" b="0" i="0">
                <a:solidFill>
                  <a:srgbClr val="595959"/>
                </a:solidFill>
                <a:latin typeface="Arial"/>
              </a:rPr>
              <a:t>Access.</a:t>
            </a:r>
          </a:p>
        </p:txBody>
      </p:sp>
      <p:sp>
        <p:nvSpPr>
          <p:cNvPr id="7" name="Rectangle 6"/>
          <p:cNvSpPr/>
          <p:nvPr/>
        </p:nvSpPr>
        <p:spPr>
          <a:xfrm>
            <a:off x="621792" y="299466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035808"/>
            <a:ext cx="10984687" cy="740664"/>
          </a:xfrm>
          <a:prstGeom prst="rect">
            <a:avLst/>
          </a:prstGeom>
          <a:noFill/>
        </p:spPr>
        <p:txBody>
          <a:bodyPr wrap="square">
            <a:spAutoFit/>
          </a:bodyPr>
          <a:lstStyle/>
          <a:p>
            <a:pPr>
              <a:spcAft>
                <a:spcPts val="300"/>
              </a:spcAft>
            </a:pPr>
            <a:r>
              <a:rPr sz="1900" b="1" i="0">
                <a:solidFill>
                  <a:srgbClr val="1A1A1A"/>
                </a:solidFill>
                <a:latin typeface="Arial"/>
              </a:rPr>
              <a:t>DAT</a:t>
            </a:r>
          </a:p>
          <a:p>
            <a:pPr>
              <a:spcAft>
                <a:spcPts val="300"/>
              </a:spcAft>
            </a:pPr>
            <a:r>
              <a:rPr sz="1550" b="0" i="0">
                <a:solidFill>
                  <a:srgbClr val="595959"/>
                </a:solidFill>
                <a:latin typeface="Arial"/>
              </a:rPr>
              <a:t>Digital Data.</a:t>
            </a:r>
          </a:p>
        </p:txBody>
      </p:sp>
      <p:sp>
        <p:nvSpPr>
          <p:cNvPr id="9" name="Rectangle 8"/>
          <p:cNvSpPr/>
          <p:nvPr/>
        </p:nvSpPr>
        <p:spPr>
          <a:xfrm>
            <a:off x="621792" y="37810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3822191"/>
            <a:ext cx="10984687" cy="740664"/>
          </a:xfrm>
          <a:prstGeom prst="rect">
            <a:avLst/>
          </a:prstGeom>
          <a:noFill/>
        </p:spPr>
        <p:txBody>
          <a:bodyPr wrap="square">
            <a:spAutoFit/>
          </a:bodyPr>
          <a:lstStyle/>
          <a:p>
            <a:pPr>
              <a:spcAft>
                <a:spcPts val="300"/>
              </a:spcAft>
            </a:pPr>
            <a:r>
              <a:rPr sz="1900" b="1" i="0">
                <a:solidFill>
                  <a:srgbClr val="1A1A1A"/>
                </a:solidFill>
                <a:latin typeface="Arial"/>
              </a:rPr>
              <a:t>INT</a:t>
            </a:r>
          </a:p>
          <a:p>
            <a:pPr>
              <a:spcAft>
                <a:spcPts val="300"/>
              </a:spcAft>
            </a:pPr>
            <a:r>
              <a:rPr sz="1550" b="0" i="0">
                <a:solidFill>
                  <a:srgbClr val="595959"/>
                </a:solidFill>
                <a:latin typeface="Arial"/>
              </a:rPr>
              <a:t>Interoperability.</a:t>
            </a:r>
          </a:p>
        </p:txBody>
      </p:sp>
      <p:sp>
        <p:nvSpPr>
          <p:cNvPr id="11" name="Rectangle 10"/>
          <p:cNvSpPr/>
          <p:nvPr/>
        </p:nvSpPr>
        <p:spPr>
          <a:xfrm>
            <a:off x="621792" y="456742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4608576"/>
            <a:ext cx="10984687" cy="740664"/>
          </a:xfrm>
          <a:prstGeom prst="rect">
            <a:avLst/>
          </a:prstGeom>
          <a:noFill/>
        </p:spPr>
        <p:txBody>
          <a:bodyPr wrap="square">
            <a:spAutoFit/>
          </a:bodyPr>
          <a:lstStyle/>
          <a:p>
            <a:pPr>
              <a:spcAft>
                <a:spcPts val="300"/>
              </a:spcAft>
            </a:pPr>
            <a:r>
              <a:rPr sz="1900" b="1" i="0">
                <a:solidFill>
                  <a:srgbClr val="1A1A1A"/>
                </a:solidFill>
                <a:latin typeface="Arial"/>
              </a:rPr>
              <a:t>IDN</a:t>
            </a:r>
          </a:p>
          <a:p>
            <a:pPr>
              <a:spcAft>
                <a:spcPts val="300"/>
              </a:spcAft>
            </a:pPr>
            <a:r>
              <a:rPr sz="1550" b="0" i="0">
                <a:solidFill>
                  <a:srgbClr val="595959"/>
                </a:solidFill>
                <a:latin typeface="Arial"/>
              </a:rPr>
              <a:t>Digital Identity.</a:t>
            </a:r>
          </a:p>
        </p:txBody>
      </p:sp>
      <p:sp>
        <p:nvSpPr>
          <p:cNvPr id="13" name="TextBox 12"/>
          <p:cNvSpPr txBox="1"/>
          <p:nvPr/>
        </p:nvSpPr>
        <p:spPr>
          <a:xfrm>
            <a:off x="658368" y="5504688"/>
            <a:ext cx="10881360" cy="548640"/>
          </a:xfrm>
          <a:prstGeom prst="rect">
            <a:avLst/>
          </a:prstGeom>
          <a:noFill/>
        </p:spPr>
        <p:txBody>
          <a:bodyPr wrap="square">
            <a:spAutoFit/>
          </a:bodyPr>
          <a:lstStyle/>
          <a:p>
            <a:r>
              <a:rPr sz="1550" b="1" i="0">
                <a:solidFill>
                  <a:srgbClr val="006E96"/>
                </a:solidFill>
                <a:latin typeface="Arial"/>
              </a:rPr>
              <a:t>Reading the foundation as a fifth domain is this course's own reading of PAERA.</a:t>
            </a:r>
          </a:p>
        </p:txBody>
      </p:sp>
      <p:sp>
        <p:nvSpPr>
          <p:cNvPr id="14" name="TextBox 1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The five domains, as a map</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Progressa's frame page</a:t>
            </a:r>
          </a:p>
        </p:txBody>
      </p:sp>
      <p:sp>
        <p:nvSpPr>
          <p:cNvPr id="4" name="TextBox 3"/>
          <p:cNvSpPr txBox="1"/>
          <p:nvPr/>
        </p:nvSpPr>
        <p:spPr>
          <a:xfrm>
            <a:off x="658368" y="1417320"/>
            <a:ext cx="1901952" cy="384048"/>
          </a:xfrm>
          <a:prstGeom prst="rect">
            <a:avLst/>
          </a:prstGeom>
          <a:noFill/>
        </p:spPr>
        <p:txBody>
          <a:bodyPr wrap="square">
            <a:spAutoFit/>
          </a:bodyPr>
          <a:lstStyle/>
          <a:p>
            <a:r>
              <a:rPr sz="1400" b="1" i="0">
                <a:solidFill>
                  <a:srgbClr val="006E96"/>
                </a:solidFill>
                <a:latin typeface="Arial"/>
              </a:rPr>
              <a:t>Domain</a:t>
            </a:r>
          </a:p>
        </p:txBody>
      </p:sp>
      <p:sp>
        <p:nvSpPr>
          <p:cNvPr id="5" name="TextBox 4"/>
          <p:cNvSpPr txBox="1"/>
          <p:nvPr/>
        </p:nvSpPr>
        <p:spPr>
          <a:xfrm>
            <a:off x="2670048" y="1417320"/>
            <a:ext cx="8759952" cy="384048"/>
          </a:xfrm>
          <a:prstGeom prst="rect">
            <a:avLst/>
          </a:prstGeom>
          <a:noFill/>
        </p:spPr>
        <p:txBody>
          <a:bodyPr wrap="square">
            <a:spAutoFit/>
          </a:bodyPr>
          <a:lstStyle/>
          <a:p>
            <a:r>
              <a:rPr sz="1400" b="1" i="0">
                <a:solidFill>
                  <a:srgbClr val="006E96"/>
                </a:solidFill>
                <a:latin typeface="Arial"/>
              </a:rPr>
              <a:t>Who answers for Progressa</a:t>
            </a:r>
          </a:p>
        </p:txBody>
      </p:sp>
      <p:sp>
        <p:nvSpPr>
          <p:cNvPr id="6" name="Rectangle 5"/>
          <p:cNvSpPr/>
          <p:nvPr/>
        </p:nvSpPr>
        <p:spPr>
          <a:xfrm>
            <a:off x="658368" y="1801368"/>
            <a:ext cx="10881360" cy="15875"/>
          </a:xfrm>
          <a:prstGeom prst="rect">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911095"/>
            <a:ext cx="1901952" cy="694944"/>
          </a:xfrm>
          <a:prstGeom prst="rect">
            <a:avLst/>
          </a:prstGeom>
          <a:noFill/>
        </p:spPr>
        <p:txBody>
          <a:bodyPr wrap="square">
            <a:spAutoFit/>
          </a:bodyPr>
          <a:lstStyle/>
          <a:p>
            <a:r>
              <a:rPr sz="1400" b="1" i="0">
                <a:solidFill>
                  <a:srgbClr val="1A1A1A"/>
                </a:solidFill>
                <a:latin typeface="Arial"/>
              </a:rPr>
              <a:t>GOV</a:t>
            </a:r>
          </a:p>
        </p:txBody>
      </p:sp>
      <p:sp>
        <p:nvSpPr>
          <p:cNvPr id="8" name="TextBox 7"/>
          <p:cNvSpPr txBox="1"/>
          <p:nvPr/>
        </p:nvSpPr>
        <p:spPr>
          <a:xfrm>
            <a:off x="2670048" y="1911095"/>
            <a:ext cx="8759952" cy="694944"/>
          </a:xfrm>
          <a:prstGeom prst="rect">
            <a:avLst/>
          </a:prstGeom>
          <a:noFill/>
        </p:spPr>
        <p:txBody>
          <a:bodyPr wrap="square">
            <a:spAutoFit/>
          </a:bodyPr>
          <a:lstStyle/>
          <a:p>
            <a:r>
              <a:rPr sz="1400" b="0" i="0">
                <a:solidFill>
                  <a:srgbClr val="1A1A1A"/>
                </a:solidFill>
                <a:latin typeface="Arial"/>
              </a:rPr>
              <a:t>The ministry's planning directorate, with PDGA for the national rules.</a:t>
            </a:r>
          </a:p>
        </p:txBody>
      </p:sp>
      <p:sp>
        <p:nvSpPr>
          <p:cNvPr id="9" name="Rectangle 8"/>
          <p:cNvSpPr/>
          <p:nvPr/>
        </p:nvSpPr>
        <p:spPr>
          <a:xfrm>
            <a:off x="658368" y="2624327"/>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679191"/>
            <a:ext cx="1901952" cy="694944"/>
          </a:xfrm>
          <a:prstGeom prst="rect">
            <a:avLst/>
          </a:prstGeom>
          <a:noFill/>
        </p:spPr>
        <p:txBody>
          <a:bodyPr wrap="square">
            <a:spAutoFit/>
          </a:bodyPr>
          <a:lstStyle/>
          <a:p>
            <a:r>
              <a:rPr sz="1400" b="1" i="0">
                <a:solidFill>
                  <a:srgbClr val="1A1A1A"/>
                </a:solidFill>
                <a:latin typeface="Arial"/>
              </a:rPr>
              <a:t>ACC</a:t>
            </a:r>
          </a:p>
        </p:txBody>
      </p:sp>
      <p:sp>
        <p:nvSpPr>
          <p:cNvPr id="11" name="TextBox 10"/>
          <p:cNvSpPr txBox="1"/>
          <p:nvPr/>
        </p:nvSpPr>
        <p:spPr>
          <a:xfrm>
            <a:off x="2670048" y="2679191"/>
            <a:ext cx="8759952" cy="694944"/>
          </a:xfrm>
          <a:prstGeom prst="rect">
            <a:avLst/>
          </a:prstGeom>
          <a:noFill/>
        </p:spPr>
        <p:txBody>
          <a:bodyPr wrap="square">
            <a:spAutoFit/>
          </a:bodyPr>
          <a:lstStyle/>
          <a:p>
            <a:r>
              <a:rPr sz="1400" b="0" i="0">
                <a:solidFill>
                  <a:srgbClr val="1A1A1A"/>
                </a:solidFill>
                <a:latin typeface="Arial"/>
              </a:rPr>
              <a:t>The ministry's ICT unit, with the district education offices.</a:t>
            </a:r>
          </a:p>
        </p:txBody>
      </p:sp>
      <p:sp>
        <p:nvSpPr>
          <p:cNvPr id="12" name="Rectangle 11"/>
          <p:cNvSpPr/>
          <p:nvPr/>
        </p:nvSpPr>
        <p:spPr>
          <a:xfrm>
            <a:off x="658368" y="3392423"/>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3447288"/>
            <a:ext cx="1901952" cy="694944"/>
          </a:xfrm>
          <a:prstGeom prst="rect">
            <a:avLst/>
          </a:prstGeom>
          <a:noFill/>
        </p:spPr>
        <p:txBody>
          <a:bodyPr wrap="square">
            <a:spAutoFit/>
          </a:bodyPr>
          <a:lstStyle/>
          <a:p>
            <a:r>
              <a:rPr sz="1400" b="1" i="0">
                <a:solidFill>
                  <a:srgbClr val="1A1A1A"/>
                </a:solidFill>
                <a:latin typeface="Arial"/>
              </a:rPr>
              <a:t>DAT</a:t>
            </a:r>
          </a:p>
        </p:txBody>
      </p:sp>
      <p:sp>
        <p:nvSpPr>
          <p:cNvPr id="14" name="TextBox 13"/>
          <p:cNvSpPr txBox="1"/>
          <p:nvPr/>
        </p:nvSpPr>
        <p:spPr>
          <a:xfrm>
            <a:off x="2670048" y="3447288"/>
            <a:ext cx="8759952" cy="694944"/>
          </a:xfrm>
          <a:prstGeom prst="rect">
            <a:avLst/>
          </a:prstGeom>
          <a:noFill/>
        </p:spPr>
        <p:txBody>
          <a:bodyPr wrap="square">
            <a:spAutoFit/>
          </a:bodyPr>
          <a:lstStyle/>
          <a:p>
            <a:r>
              <a:rPr sz="1400" b="0" i="0">
                <a:solidFill>
                  <a:srgbClr val="1A1A1A"/>
                </a:solidFill>
                <a:latin typeface="Arial"/>
              </a:rPr>
              <a:t>The ministry's statistics unit, which runs PEMIS, with PNEA, the examination authority.</a:t>
            </a:r>
          </a:p>
        </p:txBody>
      </p:sp>
      <p:sp>
        <p:nvSpPr>
          <p:cNvPr id="15" name="Rectangle 14"/>
          <p:cNvSpPr/>
          <p:nvPr/>
        </p:nvSpPr>
        <p:spPr>
          <a:xfrm>
            <a:off x="658368" y="416052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4215384"/>
            <a:ext cx="1901952" cy="694944"/>
          </a:xfrm>
          <a:prstGeom prst="rect">
            <a:avLst/>
          </a:prstGeom>
          <a:noFill/>
        </p:spPr>
        <p:txBody>
          <a:bodyPr wrap="square">
            <a:spAutoFit/>
          </a:bodyPr>
          <a:lstStyle/>
          <a:p>
            <a:r>
              <a:rPr sz="1400" b="1" i="0">
                <a:solidFill>
                  <a:srgbClr val="1A1A1A"/>
                </a:solidFill>
                <a:latin typeface="Arial"/>
              </a:rPr>
              <a:t>INT</a:t>
            </a:r>
          </a:p>
        </p:txBody>
      </p:sp>
      <p:sp>
        <p:nvSpPr>
          <p:cNvPr id="17" name="TextBox 16"/>
          <p:cNvSpPr txBox="1"/>
          <p:nvPr/>
        </p:nvSpPr>
        <p:spPr>
          <a:xfrm>
            <a:off x="2670048" y="4215384"/>
            <a:ext cx="8759952" cy="694944"/>
          </a:xfrm>
          <a:prstGeom prst="rect">
            <a:avLst/>
          </a:prstGeom>
          <a:noFill/>
        </p:spPr>
        <p:txBody>
          <a:bodyPr wrap="square">
            <a:spAutoFit/>
          </a:bodyPr>
          <a:lstStyle/>
          <a:p>
            <a:r>
              <a:rPr sz="1400" b="0" i="0">
                <a:solidFill>
                  <a:srgbClr val="1A1A1A"/>
                </a:solidFill>
                <a:latin typeface="Arial"/>
              </a:rPr>
              <a:t>PDGA, which operates Linkup, with the ministry's ICT unit.</a:t>
            </a:r>
          </a:p>
        </p:txBody>
      </p:sp>
      <p:sp>
        <p:nvSpPr>
          <p:cNvPr id="18" name="Rectangle 17"/>
          <p:cNvSpPr/>
          <p:nvPr/>
        </p:nvSpPr>
        <p:spPr>
          <a:xfrm>
            <a:off x="658368" y="492861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4983480"/>
            <a:ext cx="1901952" cy="694944"/>
          </a:xfrm>
          <a:prstGeom prst="rect">
            <a:avLst/>
          </a:prstGeom>
          <a:noFill/>
        </p:spPr>
        <p:txBody>
          <a:bodyPr wrap="square">
            <a:spAutoFit/>
          </a:bodyPr>
          <a:lstStyle/>
          <a:p>
            <a:r>
              <a:rPr sz="1400" b="1" i="0">
                <a:solidFill>
                  <a:srgbClr val="1A1A1A"/>
                </a:solidFill>
                <a:latin typeface="Arial"/>
              </a:rPr>
              <a:t>IDN</a:t>
            </a:r>
          </a:p>
        </p:txBody>
      </p:sp>
      <p:sp>
        <p:nvSpPr>
          <p:cNvPr id="20" name="TextBox 19"/>
          <p:cNvSpPr txBox="1"/>
          <p:nvPr/>
        </p:nvSpPr>
        <p:spPr>
          <a:xfrm>
            <a:off x="2670048" y="4983480"/>
            <a:ext cx="8759952" cy="694944"/>
          </a:xfrm>
          <a:prstGeom prst="rect">
            <a:avLst/>
          </a:prstGeom>
          <a:noFill/>
        </p:spPr>
        <p:txBody>
          <a:bodyPr wrap="square">
            <a:spAutoFit/>
          </a:bodyPr>
          <a:lstStyle/>
          <a:p>
            <a:r>
              <a:rPr sz="1400" b="0" i="0">
                <a:solidFill>
                  <a:srgbClr val="1A1A1A"/>
                </a:solidFill>
                <a:latin typeface="Arial"/>
              </a:rPr>
              <a:t>PNIA, the national identity authority, with the ministry's ICT unit.</a:t>
            </a:r>
          </a:p>
        </p:txBody>
      </p:sp>
      <p:sp>
        <p:nvSpPr>
          <p:cNvPr id="21" name="TextBox 20"/>
          <p:cNvSpPr txBox="1"/>
          <p:nvPr/>
        </p:nvSpPr>
        <p:spPr>
          <a:xfrm>
            <a:off x="658368" y="5806440"/>
            <a:ext cx="10881360" cy="365760"/>
          </a:xfrm>
          <a:prstGeom prst="rect">
            <a:avLst/>
          </a:prstGeom>
          <a:noFill/>
        </p:spPr>
        <p:txBody>
          <a:bodyPr wrap="square">
            <a:spAutoFit/>
          </a:bodyPr>
          <a:lstStyle/>
          <a:p>
            <a:r>
              <a:rPr sz="1200" b="0" i="1">
                <a:solidFill>
                  <a:srgbClr val="595959"/>
                </a:solidFill>
                <a:latin typeface="Arial"/>
              </a:rPr>
              <a:t>Progressa is a fictional country. Worked example E1.</a:t>
            </a:r>
          </a:p>
        </p:txBody>
      </p:sp>
      <p:sp>
        <p:nvSpPr>
          <p:cNvPr id="22" name="TextBox 2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The five domains, as a map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page both sides can read</a:t>
            </a:r>
          </a:p>
        </p:txBody>
      </p:sp>
      <p:sp>
        <p:nvSpPr>
          <p:cNvPr id="4" name="Rounded Rectangle 3"/>
          <p:cNvSpPr/>
          <p:nvPr/>
        </p:nvSpPr>
        <p:spPr>
          <a:xfrm>
            <a:off x="658368" y="1554480"/>
            <a:ext cx="5394960" cy="219456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1920240"/>
          </a:xfrm>
          <a:prstGeom prst="rect">
            <a:avLst/>
          </a:prstGeom>
          <a:noFill/>
        </p:spPr>
        <p:txBody>
          <a:bodyPr wrap="square">
            <a:spAutoFit/>
          </a:bodyPr>
          <a:lstStyle/>
          <a:p>
            <a:pPr>
              <a:spcAft>
                <a:spcPts val="700"/>
              </a:spcAft>
            </a:pPr>
            <a:r>
              <a:rPr sz="1900" b="1" i="0">
                <a:solidFill>
                  <a:srgbClr val="006E96"/>
                </a:solidFill>
                <a:latin typeface="Arial"/>
              </a:rPr>
              <a:t>THE MINISTER READS</a:t>
            </a:r>
          </a:p>
          <a:p>
            <a:pPr>
              <a:spcAft>
                <a:spcPts val="700"/>
              </a:spcAft>
            </a:pPr>
            <a:r>
              <a:rPr sz="1600" b="0" i="0">
                <a:solidFill>
                  <a:srgbClr val="1A1A1A"/>
                </a:solidFill>
                <a:latin typeface="Arial"/>
              </a:rPr>
              <a:t>The gaps in law, money and ownership.</a:t>
            </a:r>
          </a:p>
        </p:txBody>
      </p:sp>
      <p:sp>
        <p:nvSpPr>
          <p:cNvPr id="6" name="Rounded Rectangle 5"/>
          <p:cNvSpPr/>
          <p:nvPr/>
        </p:nvSpPr>
        <p:spPr>
          <a:xfrm>
            <a:off x="6263640" y="1554480"/>
            <a:ext cx="5394960" cy="219456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1920240"/>
          </a:xfrm>
          <a:prstGeom prst="rect">
            <a:avLst/>
          </a:prstGeom>
          <a:noFill/>
        </p:spPr>
        <p:txBody>
          <a:bodyPr wrap="square">
            <a:spAutoFit/>
          </a:bodyPr>
          <a:lstStyle/>
          <a:p>
            <a:pPr>
              <a:spcAft>
                <a:spcPts val="700"/>
              </a:spcAft>
            </a:pPr>
            <a:r>
              <a:rPr sz="1900" b="1" i="0">
                <a:solidFill>
                  <a:srgbClr val="006E96"/>
                </a:solidFill>
                <a:latin typeface="Arial"/>
              </a:rPr>
              <a:t>THE ARCHITECT READS</a:t>
            </a:r>
          </a:p>
          <a:p>
            <a:pPr>
              <a:spcAft>
                <a:spcPts val="700"/>
              </a:spcAft>
            </a:pPr>
            <a:r>
              <a:rPr sz="1600" b="0" i="0">
                <a:solidFill>
                  <a:srgbClr val="1A1A1A"/>
                </a:solidFill>
                <a:latin typeface="Arial"/>
              </a:rPr>
              <a:t>The gaps in systems and data.</a:t>
            </a:r>
          </a:p>
        </p:txBody>
      </p:sp>
      <p:sp>
        <p:nvSpPr>
          <p:cNvPr id="8" name="TextBox 7"/>
          <p:cNvSpPr txBox="1"/>
          <p:nvPr/>
        </p:nvSpPr>
        <p:spPr>
          <a:xfrm>
            <a:off x="658368" y="3931920"/>
            <a:ext cx="10881360" cy="548640"/>
          </a:xfrm>
          <a:prstGeom prst="rect">
            <a:avLst/>
          </a:prstGeom>
          <a:noFill/>
        </p:spPr>
        <p:txBody>
          <a:bodyPr wrap="square">
            <a:spAutoFit/>
          </a:bodyPr>
          <a:lstStyle/>
          <a:p>
            <a:r>
              <a:rPr sz="1550" b="1" i="0">
                <a:solidFill>
                  <a:srgbClr val="006E96"/>
                </a:solidFill>
                <a:latin typeface="Arial"/>
              </a:rPr>
              <a:t>When they decide what comes first, both point to the same part of the same page.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The five domains, as a map</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500" b="1" i="0">
                <a:solidFill>
                  <a:srgbClr val="1A1A1A"/>
                </a:solidFill>
                <a:latin typeface="Arial"/>
              </a:rPr>
              <a:t>One page with five domains, a foundation of governance, policy and law carrying access, digital data, interoperability and digital identity, shows your minister what the country has and what it lacks.</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Place your systems, laws and public bodies on the five-domain map.</a:t>
            </a:r>
          </a:p>
          <a:p>
            <a:pPr algn="l">
              <a:spcAft>
                <a:spcPts val="400"/>
              </a:spcAft>
            </a:pPr>
            <a:r>
              <a:rPr sz="1800" b="0" i="0">
                <a:solidFill>
                  <a:srgbClr val="595959"/>
                </a:solidFill>
                <a:latin typeface="Arial"/>
              </a:rPr>
              <a:t>The prompt in the companion material gives you a map of the five domains with every item placed and its reasoning.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The five domains, as a map</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sections 2.3, 2.5, 3.1, 3.3.1 and 3.4.1 to 3.4.4</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The five domains, as a map</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