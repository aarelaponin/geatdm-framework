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4" r:id="rId66"/>
    <p:sldId id="2745" r:id="rId67"/>
    <p:sldId id="2746" r:id="rId68"/>
    <p:sldId id="2747" r:id="rId69"/>
    <p:sldId id="2748" r:id="rId70"/>
    <p:sldId id="2749" r:id="rId71"/>
    <p:sldId id="2750" r:id="rId72"/>
    <p:sldId id="275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assessors who read the same evidence should reach the same score. If they do not, the score is an opinion, and a minister can set it aside. Written criteria on a published scale prevent that.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scale is the one UNDP publishes in its Digital Development Compass. It has five stages, under these names: Basic, Opportunistic, Systematic, Differentiating and Transformational. The Compass rescales all scores between zero and five, with no zero scores, so that each stage takes one unit of that range. The domains you score are those of PAERA, the GovStack reference architecture, which gives no scale of its own for a national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rule that lays the Compass over the five domains is this course's own, and it has four parts. Each of the 26 sub-components has written criteria at three levels: Basic, Systematic and Transformational. Meeting part of the Systematic criterion places a sub-component at Opportunistic; part of the Transformational one, at Differentiating. Only verified positions are scored. Each stage scores the middle of its unit, from 0.5 for Basic to 4.5 for Transformational. A domain's score is the mean of its sub-components, to one decimal place, and its stage is the unit the score falls 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result for Progressa, the fictional country of these examples, on one table. Governance, 1.9, Opportunistic. Access, 1.3, Opportunistic. Digital data, 1.3, Opportunistic. Interoperability, 2.1, Systematic. Digital identity, 2.3, Systematic. Each row also names a main strength and a development priority. For digital data, the strength is a working national identity register, and the priority is to make PLR, the learner registry, the authoritative learner register. The digital data score is the mean of six sub-components. Five sit at Opportunistic and one, data quality and master data, at Basic. That gives 1.3.</a:t>
            </a:r>
          </a:p>
          <a:p/>
          <a:p>
            <a:r>
              <a:t>Production cue: the pivotal slide of this video — the whole picture on one table. The written guide carries figure F4. Reveal the rows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applies the scoring prompt to Progressa's digital data domain. The prompt proposes a stage for each sub-component, and quotes the evidence for each criterion. The assessor confirms or changes each stage in a written record. A good run passes when every stage rests on quoted, verified evidence and the arithmetic gives 1.3. One correction shows why the rule matters. Progressa's draft placed interoperability at 2.3, from an unverified desk result. But a session had already verified that the ministry of education is not a member of Linkup, the data exchange. Once that was pointed out, the score fell to 2.1. Its stage stayed Systematic.</a:t>
            </a:r>
          </a:p>
          <a:p/>
          <a:p>
            <a:r>
              <a:t>On screen: the storyboard's steps as text, marked 'What a good run shows', in the place of the demonstration segment until it is recorded. The narration says what the walkthrough shows and what counts as a pass, never that it has run.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Score every domain on five published stages against written criteria. Two assessors then reach the same result, and the whole picture fits on one table.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Score each domain: five stages and one table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Score each domain on five published stages against written criteria, so that two assessors reach the same result and the whole picture fits on one table.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assessors who read the same evidence should reach the same score.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If they do not, the score is an opinion, and a minister can set it aside.</a:t>
            </a:r>
          </a:p>
          <a:p>
            <a:pPr>
              <a:spcAft>
                <a:spcPts val="800"/>
              </a:spcAft>
            </a:pPr>
            <a:r>
              <a:rPr sz="1700" b="0" i="0">
                <a:solidFill>
                  <a:srgbClr val="595959"/>
                </a:solidFill>
                <a:latin typeface="Arial"/>
              </a:rPr>
              <a:t>Written criteria on a published scale prevent that.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published stages</a:t>
            </a:r>
          </a:p>
        </p:txBody>
      </p:sp>
      <p:sp>
        <p:nvSpPr>
          <p:cNvPr id="4" name="TextBox 3"/>
          <p:cNvSpPr txBox="1"/>
          <p:nvPr/>
        </p:nvSpPr>
        <p:spPr>
          <a:xfrm>
            <a:off x="658368" y="1463040"/>
            <a:ext cx="10984687" cy="704087"/>
          </a:xfrm>
          <a:prstGeom prst="rect">
            <a:avLst/>
          </a:prstGeom>
          <a:noFill/>
        </p:spPr>
        <p:txBody>
          <a:bodyPr wrap="square">
            <a:spAutoFit/>
          </a:bodyPr>
          <a:lstStyle/>
          <a:p>
            <a:pPr>
              <a:spcAft>
                <a:spcPts val="300"/>
              </a:spcAft>
            </a:pPr>
            <a:r>
              <a:rPr sz="1900" b="1" i="0">
                <a:solidFill>
                  <a:srgbClr val="1A1A1A"/>
                </a:solidFill>
                <a:latin typeface="Arial"/>
              </a:rPr>
              <a:t>Basic</a:t>
            </a:r>
          </a:p>
          <a:p>
            <a:pPr>
              <a:spcAft>
                <a:spcPts val="300"/>
              </a:spcAft>
            </a:pPr>
            <a:r>
              <a:rPr sz="1550" b="0" i="0">
                <a:solidFill>
                  <a:srgbClr val="595959"/>
                </a:solidFill>
                <a:latin typeface="Arial"/>
              </a:rPr>
              <a:t>0 to 1.</a:t>
            </a:r>
          </a:p>
        </p:txBody>
      </p:sp>
      <p:sp>
        <p:nvSpPr>
          <p:cNvPr id="5" name="Rectangle 4"/>
          <p:cNvSpPr/>
          <p:nvPr/>
        </p:nvSpPr>
        <p:spPr>
          <a:xfrm>
            <a:off x="621792" y="21717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12848"/>
            <a:ext cx="10984687" cy="704087"/>
          </a:xfrm>
          <a:prstGeom prst="rect">
            <a:avLst/>
          </a:prstGeom>
          <a:noFill/>
        </p:spPr>
        <p:txBody>
          <a:bodyPr wrap="square">
            <a:spAutoFit/>
          </a:bodyPr>
          <a:lstStyle/>
          <a:p>
            <a:pPr>
              <a:spcAft>
                <a:spcPts val="300"/>
              </a:spcAft>
            </a:pPr>
            <a:r>
              <a:rPr sz="1900" b="1" i="0">
                <a:solidFill>
                  <a:srgbClr val="1A1A1A"/>
                </a:solidFill>
                <a:latin typeface="Arial"/>
              </a:rPr>
              <a:t>Opportunistic</a:t>
            </a:r>
          </a:p>
          <a:p>
            <a:pPr>
              <a:spcAft>
                <a:spcPts val="300"/>
              </a:spcAft>
            </a:pPr>
            <a:r>
              <a:rPr sz="1550" b="0" i="0">
                <a:solidFill>
                  <a:srgbClr val="595959"/>
                </a:solidFill>
                <a:latin typeface="Arial"/>
              </a:rPr>
              <a:t>1 to 2.</a:t>
            </a:r>
          </a:p>
        </p:txBody>
      </p:sp>
      <p:sp>
        <p:nvSpPr>
          <p:cNvPr id="7" name="Rectangle 6"/>
          <p:cNvSpPr/>
          <p:nvPr/>
        </p:nvSpPr>
        <p:spPr>
          <a:xfrm>
            <a:off x="621792" y="292150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62656"/>
            <a:ext cx="10984687" cy="704087"/>
          </a:xfrm>
          <a:prstGeom prst="rect">
            <a:avLst/>
          </a:prstGeom>
          <a:noFill/>
        </p:spPr>
        <p:txBody>
          <a:bodyPr wrap="square">
            <a:spAutoFit/>
          </a:bodyPr>
          <a:lstStyle/>
          <a:p>
            <a:pPr>
              <a:spcAft>
                <a:spcPts val="300"/>
              </a:spcAft>
            </a:pPr>
            <a:r>
              <a:rPr sz="1900" b="1" i="0">
                <a:solidFill>
                  <a:srgbClr val="1A1A1A"/>
                </a:solidFill>
                <a:latin typeface="Arial"/>
              </a:rPr>
              <a:t>Systematic</a:t>
            </a:r>
          </a:p>
          <a:p>
            <a:pPr>
              <a:spcAft>
                <a:spcPts val="300"/>
              </a:spcAft>
            </a:pPr>
            <a:r>
              <a:rPr sz="1550" b="0" i="0">
                <a:solidFill>
                  <a:srgbClr val="595959"/>
                </a:solidFill>
                <a:latin typeface="Arial"/>
              </a:rPr>
              <a:t>2 to 3.</a:t>
            </a:r>
          </a:p>
        </p:txBody>
      </p:sp>
      <p:sp>
        <p:nvSpPr>
          <p:cNvPr id="9" name="Rectangle 8"/>
          <p:cNvSpPr/>
          <p:nvPr/>
        </p:nvSpPr>
        <p:spPr>
          <a:xfrm>
            <a:off x="621792" y="36713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712464"/>
            <a:ext cx="10984687" cy="704087"/>
          </a:xfrm>
          <a:prstGeom prst="rect">
            <a:avLst/>
          </a:prstGeom>
          <a:noFill/>
        </p:spPr>
        <p:txBody>
          <a:bodyPr wrap="square">
            <a:spAutoFit/>
          </a:bodyPr>
          <a:lstStyle/>
          <a:p>
            <a:pPr>
              <a:spcAft>
                <a:spcPts val="300"/>
              </a:spcAft>
            </a:pPr>
            <a:r>
              <a:rPr sz="1900" b="1" i="0">
                <a:solidFill>
                  <a:srgbClr val="1A1A1A"/>
                </a:solidFill>
                <a:latin typeface="Arial"/>
              </a:rPr>
              <a:t>Differentiating</a:t>
            </a:r>
          </a:p>
          <a:p>
            <a:pPr>
              <a:spcAft>
                <a:spcPts val="300"/>
              </a:spcAft>
            </a:pPr>
            <a:r>
              <a:rPr sz="1550" b="0" i="0">
                <a:solidFill>
                  <a:srgbClr val="595959"/>
                </a:solidFill>
                <a:latin typeface="Arial"/>
              </a:rPr>
              <a:t>3 to 4.</a:t>
            </a:r>
          </a:p>
        </p:txBody>
      </p:sp>
      <p:sp>
        <p:nvSpPr>
          <p:cNvPr id="11" name="Rectangle 10"/>
          <p:cNvSpPr/>
          <p:nvPr/>
        </p:nvSpPr>
        <p:spPr>
          <a:xfrm>
            <a:off x="621792" y="44211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462272"/>
            <a:ext cx="10984687" cy="704087"/>
          </a:xfrm>
          <a:prstGeom prst="rect">
            <a:avLst/>
          </a:prstGeom>
          <a:noFill/>
        </p:spPr>
        <p:txBody>
          <a:bodyPr wrap="square">
            <a:spAutoFit/>
          </a:bodyPr>
          <a:lstStyle/>
          <a:p>
            <a:pPr>
              <a:spcAft>
                <a:spcPts val="300"/>
              </a:spcAft>
            </a:pPr>
            <a:r>
              <a:rPr sz="1900" b="1" i="0">
                <a:solidFill>
                  <a:srgbClr val="1A1A1A"/>
                </a:solidFill>
                <a:latin typeface="Arial"/>
              </a:rPr>
              <a:t>Transformational</a:t>
            </a:r>
          </a:p>
          <a:p>
            <a:pPr>
              <a:spcAft>
                <a:spcPts val="300"/>
              </a:spcAft>
            </a:pPr>
            <a:r>
              <a:rPr sz="1550" b="0" i="0">
                <a:solidFill>
                  <a:srgbClr val="595959"/>
                </a:solidFill>
                <a:latin typeface="Arial"/>
              </a:rPr>
              <a:t>4 to 5.</a:t>
            </a:r>
          </a:p>
        </p:txBody>
      </p:sp>
      <p:sp>
        <p:nvSpPr>
          <p:cNvPr id="13" name="TextBox 12"/>
          <p:cNvSpPr txBox="1"/>
          <p:nvPr/>
        </p:nvSpPr>
        <p:spPr>
          <a:xfrm>
            <a:off x="658368" y="5321808"/>
            <a:ext cx="10881360" cy="548640"/>
          </a:xfrm>
          <a:prstGeom prst="rect">
            <a:avLst/>
          </a:prstGeom>
          <a:noFill/>
        </p:spPr>
        <p:txBody>
          <a:bodyPr wrap="square">
            <a:spAutoFit/>
          </a:bodyPr>
          <a:lstStyle/>
          <a:p>
            <a:r>
              <a:rPr sz="1550" b="1" i="0">
                <a:solidFill>
                  <a:srgbClr val="006E96"/>
                </a:solidFill>
                <a:latin typeface="Arial"/>
              </a:rPr>
              <a:t>UNDP Digital Development Compass: all scores rescaled between 0 and 5, with no zero scores.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scoring rule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Each sub-component has written criteria</a:t>
            </a:r>
          </a:p>
          <a:p>
            <a:pPr>
              <a:spcAft>
                <a:spcPts val="300"/>
              </a:spcAft>
            </a:pPr>
            <a:r>
              <a:rPr sz="1550" b="0" i="0">
                <a:solidFill>
                  <a:srgbClr val="595959"/>
                </a:solidFill>
                <a:latin typeface="Arial"/>
              </a:rPr>
              <a:t>At Basic, Systematic and Transformational.</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Each sub-component is placed at one stage</a:t>
            </a:r>
          </a:p>
          <a:p>
            <a:pPr>
              <a:spcAft>
                <a:spcPts val="300"/>
              </a:spcAft>
            </a:pPr>
            <a:r>
              <a:rPr sz="1550" b="0" i="0">
                <a:solidFill>
                  <a:srgbClr val="595959"/>
                </a:solidFill>
                <a:latin typeface="Arial"/>
              </a:rPr>
              <a:t>From verified positions only.</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Each stage scores the middle of its unit</a:t>
            </a:r>
          </a:p>
          <a:p>
            <a:pPr>
              <a:spcAft>
                <a:spcPts val="300"/>
              </a:spcAft>
            </a:pPr>
            <a:r>
              <a:rPr sz="1550" b="0" i="0">
                <a:solidFill>
                  <a:srgbClr val="595959"/>
                </a:solidFill>
                <a:latin typeface="Arial"/>
              </a:rPr>
              <a:t>0.5, 1.5, 2.5, 3.5, 4.5.</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 domain's score is the mean of its sub-components</a:t>
            </a:r>
          </a:p>
          <a:p>
            <a:pPr>
              <a:spcAft>
                <a:spcPts val="300"/>
              </a:spcAft>
            </a:pPr>
            <a:r>
              <a:rPr sz="1550" b="0" i="0">
                <a:solidFill>
                  <a:srgbClr val="595959"/>
                </a:solidFill>
                <a:latin typeface="Arial"/>
              </a:rPr>
              <a:t>Its stage is the unit the score falls in.</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maturity table</a:t>
            </a:r>
          </a:p>
        </p:txBody>
      </p:sp>
      <p:sp>
        <p:nvSpPr>
          <p:cNvPr id="4" name="TextBox 3"/>
          <p:cNvSpPr txBox="1"/>
          <p:nvPr/>
        </p:nvSpPr>
        <p:spPr>
          <a:xfrm>
            <a:off x="658368" y="1417320"/>
            <a:ext cx="3730752" cy="384048"/>
          </a:xfrm>
          <a:prstGeom prst="rect">
            <a:avLst/>
          </a:prstGeom>
          <a:noFill/>
        </p:spPr>
        <p:txBody>
          <a:bodyPr wrap="square">
            <a:spAutoFit/>
          </a:bodyPr>
          <a:lstStyle/>
          <a:p>
            <a:r>
              <a:rPr sz="1500" b="1" i="0">
                <a:solidFill>
                  <a:srgbClr val="006E96"/>
                </a:solidFill>
                <a:latin typeface="Arial"/>
              </a:rPr>
              <a:t>Domain</a:t>
            </a:r>
          </a:p>
        </p:txBody>
      </p:sp>
      <p:sp>
        <p:nvSpPr>
          <p:cNvPr id="5" name="TextBox 4"/>
          <p:cNvSpPr txBox="1"/>
          <p:nvPr/>
        </p:nvSpPr>
        <p:spPr>
          <a:xfrm>
            <a:off x="4498848" y="1417320"/>
            <a:ext cx="2267712" cy="384048"/>
          </a:xfrm>
          <a:prstGeom prst="rect">
            <a:avLst/>
          </a:prstGeom>
          <a:noFill/>
        </p:spPr>
        <p:txBody>
          <a:bodyPr wrap="square">
            <a:spAutoFit/>
          </a:bodyPr>
          <a:lstStyle/>
          <a:p>
            <a:r>
              <a:rPr sz="1500" b="1" i="0">
                <a:solidFill>
                  <a:srgbClr val="006E96"/>
                </a:solidFill>
                <a:latin typeface="Arial"/>
              </a:rPr>
              <a:t>Score</a:t>
            </a:r>
          </a:p>
        </p:txBody>
      </p:sp>
      <p:sp>
        <p:nvSpPr>
          <p:cNvPr id="6" name="TextBox 5"/>
          <p:cNvSpPr txBox="1"/>
          <p:nvPr/>
        </p:nvSpPr>
        <p:spPr>
          <a:xfrm>
            <a:off x="6876288" y="1417320"/>
            <a:ext cx="4553712" cy="384048"/>
          </a:xfrm>
          <a:prstGeom prst="rect">
            <a:avLst/>
          </a:prstGeom>
          <a:noFill/>
        </p:spPr>
        <p:txBody>
          <a:bodyPr wrap="square">
            <a:spAutoFit/>
          </a:bodyPr>
          <a:lstStyle/>
          <a:p>
            <a:r>
              <a:rPr sz="1500" b="1" i="0">
                <a:solidFill>
                  <a:srgbClr val="006E96"/>
                </a:solidFill>
                <a:latin typeface="Arial"/>
              </a:rPr>
              <a:t>Stage</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3730752" cy="694944"/>
          </a:xfrm>
          <a:prstGeom prst="rect">
            <a:avLst/>
          </a:prstGeom>
          <a:noFill/>
        </p:spPr>
        <p:txBody>
          <a:bodyPr wrap="square">
            <a:spAutoFit/>
          </a:bodyPr>
          <a:lstStyle/>
          <a:p>
            <a:r>
              <a:rPr sz="1500" b="1" i="0">
                <a:solidFill>
                  <a:srgbClr val="1A1A1A"/>
                </a:solidFill>
                <a:latin typeface="Arial"/>
              </a:rPr>
              <a:t>GOV</a:t>
            </a:r>
          </a:p>
        </p:txBody>
      </p:sp>
      <p:sp>
        <p:nvSpPr>
          <p:cNvPr id="9" name="TextBox 8"/>
          <p:cNvSpPr txBox="1"/>
          <p:nvPr/>
        </p:nvSpPr>
        <p:spPr>
          <a:xfrm>
            <a:off x="4498848" y="1911095"/>
            <a:ext cx="2267712" cy="694944"/>
          </a:xfrm>
          <a:prstGeom prst="rect">
            <a:avLst/>
          </a:prstGeom>
          <a:noFill/>
        </p:spPr>
        <p:txBody>
          <a:bodyPr wrap="square">
            <a:spAutoFit/>
          </a:bodyPr>
          <a:lstStyle/>
          <a:p>
            <a:r>
              <a:rPr sz="1500" b="0" i="0">
                <a:solidFill>
                  <a:srgbClr val="1A1A1A"/>
                </a:solidFill>
                <a:latin typeface="Arial"/>
              </a:rPr>
              <a:t>1.9</a:t>
            </a:r>
          </a:p>
        </p:txBody>
      </p:sp>
      <p:sp>
        <p:nvSpPr>
          <p:cNvPr id="10" name="TextBox 9"/>
          <p:cNvSpPr txBox="1"/>
          <p:nvPr/>
        </p:nvSpPr>
        <p:spPr>
          <a:xfrm>
            <a:off x="6876288" y="1911095"/>
            <a:ext cx="4553712" cy="694944"/>
          </a:xfrm>
          <a:prstGeom prst="rect">
            <a:avLst/>
          </a:prstGeom>
          <a:noFill/>
        </p:spPr>
        <p:txBody>
          <a:bodyPr wrap="square">
            <a:spAutoFit/>
          </a:bodyPr>
          <a:lstStyle/>
          <a:p>
            <a:r>
              <a:rPr sz="1500" b="0" i="0">
                <a:solidFill>
                  <a:srgbClr val="1A1A1A"/>
                </a:solidFill>
                <a:latin typeface="Arial"/>
              </a:rPr>
              <a:t>Opportunistic</a:t>
            </a:r>
          </a:p>
        </p:txBody>
      </p:sp>
      <p:sp>
        <p:nvSpPr>
          <p:cNvPr id="11" name="Rectangle 10"/>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79191"/>
            <a:ext cx="3730752" cy="694944"/>
          </a:xfrm>
          <a:prstGeom prst="rect">
            <a:avLst/>
          </a:prstGeom>
          <a:noFill/>
        </p:spPr>
        <p:txBody>
          <a:bodyPr wrap="square">
            <a:spAutoFit/>
          </a:bodyPr>
          <a:lstStyle/>
          <a:p>
            <a:r>
              <a:rPr sz="1500" b="1" i="0">
                <a:solidFill>
                  <a:srgbClr val="1A1A1A"/>
                </a:solidFill>
                <a:latin typeface="Arial"/>
              </a:rPr>
              <a:t>ACC</a:t>
            </a:r>
          </a:p>
        </p:txBody>
      </p:sp>
      <p:sp>
        <p:nvSpPr>
          <p:cNvPr id="13" name="TextBox 12"/>
          <p:cNvSpPr txBox="1"/>
          <p:nvPr/>
        </p:nvSpPr>
        <p:spPr>
          <a:xfrm>
            <a:off x="4498848" y="2679191"/>
            <a:ext cx="2267712" cy="694944"/>
          </a:xfrm>
          <a:prstGeom prst="rect">
            <a:avLst/>
          </a:prstGeom>
          <a:noFill/>
        </p:spPr>
        <p:txBody>
          <a:bodyPr wrap="square">
            <a:spAutoFit/>
          </a:bodyPr>
          <a:lstStyle/>
          <a:p>
            <a:r>
              <a:rPr sz="1500" b="0" i="0">
                <a:solidFill>
                  <a:srgbClr val="1A1A1A"/>
                </a:solidFill>
                <a:latin typeface="Arial"/>
              </a:rPr>
              <a:t>1.3</a:t>
            </a:r>
          </a:p>
        </p:txBody>
      </p:sp>
      <p:sp>
        <p:nvSpPr>
          <p:cNvPr id="14" name="TextBox 13"/>
          <p:cNvSpPr txBox="1"/>
          <p:nvPr/>
        </p:nvSpPr>
        <p:spPr>
          <a:xfrm>
            <a:off x="6876288" y="2679191"/>
            <a:ext cx="4553712" cy="694944"/>
          </a:xfrm>
          <a:prstGeom prst="rect">
            <a:avLst/>
          </a:prstGeom>
          <a:noFill/>
        </p:spPr>
        <p:txBody>
          <a:bodyPr wrap="square">
            <a:spAutoFit/>
          </a:bodyPr>
          <a:lstStyle/>
          <a:p>
            <a:r>
              <a:rPr sz="1500" b="0" i="0">
                <a:solidFill>
                  <a:srgbClr val="1A1A1A"/>
                </a:solidFill>
                <a:latin typeface="Arial"/>
              </a:rPr>
              <a:t>Opportunistic</a:t>
            </a:r>
          </a:p>
        </p:txBody>
      </p:sp>
      <p:sp>
        <p:nvSpPr>
          <p:cNvPr id="15" name="Rectangle 14"/>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7288"/>
            <a:ext cx="3730752" cy="694944"/>
          </a:xfrm>
          <a:prstGeom prst="rect">
            <a:avLst/>
          </a:prstGeom>
          <a:noFill/>
        </p:spPr>
        <p:txBody>
          <a:bodyPr wrap="square">
            <a:spAutoFit/>
          </a:bodyPr>
          <a:lstStyle/>
          <a:p>
            <a:r>
              <a:rPr sz="1500" b="1" i="0">
                <a:solidFill>
                  <a:srgbClr val="1A1A1A"/>
                </a:solidFill>
                <a:latin typeface="Arial"/>
              </a:rPr>
              <a:t>DAT</a:t>
            </a:r>
          </a:p>
        </p:txBody>
      </p:sp>
      <p:sp>
        <p:nvSpPr>
          <p:cNvPr id="17" name="TextBox 16"/>
          <p:cNvSpPr txBox="1"/>
          <p:nvPr/>
        </p:nvSpPr>
        <p:spPr>
          <a:xfrm>
            <a:off x="4498848" y="3447288"/>
            <a:ext cx="2267712" cy="694944"/>
          </a:xfrm>
          <a:prstGeom prst="rect">
            <a:avLst/>
          </a:prstGeom>
          <a:noFill/>
        </p:spPr>
        <p:txBody>
          <a:bodyPr wrap="square">
            <a:spAutoFit/>
          </a:bodyPr>
          <a:lstStyle/>
          <a:p>
            <a:r>
              <a:rPr sz="1500" b="0" i="0">
                <a:solidFill>
                  <a:srgbClr val="1A1A1A"/>
                </a:solidFill>
                <a:latin typeface="Arial"/>
              </a:rPr>
              <a:t>1.3</a:t>
            </a:r>
          </a:p>
        </p:txBody>
      </p:sp>
      <p:sp>
        <p:nvSpPr>
          <p:cNvPr id="18" name="TextBox 17"/>
          <p:cNvSpPr txBox="1"/>
          <p:nvPr/>
        </p:nvSpPr>
        <p:spPr>
          <a:xfrm>
            <a:off x="6876288" y="3447288"/>
            <a:ext cx="4553712" cy="694944"/>
          </a:xfrm>
          <a:prstGeom prst="rect">
            <a:avLst/>
          </a:prstGeom>
          <a:noFill/>
        </p:spPr>
        <p:txBody>
          <a:bodyPr wrap="square">
            <a:spAutoFit/>
          </a:bodyPr>
          <a:lstStyle/>
          <a:p>
            <a:r>
              <a:rPr sz="1500" b="0" i="0">
                <a:solidFill>
                  <a:srgbClr val="1A1A1A"/>
                </a:solidFill>
                <a:latin typeface="Arial"/>
              </a:rPr>
              <a:t>Opportunistic</a:t>
            </a:r>
          </a:p>
        </p:txBody>
      </p:sp>
      <p:sp>
        <p:nvSpPr>
          <p:cNvPr id="19" name="Rectangle 18"/>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4"/>
            <a:ext cx="3730752" cy="694944"/>
          </a:xfrm>
          <a:prstGeom prst="rect">
            <a:avLst/>
          </a:prstGeom>
          <a:noFill/>
        </p:spPr>
        <p:txBody>
          <a:bodyPr wrap="square">
            <a:spAutoFit/>
          </a:bodyPr>
          <a:lstStyle/>
          <a:p>
            <a:r>
              <a:rPr sz="1500" b="1" i="0">
                <a:solidFill>
                  <a:srgbClr val="1A1A1A"/>
                </a:solidFill>
                <a:latin typeface="Arial"/>
              </a:rPr>
              <a:t>INT</a:t>
            </a:r>
          </a:p>
        </p:txBody>
      </p:sp>
      <p:sp>
        <p:nvSpPr>
          <p:cNvPr id="21" name="TextBox 20"/>
          <p:cNvSpPr txBox="1"/>
          <p:nvPr/>
        </p:nvSpPr>
        <p:spPr>
          <a:xfrm>
            <a:off x="4498848" y="4215384"/>
            <a:ext cx="2267712" cy="694944"/>
          </a:xfrm>
          <a:prstGeom prst="rect">
            <a:avLst/>
          </a:prstGeom>
          <a:noFill/>
        </p:spPr>
        <p:txBody>
          <a:bodyPr wrap="square">
            <a:spAutoFit/>
          </a:bodyPr>
          <a:lstStyle/>
          <a:p>
            <a:r>
              <a:rPr sz="1500" b="0" i="0">
                <a:solidFill>
                  <a:srgbClr val="1A1A1A"/>
                </a:solidFill>
                <a:latin typeface="Arial"/>
              </a:rPr>
              <a:t>2.1</a:t>
            </a:r>
          </a:p>
        </p:txBody>
      </p:sp>
      <p:sp>
        <p:nvSpPr>
          <p:cNvPr id="22" name="TextBox 21"/>
          <p:cNvSpPr txBox="1"/>
          <p:nvPr/>
        </p:nvSpPr>
        <p:spPr>
          <a:xfrm>
            <a:off x="6876288" y="4215384"/>
            <a:ext cx="4553712" cy="694944"/>
          </a:xfrm>
          <a:prstGeom prst="rect">
            <a:avLst/>
          </a:prstGeom>
          <a:noFill/>
        </p:spPr>
        <p:txBody>
          <a:bodyPr wrap="square">
            <a:spAutoFit/>
          </a:bodyPr>
          <a:lstStyle/>
          <a:p>
            <a:r>
              <a:rPr sz="1500" b="0" i="0">
                <a:solidFill>
                  <a:srgbClr val="1A1A1A"/>
                </a:solidFill>
                <a:latin typeface="Arial"/>
              </a:rPr>
              <a:t>Systematic</a:t>
            </a:r>
          </a:p>
        </p:txBody>
      </p:sp>
      <p:sp>
        <p:nvSpPr>
          <p:cNvPr id="23" name="Rectangle 22"/>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83480"/>
            <a:ext cx="3730752" cy="694944"/>
          </a:xfrm>
          <a:prstGeom prst="rect">
            <a:avLst/>
          </a:prstGeom>
          <a:noFill/>
        </p:spPr>
        <p:txBody>
          <a:bodyPr wrap="square">
            <a:spAutoFit/>
          </a:bodyPr>
          <a:lstStyle/>
          <a:p>
            <a:r>
              <a:rPr sz="1500" b="1" i="0">
                <a:solidFill>
                  <a:srgbClr val="1A1A1A"/>
                </a:solidFill>
                <a:latin typeface="Arial"/>
              </a:rPr>
              <a:t>IDN</a:t>
            </a:r>
          </a:p>
        </p:txBody>
      </p:sp>
      <p:sp>
        <p:nvSpPr>
          <p:cNvPr id="25" name="TextBox 24"/>
          <p:cNvSpPr txBox="1"/>
          <p:nvPr/>
        </p:nvSpPr>
        <p:spPr>
          <a:xfrm>
            <a:off x="4498848" y="4983480"/>
            <a:ext cx="2267712" cy="694944"/>
          </a:xfrm>
          <a:prstGeom prst="rect">
            <a:avLst/>
          </a:prstGeom>
          <a:noFill/>
        </p:spPr>
        <p:txBody>
          <a:bodyPr wrap="square">
            <a:spAutoFit/>
          </a:bodyPr>
          <a:lstStyle/>
          <a:p>
            <a:r>
              <a:rPr sz="1500" b="0" i="0">
                <a:solidFill>
                  <a:srgbClr val="1A1A1A"/>
                </a:solidFill>
                <a:latin typeface="Arial"/>
              </a:rPr>
              <a:t>2.3</a:t>
            </a:r>
          </a:p>
        </p:txBody>
      </p:sp>
      <p:sp>
        <p:nvSpPr>
          <p:cNvPr id="26" name="TextBox 25"/>
          <p:cNvSpPr txBox="1"/>
          <p:nvPr/>
        </p:nvSpPr>
        <p:spPr>
          <a:xfrm>
            <a:off x="6876288" y="4983480"/>
            <a:ext cx="4553712" cy="694944"/>
          </a:xfrm>
          <a:prstGeom prst="rect">
            <a:avLst/>
          </a:prstGeom>
          <a:noFill/>
        </p:spPr>
        <p:txBody>
          <a:bodyPr wrap="square">
            <a:spAutoFit/>
          </a:bodyPr>
          <a:lstStyle/>
          <a:p>
            <a:r>
              <a:rPr sz="1500" b="0" i="0">
                <a:solidFill>
                  <a:srgbClr val="1A1A1A"/>
                </a:solidFill>
                <a:latin typeface="Arial"/>
              </a:rPr>
              <a:t>Systematic</a:t>
            </a:r>
          </a:p>
        </p:txBody>
      </p:sp>
      <p:sp>
        <p:nvSpPr>
          <p:cNvPr id="27" name="TextBox 26"/>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Illustrative. Worked example E5.</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Demonstration: scoring Progressa's digital data domain</a:t>
            </a:r>
          </a:p>
        </p:txBody>
      </p:sp>
      <p:sp>
        <p:nvSpPr>
          <p:cNvPr id="4" name="TextBox 3"/>
          <p:cNvSpPr txBox="1"/>
          <p:nvPr/>
        </p:nvSpPr>
        <p:spPr>
          <a:xfrm>
            <a:off x="658368" y="1280160"/>
            <a:ext cx="5486400" cy="320040"/>
          </a:xfrm>
          <a:prstGeom prst="rect">
            <a:avLst/>
          </a:prstGeom>
          <a:noFill/>
        </p:spPr>
        <p:txBody>
          <a:bodyPr wrap="square">
            <a:spAutoFit/>
          </a:bodyPr>
          <a:lstStyle/>
          <a:p>
            <a:r>
              <a:rPr sz="1200" b="1" i="0">
                <a:solidFill>
                  <a:srgbClr val="595959"/>
                </a:solidFill>
                <a:latin typeface="Arial"/>
              </a:rPr>
              <a:t>WHAT A GOOD RUN SHOWS</a:t>
            </a:r>
          </a:p>
        </p:txBody>
      </p:sp>
      <p:sp>
        <p:nvSpPr>
          <p:cNvPr id="5" name="Oval 4"/>
          <p:cNvSpPr/>
          <p:nvPr/>
        </p:nvSpPr>
        <p:spPr>
          <a:xfrm>
            <a:off x="621792" y="1737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6" name="TextBox 5"/>
          <p:cNvSpPr txBox="1"/>
          <p:nvPr/>
        </p:nvSpPr>
        <p:spPr>
          <a:xfrm>
            <a:off x="1115568" y="1691640"/>
            <a:ext cx="10527487" cy="804672"/>
          </a:xfrm>
          <a:prstGeom prst="rect">
            <a:avLst/>
          </a:prstGeom>
          <a:noFill/>
        </p:spPr>
        <p:txBody>
          <a:bodyPr wrap="square">
            <a:spAutoFit/>
          </a:bodyPr>
          <a:lstStyle/>
          <a:p>
            <a:pPr>
              <a:spcAft>
                <a:spcPts val="300"/>
              </a:spcAft>
            </a:pPr>
            <a:r>
              <a:rPr sz="1700" b="1" i="0">
                <a:solidFill>
                  <a:srgbClr val="1A1A1A"/>
                </a:solidFill>
                <a:latin typeface="Arial"/>
              </a:rPr>
              <a:t>The two inputs — the criteria of digital data, D1 to D6 with five rows each, and the domain's verified answers with their evidence</a:t>
            </a:r>
          </a:p>
        </p:txBody>
      </p:sp>
      <p:sp>
        <p:nvSpPr>
          <p:cNvPr id="7" name="Rectangle 6"/>
          <p:cNvSpPr/>
          <p:nvPr/>
        </p:nvSpPr>
        <p:spPr>
          <a:xfrm>
            <a:off x="621792" y="250088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258775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9" name="TextBox 8"/>
          <p:cNvSpPr txBox="1"/>
          <p:nvPr/>
        </p:nvSpPr>
        <p:spPr>
          <a:xfrm>
            <a:off x="1115568" y="2542032"/>
            <a:ext cx="10527487" cy="804672"/>
          </a:xfrm>
          <a:prstGeom prst="rect">
            <a:avLst/>
          </a:prstGeom>
          <a:noFill/>
        </p:spPr>
        <p:txBody>
          <a:bodyPr wrap="square">
            <a:spAutoFit/>
          </a:bodyPr>
          <a:lstStyle/>
          <a:p>
            <a:pPr>
              <a:spcAft>
                <a:spcPts val="300"/>
              </a:spcAft>
            </a:pPr>
            <a:r>
              <a:rPr sz="1700" b="1" i="0">
                <a:solidFill>
                  <a:srgbClr val="1A1A1A"/>
                </a:solidFill>
                <a:latin typeface="Arial"/>
              </a:rPr>
              <a:t>Part A — one row per sub-component: proposed stage, score, and the quotations for the parts of the criterion met and not met</a:t>
            </a:r>
          </a:p>
        </p:txBody>
      </p:sp>
      <p:sp>
        <p:nvSpPr>
          <p:cNvPr id="10" name="Rectangle 9"/>
          <p:cNvSpPr/>
          <p:nvPr/>
        </p:nvSpPr>
        <p:spPr>
          <a:xfrm>
            <a:off x="621792" y="3351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 y="3438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1115568" y="3392424"/>
            <a:ext cx="10527487" cy="804672"/>
          </a:xfrm>
          <a:prstGeom prst="rect">
            <a:avLst/>
          </a:prstGeom>
          <a:noFill/>
        </p:spPr>
        <p:txBody>
          <a:bodyPr wrap="square">
            <a:spAutoFit/>
          </a:bodyPr>
          <a:lstStyle/>
          <a:p>
            <a:pPr>
              <a:spcAft>
                <a:spcPts val="300"/>
              </a:spcAft>
            </a:pPr>
            <a:r>
              <a:rPr sz="1700" b="1" i="0">
                <a:solidFill>
                  <a:srgbClr val="1A1A1A"/>
                </a:solidFill>
                <a:latin typeface="Arial"/>
              </a:rPr>
              <a:t>Part B, the arithmetic — (1.5 + 1.5 + 0.5 + 1.5 + 1.5 + 1.5) ÷ 6 = 1.3, Opportunistic</a:t>
            </a:r>
          </a:p>
        </p:txBody>
      </p:sp>
      <p:sp>
        <p:nvSpPr>
          <p:cNvPr id="13" name="Rectangle 12"/>
          <p:cNvSpPr/>
          <p:nvPr/>
        </p:nvSpPr>
        <p:spPr>
          <a:xfrm>
            <a:off x="621792" y="42016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42885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5" name="TextBox 14"/>
          <p:cNvSpPr txBox="1"/>
          <p:nvPr/>
        </p:nvSpPr>
        <p:spPr>
          <a:xfrm>
            <a:off x="1115568" y="4242816"/>
            <a:ext cx="10527487" cy="804672"/>
          </a:xfrm>
          <a:prstGeom prst="rect">
            <a:avLst/>
          </a:prstGeom>
          <a:noFill/>
        </p:spPr>
        <p:txBody>
          <a:bodyPr wrap="square">
            <a:spAutoFit/>
          </a:bodyPr>
          <a:lstStyle/>
          <a:p>
            <a:pPr>
              <a:spcAft>
                <a:spcPts val="300"/>
              </a:spcAft>
            </a:pPr>
            <a:r>
              <a:rPr sz="1700" b="1" i="0">
                <a:solidFill>
                  <a:srgbClr val="1A1A1A"/>
                </a:solidFill>
                <a:latin typeface="Arial"/>
              </a:rPr>
              <a:t>Parts C and D — the answers not used, with the reason, and any two pieces of evidence that disagree, quoted side by side</a:t>
            </a:r>
          </a:p>
        </p:txBody>
      </p:sp>
      <p:sp>
        <p:nvSpPr>
          <p:cNvPr id="16" name="Rectangle 15"/>
          <p:cNvSpPr/>
          <p:nvPr/>
        </p:nvSpPr>
        <p:spPr>
          <a:xfrm>
            <a:off x="621792" y="50520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1792" y="51389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8" name="TextBox 17"/>
          <p:cNvSpPr txBox="1"/>
          <p:nvPr/>
        </p:nvSpPr>
        <p:spPr>
          <a:xfrm>
            <a:off x="1115568" y="5093208"/>
            <a:ext cx="10527487" cy="804672"/>
          </a:xfrm>
          <a:prstGeom prst="rect">
            <a:avLst/>
          </a:prstGeom>
          <a:noFill/>
        </p:spPr>
        <p:txBody>
          <a:bodyPr wrap="square">
            <a:spAutoFit/>
          </a:bodyPr>
          <a:lstStyle/>
          <a:p>
            <a:pPr>
              <a:spcAft>
                <a:spcPts val="300"/>
              </a:spcAft>
            </a:pPr>
            <a:r>
              <a:rPr sz="1700" b="1" i="0">
                <a:solidFill>
                  <a:srgbClr val="1A1A1A"/>
                </a:solidFill>
                <a:latin typeface="Arial"/>
              </a:rPr>
              <a:t>The record of confirmation — the stage proposed and the stage confirmed for each sub-component, with the reason for any change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Score each domain on five published stages against written criteria, so that two assessors reach the same result and the whole picture fits on one table.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a stage for each sub-component with the scoring prompt.</a:t>
            </a:r>
          </a:p>
          <a:p>
            <a:pPr algn="l">
              <a:spcAft>
                <a:spcPts val="400"/>
              </a:spcAft>
            </a:pPr>
            <a:r>
              <a:rPr sz="1800" b="0" i="0">
                <a:solidFill>
                  <a:srgbClr val="595959"/>
                </a:solidFill>
                <a:latin typeface="Arial"/>
              </a:rPr>
              <a:t>The prompt in the companion material gives you a proposed stage and score for every sub-component, each criterion quoted against the evidence.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 Digital Development Compass: Methodology (web page)</a:t>
            </a:r>
          </a:p>
          <a:p>
            <a:pPr>
              <a:spcAft>
                <a:spcPts val="1200"/>
              </a:spcAft>
            </a:pPr>
            <a:r>
              <a:rPr sz="1700" b="0" i="0">
                <a:solidFill>
                  <a:srgbClr val="1A1A1A"/>
                </a:solidFill>
                <a:latin typeface="Arial"/>
              </a:rPr>
              <a:t>•  PAERA v1.0 — sections 3.3.1, 5.1, 5.3 and 5.4</a:t>
            </a:r>
          </a:p>
          <a:p>
            <a:pPr>
              <a:spcAft>
                <a:spcPts val="1200"/>
              </a:spcAft>
            </a:pPr>
            <a:r>
              <a:rPr sz="1700" b="0" i="0">
                <a:solidFill>
                  <a:srgbClr val="1A1A1A"/>
                </a:solidFill>
                <a:latin typeface="Arial"/>
              </a:rPr>
              <a:t>•  The criteria and the scoring rule — this course's own,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