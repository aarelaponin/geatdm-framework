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0" r:id="rId42"/>
    <p:sldId id="2721" r:id="rId43"/>
    <p:sldId id="2722" r:id="rId44"/>
    <p:sldId id="2723" r:id="rId45"/>
    <p:sldId id="2724" r:id="rId17"/>
    <p:sldId id="2725" r:id="rId16"/>
    <p:sldId id="2726" r:id="rId15"/>
    <p:sldId id="272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assessment usually starts by asking officials for documents, and then waiting. Start instead with what your country has already published. In a few days an AI assistant gives you a first picture, and a list of points to check.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desk review runs on a question bank. The bank in the assessment toolkit holds 62 questions, arranged by the five domains and their 26 parts, called sub-components. Each question has a code. It names the part it informs, the documents that answer it, and what a good answer looks like. Take question DAT-Q03: is there an authoritative register of learners, and which body keeps it? A good answer is one register, kept by a named body under law, linked to the national identity. PAERA, the GovStack reference architecture, lists the subjects such an assessment must cover. It also says that GovStack has a tool for a quick assessment, which it does not name.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assistant works in five stages. It collects what the public sources say, each note with its source and date. It drafts one result per question, with a provisional stage and a confidence between zero and one. It writes the gap between each result and good practice. It assembles a desk report, one chapter per domain. Then it removes duplicate gaps and sorts them, so that each can go to the right person. A person reads the output of every stage before the next one runs. The assistant drafts; it does not decide.</a:t>
            </a:r>
          </a:p>
          <a:p/>
          <a:p>
            <a:r>
              <a:t>Production cue: the pivotal slide of this video. Reveal the stages one at a time; let the closing line land.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run on the public record of Progressa, the fictional country of these examples. It read six sources, from the education statistics yearbook to the data protection act. Desk result AF-DAT-01 says that PLR, the learner registry, holds enrolment records for some learners. Enrolment is still counted from school returns. Provisional stage Basic, confidence 0.8. AF-INT-01 says that Linkup, the national data exchange, runs as a pilot, and that MoEYS, the ministry of education, is not a member: confidence 0.7. AF-DAT-02 suggests learner-level data for secondary schools, with a confidence of only 0.4. The run ends with desk gaps, such as DG-03: PLR not yet the authoritative learner register. It also reads the record against PAERA's seven signs of low maturity. Lack of digital data: yes, for learners.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follows one domain, digital data, through the five stages, from the question bank to the sorted desk gaps. A good run passes when every draft result names its question and its source, carries a provisional stage and a confidence, and is marked unverified. Nothing in it counts as a finding. The point with the lowest confidence goes to the officials first. In Progressa, that point, AF-DAT-02, turned out to be wrong when the officials showed their system.</a:t>
            </a:r>
          </a:p>
          <a:p/>
          <a:p>
            <a:r>
              <a:t>On screen: the storyboard's steps as text, marked 'What a good run shows', in the place of the demonstration segment until it is recorded. The narration says what the walkthrough shows and what counts as a pass, never that it has run.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Read what the country has published, with AI, before you ask anyone. You get first findings and gaps, each tied to its source: a draft to verify, not a verdict.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Start at the desk: a first assessment from public sources, with AI</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AI-assisted review of what your country has already published gives you first findings and gaps before you ask anyone a question, each tied to its source, and it is a draft to verify, not a verdict.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assessment usually starts by asking officials for documents — and then waiting.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Start instead with what your country has already published.</a:t>
            </a:r>
          </a:p>
          <a:p>
            <a:pPr>
              <a:spcAft>
                <a:spcPts val="800"/>
              </a:spcAft>
            </a:pPr>
            <a:r>
              <a:rPr sz="1700" b="0" i="0">
                <a:solidFill>
                  <a:srgbClr val="595959"/>
                </a:solidFill>
                <a:latin typeface="Arial"/>
              </a:rPr>
              <a:t>In a few days an AI assistant gives you a first picture, and a list of points to check.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question bank</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62 questions</a:t>
            </a:r>
          </a:p>
          <a:p>
            <a:pPr>
              <a:spcAft>
                <a:spcPts val="300"/>
              </a:spcAft>
            </a:pPr>
            <a:r>
              <a:rPr sz="1550" b="0" i="0">
                <a:solidFill>
                  <a:srgbClr val="595959"/>
                </a:solidFill>
                <a:latin typeface="Arial"/>
              </a:rPr>
              <a:t>Arranged by the five domains and their 26 sub-components.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Each question</a:t>
            </a:r>
          </a:p>
          <a:p>
            <a:pPr>
              <a:spcAft>
                <a:spcPts val="300"/>
              </a:spcAft>
            </a:pPr>
            <a:r>
              <a:rPr sz="1550" b="0" i="0">
                <a:solidFill>
                  <a:srgbClr val="595959"/>
                </a:solidFill>
                <a:latin typeface="Arial"/>
              </a:rPr>
              <a:t>Its code, the sub-component it informs, the evidence that answers it, what a good answer looks like.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Example — DAT-Q03</a:t>
            </a:r>
          </a:p>
          <a:p>
            <a:pPr>
              <a:spcAft>
                <a:spcPts val="300"/>
              </a:spcAft>
            </a:pPr>
            <a:r>
              <a:rPr sz="1550" b="0" i="0">
                <a:solidFill>
                  <a:srgbClr val="595959"/>
                </a:solidFill>
                <a:latin typeface="Arial"/>
              </a:rPr>
              <a:t>Is there an authoritative register of learners, and which body keeps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workflow, in five stages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40664"/>
          </a:xfrm>
          <a:prstGeom prst="rect">
            <a:avLst/>
          </a:prstGeom>
          <a:noFill/>
        </p:spPr>
        <p:txBody>
          <a:bodyPr wrap="square">
            <a:spAutoFit/>
          </a:bodyPr>
          <a:lstStyle/>
          <a:p>
            <a:pPr>
              <a:spcAft>
                <a:spcPts val="300"/>
              </a:spcAft>
            </a:pPr>
            <a:r>
              <a:rPr sz="1900" b="1" i="0">
                <a:solidFill>
                  <a:srgbClr val="1A1A1A"/>
                </a:solidFill>
                <a:latin typeface="Arial"/>
              </a:rPr>
              <a:t>Collect practice</a:t>
            </a:r>
          </a:p>
          <a:p>
            <a:pPr>
              <a:spcAft>
                <a:spcPts val="300"/>
              </a:spcAft>
            </a:pPr>
            <a:r>
              <a:rPr sz="1550" b="0" i="0">
                <a:solidFill>
                  <a:srgbClr val="595959"/>
                </a:solidFill>
                <a:latin typeface="Arial"/>
              </a:rPr>
              <a:t>Evidence notes, each with its source and date.</a:t>
            </a:r>
          </a:p>
        </p:txBody>
      </p:sp>
      <p:sp>
        <p:nvSpPr>
          <p:cNvPr id="6" name="Rectangle 5"/>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95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49424"/>
            <a:ext cx="10527487" cy="740664"/>
          </a:xfrm>
          <a:prstGeom prst="rect">
            <a:avLst/>
          </a:prstGeom>
          <a:noFill/>
        </p:spPr>
        <p:txBody>
          <a:bodyPr wrap="square">
            <a:spAutoFit/>
          </a:bodyPr>
          <a:lstStyle/>
          <a:p>
            <a:pPr>
              <a:spcAft>
                <a:spcPts val="300"/>
              </a:spcAft>
            </a:pPr>
            <a:r>
              <a:rPr sz="1900" b="1" i="0">
                <a:solidFill>
                  <a:srgbClr val="1A1A1A"/>
                </a:solidFill>
                <a:latin typeface="Arial"/>
              </a:rPr>
              <a:t>Draft findings</a:t>
            </a:r>
          </a:p>
          <a:p>
            <a:pPr>
              <a:spcAft>
                <a:spcPts val="300"/>
              </a:spcAft>
            </a:pPr>
            <a:r>
              <a:rPr sz="1550" b="0" i="0">
                <a:solidFill>
                  <a:srgbClr val="595959"/>
                </a:solidFill>
                <a:latin typeface="Arial"/>
              </a:rPr>
              <a:t>One draft result per question, with a provisional stage and a confidence between 0 and 1.</a:t>
            </a:r>
          </a:p>
        </p:txBody>
      </p:sp>
      <p:sp>
        <p:nvSpPr>
          <p:cNvPr id="9" name="Rectangle 8"/>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815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035808"/>
            <a:ext cx="10527487" cy="740664"/>
          </a:xfrm>
          <a:prstGeom prst="rect">
            <a:avLst/>
          </a:prstGeom>
          <a:noFill/>
        </p:spPr>
        <p:txBody>
          <a:bodyPr wrap="square">
            <a:spAutoFit/>
          </a:bodyPr>
          <a:lstStyle/>
          <a:p>
            <a:pPr>
              <a:spcAft>
                <a:spcPts val="300"/>
              </a:spcAft>
            </a:pPr>
            <a:r>
              <a:rPr sz="1900" b="1" i="0">
                <a:solidFill>
                  <a:srgbClr val="1A1A1A"/>
                </a:solidFill>
                <a:latin typeface="Arial"/>
              </a:rPr>
              <a:t>Draft the gap analysis</a:t>
            </a:r>
          </a:p>
          <a:p>
            <a:pPr>
              <a:spcAft>
                <a:spcPts val="300"/>
              </a:spcAft>
            </a:pPr>
            <a:r>
              <a:rPr sz="1550" b="0" i="0">
                <a:solidFill>
                  <a:srgbClr val="595959"/>
                </a:solidFill>
                <a:latin typeface="Arial"/>
              </a:rPr>
              <a:t>The desk gaps.</a:t>
            </a:r>
          </a:p>
        </p:txBody>
      </p:sp>
      <p:sp>
        <p:nvSpPr>
          <p:cNvPr id="12" name="Rectangle 11"/>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8679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822191"/>
            <a:ext cx="10527487" cy="740664"/>
          </a:xfrm>
          <a:prstGeom prst="rect">
            <a:avLst/>
          </a:prstGeom>
          <a:noFill/>
        </p:spPr>
        <p:txBody>
          <a:bodyPr wrap="square">
            <a:spAutoFit/>
          </a:bodyPr>
          <a:lstStyle/>
          <a:p>
            <a:pPr>
              <a:spcAft>
                <a:spcPts val="300"/>
              </a:spcAft>
            </a:pPr>
            <a:r>
              <a:rPr sz="1900" b="1" i="0">
                <a:solidFill>
                  <a:srgbClr val="1A1A1A"/>
                </a:solidFill>
                <a:latin typeface="Arial"/>
              </a:rPr>
              <a:t>Make the report</a:t>
            </a:r>
          </a:p>
          <a:p>
            <a:pPr>
              <a:spcAft>
                <a:spcPts val="300"/>
              </a:spcAft>
            </a:pPr>
            <a:r>
              <a:rPr sz="1550" b="0" i="0">
                <a:solidFill>
                  <a:srgbClr val="595959"/>
                </a:solidFill>
                <a:latin typeface="Arial"/>
              </a:rPr>
              <a:t>One chapter per domain.</a:t>
            </a:r>
          </a:p>
        </p:txBody>
      </p:sp>
      <p:sp>
        <p:nvSpPr>
          <p:cNvPr id="15" name="Rectangle 14"/>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654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608576"/>
            <a:ext cx="10527487" cy="740664"/>
          </a:xfrm>
          <a:prstGeom prst="rect">
            <a:avLst/>
          </a:prstGeom>
          <a:noFill/>
        </p:spPr>
        <p:txBody>
          <a:bodyPr wrap="square">
            <a:spAutoFit/>
          </a:bodyPr>
          <a:lstStyle/>
          <a:p>
            <a:pPr>
              <a:spcAft>
                <a:spcPts val="300"/>
              </a:spcAft>
            </a:pPr>
            <a:r>
              <a:rPr sz="1900" b="1" i="0">
                <a:solidFill>
                  <a:srgbClr val="1A1A1A"/>
                </a:solidFill>
                <a:latin typeface="Arial"/>
              </a:rPr>
              <a:t>Clean and sort</a:t>
            </a:r>
          </a:p>
          <a:p>
            <a:pPr>
              <a:spcAft>
                <a:spcPts val="300"/>
              </a:spcAft>
            </a:pPr>
            <a:r>
              <a:rPr sz="1550" b="0" i="0">
                <a:solidFill>
                  <a:srgbClr val="595959"/>
                </a:solidFill>
                <a:latin typeface="Arial"/>
              </a:rPr>
              <a:t>The sorted list of desk gaps.</a:t>
            </a:r>
          </a:p>
        </p:txBody>
      </p:sp>
      <p:sp>
        <p:nvSpPr>
          <p:cNvPr id="18" name="TextBox 17"/>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A person reads the output of each stage before the next stage runs.</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desk run</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AF-DAT-01</a:t>
            </a:r>
          </a:p>
          <a:p>
            <a:pPr>
              <a:spcAft>
                <a:spcPts val="300"/>
              </a:spcAft>
            </a:pPr>
            <a:r>
              <a:rPr sz="1550" b="0" i="0">
                <a:solidFill>
                  <a:srgbClr val="595959"/>
                </a:solidFill>
                <a:latin typeface="Arial"/>
              </a:rPr>
              <a:t>PLR holds enrolment records for some learners; enrolment is counted from school returns. Basic; confidence 0.8.</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AF-INT-01</a:t>
            </a:r>
          </a:p>
          <a:p>
            <a:pPr>
              <a:spcAft>
                <a:spcPts val="300"/>
              </a:spcAft>
            </a:pPr>
            <a:r>
              <a:rPr sz="1550" b="0" i="0">
                <a:solidFill>
                  <a:srgbClr val="595959"/>
                </a:solidFill>
                <a:latin typeface="Arial"/>
              </a:rPr>
              <a:t>Linkup runs as a pilot; PNEA, PLR and PNIA are among its members; MoEYS is not. Systematic; confidence 0.7.</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AF-DAT-02</a:t>
            </a:r>
          </a:p>
          <a:p>
            <a:pPr>
              <a:spcAft>
                <a:spcPts val="300"/>
              </a:spcAft>
            </a:pPr>
            <a:r>
              <a:rPr sz="1550" b="0" i="0">
                <a:solidFill>
                  <a:srgbClr val="595959"/>
                </a:solidFill>
                <a:latin typeface="Arial"/>
              </a:rPr>
              <a:t>The yearbook appears to report learner-level data for secondary schools. Systematic; confidence 0.4.</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Desk gaps</a:t>
            </a:r>
          </a:p>
          <a:p>
            <a:pPr>
              <a:spcAft>
                <a:spcPts val="300"/>
              </a:spcAft>
            </a:pPr>
            <a:r>
              <a:rPr sz="1550" b="0" i="0">
                <a:solidFill>
                  <a:srgbClr val="595959"/>
                </a:solidFill>
                <a:latin typeface="Arial"/>
              </a:rPr>
              <a:t>DG-03: PLR not yet the authoritative learner register. DG-05: MoEYS not a member of Linkup.</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Every desk result is unverified. Worked example E2, illustrative.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Demonstration: the desk assessment on Progressa</a:t>
            </a:r>
          </a:p>
        </p:txBody>
      </p:sp>
      <p:sp>
        <p:nvSpPr>
          <p:cNvPr id="4" name="TextBox 3"/>
          <p:cNvSpPr txBox="1"/>
          <p:nvPr/>
        </p:nvSpPr>
        <p:spPr>
          <a:xfrm>
            <a:off x="658368" y="1280160"/>
            <a:ext cx="5486400" cy="320040"/>
          </a:xfrm>
          <a:prstGeom prst="rect">
            <a:avLst/>
          </a:prstGeom>
          <a:noFill/>
        </p:spPr>
        <p:txBody>
          <a:bodyPr wrap="square">
            <a:spAutoFit/>
          </a:bodyPr>
          <a:lstStyle/>
          <a:p>
            <a:r>
              <a:rPr sz="1200" b="1" i="0">
                <a:solidFill>
                  <a:srgbClr val="595959"/>
                </a:solidFill>
                <a:latin typeface="Arial"/>
              </a:rPr>
              <a:t>WHAT A GOOD RUN SHOWS</a:t>
            </a:r>
          </a:p>
        </p:txBody>
      </p:sp>
      <p:sp>
        <p:nvSpPr>
          <p:cNvPr id="5" name="Oval 4"/>
          <p:cNvSpPr/>
          <p:nvPr/>
        </p:nvSpPr>
        <p:spPr>
          <a:xfrm>
            <a:off x="621792" y="1737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6" name="TextBox 5"/>
          <p:cNvSpPr txBox="1"/>
          <p:nvPr/>
        </p:nvSpPr>
        <p:spPr>
          <a:xfrm>
            <a:off x="1115568" y="1691640"/>
            <a:ext cx="10527487" cy="804672"/>
          </a:xfrm>
          <a:prstGeom prst="rect">
            <a:avLst/>
          </a:prstGeom>
          <a:noFill/>
        </p:spPr>
        <p:txBody>
          <a:bodyPr wrap="square">
            <a:spAutoFit/>
          </a:bodyPr>
          <a:lstStyle/>
          <a:p>
            <a:pPr>
              <a:spcAft>
                <a:spcPts val="300"/>
              </a:spcAft>
            </a:pPr>
            <a:r>
              <a:rPr sz="1700" b="1" i="0">
                <a:solidFill>
                  <a:srgbClr val="1A1A1A"/>
                </a:solidFill>
                <a:latin typeface="Arial"/>
              </a:rPr>
              <a:t>The settings of the run — Progressa, education, the six public sources with their dates, the digital data questions loaded from the bank</a:t>
            </a:r>
          </a:p>
        </p:txBody>
      </p:sp>
      <p:sp>
        <p:nvSpPr>
          <p:cNvPr id="7" name="Rectangle 6"/>
          <p:cNvSpPr/>
          <p:nvPr/>
        </p:nvSpPr>
        <p:spPr>
          <a:xfrm>
            <a:off x="621792" y="250088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258775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9" name="TextBox 8"/>
          <p:cNvSpPr txBox="1"/>
          <p:nvPr/>
        </p:nvSpPr>
        <p:spPr>
          <a:xfrm>
            <a:off x="1115568" y="2542032"/>
            <a:ext cx="10527487" cy="804672"/>
          </a:xfrm>
          <a:prstGeom prst="rect">
            <a:avLst/>
          </a:prstGeom>
          <a:noFill/>
        </p:spPr>
        <p:txBody>
          <a:bodyPr wrap="square">
            <a:spAutoFit/>
          </a:bodyPr>
          <a:lstStyle/>
          <a:p>
            <a:pPr>
              <a:spcAft>
                <a:spcPts val="300"/>
              </a:spcAft>
            </a:pPr>
            <a:r>
              <a:rPr sz="1700" b="1" i="0">
                <a:solidFill>
                  <a:srgbClr val="1A1A1A"/>
                </a:solidFill>
                <a:latin typeface="Arial"/>
              </a:rPr>
              <a:t>Stage 1, collect practice — the evidence notes, each with its source and date</a:t>
            </a:r>
          </a:p>
        </p:txBody>
      </p:sp>
      <p:sp>
        <p:nvSpPr>
          <p:cNvPr id="10" name="Rectangle 9"/>
          <p:cNvSpPr/>
          <p:nvPr/>
        </p:nvSpPr>
        <p:spPr>
          <a:xfrm>
            <a:off x="621792" y="3351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 y="3438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1115568" y="3392424"/>
            <a:ext cx="10527487" cy="804672"/>
          </a:xfrm>
          <a:prstGeom prst="rect">
            <a:avLst/>
          </a:prstGeom>
          <a:noFill/>
        </p:spPr>
        <p:txBody>
          <a:bodyPr wrap="square">
            <a:spAutoFit/>
          </a:bodyPr>
          <a:lstStyle/>
          <a:p>
            <a:pPr>
              <a:spcAft>
                <a:spcPts val="300"/>
              </a:spcAft>
            </a:pPr>
            <a:r>
              <a:rPr sz="1700" b="1" i="0">
                <a:solidFill>
                  <a:srgbClr val="1A1A1A"/>
                </a:solidFill>
                <a:latin typeface="Arial"/>
              </a:rPr>
              <a:t>Stage 2, draft findings — AF-DAT-01 (Basic, confidence 0.8) and AF-DAT-02 (Systematic, confidence 0.4), both marked unverified</a:t>
            </a:r>
          </a:p>
        </p:txBody>
      </p:sp>
      <p:sp>
        <p:nvSpPr>
          <p:cNvPr id="13" name="Rectangle 12"/>
          <p:cNvSpPr/>
          <p:nvPr/>
        </p:nvSpPr>
        <p:spPr>
          <a:xfrm>
            <a:off x="621792" y="42016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42885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5" name="TextBox 14"/>
          <p:cNvSpPr txBox="1"/>
          <p:nvPr/>
        </p:nvSpPr>
        <p:spPr>
          <a:xfrm>
            <a:off x="1115568" y="4242816"/>
            <a:ext cx="10527487" cy="804672"/>
          </a:xfrm>
          <a:prstGeom prst="rect">
            <a:avLst/>
          </a:prstGeom>
          <a:noFill/>
        </p:spPr>
        <p:txBody>
          <a:bodyPr wrap="square">
            <a:spAutoFit/>
          </a:bodyPr>
          <a:lstStyle/>
          <a:p>
            <a:pPr>
              <a:spcAft>
                <a:spcPts val="300"/>
              </a:spcAft>
            </a:pPr>
            <a:r>
              <a:rPr sz="1700" b="1" i="0">
                <a:solidFill>
                  <a:srgbClr val="1A1A1A"/>
                </a:solidFill>
                <a:latin typeface="Arial"/>
              </a:rPr>
              <a:t>Stages 3 and 4 — the desk gaps DG-03 and DG-04, and the report's chapter on digital data</a:t>
            </a:r>
          </a:p>
        </p:txBody>
      </p:sp>
      <p:sp>
        <p:nvSpPr>
          <p:cNvPr id="16" name="Rectangle 15"/>
          <p:cNvSpPr/>
          <p:nvPr/>
        </p:nvSpPr>
        <p:spPr>
          <a:xfrm>
            <a:off x="621792" y="50520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1792" y="51389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8" name="TextBox 17"/>
          <p:cNvSpPr txBox="1"/>
          <p:nvPr/>
        </p:nvSpPr>
        <p:spPr>
          <a:xfrm>
            <a:off x="1115568" y="5093208"/>
            <a:ext cx="10527487" cy="804672"/>
          </a:xfrm>
          <a:prstGeom prst="rect">
            <a:avLst/>
          </a:prstGeom>
          <a:noFill/>
        </p:spPr>
        <p:txBody>
          <a:bodyPr wrap="square">
            <a:spAutoFit/>
          </a:bodyPr>
          <a:lstStyle/>
          <a:p>
            <a:pPr>
              <a:spcAft>
                <a:spcPts val="300"/>
              </a:spcAft>
            </a:pPr>
            <a:r>
              <a:rPr sz="1700" b="1" i="0">
                <a:solidFill>
                  <a:srgbClr val="1A1A1A"/>
                </a:solidFill>
                <a:latin typeface="Arial"/>
              </a:rPr>
              <a:t>Stage 5, clean and sort — the sorted desk gaps, each with the unit it is put to; AF-DAT-02 marked to check first</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An AI-assisted review of what your country has already published gives you first findings and gaps before you ask anyone a question, each tied to its source, and it is a draft to verify, not a verdict.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desk assessment from the question bank and your country's public sources.</a:t>
            </a:r>
          </a:p>
          <a:p>
            <a:pPr algn="l">
              <a:spcAft>
                <a:spcPts val="400"/>
              </a:spcAft>
            </a:pPr>
            <a:r>
              <a:rPr sz="1800" b="0" i="0">
                <a:solidFill>
                  <a:srgbClr val="595959"/>
                </a:solidFill>
                <a:latin typeface="Arial"/>
              </a:rPr>
              <a:t>The prompt in the companion material gives you a table of draft findings, each with its source, a provisional stage, a confidence and the mark UNVERIFIED.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3.1.3 and 5.3</a:t>
            </a:r>
          </a:p>
          <a:p>
            <a:pPr>
              <a:spcAft>
                <a:spcPts val="1200"/>
              </a:spcAft>
            </a:pPr>
            <a:r>
              <a:rPr sz="1700" b="0" i="0">
                <a:solidFill>
                  <a:srgbClr val="1A1A1A"/>
                </a:solidFill>
                <a:latin typeface="Arial"/>
              </a:rPr>
              <a:t>•  The question bank and the workflow that runs it — this course's own instruments,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