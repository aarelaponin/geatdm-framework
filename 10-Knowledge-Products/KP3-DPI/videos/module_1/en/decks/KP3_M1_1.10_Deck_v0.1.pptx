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8" r:id="rId90"/>
    <p:sldId id="2769" r:id="rId91"/>
    <p:sldId id="2770" r:id="rId92"/>
    <p:sldId id="2771" r:id="rId93"/>
    <p:sldId id="2772" r:id="rId94"/>
    <p:sldId id="2773" r:id="rId95"/>
    <p:sldId id="2774" r:id="rId96"/>
    <p:sldId id="2775"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roadmap that promises everything proves nothing for years. Pick one service that shows the shared blocks serving real people, and prove it first. For education, that service is registering a learner once.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starts its second phase with high-priority services. Each is prototyped quickly, and then a local system integrator rolls it out in a few months. That gives the government its first practical experience of building fast on shared blocks. A learner registration is such a service. Families meet it when a child starts school, and every later education service needs its record. It needs two building blocks, Registration and a Digital Registry: one registers the learner; the other keeps the record.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first proof. The registration service and the learner register are education's own, and the sector builds them. Identity and payments belong to the country, and the service uses them as they are. The data exchange layer joins them. The parent signs in through the national identity authority. The service registers the child, an officer approves, and the record is written to the learner register. The Payments block is set up beside the service and joined to the data exchange. A payment, such as a scholarship, can then reach a learner in the register.</a:t>
            </a:r>
          </a:p>
          <a:p/>
          <a:p>
            <a:r>
              <a:t>Production cue: the pivotal slide of this video and the spine of Modules 2 to 5. Reveal the service first, then education's two blocks, then the country's two, then the data exchange layer.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shortlist for Progressa, the fictional country of these examples, on one table. For each block it names the owner, the published specification with its edition, and whether the block is reused or built. Registration and the learner register are built for education. The register is set up behind PLR, the learner registry. PLR is a member of Linkup, the data exchange, but is not yet the authoritative register. Identity is reused: the service signs people in through PNIA, the identity authority. Linkup, operated by PDGA, the digital government authority, is reused, and the ministry joins it. The Payments block is set up and joined to Linkup, and it reaches PayPro, the payment provider, through its payer bank. Consent and messaging are cited where the service touches them, and neither is built.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must be stated openly. PAERA digitalises all main state registries in its third phase. This proof brings one register forward, the learner register, because its priority service cannot work without it. That choice is this course's own, not PAERA's. Present the proof to your minister as what it is: one priority service, proven on the country's foundation. It is not the first phase of the national plan, and it does not replace the plan.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Prove one service first: register a learner once, with the sector's own service and register, on the country's identity and payment blocks and its data exchange layer.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first proof for education: one service on four blocks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first proof for education is one service that registers a learner once: the sector's own registration service and learner register, using the country's identity and payment blocks through the data exchange layer.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roadmap that promises everything proves nothing for years.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Pick one service that shows the shared blocks serving real people, and prove it first.</a:t>
            </a:r>
          </a:p>
          <a:p>
            <a:pPr>
              <a:spcAft>
                <a:spcPts val="800"/>
              </a:spcAft>
            </a:pPr>
            <a:r>
              <a:rPr sz="1700" b="0" i="0">
                <a:solidFill>
                  <a:srgbClr val="595959"/>
                </a:solidFill>
                <a:latin typeface="Arial"/>
              </a:rPr>
              <a:t>For education, that service is registering a learner once.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one priority service</a:t>
            </a:r>
          </a:p>
        </p:txBody>
      </p:sp>
      <p:sp>
        <p:nvSpPr>
          <p:cNvPr id="4" name="TextBox 3"/>
          <p:cNvSpPr txBox="1"/>
          <p:nvPr/>
        </p:nvSpPr>
        <p:spPr>
          <a:xfrm>
            <a:off x="658368" y="1463040"/>
            <a:ext cx="10984687" cy="1645919"/>
          </a:xfrm>
          <a:prstGeom prst="rect">
            <a:avLst/>
          </a:prstGeom>
          <a:noFill/>
        </p:spPr>
        <p:txBody>
          <a:bodyPr wrap="square">
            <a:spAutoFit/>
          </a:bodyPr>
          <a:lstStyle/>
          <a:p>
            <a:pPr>
              <a:spcAft>
                <a:spcPts val="300"/>
              </a:spcAft>
            </a:pPr>
            <a:r>
              <a:rPr sz="1900" b="1" i="0">
                <a:solidFill>
                  <a:srgbClr val="1A1A1A"/>
                </a:solidFill>
                <a:latin typeface="Arial"/>
              </a:rPr>
              <a:t>PAERA 5.7.3</a:t>
            </a:r>
          </a:p>
          <a:p>
            <a:pPr>
              <a:spcAft>
                <a:spcPts val="300"/>
              </a:spcAft>
            </a:pPr>
            <a:r>
              <a:rPr sz="1550" b="0" i="0">
                <a:solidFill>
                  <a:srgbClr val="595959"/>
                </a:solidFill>
                <a:latin typeface="Arial"/>
              </a:rPr>
              <a:t>High-priority services, prototyped quickly and rolled out in a few months.</a:t>
            </a:r>
          </a:p>
        </p:txBody>
      </p:sp>
      <p:sp>
        <p:nvSpPr>
          <p:cNvPr id="5" name="Rectangle 4"/>
          <p:cNvSpPr/>
          <p:nvPr/>
        </p:nvSpPr>
        <p:spPr>
          <a:xfrm>
            <a:off x="621792" y="3113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154680"/>
            <a:ext cx="10984687" cy="1645919"/>
          </a:xfrm>
          <a:prstGeom prst="rect">
            <a:avLst/>
          </a:prstGeom>
          <a:noFill/>
        </p:spPr>
        <p:txBody>
          <a:bodyPr wrap="square">
            <a:spAutoFit/>
          </a:bodyPr>
          <a:lstStyle/>
          <a:p>
            <a:pPr>
              <a:spcAft>
                <a:spcPts val="300"/>
              </a:spcAft>
            </a:pPr>
            <a:r>
              <a:rPr sz="1900" b="1" i="0">
                <a:solidFill>
                  <a:srgbClr val="1A1A1A"/>
                </a:solidFill>
                <a:latin typeface="Arial"/>
              </a:rPr>
              <a:t>PAERA Annex 1</a:t>
            </a:r>
          </a:p>
          <a:p>
            <a:pPr>
              <a:spcAft>
                <a:spcPts val="300"/>
              </a:spcAft>
            </a:pPr>
            <a:r>
              <a:rPr sz="1550" b="0" i="0">
                <a:solidFill>
                  <a:srgbClr val="595959"/>
                </a:solidFill>
                <a:latin typeface="Arial"/>
              </a:rPr>
              <a:t>A state registry needs two building blocks, Registration and Digital Registry.</a:t>
            </a:r>
          </a:p>
        </p:txBody>
      </p:sp>
      <p:sp>
        <p:nvSpPr>
          <p:cNvPr id="7" name="TextBox 6"/>
          <p:cNvSpPr txBox="1"/>
          <p:nvPr/>
        </p:nvSpPr>
        <p:spPr>
          <a:xfrm>
            <a:off x="658368" y="4956048"/>
            <a:ext cx="10881360" cy="548640"/>
          </a:xfrm>
          <a:prstGeom prst="rect">
            <a:avLst/>
          </a:prstGeom>
          <a:noFill/>
        </p:spPr>
        <p:txBody>
          <a:bodyPr wrap="square">
            <a:spAutoFit/>
          </a:bodyPr>
          <a:lstStyle/>
          <a:p>
            <a:r>
              <a:rPr sz="1550" b="1" i="0">
                <a:solidFill>
                  <a:srgbClr val="006E96"/>
                </a:solidFill>
                <a:latin typeface="Arial"/>
              </a:rPr>
              <a:t>One registers the learner; the other keeps the record.</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service, four blocks, on the data exchange layer</a:t>
            </a:r>
          </a:p>
        </p:txBody>
      </p:sp>
      <p:sp>
        <p:nvSpPr>
          <p:cNvPr id="4" name="Rounded Rectangle 3"/>
          <p:cNvSpPr/>
          <p:nvPr/>
        </p:nvSpPr>
        <p:spPr>
          <a:xfrm>
            <a:off x="658368" y="1371600"/>
            <a:ext cx="10881360" cy="868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LEARNER REGISTRATION SERVICE</a:t>
            </a:r>
          </a:p>
          <a:p>
            <a:pPr algn="l">
              <a:spcAft>
                <a:spcPts val="300"/>
              </a:spcAft>
            </a:pPr>
            <a:r>
              <a:rPr sz="1400" b="0" i="0">
                <a:solidFill>
                  <a:srgbClr val="1A1A1A"/>
                </a:solidFill>
                <a:latin typeface="Arial"/>
              </a:rPr>
              <a:t>The first proof: a learner registered once.</a:t>
            </a:r>
          </a:p>
        </p:txBody>
      </p:sp>
      <p:sp>
        <p:nvSpPr>
          <p:cNvPr id="5" name="Rounded Rectangle 4"/>
          <p:cNvSpPr/>
          <p:nvPr/>
        </p:nvSpPr>
        <p:spPr>
          <a:xfrm>
            <a:off x="658368" y="242316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REGISTRATION</a:t>
            </a:r>
          </a:p>
          <a:p>
            <a:pPr algn="l">
              <a:spcAft>
                <a:spcPts val="300"/>
              </a:spcAft>
            </a:pPr>
            <a:r>
              <a:rPr sz="1400" b="0" i="0">
                <a:solidFill>
                  <a:srgbClr val="1A1A1A"/>
                </a:solidFill>
                <a:latin typeface="Arial"/>
              </a:rPr>
              <a:t>Education's own — the sector builds it.</a:t>
            </a:r>
          </a:p>
        </p:txBody>
      </p:sp>
      <p:sp>
        <p:nvSpPr>
          <p:cNvPr id="6" name="Rounded Rectangle 5"/>
          <p:cNvSpPr/>
          <p:nvPr/>
        </p:nvSpPr>
        <p:spPr>
          <a:xfrm>
            <a:off x="6236207" y="242316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LEARNER REGISTER</a:t>
            </a:r>
          </a:p>
          <a:p>
            <a:pPr algn="l">
              <a:spcAft>
                <a:spcPts val="300"/>
              </a:spcAft>
            </a:pPr>
            <a:r>
              <a:rPr sz="1400" b="0" i="0">
                <a:solidFill>
                  <a:srgbClr val="1A1A1A"/>
                </a:solidFill>
                <a:latin typeface="Arial"/>
              </a:rPr>
              <a:t>Education's own — the sector builds it.</a:t>
            </a:r>
          </a:p>
        </p:txBody>
      </p:sp>
      <p:sp>
        <p:nvSpPr>
          <p:cNvPr id="7" name="Rounded Rectangle 6"/>
          <p:cNvSpPr/>
          <p:nvPr/>
        </p:nvSpPr>
        <p:spPr>
          <a:xfrm>
            <a:off x="658368" y="361188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IDENTITY</a:t>
            </a:r>
          </a:p>
          <a:p>
            <a:pPr algn="l">
              <a:spcAft>
                <a:spcPts val="300"/>
              </a:spcAft>
            </a:pPr>
            <a:r>
              <a:rPr sz="1400" b="0" i="0">
                <a:solidFill>
                  <a:srgbClr val="1A1A1A"/>
                </a:solidFill>
                <a:latin typeface="Arial"/>
              </a:rPr>
              <a:t>The country's — used as it is.</a:t>
            </a:r>
          </a:p>
        </p:txBody>
      </p:sp>
      <p:sp>
        <p:nvSpPr>
          <p:cNvPr id="8" name="Rounded Rectangle 7"/>
          <p:cNvSpPr/>
          <p:nvPr/>
        </p:nvSpPr>
        <p:spPr>
          <a:xfrm>
            <a:off x="6236207" y="361188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PAYMENTS</a:t>
            </a:r>
          </a:p>
          <a:p>
            <a:pPr algn="l">
              <a:spcAft>
                <a:spcPts val="300"/>
              </a:spcAft>
            </a:pPr>
            <a:r>
              <a:rPr sz="1400" b="0" i="0">
                <a:solidFill>
                  <a:srgbClr val="1A1A1A"/>
                </a:solidFill>
                <a:latin typeface="Arial"/>
              </a:rPr>
              <a:t>The country's — set up beside the service.</a:t>
            </a:r>
          </a:p>
        </p:txBody>
      </p:sp>
      <p:sp>
        <p:nvSpPr>
          <p:cNvPr id="9" name="Rounded Rectangle 8"/>
          <p:cNvSpPr/>
          <p:nvPr/>
        </p:nvSpPr>
        <p:spPr>
          <a:xfrm>
            <a:off x="658368" y="480060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DATA EXCHANGE LAYER</a:t>
            </a:r>
          </a:p>
          <a:p>
            <a:pPr algn="l">
              <a:spcAft>
                <a:spcPts val="300"/>
              </a:spcAft>
            </a:pPr>
            <a:r>
              <a:rPr sz="1400" b="0" i="0">
                <a:solidFill>
                  <a:srgbClr val="FFFFFF"/>
                </a:solidFill>
                <a:latin typeface="Arial"/>
              </a:rPr>
              <a:t>Joins the four blocks to the service.</a:t>
            </a:r>
          </a:p>
        </p:txBody>
      </p:sp>
      <p:sp>
        <p:nvSpPr>
          <p:cNvPr id="10" name="TextBox 9"/>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The written guide carries figure F6 for this picture.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shortlist</a:t>
            </a:r>
          </a:p>
        </p:txBody>
      </p:sp>
      <p:sp>
        <p:nvSpPr>
          <p:cNvPr id="4" name="TextBox 3"/>
          <p:cNvSpPr txBox="1"/>
          <p:nvPr/>
        </p:nvSpPr>
        <p:spPr>
          <a:xfrm>
            <a:off x="658368" y="1417320"/>
            <a:ext cx="1627631" cy="384048"/>
          </a:xfrm>
          <a:prstGeom prst="rect">
            <a:avLst/>
          </a:prstGeom>
          <a:noFill/>
        </p:spPr>
        <p:txBody>
          <a:bodyPr wrap="square">
            <a:spAutoFit/>
          </a:bodyPr>
          <a:lstStyle/>
          <a:p>
            <a:r>
              <a:rPr sz="1200" b="1" i="0">
                <a:solidFill>
                  <a:srgbClr val="006E96"/>
                </a:solidFill>
                <a:latin typeface="Arial"/>
              </a:rPr>
              <a:t>Block</a:t>
            </a:r>
          </a:p>
        </p:txBody>
      </p:sp>
      <p:sp>
        <p:nvSpPr>
          <p:cNvPr id="5" name="TextBox 4"/>
          <p:cNvSpPr txBox="1"/>
          <p:nvPr/>
        </p:nvSpPr>
        <p:spPr>
          <a:xfrm>
            <a:off x="2395728" y="1417320"/>
            <a:ext cx="2724912" cy="384048"/>
          </a:xfrm>
          <a:prstGeom prst="rect">
            <a:avLst/>
          </a:prstGeom>
          <a:noFill/>
        </p:spPr>
        <p:txBody>
          <a:bodyPr wrap="square">
            <a:spAutoFit/>
          </a:bodyPr>
          <a:lstStyle/>
          <a:p>
            <a:r>
              <a:rPr sz="1200" b="1" i="0">
                <a:solidFill>
                  <a:srgbClr val="006E96"/>
                </a:solidFill>
                <a:latin typeface="Arial"/>
              </a:rPr>
              <a:t>Owner</a:t>
            </a:r>
          </a:p>
        </p:txBody>
      </p:sp>
      <p:sp>
        <p:nvSpPr>
          <p:cNvPr id="6" name="TextBox 5"/>
          <p:cNvSpPr txBox="1"/>
          <p:nvPr/>
        </p:nvSpPr>
        <p:spPr>
          <a:xfrm>
            <a:off x="5230368" y="1417320"/>
            <a:ext cx="2816352" cy="384048"/>
          </a:xfrm>
          <a:prstGeom prst="rect">
            <a:avLst/>
          </a:prstGeom>
          <a:noFill/>
        </p:spPr>
        <p:txBody>
          <a:bodyPr wrap="square">
            <a:spAutoFit/>
          </a:bodyPr>
          <a:lstStyle/>
          <a:p>
            <a:r>
              <a:rPr sz="1200" b="1" i="0">
                <a:solidFill>
                  <a:srgbClr val="006E96"/>
                </a:solidFill>
                <a:latin typeface="Arial"/>
              </a:rPr>
              <a:t>Specification and edition</a:t>
            </a:r>
          </a:p>
        </p:txBody>
      </p:sp>
      <p:sp>
        <p:nvSpPr>
          <p:cNvPr id="7" name="TextBox 6"/>
          <p:cNvSpPr txBox="1"/>
          <p:nvPr/>
        </p:nvSpPr>
        <p:spPr>
          <a:xfrm>
            <a:off x="8156448" y="1417320"/>
            <a:ext cx="3273552" cy="384048"/>
          </a:xfrm>
          <a:prstGeom prst="rect">
            <a:avLst/>
          </a:prstGeom>
          <a:noFill/>
        </p:spPr>
        <p:txBody>
          <a:bodyPr wrap="square">
            <a:spAutoFit/>
          </a:bodyPr>
          <a:lstStyle/>
          <a:p>
            <a:r>
              <a:rPr sz="1200" b="1" i="0">
                <a:solidFill>
                  <a:srgbClr val="006E96"/>
                </a:solidFill>
                <a:latin typeface="Arial"/>
              </a:rPr>
              <a:t>Reused or built</a:t>
            </a:r>
          </a:p>
        </p:txBody>
      </p:sp>
      <p:sp>
        <p:nvSpPr>
          <p:cNvPr id="8" name="Rectangle 7"/>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11095"/>
            <a:ext cx="1627631" cy="694944"/>
          </a:xfrm>
          <a:prstGeom prst="rect">
            <a:avLst/>
          </a:prstGeom>
          <a:noFill/>
        </p:spPr>
        <p:txBody>
          <a:bodyPr wrap="square">
            <a:spAutoFit/>
          </a:bodyPr>
          <a:lstStyle/>
          <a:p>
            <a:r>
              <a:rPr sz="1200" b="1" i="0">
                <a:solidFill>
                  <a:srgbClr val="1A1A1A"/>
                </a:solidFill>
                <a:latin typeface="Arial"/>
              </a:rPr>
              <a:t>Registration</a:t>
            </a:r>
          </a:p>
        </p:txBody>
      </p:sp>
      <p:sp>
        <p:nvSpPr>
          <p:cNvPr id="10" name="TextBox 9"/>
          <p:cNvSpPr txBox="1"/>
          <p:nvPr/>
        </p:nvSpPr>
        <p:spPr>
          <a:xfrm>
            <a:off x="2395728" y="1911095"/>
            <a:ext cx="2724912" cy="694944"/>
          </a:xfrm>
          <a:prstGeom prst="rect">
            <a:avLst/>
          </a:prstGeom>
          <a:noFill/>
        </p:spPr>
        <p:txBody>
          <a:bodyPr wrap="square">
            <a:spAutoFit/>
          </a:bodyPr>
          <a:lstStyle/>
          <a:p>
            <a:r>
              <a:rPr sz="1200" b="0" i="0">
                <a:solidFill>
                  <a:srgbClr val="1A1A1A"/>
                </a:solidFill>
                <a:latin typeface="Arial"/>
              </a:rPr>
              <a:t>The ministry of education; PLR in charge of the registration</a:t>
            </a:r>
          </a:p>
        </p:txBody>
      </p:sp>
      <p:sp>
        <p:nvSpPr>
          <p:cNvPr id="11" name="TextBox 10"/>
          <p:cNvSpPr txBox="1"/>
          <p:nvPr/>
        </p:nvSpPr>
        <p:spPr>
          <a:xfrm>
            <a:off x="5230368" y="1911095"/>
            <a:ext cx="2816352" cy="694944"/>
          </a:xfrm>
          <a:prstGeom prst="rect">
            <a:avLst/>
          </a:prstGeom>
          <a:noFill/>
        </p:spPr>
        <p:txBody>
          <a:bodyPr wrap="square">
            <a:spAutoFit/>
          </a:bodyPr>
          <a:lstStyle/>
          <a:p>
            <a:r>
              <a:rPr sz="1200" b="0" i="0">
                <a:solidFill>
                  <a:srgbClr val="1A1A1A"/>
                </a:solidFill>
                <a:latin typeface="Arial"/>
              </a:rPr>
              <a:t>GovStack Registration, default edition</a:t>
            </a:r>
          </a:p>
        </p:txBody>
      </p:sp>
      <p:sp>
        <p:nvSpPr>
          <p:cNvPr id="12" name="TextBox 11"/>
          <p:cNvSpPr txBox="1"/>
          <p:nvPr/>
        </p:nvSpPr>
        <p:spPr>
          <a:xfrm>
            <a:off x="8156448" y="1911095"/>
            <a:ext cx="3273552" cy="694944"/>
          </a:xfrm>
          <a:prstGeom prst="rect">
            <a:avLst/>
          </a:prstGeom>
          <a:noFill/>
        </p:spPr>
        <p:txBody>
          <a:bodyPr wrap="square">
            <a:spAutoFit/>
          </a:bodyPr>
          <a:lstStyle/>
          <a:p>
            <a:r>
              <a:rPr sz="1200" b="0" i="0">
                <a:solidFill>
                  <a:srgbClr val="1A1A1A"/>
                </a:solidFill>
                <a:latin typeface="Arial"/>
              </a:rPr>
              <a:t>Built for education</a:t>
            </a:r>
          </a:p>
        </p:txBody>
      </p:sp>
      <p:sp>
        <p:nvSpPr>
          <p:cNvPr id="13" name="Rectangle 12"/>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79191"/>
            <a:ext cx="1627631" cy="694944"/>
          </a:xfrm>
          <a:prstGeom prst="rect">
            <a:avLst/>
          </a:prstGeom>
          <a:noFill/>
        </p:spPr>
        <p:txBody>
          <a:bodyPr wrap="square">
            <a:spAutoFit/>
          </a:bodyPr>
          <a:lstStyle/>
          <a:p>
            <a:r>
              <a:rPr sz="1200" b="1" i="0">
                <a:solidFill>
                  <a:srgbClr val="1A1A1A"/>
                </a:solidFill>
                <a:latin typeface="Arial"/>
              </a:rPr>
              <a:t>Digital Registries</a:t>
            </a:r>
          </a:p>
        </p:txBody>
      </p:sp>
      <p:sp>
        <p:nvSpPr>
          <p:cNvPr id="15" name="TextBox 14"/>
          <p:cNvSpPr txBox="1"/>
          <p:nvPr/>
        </p:nvSpPr>
        <p:spPr>
          <a:xfrm>
            <a:off x="2395728" y="2679191"/>
            <a:ext cx="2724912" cy="694944"/>
          </a:xfrm>
          <a:prstGeom prst="rect">
            <a:avLst/>
          </a:prstGeom>
          <a:noFill/>
        </p:spPr>
        <p:txBody>
          <a:bodyPr wrap="square">
            <a:spAutoFit/>
          </a:bodyPr>
          <a:lstStyle/>
          <a:p>
            <a:r>
              <a:rPr sz="1200" b="0" i="0">
                <a:solidFill>
                  <a:srgbClr val="1A1A1A"/>
                </a:solidFill>
                <a:latin typeface="Arial"/>
              </a:rPr>
              <a:t>PLR, the learner registry</a:t>
            </a:r>
          </a:p>
        </p:txBody>
      </p:sp>
      <p:sp>
        <p:nvSpPr>
          <p:cNvPr id="16" name="TextBox 15"/>
          <p:cNvSpPr txBox="1"/>
          <p:nvPr/>
        </p:nvSpPr>
        <p:spPr>
          <a:xfrm>
            <a:off x="5230368" y="2679191"/>
            <a:ext cx="2816352" cy="694944"/>
          </a:xfrm>
          <a:prstGeom prst="rect">
            <a:avLst/>
          </a:prstGeom>
          <a:noFill/>
        </p:spPr>
        <p:txBody>
          <a:bodyPr wrap="square">
            <a:spAutoFit/>
          </a:bodyPr>
          <a:lstStyle/>
          <a:p>
            <a:r>
              <a:rPr sz="1200" b="0" i="0">
                <a:solidFill>
                  <a:srgbClr val="1A1A1A"/>
                </a:solidFill>
                <a:latin typeface="Arial"/>
              </a:rPr>
              <a:t>GovStack Digital Registries, Version 3.0-alpha</a:t>
            </a:r>
          </a:p>
        </p:txBody>
      </p:sp>
      <p:sp>
        <p:nvSpPr>
          <p:cNvPr id="17" name="TextBox 16"/>
          <p:cNvSpPr txBox="1"/>
          <p:nvPr/>
        </p:nvSpPr>
        <p:spPr>
          <a:xfrm>
            <a:off x="8156448" y="2679191"/>
            <a:ext cx="3273552" cy="694944"/>
          </a:xfrm>
          <a:prstGeom prst="rect">
            <a:avLst/>
          </a:prstGeom>
          <a:noFill/>
        </p:spPr>
        <p:txBody>
          <a:bodyPr wrap="square">
            <a:spAutoFit/>
          </a:bodyPr>
          <a:lstStyle/>
          <a:p>
            <a:r>
              <a:rPr sz="1200" b="0" i="0">
                <a:solidFill>
                  <a:srgbClr val="1A1A1A"/>
                </a:solidFill>
                <a:latin typeface="Arial"/>
              </a:rPr>
              <a:t>Built: the authoritative register behind PLR</a:t>
            </a:r>
          </a:p>
        </p:txBody>
      </p:sp>
      <p:sp>
        <p:nvSpPr>
          <p:cNvPr id="18" name="Rectangle 17"/>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447288"/>
            <a:ext cx="1627631" cy="694944"/>
          </a:xfrm>
          <a:prstGeom prst="rect">
            <a:avLst/>
          </a:prstGeom>
          <a:noFill/>
        </p:spPr>
        <p:txBody>
          <a:bodyPr wrap="square">
            <a:spAutoFit/>
          </a:bodyPr>
          <a:lstStyle/>
          <a:p>
            <a:r>
              <a:rPr sz="1200" b="1" i="0">
                <a:solidFill>
                  <a:srgbClr val="1A1A1A"/>
                </a:solidFill>
                <a:latin typeface="Arial"/>
              </a:rPr>
              <a:t>Identity</a:t>
            </a:r>
          </a:p>
        </p:txBody>
      </p:sp>
      <p:sp>
        <p:nvSpPr>
          <p:cNvPr id="20" name="TextBox 19"/>
          <p:cNvSpPr txBox="1"/>
          <p:nvPr/>
        </p:nvSpPr>
        <p:spPr>
          <a:xfrm>
            <a:off x="2395728" y="3447288"/>
            <a:ext cx="2724912" cy="694944"/>
          </a:xfrm>
          <a:prstGeom prst="rect">
            <a:avLst/>
          </a:prstGeom>
          <a:noFill/>
        </p:spPr>
        <p:txBody>
          <a:bodyPr wrap="square">
            <a:spAutoFit/>
          </a:bodyPr>
          <a:lstStyle/>
          <a:p>
            <a:r>
              <a:rPr sz="1200" b="0" i="0">
                <a:solidFill>
                  <a:srgbClr val="1A1A1A"/>
                </a:solidFill>
                <a:latin typeface="Arial"/>
              </a:rPr>
              <a:t>PNIA</a:t>
            </a:r>
          </a:p>
        </p:txBody>
      </p:sp>
      <p:sp>
        <p:nvSpPr>
          <p:cNvPr id="21" name="TextBox 20"/>
          <p:cNvSpPr txBox="1"/>
          <p:nvPr/>
        </p:nvSpPr>
        <p:spPr>
          <a:xfrm>
            <a:off x="5230368" y="3447288"/>
            <a:ext cx="2816352" cy="694944"/>
          </a:xfrm>
          <a:prstGeom prst="rect">
            <a:avLst/>
          </a:prstGeom>
          <a:noFill/>
        </p:spPr>
        <p:txBody>
          <a:bodyPr wrap="square">
            <a:spAutoFit/>
          </a:bodyPr>
          <a:lstStyle/>
          <a:p>
            <a:r>
              <a:rPr sz="1200" b="0" i="0">
                <a:solidFill>
                  <a:srgbClr val="1A1A1A"/>
                </a:solidFill>
                <a:latin typeface="Arial"/>
              </a:rPr>
              <a:t>GovStack Identity, Version 2.0</a:t>
            </a:r>
          </a:p>
        </p:txBody>
      </p:sp>
      <p:sp>
        <p:nvSpPr>
          <p:cNvPr id="22" name="TextBox 21"/>
          <p:cNvSpPr txBox="1"/>
          <p:nvPr/>
        </p:nvSpPr>
        <p:spPr>
          <a:xfrm>
            <a:off x="8156448" y="3447288"/>
            <a:ext cx="3273552" cy="694944"/>
          </a:xfrm>
          <a:prstGeom prst="rect">
            <a:avLst/>
          </a:prstGeom>
          <a:noFill/>
        </p:spPr>
        <p:txBody>
          <a:bodyPr wrap="square">
            <a:spAutoFit/>
          </a:bodyPr>
          <a:lstStyle/>
          <a:p>
            <a:r>
              <a:rPr sz="1200" b="0" i="0">
                <a:solidFill>
                  <a:srgbClr val="1A1A1A"/>
                </a:solidFill>
                <a:latin typeface="Arial"/>
              </a:rPr>
              <a:t>Reused: the service signs people in through PNIA</a:t>
            </a:r>
          </a:p>
        </p:txBody>
      </p:sp>
      <p:sp>
        <p:nvSpPr>
          <p:cNvPr id="23" name="Rectangle 22"/>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215384"/>
            <a:ext cx="1627631" cy="694944"/>
          </a:xfrm>
          <a:prstGeom prst="rect">
            <a:avLst/>
          </a:prstGeom>
          <a:noFill/>
        </p:spPr>
        <p:txBody>
          <a:bodyPr wrap="square">
            <a:spAutoFit/>
          </a:bodyPr>
          <a:lstStyle/>
          <a:p>
            <a:r>
              <a:rPr sz="1200" b="1" i="0">
                <a:solidFill>
                  <a:srgbClr val="1A1A1A"/>
                </a:solidFill>
                <a:latin typeface="Arial"/>
              </a:rPr>
              <a:t>Payments</a:t>
            </a:r>
          </a:p>
        </p:txBody>
      </p:sp>
      <p:sp>
        <p:nvSpPr>
          <p:cNvPr id="25" name="TextBox 24"/>
          <p:cNvSpPr txBox="1"/>
          <p:nvPr/>
        </p:nvSpPr>
        <p:spPr>
          <a:xfrm>
            <a:off x="2395728" y="4215384"/>
            <a:ext cx="2724912" cy="694944"/>
          </a:xfrm>
          <a:prstGeom prst="rect">
            <a:avLst/>
          </a:prstGeom>
          <a:noFill/>
        </p:spPr>
        <p:txBody>
          <a:bodyPr wrap="square">
            <a:spAutoFit/>
          </a:bodyPr>
          <a:lstStyle/>
          <a:p>
            <a:r>
              <a:rPr sz="1200" b="0" i="0">
                <a:solidFill>
                  <a:srgbClr val="1A1A1A"/>
                </a:solidFill>
                <a:latin typeface="Arial"/>
              </a:rPr>
              <a:t>The government's Payments block, with PayPro behind its payer bank</a:t>
            </a:r>
          </a:p>
        </p:txBody>
      </p:sp>
      <p:sp>
        <p:nvSpPr>
          <p:cNvPr id="26" name="TextBox 25"/>
          <p:cNvSpPr txBox="1"/>
          <p:nvPr/>
        </p:nvSpPr>
        <p:spPr>
          <a:xfrm>
            <a:off x="5230368" y="4215384"/>
            <a:ext cx="2816352" cy="694944"/>
          </a:xfrm>
          <a:prstGeom prst="rect">
            <a:avLst/>
          </a:prstGeom>
          <a:noFill/>
        </p:spPr>
        <p:txBody>
          <a:bodyPr wrap="square">
            <a:spAutoFit/>
          </a:bodyPr>
          <a:lstStyle/>
          <a:p>
            <a:r>
              <a:rPr sz="1200" b="0" i="0">
                <a:solidFill>
                  <a:srgbClr val="1A1A1A"/>
                </a:solidFill>
                <a:latin typeface="Arial"/>
              </a:rPr>
              <a:t>GovStack Payments, Version 3.0</a:t>
            </a:r>
          </a:p>
        </p:txBody>
      </p:sp>
      <p:sp>
        <p:nvSpPr>
          <p:cNvPr id="27" name="TextBox 26"/>
          <p:cNvSpPr txBox="1"/>
          <p:nvPr/>
        </p:nvSpPr>
        <p:spPr>
          <a:xfrm>
            <a:off x="8156448" y="4215384"/>
            <a:ext cx="3273552" cy="694944"/>
          </a:xfrm>
          <a:prstGeom prst="rect">
            <a:avLst/>
          </a:prstGeom>
          <a:noFill/>
        </p:spPr>
        <p:txBody>
          <a:bodyPr wrap="square">
            <a:spAutoFit/>
          </a:bodyPr>
          <a:lstStyle/>
          <a:p>
            <a:r>
              <a:rPr sz="1200" b="0" i="0">
                <a:solidFill>
                  <a:srgbClr val="1A1A1A"/>
                </a:solidFill>
                <a:latin typeface="Arial"/>
              </a:rPr>
              <a:t>Set up and joined to Linkup; PayPro reused behind it</a:t>
            </a:r>
          </a:p>
        </p:txBody>
      </p:sp>
      <p:sp>
        <p:nvSpPr>
          <p:cNvPr id="28" name="Rectangle 27"/>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983480"/>
            <a:ext cx="1627631" cy="694944"/>
          </a:xfrm>
          <a:prstGeom prst="rect">
            <a:avLst/>
          </a:prstGeom>
          <a:noFill/>
        </p:spPr>
        <p:txBody>
          <a:bodyPr wrap="square">
            <a:spAutoFit/>
          </a:bodyPr>
          <a:lstStyle/>
          <a:p>
            <a:r>
              <a:rPr sz="1200" b="1" i="0">
                <a:solidFill>
                  <a:srgbClr val="1A1A1A"/>
                </a:solidFill>
                <a:latin typeface="Arial"/>
              </a:rPr>
              <a:t>Data exchange</a:t>
            </a:r>
          </a:p>
        </p:txBody>
      </p:sp>
      <p:sp>
        <p:nvSpPr>
          <p:cNvPr id="30" name="TextBox 29"/>
          <p:cNvSpPr txBox="1"/>
          <p:nvPr/>
        </p:nvSpPr>
        <p:spPr>
          <a:xfrm>
            <a:off x="2395728" y="4983480"/>
            <a:ext cx="2724912" cy="694944"/>
          </a:xfrm>
          <a:prstGeom prst="rect">
            <a:avLst/>
          </a:prstGeom>
          <a:noFill/>
        </p:spPr>
        <p:txBody>
          <a:bodyPr wrap="square">
            <a:spAutoFit/>
          </a:bodyPr>
          <a:lstStyle/>
          <a:p>
            <a:r>
              <a:rPr sz="1200" b="0" i="0">
                <a:solidFill>
                  <a:srgbClr val="1A1A1A"/>
                </a:solidFill>
                <a:latin typeface="Arial"/>
              </a:rPr>
              <a:t>PDGA, which operates Linkup</a:t>
            </a:r>
          </a:p>
        </p:txBody>
      </p:sp>
      <p:sp>
        <p:nvSpPr>
          <p:cNvPr id="31" name="TextBox 30"/>
          <p:cNvSpPr txBox="1"/>
          <p:nvPr/>
        </p:nvSpPr>
        <p:spPr>
          <a:xfrm>
            <a:off x="5230368" y="4983480"/>
            <a:ext cx="2816352" cy="694944"/>
          </a:xfrm>
          <a:prstGeom prst="rect">
            <a:avLst/>
          </a:prstGeom>
          <a:noFill/>
        </p:spPr>
        <p:txBody>
          <a:bodyPr wrap="square">
            <a:spAutoFit/>
          </a:bodyPr>
          <a:lstStyle/>
          <a:p>
            <a:r>
              <a:rPr sz="1200" b="0" i="0">
                <a:solidFill>
                  <a:srgbClr val="1A1A1A"/>
                </a:solidFill>
                <a:latin typeface="Arial"/>
              </a:rPr>
              <a:t>GovStack Information Mediator, 1.1.1</a:t>
            </a:r>
          </a:p>
        </p:txBody>
      </p:sp>
      <p:sp>
        <p:nvSpPr>
          <p:cNvPr id="32" name="TextBox 31"/>
          <p:cNvSpPr txBox="1"/>
          <p:nvPr/>
        </p:nvSpPr>
        <p:spPr>
          <a:xfrm>
            <a:off x="8156448" y="4983480"/>
            <a:ext cx="3273552" cy="694944"/>
          </a:xfrm>
          <a:prstGeom prst="rect">
            <a:avLst/>
          </a:prstGeom>
          <a:noFill/>
        </p:spPr>
        <p:txBody>
          <a:bodyPr wrap="square">
            <a:spAutoFit/>
          </a:bodyPr>
          <a:lstStyle/>
          <a:p>
            <a:r>
              <a:rPr sz="1200" b="0" i="0">
                <a:solidFill>
                  <a:srgbClr val="1A1A1A"/>
                </a:solidFill>
                <a:latin typeface="Arial"/>
              </a:rPr>
              <a:t>Reused: Linkup; the ministry joins as a member</a:t>
            </a:r>
          </a:p>
        </p:txBody>
      </p:sp>
      <p:sp>
        <p:nvSpPr>
          <p:cNvPr id="33" name="TextBox 32"/>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Consent (1.3.0) and Messaging are cited, not built. Illustrative.</a:t>
            </a:r>
          </a:p>
        </p:txBody>
      </p:sp>
      <p:sp>
        <p:nvSpPr>
          <p:cNvPr id="34" name="TextBox 3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Brought forward on purpose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PAERA 5.7.4 digitalises all main state registries in its third phase.</a:t>
            </a:r>
          </a:p>
          <a:p>
            <a:pPr>
              <a:spcAft>
                <a:spcPts val="1200"/>
              </a:spcAft>
            </a:pPr>
            <a:r>
              <a:rPr sz="2000" b="0" i="0">
                <a:solidFill>
                  <a:srgbClr val="1A1A1A"/>
                </a:solidFill>
                <a:latin typeface="Arial"/>
              </a:rPr>
              <a:t>This proof brings one register forward — the one its priority service needs. That choice is this course's own.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One priority service, proven on the country's foundation. Not the first phase of the national plan — and no replacement for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The first proof for education is one service that registers a learner once: the sector's own registration service and learner register, using the country's identity and payment blocks through the data exchange layer.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sector's shortlist of blocks for its first priority service.</a:t>
            </a:r>
          </a:p>
          <a:p>
            <a:pPr algn="l">
              <a:spcAft>
                <a:spcPts val="400"/>
              </a:spcAft>
            </a:pPr>
            <a:r>
              <a:rPr sz="1800" b="0" i="0">
                <a:solidFill>
                  <a:srgbClr val="595959"/>
                </a:solidFill>
                <a:latin typeface="Arial"/>
              </a:rPr>
              <a:t>The prompt in the companion material gives you a shortlist table with one row per block.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5.7.3 and 5.7.4, and Annex 1 (A1.2.5)</a:t>
            </a:r>
          </a:p>
          <a:p>
            <a:pPr>
              <a:spcAft>
                <a:spcPts val="1200"/>
              </a:spcAft>
            </a:pPr>
            <a:r>
              <a:rPr sz="1700" b="0" i="0">
                <a:solidFill>
                  <a:srgbClr val="1A1A1A"/>
                </a:solidFill>
                <a:latin typeface="Arial"/>
              </a:rPr>
              <a:t>•  GovStack Building Block specifications — Registration (default edition), Digital Registries (Version 3.0-alpha; June 2026), Identity (Version 2.0; December 2025), Payments (Version 3.0; December 2025)</a:t>
            </a:r>
          </a:p>
          <a:p>
            <a:pPr>
              <a:spcAft>
                <a:spcPts val="1200"/>
              </a:spcAft>
            </a:pPr>
            <a:r>
              <a:rPr sz="1700" b="0" i="0">
                <a:solidFill>
                  <a:srgbClr val="1A1A1A"/>
                </a:solidFill>
                <a:latin typeface="Arial"/>
              </a:rPr>
              <a:t>•  GovStack — Information Mediator (1.1.1), Consent (1.3.0), Messaging (messaging-23Q4.1)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