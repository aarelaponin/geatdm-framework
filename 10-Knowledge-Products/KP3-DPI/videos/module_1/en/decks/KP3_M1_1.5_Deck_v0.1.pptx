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8" r:id="rId13"/>
    <p:sldId id="2729" r:id="rId12"/>
    <p:sldId id="2730" r:id="rId11"/>
    <p:sldId id="2731" r:id="rId10"/>
    <p:sldId id="2732" r:id="rId54"/>
    <p:sldId id="2733" r:id="rId55"/>
    <p:sldId id="2734" r:id="rId56"/>
    <p:sldId id="2735"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public record tells you what a country says about its systems. The people who run them know what the systems actually do. Ask them, in writing, and ask for the document behind every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are five questionnaires, one for each domain. PAERA, the GovStack reference architecture, lists nine questions that a national assessment must answer. Each questionnaire expands one or more of them. The digital data questionnaire, for example, expands PAERA's question on the status of the national infrastructure for managing digital data. Together the five ask 93 questions. They cover the same 26 parts, or sub-components, as the desk review of the public record, so every answer can be set beside the desk result for the same part. PAERA names questionnaires, interviews and document review as tools of an assessment.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question opens with one short lead question, and then asks for three things: what to describe, what to indicate, and what to provide. Take question D2.2 of the digital data questionnaire: is there one authoritative record of each learner? Describe where a learner's identity and enrolment are recorded today. Indicate whether the record is on paper, in a spreadsheet or in a system. Provide a blank copy of the form or screen used. An answer with a document behind it counts for more than an answer without one. And 'we do not have this' is a useful answer.</a:t>
            </a:r>
          </a:p>
          <a:p/>
          <a:p>
            <a:r>
              <a:t>Production cue: the pivotal slide of this video — the team's blank instrument, as the toolkit words it.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questionnaire comes with two guides. The guide for the respondent says who answers, which documents to collect, how to answer, and what to check before submitting. In a typical case the work takes about 13 working days, and the head of the responding unit signs the answers. The guide for the facilitator says how to prepare, how to run a session, and how to record each answer with its evidence. Respondents describe; they do not score. Each questionnaire also carries the points from the desk review, so that the respondents can confirm or correct them.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Progressa, the fictional country of these examples, answered that question. The statistics unit of its ministry of education replied, with PNEA, the examination authority, in week six of the assessment. There is no single record of a learner. PLR, the learner registry, holds enrolment records for some learners and serves them to PNEA alone. Primary schools keep class registers on paper. Each school sends totals by grade and sex once a year, and PEMIS, the ministry's school information system, holds no record of individual learners. The answer names its documents: the blank annual school return form and the PEMIS data dictionary.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Five questionnaires, one for each domain, put the questions to the people who run the systems. Every answer names its evidence, or says plainly that none exists.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Ask the people who run the systems: the five questionnaires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Five questionnaires, one for each domain, put the same questions to the people who run the systems and ask for evidence with every answer.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public record tells you what a country says about its systems.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people who run them know what the systems actually do.</a:t>
            </a:r>
          </a:p>
          <a:p>
            <a:pPr>
              <a:spcAft>
                <a:spcPts val="800"/>
              </a:spcAft>
            </a:pPr>
            <a:r>
              <a:rPr sz="1700" b="0" i="0">
                <a:solidFill>
                  <a:srgbClr val="595959"/>
                </a:solidFill>
                <a:latin typeface="Arial"/>
              </a:rPr>
              <a:t>Ask them, in writing — and ask for the document behind every answer.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questionnaire for each domain</a:t>
            </a:r>
          </a:p>
        </p:txBody>
      </p:sp>
      <p:sp>
        <p:nvSpPr>
          <p:cNvPr id="4" name="TextBox 3"/>
          <p:cNvSpPr txBox="1"/>
          <p:nvPr/>
        </p:nvSpPr>
        <p:spPr>
          <a:xfrm>
            <a:off x="658368" y="1463040"/>
            <a:ext cx="10984687" cy="740664"/>
          </a:xfrm>
          <a:prstGeom prst="rect">
            <a:avLst/>
          </a:prstGeom>
          <a:noFill/>
        </p:spPr>
        <p:txBody>
          <a:bodyPr wrap="square">
            <a:spAutoFit/>
          </a:bodyPr>
          <a:lstStyle/>
          <a:p>
            <a:pPr>
              <a:spcAft>
                <a:spcPts val="300"/>
              </a:spcAft>
            </a:pPr>
            <a:r>
              <a:rPr sz="1900" b="1" i="0">
                <a:solidFill>
                  <a:srgbClr val="1A1A1A"/>
                </a:solidFill>
                <a:latin typeface="Arial"/>
              </a:rPr>
              <a:t>Q-GOV</a:t>
            </a:r>
          </a:p>
          <a:p>
            <a:pPr>
              <a:spcAft>
                <a:spcPts val="300"/>
              </a:spcAft>
            </a:pPr>
            <a:r>
              <a:rPr sz="1550" b="0" i="0">
                <a:solidFill>
                  <a:srgbClr val="595959"/>
                </a:solidFill>
                <a:latin typeface="Arial"/>
              </a:rPr>
              <a:t>Governance and policy, with the legal framework.</a:t>
            </a:r>
          </a:p>
        </p:txBody>
      </p:sp>
      <p:sp>
        <p:nvSpPr>
          <p:cNvPr id="5" name="Rectangle 4"/>
          <p:cNvSpPr/>
          <p:nvPr/>
        </p:nvSpPr>
        <p:spPr>
          <a:xfrm>
            <a:off x="621792" y="2208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49424"/>
            <a:ext cx="10984687" cy="740664"/>
          </a:xfrm>
          <a:prstGeom prst="rect">
            <a:avLst/>
          </a:prstGeom>
          <a:noFill/>
        </p:spPr>
        <p:txBody>
          <a:bodyPr wrap="square">
            <a:spAutoFit/>
          </a:bodyPr>
          <a:lstStyle/>
          <a:p>
            <a:pPr>
              <a:spcAft>
                <a:spcPts val="300"/>
              </a:spcAft>
            </a:pPr>
            <a:r>
              <a:rPr sz="1900" b="1" i="0">
                <a:solidFill>
                  <a:srgbClr val="1A1A1A"/>
                </a:solidFill>
                <a:latin typeface="Arial"/>
              </a:rPr>
              <a:t>Q-ACC</a:t>
            </a:r>
          </a:p>
          <a:p>
            <a:pPr>
              <a:spcAft>
                <a:spcPts val="300"/>
              </a:spcAft>
            </a:pPr>
            <a:r>
              <a:rPr sz="1550" b="0" i="0">
                <a:solidFill>
                  <a:srgbClr val="595959"/>
                </a:solidFill>
                <a:latin typeface="Arial"/>
              </a:rPr>
              <a:t>Access.</a:t>
            </a:r>
          </a:p>
        </p:txBody>
      </p:sp>
      <p:sp>
        <p:nvSpPr>
          <p:cNvPr id="7" name="Rectangle 6"/>
          <p:cNvSpPr/>
          <p:nvPr/>
        </p:nvSpPr>
        <p:spPr>
          <a:xfrm>
            <a:off x="621792" y="29946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035808"/>
            <a:ext cx="10984687" cy="740664"/>
          </a:xfrm>
          <a:prstGeom prst="rect">
            <a:avLst/>
          </a:prstGeom>
          <a:noFill/>
        </p:spPr>
        <p:txBody>
          <a:bodyPr wrap="square">
            <a:spAutoFit/>
          </a:bodyPr>
          <a:lstStyle/>
          <a:p>
            <a:pPr>
              <a:spcAft>
                <a:spcPts val="300"/>
              </a:spcAft>
            </a:pPr>
            <a:r>
              <a:rPr sz="1900" b="1" i="0">
                <a:solidFill>
                  <a:srgbClr val="1A1A1A"/>
                </a:solidFill>
                <a:latin typeface="Arial"/>
              </a:rPr>
              <a:t>Q-DAT</a:t>
            </a:r>
          </a:p>
          <a:p>
            <a:pPr>
              <a:spcAft>
                <a:spcPts val="300"/>
              </a:spcAft>
            </a:pPr>
            <a:r>
              <a:rPr sz="1550" b="0" i="0">
                <a:solidFill>
                  <a:srgbClr val="595959"/>
                </a:solidFill>
                <a:latin typeface="Arial"/>
              </a:rPr>
              <a:t>Digital data.</a:t>
            </a:r>
          </a:p>
        </p:txBody>
      </p:sp>
      <p:sp>
        <p:nvSpPr>
          <p:cNvPr id="9" name="Rectangle 8"/>
          <p:cNvSpPr/>
          <p:nvPr/>
        </p:nvSpPr>
        <p:spPr>
          <a:xfrm>
            <a:off x="621792" y="37810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822191"/>
            <a:ext cx="10984687" cy="740664"/>
          </a:xfrm>
          <a:prstGeom prst="rect">
            <a:avLst/>
          </a:prstGeom>
          <a:noFill/>
        </p:spPr>
        <p:txBody>
          <a:bodyPr wrap="square">
            <a:spAutoFit/>
          </a:bodyPr>
          <a:lstStyle/>
          <a:p>
            <a:pPr>
              <a:spcAft>
                <a:spcPts val="300"/>
              </a:spcAft>
            </a:pPr>
            <a:r>
              <a:rPr sz="1900" b="1" i="0">
                <a:solidFill>
                  <a:srgbClr val="1A1A1A"/>
                </a:solidFill>
                <a:latin typeface="Arial"/>
              </a:rPr>
              <a:t>Q-INT</a:t>
            </a:r>
          </a:p>
          <a:p>
            <a:pPr>
              <a:spcAft>
                <a:spcPts val="300"/>
              </a:spcAft>
            </a:pPr>
            <a:r>
              <a:rPr sz="1550" b="0" i="0">
                <a:solidFill>
                  <a:srgbClr val="595959"/>
                </a:solidFill>
                <a:latin typeface="Arial"/>
              </a:rPr>
              <a:t>Interoperability.</a:t>
            </a:r>
          </a:p>
        </p:txBody>
      </p:sp>
      <p:sp>
        <p:nvSpPr>
          <p:cNvPr id="11" name="Rectangle 10"/>
          <p:cNvSpPr/>
          <p:nvPr/>
        </p:nvSpPr>
        <p:spPr>
          <a:xfrm>
            <a:off x="621792" y="4567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608576"/>
            <a:ext cx="10984687" cy="740664"/>
          </a:xfrm>
          <a:prstGeom prst="rect">
            <a:avLst/>
          </a:prstGeom>
          <a:noFill/>
        </p:spPr>
        <p:txBody>
          <a:bodyPr wrap="square">
            <a:spAutoFit/>
          </a:bodyPr>
          <a:lstStyle/>
          <a:p>
            <a:pPr>
              <a:spcAft>
                <a:spcPts val="300"/>
              </a:spcAft>
            </a:pPr>
            <a:r>
              <a:rPr sz="1900" b="1" i="0">
                <a:solidFill>
                  <a:srgbClr val="1A1A1A"/>
                </a:solidFill>
                <a:latin typeface="Arial"/>
              </a:rPr>
              <a:t>Q-IDN</a:t>
            </a:r>
          </a:p>
          <a:p>
            <a:pPr>
              <a:spcAft>
                <a:spcPts val="300"/>
              </a:spcAft>
            </a:pPr>
            <a:r>
              <a:rPr sz="1550" b="0" i="0">
                <a:solidFill>
                  <a:srgbClr val="595959"/>
                </a:solidFill>
                <a:latin typeface="Arial"/>
              </a:rPr>
              <a:t>Digital identity.</a:t>
            </a:r>
          </a:p>
        </p:txBody>
      </p:sp>
      <p:sp>
        <p:nvSpPr>
          <p:cNvPr id="13" name="TextBox 12"/>
          <p:cNvSpPr txBox="1"/>
          <p:nvPr/>
        </p:nvSpPr>
        <p:spPr>
          <a:xfrm>
            <a:off x="658368" y="5504688"/>
            <a:ext cx="10881360" cy="548640"/>
          </a:xfrm>
          <a:prstGeom prst="rect">
            <a:avLst/>
          </a:prstGeom>
          <a:noFill/>
        </p:spPr>
        <p:txBody>
          <a:bodyPr wrap="square">
            <a:spAutoFit/>
          </a:bodyPr>
          <a:lstStyle/>
          <a:p>
            <a:r>
              <a:rPr sz="1550" b="1" i="0">
                <a:solidFill>
                  <a:srgbClr val="006E96"/>
                </a:solidFill>
                <a:latin typeface="Arial"/>
              </a:rPr>
              <a:t>93 questions in all, grouped by the same 26 sub-components as the question bank.</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How a question asks for evidence</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D2.2  Is there one authoritative record of each learner?</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Describe</a:t>
            </a:r>
          </a:p>
          <a:p>
            <a:pPr>
              <a:spcAft>
                <a:spcPts val="300"/>
              </a:spcAft>
            </a:pPr>
            <a:r>
              <a:rPr sz="1550" b="0" i="0">
                <a:solidFill>
                  <a:srgbClr val="595959"/>
                </a:solidFill>
                <a:latin typeface="Arial"/>
              </a:rPr>
              <a:t>Where a learner's identity and enrolment are recorded today.</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Indicate</a:t>
            </a:r>
          </a:p>
          <a:p>
            <a:pPr>
              <a:spcAft>
                <a:spcPts val="300"/>
              </a:spcAft>
            </a:pPr>
            <a:r>
              <a:rPr sz="1550" b="0" i="0">
                <a:solidFill>
                  <a:srgbClr val="595959"/>
                </a:solidFill>
                <a:latin typeface="Arial"/>
              </a:rPr>
              <a:t>Whether the record is on paper, in a spreadsheet or in a system.</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Provide</a:t>
            </a:r>
          </a:p>
          <a:p>
            <a:pPr>
              <a:spcAft>
                <a:spcPts val="300"/>
              </a:spcAft>
            </a:pPr>
            <a:r>
              <a:rPr sz="1550" b="0" i="0">
                <a:solidFill>
                  <a:srgbClr val="595959"/>
                </a:solidFill>
                <a:latin typeface="Arial"/>
              </a:rPr>
              <a:t>A blank copy of the form or screen used.</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An answer with a document behind it counts for more. And "we do not have this" is a useful answer.</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guides with every questionnaire</a:t>
            </a:r>
          </a:p>
        </p:txBody>
      </p:sp>
      <p:sp>
        <p:nvSpPr>
          <p:cNvPr id="4" name="Rounded Rectangle 3"/>
          <p:cNvSpPr/>
          <p:nvPr/>
        </p:nvSpPr>
        <p:spPr>
          <a:xfrm>
            <a:off x="658368" y="1554480"/>
            <a:ext cx="5394960" cy="2560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286000"/>
          </a:xfrm>
          <a:prstGeom prst="rect">
            <a:avLst/>
          </a:prstGeom>
          <a:noFill/>
        </p:spPr>
        <p:txBody>
          <a:bodyPr wrap="square">
            <a:spAutoFit/>
          </a:bodyPr>
          <a:lstStyle/>
          <a:p>
            <a:pPr>
              <a:spcAft>
                <a:spcPts val="700"/>
              </a:spcAft>
            </a:pPr>
            <a:r>
              <a:rPr sz="1900" b="1" i="0">
                <a:solidFill>
                  <a:srgbClr val="006E96"/>
                </a:solidFill>
                <a:latin typeface="Arial"/>
              </a:rPr>
              <a:t>FOR THE RESPONDENT</a:t>
            </a:r>
          </a:p>
          <a:p>
            <a:pPr>
              <a:spcAft>
                <a:spcPts val="700"/>
              </a:spcAft>
            </a:pPr>
            <a:r>
              <a:rPr sz="1600" b="0" i="0">
                <a:solidFill>
                  <a:srgbClr val="1A1A1A"/>
                </a:solidFill>
                <a:latin typeface="Arial"/>
              </a:rPr>
              <a:t>Who answers, what to prepare, how to answer, the five stages for describing, the checks before submitting.</a:t>
            </a:r>
          </a:p>
        </p:txBody>
      </p:sp>
      <p:sp>
        <p:nvSpPr>
          <p:cNvPr id="6" name="Rounded Rectangle 5"/>
          <p:cNvSpPr/>
          <p:nvPr/>
        </p:nvSpPr>
        <p:spPr>
          <a:xfrm>
            <a:off x="6263640" y="1554480"/>
            <a:ext cx="5394960" cy="256032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286000"/>
          </a:xfrm>
          <a:prstGeom prst="rect">
            <a:avLst/>
          </a:prstGeom>
          <a:noFill/>
        </p:spPr>
        <p:txBody>
          <a:bodyPr wrap="square">
            <a:spAutoFit/>
          </a:bodyPr>
          <a:lstStyle/>
          <a:p>
            <a:pPr>
              <a:spcAft>
                <a:spcPts val="700"/>
              </a:spcAft>
            </a:pPr>
            <a:r>
              <a:rPr sz="1900" b="1" i="0">
                <a:solidFill>
                  <a:srgbClr val="006E96"/>
                </a:solidFill>
                <a:latin typeface="Arial"/>
              </a:rPr>
              <a:t>FOR THE FACILITATOR</a:t>
            </a:r>
          </a:p>
          <a:p>
            <a:pPr>
              <a:spcAft>
                <a:spcPts val="700"/>
              </a:spcAft>
            </a:pPr>
            <a:r>
              <a:rPr sz="1600" b="0" i="0">
                <a:solidFill>
                  <a:srgbClr val="1A1A1A"/>
                </a:solidFill>
                <a:latin typeface="Arial"/>
              </a:rPr>
              <a:t>Before the session, how to run it, what to look for, how to record answers and evidence, difficult situations, checks before scoring.</a:t>
            </a:r>
          </a:p>
        </p:txBody>
      </p:sp>
      <p:sp>
        <p:nvSpPr>
          <p:cNvPr id="8" name="TextBox 7"/>
          <p:cNvSpPr txBox="1"/>
          <p:nvPr/>
        </p:nvSpPr>
        <p:spPr>
          <a:xfrm>
            <a:off x="658368" y="4297680"/>
            <a:ext cx="10881360" cy="548640"/>
          </a:xfrm>
          <a:prstGeom prst="rect">
            <a:avLst/>
          </a:prstGeom>
          <a:noFill/>
        </p:spPr>
        <p:txBody>
          <a:bodyPr wrap="square">
            <a:spAutoFit/>
          </a:bodyPr>
          <a:lstStyle/>
          <a:p>
            <a:r>
              <a:rPr sz="1550" b="1" i="0">
                <a:solidFill>
                  <a:srgbClr val="006E96"/>
                </a:solidFill>
                <a:latin typeface="Arial"/>
              </a:rPr>
              <a:t>Respondents describe; they do not score.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answer on learner records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There is no single record of a learner.</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PLR holds enrolment records for some learners and serves them to PNEA alone</a:t>
            </a:r>
          </a:p>
          <a:p>
            <a:pPr>
              <a:spcAft>
                <a:spcPts val="300"/>
              </a:spcAft>
            </a:pPr>
            <a:r>
              <a:rPr sz="1550" b="0" i="0">
                <a:solidFill>
                  <a:srgbClr val="595959"/>
                </a:solidFill>
                <a:latin typeface="Arial"/>
              </a:rPr>
              <a:t>Primary schools keep class registers on paper.</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Schools send totals by grade and sex once a year</a:t>
            </a:r>
          </a:p>
          <a:p>
            <a:pPr>
              <a:spcAft>
                <a:spcPts val="300"/>
              </a:spcAft>
            </a:pPr>
            <a:r>
              <a:rPr sz="1550" b="0" i="0">
                <a:solidFill>
                  <a:srgbClr val="595959"/>
                </a:solidFill>
                <a:latin typeface="Arial"/>
              </a:rPr>
              <a:t>PEMIS holds no record of individual learners.</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Documents: the blank annual school return form; the PEMIS data dictionary. Worked example E3, illustrative.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Five questionnaires, one for each domain, put the same questions to the people who run the systems and ask for evidence with every answer.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a filled questionnaire against its evidence.</a:t>
            </a:r>
          </a:p>
          <a:p>
            <a:pPr algn="l">
              <a:spcAft>
                <a:spcPts val="400"/>
              </a:spcAft>
            </a:pPr>
            <a:r>
              <a:rPr sz="1800" b="0" i="0">
                <a:solidFill>
                  <a:srgbClr val="595959"/>
                </a:solidFill>
                <a:latin typeface="Arial"/>
              </a:rPr>
              <a:t>The prompt in the companion material gives you a table with one row per question — what the evidence supports, what is stated without evidence, the question to ask next.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sections 5.3 and 5.4</a:t>
            </a:r>
          </a:p>
          <a:p>
            <a:pPr>
              <a:spcAft>
                <a:spcPts val="1200"/>
              </a:spcAft>
            </a:pPr>
            <a:r>
              <a:rPr sz="1700" b="0" i="0">
                <a:solidFill>
                  <a:srgbClr val="1A1A1A"/>
                </a:solidFill>
                <a:latin typeface="Arial"/>
              </a:rPr>
              <a:t>•  The questionnaires and their guides — this course's own instruments, in the assessment toolkit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