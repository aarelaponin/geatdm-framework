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Donors and vendors all speak of DPI, digital public infrastructure. Some of what they offer is shared by the whole government. Some of it is one ministry's system under a new name. Before your ministry pays for either, you need a test you can defend.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UNDP defines digital public infrastructure as a set of foundational digital systems. Its compendium of 2023 gives the longer description from the G20 agreement of that year. These are shared digital systems, secure and interoperable. They can be built on open standards. They deliver services at the scale of a whole society. And legal frameworks and enabling rules govern them. The compendium names three kinds so far: digital identity, digital payments, and data sharing based on consent. It expects others to emerge.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From that description the compendium draws four characteristics. Turn them into four marks you can test. First, it serves the whole society, not one region or one group. Second, many services can connect to it, from many providers. Third, it is built on open standards, so that anyone may build on it. Fourth, clear rules govern it, to protect people and prevent misuse. Do not treat the fourth mark as a formality. PAERA, the GovStack reference architecture, places governance, policy and law at the foundation of a country's digital infrastructure, under its four pillars. It also says that such infrastructure shapes what can be built on top of it. The rules decide who gains from it.</a:t>
            </a:r>
          </a:p>
          <a:p/>
          <a:p>
            <a:r>
              <a:t>Production cue: the core of the video — the test the listener carries away. Reveal the four rows one at a time.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does the test matter? See what shared systems did. A World Bank report for the G20 looks at India. There, the share of adults with a transaction account rose from about one in four in 2008 to over 80 percent. The report estimates that without such infrastructure the same change could have taken up to 47 years. The report adds that other policies mattered as well. In Brazil, by the end of February 2022, 67 percent of adults had used Pix, the central bank's payment system, 15 months after its launch. Procurement rules can require interoperability, but they cannot deliver it. A project pays only for its own users. Only whole-of-government planning sees the total: the first ministry pays, and every ministry after it re-uses what was built.</a:t>
            </a:r>
          </a:p>
          <a:p/>
          <a:p>
            <a:r>
              <a:t>On screen: country names in plain typography only — no flags, emblems or logos.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apply the four marks to Progressa, the fictional country of these examples. Its national identity, run by PNIA, the identity authority, covers 78 per cent of adults. Children below the age of issue have no identity number, and no education service uses its sign-in yet. Foundational, with gaps. PayPro, the payment provider, runs a fast-payment system, but no payments service for government is joined to Linkup, the national data exchange, yet. So no education programme can pay through it. Linkup is built for many bodies to connect, but it is still a pilot, and the ministry of education is not a member. PLR, the learner registry, holds records for some learners only. It belongs to education and is not yet the authoritative register. PEMIS, the ministry's school information system, holds totals, not learners. It is a sector application.</a:t>
            </a:r>
          </a:p>
          <a:p/>
          <a:p>
            <a:r>
              <a:t>Production cue: the worked example — reveal the rows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Test anything called DPI against four marks: the whole society, many services, open standards, clear rules. A system that misses a mark is not yet infrastructure, whatever it is called.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makes infrastructure foundational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Before you fund anything called "DPI", test it against four marks: it serves the whole society, many services can connect to it, it is built on open standards, and clear rules govern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Donors and vendors all speak of DPI.</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Some of what they offer is shared by the whole government. Some of it is one ministry's system under a new name.</a:t>
            </a:r>
          </a:p>
          <a:p>
            <a:pPr>
              <a:spcAft>
                <a:spcPts val="800"/>
              </a:spcAft>
            </a:pPr>
            <a:r>
              <a:rPr sz="1700" b="0" i="0">
                <a:solidFill>
                  <a:srgbClr val="595959"/>
                </a:solidFill>
                <a:latin typeface="Arial"/>
              </a:rPr>
              <a:t>Before your ministry pays for either, you need a test you can defend.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DPI means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UNDP: a set of foundational digital systems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description from the G20 agreement of 2023</a:t>
            </a:r>
          </a:p>
          <a:p>
            <a:pPr>
              <a:spcAft>
                <a:spcPts val="300"/>
              </a:spcAft>
            </a:pPr>
            <a:r>
              <a:rPr sz="1550" b="0" i="0">
                <a:solidFill>
                  <a:srgbClr val="595959"/>
                </a:solidFill>
                <a:latin typeface="Arial"/>
              </a:rPr>
              <a:t>Shared, secure and interoperable systems, built on open standards, serving a whole society, governed by legal frameworks and enabling rules.</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Three kinds so far</a:t>
            </a:r>
          </a:p>
          <a:p>
            <a:pPr>
              <a:spcAft>
                <a:spcPts val="300"/>
              </a:spcAft>
            </a:pPr>
            <a:r>
              <a:rPr sz="1550" b="0" i="0">
                <a:solidFill>
                  <a:srgbClr val="595959"/>
                </a:solidFill>
                <a:latin typeface="Arial"/>
              </a:rPr>
              <a:t>Digital identity, digital payments, consent-based data sharing — and others emerging.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marks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It serves the whole society</a:t>
            </a:r>
          </a:p>
          <a:p>
            <a:pPr>
              <a:spcAft>
                <a:spcPts val="300"/>
              </a:spcAft>
            </a:pPr>
            <a:r>
              <a:rPr sz="1550" b="0" i="0">
                <a:solidFill>
                  <a:srgbClr val="595959"/>
                </a:solidFill>
                <a:latin typeface="Arial"/>
              </a:rPr>
              <a:t>Not limited by place or by group.</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Many services can connect to it</a:t>
            </a:r>
          </a:p>
          <a:p>
            <a:pPr>
              <a:spcAft>
                <a:spcPts val="300"/>
              </a:spcAft>
            </a:pPr>
            <a:r>
              <a:rPr sz="1550" b="0" i="0">
                <a:solidFill>
                  <a:srgbClr val="595959"/>
                </a:solidFill>
                <a:latin typeface="Arial"/>
              </a:rPr>
              <a:t>Many uses, many providers.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It is built on open standards</a:t>
            </a:r>
          </a:p>
          <a:p>
            <a:pPr>
              <a:spcAft>
                <a:spcPts val="300"/>
              </a:spcAft>
            </a:pPr>
            <a:r>
              <a:rPr sz="1550" b="0" i="0">
                <a:solidFill>
                  <a:srgbClr val="595959"/>
                </a:solidFill>
                <a:latin typeface="Arial"/>
              </a:rPr>
              <a:t>Anyone may build on it.</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Clear rules govern it</a:t>
            </a:r>
          </a:p>
          <a:p>
            <a:pPr>
              <a:spcAft>
                <a:spcPts val="300"/>
              </a:spcAft>
            </a:pPr>
            <a:r>
              <a:rPr sz="1550" b="0" i="0">
                <a:solidFill>
                  <a:srgbClr val="595959"/>
                </a:solidFill>
                <a:latin typeface="Arial"/>
              </a:rPr>
              <a:t>To protect people and prevent misuse.</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rules decide who gains from it.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shared infrastructure has done</a:t>
            </a:r>
          </a:p>
        </p:txBody>
      </p:sp>
      <p:sp>
        <p:nvSpPr>
          <p:cNvPr id="4" name="TextBox 3"/>
          <p:cNvSpPr txBox="1"/>
          <p:nvPr/>
        </p:nvSpPr>
        <p:spPr>
          <a:xfrm>
            <a:off x="658368" y="1463040"/>
            <a:ext cx="10984687" cy="1463040"/>
          </a:xfrm>
          <a:prstGeom prst="rect">
            <a:avLst/>
          </a:prstGeom>
          <a:noFill/>
        </p:spPr>
        <p:txBody>
          <a:bodyPr wrap="square">
            <a:spAutoFit/>
          </a:bodyPr>
          <a:lstStyle/>
          <a:p>
            <a:pPr>
              <a:spcAft>
                <a:spcPts val="300"/>
              </a:spcAft>
            </a:pPr>
            <a:r>
              <a:rPr sz="1900" b="1" i="0">
                <a:solidFill>
                  <a:srgbClr val="1A1A1A"/>
                </a:solidFill>
                <a:latin typeface="Arial"/>
              </a:rPr>
              <a:t>India</a:t>
            </a:r>
          </a:p>
          <a:p>
            <a:pPr>
              <a:spcAft>
                <a:spcPts val="300"/>
              </a:spcAft>
            </a:pPr>
            <a:r>
              <a:rPr sz="1550" b="0" i="0">
                <a:solidFill>
                  <a:srgbClr val="595959"/>
                </a:solidFill>
                <a:latin typeface="Arial"/>
              </a:rPr>
              <a:t>Adults with a transaction account rose from about one in four in 2008 to over 80 percent — a change estimated to have taken up to 47 years without DPI (World Bank report for the G20, 2023, page 2).</a:t>
            </a:r>
          </a:p>
        </p:txBody>
      </p:sp>
      <p:sp>
        <p:nvSpPr>
          <p:cNvPr id="5" name="Rectangle 4"/>
          <p:cNvSpPr/>
          <p:nvPr/>
        </p:nvSpPr>
        <p:spPr>
          <a:xfrm>
            <a:off x="621792" y="29306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71800"/>
            <a:ext cx="10984687" cy="1463040"/>
          </a:xfrm>
          <a:prstGeom prst="rect">
            <a:avLst/>
          </a:prstGeom>
          <a:noFill/>
        </p:spPr>
        <p:txBody>
          <a:bodyPr wrap="square">
            <a:spAutoFit/>
          </a:bodyPr>
          <a:lstStyle/>
          <a:p>
            <a:pPr>
              <a:spcAft>
                <a:spcPts val="300"/>
              </a:spcAft>
            </a:pPr>
            <a:r>
              <a:rPr sz="1900" b="1" i="0">
                <a:solidFill>
                  <a:srgbClr val="1A1A1A"/>
                </a:solidFill>
                <a:latin typeface="Arial"/>
              </a:rPr>
              <a:t>Brazil</a:t>
            </a:r>
          </a:p>
          <a:p>
            <a:pPr>
              <a:spcAft>
                <a:spcPts val="300"/>
              </a:spcAft>
            </a:pPr>
            <a:r>
              <a:rPr sz="1550" b="0" i="0">
                <a:solidFill>
                  <a:srgbClr val="595959"/>
                </a:solidFill>
                <a:latin typeface="Arial"/>
              </a:rPr>
              <a:t>By the end of February 2022, 15 months after launch, 67% of adults had made or received a payment through Pix (BIS Bulletin No 52, 2022, page 5).</a:t>
            </a:r>
          </a:p>
        </p:txBody>
      </p:sp>
      <p:sp>
        <p:nvSpPr>
          <p:cNvPr id="7" name="TextBox 6"/>
          <p:cNvSpPr txBox="1"/>
          <p:nvPr/>
        </p:nvSpPr>
        <p:spPr>
          <a:xfrm>
            <a:off x="658368" y="4590288"/>
            <a:ext cx="10881360" cy="548640"/>
          </a:xfrm>
          <a:prstGeom prst="rect">
            <a:avLst/>
          </a:prstGeom>
          <a:noFill/>
        </p:spPr>
        <p:txBody>
          <a:bodyPr wrap="square">
            <a:spAutoFit/>
          </a:bodyPr>
          <a:lstStyle/>
          <a:p>
            <a:r>
              <a:rPr sz="1550" b="1" i="0">
                <a:solidFill>
                  <a:srgbClr val="006E96"/>
                </a:solidFill>
                <a:latin typeface="Arial"/>
              </a:rPr>
              <a:t>Procurement rules can require interoperability, but they cannot deliver it. Only whole-of-government planning sees the total.</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systems against the four marks</a:t>
            </a:r>
          </a:p>
        </p:txBody>
      </p:sp>
      <p:sp>
        <p:nvSpPr>
          <p:cNvPr id="4" name="TextBox 3"/>
          <p:cNvSpPr txBox="1"/>
          <p:nvPr/>
        </p:nvSpPr>
        <p:spPr>
          <a:xfrm>
            <a:off x="658368" y="1417320"/>
            <a:ext cx="2724912" cy="384048"/>
          </a:xfrm>
          <a:prstGeom prst="rect">
            <a:avLst/>
          </a:prstGeom>
          <a:noFill/>
        </p:spPr>
        <p:txBody>
          <a:bodyPr wrap="square">
            <a:spAutoFit/>
          </a:bodyPr>
          <a:lstStyle/>
          <a:p>
            <a:r>
              <a:rPr sz="1300" b="1" i="0">
                <a:solidFill>
                  <a:srgbClr val="006E96"/>
                </a:solidFill>
                <a:latin typeface="Arial"/>
              </a:rPr>
              <a:t>System</a:t>
            </a:r>
          </a:p>
        </p:txBody>
      </p:sp>
      <p:sp>
        <p:nvSpPr>
          <p:cNvPr id="5" name="TextBox 4"/>
          <p:cNvSpPr txBox="1"/>
          <p:nvPr/>
        </p:nvSpPr>
        <p:spPr>
          <a:xfrm>
            <a:off x="3493008" y="1417320"/>
            <a:ext cx="2542032" cy="384048"/>
          </a:xfrm>
          <a:prstGeom prst="rect">
            <a:avLst/>
          </a:prstGeom>
          <a:noFill/>
        </p:spPr>
        <p:txBody>
          <a:bodyPr wrap="square">
            <a:spAutoFit/>
          </a:bodyPr>
          <a:lstStyle/>
          <a:p>
            <a:r>
              <a:rPr sz="1300" b="1" i="0">
                <a:solidFill>
                  <a:srgbClr val="006E96"/>
                </a:solidFill>
                <a:latin typeface="Arial"/>
              </a:rPr>
              <a:t>Result</a:t>
            </a:r>
          </a:p>
        </p:txBody>
      </p:sp>
      <p:sp>
        <p:nvSpPr>
          <p:cNvPr id="6" name="TextBox 5"/>
          <p:cNvSpPr txBox="1"/>
          <p:nvPr/>
        </p:nvSpPr>
        <p:spPr>
          <a:xfrm>
            <a:off x="6144768" y="1417320"/>
            <a:ext cx="5285232" cy="384048"/>
          </a:xfrm>
          <a:prstGeom prst="rect">
            <a:avLst/>
          </a:prstGeom>
          <a:noFill/>
        </p:spPr>
        <p:txBody>
          <a:bodyPr wrap="square">
            <a:spAutoFit/>
          </a:bodyPr>
          <a:lstStyle/>
          <a:p>
            <a:r>
              <a:rPr sz="1300" b="1" i="0">
                <a:solidFill>
                  <a:srgbClr val="006E96"/>
                </a:solidFill>
                <a:latin typeface="Arial"/>
              </a:rPr>
              <a:t>Reason</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2724912" cy="694944"/>
          </a:xfrm>
          <a:prstGeom prst="rect">
            <a:avLst/>
          </a:prstGeom>
          <a:noFill/>
        </p:spPr>
        <p:txBody>
          <a:bodyPr wrap="square">
            <a:spAutoFit/>
          </a:bodyPr>
          <a:lstStyle/>
          <a:p>
            <a:r>
              <a:rPr sz="1300" b="1" i="0">
                <a:solidFill>
                  <a:srgbClr val="1A1A1A"/>
                </a:solidFill>
                <a:latin typeface="Arial"/>
              </a:rPr>
              <a:t>National identity (PNIA)</a:t>
            </a:r>
          </a:p>
        </p:txBody>
      </p:sp>
      <p:sp>
        <p:nvSpPr>
          <p:cNvPr id="9" name="TextBox 8"/>
          <p:cNvSpPr txBox="1"/>
          <p:nvPr/>
        </p:nvSpPr>
        <p:spPr>
          <a:xfrm>
            <a:off x="3493008" y="1911095"/>
            <a:ext cx="2542032" cy="694944"/>
          </a:xfrm>
          <a:prstGeom prst="rect">
            <a:avLst/>
          </a:prstGeom>
          <a:noFill/>
        </p:spPr>
        <p:txBody>
          <a:bodyPr wrap="square">
            <a:spAutoFit/>
          </a:bodyPr>
          <a:lstStyle/>
          <a:p>
            <a:r>
              <a:rPr sz="1300" b="0" i="0">
                <a:solidFill>
                  <a:srgbClr val="1A1A1A"/>
                </a:solidFill>
                <a:latin typeface="Arial"/>
              </a:rPr>
              <a:t>Foundational, with gaps</a:t>
            </a:r>
          </a:p>
        </p:txBody>
      </p:sp>
      <p:sp>
        <p:nvSpPr>
          <p:cNvPr id="10" name="TextBox 9"/>
          <p:cNvSpPr txBox="1"/>
          <p:nvPr/>
        </p:nvSpPr>
        <p:spPr>
          <a:xfrm>
            <a:off x="6144768" y="1911095"/>
            <a:ext cx="5285232" cy="694944"/>
          </a:xfrm>
          <a:prstGeom prst="rect">
            <a:avLst/>
          </a:prstGeom>
          <a:noFill/>
        </p:spPr>
        <p:txBody>
          <a:bodyPr wrap="square">
            <a:spAutoFit/>
          </a:bodyPr>
          <a:lstStyle/>
          <a:p>
            <a:r>
              <a:rPr sz="1300" b="0" i="0">
                <a:solidFill>
                  <a:srgbClr val="1A1A1A"/>
                </a:solidFill>
                <a:latin typeface="Arial"/>
              </a:rPr>
              <a:t>78 per cent of adults covered; no identity number below the age of issue; no education service uses its sign-in.</a:t>
            </a:r>
          </a:p>
        </p:txBody>
      </p:sp>
      <p:sp>
        <p:nvSpPr>
          <p:cNvPr id="11" name="Rectangle 10"/>
          <p:cNvSpPr/>
          <p:nvPr/>
        </p:nvSpPr>
        <p:spPr>
          <a:xfrm>
            <a:off x="658368" y="26243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679191"/>
            <a:ext cx="2724912" cy="694944"/>
          </a:xfrm>
          <a:prstGeom prst="rect">
            <a:avLst/>
          </a:prstGeom>
          <a:noFill/>
        </p:spPr>
        <p:txBody>
          <a:bodyPr wrap="square">
            <a:spAutoFit/>
          </a:bodyPr>
          <a:lstStyle/>
          <a:p>
            <a:r>
              <a:rPr sz="1300" b="1" i="0">
                <a:solidFill>
                  <a:srgbClr val="1A1A1A"/>
                </a:solidFill>
                <a:latin typeface="Arial"/>
              </a:rPr>
              <a:t>Payments</a:t>
            </a:r>
          </a:p>
        </p:txBody>
      </p:sp>
      <p:sp>
        <p:nvSpPr>
          <p:cNvPr id="13" name="TextBox 12"/>
          <p:cNvSpPr txBox="1"/>
          <p:nvPr/>
        </p:nvSpPr>
        <p:spPr>
          <a:xfrm>
            <a:off x="3493008" y="2679191"/>
            <a:ext cx="2542032" cy="694944"/>
          </a:xfrm>
          <a:prstGeom prst="rect">
            <a:avLst/>
          </a:prstGeom>
          <a:noFill/>
        </p:spPr>
        <p:txBody>
          <a:bodyPr wrap="square">
            <a:spAutoFit/>
          </a:bodyPr>
          <a:lstStyle/>
          <a:p>
            <a:r>
              <a:rPr sz="1300" b="0" i="0">
                <a:solidFill>
                  <a:srgbClr val="1A1A1A"/>
                </a:solidFill>
                <a:latin typeface="Arial"/>
              </a:rPr>
              <a:t>Not yet in place for government</a:t>
            </a:r>
          </a:p>
        </p:txBody>
      </p:sp>
      <p:sp>
        <p:nvSpPr>
          <p:cNvPr id="14" name="TextBox 13"/>
          <p:cNvSpPr txBox="1"/>
          <p:nvPr/>
        </p:nvSpPr>
        <p:spPr>
          <a:xfrm>
            <a:off x="6144768" y="2679191"/>
            <a:ext cx="5285232" cy="694944"/>
          </a:xfrm>
          <a:prstGeom prst="rect">
            <a:avLst/>
          </a:prstGeom>
          <a:noFill/>
        </p:spPr>
        <p:txBody>
          <a:bodyPr wrap="square">
            <a:spAutoFit/>
          </a:bodyPr>
          <a:lstStyle/>
          <a:p>
            <a:r>
              <a:rPr sz="1300" b="0" i="0">
                <a:solidFill>
                  <a:srgbClr val="1A1A1A"/>
                </a:solidFill>
                <a:latin typeface="Arial"/>
              </a:rPr>
              <a:t>PayPro runs a fast-payment system; no government payments service is joined to Linkup.</a:t>
            </a:r>
          </a:p>
        </p:txBody>
      </p:sp>
      <p:sp>
        <p:nvSpPr>
          <p:cNvPr id="15" name="Rectangle 14"/>
          <p:cNvSpPr/>
          <p:nvPr/>
        </p:nvSpPr>
        <p:spPr>
          <a:xfrm>
            <a:off x="658368" y="339242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447288"/>
            <a:ext cx="2724912" cy="694944"/>
          </a:xfrm>
          <a:prstGeom prst="rect">
            <a:avLst/>
          </a:prstGeom>
          <a:noFill/>
        </p:spPr>
        <p:txBody>
          <a:bodyPr wrap="square">
            <a:spAutoFit/>
          </a:bodyPr>
          <a:lstStyle/>
          <a:p>
            <a:r>
              <a:rPr sz="1300" b="1" i="0">
                <a:solidFill>
                  <a:srgbClr val="1A1A1A"/>
                </a:solidFill>
                <a:latin typeface="Arial"/>
              </a:rPr>
              <a:t>Linkup, the data exchange</a:t>
            </a:r>
          </a:p>
        </p:txBody>
      </p:sp>
      <p:sp>
        <p:nvSpPr>
          <p:cNvPr id="17" name="TextBox 16"/>
          <p:cNvSpPr txBox="1"/>
          <p:nvPr/>
        </p:nvSpPr>
        <p:spPr>
          <a:xfrm>
            <a:off x="3493008" y="3447288"/>
            <a:ext cx="2542032" cy="694944"/>
          </a:xfrm>
          <a:prstGeom prst="rect">
            <a:avLst/>
          </a:prstGeom>
          <a:noFill/>
        </p:spPr>
        <p:txBody>
          <a:bodyPr wrap="square">
            <a:spAutoFit/>
          </a:bodyPr>
          <a:lstStyle/>
          <a:p>
            <a:r>
              <a:rPr sz="1300" b="0" i="0">
                <a:solidFill>
                  <a:srgbClr val="1A1A1A"/>
                </a:solidFill>
                <a:latin typeface="Arial"/>
              </a:rPr>
              <a:t>Foundational, still a pilot</a:t>
            </a:r>
          </a:p>
        </p:txBody>
      </p:sp>
      <p:sp>
        <p:nvSpPr>
          <p:cNvPr id="18" name="TextBox 17"/>
          <p:cNvSpPr txBox="1"/>
          <p:nvPr/>
        </p:nvSpPr>
        <p:spPr>
          <a:xfrm>
            <a:off x="6144768" y="3447288"/>
            <a:ext cx="5285232" cy="694944"/>
          </a:xfrm>
          <a:prstGeom prst="rect">
            <a:avLst/>
          </a:prstGeom>
          <a:noFill/>
        </p:spPr>
        <p:txBody>
          <a:bodyPr wrap="square">
            <a:spAutoFit/>
          </a:bodyPr>
          <a:lstStyle/>
          <a:p>
            <a:r>
              <a:rPr sz="1300" b="0" i="0">
                <a:solidFill>
                  <a:srgbClr val="1A1A1A"/>
                </a:solidFill>
                <a:latin typeface="Arial"/>
              </a:rPr>
              <a:t>Built for many bodies to connect; the ministry of education is not yet a member.</a:t>
            </a:r>
          </a:p>
        </p:txBody>
      </p:sp>
      <p:sp>
        <p:nvSpPr>
          <p:cNvPr id="19" name="Rectangle 18"/>
          <p:cNvSpPr/>
          <p:nvPr/>
        </p:nvSpPr>
        <p:spPr>
          <a:xfrm>
            <a:off x="658368" y="41605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215384"/>
            <a:ext cx="2724912" cy="694944"/>
          </a:xfrm>
          <a:prstGeom prst="rect">
            <a:avLst/>
          </a:prstGeom>
          <a:noFill/>
        </p:spPr>
        <p:txBody>
          <a:bodyPr wrap="square">
            <a:spAutoFit/>
          </a:bodyPr>
          <a:lstStyle/>
          <a:p>
            <a:r>
              <a:rPr sz="1300" b="1" i="0">
                <a:solidFill>
                  <a:srgbClr val="1A1A1A"/>
                </a:solidFill>
                <a:latin typeface="Arial"/>
              </a:rPr>
              <a:t>Learner registry (PLR)</a:t>
            </a:r>
          </a:p>
        </p:txBody>
      </p:sp>
      <p:sp>
        <p:nvSpPr>
          <p:cNvPr id="21" name="TextBox 20"/>
          <p:cNvSpPr txBox="1"/>
          <p:nvPr/>
        </p:nvSpPr>
        <p:spPr>
          <a:xfrm>
            <a:off x="3493008" y="4215384"/>
            <a:ext cx="2542032" cy="694944"/>
          </a:xfrm>
          <a:prstGeom prst="rect">
            <a:avLst/>
          </a:prstGeom>
          <a:noFill/>
        </p:spPr>
        <p:txBody>
          <a:bodyPr wrap="square">
            <a:spAutoFit/>
          </a:bodyPr>
          <a:lstStyle/>
          <a:p>
            <a:r>
              <a:rPr sz="1300" b="0" i="0">
                <a:solidFill>
                  <a:srgbClr val="1A1A1A"/>
                </a:solidFill>
                <a:latin typeface="Arial"/>
              </a:rPr>
              <a:t>The sector's own, not yet authoritative</a:t>
            </a:r>
          </a:p>
        </p:txBody>
      </p:sp>
      <p:sp>
        <p:nvSpPr>
          <p:cNvPr id="22" name="TextBox 21"/>
          <p:cNvSpPr txBox="1"/>
          <p:nvPr/>
        </p:nvSpPr>
        <p:spPr>
          <a:xfrm>
            <a:off x="6144768" y="4215384"/>
            <a:ext cx="5285232" cy="694944"/>
          </a:xfrm>
          <a:prstGeom prst="rect">
            <a:avLst/>
          </a:prstGeom>
          <a:noFill/>
        </p:spPr>
        <p:txBody>
          <a:bodyPr wrap="square">
            <a:spAutoFit/>
          </a:bodyPr>
          <a:lstStyle/>
          <a:p>
            <a:r>
              <a:rPr sz="1300" b="0" i="0">
                <a:solidFill>
                  <a:srgbClr val="1A1A1A"/>
                </a:solidFill>
                <a:latin typeface="Arial"/>
              </a:rPr>
              <a:t>Records for some learners only, served to the examination authority alone.</a:t>
            </a:r>
          </a:p>
        </p:txBody>
      </p:sp>
      <p:sp>
        <p:nvSpPr>
          <p:cNvPr id="23" name="Rectangle 22"/>
          <p:cNvSpPr/>
          <p:nvPr/>
        </p:nvSpPr>
        <p:spPr>
          <a:xfrm>
            <a:off x="658368" y="49286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983480"/>
            <a:ext cx="2724912" cy="694944"/>
          </a:xfrm>
          <a:prstGeom prst="rect">
            <a:avLst/>
          </a:prstGeom>
          <a:noFill/>
        </p:spPr>
        <p:txBody>
          <a:bodyPr wrap="square">
            <a:spAutoFit/>
          </a:bodyPr>
          <a:lstStyle/>
          <a:p>
            <a:r>
              <a:rPr sz="1300" b="1" i="0">
                <a:solidFill>
                  <a:srgbClr val="1A1A1A"/>
                </a:solidFill>
                <a:latin typeface="Arial"/>
              </a:rPr>
              <a:t>PEMIS, the ministry's school information system</a:t>
            </a:r>
          </a:p>
        </p:txBody>
      </p:sp>
      <p:sp>
        <p:nvSpPr>
          <p:cNvPr id="25" name="TextBox 24"/>
          <p:cNvSpPr txBox="1"/>
          <p:nvPr/>
        </p:nvSpPr>
        <p:spPr>
          <a:xfrm>
            <a:off x="3493008" y="4983480"/>
            <a:ext cx="2542032" cy="694944"/>
          </a:xfrm>
          <a:prstGeom prst="rect">
            <a:avLst/>
          </a:prstGeom>
          <a:noFill/>
        </p:spPr>
        <p:txBody>
          <a:bodyPr wrap="square">
            <a:spAutoFit/>
          </a:bodyPr>
          <a:lstStyle/>
          <a:p>
            <a:r>
              <a:rPr sz="1300" b="0" i="0">
                <a:solidFill>
                  <a:srgbClr val="1A1A1A"/>
                </a:solidFill>
                <a:latin typeface="Arial"/>
              </a:rPr>
              <a:t>A sector application</a:t>
            </a:r>
          </a:p>
        </p:txBody>
      </p:sp>
      <p:sp>
        <p:nvSpPr>
          <p:cNvPr id="26" name="TextBox 25"/>
          <p:cNvSpPr txBox="1"/>
          <p:nvPr/>
        </p:nvSpPr>
        <p:spPr>
          <a:xfrm>
            <a:off x="6144768" y="4983480"/>
            <a:ext cx="5285232" cy="694944"/>
          </a:xfrm>
          <a:prstGeom prst="rect">
            <a:avLst/>
          </a:prstGeom>
          <a:noFill/>
        </p:spPr>
        <p:txBody>
          <a:bodyPr wrap="square">
            <a:spAutoFit/>
          </a:bodyPr>
          <a:lstStyle/>
          <a:p>
            <a:r>
              <a:rPr sz="1300" b="0" i="0">
                <a:solidFill>
                  <a:srgbClr val="1A1A1A"/>
                </a:solidFill>
                <a:latin typeface="Arial"/>
              </a:rPr>
              <a:t>Holds totals, not learners; shares data by file export.</a:t>
            </a:r>
          </a:p>
        </p:txBody>
      </p:sp>
      <p:sp>
        <p:nvSpPr>
          <p:cNvPr id="27" name="TextBox 26"/>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Progressa is a fictional country. The screen is illustrative.</a:t>
            </a:r>
          </a:p>
        </p:txBody>
      </p:sp>
      <p:sp>
        <p:nvSpPr>
          <p:cNvPr id="28" name="TextBox 2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Before you fund anything called "DPI", test it against four marks: it serves the whole society, many services can connect to it, it is built on open standards, and clear rules govern it.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Screen your systems against the four marks of foundational infrastructure.</a:t>
            </a:r>
          </a:p>
          <a:p>
            <a:pPr algn="l">
              <a:spcAft>
                <a:spcPts val="400"/>
              </a:spcAft>
            </a:pPr>
            <a:r>
              <a:rPr sz="1800" b="0" i="0">
                <a:solidFill>
                  <a:srgbClr val="595959"/>
                </a:solidFill>
                <a:latin typeface="Arial"/>
              </a:rPr>
              <a:t>The prompt in the companion material gives you a table with one line of reasoning for each mark, for each system.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UNDP — Digital public infrastructure (web page)</a:t>
            </a:r>
          </a:p>
          <a:p>
            <a:pPr>
              <a:spcAft>
                <a:spcPts val="1200"/>
              </a:spcAft>
            </a:pPr>
            <a:r>
              <a:rPr sz="1700" b="0" i="0">
                <a:solidFill>
                  <a:srgbClr val="1A1A1A"/>
                </a:solidFill>
                <a:latin typeface="Arial"/>
              </a:rPr>
              <a:t>•  UNDP — Accelerating the SDGs through Digital Public Infrastructure: A Compendium (2023), pages 3 and 4</a:t>
            </a:r>
          </a:p>
          <a:p>
            <a:pPr>
              <a:spcAft>
                <a:spcPts val="1200"/>
              </a:spcAft>
            </a:pPr>
            <a:r>
              <a:rPr sz="1700" b="0" i="0">
                <a:solidFill>
                  <a:srgbClr val="1A1A1A"/>
                </a:solidFill>
                <a:latin typeface="Arial"/>
              </a:rPr>
              <a:t>•  PAERA v1.0 — sections 2.6 and 3.3.1</a:t>
            </a:r>
          </a:p>
          <a:p>
            <a:pPr>
              <a:spcAft>
                <a:spcPts val="1200"/>
              </a:spcAft>
            </a:pPr>
            <a:r>
              <a:rPr sz="1700" b="0" i="0">
                <a:solidFill>
                  <a:srgbClr val="1A1A1A"/>
                </a:solidFill>
                <a:latin typeface="Arial"/>
              </a:rPr>
              <a:t>•  World Bank — G20 Policy Recommendations for Advancing Financial Inclusion and Productivity Gains through Digital Public Infrastructure (2023), page 2</a:t>
            </a:r>
          </a:p>
          <a:p>
            <a:pPr>
              <a:spcAft>
                <a:spcPts val="1200"/>
              </a:spcAft>
            </a:pPr>
            <a:r>
              <a:rPr sz="1700" b="0" i="0">
                <a:solidFill>
                  <a:srgbClr val="1A1A1A"/>
                </a:solidFill>
                <a:latin typeface="Arial"/>
              </a:rPr>
              <a:t>•  BIS Bulletin No 52 (2022), page 5</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