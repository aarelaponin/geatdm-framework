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0" r:id="rId82"/>
    <p:sldId id="2761" r:id="rId83"/>
    <p:sldId id="2762" r:id="rId84"/>
    <p:sldId id="2763" r:id="rId85"/>
    <p:sldId id="2764" r:id="rId86"/>
    <p:sldId id="2765" r:id="rId87"/>
    <p:sldId id="2766" r:id="rId88"/>
    <p:sldId id="2767"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Money for digital government comes in pieces: a donor here, a budget line there. Each piece is spent on something. Unless someone has fixed the order of building, the pieces arrive in an order that nobody chose.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the GovStack reference architecture, gives an order in four phases. In the first phase, inception, the country puts in place the Identity and Payment building blocks. It adds a platform for building services with little or no code. In the second, it picks high-priority services and builds them fast. They are built on the Information Mediator, which is the data exchange layer, on Registration and on other shared blocks. In the third, all main state registries are digitalised, in no more than two to three years. The fourth completes the digitalisation of every government service. Each phase puts in place the blocks that the next one needs.</a:t>
            </a:r>
          </a:p>
          <a:p/>
          <a:p>
            <a:r>
              <a:t>Production cue: the pivotal slide of this video. The written guide carries figure F5. Reveal the phases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adds two rules. Every internal prerequisite must be in place before a service opens to the public. And citizens and businesses should always see a positive result. PAERA explains why both matter. Nobody wants to fund a digital identity while no service uses it, and no ministry can build personal services without one. The answer is to do two things at once. Put the foundational elements in place, and show early results that political leaders and the public can see. A service that opens before its foundations are ready fails in public, and the whole plan loses support.</a:t>
            </a:r>
          </a:p>
          <a:p/>
          <a:p>
            <a:r>
              <a:t>Production cue: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Estonia's official record shows the order there. The tax board offered online tax returns in 2000. X-Road, the data exchange layer, followed in 2001, and the electronic identity with the digital signature in 2002. So in Estonia the first services came before the shared blocks. The lesson lies in what those blocks became once they existed. Estonia's own account names X-Road and the digital identity as part of the foundation that makes digital Estonia possible.</a:t>
            </a:r>
          </a:p>
          <a:p/>
          <a:p>
            <a:r>
              <a:t>On screen: the country name in plain typography only — no flags or emblems. Estonia is cited for what the shared blocks became, not as a case of identity coming before services.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order for Progressa, the fictional country of these examples, on one page. Identity and payments already run there: PNIA, the identity authority, offers a sign-in, and PayPro, the payment provider, runs a fast-payment system. So phase one connects to them instead of building them, and sets up the decision body and the legal basis. Phase two brings the ministry of education onto Linkup, the data exchange. It builds the registration service, and brings the learner register forward because that service needs it. Its visible result: a parent registers a child once. Phase three takes the register to every district. Phase four lets parents and learners see their own records.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Identity and payments first. Data exchange and registration with the first priority services. The registers next. And one result people can see, early, so that support holds.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comes first: the order of building</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Build identity and payments first, bring in data exchange and registration with the first priority services, digitalise the registers next, and show one visible result early so that support holds.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Money for digital government comes in pieces.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here, a budget line there. Each piece is spent on something.</a:t>
            </a:r>
          </a:p>
          <a:p>
            <a:pPr>
              <a:spcAft>
                <a:spcPts val="800"/>
              </a:spcAft>
            </a:pPr>
            <a:r>
              <a:rPr sz="1700" b="0" i="0">
                <a:solidFill>
                  <a:srgbClr val="595959"/>
                </a:solidFill>
                <a:latin typeface="Arial"/>
              </a:rPr>
              <a:t>Unless someone has fixed the order of building, the pieces arrive in an order that nobody chose.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PAERA's four phases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Inception</a:t>
            </a:r>
          </a:p>
          <a:p>
            <a:pPr>
              <a:spcAft>
                <a:spcPts val="300"/>
              </a:spcAft>
            </a:pPr>
            <a:r>
              <a:rPr sz="1550" b="0" i="0">
                <a:solidFill>
                  <a:srgbClr val="595959"/>
                </a:solidFill>
                <a:latin typeface="Arial"/>
              </a:rPr>
              <a:t>Identity, Payment, and no-code or low-code development.</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High-priority use cases</a:t>
            </a:r>
          </a:p>
          <a:p>
            <a:pPr>
              <a:spcAft>
                <a:spcPts val="300"/>
              </a:spcAft>
            </a:pPr>
            <a:r>
              <a:rPr sz="1550" b="0" i="0">
                <a:solidFill>
                  <a:srgbClr val="595959"/>
                </a:solidFill>
                <a:latin typeface="Arial"/>
              </a:rPr>
              <a:t>The Information Mediator, Registration and other infrastructural blocks, with the first services.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Initial transformation</a:t>
            </a:r>
          </a:p>
          <a:p>
            <a:pPr>
              <a:spcAft>
                <a:spcPts val="300"/>
              </a:spcAft>
            </a:pPr>
            <a:r>
              <a:rPr sz="1550" b="0" i="0">
                <a:solidFill>
                  <a:srgbClr val="595959"/>
                </a:solidFill>
                <a:latin typeface="Arial"/>
              </a:rPr>
              <a:t>All main state registries digitalised, in no more than 2 to 3 years.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Mass-scale transformation</a:t>
            </a:r>
          </a:p>
          <a:p>
            <a:pPr>
              <a:spcAft>
                <a:spcPts val="300"/>
              </a:spcAft>
            </a:pPr>
            <a:r>
              <a:rPr sz="1550" b="0" i="0">
                <a:solidFill>
                  <a:srgbClr val="595959"/>
                </a:solidFill>
                <a:latin typeface="Arial"/>
              </a:rPr>
              <a:t>Every government service.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phase puts in place the blocks that the next one needs.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rules for the order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prerequisite is in place before a service opens to the public.</a:t>
            </a:r>
          </a:p>
          <a:p>
            <a:pPr>
              <a:spcAft>
                <a:spcPts val="1200"/>
              </a:spcAft>
            </a:pPr>
            <a:r>
              <a:rPr sz="2000" b="0" i="0">
                <a:solidFill>
                  <a:srgbClr val="1A1A1A"/>
                </a:solidFill>
                <a:latin typeface="Arial"/>
              </a:rPr>
              <a:t>Citizens and businesses see a positive result in every phase.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PAERA 3.3.3: target the foundational elements — and show early results.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Estonia's shared blocks became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2000</a:t>
            </a:r>
          </a:p>
          <a:p>
            <a:pPr>
              <a:spcAft>
                <a:spcPts val="300"/>
              </a:spcAft>
            </a:pPr>
            <a:r>
              <a:rPr sz="1550" b="0" i="0">
                <a:solidFill>
                  <a:srgbClr val="595959"/>
                </a:solidFill>
                <a:latin typeface="Arial"/>
              </a:rPr>
              <a:t>The tax board's e-services.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2001</a:t>
            </a:r>
          </a:p>
          <a:p>
            <a:pPr>
              <a:spcAft>
                <a:spcPts val="300"/>
              </a:spcAft>
            </a:pPr>
            <a:r>
              <a:rPr sz="1550" b="0" i="0">
                <a:solidFill>
                  <a:srgbClr val="595959"/>
                </a:solidFill>
                <a:latin typeface="Arial"/>
              </a:rPr>
              <a:t>X-Road, the data exchange layer.</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2002</a:t>
            </a:r>
          </a:p>
          <a:p>
            <a:pPr>
              <a:spcAft>
                <a:spcPts val="300"/>
              </a:spcAft>
            </a:pPr>
            <a:r>
              <a:rPr sz="1550" b="0" i="0">
                <a:solidFill>
                  <a:srgbClr val="595959"/>
                </a:solidFill>
                <a:latin typeface="Arial"/>
              </a:rPr>
              <a:t>The electronic identity and the digital signature.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first services came before the shared blocks; once the blocks existed, they became part of the foundation.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order of building</a:t>
            </a:r>
          </a:p>
        </p:txBody>
      </p:sp>
      <p:sp>
        <p:nvSpPr>
          <p:cNvPr id="4" name="TextBox 3"/>
          <p:cNvSpPr txBox="1"/>
          <p:nvPr/>
        </p:nvSpPr>
        <p:spPr>
          <a:xfrm>
            <a:off x="658368" y="1417320"/>
            <a:ext cx="1078992" cy="384048"/>
          </a:xfrm>
          <a:prstGeom prst="rect">
            <a:avLst/>
          </a:prstGeom>
          <a:noFill/>
        </p:spPr>
        <p:txBody>
          <a:bodyPr wrap="square">
            <a:spAutoFit/>
          </a:bodyPr>
          <a:lstStyle/>
          <a:p>
            <a:r>
              <a:rPr sz="1400" b="1" i="0">
                <a:solidFill>
                  <a:srgbClr val="006E96"/>
                </a:solidFill>
                <a:latin typeface="Arial"/>
              </a:rPr>
              <a:t>Phase</a:t>
            </a:r>
          </a:p>
        </p:txBody>
      </p:sp>
      <p:sp>
        <p:nvSpPr>
          <p:cNvPr id="5" name="TextBox 4"/>
          <p:cNvSpPr txBox="1"/>
          <p:nvPr/>
        </p:nvSpPr>
        <p:spPr>
          <a:xfrm>
            <a:off x="1847088" y="1417320"/>
            <a:ext cx="5925312" cy="384048"/>
          </a:xfrm>
          <a:prstGeom prst="rect">
            <a:avLst/>
          </a:prstGeom>
          <a:noFill/>
        </p:spPr>
        <p:txBody>
          <a:bodyPr wrap="square">
            <a:spAutoFit/>
          </a:bodyPr>
          <a:lstStyle/>
          <a:p>
            <a:r>
              <a:rPr sz="1400" b="1" i="0">
                <a:solidFill>
                  <a:srgbClr val="006E96"/>
                </a:solidFill>
                <a:latin typeface="Arial"/>
              </a:rPr>
              <a:t>What it brings</a:t>
            </a:r>
          </a:p>
        </p:txBody>
      </p:sp>
      <p:sp>
        <p:nvSpPr>
          <p:cNvPr id="6" name="TextBox 5"/>
          <p:cNvSpPr txBox="1"/>
          <p:nvPr/>
        </p:nvSpPr>
        <p:spPr>
          <a:xfrm>
            <a:off x="7882127" y="1417320"/>
            <a:ext cx="3547872" cy="384048"/>
          </a:xfrm>
          <a:prstGeom prst="rect">
            <a:avLst/>
          </a:prstGeom>
          <a:noFill/>
        </p:spPr>
        <p:txBody>
          <a:bodyPr wrap="square">
            <a:spAutoFit/>
          </a:bodyPr>
          <a:lstStyle/>
          <a:p>
            <a:r>
              <a:rPr sz="1400" b="1" i="0">
                <a:solidFill>
                  <a:srgbClr val="006E96"/>
                </a:solidFill>
                <a:latin typeface="Arial"/>
              </a:rPr>
              <a:t>The result people see</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1078992" cy="886968"/>
          </a:xfrm>
          <a:prstGeom prst="rect">
            <a:avLst/>
          </a:prstGeom>
          <a:noFill/>
        </p:spPr>
        <p:txBody>
          <a:bodyPr wrap="square">
            <a:spAutoFit/>
          </a:bodyPr>
          <a:lstStyle/>
          <a:p>
            <a:r>
              <a:rPr sz="1400" b="1" i="0">
                <a:solidFill>
                  <a:srgbClr val="1A1A1A"/>
                </a:solidFill>
                <a:latin typeface="Arial"/>
              </a:rPr>
              <a:t>1</a:t>
            </a:r>
          </a:p>
        </p:txBody>
      </p:sp>
      <p:sp>
        <p:nvSpPr>
          <p:cNvPr id="9" name="TextBox 8"/>
          <p:cNvSpPr txBox="1"/>
          <p:nvPr/>
        </p:nvSpPr>
        <p:spPr>
          <a:xfrm>
            <a:off x="1847088" y="1911095"/>
            <a:ext cx="5925312" cy="886968"/>
          </a:xfrm>
          <a:prstGeom prst="rect">
            <a:avLst/>
          </a:prstGeom>
          <a:noFill/>
        </p:spPr>
        <p:txBody>
          <a:bodyPr wrap="square">
            <a:spAutoFit/>
          </a:bodyPr>
          <a:lstStyle/>
          <a:p>
            <a:r>
              <a:rPr sz="1400" b="0" i="0">
                <a:solidFill>
                  <a:srgbClr val="1A1A1A"/>
                </a:solidFill>
                <a:latin typeface="Arial"/>
              </a:rPr>
              <a:t>Identity (PNIA) and a payment system (PayPro) already run: connect to them; set up the decision body and the legal basis</a:t>
            </a:r>
          </a:p>
        </p:txBody>
      </p:sp>
      <p:sp>
        <p:nvSpPr>
          <p:cNvPr id="10" name="TextBox 9"/>
          <p:cNvSpPr txBox="1"/>
          <p:nvPr/>
        </p:nvSpPr>
        <p:spPr>
          <a:xfrm>
            <a:off x="7882127" y="1911095"/>
            <a:ext cx="3547872" cy="886968"/>
          </a:xfrm>
          <a:prstGeom prst="rect">
            <a:avLst/>
          </a:prstGeom>
          <a:noFill/>
        </p:spPr>
        <p:txBody>
          <a:bodyPr wrap="square">
            <a:spAutoFit/>
          </a:bodyPr>
          <a:lstStyle/>
          <a:p>
            <a:r>
              <a:rPr sz="1400" b="0" i="0">
                <a:solidFill>
                  <a:srgbClr val="1A1A1A"/>
                </a:solidFill>
                <a:latin typeface="Arial"/>
              </a:rPr>
              <a:t>Online sign-in and fast payment, already offered to the public</a:t>
            </a:r>
          </a:p>
        </p:txBody>
      </p:sp>
      <p:sp>
        <p:nvSpPr>
          <p:cNvPr id="11" name="Rectangle 10"/>
          <p:cNvSpPr/>
          <p:nvPr/>
        </p:nvSpPr>
        <p:spPr>
          <a:xfrm>
            <a:off x="658368" y="281635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71215"/>
            <a:ext cx="1078992" cy="886968"/>
          </a:xfrm>
          <a:prstGeom prst="rect">
            <a:avLst/>
          </a:prstGeom>
          <a:noFill/>
        </p:spPr>
        <p:txBody>
          <a:bodyPr wrap="square">
            <a:spAutoFit/>
          </a:bodyPr>
          <a:lstStyle/>
          <a:p>
            <a:r>
              <a:rPr sz="1400" b="1" i="0">
                <a:solidFill>
                  <a:srgbClr val="1A1A1A"/>
                </a:solidFill>
                <a:latin typeface="Arial"/>
              </a:rPr>
              <a:t>2</a:t>
            </a:r>
          </a:p>
        </p:txBody>
      </p:sp>
      <p:sp>
        <p:nvSpPr>
          <p:cNvPr id="13" name="TextBox 12"/>
          <p:cNvSpPr txBox="1"/>
          <p:nvPr/>
        </p:nvSpPr>
        <p:spPr>
          <a:xfrm>
            <a:off x="1847088" y="2871215"/>
            <a:ext cx="5925312" cy="886968"/>
          </a:xfrm>
          <a:prstGeom prst="rect">
            <a:avLst/>
          </a:prstGeom>
          <a:noFill/>
        </p:spPr>
        <p:txBody>
          <a:bodyPr wrap="square">
            <a:spAutoFit/>
          </a:bodyPr>
          <a:lstStyle/>
          <a:p>
            <a:r>
              <a:rPr sz="1400" b="0" i="0">
                <a:solidFill>
                  <a:srgbClr val="1A1A1A"/>
                </a:solidFill>
                <a:latin typeface="Arial"/>
              </a:rPr>
              <a:t>The ministry on Linkup; the registration service; the learner register, brought forward; the Payments block on Linkup</a:t>
            </a:r>
          </a:p>
        </p:txBody>
      </p:sp>
      <p:sp>
        <p:nvSpPr>
          <p:cNvPr id="14" name="TextBox 13"/>
          <p:cNvSpPr txBox="1"/>
          <p:nvPr/>
        </p:nvSpPr>
        <p:spPr>
          <a:xfrm>
            <a:off x="7882127" y="2871215"/>
            <a:ext cx="3547872" cy="886968"/>
          </a:xfrm>
          <a:prstGeom prst="rect">
            <a:avLst/>
          </a:prstGeom>
          <a:noFill/>
        </p:spPr>
        <p:txBody>
          <a:bodyPr wrap="square">
            <a:spAutoFit/>
          </a:bodyPr>
          <a:lstStyle/>
          <a:p>
            <a:r>
              <a:rPr sz="1400" b="0" i="0">
                <a:solidFill>
                  <a:srgbClr val="1A1A1A"/>
                </a:solidFill>
                <a:latin typeface="Arial"/>
              </a:rPr>
              <a:t>A parent registers a child once</a:t>
            </a:r>
          </a:p>
        </p:txBody>
      </p:sp>
      <p:sp>
        <p:nvSpPr>
          <p:cNvPr id="15" name="Rectangle 14"/>
          <p:cNvSpPr/>
          <p:nvPr/>
        </p:nvSpPr>
        <p:spPr>
          <a:xfrm>
            <a:off x="658368"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831336"/>
            <a:ext cx="1078992" cy="886968"/>
          </a:xfrm>
          <a:prstGeom prst="rect">
            <a:avLst/>
          </a:prstGeom>
          <a:noFill/>
        </p:spPr>
        <p:txBody>
          <a:bodyPr wrap="square">
            <a:spAutoFit/>
          </a:bodyPr>
          <a:lstStyle/>
          <a:p>
            <a:r>
              <a:rPr sz="1400" b="1" i="0">
                <a:solidFill>
                  <a:srgbClr val="1A1A1A"/>
                </a:solidFill>
                <a:latin typeface="Arial"/>
              </a:rPr>
              <a:t>3</a:t>
            </a:r>
          </a:p>
        </p:txBody>
      </p:sp>
      <p:sp>
        <p:nvSpPr>
          <p:cNvPr id="17" name="TextBox 16"/>
          <p:cNvSpPr txBox="1"/>
          <p:nvPr/>
        </p:nvSpPr>
        <p:spPr>
          <a:xfrm>
            <a:off x="1847088" y="3831336"/>
            <a:ext cx="5925312" cy="886968"/>
          </a:xfrm>
          <a:prstGeom prst="rect">
            <a:avLst/>
          </a:prstGeom>
          <a:noFill/>
        </p:spPr>
        <p:txBody>
          <a:bodyPr wrap="square">
            <a:spAutoFit/>
          </a:bodyPr>
          <a:lstStyle/>
          <a:p>
            <a:r>
              <a:rPr sz="1400" b="0" i="0">
                <a:solidFill>
                  <a:srgbClr val="1A1A1A"/>
                </a:solidFill>
                <a:latin typeface="Arial"/>
              </a:rPr>
              <a:t>The learner register and registration in every district</a:t>
            </a:r>
          </a:p>
        </p:txBody>
      </p:sp>
      <p:sp>
        <p:nvSpPr>
          <p:cNvPr id="18" name="TextBox 17"/>
          <p:cNvSpPr txBox="1"/>
          <p:nvPr/>
        </p:nvSpPr>
        <p:spPr>
          <a:xfrm>
            <a:off x="7882127" y="3831336"/>
            <a:ext cx="3547872" cy="886968"/>
          </a:xfrm>
          <a:prstGeom prst="rect">
            <a:avLst/>
          </a:prstGeom>
          <a:noFill/>
        </p:spPr>
        <p:txBody>
          <a:bodyPr wrap="square">
            <a:spAutoFit/>
          </a:bodyPr>
          <a:lstStyle/>
          <a:p>
            <a:r>
              <a:rPr sz="1400" b="0" i="0">
                <a:solidFill>
                  <a:srgbClr val="1A1A1A"/>
                </a:solidFill>
                <a:latin typeface="Arial"/>
              </a:rPr>
              <a:t>Every district registers learners the same way</a:t>
            </a:r>
          </a:p>
        </p:txBody>
      </p:sp>
      <p:sp>
        <p:nvSpPr>
          <p:cNvPr id="19" name="Rectangle 18"/>
          <p:cNvSpPr/>
          <p:nvPr/>
        </p:nvSpPr>
        <p:spPr>
          <a:xfrm>
            <a:off x="658368" y="47365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791456"/>
            <a:ext cx="1078992" cy="886968"/>
          </a:xfrm>
          <a:prstGeom prst="rect">
            <a:avLst/>
          </a:prstGeom>
          <a:noFill/>
        </p:spPr>
        <p:txBody>
          <a:bodyPr wrap="square">
            <a:spAutoFit/>
          </a:bodyPr>
          <a:lstStyle/>
          <a:p>
            <a:r>
              <a:rPr sz="1400" b="1" i="0">
                <a:solidFill>
                  <a:srgbClr val="1A1A1A"/>
                </a:solidFill>
                <a:latin typeface="Arial"/>
              </a:rPr>
              <a:t>4</a:t>
            </a:r>
          </a:p>
        </p:txBody>
      </p:sp>
      <p:sp>
        <p:nvSpPr>
          <p:cNvPr id="21" name="TextBox 20"/>
          <p:cNvSpPr txBox="1"/>
          <p:nvPr/>
        </p:nvSpPr>
        <p:spPr>
          <a:xfrm>
            <a:off x="1847088" y="4791456"/>
            <a:ext cx="5925312" cy="886968"/>
          </a:xfrm>
          <a:prstGeom prst="rect">
            <a:avLst/>
          </a:prstGeom>
          <a:noFill/>
        </p:spPr>
        <p:txBody>
          <a:bodyPr wrap="square">
            <a:spAutoFit/>
          </a:bodyPr>
          <a:lstStyle/>
          <a:p>
            <a:r>
              <a:rPr sz="1400" b="0" i="0">
                <a:solidFill>
                  <a:srgbClr val="1A1A1A"/>
                </a:solidFill>
                <a:latin typeface="Arial"/>
              </a:rPr>
              <a:t>Every education service on the same blocks</a:t>
            </a:r>
          </a:p>
        </p:txBody>
      </p:sp>
      <p:sp>
        <p:nvSpPr>
          <p:cNvPr id="22" name="TextBox 21"/>
          <p:cNvSpPr txBox="1"/>
          <p:nvPr/>
        </p:nvSpPr>
        <p:spPr>
          <a:xfrm>
            <a:off x="7882127" y="4791456"/>
            <a:ext cx="3547872" cy="886968"/>
          </a:xfrm>
          <a:prstGeom prst="rect">
            <a:avLst/>
          </a:prstGeom>
          <a:noFill/>
        </p:spPr>
        <p:txBody>
          <a:bodyPr wrap="square">
            <a:spAutoFit/>
          </a:bodyPr>
          <a:lstStyle/>
          <a:p>
            <a:r>
              <a:rPr sz="1400" b="0" i="0">
                <a:solidFill>
                  <a:srgbClr val="1A1A1A"/>
                </a:solidFill>
                <a:latin typeface="Arial"/>
              </a:rPr>
              <a:t>Parents and learners see their own records</a:t>
            </a:r>
          </a:p>
        </p:txBody>
      </p:sp>
      <p:sp>
        <p:nvSpPr>
          <p:cNvPr id="23" name="TextBox 22"/>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Illustrative.</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Build identity and payments first, bring in data exchange and registration with the first priority services, digitalise the registers next, and show one visible result early so that support holds.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Order your planned services and blocks by what each depends on.</a:t>
            </a:r>
          </a:p>
          <a:p>
            <a:pPr algn="l">
              <a:spcAft>
                <a:spcPts val="400"/>
              </a:spcAft>
            </a:pPr>
            <a:r>
              <a:rPr sz="1800" b="0" i="0">
                <a:solidFill>
                  <a:srgbClr val="595959"/>
                </a:solidFill>
                <a:latin typeface="Arial"/>
              </a:rPr>
              <a:t>The prompt in the companion material gives you the order the dependencies allow, in four phases, with every service placed before a block it needs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3.3.3 and 5.7.1 to 5.7.5</a:t>
            </a:r>
          </a:p>
          <a:p>
            <a:pPr>
              <a:spcAft>
                <a:spcPts val="1200"/>
              </a:spcAft>
            </a:pPr>
            <a:r>
              <a:rPr sz="1700" b="0" i="0">
                <a:solidFill>
                  <a:srgbClr val="1A1A1A"/>
                </a:solidFill>
                <a:latin typeface="Arial"/>
              </a:rPr>
              <a:t>•  e-Estonia — 'e-Estonia story' and 'Frequently asked questions — Story of e-Estonia'</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