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2" r:id="rId34"/>
    <p:sldId id="2713" r:id="rId35"/>
    <p:sldId id="2714" r:id="rId36"/>
    <p:sldId id="2715" r:id="rId37"/>
    <p:sldId id="2716" r:id="rId38"/>
    <p:sldId id="2717" r:id="rId39"/>
    <p:sldId id="2718" r:id="rId40"/>
    <p:sldId id="271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five steps find out where the country stands. Step one frames the work on one page. In Progressa, the fictional country of these examples, the ministry of education sponsors it together with PDGA, the digital government authority. Step two reads what the country has published, with an AI assistant; nothing it drafts is yet a finding. Step three sends one questionnaire to each domain. Step four checks every answer before anything is scored; in Progressa, four verification sessions took place in the eighth week. Step five scores each domain on five stages and puts the result on one table. An assistant may propose each stage; a person decides on the evidence, and a reviewer checks.</a:t>
            </a:r>
          </a:p>
          <a:p/>
          <a:p>
            <a:r>
              <a:t>Production cue: the pivotal slide of this video — the method table, first half. The written guide carries figure F3 and the full table.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step you can say five things: who acts, what goes in, what comes out, who decides, and how the result is checked. Add one more: the tool or template the step uses. The roles are few and they recur. The facilitator plans and runs the assessment and keeps its evidence. A respondent team answers for one domain, with a section lead for each part of its questionnaire. Focal points in other bodies confirm what is said about their systems. Reviewers check each step before the next one starts. At the end, an adopting authority makes the roadmap the government's own.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who commissions a roadmap will ask three things. Who does the work? When must I decide? How will anyone know the result is right? Nine named steps let you answer all three before the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last four steps turn the result into a roadmap. Step six turns findings into gaps and ranks them, and a workshop of the bodies concerned decides the order. Step seven writes the roadmap over time. Its dates stay proposals until the budget and the owners of the work confirm them. Step eight costs the roadmap in four sheets that a finance ministry can read. Step nine sends everything back to the bodies for comment, answers every comment in writing, and revises. In Progressa, the ministry of education and PDGA adopt the roadmap, with the cabinet where the budget requires it. Module 6 takes these four steps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Where do the nine steps come from? No public source gives them in this form. PAERA lists nine questions that a national assessment must answer, and gives no scale. It gives eight steps for assessing one organisation, from setting the criteria to continuous improvement. It also lists seven signs of low maturity, such as a lack of digital data. UNDP's playbook gives six steps that lead from national priorities to a roadmap. The sequence of nine steps is this course's own, drawn from its authors' implementation experience in several countries.</a:t>
            </a:r>
          </a:p>
          <a:p/>
          <a:p>
            <a:r>
              <a:t>Production cue: marked place 1 of 2 (naming) — if ITU agrees to name the country in which the method was first applied, one sentence of provenance is added to the end of this narration in the bundle; nothing else in the video changes.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Nine steps, and for each one five answers: who acts, what goes in, what comes out, who decides, and how the result is checked. A minister can follow that.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roadmap method in nine steps: who does what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roadmap is produced in nine steps, and for each step you can say who acts, what goes in, what comes out, who decides and how the result is checked.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minister who commissions a roadmap will ask three things.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Who does the work? When must I decide? How will anyone know the result is right?</a:t>
            </a:r>
          </a:p>
          <a:p>
            <a:pPr>
              <a:spcAft>
                <a:spcPts val="800"/>
              </a:spcAft>
            </a:pPr>
            <a:r>
              <a:rPr sz="1700" b="0" i="0">
                <a:solidFill>
                  <a:srgbClr val="595959"/>
                </a:solidFill>
                <a:latin typeface="Arial"/>
              </a:rPr>
              <a:t>Nine named steps let you answer all three before the work starts.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questions for every step</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40664"/>
          </a:xfrm>
          <a:prstGeom prst="rect">
            <a:avLst/>
          </a:prstGeom>
          <a:noFill/>
        </p:spPr>
        <p:txBody>
          <a:bodyPr wrap="square">
            <a:spAutoFit/>
          </a:bodyPr>
          <a:lstStyle/>
          <a:p>
            <a:pPr>
              <a:spcAft>
                <a:spcPts val="300"/>
              </a:spcAft>
            </a:pPr>
            <a:r>
              <a:rPr sz="1900" b="1" i="0">
                <a:solidFill>
                  <a:srgbClr val="1A1A1A"/>
                </a:solidFill>
                <a:latin typeface="Arial"/>
              </a:rPr>
              <a:t>Who acts?</a:t>
            </a:r>
          </a:p>
        </p:txBody>
      </p:sp>
      <p:sp>
        <p:nvSpPr>
          <p:cNvPr id="6" name="Rectangle 5"/>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95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49424"/>
            <a:ext cx="10527487" cy="740664"/>
          </a:xfrm>
          <a:prstGeom prst="rect">
            <a:avLst/>
          </a:prstGeom>
          <a:noFill/>
        </p:spPr>
        <p:txBody>
          <a:bodyPr wrap="square">
            <a:spAutoFit/>
          </a:bodyPr>
          <a:lstStyle/>
          <a:p>
            <a:pPr>
              <a:spcAft>
                <a:spcPts val="300"/>
              </a:spcAft>
            </a:pPr>
            <a:r>
              <a:rPr sz="1900" b="1" i="0">
                <a:solidFill>
                  <a:srgbClr val="1A1A1A"/>
                </a:solidFill>
                <a:latin typeface="Arial"/>
              </a:rPr>
              <a:t>What goes in?</a:t>
            </a:r>
          </a:p>
        </p:txBody>
      </p:sp>
      <p:sp>
        <p:nvSpPr>
          <p:cNvPr id="9" name="Rectangle 8"/>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815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035808"/>
            <a:ext cx="10527487" cy="740664"/>
          </a:xfrm>
          <a:prstGeom prst="rect">
            <a:avLst/>
          </a:prstGeom>
          <a:noFill/>
        </p:spPr>
        <p:txBody>
          <a:bodyPr wrap="square">
            <a:spAutoFit/>
          </a:bodyPr>
          <a:lstStyle/>
          <a:p>
            <a:pPr>
              <a:spcAft>
                <a:spcPts val="300"/>
              </a:spcAft>
            </a:pPr>
            <a:r>
              <a:rPr sz="1900" b="1" i="0">
                <a:solidFill>
                  <a:srgbClr val="1A1A1A"/>
                </a:solidFill>
                <a:latin typeface="Arial"/>
              </a:rPr>
              <a:t>What comes out?</a:t>
            </a:r>
          </a:p>
        </p:txBody>
      </p:sp>
      <p:sp>
        <p:nvSpPr>
          <p:cNvPr id="12" name="Rectangle 11"/>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8679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822191"/>
            <a:ext cx="10527487" cy="740664"/>
          </a:xfrm>
          <a:prstGeom prst="rect">
            <a:avLst/>
          </a:prstGeom>
          <a:noFill/>
        </p:spPr>
        <p:txBody>
          <a:bodyPr wrap="square">
            <a:spAutoFit/>
          </a:bodyPr>
          <a:lstStyle/>
          <a:p>
            <a:pPr>
              <a:spcAft>
                <a:spcPts val="300"/>
              </a:spcAft>
            </a:pPr>
            <a:r>
              <a:rPr sz="1900" b="1" i="0">
                <a:solidFill>
                  <a:srgbClr val="1A1A1A"/>
                </a:solidFill>
                <a:latin typeface="Arial"/>
              </a:rPr>
              <a:t>Who decides?</a:t>
            </a:r>
          </a:p>
        </p:txBody>
      </p:sp>
      <p:sp>
        <p:nvSpPr>
          <p:cNvPr id="15" name="Rectangle 14"/>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654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608576"/>
            <a:ext cx="10527487" cy="740664"/>
          </a:xfrm>
          <a:prstGeom prst="rect">
            <a:avLst/>
          </a:prstGeom>
          <a:noFill/>
        </p:spPr>
        <p:txBody>
          <a:bodyPr wrap="square">
            <a:spAutoFit/>
          </a:bodyPr>
          <a:lstStyle/>
          <a:p>
            <a:pPr>
              <a:spcAft>
                <a:spcPts val="300"/>
              </a:spcAft>
            </a:pPr>
            <a:r>
              <a:rPr sz="1900" b="1" i="0">
                <a:solidFill>
                  <a:srgbClr val="1A1A1A"/>
                </a:solidFill>
                <a:latin typeface="Arial"/>
              </a:rPr>
              <a:t>How is the result checked?</a:t>
            </a:r>
          </a:p>
        </p:txBody>
      </p:sp>
      <p:sp>
        <p:nvSpPr>
          <p:cNvPr id="18" name="TextBox 17"/>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And which tool or template the step uses.</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Steps 1 to 5: where the country stands</a:t>
            </a:r>
          </a:p>
        </p:txBody>
      </p:sp>
      <p:sp>
        <p:nvSpPr>
          <p:cNvPr id="4" name="TextBox 3"/>
          <p:cNvSpPr txBox="1"/>
          <p:nvPr/>
        </p:nvSpPr>
        <p:spPr>
          <a:xfrm>
            <a:off x="658368" y="1417320"/>
            <a:ext cx="2359152" cy="384048"/>
          </a:xfrm>
          <a:prstGeom prst="rect">
            <a:avLst/>
          </a:prstGeom>
          <a:noFill/>
        </p:spPr>
        <p:txBody>
          <a:bodyPr wrap="square">
            <a:spAutoFit/>
          </a:bodyPr>
          <a:lstStyle/>
          <a:p>
            <a:r>
              <a:rPr sz="1300" b="1" i="0">
                <a:solidFill>
                  <a:srgbClr val="006E96"/>
                </a:solidFill>
                <a:latin typeface="Arial"/>
              </a:rPr>
              <a:t>Step</a:t>
            </a:r>
          </a:p>
        </p:txBody>
      </p:sp>
      <p:sp>
        <p:nvSpPr>
          <p:cNvPr id="5" name="TextBox 4"/>
          <p:cNvSpPr txBox="1"/>
          <p:nvPr/>
        </p:nvSpPr>
        <p:spPr>
          <a:xfrm>
            <a:off x="3127248" y="1417320"/>
            <a:ext cx="4462272" cy="384048"/>
          </a:xfrm>
          <a:prstGeom prst="rect">
            <a:avLst/>
          </a:prstGeom>
          <a:noFill/>
        </p:spPr>
        <p:txBody>
          <a:bodyPr wrap="square">
            <a:spAutoFit/>
          </a:bodyPr>
          <a:lstStyle/>
          <a:p>
            <a:r>
              <a:rPr sz="1300" b="1" i="0">
                <a:solidFill>
                  <a:srgbClr val="006E96"/>
                </a:solidFill>
                <a:latin typeface="Arial"/>
              </a:rPr>
              <a:t>What comes out</a:t>
            </a:r>
          </a:p>
        </p:txBody>
      </p:sp>
      <p:sp>
        <p:nvSpPr>
          <p:cNvPr id="6" name="TextBox 5"/>
          <p:cNvSpPr txBox="1"/>
          <p:nvPr/>
        </p:nvSpPr>
        <p:spPr>
          <a:xfrm>
            <a:off x="7699248" y="1417320"/>
            <a:ext cx="3730752" cy="384048"/>
          </a:xfrm>
          <a:prstGeom prst="rect">
            <a:avLst/>
          </a:prstGeom>
          <a:noFill/>
        </p:spPr>
        <p:txBody>
          <a:bodyPr wrap="square">
            <a:spAutoFit/>
          </a:bodyPr>
          <a:lstStyle/>
          <a:p>
            <a:r>
              <a:rPr sz="1300" b="1" i="0">
                <a:solidFill>
                  <a:srgbClr val="006E96"/>
                </a:solidFill>
                <a:latin typeface="Arial"/>
              </a:rPr>
              <a:t>Tool or template</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359152" cy="694944"/>
          </a:xfrm>
          <a:prstGeom prst="rect">
            <a:avLst/>
          </a:prstGeom>
          <a:noFill/>
        </p:spPr>
        <p:txBody>
          <a:bodyPr wrap="square">
            <a:spAutoFit/>
          </a:bodyPr>
          <a:lstStyle/>
          <a:p>
            <a:r>
              <a:rPr sz="1300" b="1" i="0">
                <a:solidFill>
                  <a:srgbClr val="1A1A1A"/>
                </a:solidFill>
                <a:latin typeface="Arial"/>
              </a:rPr>
              <a:t>1. Frame</a:t>
            </a:r>
          </a:p>
        </p:txBody>
      </p:sp>
      <p:sp>
        <p:nvSpPr>
          <p:cNvPr id="9" name="TextBox 8"/>
          <p:cNvSpPr txBox="1"/>
          <p:nvPr/>
        </p:nvSpPr>
        <p:spPr>
          <a:xfrm>
            <a:off x="3127248" y="1911095"/>
            <a:ext cx="4462272" cy="694944"/>
          </a:xfrm>
          <a:prstGeom prst="rect">
            <a:avLst/>
          </a:prstGeom>
          <a:noFill/>
        </p:spPr>
        <p:txBody>
          <a:bodyPr wrap="square">
            <a:spAutoFit/>
          </a:bodyPr>
          <a:lstStyle/>
          <a:p>
            <a:r>
              <a:rPr sz="1300" b="0" i="0">
                <a:solidFill>
                  <a:srgbClr val="1A1A1A"/>
                </a:solidFill>
                <a:latin typeface="Arial"/>
              </a:rPr>
              <a:t>One page: the five domains and who answers for each</a:t>
            </a:r>
          </a:p>
        </p:txBody>
      </p:sp>
      <p:sp>
        <p:nvSpPr>
          <p:cNvPr id="10" name="TextBox 9"/>
          <p:cNvSpPr txBox="1"/>
          <p:nvPr/>
        </p:nvSpPr>
        <p:spPr>
          <a:xfrm>
            <a:off x="7699248" y="1911095"/>
            <a:ext cx="3730752" cy="694944"/>
          </a:xfrm>
          <a:prstGeom prst="rect">
            <a:avLst/>
          </a:prstGeom>
          <a:noFill/>
        </p:spPr>
        <p:txBody>
          <a:bodyPr wrap="square">
            <a:spAutoFit/>
          </a:bodyPr>
          <a:lstStyle/>
          <a:p>
            <a:r>
              <a:rPr sz="1300" b="0" i="0">
                <a:solidFill>
                  <a:srgbClr val="1A1A1A"/>
                </a:solidFill>
                <a:latin typeface="Arial"/>
              </a:rPr>
              <a:t>The frame page</a:t>
            </a:r>
          </a:p>
        </p:txBody>
      </p:sp>
      <p:sp>
        <p:nvSpPr>
          <p:cNvPr id="11" name="Rectangle 10"/>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79191"/>
            <a:ext cx="2359152" cy="694944"/>
          </a:xfrm>
          <a:prstGeom prst="rect">
            <a:avLst/>
          </a:prstGeom>
          <a:noFill/>
        </p:spPr>
        <p:txBody>
          <a:bodyPr wrap="square">
            <a:spAutoFit/>
          </a:bodyPr>
          <a:lstStyle/>
          <a:p>
            <a:r>
              <a:rPr sz="1300" b="1" i="0">
                <a:solidFill>
                  <a:srgbClr val="1A1A1A"/>
                </a:solidFill>
                <a:latin typeface="Arial"/>
              </a:rPr>
              <a:t>2. Automatic assessment</a:t>
            </a:r>
          </a:p>
        </p:txBody>
      </p:sp>
      <p:sp>
        <p:nvSpPr>
          <p:cNvPr id="13" name="TextBox 12"/>
          <p:cNvSpPr txBox="1"/>
          <p:nvPr/>
        </p:nvSpPr>
        <p:spPr>
          <a:xfrm>
            <a:off x="3127248" y="2679191"/>
            <a:ext cx="4462272" cy="694944"/>
          </a:xfrm>
          <a:prstGeom prst="rect">
            <a:avLst/>
          </a:prstGeom>
          <a:noFill/>
        </p:spPr>
        <p:txBody>
          <a:bodyPr wrap="square">
            <a:spAutoFit/>
          </a:bodyPr>
          <a:lstStyle/>
          <a:p>
            <a:r>
              <a:rPr sz="1300" b="0" i="0">
                <a:solidFill>
                  <a:srgbClr val="1A1A1A"/>
                </a:solidFill>
                <a:latin typeface="Arial"/>
              </a:rPr>
              <a:t>First findings and gaps, each with its source, unverified</a:t>
            </a:r>
          </a:p>
        </p:txBody>
      </p:sp>
      <p:sp>
        <p:nvSpPr>
          <p:cNvPr id="14" name="TextBox 13"/>
          <p:cNvSpPr txBox="1"/>
          <p:nvPr/>
        </p:nvSpPr>
        <p:spPr>
          <a:xfrm>
            <a:off x="7699248" y="2679191"/>
            <a:ext cx="3730752" cy="694944"/>
          </a:xfrm>
          <a:prstGeom prst="rect">
            <a:avLst/>
          </a:prstGeom>
          <a:noFill/>
        </p:spPr>
        <p:txBody>
          <a:bodyPr wrap="square">
            <a:spAutoFit/>
          </a:bodyPr>
          <a:lstStyle/>
          <a:p>
            <a:r>
              <a:rPr sz="1300" b="0" i="0">
                <a:solidFill>
                  <a:srgbClr val="1A1A1A"/>
                </a:solidFill>
                <a:latin typeface="Arial"/>
              </a:rPr>
              <a:t>The question bank and the workflow that runs it</a:t>
            </a:r>
          </a:p>
        </p:txBody>
      </p:sp>
      <p:sp>
        <p:nvSpPr>
          <p:cNvPr id="15" name="Rectangle 14"/>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7288"/>
            <a:ext cx="2359152" cy="694944"/>
          </a:xfrm>
          <a:prstGeom prst="rect">
            <a:avLst/>
          </a:prstGeom>
          <a:noFill/>
        </p:spPr>
        <p:txBody>
          <a:bodyPr wrap="square">
            <a:spAutoFit/>
          </a:bodyPr>
          <a:lstStyle/>
          <a:p>
            <a:r>
              <a:rPr sz="1300" b="1" i="0">
                <a:solidFill>
                  <a:srgbClr val="1A1A1A"/>
                </a:solidFill>
                <a:latin typeface="Arial"/>
              </a:rPr>
              <a:t>3. Questionnaires</a:t>
            </a:r>
          </a:p>
        </p:txBody>
      </p:sp>
      <p:sp>
        <p:nvSpPr>
          <p:cNvPr id="17" name="TextBox 16"/>
          <p:cNvSpPr txBox="1"/>
          <p:nvPr/>
        </p:nvSpPr>
        <p:spPr>
          <a:xfrm>
            <a:off x="3127248" y="3447288"/>
            <a:ext cx="4462272" cy="694944"/>
          </a:xfrm>
          <a:prstGeom prst="rect">
            <a:avLst/>
          </a:prstGeom>
          <a:noFill/>
        </p:spPr>
        <p:txBody>
          <a:bodyPr wrap="square">
            <a:spAutoFit/>
          </a:bodyPr>
          <a:lstStyle/>
          <a:p>
            <a:r>
              <a:rPr sz="1300" b="0" i="0">
                <a:solidFill>
                  <a:srgbClr val="1A1A1A"/>
                </a:solidFill>
                <a:latin typeface="Arial"/>
              </a:rPr>
              <a:t>One answered questionnaire per domain, with its evidence</a:t>
            </a:r>
          </a:p>
        </p:txBody>
      </p:sp>
      <p:sp>
        <p:nvSpPr>
          <p:cNvPr id="18" name="TextBox 17"/>
          <p:cNvSpPr txBox="1"/>
          <p:nvPr/>
        </p:nvSpPr>
        <p:spPr>
          <a:xfrm>
            <a:off x="7699248" y="3447288"/>
            <a:ext cx="3730752" cy="694944"/>
          </a:xfrm>
          <a:prstGeom prst="rect">
            <a:avLst/>
          </a:prstGeom>
          <a:noFill/>
        </p:spPr>
        <p:txBody>
          <a:bodyPr wrap="square">
            <a:spAutoFit/>
          </a:bodyPr>
          <a:lstStyle/>
          <a:p>
            <a:r>
              <a:rPr sz="1300" b="0" i="0">
                <a:solidFill>
                  <a:srgbClr val="1A1A1A"/>
                </a:solidFill>
                <a:latin typeface="Arial"/>
              </a:rPr>
              <a:t>The five questionnaires and their two guides</a:t>
            </a:r>
          </a:p>
        </p:txBody>
      </p:sp>
      <p:sp>
        <p:nvSpPr>
          <p:cNvPr id="19" name="Rectangle 18"/>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4"/>
            <a:ext cx="2359152" cy="694944"/>
          </a:xfrm>
          <a:prstGeom prst="rect">
            <a:avLst/>
          </a:prstGeom>
          <a:noFill/>
        </p:spPr>
        <p:txBody>
          <a:bodyPr wrap="square">
            <a:spAutoFit/>
          </a:bodyPr>
          <a:lstStyle/>
          <a:p>
            <a:r>
              <a:rPr sz="1300" b="1" i="0">
                <a:solidFill>
                  <a:srgbClr val="1A1A1A"/>
                </a:solidFill>
                <a:latin typeface="Arial"/>
              </a:rPr>
              <a:t>4. Verification</a:t>
            </a:r>
          </a:p>
        </p:txBody>
      </p:sp>
      <p:sp>
        <p:nvSpPr>
          <p:cNvPr id="21" name="TextBox 20"/>
          <p:cNvSpPr txBox="1"/>
          <p:nvPr/>
        </p:nvSpPr>
        <p:spPr>
          <a:xfrm>
            <a:off x="3127248" y="4215384"/>
            <a:ext cx="4462272" cy="694944"/>
          </a:xfrm>
          <a:prstGeom prst="rect">
            <a:avLst/>
          </a:prstGeom>
          <a:noFill/>
        </p:spPr>
        <p:txBody>
          <a:bodyPr wrap="square">
            <a:spAutoFit/>
          </a:bodyPr>
          <a:lstStyle/>
          <a:p>
            <a:r>
              <a:rPr sz="1300" b="0" i="0">
                <a:solidFill>
                  <a:srgbClr val="1A1A1A"/>
                </a:solidFill>
                <a:latin typeface="Arial"/>
              </a:rPr>
              <a:t>A verified position on every point</a:t>
            </a:r>
          </a:p>
        </p:txBody>
      </p:sp>
      <p:sp>
        <p:nvSpPr>
          <p:cNvPr id="22" name="TextBox 21"/>
          <p:cNvSpPr txBox="1"/>
          <p:nvPr/>
        </p:nvSpPr>
        <p:spPr>
          <a:xfrm>
            <a:off x="7699248" y="4215384"/>
            <a:ext cx="3730752" cy="694944"/>
          </a:xfrm>
          <a:prstGeom prst="rect">
            <a:avLst/>
          </a:prstGeom>
          <a:noFill/>
        </p:spPr>
        <p:txBody>
          <a:bodyPr wrap="square">
            <a:spAutoFit/>
          </a:bodyPr>
          <a:lstStyle/>
          <a:p>
            <a:r>
              <a:rPr sz="1300" b="0" i="0">
                <a:solidFill>
                  <a:srgbClr val="1A1A1A"/>
                </a:solidFill>
                <a:latin typeface="Arial"/>
              </a:rPr>
              <a:t>The templates for verification</a:t>
            </a:r>
          </a:p>
        </p:txBody>
      </p:sp>
      <p:sp>
        <p:nvSpPr>
          <p:cNvPr id="23" name="Rectangle 22"/>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83480"/>
            <a:ext cx="2359152" cy="694944"/>
          </a:xfrm>
          <a:prstGeom prst="rect">
            <a:avLst/>
          </a:prstGeom>
          <a:noFill/>
        </p:spPr>
        <p:txBody>
          <a:bodyPr wrap="square">
            <a:spAutoFit/>
          </a:bodyPr>
          <a:lstStyle/>
          <a:p>
            <a:r>
              <a:rPr sz="1300" b="1" i="0">
                <a:solidFill>
                  <a:srgbClr val="1A1A1A"/>
                </a:solidFill>
                <a:latin typeface="Arial"/>
              </a:rPr>
              <a:t>5. Scoring</a:t>
            </a:r>
          </a:p>
        </p:txBody>
      </p:sp>
      <p:sp>
        <p:nvSpPr>
          <p:cNvPr id="25" name="TextBox 24"/>
          <p:cNvSpPr txBox="1"/>
          <p:nvPr/>
        </p:nvSpPr>
        <p:spPr>
          <a:xfrm>
            <a:off x="3127248" y="4983480"/>
            <a:ext cx="4462272" cy="694944"/>
          </a:xfrm>
          <a:prstGeom prst="rect">
            <a:avLst/>
          </a:prstGeom>
          <a:noFill/>
        </p:spPr>
        <p:txBody>
          <a:bodyPr wrap="square">
            <a:spAutoFit/>
          </a:bodyPr>
          <a:lstStyle/>
          <a:p>
            <a:r>
              <a:rPr sz="1300" b="0" i="0">
                <a:solidFill>
                  <a:srgbClr val="1A1A1A"/>
                </a:solidFill>
                <a:latin typeface="Arial"/>
              </a:rPr>
              <a:t>Five domain reports and the maturity table</a:t>
            </a:r>
          </a:p>
        </p:txBody>
      </p:sp>
      <p:sp>
        <p:nvSpPr>
          <p:cNvPr id="26" name="TextBox 25"/>
          <p:cNvSpPr txBox="1"/>
          <p:nvPr/>
        </p:nvSpPr>
        <p:spPr>
          <a:xfrm>
            <a:off x="7699248" y="4983480"/>
            <a:ext cx="3730752" cy="694944"/>
          </a:xfrm>
          <a:prstGeom prst="rect">
            <a:avLst/>
          </a:prstGeom>
          <a:noFill/>
        </p:spPr>
        <p:txBody>
          <a:bodyPr wrap="square">
            <a:spAutoFit/>
          </a:bodyPr>
          <a:lstStyle/>
          <a:p>
            <a:r>
              <a:rPr sz="1300" b="0" i="0">
                <a:solidFill>
                  <a:srgbClr val="1A1A1A"/>
                </a:solidFill>
                <a:latin typeface="Arial"/>
              </a:rPr>
              <a:t>The scoring criteria and the scoring prompt</a:t>
            </a:r>
          </a:p>
        </p:txBody>
      </p:sp>
      <p:sp>
        <p:nvSpPr>
          <p:cNvPr id="27" name="TextBox 2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Steps 6 to 9: from the result to an adopted roadmap</a:t>
            </a:r>
          </a:p>
        </p:txBody>
      </p:sp>
      <p:sp>
        <p:nvSpPr>
          <p:cNvPr id="4" name="TextBox 3"/>
          <p:cNvSpPr txBox="1"/>
          <p:nvPr/>
        </p:nvSpPr>
        <p:spPr>
          <a:xfrm>
            <a:off x="658368" y="1417320"/>
            <a:ext cx="2542032" cy="384048"/>
          </a:xfrm>
          <a:prstGeom prst="rect">
            <a:avLst/>
          </a:prstGeom>
          <a:noFill/>
        </p:spPr>
        <p:txBody>
          <a:bodyPr wrap="square">
            <a:spAutoFit/>
          </a:bodyPr>
          <a:lstStyle/>
          <a:p>
            <a:r>
              <a:rPr sz="1300" b="1" i="0">
                <a:solidFill>
                  <a:srgbClr val="006E96"/>
                </a:solidFill>
                <a:latin typeface="Arial"/>
              </a:rPr>
              <a:t>Step</a:t>
            </a:r>
          </a:p>
        </p:txBody>
      </p:sp>
      <p:sp>
        <p:nvSpPr>
          <p:cNvPr id="5" name="TextBox 4"/>
          <p:cNvSpPr txBox="1"/>
          <p:nvPr/>
        </p:nvSpPr>
        <p:spPr>
          <a:xfrm>
            <a:off x="3310128" y="1417320"/>
            <a:ext cx="3822191" cy="384048"/>
          </a:xfrm>
          <a:prstGeom prst="rect">
            <a:avLst/>
          </a:prstGeom>
          <a:noFill/>
        </p:spPr>
        <p:txBody>
          <a:bodyPr wrap="square">
            <a:spAutoFit/>
          </a:bodyPr>
          <a:lstStyle/>
          <a:p>
            <a:r>
              <a:rPr sz="1300" b="1" i="0">
                <a:solidFill>
                  <a:srgbClr val="006E96"/>
                </a:solidFill>
                <a:latin typeface="Arial"/>
              </a:rPr>
              <a:t>What comes out</a:t>
            </a:r>
          </a:p>
        </p:txBody>
      </p:sp>
      <p:sp>
        <p:nvSpPr>
          <p:cNvPr id="6" name="TextBox 5"/>
          <p:cNvSpPr txBox="1"/>
          <p:nvPr/>
        </p:nvSpPr>
        <p:spPr>
          <a:xfrm>
            <a:off x="7242048" y="1417320"/>
            <a:ext cx="4187952" cy="384048"/>
          </a:xfrm>
          <a:prstGeom prst="rect">
            <a:avLst/>
          </a:prstGeom>
          <a:noFill/>
        </p:spPr>
        <p:txBody>
          <a:bodyPr wrap="square">
            <a:spAutoFit/>
          </a:bodyPr>
          <a:lstStyle/>
          <a:p>
            <a:r>
              <a:rPr sz="1300" b="1" i="0">
                <a:solidFill>
                  <a:srgbClr val="006E96"/>
                </a:solidFill>
                <a:latin typeface="Arial"/>
              </a:rPr>
              <a:t>Who decides</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542032" cy="886968"/>
          </a:xfrm>
          <a:prstGeom prst="rect">
            <a:avLst/>
          </a:prstGeom>
          <a:noFill/>
        </p:spPr>
        <p:txBody>
          <a:bodyPr wrap="square">
            <a:spAutoFit/>
          </a:bodyPr>
          <a:lstStyle/>
          <a:p>
            <a:r>
              <a:rPr sz="1300" b="1" i="0">
                <a:solidFill>
                  <a:srgbClr val="1A1A1A"/>
                </a:solidFill>
                <a:latin typeface="Arial"/>
              </a:rPr>
              <a:t>6. Gaps and priorities</a:t>
            </a:r>
          </a:p>
        </p:txBody>
      </p:sp>
      <p:sp>
        <p:nvSpPr>
          <p:cNvPr id="9" name="TextBox 8"/>
          <p:cNvSpPr txBox="1"/>
          <p:nvPr/>
        </p:nvSpPr>
        <p:spPr>
          <a:xfrm>
            <a:off x="3310128" y="1911095"/>
            <a:ext cx="3822191" cy="886968"/>
          </a:xfrm>
          <a:prstGeom prst="rect">
            <a:avLst/>
          </a:prstGeom>
          <a:noFill/>
        </p:spPr>
        <p:txBody>
          <a:bodyPr wrap="square">
            <a:spAutoFit/>
          </a:bodyPr>
          <a:lstStyle/>
          <a:p>
            <a:r>
              <a:rPr sz="1300" b="0" i="0">
                <a:solidFill>
                  <a:srgbClr val="1A1A1A"/>
                </a:solidFill>
                <a:latin typeface="Arial"/>
              </a:rPr>
              <a:t>The gap register, ranked</a:t>
            </a:r>
          </a:p>
        </p:txBody>
      </p:sp>
      <p:sp>
        <p:nvSpPr>
          <p:cNvPr id="10" name="TextBox 9"/>
          <p:cNvSpPr txBox="1"/>
          <p:nvPr/>
        </p:nvSpPr>
        <p:spPr>
          <a:xfrm>
            <a:off x="7242048" y="1911095"/>
            <a:ext cx="4187952" cy="886968"/>
          </a:xfrm>
          <a:prstGeom prst="rect">
            <a:avLst/>
          </a:prstGeom>
          <a:noFill/>
        </p:spPr>
        <p:txBody>
          <a:bodyPr wrap="square">
            <a:spAutoFit/>
          </a:bodyPr>
          <a:lstStyle/>
          <a:p>
            <a:r>
              <a:rPr sz="1300" b="0" i="0">
                <a:solidFill>
                  <a:srgbClr val="1A1A1A"/>
                </a:solidFill>
                <a:latin typeface="Arial"/>
              </a:rPr>
              <a:t>A workshop of the bodies on the frame page</a:t>
            </a:r>
          </a:p>
        </p:txBody>
      </p:sp>
      <p:sp>
        <p:nvSpPr>
          <p:cNvPr id="11" name="Rectangle 10"/>
          <p:cNvSpPr/>
          <p:nvPr/>
        </p:nvSpPr>
        <p:spPr>
          <a:xfrm>
            <a:off x="658368" y="281635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71215"/>
            <a:ext cx="2542032" cy="886968"/>
          </a:xfrm>
          <a:prstGeom prst="rect">
            <a:avLst/>
          </a:prstGeom>
          <a:noFill/>
        </p:spPr>
        <p:txBody>
          <a:bodyPr wrap="square">
            <a:spAutoFit/>
          </a:bodyPr>
          <a:lstStyle/>
          <a:p>
            <a:r>
              <a:rPr sz="1300" b="1" i="0">
                <a:solidFill>
                  <a:srgbClr val="1A1A1A"/>
                </a:solidFill>
                <a:latin typeface="Arial"/>
              </a:rPr>
              <a:t>7. Roadmap</a:t>
            </a:r>
          </a:p>
        </p:txBody>
      </p:sp>
      <p:sp>
        <p:nvSpPr>
          <p:cNvPr id="13" name="TextBox 12"/>
          <p:cNvSpPr txBox="1"/>
          <p:nvPr/>
        </p:nvSpPr>
        <p:spPr>
          <a:xfrm>
            <a:off x="3310128" y="2871215"/>
            <a:ext cx="3822191" cy="886968"/>
          </a:xfrm>
          <a:prstGeom prst="rect">
            <a:avLst/>
          </a:prstGeom>
          <a:noFill/>
        </p:spPr>
        <p:txBody>
          <a:bodyPr wrap="square">
            <a:spAutoFit/>
          </a:bodyPr>
          <a:lstStyle/>
          <a:p>
            <a:r>
              <a:rPr sz="1300" b="0" i="0">
                <a:solidFill>
                  <a:srgbClr val="1A1A1A"/>
                </a:solidFill>
                <a:latin typeface="Arial"/>
              </a:rPr>
              <a:t>The roadmap over time, with its dependencies</a:t>
            </a:r>
          </a:p>
        </p:txBody>
      </p:sp>
      <p:sp>
        <p:nvSpPr>
          <p:cNvPr id="14" name="TextBox 13"/>
          <p:cNvSpPr txBox="1"/>
          <p:nvPr/>
        </p:nvSpPr>
        <p:spPr>
          <a:xfrm>
            <a:off x="7242048" y="2871215"/>
            <a:ext cx="4187952" cy="886968"/>
          </a:xfrm>
          <a:prstGeom prst="rect">
            <a:avLst/>
          </a:prstGeom>
          <a:noFill/>
        </p:spPr>
        <p:txBody>
          <a:bodyPr wrap="square">
            <a:spAutoFit/>
          </a:bodyPr>
          <a:lstStyle/>
          <a:p>
            <a:r>
              <a:rPr sz="1300" b="0" i="0">
                <a:solidFill>
                  <a:srgbClr val="1A1A1A"/>
                </a:solidFill>
                <a:latin typeface="Arial"/>
              </a:rPr>
              <a:t>Dates stay proposals until the budget and the owners of the work confirm them</a:t>
            </a:r>
          </a:p>
        </p:txBody>
      </p:sp>
      <p:sp>
        <p:nvSpPr>
          <p:cNvPr id="15" name="Rectangle 14"/>
          <p:cNvSpPr/>
          <p:nvPr/>
        </p:nvSpPr>
        <p:spPr>
          <a:xfrm>
            <a:off x="658368"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831336"/>
            <a:ext cx="2542032" cy="886968"/>
          </a:xfrm>
          <a:prstGeom prst="rect">
            <a:avLst/>
          </a:prstGeom>
          <a:noFill/>
        </p:spPr>
        <p:txBody>
          <a:bodyPr wrap="square">
            <a:spAutoFit/>
          </a:bodyPr>
          <a:lstStyle/>
          <a:p>
            <a:r>
              <a:rPr sz="1300" b="1" i="0">
                <a:solidFill>
                  <a:srgbClr val="1A1A1A"/>
                </a:solidFill>
                <a:latin typeface="Arial"/>
              </a:rPr>
              <a:t>8. Investment breakdown</a:t>
            </a:r>
          </a:p>
        </p:txBody>
      </p:sp>
      <p:sp>
        <p:nvSpPr>
          <p:cNvPr id="17" name="TextBox 16"/>
          <p:cNvSpPr txBox="1"/>
          <p:nvPr/>
        </p:nvSpPr>
        <p:spPr>
          <a:xfrm>
            <a:off x="3310128" y="3831336"/>
            <a:ext cx="3822191" cy="886968"/>
          </a:xfrm>
          <a:prstGeom prst="rect">
            <a:avLst/>
          </a:prstGeom>
          <a:noFill/>
        </p:spPr>
        <p:txBody>
          <a:bodyPr wrap="square">
            <a:spAutoFit/>
          </a:bodyPr>
          <a:lstStyle/>
          <a:p>
            <a:r>
              <a:rPr sz="1300" b="0" i="0">
                <a:solidFill>
                  <a:srgbClr val="1A1A1A"/>
                </a:solidFill>
                <a:latin typeface="Arial"/>
              </a:rPr>
              <a:t>The investment case in four sheets</a:t>
            </a:r>
          </a:p>
        </p:txBody>
      </p:sp>
      <p:sp>
        <p:nvSpPr>
          <p:cNvPr id="18" name="TextBox 17"/>
          <p:cNvSpPr txBox="1"/>
          <p:nvPr/>
        </p:nvSpPr>
        <p:spPr>
          <a:xfrm>
            <a:off x="7242048" y="3831336"/>
            <a:ext cx="4187952" cy="886968"/>
          </a:xfrm>
          <a:prstGeom prst="rect">
            <a:avLst/>
          </a:prstGeom>
          <a:noFill/>
        </p:spPr>
        <p:txBody>
          <a:bodyPr wrap="square">
            <a:spAutoFit/>
          </a:bodyPr>
          <a:lstStyle/>
          <a:p>
            <a:r>
              <a:rPr sz="1300" b="0" i="0">
                <a:solidFill>
                  <a:srgbClr val="1A1A1A"/>
                </a:solidFill>
                <a:latin typeface="Arial"/>
              </a:rPr>
              <a:t>What is funded first, cost against reuse</a:t>
            </a:r>
          </a:p>
        </p:txBody>
      </p:sp>
      <p:sp>
        <p:nvSpPr>
          <p:cNvPr id="19" name="Rectangle 18"/>
          <p:cNvSpPr/>
          <p:nvPr/>
        </p:nvSpPr>
        <p:spPr>
          <a:xfrm>
            <a:off x="658368" y="47365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791456"/>
            <a:ext cx="2542032" cy="886968"/>
          </a:xfrm>
          <a:prstGeom prst="rect">
            <a:avLst/>
          </a:prstGeom>
          <a:noFill/>
        </p:spPr>
        <p:txBody>
          <a:bodyPr wrap="square">
            <a:spAutoFit/>
          </a:bodyPr>
          <a:lstStyle/>
          <a:p>
            <a:r>
              <a:rPr sz="1300" b="1" i="0">
                <a:solidFill>
                  <a:srgbClr val="1A1A1A"/>
                </a:solidFill>
                <a:latin typeface="Arial"/>
              </a:rPr>
              <a:t>9. Validation and revision</a:t>
            </a:r>
          </a:p>
        </p:txBody>
      </p:sp>
      <p:sp>
        <p:nvSpPr>
          <p:cNvPr id="21" name="TextBox 20"/>
          <p:cNvSpPr txBox="1"/>
          <p:nvPr/>
        </p:nvSpPr>
        <p:spPr>
          <a:xfrm>
            <a:off x="3310128" y="4791456"/>
            <a:ext cx="3822191" cy="886968"/>
          </a:xfrm>
          <a:prstGeom prst="rect">
            <a:avLst/>
          </a:prstGeom>
          <a:noFill/>
        </p:spPr>
        <p:txBody>
          <a:bodyPr wrap="square">
            <a:spAutoFit/>
          </a:bodyPr>
          <a:lstStyle/>
          <a:p>
            <a:r>
              <a:rPr sz="1300" b="0" i="0">
                <a:solidFill>
                  <a:srgbClr val="1A1A1A"/>
                </a:solidFill>
                <a:latin typeface="Arial"/>
              </a:rPr>
              <a:t>Every comment answered; the revised documents</a:t>
            </a:r>
          </a:p>
        </p:txBody>
      </p:sp>
      <p:sp>
        <p:nvSpPr>
          <p:cNvPr id="22" name="TextBox 21"/>
          <p:cNvSpPr txBox="1"/>
          <p:nvPr/>
        </p:nvSpPr>
        <p:spPr>
          <a:xfrm>
            <a:off x="7242048" y="4791456"/>
            <a:ext cx="4187952" cy="886968"/>
          </a:xfrm>
          <a:prstGeom prst="rect">
            <a:avLst/>
          </a:prstGeom>
          <a:noFill/>
        </p:spPr>
        <p:txBody>
          <a:bodyPr wrap="square">
            <a:spAutoFit/>
          </a:bodyPr>
          <a:lstStyle/>
          <a:p>
            <a:r>
              <a:rPr sz="1300" b="0" i="0">
                <a:solidFill>
                  <a:srgbClr val="1A1A1A"/>
                </a:solidFill>
                <a:latin typeface="Arial"/>
              </a:rPr>
              <a:t>The adopting authority adopts the roadmap</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nine steps come from</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PAERA 5.3</a:t>
            </a:r>
          </a:p>
          <a:p>
            <a:pPr>
              <a:spcAft>
                <a:spcPts val="300"/>
              </a:spcAft>
            </a:pPr>
            <a:r>
              <a:rPr sz="1550" b="0" i="0">
                <a:solidFill>
                  <a:srgbClr val="595959"/>
                </a:solidFill>
                <a:latin typeface="Arial"/>
              </a:rPr>
              <a:t>The nine questions a national assessment must answer; no scale.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PAERA 5.4</a:t>
            </a:r>
          </a:p>
          <a:p>
            <a:pPr>
              <a:spcAft>
                <a:spcPts val="300"/>
              </a:spcAft>
            </a:pPr>
            <a:r>
              <a:rPr sz="1550" b="0" i="0">
                <a:solidFill>
                  <a:srgbClr val="595959"/>
                </a:solidFill>
                <a:latin typeface="Arial"/>
              </a:rPr>
              <a:t>Eight steps for assessing one organisation, from criteria to continuous improvement.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UNDP Playbook, page 23</a:t>
            </a:r>
          </a:p>
          <a:p>
            <a:pPr>
              <a:spcAft>
                <a:spcPts val="300"/>
              </a:spcAft>
            </a:pPr>
            <a:r>
              <a:rPr sz="1550" b="0" i="0">
                <a:solidFill>
                  <a:srgbClr val="595959"/>
                </a:solidFill>
                <a:latin typeface="Arial"/>
              </a:rPr>
              <a:t>Six steps from national priorities to a roadmap.</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sequence of nine steps is this course's own.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roadmap is produced in nine steps, and for each step you can say who acts, what goes in, what comes out, who decides and how the result is checked.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your list of institutions and a start date into an assessment plan.</a:t>
            </a:r>
          </a:p>
          <a:p>
            <a:pPr algn="l">
              <a:spcAft>
                <a:spcPts val="400"/>
              </a:spcAft>
            </a:pPr>
            <a:r>
              <a:rPr sz="1800" b="0" i="0">
                <a:solidFill>
                  <a:srgbClr val="595959"/>
                </a:solidFill>
                <a:latin typeface="Arial"/>
              </a:rPr>
              <a:t>The prompt in the companion material gives you a stakeholder map, a schedule by step, a plan of sessions and the list of documents to request.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3.1.3, 5.3 and 5.4</a:t>
            </a:r>
          </a:p>
          <a:p>
            <a:pPr>
              <a:spcAft>
                <a:spcPts val="1200"/>
              </a:spcAft>
            </a:pPr>
            <a:r>
              <a:rPr sz="1700" b="0" i="0">
                <a:solidFill>
                  <a:srgbClr val="1A1A1A"/>
                </a:solidFill>
                <a:latin typeface="Arial"/>
              </a:rPr>
              <a:t>•  UNDP — The DPI Approach: A Playbook (2023), page 23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