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3" r:id="rId55"/>
    <p:sldId id="2734" r:id="rId56"/>
    <p:sldId id="2735" r:id="rId57"/>
    <p:sldId id="2736" r:id="rId58"/>
    <p:sldId id="2737" r:id="rId59"/>
    <p:sldId id="2738" r:id="rId60"/>
    <p:sldId id="2739" r:id="rId61"/>
    <p:sldId id="2740" r:id="rId62"/>
    <p:sldId id="274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auditor asks you to prove that the registration service wrote a learner's record on a given day. Whether you can answer depends on choices made before the first call, not on what you do once the question arrives.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record is the message log on each security server. X-Road offers three settings. With full logging, the whole message is kept, and the records can be verified afterwards and used as evidence. With metadata logging, only the details around the message are kept, and the records cannot be used as evidence. Or logging is switched off. The Information Mediator specification requires a signed, time-stamped message log.</a:t>
            </a:r>
          </a:p>
          <a:p/>
          <a:p>
            <a:r>
              <a:t>Production cue: The words 'usable as evidence' and 'cannot be used as evidence' follow the X-Road guide.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record is operational monitoring. One record is made for each request: who called, which service, when, how large, and whether it succeeded. It never holds the content of the message. Who may read it matters. The owner of the security server and the central monitoring client can read the records of all clients. A regular member reads only the records about itself, through a monitoring service of its own.</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record is the traffic view on the security server's diagnostics page. It draws a graph of the requests that passed through, and you can filter it by period, by party, by role in the exchange, and by success or failure. It depends on the operational monitoring add-on. If that add-on is not installed, there is no traffic view to read.</a:t>
            </a:r>
          </a:p>
          <a:p/>
          <a:p>
            <a:r>
              <a:t>Production cue: Text-only. No screenshot of the diagnostics page until the recording exists.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screen: the text stand-in for the demonstration segment, with the footer marking the walkthrough, until the configurations it needs have passed their checks and the segment is recorded.</a:t>
            </a:r>
          </a:p>
          <a:p/>
          <a:p>
            <a:r>
              <a:t>VO: Take Progressa's registration run. The owner of the learner register sees, in its own message log, the request to write the record and its own answer. The registration service sees the same exchange from its side. PDGA, as operator, reads the traffic view and the records its role allows. No member sees another member's records by default. Each reader proves only what its own records show.</a:t>
            </a:r>
          </a:p>
          <a:p/>
          <a:p>
            <a:r>
              <a:t>Production cue: Replaced by the recording of the 5.5 walkthrough when X6 is built and the federation runs again. Nothing on this slide claims a run.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three settings are chosen before the first call. Full message logging on every security server that takes part. Access to monitoring for whoever must read the evidence, such as an auditor or the operator. And the monitoring add-on, so that the traffic view exists. Choose them late, and the first months of calls leave no evidence anyone can use.</a:t>
            </a:r>
          </a:p>
          <a:p/>
          <a:p>
            <a:r>
              <a:t>Production cue: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Three records can prove a call: the message log, monitoring and the traffic view. Each works only if you set it up before the first call.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Reading the evidence of a call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Three records can show that a call took place, the message log, operational monitoring and the traffic view, but each only under settings you must choose before the first call.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auditor asks you to prove that the registration service wrote a learner's record on a given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Whether you can answer depends on choices made before the first call, not on what you do once the question arrives.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1 — the message log</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Full logging</a:t>
            </a:r>
          </a:p>
          <a:p>
            <a:pPr>
              <a:spcAft>
                <a:spcPts val="300"/>
              </a:spcAft>
            </a:pPr>
            <a:r>
              <a:rPr sz="1800" b="0" i="0">
                <a:solidFill>
                  <a:srgbClr val="595959"/>
                </a:solidFill>
                <a:latin typeface="Arial"/>
              </a:rPr>
              <a:t>The message and its details are kept; usable as evidence.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Details only</a:t>
            </a:r>
          </a:p>
          <a:p>
            <a:pPr>
              <a:spcAft>
                <a:spcPts val="300"/>
              </a:spcAft>
            </a:pPr>
            <a:r>
              <a:rPr sz="1800" b="0" i="0">
                <a:solidFill>
                  <a:srgbClr val="595959"/>
                </a:solidFill>
                <a:latin typeface="Arial"/>
              </a:rPr>
              <a:t>Cannot be used as evidence.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Off</a:t>
            </a:r>
          </a:p>
          <a:p>
            <a:pPr>
              <a:spcAft>
                <a:spcPts val="300"/>
              </a:spcAft>
            </a:pPr>
            <a:r>
              <a:rPr sz="1800" b="0" i="0">
                <a:solidFill>
                  <a:srgbClr val="595959"/>
                </a:solidFill>
                <a:latin typeface="Arial"/>
              </a:rPr>
              <a:t>No record at all.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2 — operational monitoring</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One record for each request.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Who called, which service, when, how large, the result.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Never the content of the message.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regular member sees only its own records.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Record 3 — the traffic view</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A graph of the requests through one security server.</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Filter by period, party, role and status.</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Needs the operational monitoring add-on.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run, three readers</a:t>
            </a:r>
          </a:p>
        </p:txBody>
      </p:sp>
      <p:sp>
        <p:nvSpPr>
          <p:cNvPr id="4" name="TextBox 3"/>
          <p:cNvSpPr txBox="1"/>
          <p:nvPr/>
        </p:nvSpPr>
        <p:spPr>
          <a:xfrm>
            <a:off x="658368" y="2264156"/>
            <a:ext cx="4096511" cy="457200"/>
          </a:xfrm>
          <a:prstGeom prst="rect">
            <a:avLst/>
          </a:prstGeom>
          <a:noFill/>
        </p:spPr>
        <p:txBody>
          <a:bodyPr wrap="square">
            <a:spAutoFit/>
          </a:bodyPr>
          <a:lstStyle/>
          <a:p>
            <a:r>
              <a:rPr sz="1700" b="1" i="0">
                <a:solidFill>
                  <a:srgbClr val="006E96"/>
                </a:solidFill>
                <a:latin typeface="Arial"/>
              </a:rPr>
              <a:t>Reader</a:t>
            </a:r>
          </a:p>
        </p:txBody>
      </p:sp>
      <p:sp>
        <p:nvSpPr>
          <p:cNvPr id="5" name="TextBox 4"/>
          <p:cNvSpPr txBox="1"/>
          <p:nvPr/>
        </p:nvSpPr>
        <p:spPr>
          <a:xfrm>
            <a:off x="4864607" y="2264156"/>
            <a:ext cx="6565392" cy="457200"/>
          </a:xfrm>
          <a:prstGeom prst="rect">
            <a:avLst/>
          </a:prstGeom>
          <a:noFill/>
        </p:spPr>
        <p:txBody>
          <a:bodyPr wrap="square">
            <a:spAutoFit/>
          </a:bodyPr>
          <a:lstStyle/>
          <a:p>
            <a:r>
              <a:rPr sz="1700" b="1" i="0">
                <a:solidFill>
                  <a:srgbClr val="006E96"/>
                </a:solidFill>
                <a:latin typeface="Arial"/>
              </a:rPr>
              <a:t>What it sees</a:t>
            </a:r>
          </a:p>
        </p:txBody>
      </p:sp>
      <p:sp>
        <p:nvSpPr>
          <p:cNvPr id="6" name="Rectangle 5"/>
          <p:cNvSpPr/>
          <p:nvPr/>
        </p:nvSpPr>
        <p:spPr>
          <a:xfrm>
            <a:off x="658368" y="2721356"/>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812796"/>
            <a:ext cx="4096511" cy="707644"/>
          </a:xfrm>
          <a:prstGeom prst="rect">
            <a:avLst/>
          </a:prstGeom>
          <a:noFill/>
        </p:spPr>
        <p:txBody>
          <a:bodyPr wrap="square">
            <a:spAutoFit/>
          </a:bodyPr>
          <a:lstStyle/>
          <a:p>
            <a:r>
              <a:rPr sz="1700" b="1" i="0">
                <a:solidFill>
                  <a:srgbClr val="1A1A1A"/>
                </a:solidFill>
                <a:latin typeface="Arial"/>
              </a:rPr>
              <a:t>The owner of the learner register</a:t>
            </a:r>
          </a:p>
        </p:txBody>
      </p:sp>
      <p:sp>
        <p:nvSpPr>
          <p:cNvPr id="8" name="TextBox 7"/>
          <p:cNvSpPr txBox="1"/>
          <p:nvPr/>
        </p:nvSpPr>
        <p:spPr>
          <a:xfrm>
            <a:off x="4864607" y="2812796"/>
            <a:ext cx="6565392" cy="707644"/>
          </a:xfrm>
          <a:prstGeom prst="rect">
            <a:avLst/>
          </a:prstGeom>
          <a:noFill/>
        </p:spPr>
        <p:txBody>
          <a:bodyPr wrap="square">
            <a:spAutoFit/>
          </a:bodyPr>
          <a:lstStyle/>
          <a:p>
            <a:r>
              <a:rPr sz="1700" b="0" i="0">
                <a:solidFill>
                  <a:srgbClr val="1A1A1A"/>
                </a:solidFill>
                <a:latin typeface="Arial"/>
              </a:rPr>
              <a:t>Its own message log; the monitoring records of calls to its service</a:t>
            </a:r>
          </a:p>
        </p:txBody>
      </p:sp>
      <p:sp>
        <p:nvSpPr>
          <p:cNvPr id="9" name="Rectangle 8"/>
          <p:cNvSpPr/>
          <p:nvPr/>
        </p:nvSpPr>
        <p:spPr>
          <a:xfrm>
            <a:off x="658368" y="35387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593591"/>
            <a:ext cx="4096511" cy="426974"/>
          </a:xfrm>
          <a:prstGeom prst="rect">
            <a:avLst/>
          </a:prstGeom>
          <a:noFill/>
        </p:spPr>
        <p:txBody>
          <a:bodyPr wrap="square">
            <a:spAutoFit/>
          </a:bodyPr>
          <a:lstStyle/>
          <a:p>
            <a:r>
              <a:rPr sz="1700" b="1" i="0">
                <a:solidFill>
                  <a:srgbClr val="1A1A1A"/>
                </a:solidFill>
                <a:latin typeface="Arial"/>
              </a:rPr>
              <a:t>The registration service</a:t>
            </a:r>
          </a:p>
        </p:txBody>
      </p:sp>
      <p:sp>
        <p:nvSpPr>
          <p:cNvPr id="11" name="TextBox 10"/>
          <p:cNvSpPr txBox="1"/>
          <p:nvPr/>
        </p:nvSpPr>
        <p:spPr>
          <a:xfrm>
            <a:off x="4864607" y="3593591"/>
            <a:ext cx="6565392" cy="426974"/>
          </a:xfrm>
          <a:prstGeom prst="rect">
            <a:avLst/>
          </a:prstGeom>
          <a:noFill/>
        </p:spPr>
        <p:txBody>
          <a:bodyPr wrap="square">
            <a:spAutoFit/>
          </a:bodyPr>
          <a:lstStyle/>
          <a:p>
            <a:r>
              <a:rPr sz="1700" b="0" i="0">
                <a:solidFill>
                  <a:srgbClr val="1A1A1A"/>
                </a:solidFill>
                <a:latin typeface="Arial"/>
              </a:rPr>
              <a:t>Its own message log; the monitoring records of its own calls</a:t>
            </a:r>
          </a:p>
        </p:txBody>
      </p:sp>
      <p:sp>
        <p:nvSpPr>
          <p:cNvPr id="12" name="Rectangle 11"/>
          <p:cNvSpPr/>
          <p:nvPr/>
        </p:nvSpPr>
        <p:spPr>
          <a:xfrm>
            <a:off x="658368" y="403885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093718"/>
            <a:ext cx="4096511" cy="426974"/>
          </a:xfrm>
          <a:prstGeom prst="rect">
            <a:avLst/>
          </a:prstGeom>
          <a:noFill/>
        </p:spPr>
        <p:txBody>
          <a:bodyPr wrap="square">
            <a:spAutoFit/>
          </a:bodyPr>
          <a:lstStyle/>
          <a:p>
            <a:r>
              <a:rPr sz="1700" b="1" i="0">
                <a:solidFill>
                  <a:srgbClr val="1A1A1A"/>
                </a:solidFill>
                <a:latin typeface="Arial"/>
              </a:rPr>
              <a:t>PDGA, the operator</a:t>
            </a:r>
          </a:p>
        </p:txBody>
      </p:sp>
      <p:sp>
        <p:nvSpPr>
          <p:cNvPr id="14" name="TextBox 13"/>
          <p:cNvSpPr txBox="1"/>
          <p:nvPr/>
        </p:nvSpPr>
        <p:spPr>
          <a:xfrm>
            <a:off x="4864607" y="4093718"/>
            <a:ext cx="6565392" cy="426974"/>
          </a:xfrm>
          <a:prstGeom prst="rect">
            <a:avLst/>
          </a:prstGeom>
          <a:noFill/>
        </p:spPr>
        <p:txBody>
          <a:bodyPr wrap="square">
            <a:spAutoFit/>
          </a:bodyPr>
          <a:lstStyle/>
          <a:p>
            <a:r>
              <a:rPr sz="1700" b="0" i="0">
                <a:solidFill>
                  <a:srgbClr val="1A1A1A"/>
                </a:solidFill>
                <a:latin typeface="Arial"/>
              </a:rPr>
              <a:t>The traffic view, and the records its role allows</a:t>
            </a:r>
          </a:p>
        </p:txBody>
      </p:sp>
      <p:sp>
        <p:nvSpPr>
          <p:cNvPr id="15" name="TextBox 14"/>
          <p:cNvSpPr txBox="1"/>
          <p:nvPr/>
        </p:nvSpPr>
        <p:spPr>
          <a:xfrm>
            <a:off x="658368" y="4648708"/>
            <a:ext cx="10881360" cy="365760"/>
          </a:xfrm>
          <a:prstGeom prst="rect">
            <a:avLst/>
          </a:prstGeom>
          <a:noFill/>
        </p:spPr>
        <p:txBody>
          <a:bodyPr wrap="square">
            <a:spAutoFit/>
          </a:bodyPr>
          <a:lstStyle/>
          <a:p>
            <a:r>
              <a:rPr sz="1300" b="0" i="1">
                <a:solidFill>
                  <a:srgbClr val="595959"/>
                </a:solidFill>
                <a:latin typeface="Arial"/>
              </a:rPr>
              <a:t>Walkthrough: what a good run shows.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Choose before the first call</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Full message logging on every security server that takes part.</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Access to monitoring for whoever must read the evidence.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The monitoring add-on, so that the traffic view exists.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Three records can show that a call took place, the message log, operational monitoring and the traffic view, but each only under settings you must choose before the first call.</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Report the calls of a period from the monitoring records.</a:t>
            </a:r>
          </a:p>
          <a:p>
            <a:pPr algn="l">
              <a:spcAft>
                <a:spcPts val="400"/>
              </a:spcAft>
            </a:pPr>
            <a:r>
              <a:rPr sz="1800" b="0" i="0">
                <a:solidFill>
                  <a:srgbClr val="595959"/>
                </a:solidFill>
                <a:latin typeface="Arial"/>
              </a:rPr>
              <a:t>The prompt in the companion material gives you a report of the calls by caller, service and result, with the failures listed.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NIIS X-Road 7.7.0, Security Server User Guide (UG-SS) sections 11, 14.2 and 15, and Operational Monitoring Protocol (PR-OPMON) section 2</a:t>
            </a:r>
          </a:p>
          <a:p>
            <a:pPr>
              <a:spcAft>
                <a:spcPts val="1000"/>
              </a:spcAft>
            </a:pPr>
            <a:r>
              <a:rPr sz="1800" b="0" i="0">
                <a:solidFill>
                  <a:srgbClr val="1A1A1A"/>
                </a:solidFill>
                <a:latin typeface="Arial"/>
              </a:rPr>
              <a:t>•  GovStack Information Mediator 1.1.1, sections 6.5 (logging services) and 6.6</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Reading the evidence of a call</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