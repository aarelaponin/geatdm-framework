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2" r:id="rId64"/>
    <p:sldId id="2743" r:id="rId65"/>
    <p:sldId id="2744" r:id="rId66"/>
    <p:sldId id="2745" r:id="rId67"/>
    <p:sldId id="2746" r:id="rId68"/>
    <p:sldId id="2747" r:id="rId69"/>
    <p:sldId id="2748" r:id="rId70"/>
    <p:sldId id="2749" r:id="rId71"/>
    <p:sldId id="2750"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Another team in the ministry wants to pay scholarships. Its first plan is to build its own learner list and its own payment link. Your job is to show the team what it can use instead, and on what terms.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 the checks of the foundation have passed, three things are services with published contracts. Identity, through PNIA's sign-in, for any service registered as its client. The learner register, whose services other services may call once the owner grants access. And payments, through the Payments block's own interface on the exchange. A new service asks for access, the owner of each service decides, and the call goes through the exchange.</a:t>
            </a:r>
          </a:p>
          <a:p/>
          <a:p>
            <a:r>
              <a:t>Production cue: Each row names the block and how a new service reaches it.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a scholarship service. It confirms the learner by calling the learner register. It pays through the Payments block, on the path the Payments specification describes for bulk payments from government to people. Or it issues vouchers, which the same specification describes, and which can be limited so that only schools redeem them. It builds no learner list and no payment link of its own.</a:t>
            </a:r>
          </a:p>
          <a:p/>
          <a:p>
            <a:r>
              <a:t>Production cue: The worked example of the outline.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one project, building your own list looks quicker than asking another ministry for access. Procurement rules can make each contract cheaper, but only whole-of-government planning makes re-use possible. The first service paid for the foundation, and every service after it uses it. Ask the next team to put both options side by side before it commits.</a:t>
            </a:r>
          </a:p>
          <a:p/>
          <a:p>
            <a:r>
              <a:t>Production cue: Carries the structural argument that planning enables re-use.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blocks are cited here but not built. The Consent specification records consent when a person first registers and checks it before data is processed. It also warns that consent may be the wrong legal ground where a public authority processes data, so ask your lawyers first. The Messaging specification names informing people about their registration among its first uses, and the Registration block as one source of such a message.</a:t>
            </a:r>
          </a:p>
          <a:p/>
          <a:p>
            <a:r>
              <a:t>Production cue: Consent and Messaging are cited; their configurations, CN1 and MS1, are not part of the build.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Give the next team one page. For each service, it lists the contract, the conditions of access and the owner to ask. Generate that page from the exchange's own list of services and their contracts, not from memory or an old slide, and it stays true as the list changes.</a:t>
            </a:r>
          </a:p>
          <a:p/>
          <a:p>
            <a:r>
              <a:t>Production cue: Text-only; no table data on screen.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The foundation is now something to use, not to rebuild. Consent and notification are still to come.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the next services can now use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Identity, the learner register and payments are now services with published contracts that the next education services can use without building them again, with consent and notification still to add.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Another team in the ministry wants to pay scholarships.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Its first plan is to build its own learner list and its own payment link.</a:t>
            </a:r>
          </a:p>
          <a:p>
            <a:pPr>
              <a:spcAft>
                <a:spcPts val="800"/>
              </a:spcAft>
            </a:pPr>
            <a:r>
              <a:rPr sz="1700" b="0" i="0">
                <a:solidFill>
                  <a:srgbClr val="595959"/>
                </a:solidFill>
                <a:latin typeface="Arial"/>
              </a:rPr>
              <a:t>Your job is to show the team what it can use instead, and on what terms.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 the exchange, with published contracts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Identity</a:t>
            </a:r>
          </a:p>
          <a:p>
            <a:pPr>
              <a:spcAft>
                <a:spcPts val="300"/>
              </a:spcAft>
            </a:pPr>
            <a:r>
              <a:rPr sz="1800" b="0" i="0">
                <a:solidFill>
                  <a:srgbClr val="595959"/>
                </a:solidFill>
                <a:latin typeface="Arial"/>
              </a:rPr>
              <a:t>PNIA's sign-in, for a service registered as its client.</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learner register</a:t>
            </a:r>
          </a:p>
          <a:p>
            <a:pPr>
              <a:spcAft>
                <a:spcPts val="300"/>
              </a:spcAft>
            </a:pPr>
            <a:r>
              <a:rPr sz="1800" b="0" i="0">
                <a:solidFill>
                  <a:srgbClr val="595959"/>
                </a:solidFill>
                <a:latin typeface="Arial"/>
              </a:rPr>
              <a:t>Its services, on the owner's grant.</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Payments</a:t>
            </a:r>
          </a:p>
          <a:p>
            <a:pPr>
              <a:spcAft>
                <a:spcPts val="300"/>
              </a:spcAft>
            </a:pPr>
            <a:r>
              <a:rPr sz="1800" b="0" i="0">
                <a:solidFill>
                  <a:srgbClr val="595959"/>
                </a:solidFill>
                <a:latin typeface="Arial"/>
              </a:rPr>
              <a:t>The Payments block's own interface.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scholarship, block by block</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Confirm the learner</a:t>
            </a:r>
          </a:p>
          <a:p>
            <a:pPr>
              <a:spcAft>
                <a:spcPts val="300"/>
              </a:spcAft>
            </a:pPr>
            <a:r>
              <a:rPr sz="1800" b="0" i="0">
                <a:solidFill>
                  <a:srgbClr val="595959"/>
                </a:solidFill>
                <a:latin typeface="Arial"/>
              </a:rPr>
              <a:t>Call the learner register.</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Pay</a:t>
            </a:r>
          </a:p>
          <a:p>
            <a:pPr>
              <a:spcAft>
                <a:spcPts val="300"/>
              </a:spcAft>
            </a:pPr>
            <a:r>
              <a:rPr sz="1800" b="0" i="0">
                <a:solidFill>
                  <a:srgbClr val="595959"/>
                </a:solidFill>
                <a:latin typeface="Arial"/>
              </a:rPr>
              <a:t>The Payments block's path for bulk payments from government to people.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Or</a:t>
            </a:r>
          </a:p>
          <a:p>
            <a:pPr>
              <a:spcAft>
                <a:spcPts val="300"/>
              </a:spcAft>
            </a:pPr>
            <a:r>
              <a:rPr sz="1800" b="0" i="0">
                <a:solidFill>
                  <a:srgbClr val="595959"/>
                </a:solidFill>
                <a:latin typeface="Arial"/>
              </a:rPr>
              <a:t>Vouchers that only schools can redeem.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sees the saving</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Inside one project</a:t>
            </a:r>
          </a:p>
          <a:p>
            <a:pPr>
              <a:spcAft>
                <a:spcPts val="300"/>
              </a:spcAft>
            </a:pPr>
            <a:r>
              <a:rPr sz="1900" b="0" i="0">
                <a:solidFill>
                  <a:srgbClr val="595959"/>
                </a:solidFill>
                <a:latin typeface="Arial"/>
              </a:rPr>
              <a:t>Building your own looks quicker.</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Across the government</a:t>
            </a:r>
          </a:p>
          <a:p>
            <a:pPr>
              <a:spcAft>
                <a:spcPts val="300"/>
              </a:spcAft>
            </a:pPr>
            <a:r>
              <a:rPr sz="1900" b="0" i="0">
                <a:solidFill>
                  <a:srgbClr val="595959"/>
                </a:solidFill>
                <a:latin typeface="Arial"/>
              </a:rPr>
              <a:t>The second service costs less than the first.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Still to add: consent and notification</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Consent</a:t>
            </a:r>
          </a:p>
          <a:p>
            <a:pPr>
              <a:spcAft>
                <a:spcPts val="300"/>
              </a:spcAft>
            </a:pPr>
            <a:r>
              <a:rPr sz="1800" b="0" i="0">
                <a:solidFill>
                  <a:srgbClr val="595959"/>
                </a:solidFill>
                <a:latin typeface="Arial"/>
              </a:rPr>
              <a:t>Recorded at first registration, checked before data is used.</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Consent may be the wrong legal ground for a public authority.</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Notification</a:t>
            </a:r>
          </a:p>
          <a:p>
            <a:pPr>
              <a:spcAft>
                <a:spcPts val="300"/>
              </a:spcAft>
            </a:pPr>
            <a:r>
              <a:rPr sz="1800" b="0" i="0">
                <a:solidFill>
                  <a:srgbClr val="595959"/>
                </a:solidFill>
                <a:latin typeface="Arial"/>
              </a:rPr>
              <a:t>Telling a person that their registration is done.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page for the next team</a:t>
            </a:r>
          </a:p>
        </p:txBody>
      </p:sp>
      <p:sp>
        <p:nvSpPr>
          <p:cNvPr id="4" name="Rounded Rectangle 3"/>
          <p:cNvSpPr/>
          <p:nvPr/>
        </p:nvSpPr>
        <p:spPr>
          <a:xfrm>
            <a:off x="658368" y="2103120"/>
            <a:ext cx="2548890" cy="7315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2249424"/>
            <a:ext cx="2146554" cy="457200"/>
          </a:xfrm>
          <a:prstGeom prst="rect">
            <a:avLst/>
          </a:prstGeom>
          <a:noFill/>
        </p:spPr>
        <p:txBody>
          <a:bodyPr wrap="square">
            <a:spAutoFit/>
          </a:bodyPr>
          <a:lstStyle/>
          <a:p>
            <a:pPr>
              <a:spcAft>
                <a:spcPts val="700"/>
              </a:spcAft>
            </a:pPr>
            <a:r>
              <a:rPr sz="1900" b="1" i="0">
                <a:solidFill>
                  <a:srgbClr val="006E96"/>
                </a:solidFill>
                <a:latin typeface="Arial"/>
              </a:rPr>
              <a:t>Service</a:t>
            </a:r>
          </a:p>
        </p:txBody>
      </p:sp>
      <p:sp>
        <p:nvSpPr>
          <p:cNvPr id="6" name="Rectangle 5"/>
          <p:cNvSpPr/>
          <p:nvPr/>
        </p:nvSpPr>
        <p:spPr>
          <a:xfrm>
            <a:off x="749808" y="333756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388620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443484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35858" y="2103120"/>
            <a:ext cx="2548890" cy="7315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7026" y="2249424"/>
            <a:ext cx="2146554" cy="457200"/>
          </a:xfrm>
          <a:prstGeom prst="rect">
            <a:avLst/>
          </a:prstGeom>
          <a:noFill/>
        </p:spPr>
        <p:txBody>
          <a:bodyPr wrap="square">
            <a:spAutoFit/>
          </a:bodyPr>
          <a:lstStyle/>
          <a:p>
            <a:pPr>
              <a:spcAft>
                <a:spcPts val="700"/>
              </a:spcAft>
            </a:pPr>
            <a:r>
              <a:rPr sz="1900" b="1" i="0">
                <a:solidFill>
                  <a:srgbClr val="006E96"/>
                </a:solidFill>
                <a:latin typeface="Arial"/>
              </a:rPr>
              <a:t>Contract</a:t>
            </a:r>
          </a:p>
        </p:txBody>
      </p:sp>
      <p:sp>
        <p:nvSpPr>
          <p:cNvPr id="11" name="Rectangle 10"/>
          <p:cNvSpPr/>
          <p:nvPr/>
        </p:nvSpPr>
        <p:spPr>
          <a:xfrm>
            <a:off x="3527298" y="333756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7298" y="388620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7298" y="443484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3348" y="2103120"/>
            <a:ext cx="2548890" cy="7315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4516" y="2249424"/>
            <a:ext cx="2146554" cy="457200"/>
          </a:xfrm>
          <a:prstGeom prst="rect">
            <a:avLst/>
          </a:prstGeom>
          <a:noFill/>
        </p:spPr>
        <p:txBody>
          <a:bodyPr wrap="square">
            <a:spAutoFit/>
          </a:bodyPr>
          <a:lstStyle/>
          <a:p>
            <a:pPr>
              <a:spcAft>
                <a:spcPts val="700"/>
              </a:spcAft>
            </a:pPr>
            <a:r>
              <a:rPr sz="1900" b="1" i="0">
                <a:solidFill>
                  <a:srgbClr val="006E96"/>
                </a:solidFill>
                <a:latin typeface="Arial"/>
              </a:rPr>
              <a:t>Conditions of access</a:t>
            </a:r>
          </a:p>
        </p:txBody>
      </p:sp>
      <p:sp>
        <p:nvSpPr>
          <p:cNvPr id="16" name="Rectangle 15"/>
          <p:cNvSpPr/>
          <p:nvPr/>
        </p:nvSpPr>
        <p:spPr>
          <a:xfrm>
            <a:off x="6304788" y="333756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4788" y="388620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4788" y="443484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990838" y="2103120"/>
            <a:ext cx="2548890" cy="7315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92006" y="2249424"/>
            <a:ext cx="2146554" cy="457200"/>
          </a:xfrm>
          <a:prstGeom prst="rect">
            <a:avLst/>
          </a:prstGeom>
          <a:noFill/>
        </p:spPr>
        <p:txBody>
          <a:bodyPr wrap="square">
            <a:spAutoFit/>
          </a:bodyPr>
          <a:lstStyle/>
          <a:p>
            <a:pPr>
              <a:spcAft>
                <a:spcPts val="700"/>
              </a:spcAft>
            </a:pPr>
            <a:r>
              <a:rPr sz="1900" b="1" i="0">
                <a:solidFill>
                  <a:srgbClr val="006E96"/>
                </a:solidFill>
                <a:latin typeface="Arial"/>
              </a:rPr>
              <a:t>Owner</a:t>
            </a:r>
          </a:p>
        </p:txBody>
      </p:sp>
      <p:sp>
        <p:nvSpPr>
          <p:cNvPr id="21" name="Rectangle 20"/>
          <p:cNvSpPr/>
          <p:nvPr/>
        </p:nvSpPr>
        <p:spPr>
          <a:xfrm>
            <a:off x="9082278" y="333756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82278" y="388620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82278" y="4434840"/>
            <a:ext cx="236601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Identity, the learner register and payments are now services with published contracts that the next education services can use without building them again, with consent and notification still to add.</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note 'what you may use' for the next service team.</a:t>
            </a:r>
          </a:p>
          <a:p>
            <a:pPr algn="l">
              <a:spcAft>
                <a:spcPts val="400"/>
              </a:spcAft>
            </a:pPr>
            <a:r>
              <a:rPr sz="1800" b="0" i="0">
                <a:solidFill>
                  <a:srgbClr val="595959"/>
                </a:solidFill>
                <a:latin typeface="Arial"/>
              </a:rPr>
              <a:t>The prompt in the companion material gives you a one-page note: each service, its contract, the conditions of access and its owner.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Information Mediator 1.1.1, section 6.2</a:t>
            </a:r>
          </a:p>
          <a:p>
            <a:pPr>
              <a:spcAft>
                <a:spcPts val="1000"/>
              </a:spcAft>
            </a:pPr>
            <a:r>
              <a:rPr sz="1800" b="0" i="0">
                <a:solidFill>
                  <a:srgbClr val="1A1A1A"/>
                </a:solidFill>
                <a:latin typeface="Arial"/>
              </a:rPr>
              <a:t>•  GovStack Payments 3.0, sections 9.1 and 9.2</a:t>
            </a:r>
          </a:p>
          <a:p>
            <a:pPr>
              <a:spcAft>
                <a:spcPts val="1000"/>
              </a:spcAft>
            </a:pPr>
            <a:r>
              <a:rPr sz="1800" b="0" i="0">
                <a:solidFill>
                  <a:srgbClr val="1A1A1A"/>
                </a:solidFill>
                <a:latin typeface="Arial"/>
              </a:rPr>
              <a:t>•  GovStack Consent 1.3.0, section 2 ('What Consent Is') and sections 9.2 and 9.4</a:t>
            </a:r>
          </a:p>
          <a:p>
            <a:pPr>
              <a:spcAft>
                <a:spcPts val="1000"/>
              </a:spcAft>
            </a:pPr>
            <a:r>
              <a:rPr sz="1800" b="0" i="0">
                <a:solidFill>
                  <a:srgbClr val="1A1A1A"/>
                </a:solidFill>
                <a:latin typeface="Arial"/>
              </a:rPr>
              <a:t>•  GovStack Messaging, sections 4.1 and 6.2.1</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What the next services can now use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