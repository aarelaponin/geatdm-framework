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 id="271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vendor's integration plan says the exchange will run the registration from start to finish. Before you approve it, ask one question: which block holds the order of the steps? The published answer is not the exchange.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data exchange layer does a narrow job, and does it well. It carries each call from the caller to the provider. It checks that the caller may make the call. It keeps a record of the message. The Information Mediator specification lists what it registers: members, services with their contracts, and the lists of who may call them. Each call goes first to the caller's own security server, the exchange's gateway, which forwards it.</a:t>
            </a:r>
          </a:p>
          <a:p/>
          <a:p>
            <a:r>
              <a:t>Production cue: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specification is just as clear about what is not its job. Defining the steps of a transaction is out of its scope. So is mapping the fields of the identity system into a registration record. X-Road says the same about itself: its core does not convert protocols or data, and the organisation's own information system does that. A plan that puts the sequence in the exchange puts it where no published specification does.</a:t>
            </a:r>
          </a:p>
          <a:p/>
          <a:p>
            <a:r>
              <a:t>Production cue: Quoted word for word from section 4 of the specification,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registration service holds the sequence. The Registration specification lets the analyst configure actions that fire on an event: a form loading, a button click, an application submitted. An action can pull data from an outside register through the exchange, or send data to one. So the steps of learner registration are written in the registration service's own description, and each step calls another block's published contract.</a:t>
            </a:r>
          </a:p>
          <a:p/>
          <a:p>
            <a:r>
              <a:t>Production cue: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send the calls through the exchange at all, if it does not run the sequence? Because the alternative is a web of direct links between systems. The GovStack Architecture specification names that pattern fragmented point-to-point integration, and says it makes service delivery across agencies unpredictable and expensive to maintain. The Digital Registries specification asks for mediated integration rather than direct point-to-point coupling. One exchange, many calls, one set of rules.</a:t>
            </a:r>
          </a:p>
          <a:p/>
          <a:p>
            <a:r>
              <a:t>Production cue: Text boxes side by side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learner registration as one sequence. The learner signs in with the identity authority, PNIA, and approves the release of a name and a date of birth. The registration service fills the form with them. The learner submits, the checks run, and the registrar approves. Then the registration service calls the write service of the learner registry, PLR, through the exchange, and asks whether the record exists. Drawn on one page, the sequence gives the business side and IT one shared language, so a decision means the same thing in both rooms.</a:t>
            </a:r>
          </a:p>
          <a:p/>
          <a:p>
            <a:r>
              <a:t>Production cue: The drawn version of this sequence is figure F12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exchange carries the calls and checks who may make them. The registration service holds the order. Ask which block holds it before you approve the plan.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Who puts the steps in order: contracts, and the block that calls them</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data exchange layer carries each call and enforces who may make it, but the registration service puts the steps in order, so know which block holds the sequence before you approve an integration plan.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vendor's integration plan says the exchange will run the registration from start to finish.</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Before you approve it, ask one question: which block holds the order of the steps?</a:t>
            </a:r>
          </a:p>
          <a:p>
            <a:pPr>
              <a:spcAft>
                <a:spcPts val="800"/>
              </a:spcAft>
            </a:pPr>
            <a:r>
              <a:rPr sz="1700" b="0" i="0">
                <a:solidFill>
                  <a:srgbClr val="595959"/>
                </a:solidFill>
                <a:latin typeface="Arial"/>
              </a:rPr>
              <a:t>The published answer is not the exchange.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exchange does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Carries each call between members.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Checks that the caller holds a grant.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Signs, time-stamps and logs the message.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Goes through the caller's own security server.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exchange does not do</a:t>
            </a:r>
          </a:p>
        </p:txBody>
      </p:sp>
      <p:sp>
        <p:nvSpPr>
          <p:cNvPr id="4" name="TextBox 3"/>
          <p:cNvSpPr txBox="1"/>
          <p:nvPr/>
        </p:nvSpPr>
        <p:spPr>
          <a:xfrm>
            <a:off x="658368" y="2103120"/>
            <a:ext cx="10984687" cy="1234439"/>
          </a:xfrm>
          <a:prstGeom prst="rect">
            <a:avLst/>
          </a:prstGeom>
          <a:noFill/>
        </p:spPr>
        <p:txBody>
          <a:bodyPr wrap="square">
            <a:spAutoFit/>
          </a:bodyPr>
          <a:lstStyle/>
          <a:p>
            <a:pPr>
              <a:spcAft>
                <a:spcPts val="300"/>
              </a:spcAft>
            </a:pPr>
            <a:r>
              <a:rPr sz="2400" b="1" i="0">
                <a:solidFill>
                  <a:srgbClr val="1A1A1A"/>
                </a:solidFill>
                <a:latin typeface="Arial"/>
              </a:rPr>
              <a:t>Allow the definition of steps for a particular transaction</a:t>
            </a:r>
          </a:p>
        </p:txBody>
      </p:sp>
      <p:sp>
        <p:nvSpPr>
          <p:cNvPr id="5" name="Rectangle 4"/>
          <p:cNvSpPr/>
          <p:nvPr/>
        </p:nvSpPr>
        <p:spPr>
          <a:xfrm>
            <a:off x="621792" y="3342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383279"/>
            <a:ext cx="10984687" cy="1234439"/>
          </a:xfrm>
          <a:prstGeom prst="rect">
            <a:avLst/>
          </a:prstGeom>
          <a:noFill/>
        </p:spPr>
        <p:txBody>
          <a:bodyPr wrap="square">
            <a:spAutoFit/>
          </a:bodyPr>
          <a:lstStyle/>
          <a:p>
            <a:pPr>
              <a:spcAft>
                <a:spcPts val="300"/>
              </a:spcAft>
            </a:pPr>
            <a:r>
              <a:rPr sz="2400" b="1" i="0">
                <a:solidFill>
                  <a:srgbClr val="1A1A1A"/>
                </a:solidFill>
                <a:latin typeface="Arial"/>
              </a:rPr>
              <a:t>Map data structures and fields from the identification system to the registration system and vice versa</a:t>
            </a:r>
          </a:p>
        </p:txBody>
      </p:sp>
      <p:sp>
        <p:nvSpPr>
          <p:cNvPr id="7" name="TextBox 6"/>
          <p:cNvSpPr txBox="1"/>
          <p:nvPr/>
        </p:nvSpPr>
        <p:spPr>
          <a:xfrm>
            <a:off x="658368" y="4736592"/>
            <a:ext cx="10881360" cy="365760"/>
          </a:xfrm>
          <a:prstGeom prst="rect">
            <a:avLst/>
          </a:prstGeom>
          <a:noFill/>
        </p:spPr>
        <p:txBody>
          <a:bodyPr wrap="square">
            <a:spAutoFit/>
          </a:bodyPr>
          <a:lstStyle/>
          <a:p>
            <a:r>
              <a:rPr sz="1300" b="0" i="1">
                <a:solidFill>
                  <a:srgbClr val="595959"/>
                </a:solidFill>
                <a:latin typeface="Arial"/>
              </a:rPr>
              <a:t>Both marked ‘out of scope’ in the GovStack Information Mediator specification.</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holds the sequence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registration service holds the sequence, as configured actions.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An action fires on an event</a:t>
            </a:r>
          </a:p>
          <a:p>
            <a:pPr>
              <a:spcAft>
                <a:spcPts val="300"/>
              </a:spcAft>
            </a:pPr>
            <a:r>
              <a:rPr sz="1800" b="0" i="0">
                <a:solidFill>
                  <a:srgbClr val="595959"/>
                </a:solidFill>
                <a:latin typeface="Arial"/>
              </a:rPr>
              <a:t>A form loads, a button is clicked, an application is submitted.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An action can pull data from an outside register through the exchange, or send data to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go through the exchange at all</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Point-to-point</a:t>
            </a:r>
          </a:p>
          <a:p>
            <a:pPr>
              <a:spcAft>
                <a:spcPts val="300"/>
              </a:spcAft>
            </a:pPr>
            <a:r>
              <a:rPr sz="1900" b="0" i="0">
                <a:solidFill>
                  <a:srgbClr val="595959"/>
                </a:solidFill>
                <a:latin typeface="Arial"/>
              </a:rPr>
              <a:t>Every link built and kept on its own.</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Mediated</a:t>
            </a:r>
          </a:p>
          <a:p>
            <a:pPr>
              <a:spcAft>
                <a:spcPts val="300"/>
              </a:spcAft>
            </a:pPr>
            <a:r>
              <a:rPr sz="1900" b="0" i="0">
                <a:solidFill>
                  <a:srgbClr val="595959"/>
                </a:solidFill>
                <a:latin typeface="Arial"/>
              </a:rPr>
              <a:t>Every call through one exchange, under one set of rules.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registration as one sequence</a:t>
            </a:r>
          </a:p>
        </p:txBody>
      </p:sp>
      <p:sp>
        <p:nvSpPr>
          <p:cNvPr id="4" name="TextBox 3"/>
          <p:cNvSpPr txBox="1"/>
          <p:nvPr/>
        </p:nvSpPr>
        <p:spPr>
          <a:xfrm>
            <a:off x="658368" y="1463801"/>
            <a:ext cx="2999232" cy="457200"/>
          </a:xfrm>
          <a:prstGeom prst="rect">
            <a:avLst/>
          </a:prstGeom>
          <a:noFill/>
        </p:spPr>
        <p:txBody>
          <a:bodyPr wrap="square">
            <a:spAutoFit/>
          </a:bodyPr>
          <a:lstStyle/>
          <a:p>
            <a:r>
              <a:rPr sz="1500" b="1" i="0">
                <a:solidFill>
                  <a:srgbClr val="006E96"/>
                </a:solidFill>
                <a:latin typeface="Arial"/>
              </a:rPr>
              <a:t>Step</a:t>
            </a:r>
          </a:p>
        </p:txBody>
      </p:sp>
      <p:sp>
        <p:nvSpPr>
          <p:cNvPr id="5" name="TextBox 4"/>
          <p:cNvSpPr txBox="1"/>
          <p:nvPr/>
        </p:nvSpPr>
        <p:spPr>
          <a:xfrm>
            <a:off x="3767328" y="1463801"/>
            <a:ext cx="4096511" cy="457200"/>
          </a:xfrm>
          <a:prstGeom prst="rect">
            <a:avLst/>
          </a:prstGeom>
          <a:noFill/>
        </p:spPr>
        <p:txBody>
          <a:bodyPr wrap="square">
            <a:spAutoFit/>
          </a:bodyPr>
          <a:lstStyle/>
          <a:p>
            <a:r>
              <a:rPr sz="1500" b="1" i="0">
                <a:solidFill>
                  <a:srgbClr val="006E96"/>
                </a:solidFill>
                <a:latin typeface="Arial"/>
              </a:rPr>
              <a:t>Who calls whom</a:t>
            </a:r>
          </a:p>
        </p:txBody>
      </p:sp>
      <p:sp>
        <p:nvSpPr>
          <p:cNvPr id="6" name="TextBox 5"/>
          <p:cNvSpPr txBox="1"/>
          <p:nvPr/>
        </p:nvSpPr>
        <p:spPr>
          <a:xfrm>
            <a:off x="7973567" y="1463801"/>
            <a:ext cx="3456432" cy="457200"/>
          </a:xfrm>
          <a:prstGeom prst="rect">
            <a:avLst/>
          </a:prstGeom>
          <a:noFill/>
        </p:spPr>
        <p:txBody>
          <a:bodyPr wrap="square">
            <a:spAutoFit/>
          </a:bodyPr>
          <a:lstStyle/>
          <a:p>
            <a:r>
              <a:rPr sz="1500" b="1" i="0">
                <a:solidFill>
                  <a:srgbClr val="006E96"/>
                </a:solidFill>
                <a:latin typeface="Arial"/>
              </a:rPr>
              <a:t>What the exchange does</a:t>
            </a:r>
          </a:p>
        </p:txBody>
      </p:sp>
      <p:sp>
        <p:nvSpPr>
          <p:cNvPr id="7" name="Rectangle 6"/>
          <p:cNvSpPr/>
          <p:nvPr/>
        </p:nvSpPr>
        <p:spPr>
          <a:xfrm>
            <a:off x="658368" y="1921001"/>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012441"/>
            <a:ext cx="2999232" cy="641604"/>
          </a:xfrm>
          <a:prstGeom prst="rect">
            <a:avLst/>
          </a:prstGeom>
          <a:noFill/>
        </p:spPr>
        <p:txBody>
          <a:bodyPr wrap="square">
            <a:spAutoFit/>
          </a:bodyPr>
          <a:lstStyle/>
          <a:p>
            <a:r>
              <a:rPr sz="1500" b="1" i="0">
                <a:solidFill>
                  <a:srgbClr val="1A1A1A"/>
                </a:solidFill>
                <a:latin typeface="Arial"/>
              </a:rPr>
              <a:t>1. Sign in</a:t>
            </a:r>
          </a:p>
        </p:txBody>
      </p:sp>
      <p:sp>
        <p:nvSpPr>
          <p:cNvPr id="9" name="TextBox 8"/>
          <p:cNvSpPr txBox="1"/>
          <p:nvPr/>
        </p:nvSpPr>
        <p:spPr>
          <a:xfrm>
            <a:off x="3767328" y="2012441"/>
            <a:ext cx="4096511" cy="641604"/>
          </a:xfrm>
          <a:prstGeom prst="rect">
            <a:avLst/>
          </a:prstGeom>
          <a:noFill/>
        </p:spPr>
        <p:txBody>
          <a:bodyPr wrap="square">
            <a:spAutoFit/>
          </a:bodyPr>
          <a:lstStyle/>
          <a:p>
            <a:r>
              <a:rPr sz="1500" b="0" i="0">
                <a:solidFill>
                  <a:srgbClr val="1A1A1A"/>
                </a:solidFill>
                <a:latin typeface="Arial"/>
              </a:rPr>
              <a:t>The learner's browser goes to PNIA's sign-in</a:t>
            </a:r>
          </a:p>
        </p:txBody>
      </p:sp>
      <p:sp>
        <p:nvSpPr>
          <p:cNvPr id="10" name="TextBox 9"/>
          <p:cNvSpPr txBox="1"/>
          <p:nvPr/>
        </p:nvSpPr>
        <p:spPr>
          <a:xfrm>
            <a:off x="7973567" y="2012441"/>
            <a:ext cx="3456432" cy="641604"/>
          </a:xfrm>
          <a:prstGeom prst="rect">
            <a:avLst/>
          </a:prstGeom>
          <a:noFill/>
        </p:spPr>
        <p:txBody>
          <a:bodyPr wrap="square">
            <a:spAutoFit/>
          </a:bodyPr>
          <a:lstStyle/>
          <a:p>
            <a:r>
              <a:rPr sz="1500" b="0" i="0">
                <a:solidFill>
                  <a:srgbClr val="1A1A1A"/>
                </a:solidFill>
                <a:latin typeface="Arial"/>
              </a:rPr>
              <a:t>Not used</a:t>
            </a:r>
          </a:p>
        </p:txBody>
      </p:sp>
      <p:sp>
        <p:nvSpPr>
          <p:cNvPr id="11" name="Rectangle 10"/>
          <p:cNvSpPr/>
          <p:nvPr/>
        </p:nvSpPr>
        <p:spPr>
          <a:xfrm>
            <a:off x="658368" y="267233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27198"/>
            <a:ext cx="2999232" cy="641604"/>
          </a:xfrm>
          <a:prstGeom prst="rect">
            <a:avLst/>
          </a:prstGeom>
          <a:noFill/>
        </p:spPr>
        <p:txBody>
          <a:bodyPr wrap="square">
            <a:spAutoFit/>
          </a:bodyPr>
          <a:lstStyle/>
          <a:p>
            <a:r>
              <a:rPr sz="1500" b="1" i="0">
                <a:solidFill>
                  <a:srgbClr val="1A1A1A"/>
                </a:solidFill>
                <a:latin typeface="Arial"/>
              </a:rPr>
              <a:t>2. Pre-fill from the released claims</a:t>
            </a:r>
          </a:p>
        </p:txBody>
      </p:sp>
      <p:sp>
        <p:nvSpPr>
          <p:cNvPr id="13" name="TextBox 12"/>
          <p:cNvSpPr txBox="1"/>
          <p:nvPr/>
        </p:nvSpPr>
        <p:spPr>
          <a:xfrm>
            <a:off x="3767328" y="2727198"/>
            <a:ext cx="4096511" cy="641604"/>
          </a:xfrm>
          <a:prstGeom prst="rect">
            <a:avLst/>
          </a:prstGeom>
          <a:noFill/>
        </p:spPr>
        <p:txBody>
          <a:bodyPr wrap="square">
            <a:spAutoFit/>
          </a:bodyPr>
          <a:lstStyle/>
          <a:p>
            <a:r>
              <a:rPr sz="1500" b="0" i="0">
                <a:solidFill>
                  <a:srgbClr val="1A1A1A"/>
                </a:solidFill>
                <a:latin typeface="Arial"/>
              </a:rPr>
              <a:t>Inside the registration service</a:t>
            </a:r>
          </a:p>
        </p:txBody>
      </p:sp>
      <p:sp>
        <p:nvSpPr>
          <p:cNvPr id="14" name="TextBox 13"/>
          <p:cNvSpPr txBox="1"/>
          <p:nvPr/>
        </p:nvSpPr>
        <p:spPr>
          <a:xfrm>
            <a:off x="7973567" y="2727198"/>
            <a:ext cx="3456432" cy="641604"/>
          </a:xfrm>
          <a:prstGeom prst="rect">
            <a:avLst/>
          </a:prstGeom>
          <a:noFill/>
        </p:spPr>
        <p:txBody>
          <a:bodyPr wrap="square">
            <a:spAutoFit/>
          </a:bodyPr>
          <a:lstStyle/>
          <a:p>
            <a:r>
              <a:rPr sz="1500" b="0" i="0">
                <a:solidFill>
                  <a:srgbClr val="1A1A1A"/>
                </a:solidFill>
                <a:latin typeface="Arial"/>
              </a:rPr>
              <a:t>Not used</a:t>
            </a:r>
          </a:p>
        </p:txBody>
      </p:sp>
      <p:sp>
        <p:nvSpPr>
          <p:cNvPr id="15" name="Rectangle 14"/>
          <p:cNvSpPr/>
          <p:nvPr/>
        </p:nvSpPr>
        <p:spPr>
          <a:xfrm>
            <a:off x="658368" y="338709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1954"/>
            <a:ext cx="2999232" cy="393953"/>
          </a:xfrm>
          <a:prstGeom prst="rect">
            <a:avLst/>
          </a:prstGeom>
          <a:noFill/>
        </p:spPr>
        <p:txBody>
          <a:bodyPr wrap="square">
            <a:spAutoFit/>
          </a:bodyPr>
          <a:lstStyle/>
          <a:p>
            <a:r>
              <a:rPr sz="1500" b="1" i="0">
                <a:solidFill>
                  <a:srgbClr val="1A1A1A"/>
                </a:solidFill>
                <a:latin typeface="Arial"/>
              </a:rPr>
              <a:t>3. Submit and check</a:t>
            </a:r>
          </a:p>
        </p:txBody>
      </p:sp>
      <p:sp>
        <p:nvSpPr>
          <p:cNvPr id="17" name="TextBox 16"/>
          <p:cNvSpPr txBox="1"/>
          <p:nvPr/>
        </p:nvSpPr>
        <p:spPr>
          <a:xfrm>
            <a:off x="3767328" y="3441954"/>
            <a:ext cx="4096511" cy="393953"/>
          </a:xfrm>
          <a:prstGeom prst="rect">
            <a:avLst/>
          </a:prstGeom>
          <a:noFill/>
        </p:spPr>
        <p:txBody>
          <a:bodyPr wrap="square">
            <a:spAutoFit/>
          </a:bodyPr>
          <a:lstStyle/>
          <a:p>
            <a:r>
              <a:rPr sz="1500" b="0" i="0">
                <a:solidFill>
                  <a:srgbClr val="1A1A1A"/>
                </a:solidFill>
                <a:latin typeface="Arial"/>
              </a:rPr>
              <a:t>Inside the registration service</a:t>
            </a:r>
          </a:p>
        </p:txBody>
      </p:sp>
      <p:sp>
        <p:nvSpPr>
          <p:cNvPr id="18" name="TextBox 17"/>
          <p:cNvSpPr txBox="1"/>
          <p:nvPr/>
        </p:nvSpPr>
        <p:spPr>
          <a:xfrm>
            <a:off x="7973567" y="3441954"/>
            <a:ext cx="3456432" cy="393953"/>
          </a:xfrm>
          <a:prstGeom prst="rect">
            <a:avLst/>
          </a:prstGeom>
          <a:noFill/>
        </p:spPr>
        <p:txBody>
          <a:bodyPr wrap="square">
            <a:spAutoFit/>
          </a:bodyPr>
          <a:lstStyle/>
          <a:p>
            <a:r>
              <a:rPr sz="1500" b="0" i="0">
                <a:solidFill>
                  <a:srgbClr val="1A1A1A"/>
                </a:solidFill>
                <a:latin typeface="Arial"/>
              </a:rPr>
              <a:t>Not used</a:t>
            </a:r>
          </a:p>
        </p:txBody>
      </p:sp>
      <p:sp>
        <p:nvSpPr>
          <p:cNvPr id="19" name="Rectangle 18"/>
          <p:cNvSpPr/>
          <p:nvPr/>
        </p:nvSpPr>
        <p:spPr>
          <a:xfrm>
            <a:off x="658368" y="38541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909059"/>
            <a:ext cx="2999232" cy="393953"/>
          </a:xfrm>
          <a:prstGeom prst="rect">
            <a:avLst/>
          </a:prstGeom>
          <a:noFill/>
        </p:spPr>
        <p:txBody>
          <a:bodyPr wrap="square">
            <a:spAutoFit/>
          </a:bodyPr>
          <a:lstStyle/>
          <a:p>
            <a:r>
              <a:rPr sz="1500" b="1" i="0">
                <a:solidFill>
                  <a:srgbClr val="1A1A1A"/>
                </a:solidFill>
                <a:latin typeface="Arial"/>
              </a:rPr>
              <a:t>4. Registrar approves</a:t>
            </a:r>
          </a:p>
        </p:txBody>
      </p:sp>
      <p:sp>
        <p:nvSpPr>
          <p:cNvPr id="21" name="TextBox 20"/>
          <p:cNvSpPr txBox="1"/>
          <p:nvPr/>
        </p:nvSpPr>
        <p:spPr>
          <a:xfrm>
            <a:off x="3767328" y="3909059"/>
            <a:ext cx="4096511" cy="393953"/>
          </a:xfrm>
          <a:prstGeom prst="rect">
            <a:avLst/>
          </a:prstGeom>
          <a:noFill/>
        </p:spPr>
        <p:txBody>
          <a:bodyPr wrap="square">
            <a:spAutoFit/>
          </a:bodyPr>
          <a:lstStyle/>
          <a:p>
            <a:r>
              <a:rPr sz="1500" b="0" i="0">
                <a:solidFill>
                  <a:srgbClr val="1A1A1A"/>
                </a:solidFill>
                <a:latin typeface="Arial"/>
              </a:rPr>
              <a:t>Inside the registration service</a:t>
            </a:r>
          </a:p>
        </p:txBody>
      </p:sp>
      <p:sp>
        <p:nvSpPr>
          <p:cNvPr id="22" name="TextBox 21"/>
          <p:cNvSpPr txBox="1"/>
          <p:nvPr/>
        </p:nvSpPr>
        <p:spPr>
          <a:xfrm>
            <a:off x="7973567" y="3909059"/>
            <a:ext cx="3456432" cy="393953"/>
          </a:xfrm>
          <a:prstGeom prst="rect">
            <a:avLst/>
          </a:prstGeom>
          <a:noFill/>
        </p:spPr>
        <p:txBody>
          <a:bodyPr wrap="square">
            <a:spAutoFit/>
          </a:bodyPr>
          <a:lstStyle/>
          <a:p>
            <a:r>
              <a:rPr sz="1500" b="0" i="0">
                <a:solidFill>
                  <a:srgbClr val="1A1A1A"/>
                </a:solidFill>
                <a:latin typeface="Arial"/>
              </a:rPr>
              <a:t>Not used</a:t>
            </a:r>
          </a:p>
        </p:txBody>
      </p:sp>
      <p:sp>
        <p:nvSpPr>
          <p:cNvPr id="23" name="Rectangle 22"/>
          <p:cNvSpPr/>
          <p:nvPr/>
        </p:nvSpPr>
        <p:spPr>
          <a:xfrm>
            <a:off x="658368" y="432130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376165"/>
            <a:ext cx="2999232" cy="641604"/>
          </a:xfrm>
          <a:prstGeom prst="rect">
            <a:avLst/>
          </a:prstGeom>
          <a:noFill/>
        </p:spPr>
        <p:txBody>
          <a:bodyPr wrap="square">
            <a:spAutoFit/>
          </a:bodyPr>
          <a:lstStyle/>
          <a:p>
            <a:r>
              <a:rPr sz="1500" b="1" i="0">
                <a:solidFill>
                  <a:srgbClr val="1A1A1A"/>
                </a:solidFill>
                <a:latin typeface="Arial"/>
              </a:rPr>
              <a:t>5. Write the record</a:t>
            </a:r>
          </a:p>
        </p:txBody>
      </p:sp>
      <p:sp>
        <p:nvSpPr>
          <p:cNvPr id="25" name="TextBox 24"/>
          <p:cNvSpPr txBox="1"/>
          <p:nvPr/>
        </p:nvSpPr>
        <p:spPr>
          <a:xfrm>
            <a:off x="3767328" y="4376165"/>
            <a:ext cx="4096511" cy="641604"/>
          </a:xfrm>
          <a:prstGeom prst="rect">
            <a:avLst/>
          </a:prstGeom>
          <a:noFill/>
        </p:spPr>
        <p:txBody>
          <a:bodyPr wrap="square">
            <a:spAutoFit/>
          </a:bodyPr>
          <a:lstStyle/>
          <a:p>
            <a:r>
              <a:rPr sz="1500" b="0" i="0">
                <a:solidFill>
                  <a:srgbClr val="1A1A1A"/>
                </a:solidFill>
                <a:latin typeface="Arial"/>
              </a:rPr>
              <a:t>Registration service calls PLR's write service</a:t>
            </a:r>
          </a:p>
        </p:txBody>
      </p:sp>
      <p:sp>
        <p:nvSpPr>
          <p:cNvPr id="26" name="TextBox 25"/>
          <p:cNvSpPr txBox="1"/>
          <p:nvPr/>
        </p:nvSpPr>
        <p:spPr>
          <a:xfrm>
            <a:off x="7973567" y="4376165"/>
            <a:ext cx="3456432" cy="641604"/>
          </a:xfrm>
          <a:prstGeom prst="rect">
            <a:avLst/>
          </a:prstGeom>
          <a:noFill/>
        </p:spPr>
        <p:txBody>
          <a:bodyPr wrap="square">
            <a:spAutoFit/>
          </a:bodyPr>
          <a:lstStyle/>
          <a:p>
            <a:r>
              <a:rPr sz="1500" b="0" i="0">
                <a:solidFill>
                  <a:srgbClr val="1A1A1A"/>
                </a:solidFill>
                <a:latin typeface="Arial"/>
              </a:rPr>
              <a:t>Carries, checks the grant, signs and logs</a:t>
            </a:r>
          </a:p>
        </p:txBody>
      </p:sp>
      <p:sp>
        <p:nvSpPr>
          <p:cNvPr id="27" name="Rectangle 26"/>
          <p:cNvSpPr/>
          <p:nvPr/>
        </p:nvSpPr>
        <p:spPr>
          <a:xfrm>
            <a:off x="658368" y="503605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090921"/>
            <a:ext cx="2999232" cy="641604"/>
          </a:xfrm>
          <a:prstGeom prst="rect">
            <a:avLst/>
          </a:prstGeom>
          <a:noFill/>
        </p:spPr>
        <p:txBody>
          <a:bodyPr wrap="square">
            <a:spAutoFit/>
          </a:bodyPr>
          <a:lstStyle/>
          <a:p>
            <a:r>
              <a:rPr sz="1500" b="1" i="0">
                <a:solidFill>
                  <a:srgbClr val="1A1A1A"/>
                </a:solidFill>
                <a:latin typeface="Arial"/>
              </a:rPr>
              <a:t>6. Confirm the record exists</a:t>
            </a:r>
          </a:p>
        </p:txBody>
      </p:sp>
      <p:sp>
        <p:nvSpPr>
          <p:cNvPr id="29" name="TextBox 28"/>
          <p:cNvSpPr txBox="1"/>
          <p:nvPr/>
        </p:nvSpPr>
        <p:spPr>
          <a:xfrm>
            <a:off x="3767328" y="5090921"/>
            <a:ext cx="4096511" cy="641604"/>
          </a:xfrm>
          <a:prstGeom prst="rect">
            <a:avLst/>
          </a:prstGeom>
          <a:noFill/>
        </p:spPr>
        <p:txBody>
          <a:bodyPr wrap="square">
            <a:spAutoFit/>
          </a:bodyPr>
          <a:lstStyle/>
          <a:p>
            <a:r>
              <a:rPr sz="1500" b="0" i="0">
                <a:solidFill>
                  <a:srgbClr val="1A1A1A"/>
                </a:solidFill>
                <a:latin typeface="Arial"/>
              </a:rPr>
              <a:t>Registration service calls PLR</a:t>
            </a:r>
          </a:p>
        </p:txBody>
      </p:sp>
      <p:sp>
        <p:nvSpPr>
          <p:cNvPr id="30" name="TextBox 29"/>
          <p:cNvSpPr txBox="1"/>
          <p:nvPr/>
        </p:nvSpPr>
        <p:spPr>
          <a:xfrm>
            <a:off x="7973567" y="5090921"/>
            <a:ext cx="3456432" cy="641604"/>
          </a:xfrm>
          <a:prstGeom prst="rect">
            <a:avLst/>
          </a:prstGeom>
          <a:noFill/>
        </p:spPr>
        <p:txBody>
          <a:bodyPr wrap="square">
            <a:spAutoFit/>
          </a:bodyPr>
          <a:lstStyle/>
          <a:p>
            <a:r>
              <a:rPr sz="1500" b="0" i="0">
                <a:solidFill>
                  <a:srgbClr val="1A1A1A"/>
                </a:solidFill>
                <a:latin typeface="Arial"/>
              </a:rPr>
              <a:t>Carries, checks the grant, signs and logs</a:t>
            </a:r>
          </a:p>
        </p:txBody>
      </p:sp>
      <p:sp>
        <p:nvSpPr>
          <p:cNvPr id="31" name="TextBox 3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The data exchange layer carries each call and enforces who may make it, but the registration service puts the steps in order, so know which block holds the sequence before you approve an integration plan.</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sequence of a service as a list of calls.</a:t>
            </a:r>
          </a:p>
          <a:p>
            <a:pPr algn="l">
              <a:spcAft>
                <a:spcPts val="400"/>
              </a:spcAft>
            </a:pPr>
            <a:r>
              <a:rPr sz="1800" b="0" i="0">
                <a:solidFill>
                  <a:srgbClr val="595959"/>
                </a:solidFill>
                <a:latin typeface="Arial"/>
              </a:rPr>
              <a:t>The prompt in the companion material gives you a numbered list of calls, each with its caller, its contract and its operation.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Information Mediator 1.1.1, section 4 (out-of-scope requirements) and sections 6.2, 6.3 and 8.1</a:t>
            </a:r>
          </a:p>
          <a:p>
            <a:pPr>
              <a:spcAft>
                <a:spcPts val="1000"/>
              </a:spcAft>
            </a:pPr>
            <a:r>
              <a:rPr sz="1800" b="0" i="0">
                <a:solidFill>
                  <a:srgbClr val="1A1A1A"/>
                </a:solidFill>
                <a:latin typeface="Arial"/>
              </a:rPr>
              <a:t>•  GovStack Registration, section 6.3.2.7</a:t>
            </a:r>
          </a:p>
          <a:p>
            <a:pPr>
              <a:spcAft>
                <a:spcPts val="1000"/>
              </a:spcAft>
            </a:pPr>
            <a:r>
              <a:rPr sz="1800" b="0" i="0">
                <a:solidFill>
                  <a:srgbClr val="1A1A1A"/>
                </a:solidFill>
                <a:latin typeface="Arial"/>
              </a:rPr>
              <a:t>•  GovStack Digital Registries 3.0-alpha, section 10.5.5</a:t>
            </a:r>
          </a:p>
          <a:p>
            <a:pPr>
              <a:spcAft>
                <a:spcPts val="1000"/>
              </a:spcAft>
            </a:pPr>
            <a:r>
              <a:rPr sz="1800" b="0" i="0">
                <a:solidFill>
                  <a:srgbClr val="1A1A1A"/>
                </a:solidFill>
                <a:latin typeface="Arial"/>
              </a:rPr>
              <a:t>•  GovStack Architecture 2.1.0, section 4.3</a:t>
            </a:r>
          </a:p>
          <a:p>
            <a:pPr>
              <a:spcAft>
                <a:spcPts val="1000"/>
              </a:spcAft>
            </a:pPr>
            <a:r>
              <a:rPr sz="1800" b="0" i="0">
                <a:solidFill>
                  <a:srgbClr val="1A1A1A"/>
                </a:solidFill>
                <a:latin typeface="Arial"/>
              </a:rPr>
              <a:t>•  NIIS X-Road 7.7.0, Architecture (ARC-G) section 1.2</a:t>
            </a:r>
          </a:p>
          <a:p>
            <a:pPr>
              <a:spcAft>
                <a:spcPts val="1000"/>
              </a:spcAft>
            </a:pPr>
            <a:r>
              <a:rPr sz="1800" b="0" i="0">
                <a:solidFill>
                  <a:srgbClr val="1A1A1A"/>
                </a:solidFill>
                <a:latin typeface="Arial"/>
              </a:rPr>
              <a:t>•  OpenAPI Specification 3.0.3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Who puts the steps in order: contracts, and the block that calls them</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