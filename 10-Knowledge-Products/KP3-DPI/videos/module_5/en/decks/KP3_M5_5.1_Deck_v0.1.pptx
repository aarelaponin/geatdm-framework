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minister is told that the new registration service will reuse identity and the learner register. Your job is to check whether those calls can happen at all. Across ministries, three things must be in place first, and each one has an owner.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is membership. An organisation asks to join the data exchange layer, and the operator checks and accepts it. The second is a registered service. The provider publishes each service with its contract, an OpenAPI description, so that callers know exactly what it offers. The third is a grant. The provider decides who may call. The Information Mediator specification asks for all three. X-Road, the software behind Progressa's exchange, works the same way: a new service starts switched off, and the owner of the data controls who can use it.</a:t>
            </a:r>
          </a:p>
          <a:p/>
          <a:p>
            <a:r>
              <a:t>Production cue: The core payload. The order matters and is kept on screen.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choice comes before the three. The specification strongly recommends the data exchange layer for any exchange across the internet. It does not require it between blocks that sit together on one platform. So sending every call through the exchange is a choice the specification allows, not a rule it imposes. Progressa makes that choice because its blocks belong to different authorities, and each authority must control who reads its data.</a:t>
            </a:r>
          </a:p>
          <a:p/>
          <a:p>
            <a:r>
              <a:t>Production cue: States the choice the specification leaves open. Text-only.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already has an exchange, called Linkup. The digital government authority, PDGA, owns and operates it. The examination authority, PNEA, is the caller. The learner registry, PLR, publishes one enrolment service, and only PNEA may call it. The identity authority, PNIA, publishes one service, a read of a person by national number. That is a contract of Progressa's own, and only PNEA may call it. The ministry of education, MoEYS, is not a member.</a:t>
            </a:r>
          </a:p>
          <a:p/>
          <a:p>
            <a:r>
              <a:t>Production cue: Progressa's names as the outline gives them. No logos,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course adds four things. The registration service gets a member of its own, with its application registered. The learner register gets a write service, registered with its contract, because PLR's one service today is a read. Grants let the registration service call that write service, and PNIA's service too if the build uses it. And the Payments block joins as a member, publishing its own interface. PayPro stays behind the block's payer bank, as one of the payment systems in the market.</a:t>
            </a:r>
          </a:p>
          <a:p/>
          <a:p>
            <a:r>
              <a:t>Production cue: The configuration codes may appear in small type at the end of each 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The check is easy to read. The list of members shows the registration service. The list of services shows the register's write service and its contract. Then a member without a grant makes the same call, and the exchange refuses it with an access-denied fault. Being on the exchange is not permission.</a:t>
            </a:r>
          </a:p>
          <a:p/>
          <a:p>
            <a:r>
              <a:t>Production cue: Replaced by the recording of the 5.1 walkthrough when X1, X2, X3 and X7 are built and the federation runs again. Until then, nothing on this slide claims a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Before any plan says that two blocks will talk, check three things: membership, a registered contract, and a grant from the owner. If one is missing, the call fails.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must be in place before the blocks can call each other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Before one block can call another across ministries, each must be a member of the data exchange layer, each service registered with its contract, and access granted to the caller.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minister is told that the new registration service will reuse identity and the learner register.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job is to check whether those calls can happen at all.</a:t>
            </a:r>
          </a:p>
          <a:p>
            <a:pPr>
              <a:spcAft>
                <a:spcPts val="800"/>
              </a:spcAft>
            </a:pPr>
            <a:r>
              <a:rPr sz="1700" b="0" i="0">
                <a:solidFill>
                  <a:srgbClr val="595959"/>
                </a:solidFill>
                <a:latin typeface="Arial"/>
              </a:rPr>
              <a:t>Across ministries, three things must be in place first, and each one has an owner.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in this order</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1. A member</a:t>
            </a:r>
          </a:p>
          <a:p>
            <a:pPr>
              <a:spcAft>
                <a:spcPts val="300"/>
              </a:spcAft>
            </a:pPr>
            <a:r>
              <a:rPr sz="1800" b="0" i="0">
                <a:solidFill>
                  <a:srgbClr val="595959"/>
                </a:solidFill>
                <a:latin typeface="Arial"/>
              </a:rPr>
              <a:t>The organisation is admitted to the data exchange layer.</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2. A registered service</a:t>
            </a:r>
          </a:p>
          <a:p>
            <a:pPr>
              <a:spcAft>
                <a:spcPts val="300"/>
              </a:spcAft>
            </a:pPr>
            <a:r>
              <a:rPr sz="1800" b="0" i="0">
                <a:solidFill>
                  <a:srgbClr val="595959"/>
                </a:solidFill>
                <a:latin typeface="Arial"/>
              </a:rPr>
              <a:t>Its contract, an OpenAPI description, is published.</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3. A grant</a:t>
            </a:r>
          </a:p>
          <a:p>
            <a:pPr>
              <a:spcAft>
                <a:spcPts val="300"/>
              </a:spcAft>
            </a:pPr>
            <a:r>
              <a:rPr sz="1800" b="0" i="0">
                <a:solidFill>
                  <a:srgbClr val="595959"/>
                </a:solidFill>
                <a:latin typeface="Arial"/>
              </a:rPr>
              <a:t>The owner of the service allows this caller.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Is the exchange required at all?</a:t>
            </a:r>
          </a:p>
        </p:txBody>
      </p:sp>
      <p:sp>
        <p:nvSpPr>
          <p:cNvPr id="4" name="TextBox 3"/>
          <p:cNvSpPr txBox="1"/>
          <p:nvPr/>
        </p:nvSpPr>
        <p:spPr>
          <a:xfrm>
            <a:off x="658368" y="2308860"/>
            <a:ext cx="10984687" cy="1234439"/>
          </a:xfrm>
          <a:prstGeom prst="rect">
            <a:avLst/>
          </a:prstGeom>
          <a:noFill/>
        </p:spPr>
        <p:txBody>
          <a:bodyPr wrap="square">
            <a:spAutoFit/>
          </a:bodyPr>
          <a:lstStyle/>
          <a:p>
            <a:pPr>
              <a:spcAft>
                <a:spcPts val="300"/>
              </a:spcAft>
            </a:pPr>
            <a:r>
              <a:rPr sz="2400" b="1" i="0">
                <a:solidFill>
                  <a:srgbClr val="1A1A1A"/>
                </a:solidFill>
                <a:latin typeface="Arial"/>
              </a:rPr>
              <a:t>Strongly recommended for any exchange across the internet.</a:t>
            </a:r>
          </a:p>
        </p:txBody>
      </p:sp>
      <p:sp>
        <p:nvSpPr>
          <p:cNvPr id="5" name="Rectangle 4"/>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589020"/>
            <a:ext cx="10984687" cy="1234439"/>
          </a:xfrm>
          <a:prstGeom prst="rect">
            <a:avLst/>
          </a:prstGeom>
          <a:noFill/>
        </p:spPr>
        <p:txBody>
          <a:bodyPr wrap="square">
            <a:spAutoFit/>
          </a:bodyPr>
          <a:lstStyle/>
          <a:p>
            <a:pPr>
              <a:spcAft>
                <a:spcPts val="300"/>
              </a:spcAft>
            </a:pPr>
            <a:r>
              <a:rPr sz="2400" b="1" i="0">
                <a:solidFill>
                  <a:srgbClr val="1A1A1A"/>
                </a:solidFill>
                <a:latin typeface="Arial"/>
              </a:rPr>
              <a:t>Not required between blocks that sit together on one platform.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members today</a:t>
            </a:r>
          </a:p>
        </p:txBody>
      </p:sp>
      <p:sp>
        <p:nvSpPr>
          <p:cNvPr id="4" name="TextBox 3"/>
          <p:cNvSpPr txBox="1"/>
          <p:nvPr/>
        </p:nvSpPr>
        <p:spPr>
          <a:xfrm>
            <a:off x="658368" y="2055367"/>
            <a:ext cx="4096511" cy="457200"/>
          </a:xfrm>
          <a:prstGeom prst="rect">
            <a:avLst/>
          </a:prstGeom>
          <a:noFill/>
        </p:spPr>
        <p:txBody>
          <a:bodyPr wrap="square">
            <a:spAutoFit/>
          </a:bodyPr>
          <a:lstStyle/>
          <a:p>
            <a:r>
              <a:rPr sz="1600" b="1" i="0">
                <a:solidFill>
                  <a:srgbClr val="006E96"/>
                </a:solidFill>
                <a:latin typeface="Arial"/>
              </a:rPr>
              <a:t>Member</a:t>
            </a:r>
          </a:p>
        </p:txBody>
      </p:sp>
      <p:sp>
        <p:nvSpPr>
          <p:cNvPr id="5" name="TextBox 4"/>
          <p:cNvSpPr txBox="1"/>
          <p:nvPr/>
        </p:nvSpPr>
        <p:spPr>
          <a:xfrm>
            <a:off x="4864607" y="2055367"/>
            <a:ext cx="6565392" cy="457200"/>
          </a:xfrm>
          <a:prstGeom prst="rect">
            <a:avLst/>
          </a:prstGeom>
          <a:noFill/>
        </p:spPr>
        <p:txBody>
          <a:bodyPr wrap="square">
            <a:spAutoFit/>
          </a:bodyPr>
          <a:lstStyle/>
          <a:p>
            <a:r>
              <a:rPr sz="1600" b="1" i="0">
                <a:solidFill>
                  <a:srgbClr val="006E96"/>
                </a:solidFill>
                <a:latin typeface="Arial"/>
              </a:rPr>
              <a:t>Role on the exchange</a:t>
            </a:r>
          </a:p>
        </p:txBody>
      </p:sp>
      <p:sp>
        <p:nvSpPr>
          <p:cNvPr id="6" name="Rectangle 5"/>
          <p:cNvSpPr/>
          <p:nvPr/>
        </p:nvSpPr>
        <p:spPr>
          <a:xfrm>
            <a:off x="658368" y="2512567"/>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604007"/>
            <a:ext cx="4096511" cy="410464"/>
          </a:xfrm>
          <a:prstGeom prst="rect">
            <a:avLst/>
          </a:prstGeom>
          <a:noFill/>
        </p:spPr>
        <p:txBody>
          <a:bodyPr wrap="square">
            <a:spAutoFit/>
          </a:bodyPr>
          <a:lstStyle/>
          <a:p>
            <a:r>
              <a:rPr sz="1600" b="1" i="0">
                <a:solidFill>
                  <a:srgbClr val="1A1A1A"/>
                </a:solidFill>
                <a:latin typeface="Arial"/>
              </a:rPr>
              <a:t>PDGA</a:t>
            </a:r>
          </a:p>
        </p:txBody>
      </p:sp>
      <p:sp>
        <p:nvSpPr>
          <p:cNvPr id="8" name="TextBox 7"/>
          <p:cNvSpPr txBox="1"/>
          <p:nvPr/>
        </p:nvSpPr>
        <p:spPr>
          <a:xfrm>
            <a:off x="4864607" y="2604007"/>
            <a:ext cx="6565392" cy="410464"/>
          </a:xfrm>
          <a:prstGeom prst="rect">
            <a:avLst/>
          </a:prstGeom>
          <a:noFill/>
        </p:spPr>
        <p:txBody>
          <a:bodyPr wrap="square">
            <a:spAutoFit/>
          </a:bodyPr>
          <a:lstStyle/>
          <a:p>
            <a:r>
              <a:rPr sz="1600" b="0" i="0">
                <a:solidFill>
                  <a:srgbClr val="1A1A1A"/>
                </a:solidFill>
                <a:latin typeface="Arial"/>
              </a:rPr>
              <a:t>Owns and operates the exchange</a:t>
            </a:r>
          </a:p>
        </p:txBody>
      </p:sp>
      <p:sp>
        <p:nvSpPr>
          <p:cNvPr id="9" name="Rectangle 8"/>
          <p:cNvSpPr/>
          <p:nvPr/>
        </p:nvSpPr>
        <p:spPr>
          <a:xfrm>
            <a:off x="658368" y="30327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087624"/>
            <a:ext cx="4096511" cy="410464"/>
          </a:xfrm>
          <a:prstGeom prst="rect">
            <a:avLst/>
          </a:prstGeom>
          <a:noFill/>
        </p:spPr>
        <p:txBody>
          <a:bodyPr wrap="square">
            <a:spAutoFit/>
          </a:bodyPr>
          <a:lstStyle/>
          <a:p>
            <a:r>
              <a:rPr sz="1600" b="1" i="0">
                <a:solidFill>
                  <a:srgbClr val="1A1A1A"/>
                </a:solidFill>
                <a:latin typeface="Arial"/>
              </a:rPr>
              <a:t>PNEA, the examination authority</a:t>
            </a:r>
          </a:p>
        </p:txBody>
      </p:sp>
      <p:sp>
        <p:nvSpPr>
          <p:cNvPr id="11" name="TextBox 10"/>
          <p:cNvSpPr txBox="1"/>
          <p:nvPr/>
        </p:nvSpPr>
        <p:spPr>
          <a:xfrm>
            <a:off x="4864607" y="3087624"/>
            <a:ext cx="6565392" cy="410464"/>
          </a:xfrm>
          <a:prstGeom prst="rect">
            <a:avLst/>
          </a:prstGeom>
          <a:noFill/>
        </p:spPr>
        <p:txBody>
          <a:bodyPr wrap="square">
            <a:spAutoFit/>
          </a:bodyPr>
          <a:lstStyle/>
          <a:p>
            <a:r>
              <a:rPr sz="1600" b="0" i="0">
                <a:solidFill>
                  <a:srgbClr val="1A1A1A"/>
                </a:solidFill>
                <a:latin typeface="Arial"/>
              </a:rPr>
              <a:t>The caller</a:t>
            </a:r>
          </a:p>
        </p:txBody>
      </p:sp>
      <p:sp>
        <p:nvSpPr>
          <p:cNvPr id="12" name="Rectangle 11"/>
          <p:cNvSpPr/>
          <p:nvPr/>
        </p:nvSpPr>
        <p:spPr>
          <a:xfrm>
            <a:off x="658368" y="35163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571240"/>
            <a:ext cx="4096511" cy="410464"/>
          </a:xfrm>
          <a:prstGeom prst="rect">
            <a:avLst/>
          </a:prstGeom>
          <a:noFill/>
        </p:spPr>
        <p:txBody>
          <a:bodyPr wrap="square">
            <a:spAutoFit/>
          </a:bodyPr>
          <a:lstStyle/>
          <a:p>
            <a:r>
              <a:rPr sz="1600" b="1" i="0">
                <a:solidFill>
                  <a:srgbClr val="1A1A1A"/>
                </a:solidFill>
                <a:latin typeface="Arial"/>
              </a:rPr>
              <a:t>PLR, the learner registry</a:t>
            </a:r>
          </a:p>
        </p:txBody>
      </p:sp>
      <p:sp>
        <p:nvSpPr>
          <p:cNvPr id="14" name="TextBox 13"/>
          <p:cNvSpPr txBox="1"/>
          <p:nvPr/>
        </p:nvSpPr>
        <p:spPr>
          <a:xfrm>
            <a:off x="4864607" y="3571240"/>
            <a:ext cx="6565392" cy="410464"/>
          </a:xfrm>
          <a:prstGeom prst="rect">
            <a:avLst/>
          </a:prstGeom>
          <a:noFill/>
        </p:spPr>
        <p:txBody>
          <a:bodyPr wrap="square">
            <a:spAutoFit/>
          </a:bodyPr>
          <a:lstStyle/>
          <a:p>
            <a:r>
              <a:rPr sz="1600" b="0" i="0">
                <a:solidFill>
                  <a:srgbClr val="1A1A1A"/>
                </a:solidFill>
                <a:latin typeface="Arial"/>
              </a:rPr>
              <a:t>One enrolment service; only PNEA may call it</a:t>
            </a:r>
          </a:p>
        </p:txBody>
      </p:sp>
      <p:sp>
        <p:nvSpPr>
          <p:cNvPr id="15" name="Rectangle 14"/>
          <p:cNvSpPr/>
          <p:nvPr/>
        </p:nvSpPr>
        <p:spPr>
          <a:xfrm>
            <a:off x="658368" y="39999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054855"/>
            <a:ext cx="4096511" cy="674624"/>
          </a:xfrm>
          <a:prstGeom prst="rect">
            <a:avLst/>
          </a:prstGeom>
          <a:noFill/>
        </p:spPr>
        <p:txBody>
          <a:bodyPr wrap="square">
            <a:spAutoFit/>
          </a:bodyPr>
          <a:lstStyle/>
          <a:p>
            <a:r>
              <a:rPr sz="1600" b="1" i="0">
                <a:solidFill>
                  <a:srgbClr val="1A1A1A"/>
                </a:solidFill>
                <a:latin typeface="Arial"/>
              </a:rPr>
              <a:t>PNIA, the identity authority</a:t>
            </a:r>
          </a:p>
        </p:txBody>
      </p:sp>
      <p:sp>
        <p:nvSpPr>
          <p:cNvPr id="17" name="TextBox 16"/>
          <p:cNvSpPr txBox="1"/>
          <p:nvPr/>
        </p:nvSpPr>
        <p:spPr>
          <a:xfrm>
            <a:off x="4864607" y="4054855"/>
            <a:ext cx="6565392" cy="674624"/>
          </a:xfrm>
          <a:prstGeom prst="rect">
            <a:avLst/>
          </a:prstGeom>
          <a:noFill/>
        </p:spPr>
        <p:txBody>
          <a:bodyPr wrap="square">
            <a:spAutoFit/>
          </a:bodyPr>
          <a:lstStyle/>
          <a:p>
            <a:r>
              <a:rPr sz="1600" b="0" i="0">
                <a:solidFill>
                  <a:srgbClr val="1A1A1A"/>
                </a:solidFill>
                <a:latin typeface="Arial"/>
              </a:rPr>
              <a:t>One service, a read of a person by national number; only PNEA may call it</a:t>
            </a:r>
          </a:p>
        </p:txBody>
      </p:sp>
      <p:sp>
        <p:nvSpPr>
          <p:cNvPr id="18" name="TextBox 17"/>
          <p:cNvSpPr txBox="1"/>
          <p:nvPr/>
        </p:nvSpPr>
        <p:spPr>
          <a:xfrm>
            <a:off x="658368" y="4857495"/>
            <a:ext cx="10881360" cy="365760"/>
          </a:xfrm>
          <a:prstGeom prst="rect">
            <a:avLst/>
          </a:prstGeom>
          <a:noFill/>
        </p:spPr>
        <p:txBody>
          <a:bodyPr wrap="square">
            <a:spAutoFit/>
          </a:bodyPr>
          <a:lstStyle/>
          <a:p>
            <a:r>
              <a:rPr sz="1300" b="0" i="1">
                <a:solidFill>
                  <a:srgbClr val="595959"/>
                </a:solidFill>
                <a:latin typeface="Arial"/>
              </a:rPr>
              <a:t>Not a member: MoEYS, the ministry of education.</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this course adds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 member for the registration service, with its application registered.</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A write service on the learner register, registered with its contract.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Grants</a:t>
            </a:r>
          </a:p>
          <a:p>
            <a:pPr>
              <a:spcAft>
                <a:spcPts val="300"/>
              </a:spcAft>
            </a:pPr>
            <a:r>
              <a:rPr sz="1700" b="0" i="0">
                <a:solidFill>
                  <a:srgbClr val="595959"/>
                </a:solidFill>
                <a:latin typeface="Arial"/>
              </a:rPr>
              <a:t>The registration service may call the write service.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 Payments block as a member, publishing its own interface.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call without a grant is refused</a:t>
            </a:r>
          </a:p>
        </p:txBody>
      </p:sp>
      <p:sp>
        <p:nvSpPr>
          <p:cNvPr id="4" name="Oval 3"/>
          <p:cNvSpPr/>
          <p:nvPr/>
        </p:nvSpPr>
        <p:spPr>
          <a:xfrm>
            <a:off x="621792" y="15270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978408"/>
          </a:xfrm>
          <a:prstGeom prst="rect">
            <a:avLst/>
          </a:prstGeom>
          <a:noFill/>
        </p:spPr>
        <p:txBody>
          <a:bodyPr wrap="square">
            <a:spAutoFit/>
          </a:bodyPr>
          <a:lstStyle/>
          <a:p>
            <a:pPr>
              <a:spcAft>
                <a:spcPts val="300"/>
              </a:spcAft>
            </a:pPr>
            <a:r>
              <a:rPr sz="2000" b="1" i="0">
                <a:solidFill>
                  <a:srgbClr val="1A1A1A"/>
                </a:solidFill>
                <a:latin typeface="Arial"/>
              </a:rPr>
              <a:t>Listed: the registration service</a:t>
            </a:r>
          </a:p>
        </p:txBody>
      </p:sp>
      <p:sp>
        <p:nvSpPr>
          <p:cNvPr id="6" name="Rectangle 5"/>
          <p:cNvSpPr/>
          <p:nvPr/>
        </p:nvSpPr>
        <p:spPr>
          <a:xfrm>
            <a:off x="621792" y="24460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5117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87168"/>
            <a:ext cx="10527487" cy="978408"/>
          </a:xfrm>
          <a:prstGeom prst="rect">
            <a:avLst/>
          </a:prstGeom>
          <a:noFill/>
        </p:spPr>
        <p:txBody>
          <a:bodyPr wrap="square">
            <a:spAutoFit/>
          </a:bodyPr>
          <a:lstStyle/>
          <a:p>
            <a:pPr>
              <a:spcAft>
                <a:spcPts val="300"/>
              </a:spcAft>
            </a:pPr>
            <a:r>
              <a:rPr sz="2000" b="1" i="0">
                <a:solidFill>
                  <a:srgbClr val="1A1A1A"/>
                </a:solidFill>
                <a:latin typeface="Arial"/>
              </a:rPr>
              <a:t>Listed: the write service and its contract</a:t>
            </a:r>
          </a:p>
        </p:txBody>
      </p:sp>
      <p:sp>
        <p:nvSpPr>
          <p:cNvPr id="9" name="Rectangle 8"/>
          <p:cNvSpPr/>
          <p:nvPr/>
        </p:nvSpPr>
        <p:spPr>
          <a:xfrm>
            <a:off x="621792" y="34701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57530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11296"/>
            <a:ext cx="10527487" cy="978408"/>
          </a:xfrm>
          <a:prstGeom prst="rect">
            <a:avLst/>
          </a:prstGeom>
          <a:noFill/>
        </p:spPr>
        <p:txBody>
          <a:bodyPr wrap="square">
            <a:spAutoFit/>
          </a:bodyPr>
          <a:lstStyle/>
          <a:p>
            <a:pPr>
              <a:spcAft>
                <a:spcPts val="300"/>
              </a:spcAft>
            </a:pPr>
            <a:r>
              <a:rPr sz="2000" b="1" i="0">
                <a:solidFill>
                  <a:srgbClr val="1A1A1A"/>
                </a:solidFill>
                <a:latin typeface="Arial"/>
              </a:rPr>
              <a:t>With a grant: answered</a:t>
            </a:r>
          </a:p>
        </p:txBody>
      </p:sp>
      <p:sp>
        <p:nvSpPr>
          <p:cNvPr id="12" name="Rectangle 11"/>
          <p:cNvSpPr/>
          <p:nvPr/>
        </p:nvSpPr>
        <p:spPr>
          <a:xfrm>
            <a:off x="621792" y="4494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59943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535424"/>
            <a:ext cx="10527487" cy="978408"/>
          </a:xfrm>
          <a:prstGeom prst="rect">
            <a:avLst/>
          </a:prstGeom>
          <a:noFill/>
        </p:spPr>
        <p:txBody>
          <a:bodyPr wrap="square">
            <a:spAutoFit/>
          </a:bodyPr>
          <a:lstStyle/>
          <a:p>
            <a:pPr>
              <a:spcAft>
                <a:spcPts val="300"/>
              </a:spcAft>
            </a:pPr>
            <a:r>
              <a:rPr sz="2000" b="1" i="0">
                <a:solidFill>
                  <a:srgbClr val="1A1A1A"/>
                </a:solidFill>
                <a:latin typeface="Arial"/>
              </a:rPr>
              <a:t>Without a grant: access denied</a:t>
            </a:r>
          </a:p>
        </p:txBody>
      </p:sp>
      <p:sp>
        <p:nvSpPr>
          <p:cNvPr id="15" name="TextBox 14"/>
          <p:cNvSpPr txBox="1"/>
          <p:nvPr/>
        </p:nvSpPr>
        <p:spPr>
          <a:xfrm>
            <a:off x="658368" y="5632704"/>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Before one block can call another across ministries, each must be a member of the data exchange layer, each service registered with its contract, and access granted to the caller.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Check that every planned call can happen.</a:t>
            </a:r>
          </a:p>
          <a:p>
            <a:pPr algn="l">
              <a:spcAft>
                <a:spcPts val="400"/>
              </a:spcAft>
            </a:pPr>
            <a:r>
              <a:rPr sz="1800" b="0" i="0">
                <a:solidFill>
                  <a:srgbClr val="595959"/>
                </a:solidFill>
                <a:latin typeface="Arial"/>
              </a:rPr>
              <a:t>The prompt in the companion material gives you a table of members, services and access grants with the missing ones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Information Mediator 1.1.1, sections 2, 6.2, 7.2, 8.2 and 8.6.2</a:t>
            </a:r>
          </a:p>
          <a:p>
            <a:pPr>
              <a:spcAft>
                <a:spcPts val="1000"/>
              </a:spcAft>
            </a:pPr>
            <a:r>
              <a:rPr sz="1800" b="0" i="0">
                <a:solidFill>
                  <a:srgbClr val="1A1A1A"/>
                </a:solidFill>
                <a:latin typeface="Arial"/>
              </a:rPr>
              <a:t>•  NIIS X-Road 7.7.0, Architecture (ARC-G) section 1.2 and Security Server User Guide (UG-SS) sections 6.1.2 and 7</a:t>
            </a:r>
          </a:p>
          <a:p>
            <a:pPr>
              <a:spcAft>
                <a:spcPts val="1000"/>
              </a:spcAft>
            </a:pPr>
            <a:r>
              <a:rPr sz="1800" b="0" i="0">
                <a:solidFill>
                  <a:srgbClr val="1A1A1A"/>
                </a:solidFill>
                <a:latin typeface="Arial"/>
              </a:rPr>
              <a:t>•  GovStack Payments 3.0, section 5.1.14</a:t>
            </a:r>
          </a:p>
          <a:p>
            <a:pPr>
              <a:spcAft>
                <a:spcPts val="1000"/>
              </a:spcAft>
            </a:pPr>
            <a:r>
              <a:rPr sz="1800" b="0" i="0">
                <a:solidFill>
                  <a:srgbClr val="1A1A1A"/>
                </a:solidFill>
                <a:latin typeface="Arial"/>
              </a:rPr>
              <a:t>•  OpenAPI Specification 3.0.3</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What must be in place before the blocks can call each other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