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parent should not carry the same birth details to a school, a district office and a ministry. Once-only means the state asks once and reuses what it already holds. One registration run shows whether your foundation can do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is told that the new registration service will reuse identity and the learner register. Your job is to check whether those calls can happen at all. Across ministries, three things must be in place first, and each one has an owner.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membership. An organisation asks to join the data exchange layer, and the operator checks and accepts it. The second is a registered service. The provider publishes each service with its contract, an OpenAPI description, so that callers know exactly what it offers. The third is a grant. The provider decides who may call. The Information Mediator specification asks for all three. X-Road, the software behind Progressa's exchange, works the same way: a new service starts switched off, and the owner of the data controls who can use it.</a:t>
            </a:r>
          </a:p>
          <a:p/>
          <a:p>
            <a:r>
              <a:t>Production cue: The core payload. The order matters and is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comes before the three. The specification strongly recommends the data exchange layer for any exchange across the internet. It does not require it between blocks that sit together on one platform. So sending every call through the exchange is a choice the specification allows, not a rule it imposes. Progressa makes that choice because its blocks belong to different authorities, and each authority must control who reads its data.</a:t>
            </a:r>
          </a:p>
          <a:p/>
          <a:p>
            <a:r>
              <a:t>Production cue: States the choice the specification leaves open.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already has an exchange, called Linkup. The digital government authority, PDGA, owns and operates it. The examination authority, PNEA, is the caller. The learner registry, PLR, publishes one enrolment service, and only PNEA may call it. The identity authority, PNIA, publishes one service, a read of a person by national number. That is a contract of Progressa's own, and only PNEA may call it. The ministry of education, MoEYS, is not a member.</a:t>
            </a:r>
          </a:p>
          <a:p/>
          <a:p>
            <a:r>
              <a:t>Production cue: Progressa's names as the outline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course adds four things. The registration service gets a member of its own, with its application registered. The learner register gets a write service, registered with its contract, because PLR's one service today is a read. Grants let the registration service call that write service, and PNIA's service too if the build uses it. And the Payments block joins as a member, publishing its own interface. PayPro stays behind the block's payer bank, as one of the payment systems in the market.</a:t>
            </a:r>
          </a:p>
          <a:p/>
          <a:p>
            <a:r>
              <a:t>Production cue: The configuration codes may appear in small type at the end of each 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is easy to read. The list of members shows the registration service. The list of services shows the register's write service and its contract. Then a member without a grant makes the same call, and the exchange refuses it with an access-denied fault. Being on the exchange is not permission.</a:t>
            </a:r>
          </a:p>
          <a:p/>
          <a:p>
            <a:r>
              <a:t>Production cue: Replaced by the recording of the 5.1 walkthrough when X1, X2, X3 and X7 are built and the federation runs again. Until then,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Before any plan says that two blocks will talk, check three things: membership, a registered contract, and a grant from the owner. If one is missing, the call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vendor's integration plan says the exchange will run the registration from start to finish. Before you approve it, ask one question: which block holds the order of the steps? The published answer is not the exchange.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data exchange layer does a narrow job, and does it well. It carries each call from the caller to the provider. It checks that the caller may make the call. It keeps a record of the message. The Information Mediator specification lists what it registers: members, services with their contracts, and the lists of who may call them. Each call goes first to the caller's own security server, the exchange's gateway, which forwards it.</a:t>
            </a:r>
          </a:p>
          <a:p/>
          <a:p>
            <a:r>
              <a:t>Production cue: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specification is just as clear about what is not its job. Defining the steps of a transaction is out of its scope. So is mapping the fields of the identity system into a registration record. X-Road says the same about itself: its core does not convert protocols or data, and the organisation's own information system does that. A plan that puts the sequence in the exchange puts it where no published specification does.</a:t>
            </a:r>
          </a:p>
          <a:p/>
          <a:p>
            <a:r>
              <a:t>Production cue: Quoted word for word from section 4 of the specification,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service holds the sequence. The Registration specification lets the analyst configure actions that fire on an event: a form loading, a button click, an application submitted. An action can pull data from an outside register through the exchange, or send data to one. So the steps of learner registration are written in the registration service's own description, and each step calls another block's published contract.</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send the calls through the exchange at all, if it does not run the sequence? Because the alternative is a web of direct links between systems. The GovStack Architecture specification names that pattern fragmented point-to-point integration, and says it makes service delivery across agencies unpredictable and expensive to maintain. The Digital Registries specification asks for mediated integration rather than direct point-to-point coupling. One exchange, many calls, one set of rules.</a:t>
            </a:r>
          </a:p>
          <a:p/>
          <a:p>
            <a:r>
              <a:t>Production cue: Text boxes side by side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as one sequence. The learner signs in with the identity authority, PNIA, and approves the release of a name and a date of birth. The registration service fills the form with them. The learner submits, the checks run, and the registrar approves. Then the registration service calls the write service of the learner registry, PLR, through the exchange, and asks whether the record exists. Drawn on one page, the sequence gives the business side and IT one shared language, so a decision means the same thing in both rooms.</a:t>
            </a:r>
          </a:p>
          <a:p/>
          <a:p>
            <a:r>
              <a:t>Production cue: The drawn version of this sequence is figure F12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exchange carries the calls and checks who may make them. The registration service holds the order. Ask which block holds it before you approve the plan.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~5 minute video, Architect-facing. Modules 2 to 4 set up the four blocks; this module joins them on the data exchange layer and proves that they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and 5.2 are the preconditions and the sequence. 5.3 is the once-only run. 5.4 and 5.5 are the proof and its evidence. 5.6 hands the foundation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states the principle plainly: citizens and businesses should only have to provide information to the government once. In education, that means a learner's name and date of birth, which the identity authority already holds, are not typed again on every form. Four blocks have to work together for that: identity, registration, the learner register, and the data exchange layer between them.</a:t>
            </a:r>
          </a:p>
          <a:p/>
          <a:p>
            <a:r>
              <a:t>Production cue: The quotation is word for word from PAERA v1.0, section 5.2.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run starts with a sign-in. The registration service sends the learner to the identity authority's own sign-in page. The learner, with a parent beside them, signs in, and PNIA asks which facts it may share with this service. The learner approves a name and a date of birth. The service receives only those, with the identifier PNIA gives to this one service. It keeps that identifier, never the national number.</a:t>
            </a:r>
          </a:p>
          <a:p/>
          <a:p>
            <a:r>
              <a:t>Production cue: No screenshot of any real sign-in page; text 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Next, the form fills. The Registration specification lets a screen pull data from an outside source through a configured action. Here, the action places the released name and date of birth into the form. The parent types only what PNIA does not hold: the school, the grade and a contact number. Mapping identity facts into a registration record is the registration service's work; the exchange specification places it outside the exchange.</a:t>
            </a:r>
          </a:p>
          <a:p/>
          <a:p>
            <a:r>
              <a:t>Production cue: The worked example of the outline: which facts came from the identity block and which the parent typed.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learner submits once. The automated checks run, and the application reaches the registrar, a person who decides. On approval, an automated role in the registration service calls the learner register's write service through the exchange. That call is synchronous, signed, time-stamped and logged. Last, the service asks the register whether the record exists, and the register confirms it. Four blocks, one run.</a:t>
            </a:r>
          </a:p>
          <a:p/>
          <a:p>
            <a:r>
              <a:t>Production cue: The drawn sequence is figure F12 of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limit must be said plainly. The Identity specification requires the block to answer a query for a person's facts from server to server, but it publishes no interface for that query. What it publishes is the sign-in with the person present. PNIA's present service on Linkup, a read of a person by national number, is a contract of Progressa's own. If a build shows a pre-fill from server to server, it shows that contract under its own name.</a:t>
            </a:r>
          </a:p>
          <a:p/>
          <a:p>
            <a:r>
              <a:t>Production cue: Keeps the published interface and Progressa's own contract apart, by name.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This run is the principal demonstration of the course. The walkthrough follows it step by step: what the viewer sees at each step, and what counts as a pass. Nine steps lead from the sign-in on PNIA's own page to the register's answer that the record exists. A pass counts only from a run that took place, with its date.</a:t>
            </a:r>
          </a:p>
          <a:p/>
          <a:p>
            <a:r>
              <a:t>Production cue: Replaced by the recording of the 5.3 walkthrough when X4 and everything it uses is built and the federation runs again. If only a part is built, the recording runs as far as that part and the stand-in continues.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Sign in, approve, fill, submit, decide, write. One run, nothing typed twice, and four blocks working as one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your steering committee the platform is GovStack compliant at Level 2. That describes the product, not how your country set it up. What you can ask for is simpler and stronger: a check for every configuration, run and passed, with its date.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GovStack's own testing offers two things. A software provider can assess its product against the functional requirements: a self-assessment. And there are automated tests of the published interfaces, run against candidate software. The two tests lead to a compliance level for the product: Level 1, partial, or Level 2, full. The GovStack Architecture specification also asks each block for a machine-readable definition of every external interface, and for a mock implementation, so that others can test against it.</a:t>
            </a:r>
          </a:p>
          <a:p/>
          <a:p>
            <a:r>
              <a:t>Production cue: States GovStack's testing and its two levels of compliance as its own pages describe them. All three concern the product; none checks a country's own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course follows the same idea, configuration by configuration. Every configuration has one check with the same name. The check says what is run, against which published interface, and what counts as a pass. For the exchange, check X1 lists the members and finds the registration service. Check X3 makes a call with a grant, which is answered, and the same call without one, which is refused. Check X4 is the whole run, from the sign-in to the register.</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Keep two words apart. A configuration that exists is set up. A block is proven only when every one of its checks has run and passed, and the result is written down with its date. Until then, the configuration is set up, and no more than that.</a:t>
            </a:r>
          </a:p>
          <a:p/>
          <a:p>
            <a:r>
              <a:t>Production cue: The two words are set in bold; the rest plain.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sheet of checks for the exchange. Each row names a configuration, what is run, what counts as a pass, and the result and date of the last run. Before the first run, the last column reads 'not yet run' in every row. That is not a weakness to hide. It is the honest state, and it tells the minister exactly what lies between a design and a proof.</a:t>
            </a:r>
          </a:p>
          <a:p/>
          <a:p>
            <a:r>
              <a:t>Production cue: The worked example of the outline. The same sheet is in the specimens folder, KP3-DPI/specimens/composition/acceptance-sheet.md.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When the build is ready, the checks are run one after another, and the sheet fills with results and dates. A failed check stays on the sheet with its output until it passes, and nobody edits a result by hand. That is what a good run shows, and nothing less.</a:t>
            </a:r>
          </a:p>
          <a:p/>
          <a:p>
            <a:r>
              <a:t>Production cue: Replaced by the recording of the 5.4 walkthrough when the configurations are built.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Ask for the sheet, not only the product's compliance level. A block is proven when its checks have run and passed, each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auditor asks you to prove that the registration service wrote a learner's record on a given day. Whether you can answer depends on choices made before the first call, not on what you do once the question arrives.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record is the message log on each security server. X-Road offers three settings. With full logging, the whole message is kept, and the records can be verified afterwards and used as evidence. With metadata logging, only the details around the message are kept, and the records cannot be used as evidence. Or logging is switched off. The Information Mediator specification requires a signed, time-stamped message log.</a:t>
            </a:r>
          </a:p>
          <a:p/>
          <a:p>
            <a:r>
              <a:t>Production cue: The words 'usable as evidence' and 'cannot be used as evidence' follow the X-Road guide.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record is operational monitoring. One record is made for each request: who called, which service, when, how large, and whether it succeeded. It never holds the content of the message. Who may read it matters. The owner of the security server and the central monitoring client can read the records of all clients. A regular member reads only the records about itself, through a monitoring service of its own.</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record is the traffic view on the security server's diagnostics page. It draws a graph of the requests that passed through, and you can filter it by period, by party, by role in the exchange, and by success or failure. It depends on the operational monitoring add-on. If that add-on is not installed, there is no traffic view to read.</a:t>
            </a:r>
          </a:p>
          <a:p/>
          <a:p>
            <a:r>
              <a:t>Production cue: Text-only. No screenshot of the diagnostics page until the recording exists.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Take Progressa's registration run. The owner of the learner register sees, in its own message log, the request to write the record and its own answer. The registration service sees the same exchange from its side. PDGA, as operator, reads the traffic view and the records its role allows. No member sees another member's records by default. Each reader proves only what its own records show.</a:t>
            </a:r>
          </a:p>
          <a:p/>
          <a:p>
            <a:r>
              <a:t>Production cue: Replaced by the recording of the 5.5 walkthrough when X6 is built and the federation runs again.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three settings are chosen before the first call. Full message logging on every security server that takes part. Access to monitoring for whoever must read the evidence, such as an auditor or the operator. And the monitoring add-on, so that the traffic view exists. Choose them late, and the first months of calls leave no evidence anyone can use.</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Three records can prove a call: the message log, monitoring and the traffic view. Each works only if you set it up before the first call.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Another team in the ministry wants to pay scholarships. Its first plan is to build its own learner list and its own payment link. Your job is to show the team what it can use instead, and on what terms.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checks of the foundation have passed, three things are services with published contracts. Identity, through PNIA's sign-in, for any service registered as its client. The learner register, whose services other services may call once the owner grants access. And payments, through the Payments block's own interface on the exchange. A new service asks for access, the owner of each service decides, and the call goes through the exchange.</a:t>
            </a:r>
          </a:p>
          <a:p/>
          <a:p>
            <a:r>
              <a:t>Production cue: Each row names the block and how a new service reaches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scholarship service. It confirms the learner by calling the learner register. It pays through the Payments block, on the path the Payments specification describes for bulk payments from government to people. Or it issues vouchers, which the same specification describes, and which can be limited so that only schools redeem them. It builds no learner list and no payment link of its own.</a:t>
            </a:r>
          </a:p>
          <a:p/>
          <a:p>
            <a:r>
              <a:t>Production cue: The worked example of the outline.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looks quicker than asking another ministry for access. Procurement rules can make each contract cheaper, but only whole-of-government planning makes re-use possible. The first service paid for the foundation, and every service after it uses it. Ask the next team to put both options side by side before it commits.</a:t>
            </a:r>
          </a:p>
          <a:p/>
          <a:p>
            <a:r>
              <a:t>Production cue: Carries the structural argument that planning enables re-use.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blocks are cited here but not built. The Consent specification records consent when a person first registers and checks it before data is processed. It also warns that consent may be the wrong legal ground where a public authority processes data, so ask your lawyers first. The Messaging specification names informing people about their registration among its first uses, and the Registration block as one source of such a message.</a:t>
            </a:r>
          </a:p>
          <a:p/>
          <a:p>
            <a:r>
              <a:t>Production cue: Consent and Messaging are cited; their configurations, CN1 and MS1, are not part of the build.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Give the next team one page. For each service, it lists the contract, the conditions of access and the owner to ask. Generate that page from the exchange's own list of services and their contracts, not from memory or an old slide, and it stays true as the list changes.</a:t>
            </a:r>
          </a:p>
          <a:p/>
          <a:p>
            <a:r>
              <a:t>Production cue: Text-only; no table data on screen.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foundation is now something to use, not to rebuild. Consent and notification are still to come.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Join the blocks and prove the foundation</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5</a:t>
            </a:r>
          </a:p>
          <a:p>
            <a:r>
              <a:rPr sz="1400" b="0" i="0">
                <a:solidFill>
                  <a:srgbClr val="595959"/>
                </a:solidFill>
                <a:latin typeface="Arial"/>
              </a:rPr>
              <a:t>Six standalone videos for the architect who joins the blocks on the data exchange layer and proves them: what must be in place before a call, who puts the steps in order, the once-only registration from beginning to end, the acceptance checks, the evidence of a call, and what the next services can now use.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(5.1 – 5.6)</a:t>
            </a:r>
          </a:p>
          <a:p>
            <a:r>
              <a:rPr sz="1400" b="1" i="0">
                <a:solidFill>
                  <a:srgbClr val="1A1A1A"/>
                </a:solidFill>
                <a:latin typeface="Arial"/>
              </a:rPr>
              <a:t>Target audience: </a:t>
            </a:r>
            <a:r>
              <a:rPr sz="1400" b="0" i="0">
                <a:solidFill>
                  <a:srgbClr val="1A1A1A"/>
                </a:solidFill>
                <a:latin typeface="Arial"/>
              </a:rPr>
              <a:t>The DPI solution architect, integration lead or ministry technical lead who joins the blocks on the data exchange layer and proves them</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PROVES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Member, service, grant</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sequence held by the registration service</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Register once, end to end</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Set up is not proven</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records of every call</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page for the next team</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blocks · 1 exchange · 1 once-only run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What must be in place before the blocks can call each other</a:t>
            </a:r>
            <a:r>
              <a:rPr sz="1200" b="0" i="0">
                <a:solidFill>
                  <a:srgbClr val="595959"/>
                </a:solidFill>
                <a:latin typeface="Arial"/>
              </a:rPr>
              <a:t>   ~5 min</a:t>
            </a:r>
          </a:p>
          <a:p>
            <a:pPr algn="l">
              <a:spcAft>
                <a:spcPts val="900"/>
              </a:spcAft>
            </a:pPr>
            <a:r>
              <a:rPr sz="1500" b="1" i="0">
                <a:solidFill>
                  <a:srgbClr val="1A1A1A"/>
                </a:solidFill>
                <a:latin typeface="Arial"/>
              </a:rPr>
              <a:t>5.2  Who puts the steps in order: contracts, and the block that calls them</a:t>
            </a:r>
            <a:r>
              <a:rPr sz="1200" b="0" i="0">
                <a:solidFill>
                  <a:srgbClr val="595959"/>
                </a:solidFill>
                <a:latin typeface="Arial"/>
              </a:rPr>
              <a:t>   ~5 min</a:t>
            </a:r>
          </a:p>
          <a:p>
            <a:pPr algn="l">
              <a:spcAft>
                <a:spcPts val="900"/>
              </a:spcAft>
            </a:pPr>
            <a:r>
              <a:rPr sz="1500" b="1" i="0">
                <a:solidFill>
                  <a:srgbClr val="1A1A1A"/>
                </a:solidFill>
                <a:latin typeface="Arial"/>
              </a:rPr>
              <a:t>5.3  The once-only registration, from beginning to end</a:t>
            </a:r>
            <a:r>
              <a:rPr sz="1200" b="0" i="0">
                <a:solidFill>
                  <a:srgbClr val="595959"/>
                </a:solidFill>
                <a:latin typeface="Arial"/>
              </a:rPr>
              <a:t>   ~5 min</a:t>
            </a:r>
          </a:p>
          <a:p>
            <a:pPr algn="l">
              <a:spcAft>
                <a:spcPts val="900"/>
              </a:spcAft>
            </a:pPr>
            <a:r>
              <a:rPr sz="1500" b="1" i="0">
                <a:solidFill>
                  <a:srgbClr val="1A1A1A"/>
                </a:solidFill>
                <a:latin typeface="Arial"/>
              </a:rPr>
              <a:t>5.4  The acceptance checks: from "set up" to "proven"</a:t>
            </a:r>
            <a:r>
              <a:rPr sz="1200" b="0" i="0">
                <a:solidFill>
                  <a:srgbClr val="595959"/>
                </a:solidFill>
                <a:latin typeface="Arial"/>
              </a:rPr>
              <a:t>   ~5 min</a:t>
            </a:r>
          </a:p>
          <a:p>
            <a:pPr algn="l">
              <a:spcAft>
                <a:spcPts val="900"/>
              </a:spcAft>
            </a:pPr>
            <a:r>
              <a:rPr sz="1500" b="1" i="0">
                <a:solidFill>
                  <a:srgbClr val="1A1A1A"/>
                </a:solidFill>
                <a:latin typeface="Arial"/>
              </a:rPr>
              <a:t>5.5  Reading the evidence of a call</a:t>
            </a:r>
            <a:r>
              <a:rPr sz="1200" b="0" i="0">
                <a:solidFill>
                  <a:srgbClr val="595959"/>
                </a:solidFill>
                <a:latin typeface="Arial"/>
              </a:rPr>
              <a:t>   ~5 min</a:t>
            </a:r>
          </a:p>
          <a:p>
            <a:pPr algn="l">
              <a:spcAft>
                <a:spcPts val="900"/>
              </a:spcAft>
            </a:pPr>
            <a:r>
              <a:rPr sz="1500" b="1" i="0">
                <a:solidFill>
                  <a:srgbClr val="1A1A1A"/>
                </a:solidFill>
                <a:latin typeface="Arial"/>
              </a:rPr>
              <a:t>5.6  What the next services can now use</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The blocks call each other through the data exchange layer, each call allowed by a grant and recorded as evidence.</a:t>
            </a:r>
          </a:p>
          <a:p>
            <a:pPr>
              <a:spcAft>
                <a:spcPts val="1000"/>
              </a:spcAft>
            </a:pPr>
            <a:r>
              <a:rPr sz="1900" b="0" i="1">
                <a:solidFill>
                  <a:srgbClr val="1A1A1A"/>
                </a:solidFill>
                <a:latin typeface="Arial"/>
              </a:rPr>
              <a:t>A foundation is proven only when every check has run and passed, with a date — then the next service starts from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must be in place before the blocks can call each other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Before one block can call another across ministries, each must be a member of the data exchange layer, each service registered with its contract, and access granted to the caller.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minister is told that the new registration service will reuse identity and the learner register.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job is to check whether those calls can happen at all.</a:t>
            </a:r>
          </a:p>
          <a:p>
            <a:pPr>
              <a:spcAft>
                <a:spcPts val="800"/>
              </a:spcAft>
            </a:pPr>
            <a:r>
              <a:rPr sz="1700" b="0" i="0">
                <a:solidFill>
                  <a:srgbClr val="595959"/>
                </a:solidFill>
                <a:latin typeface="Arial"/>
              </a:rPr>
              <a:t>Across ministries, three things must be in place first, and each one has an owner.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in this order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1. A member</a:t>
            </a:r>
          </a:p>
          <a:p>
            <a:pPr>
              <a:spcAft>
                <a:spcPts val="300"/>
              </a:spcAft>
            </a:pPr>
            <a:r>
              <a:rPr sz="1800" b="0" i="0">
                <a:solidFill>
                  <a:srgbClr val="595959"/>
                </a:solidFill>
                <a:latin typeface="Arial"/>
              </a:rPr>
              <a:t>The organisation is admitted to the data exchange layer.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2. A registered service</a:t>
            </a:r>
          </a:p>
          <a:p>
            <a:pPr>
              <a:spcAft>
                <a:spcPts val="300"/>
              </a:spcAft>
            </a:pPr>
            <a:r>
              <a:rPr sz="1800" b="0" i="0">
                <a:solidFill>
                  <a:srgbClr val="595959"/>
                </a:solidFill>
                <a:latin typeface="Arial"/>
              </a:rPr>
              <a:t>Its contract, an OpenAPI description, is published.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3. A grant</a:t>
            </a:r>
          </a:p>
          <a:p>
            <a:pPr>
              <a:spcAft>
                <a:spcPts val="300"/>
              </a:spcAft>
            </a:pPr>
            <a:r>
              <a:rPr sz="1800" b="0" i="0">
                <a:solidFill>
                  <a:srgbClr val="595959"/>
                </a:solidFill>
                <a:latin typeface="Arial"/>
              </a:rPr>
              <a:t>The owner of the service allows this caller.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Is the exchange required at all?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Strongly recommended for any exchange across the internet.</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Not required between blocks that sit together on one platform.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members today</a:t>
            </a:r>
          </a:p>
        </p:txBody>
      </p:sp>
      <p:sp>
        <p:nvSpPr>
          <p:cNvPr id="4" name="TextBox 3"/>
          <p:cNvSpPr txBox="1"/>
          <p:nvPr/>
        </p:nvSpPr>
        <p:spPr>
          <a:xfrm>
            <a:off x="658368" y="2055367"/>
            <a:ext cx="4096511" cy="457200"/>
          </a:xfrm>
          <a:prstGeom prst="rect">
            <a:avLst/>
          </a:prstGeom>
          <a:noFill/>
        </p:spPr>
        <p:txBody>
          <a:bodyPr wrap="square">
            <a:spAutoFit/>
          </a:bodyPr>
          <a:lstStyle/>
          <a:p>
            <a:r>
              <a:rPr sz="1600" b="1" i="0">
                <a:solidFill>
                  <a:srgbClr val="006E96"/>
                </a:solidFill>
                <a:latin typeface="Arial"/>
              </a:rPr>
              <a:t>Member</a:t>
            </a:r>
          </a:p>
        </p:txBody>
      </p:sp>
      <p:sp>
        <p:nvSpPr>
          <p:cNvPr id="5" name="TextBox 4"/>
          <p:cNvSpPr txBox="1"/>
          <p:nvPr/>
        </p:nvSpPr>
        <p:spPr>
          <a:xfrm>
            <a:off x="4864607" y="2055367"/>
            <a:ext cx="6565392" cy="457200"/>
          </a:xfrm>
          <a:prstGeom prst="rect">
            <a:avLst/>
          </a:prstGeom>
          <a:noFill/>
        </p:spPr>
        <p:txBody>
          <a:bodyPr wrap="square">
            <a:spAutoFit/>
          </a:bodyPr>
          <a:lstStyle/>
          <a:p>
            <a:r>
              <a:rPr sz="1600" b="1" i="0">
                <a:solidFill>
                  <a:srgbClr val="006E96"/>
                </a:solidFill>
                <a:latin typeface="Arial"/>
              </a:rPr>
              <a:t>Role on the exchange</a:t>
            </a:r>
          </a:p>
        </p:txBody>
      </p:sp>
      <p:sp>
        <p:nvSpPr>
          <p:cNvPr id="6" name="Rectangle 5"/>
          <p:cNvSpPr/>
          <p:nvPr/>
        </p:nvSpPr>
        <p:spPr>
          <a:xfrm>
            <a:off x="658368" y="2512567"/>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04007"/>
            <a:ext cx="4096511" cy="410464"/>
          </a:xfrm>
          <a:prstGeom prst="rect">
            <a:avLst/>
          </a:prstGeom>
          <a:noFill/>
        </p:spPr>
        <p:txBody>
          <a:bodyPr wrap="square">
            <a:spAutoFit/>
          </a:bodyPr>
          <a:lstStyle/>
          <a:p>
            <a:r>
              <a:rPr sz="1600" b="1" i="0">
                <a:solidFill>
                  <a:srgbClr val="1A1A1A"/>
                </a:solidFill>
                <a:latin typeface="Arial"/>
              </a:rPr>
              <a:t>PDGA</a:t>
            </a:r>
          </a:p>
        </p:txBody>
      </p:sp>
      <p:sp>
        <p:nvSpPr>
          <p:cNvPr id="8" name="TextBox 7"/>
          <p:cNvSpPr txBox="1"/>
          <p:nvPr/>
        </p:nvSpPr>
        <p:spPr>
          <a:xfrm>
            <a:off x="4864607" y="2604007"/>
            <a:ext cx="6565392" cy="410464"/>
          </a:xfrm>
          <a:prstGeom prst="rect">
            <a:avLst/>
          </a:prstGeom>
          <a:noFill/>
        </p:spPr>
        <p:txBody>
          <a:bodyPr wrap="square">
            <a:spAutoFit/>
          </a:bodyPr>
          <a:lstStyle/>
          <a:p>
            <a:r>
              <a:rPr sz="1600" b="0" i="0">
                <a:solidFill>
                  <a:srgbClr val="1A1A1A"/>
                </a:solidFill>
                <a:latin typeface="Arial"/>
              </a:rPr>
              <a:t>Owns and operates the exchange</a:t>
            </a:r>
          </a:p>
        </p:txBody>
      </p:sp>
      <p:sp>
        <p:nvSpPr>
          <p:cNvPr id="9" name="Rectangle 8"/>
          <p:cNvSpPr/>
          <p:nvPr/>
        </p:nvSpPr>
        <p:spPr>
          <a:xfrm>
            <a:off x="658368" y="30327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087624"/>
            <a:ext cx="4096511" cy="410464"/>
          </a:xfrm>
          <a:prstGeom prst="rect">
            <a:avLst/>
          </a:prstGeom>
          <a:noFill/>
        </p:spPr>
        <p:txBody>
          <a:bodyPr wrap="square">
            <a:spAutoFit/>
          </a:bodyPr>
          <a:lstStyle/>
          <a:p>
            <a:r>
              <a:rPr sz="1600" b="1" i="0">
                <a:solidFill>
                  <a:srgbClr val="1A1A1A"/>
                </a:solidFill>
                <a:latin typeface="Arial"/>
              </a:rPr>
              <a:t>PNEA, the examination authority</a:t>
            </a:r>
          </a:p>
        </p:txBody>
      </p:sp>
      <p:sp>
        <p:nvSpPr>
          <p:cNvPr id="11" name="TextBox 10"/>
          <p:cNvSpPr txBox="1"/>
          <p:nvPr/>
        </p:nvSpPr>
        <p:spPr>
          <a:xfrm>
            <a:off x="4864607" y="3087624"/>
            <a:ext cx="6565392" cy="410464"/>
          </a:xfrm>
          <a:prstGeom prst="rect">
            <a:avLst/>
          </a:prstGeom>
          <a:noFill/>
        </p:spPr>
        <p:txBody>
          <a:bodyPr wrap="square">
            <a:spAutoFit/>
          </a:bodyPr>
          <a:lstStyle/>
          <a:p>
            <a:r>
              <a:rPr sz="1600" b="0" i="0">
                <a:solidFill>
                  <a:srgbClr val="1A1A1A"/>
                </a:solidFill>
                <a:latin typeface="Arial"/>
              </a:rPr>
              <a:t>The caller</a:t>
            </a:r>
          </a:p>
        </p:txBody>
      </p:sp>
      <p:sp>
        <p:nvSpPr>
          <p:cNvPr id="12" name="Rectangle 11"/>
          <p:cNvSpPr/>
          <p:nvPr/>
        </p:nvSpPr>
        <p:spPr>
          <a:xfrm>
            <a:off x="658368" y="35163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571240"/>
            <a:ext cx="4096511" cy="410464"/>
          </a:xfrm>
          <a:prstGeom prst="rect">
            <a:avLst/>
          </a:prstGeom>
          <a:noFill/>
        </p:spPr>
        <p:txBody>
          <a:bodyPr wrap="square">
            <a:spAutoFit/>
          </a:bodyPr>
          <a:lstStyle/>
          <a:p>
            <a:r>
              <a:rPr sz="1600" b="1" i="0">
                <a:solidFill>
                  <a:srgbClr val="1A1A1A"/>
                </a:solidFill>
                <a:latin typeface="Arial"/>
              </a:rPr>
              <a:t>PLR, the learner registry</a:t>
            </a:r>
          </a:p>
        </p:txBody>
      </p:sp>
      <p:sp>
        <p:nvSpPr>
          <p:cNvPr id="14" name="TextBox 13"/>
          <p:cNvSpPr txBox="1"/>
          <p:nvPr/>
        </p:nvSpPr>
        <p:spPr>
          <a:xfrm>
            <a:off x="4864607" y="3571240"/>
            <a:ext cx="6565392" cy="410464"/>
          </a:xfrm>
          <a:prstGeom prst="rect">
            <a:avLst/>
          </a:prstGeom>
          <a:noFill/>
        </p:spPr>
        <p:txBody>
          <a:bodyPr wrap="square">
            <a:spAutoFit/>
          </a:bodyPr>
          <a:lstStyle/>
          <a:p>
            <a:r>
              <a:rPr sz="1600" b="0" i="0">
                <a:solidFill>
                  <a:srgbClr val="1A1A1A"/>
                </a:solidFill>
                <a:latin typeface="Arial"/>
              </a:rPr>
              <a:t>One enrolment service; only PNEA may call it</a:t>
            </a:r>
          </a:p>
        </p:txBody>
      </p:sp>
      <p:sp>
        <p:nvSpPr>
          <p:cNvPr id="15" name="Rectangle 14"/>
          <p:cNvSpPr/>
          <p:nvPr/>
        </p:nvSpPr>
        <p:spPr>
          <a:xfrm>
            <a:off x="658368" y="39999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054855"/>
            <a:ext cx="4096511" cy="674624"/>
          </a:xfrm>
          <a:prstGeom prst="rect">
            <a:avLst/>
          </a:prstGeom>
          <a:noFill/>
        </p:spPr>
        <p:txBody>
          <a:bodyPr wrap="square">
            <a:spAutoFit/>
          </a:bodyPr>
          <a:lstStyle/>
          <a:p>
            <a:r>
              <a:rPr sz="1600" b="1" i="0">
                <a:solidFill>
                  <a:srgbClr val="1A1A1A"/>
                </a:solidFill>
                <a:latin typeface="Arial"/>
              </a:rPr>
              <a:t>PNIA, the identity authority</a:t>
            </a:r>
          </a:p>
        </p:txBody>
      </p:sp>
      <p:sp>
        <p:nvSpPr>
          <p:cNvPr id="17" name="TextBox 16"/>
          <p:cNvSpPr txBox="1"/>
          <p:nvPr/>
        </p:nvSpPr>
        <p:spPr>
          <a:xfrm>
            <a:off x="4864607" y="4054855"/>
            <a:ext cx="6565392" cy="674624"/>
          </a:xfrm>
          <a:prstGeom prst="rect">
            <a:avLst/>
          </a:prstGeom>
          <a:noFill/>
        </p:spPr>
        <p:txBody>
          <a:bodyPr wrap="square">
            <a:spAutoFit/>
          </a:bodyPr>
          <a:lstStyle/>
          <a:p>
            <a:r>
              <a:rPr sz="1600" b="0" i="0">
                <a:solidFill>
                  <a:srgbClr val="1A1A1A"/>
                </a:solidFill>
                <a:latin typeface="Arial"/>
              </a:rPr>
              <a:t>One service, a read of a person by national number; only PNEA may call it</a:t>
            </a:r>
          </a:p>
        </p:txBody>
      </p:sp>
      <p:sp>
        <p:nvSpPr>
          <p:cNvPr id="18" name="TextBox 17"/>
          <p:cNvSpPr txBox="1"/>
          <p:nvPr/>
        </p:nvSpPr>
        <p:spPr>
          <a:xfrm>
            <a:off x="658368" y="4857495"/>
            <a:ext cx="10881360" cy="365760"/>
          </a:xfrm>
          <a:prstGeom prst="rect">
            <a:avLst/>
          </a:prstGeom>
          <a:noFill/>
        </p:spPr>
        <p:txBody>
          <a:bodyPr wrap="square">
            <a:spAutoFit/>
          </a:bodyPr>
          <a:lstStyle/>
          <a:p>
            <a:r>
              <a:rPr sz="1300" b="0" i="1">
                <a:solidFill>
                  <a:srgbClr val="595959"/>
                </a:solidFill>
                <a:latin typeface="Arial"/>
              </a:rPr>
              <a:t>Not a member: MoEYS, the ministry of education.</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this course adds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member for the registration service, with its application registered.</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 write service on the learner register, registered with its contract.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Grants</a:t>
            </a:r>
          </a:p>
          <a:p>
            <a:pPr>
              <a:spcAft>
                <a:spcPts val="300"/>
              </a:spcAft>
            </a:pPr>
            <a:r>
              <a:rPr sz="1700" b="0" i="0">
                <a:solidFill>
                  <a:srgbClr val="595959"/>
                </a:solidFill>
                <a:latin typeface="Arial"/>
              </a:rPr>
              <a:t>The registration service may call the write service.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Payments block as a member, publishing its own interface.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call without a grant is refused</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Listed: the registration service</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Listed: the write service and its contract</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With a grant: answered</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Without a grant: access denied</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Before one block can call another across ministries, each must be a member of the data exchange layer, each service registered with its contract, and access granted to the caller.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that every planned call can happen.</a:t>
            </a:r>
          </a:p>
          <a:p>
            <a:pPr algn="l">
              <a:spcAft>
                <a:spcPts val="400"/>
              </a:spcAft>
            </a:pPr>
            <a:r>
              <a:rPr sz="1800" b="0" i="0">
                <a:solidFill>
                  <a:srgbClr val="595959"/>
                </a:solidFill>
                <a:latin typeface="Arial"/>
              </a:rPr>
              <a:t>The prompt in the companion material gives you a table of members, services and access grants with the missing ones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sections 2, 6.2, 7.2, 8.2 and 8.6.2</a:t>
            </a:r>
          </a:p>
          <a:p>
            <a:pPr>
              <a:spcAft>
                <a:spcPts val="1000"/>
              </a:spcAft>
            </a:pPr>
            <a:r>
              <a:rPr sz="1800" b="0" i="0">
                <a:solidFill>
                  <a:srgbClr val="1A1A1A"/>
                </a:solidFill>
                <a:latin typeface="Arial"/>
              </a:rPr>
              <a:t>•  NIIS X-Road 7.7.0, Architecture (ARC-G) section 1.2 and Security Server User Guide (UG-SS) sections 6.1.2 and 7</a:t>
            </a:r>
          </a:p>
          <a:p>
            <a:pPr>
              <a:spcAft>
                <a:spcPts val="1000"/>
              </a:spcAft>
            </a:pPr>
            <a:r>
              <a:rPr sz="1800" b="0" i="0">
                <a:solidFill>
                  <a:srgbClr val="1A1A1A"/>
                </a:solidFill>
                <a:latin typeface="Arial"/>
              </a:rPr>
              <a:t>•  GovStack Payments 3.0, section 5.1.14</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puts the steps in order: contracts, and the block that calls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data exchange layer carries each call and enforces who may make it, but the registration service puts the steps in order, so know which block holds the sequence before you approve an integration plan.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vendor's integration plan says the exchange will run the registration from start to finish.</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approve it, ask one question: which block holds the order of the steps?</a:t>
            </a:r>
          </a:p>
          <a:p>
            <a:pPr>
              <a:spcAft>
                <a:spcPts val="800"/>
              </a:spcAft>
            </a:pPr>
            <a:r>
              <a:rPr sz="1700" b="0" i="0">
                <a:solidFill>
                  <a:srgbClr val="595959"/>
                </a:solidFill>
                <a:latin typeface="Arial"/>
              </a:rPr>
              <a:t>The published answer is not the exchange.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exchange does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Carries each call between members.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Checks that the caller holds a grant.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Signs, time-stamps and logs the message.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Goes through the caller's own security server.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exchange does not do</a:t>
            </a:r>
          </a:p>
        </p:txBody>
      </p:sp>
      <p:sp>
        <p:nvSpPr>
          <p:cNvPr id="4" name="TextBox 3"/>
          <p:cNvSpPr txBox="1"/>
          <p:nvPr/>
        </p:nvSpPr>
        <p:spPr>
          <a:xfrm>
            <a:off x="658368" y="2103120"/>
            <a:ext cx="10984687" cy="1234439"/>
          </a:xfrm>
          <a:prstGeom prst="rect">
            <a:avLst/>
          </a:prstGeom>
          <a:noFill/>
        </p:spPr>
        <p:txBody>
          <a:bodyPr wrap="square">
            <a:spAutoFit/>
          </a:bodyPr>
          <a:lstStyle/>
          <a:p>
            <a:pPr>
              <a:spcAft>
                <a:spcPts val="300"/>
              </a:spcAft>
            </a:pPr>
            <a:r>
              <a:rPr sz="2400" b="1" i="0">
                <a:solidFill>
                  <a:srgbClr val="1A1A1A"/>
                </a:solidFill>
                <a:latin typeface="Arial"/>
              </a:rPr>
              <a:t>Allow the definition of steps for a particular transaction</a:t>
            </a:r>
          </a:p>
        </p:txBody>
      </p:sp>
      <p:sp>
        <p:nvSpPr>
          <p:cNvPr id="5" name="Rectangle 4"/>
          <p:cNvSpPr/>
          <p:nvPr/>
        </p:nvSpPr>
        <p:spPr>
          <a:xfrm>
            <a:off x="621792" y="3342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383279"/>
            <a:ext cx="10984687" cy="1234439"/>
          </a:xfrm>
          <a:prstGeom prst="rect">
            <a:avLst/>
          </a:prstGeom>
          <a:noFill/>
        </p:spPr>
        <p:txBody>
          <a:bodyPr wrap="square">
            <a:spAutoFit/>
          </a:bodyPr>
          <a:lstStyle/>
          <a:p>
            <a:pPr>
              <a:spcAft>
                <a:spcPts val="300"/>
              </a:spcAft>
            </a:pPr>
            <a:r>
              <a:rPr sz="2400" b="1" i="0">
                <a:solidFill>
                  <a:srgbClr val="1A1A1A"/>
                </a:solidFill>
                <a:latin typeface="Arial"/>
              </a:rPr>
              <a:t>Map data structures and fields from the identification system to the registration system and vice versa</a:t>
            </a:r>
          </a:p>
        </p:txBody>
      </p:sp>
      <p:sp>
        <p:nvSpPr>
          <p:cNvPr id="7" name="TextBox 6"/>
          <p:cNvSpPr txBox="1"/>
          <p:nvPr/>
        </p:nvSpPr>
        <p:spPr>
          <a:xfrm>
            <a:off x="658368" y="4736592"/>
            <a:ext cx="10881360" cy="365760"/>
          </a:xfrm>
          <a:prstGeom prst="rect">
            <a:avLst/>
          </a:prstGeom>
          <a:noFill/>
        </p:spPr>
        <p:txBody>
          <a:bodyPr wrap="square">
            <a:spAutoFit/>
          </a:bodyPr>
          <a:lstStyle/>
          <a:p>
            <a:r>
              <a:rPr sz="1300" b="0" i="1">
                <a:solidFill>
                  <a:srgbClr val="595959"/>
                </a:solidFill>
                <a:latin typeface="Arial"/>
              </a:rPr>
              <a:t>Both marked ‘out of scope’ in the GovStack Information Mediator specification.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holds the sequence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registration service holds the sequence, as configured actions.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An action fires on an event</a:t>
            </a:r>
          </a:p>
          <a:p>
            <a:pPr>
              <a:spcAft>
                <a:spcPts val="300"/>
              </a:spcAft>
            </a:pPr>
            <a:r>
              <a:rPr sz="1800" b="0" i="0">
                <a:solidFill>
                  <a:srgbClr val="595959"/>
                </a:solidFill>
                <a:latin typeface="Arial"/>
              </a:rPr>
              <a:t>A form loads, a button is clicked, an application is submitted.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 action can pull data from an outside register through the exchange, or send data to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go through the exchange at all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Point-to-point</a:t>
            </a:r>
          </a:p>
          <a:p>
            <a:pPr>
              <a:spcAft>
                <a:spcPts val="300"/>
              </a:spcAft>
            </a:pPr>
            <a:r>
              <a:rPr sz="1900" b="0" i="0">
                <a:solidFill>
                  <a:srgbClr val="595959"/>
                </a:solidFill>
                <a:latin typeface="Arial"/>
              </a:rPr>
              <a:t>Every link built and kept on its own.</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Mediated</a:t>
            </a:r>
          </a:p>
          <a:p>
            <a:pPr>
              <a:spcAft>
                <a:spcPts val="300"/>
              </a:spcAft>
            </a:pPr>
            <a:r>
              <a:rPr sz="1900" b="0" i="0">
                <a:solidFill>
                  <a:srgbClr val="595959"/>
                </a:solidFill>
                <a:latin typeface="Arial"/>
              </a:rPr>
              <a:t>Every call through one exchange, under one set of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registration as one sequence</a:t>
            </a:r>
          </a:p>
        </p:txBody>
      </p:sp>
      <p:sp>
        <p:nvSpPr>
          <p:cNvPr id="4" name="TextBox 3"/>
          <p:cNvSpPr txBox="1"/>
          <p:nvPr/>
        </p:nvSpPr>
        <p:spPr>
          <a:xfrm>
            <a:off x="658368" y="1463801"/>
            <a:ext cx="2999232" cy="457200"/>
          </a:xfrm>
          <a:prstGeom prst="rect">
            <a:avLst/>
          </a:prstGeom>
          <a:noFill/>
        </p:spPr>
        <p:txBody>
          <a:bodyPr wrap="square">
            <a:spAutoFit/>
          </a:bodyPr>
          <a:lstStyle/>
          <a:p>
            <a:r>
              <a:rPr sz="1500" b="1" i="0">
                <a:solidFill>
                  <a:srgbClr val="006E96"/>
                </a:solidFill>
                <a:latin typeface="Arial"/>
              </a:rPr>
              <a:t>Step</a:t>
            </a:r>
          </a:p>
        </p:txBody>
      </p:sp>
      <p:sp>
        <p:nvSpPr>
          <p:cNvPr id="5" name="TextBox 4"/>
          <p:cNvSpPr txBox="1"/>
          <p:nvPr/>
        </p:nvSpPr>
        <p:spPr>
          <a:xfrm>
            <a:off x="3767328" y="1463801"/>
            <a:ext cx="4096511" cy="457200"/>
          </a:xfrm>
          <a:prstGeom prst="rect">
            <a:avLst/>
          </a:prstGeom>
          <a:noFill/>
        </p:spPr>
        <p:txBody>
          <a:bodyPr wrap="square">
            <a:spAutoFit/>
          </a:bodyPr>
          <a:lstStyle/>
          <a:p>
            <a:r>
              <a:rPr sz="1500" b="1" i="0">
                <a:solidFill>
                  <a:srgbClr val="006E96"/>
                </a:solidFill>
                <a:latin typeface="Arial"/>
              </a:rPr>
              <a:t>Who calls whom</a:t>
            </a:r>
          </a:p>
        </p:txBody>
      </p:sp>
      <p:sp>
        <p:nvSpPr>
          <p:cNvPr id="6" name="TextBox 5"/>
          <p:cNvSpPr txBox="1"/>
          <p:nvPr/>
        </p:nvSpPr>
        <p:spPr>
          <a:xfrm>
            <a:off x="7973567" y="1463801"/>
            <a:ext cx="3456432" cy="457200"/>
          </a:xfrm>
          <a:prstGeom prst="rect">
            <a:avLst/>
          </a:prstGeom>
          <a:noFill/>
        </p:spPr>
        <p:txBody>
          <a:bodyPr wrap="square">
            <a:spAutoFit/>
          </a:bodyPr>
          <a:lstStyle/>
          <a:p>
            <a:r>
              <a:rPr sz="1500" b="1" i="0">
                <a:solidFill>
                  <a:srgbClr val="006E96"/>
                </a:solidFill>
                <a:latin typeface="Arial"/>
              </a:rPr>
              <a:t>What the exchange does</a:t>
            </a:r>
          </a:p>
        </p:txBody>
      </p:sp>
      <p:sp>
        <p:nvSpPr>
          <p:cNvPr id="7" name="Rectangle 6"/>
          <p:cNvSpPr/>
          <p:nvPr/>
        </p:nvSpPr>
        <p:spPr>
          <a:xfrm>
            <a:off x="658368" y="192100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12441"/>
            <a:ext cx="2999232" cy="641604"/>
          </a:xfrm>
          <a:prstGeom prst="rect">
            <a:avLst/>
          </a:prstGeom>
          <a:noFill/>
        </p:spPr>
        <p:txBody>
          <a:bodyPr wrap="square">
            <a:spAutoFit/>
          </a:bodyPr>
          <a:lstStyle/>
          <a:p>
            <a:r>
              <a:rPr sz="1500" b="1" i="0">
                <a:solidFill>
                  <a:srgbClr val="1A1A1A"/>
                </a:solidFill>
                <a:latin typeface="Arial"/>
              </a:rPr>
              <a:t>1. Sign in</a:t>
            </a:r>
          </a:p>
        </p:txBody>
      </p:sp>
      <p:sp>
        <p:nvSpPr>
          <p:cNvPr id="9" name="TextBox 8"/>
          <p:cNvSpPr txBox="1"/>
          <p:nvPr/>
        </p:nvSpPr>
        <p:spPr>
          <a:xfrm>
            <a:off x="3767328" y="2012441"/>
            <a:ext cx="4096511" cy="641604"/>
          </a:xfrm>
          <a:prstGeom prst="rect">
            <a:avLst/>
          </a:prstGeom>
          <a:noFill/>
        </p:spPr>
        <p:txBody>
          <a:bodyPr wrap="square">
            <a:spAutoFit/>
          </a:bodyPr>
          <a:lstStyle/>
          <a:p>
            <a:r>
              <a:rPr sz="1500" b="0" i="0">
                <a:solidFill>
                  <a:srgbClr val="1A1A1A"/>
                </a:solidFill>
                <a:latin typeface="Arial"/>
              </a:rPr>
              <a:t>The learner's browser goes to PNIA's sign-in</a:t>
            </a:r>
          </a:p>
        </p:txBody>
      </p:sp>
      <p:sp>
        <p:nvSpPr>
          <p:cNvPr id="10" name="TextBox 9"/>
          <p:cNvSpPr txBox="1"/>
          <p:nvPr/>
        </p:nvSpPr>
        <p:spPr>
          <a:xfrm>
            <a:off x="7973567" y="2012441"/>
            <a:ext cx="3456432" cy="641604"/>
          </a:xfrm>
          <a:prstGeom prst="rect">
            <a:avLst/>
          </a:prstGeom>
          <a:noFill/>
        </p:spPr>
        <p:txBody>
          <a:bodyPr wrap="square">
            <a:spAutoFit/>
          </a:bodyPr>
          <a:lstStyle/>
          <a:p>
            <a:r>
              <a:rPr sz="1500" b="0" i="0">
                <a:solidFill>
                  <a:srgbClr val="1A1A1A"/>
                </a:solidFill>
                <a:latin typeface="Arial"/>
              </a:rPr>
              <a:t>Not used</a:t>
            </a:r>
          </a:p>
        </p:txBody>
      </p:sp>
      <p:sp>
        <p:nvSpPr>
          <p:cNvPr id="11" name="Rectangle 10"/>
          <p:cNvSpPr/>
          <p:nvPr/>
        </p:nvSpPr>
        <p:spPr>
          <a:xfrm>
            <a:off x="658368" y="267233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27198"/>
            <a:ext cx="2999232" cy="641604"/>
          </a:xfrm>
          <a:prstGeom prst="rect">
            <a:avLst/>
          </a:prstGeom>
          <a:noFill/>
        </p:spPr>
        <p:txBody>
          <a:bodyPr wrap="square">
            <a:spAutoFit/>
          </a:bodyPr>
          <a:lstStyle/>
          <a:p>
            <a:r>
              <a:rPr sz="1500" b="1" i="0">
                <a:solidFill>
                  <a:srgbClr val="1A1A1A"/>
                </a:solidFill>
                <a:latin typeface="Arial"/>
              </a:rPr>
              <a:t>2. Pre-fill from the released claims</a:t>
            </a:r>
          </a:p>
        </p:txBody>
      </p:sp>
      <p:sp>
        <p:nvSpPr>
          <p:cNvPr id="13" name="TextBox 12"/>
          <p:cNvSpPr txBox="1"/>
          <p:nvPr/>
        </p:nvSpPr>
        <p:spPr>
          <a:xfrm>
            <a:off x="3767328" y="2727198"/>
            <a:ext cx="4096511" cy="641604"/>
          </a:xfrm>
          <a:prstGeom prst="rect">
            <a:avLst/>
          </a:prstGeom>
          <a:noFill/>
        </p:spPr>
        <p:txBody>
          <a:bodyPr wrap="square">
            <a:spAutoFit/>
          </a:bodyPr>
          <a:lstStyle/>
          <a:p>
            <a:r>
              <a:rPr sz="1500" b="0" i="0">
                <a:solidFill>
                  <a:srgbClr val="1A1A1A"/>
                </a:solidFill>
                <a:latin typeface="Arial"/>
              </a:rPr>
              <a:t>Inside the registration service</a:t>
            </a:r>
          </a:p>
        </p:txBody>
      </p:sp>
      <p:sp>
        <p:nvSpPr>
          <p:cNvPr id="14" name="TextBox 13"/>
          <p:cNvSpPr txBox="1"/>
          <p:nvPr/>
        </p:nvSpPr>
        <p:spPr>
          <a:xfrm>
            <a:off x="7973567" y="2727198"/>
            <a:ext cx="3456432" cy="641604"/>
          </a:xfrm>
          <a:prstGeom prst="rect">
            <a:avLst/>
          </a:prstGeom>
          <a:noFill/>
        </p:spPr>
        <p:txBody>
          <a:bodyPr wrap="square">
            <a:spAutoFit/>
          </a:bodyPr>
          <a:lstStyle/>
          <a:p>
            <a:r>
              <a:rPr sz="1500" b="0" i="0">
                <a:solidFill>
                  <a:srgbClr val="1A1A1A"/>
                </a:solidFill>
                <a:latin typeface="Arial"/>
              </a:rPr>
              <a:t>Not used</a:t>
            </a:r>
          </a:p>
        </p:txBody>
      </p:sp>
      <p:sp>
        <p:nvSpPr>
          <p:cNvPr id="15" name="Rectangle 14"/>
          <p:cNvSpPr/>
          <p:nvPr/>
        </p:nvSpPr>
        <p:spPr>
          <a:xfrm>
            <a:off x="658368" y="338709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1954"/>
            <a:ext cx="2999232" cy="393953"/>
          </a:xfrm>
          <a:prstGeom prst="rect">
            <a:avLst/>
          </a:prstGeom>
          <a:noFill/>
        </p:spPr>
        <p:txBody>
          <a:bodyPr wrap="square">
            <a:spAutoFit/>
          </a:bodyPr>
          <a:lstStyle/>
          <a:p>
            <a:r>
              <a:rPr sz="1500" b="1" i="0">
                <a:solidFill>
                  <a:srgbClr val="1A1A1A"/>
                </a:solidFill>
                <a:latin typeface="Arial"/>
              </a:rPr>
              <a:t>3. Submit and check</a:t>
            </a:r>
          </a:p>
        </p:txBody>
      </p:sp>
      <p:sp>
        <p:nvSpPr>
          <p:cNvPr id="17" name="TextBox 16"/>
          <p:cNvSpPr txBox="1"/>
          <p:nvPr/>
        </p:nvSpPr>
        <p:spPr>
          <a:xfrm>
            <a:off x="3767328" y="3441954"/>
            <a:ext cx="4096511" cy="393953"/>
          </a:xfrm>
          <a:prstGeom prst="rect">
            <a:avLst/>
          </a:prstGeom>
          <a:noFill/>
        </p:spPr>
        <p:txBody>
          <a:bodyPr wrap="square">
            <a:spAutoFit/>
          </a:bodyPr>
          <a:lstStyle/>
          <a:p>
            <a:r>
              <a:rPr sz="1500" b="0" i="0">
                <a:solidFill>
                  <a:srgbClr val="1A1A1A"/>
                </a:solidFill>
                <a:latin typeface="Arial"/>
              </a:rPr>
              <a:t>Inside the registration service</a:t>
            </a:r>
          </a:p>
        </p:txBody>
      </p:sp>
      <p:sp>
        <p:nvSpPr>
          <p:cNvPr id="18" name="TextBox 17"/>
          <p:cNvSpPr txBox="1"/>
          <p:nvPr/>
        </p:nvSpPr>
        <p:spPr>
          <a:xfrm>
            <a:off x="7973567" y="3441954"/>
            <a:ext cx="3456432" cy="393953"/>
          </a:xfrm>
          <a:prstGeom prst="rect">
            <a:avLst/>
          </a:prstGeom>
          <a:noFill/>
        </p:spPr>
        <p:txBody>
          <a:bodyPr wrap="square">
            <a:spAutoFit/>
          </a:bodyPr>
          <a:lstStyle/>
          <a:p>
            <a:r>
              <a:rPr sz="1500" b="0" i="0">
                <a:solidFill>
                  <a:srgbClr val="1A1A1A"/>
                </a:solidFill>
                <a:latin typeface="Arial"/>
              </a:rPr>
              <a:t>Not used</a:t>
            </a:r>
          </a:p>
        </p:txBody>
      </p:sp>
      <p:sp>
        <p:nvSpPr>
          <p:cNvPr id="19" name="Rectangle 18"/>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909059"/>
            <a:ext cx="2999232" cy="393953"/>
          </a:xfrm>
          <a:prstGeom prst="rect">
            <a:avLst/>
          </a:prstGeom>
          <a:noFill/>
        </p:spPr>
        <p:txBody>
          <a:bodyPr wrap="square">
            <a:spAutoFit/>
          </a:bodyPr>
          <a:lstStyle/>
          <a:p>
            <a:r>
              <a:rPr sz="1500" b="1" i="0">
                <a:solidFill>
                  <a:srgbClr val="1A1A1A"/>
                </a:solidFill>
                <a:latin typeface="Arial"/>
              </a:rPr>
              <a:t>4. Registrar approves</a:t>
            </a:r>
          </a:p>
        </p:txBody>
      </p:sp>
      <p:sp>
        <p:nvSpPr>
          <p:cNvPr id="21" name="TextBox 20"/>
          <p:cNvSpPr txBox="1"/>
          <p:nvPr/>
        </p:nvSpPr>
        <p:spPr>
          <a:xfrm>
            <a:off x="3767328" y="3909059"/>
            <a:ext cx="4096511" cy="393953"/>
          </a:xfrm>
          <a:prstGeom prst="rect">
            <a:avLst/>
          </a:prstGeom>
          <a:noFill/>
        </p:spPr>
        <p:txBody>
          <a:bodyPr wrap="square">
            <a:spAutoFit/>
          </a:bodyPr>
          <a:lstStyle/>
          <a:p>
            <a:r>
              <a:rPr sz="1500" b="0" i="0">
                <a:solidFill>
                  <a:srgbClr val="1A1A1A"/>
                </a:solidFill>
                <a:latin typeface="Arial"/>
              </a:rPr>
              <a:t>Inside the registration service</a:t>
            </a:r>
          </a:p>
        </p:txBody>
      </p:sp>
      <p:sp>
        <p:nvSpPr>
          <p:cNvPr id="22" name="TextBox 21"/>
          <p:cNvSpPr txBox="1"/>
          <p:nvPr/>
        </p:nvSpPr>
        <p:spPr>
          <a:xfrm>
            <a:off x="7973567" y="3909059"/>
            <a:ext cx="3456432" cy="393953"/>
          </a:xfrm>
          <a:prstGeom prst="rect">
            <a:avLst/>
          </a:prstGeom>
          <a:noFill/>
        </p:spPr>
        <p:txBody>
          <a:bodyPr wrap="square">
            <a:spAutoFit/>
          </a:bodyPr>
          <a:lstStyle/>
          <a:p>
            <a:r>
              <a:rPr sz="1500" b="0" i="0">
                <a:solidFill>
                  <a:srgbClr val="1A1A1A"/>
                </a:solidFill>
                <a:latin typeface="Arial"/>
              </a:rPr>
              <a:t>Not used</a:t>
            </a:r>
          </a:p>
        </p:txBody>
      </p:sp>
      <p:sp>
        <p:nvSpPr>
          <p:cNvPr id="23" name="Rectangle 22"/>
          <p:cNvSpPr/>
          <p:nvPr/>
        </p:nvSpPr>
        <p:spPr>
          <a:xfrm>
            <a:off x="658368" y="432130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76165"/>
            <a:ext cx="2999232" cy="641604"/>
          </a:xfrm>
          <a:prstGeom prst="rect">
            <a:avLst/>
          </a:prstGeom>
          <a:noFill/>
        </p:spPr>
        <p:txBody>
          <a:bodyPr wrap="square">
            <a:spAutoFit/>
          </a:bodyPr>
          <a:lstStyle/>
          <a:p>
            <a:r>
              <a:rPr sz="1500" b="1" i="0">
                <a:solidFill>
                  <a:srgbClr val="1A1A1A"/>
                </a:solidFill>
                <a:latin typeface="Arial"/>
              </a:rPr>
              <a:t>5. Write the record</a:t>
            </a:r>
          </a:p>
        </p:txBody>
      </p:sp>
      <p:sp>
        <p:nvSpPr>
          <p:cNvPr id="25" name="TextBox 24"/>
          <p:cNvSpPr txBox="1"/>
          <p:nvPr/>
        </p:nvSpPr>
        <p:spPr>
          <a:xfrm>
            <a:off x="3767328" y="4376165"/>
            <a:ext cx="4096511" cy="641604"/>
          </a:xfrm>
          <a:prstGeom prst="rect">
            <a:avLst/>
          </a:prstGeom>
          <a:noFill/>
        </p:spPr>
        <p:txBody>
          <a:bodyPr wrap="square">
            <a:spAutoFit/>
          </a:bodyPr>
          <a:lstStyle/>
          <a:p>
            <a:r>
              <a:rPr sz="1500" b="0" i="0">
                <a:solidFill>
                  <a:srgbClr val="1A1A1A"/>
                </a:solidFill>
                <a:latin typeface="Arial"/>
              </a:rPr>
              <a:t>Registration service calls PLR's write service</a:t>
            </a:r>
          </a:p>
        </p:txBody>
      </p:sp>
      <p:sp>
        <p:nvSpPr>
          <p:cNvPr id="26" name="TextBox 25"/>
          <p:cNvSpPr txBox="1"/>
          <p:nvPr/>
        </p:nvSpPr>
        <p:spPr>
          <a:xfrm>
            <a:off x="7973567" y="4376165"/>
            <a:ext cx="3456432" cy="641604"/>
          </a:xfrm>
          <a:prstGeom prst="rect">
            <a:avLst/>
          </a:prstGeom>
          <a:noFill/>
        </p:spPr>
        <p:txBody>
          <a:bodyPr wrap="square">
            <a:spAutoFit/>
          </a:bodyPr>
          <a:lstStyle/>
          <a:p>
            <a:r>
              <a:rPr sz="1500" b="0" i="0">
                <a:solidFill>
                  <a:srgbClr val="1A1A1A"/>
                </a:solidFill>
                <a:latin typeface="Arial"/>
              </a:rPr>
              <a:t>Carries, checks the grant, signs and logs</a:t>
            </a:r>
          </a:p>
        </p:txBody>
      </p:sp>
      <p:sp>
        <p:nvSpPr>
          <p:cNvPr id="27" name="Rectangle 26"/>
          <p:cNvSpPr/>
          <p:nvPr/>
        </p:nvSpPr>
        <p:spPr>
          <a:xfrm>
            <a:off x="658368" y="503605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90921"/>
            <a:ext cx="2999232" cy="641604"/>
          </a:xfrm>
          <a:prstGeom prst="rect">
            <a:avLst/>
          </a:prstGeom>
          <a:noFill/>
        </p:spPr>
        <p:txBody>
          <a:bodyPr wrap="square">
            <a:spAutoFit/>
          </a:bodyPr>
          <a:lstStyle/>
          <a:p>
            <a:r>
              <a:rPr sz="1500" b="1" i="0">
                <a:solidFill>
                  <a:srgbClr val="1A1A1A"/>
                </a:solidFill>
                <a:latin typeface="Arial"/>
              </a:rPr>
              <a:t>6. Confirm the record exists</a:t>
            </a:r>
          </a:p>
        </p:txBody>
      </p:sp>
      <p:sp>
        <p:nvSpPr>
          <p:cNvPr id="29" name="TextBox 28"/>
          <p:cNvSpPr txBox="1"/>
          <p:nvPr/>
        </p:nvSpPr>
        <p:spPr>
          <a:xfrm>
            <a:off x="3767328" y="5090921"/>
            <a:ext cx="4096511" cy="641604"/>
          </a:xfrm>
          <a:prstGeom prst="rect">
            <a:avLst/>
          </a:prstGeom>
          <a:noFill/>
        </p:spPr>
        <p:txBody>
          <a:bodyPr wrap="square">
            <a:spAutoFit/>
          </a:bodyPr>
          <a:lstStyle/>
          <a:p>
            <a:r>
              <a:rPr sz="1500" b="0" i="0">
                <a:solidFill>
                  <a:srgbClr val="1A1A1A"/>
                </a:solidFill>
                <a:latin typeface="Arial"/>
              </a:rPr>
              <a:t>Registration service calls PLR</a:t>
            </a:r>
          </a:p>
        </p:txBody>
      </p:sp>
      <p:sp>
        <p:nvSpPr>
          <p:cNvPr id="30" name="TextBox 29"/>
          <p:cNvSpPr txBox="1"/>
          <p:nvPr/>
        </p:nvSpPr>
        <p:spPr>
          <a:xfrm>
            <a:off x="7973567" y="5090921"/>
            <a:ext cx="3456432" cy="641604"/>
          </a:xfrm>
          <a:prstGeom prst="rect">
            <a:avLst/>
          </a:prstGeom>
          <a:noFill/>
        </p:spPr>
        <p:txBody>
          <a:bodyPr wrap="square">
            <a:spAutoFit/>
          </a:bodyPr>
          <a:lstStyle/>
          <a:p>
            <a:r>
              <a:rPr sz="1500" b="0" i="0">
                <a:solidFill>
                  <a:srgbClr val="1A1A1A"/>
                </a:solidFill>
                <a:latin typeface="Arial"/>
              </a:rPr>
              <a:t>Carries, checks the grant, signs and logs</a:t>
            </a:r>
          </a:p>
        </p:txBody>
      </p:sp>
      <p:sp>
        <p:nvSpPr>
          <p:cNvPr id="31" name="TextBox 3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data exchange layer carries each call and enforces who may make it, but the registration service puts the steps in order, so know which block holds the sequence before you approve an integration plan.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sequence of a service as a list of calls.</a:t>
            </a:r>
          </a:p>
          <a:p>
            <a:pPr algn="l">
              <a:spcAft>
                <a:spcPts val="400"/>
              </a:spcAft>
            </a:pPr>
            <a:r>
              <a:rPr sz="1800" b="0" i="0">
                <a:solidFill>
                  <a:srgbClr val="595959"/>
                </a:solidFill>
                <a:latin typeface="Arial"/>
              </a:rPr>
              <a:t>The prompt in the companion material gives you a numbered list of calls, each with its caller, its contract and its operation.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 4 (out-of-scope requirements) and sections 6.2, 6.3 and 8.1</a:t>
            </a:r>
          </a:p>
          <a:p>
            <a:pPr>
              <a:spcAft>
                <a:spcPts val="1000"/>
              </a:spcAft>
            </a:pPr>
            <a:r>
              <a:rPr sz="1800" b="0" i="0">
                <a:solidFill>
                  <a:srgbClr val="1A1A1A"/>
                </a:solidFill>
                <a:latin typeface="Arial"/>
              </a:rPr>
              <a:t>•  GovStack Registration, section 6.3.2.7</a:t>
            </a:r>
          </a:p>
          <a:p>
            <a:pPr>
              <a:spcAft>
                <a:spcPts val="1000"/>
              </a:spcAft>
            </a:pPr>
            <a:r>
              <a:rPr sz="1800" b="0" i="0">
                <a:solidFill>
                  <a:srgbClr val="1A1A1A"/>
                </a:solidFill>
                <a:latin typeface="Arial"/>
              </a:rPr>
              <a:t>•  GovStack Digital Registries 3.0-alpha, section 10.5.5</a:t>
            </a:r>
          </a:p>
          <a:p>
            <a:pPr>
              <a:spcAft>
                <a:spcPts val="1000"/>
              </a:spcAft>
            </a:pPr>
            <a:r>
              <a:rPr sz="1800" b="0" i="0">
                <a:solidFill>
                  <a:srgbClr val="1A1A1A"/>
                </a:solidFill>
                <a:latin typeface="Arial"/>
              </a:rPr>
              <a:t>•  GovStack Architecture 2.1.0, section 4.3</a:t>
            </a:r>
          </a:p>
          <a:p>
            <a:pPr>
              <a:spcAft>
                <a:spcPts val="1000"/>
              </a:spcAft>
            </a:pPr>
            <a:r>
              <a:rPr sz="1800" b="0" i="0">
                <a:solidFill>
                  <a:srgbClr val="1A1A1A"/>
                </a:solidFill>
                <a:latin typeface="Arial"/>
              </a:rPr>
              <a:t>•  NIIS X-Road 7.7.0, Architecture (ARC-G) section 1.2</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once-only registration, from beginning to end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learner signs in, the form fills with the facts the learner agrees to release, the registrar approves and the record is in the register: one run that proves four blocks work as one foundation.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parent should not carry the same birth details to a school, a district office and a ministry.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Once-only means the state asks once and reuses what it already holds.</a:t>
            </a:r>
          </a:p>
          <a:p>
            <a:pPr>
              <a:spcAft>
                <a:spcPts val="800"/>
              </a:spcAft>
            </a:pPr>
            <a:r>
              <a:rPr sz="1700" b="0" i="0">
                <a:solidFill>
                  <a:srgbClr val="595959"/>
                </a:solidFill>
                <a:latin typeface="Arial"/>
              </a:rPr>
              <a:t>One registration run shows whether your foundation can do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as PAERA states it</a:t>
            </a:r>
          </a:p>
        </p:txBody>
      </p:sp>
      <p:cxnSp>
        <p:nvCxnSpPr>
          <p:cNvPr id="4" name="Connector 3"/>
          <p:cNvCxnSpPr/>
          <p:nvPr/>
        </p:nvCxnSpPr>
        <p:spPr>
          <a:xfrm>
            <a:off x="3127248" y="32461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43600" y="32461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59952" y="32461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514600"/>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Identity</a:t>
            </a:r>
          </a:p>
        </p:txBody>
      </p:sp>
      <p:sp>
        <p:nvSpPr>
          <p:cNvPr id="8" name="Rounded Rectangle 7"/>
          <p:cNvSpPr/>
          <p:nvPr/>
        </p:nvSpPr>
        <p:spPr>
          <a:xfrm>
            <a:off x="3474720" y="2514600"/>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Registration</a:t>
            </a:r>
          </a:p>
        </p:txBody>
      </p:sp>
      <p:sp>
        <p:nvSpPr>
          <p:cNvPr id="9" name="Rounded Rectangle 8"/>
          <p:cNvSpPr/>
          <p:nvPr/>
        </p:nvSpPr>
        <p:spPr>
          <a:xfrm>
            <a:off x="6291072" y="2514600"/>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Learner register</a:t>
            </a:r>
          </a:p>
        </p:txBody>
      </p:sp>
      <p:sp>
        <p:nvSpPr>
          <p:cNvPr id="10" name="Rounded Rectangle 9"/>
          <p:cNvSpPr/>
          <p:nvPr/>
        </p:nvSpPr>
        <p:spPr>
          <a:xfrm>
            <a:off x="9107424" y="2514600"/>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Data exchange layer</a:t>
            </a:r>
          </a:p>
        </p:txBody>
      </p:sp>
      <p:sp>
        <p:nvSpPr>
          <p:cNvPr id="11" name="TextBox 10"/>
          <p:cNvSpPr txBox="1"/>
          <p:nvPr/>
        </p:nvSpPr>
        <p:spPr>
          <a:xfrm>
            <a:off x="658368" y="4251960"/>
            <a:ext cx="10881360" cy="548640"/>
          </a:xfrm>
          <a:prstGeom prst="rect">
            <a:avLst/>
          </a:prstGeom>
          <a:noFill/>
        </p:spPr>
        <p:txBody>
          <a:bodyPr wrap="square">
            <a:spAutoFit/>
          </a:bodyPr>
          <a:lstStyle/>
          <a:p>
            <a:r>
              <a:rPr sz="1800" b="1" i="0">
                <a:solidFill>
                  <a:srgbClr val="006E96"/>
                </a:solidFill>
                <a:latin typeface="Arial"/>
              </a:rPr>
              <a:t>“Citizens and businesses should only have to provide information to the government once.”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1 — sign in and approve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learner signs in on PNIA's own sign-in page.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PNIA asks which facts it may share with this service.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The learner approves</a:t>
            </a:r>
          </a:p>
          <a:p>
            <a:pPr>
              <a:spcAft>
                <a:spcPts val="300"/>
              </a:spcAft>
            </a:pPr>
            <a:r>
              <a:rPr sz="1700" b="0" i="0">
                <a:solidFill>
                  <a:srgbClr val="595959"/>
                </a:solidFill>
                <a:latin typeface="Arial"/>
              </a:rPr>
              <a:t>Name and date of birth.</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service receives only what was approved, and an identifier made for this service.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2 — the form fills itself</a:t>
            </a:r>
          </a:p>
        </p:txBody>
      </p:sp>
      <p:sp>
        <p:nvSpPr>
          <p:cNvPr id="4" name="Rounded Rectangle 3"/>
          <p:cNvSpPr/>
          <p:nvPr/>
        </p:nvSpPr>
        <p:spPr>
          <a:xfrm>
            <a:off x="658368" y="2125979"/>
            <a:ext cx="5394960" cy="22860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272284"/>
            <a:ext cx="4992624" cy="2011680"/>
          </a:xfrm>
          <a:prstGeom prst="rect">
            <a:avLst/>
          </a:prstGeom>
          <a:noFill/>
        </p:spPr>
        <p:txBody>
          <a:bodyPr wrap="square">
            <a:spAutoFit/>
          </a:bodyPr>
          <a:lstStyle/>
          <a:p>
            <a:pPr>
              <a:spcAft>
                <a:spcPts val="700"/>
              </a:spcAft>
            </a:pPr>
            <a:r>
              <a:rPr sz="2100" b="1" i="0">
                <a:solidFill>
                  <a:srgbClr val="006E96"/>
                </a:solidFill>
                <a:latin typeface="Arial"/>
              </a:rPr>
              <a:t>Filled from PNIA</a:t>
            </a:r>
          </a:p>
          <a:p>
            <a:pPr>
              <a:spcAft>
                <a:spcPts val="700"/>
              </a:spcAft>
            </a:pPr>
            <a:r>
              <a:rPr sz="1800" b="0" i="0">
                <a:solidFill>
                  <a:srgbClr val="1A1A1A"/>
                </a:solidFill>
                <a:latin typeface="Arial"/>
              </a:rPr>
              <a:t>Name</a:t>
            </a:r>
          </a:p>
          <a:p>
            <a:pPr>
              <a:spcAft>
                <a:spcPts val="700"/>
              </a:spcAft>
            </a:pPr>
            <a:r>
              <a:rPr sz="1800" b="0" i="0">
                <a:solidFill>
                  <a:srgbClr val="1A1A1A"/>
                </a:solidFill>
                <a:latin typeface="Arial"/>
              </a:rPr>
              <a:t>Date of birth</a:t>
            </a:r>
          </a:p>
        </p:txBody>
      </p:sp>
      <p:sp>
        <p:nvSpPr>
          <p:cNvPr id="6" name="Rounded Rectangle 5"/>
          <p:cNvSpPr/>
          <p:nvPr/>
        </p:nvSpPr>
        <p:spPr>
          <a:xfrm>
            <a:off x="6263640" y="2125979"/>
            <a:ext cx="5394960" cy="22860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2272284"/>
            <a:ext cx="4992624" cy="2011680"/>
          </a:xfrm>
          <a:prstGeom prst="rect">
            <a:avLst/>
          </a:prstGeom>
          <a:noFill/>
        </p:spPr>
        <p:txBody>
          <a:bodyPr wrap="square">
            <a:spAutoFit/>
          </a:bodyPr>
          <a:lstStyle/>
          <a:p>
            <a:pPr>
              <a:spcAft>
                <a:spcPts val="700"/>
              </a:spcAft>
            </a:pPr>
            <a:r>
              <a:rPr sz="2100" b="1" i="0">
                <a:solidFill>
                  <a:srgbClr val="006E96"/>
                </a:solidFill>
                <a:latin typeface="Arial"/>
              </a:rPr>
              <a:t>Typed by the parent</a:t>
            </a:r>
          </a:p>
          <a:p>
            <a:pPr>
              <a:spcAft>
                <a:spcPts val="700"/>
              </a:spcAft>
            </a:pPr>
            <a:r>
              <a:rPr sz="1800" b="0" i="0">
                <a:solidFill>
                  <a:srgbClr val="1A1A1A"/>
                </a:solidFill>
                <a:latin typeface="Arial"/>
              </a:rPr>
              <a:t>School</a:t>
            </a:r>
          </a:p>
          <a:p>
            <a:pPr>
              <a:spcAft>
                <a:spcPts val="700"/>
              </a:spcAft>
            </a:pPr>
            <a:r>
              <a:rPr sz="1800" b="0" i="0">
                <a:solidFill>
                  <a:srgbClr val="1A1A1A"/>
                </a:solidFill>
                <a:latin typeface="Arial"/>
              </a:rPr>
              <a:t>Grade</a:t>
            </a:r>
          </a:p>
          <a:p>
            <a:pPr>
              <a:spcAft>
                <a:spcPts val="700"/>
              </a:spcAft>
            </a:pPr>
            <a:r>
              <a:rPr sz="1800" b="0" i="0">
                <a:solidFill>
                  <a:srgbClr val="1A1A1A"/>
                </a:solidFill>
                <a:latin typeface="Arial"/>
              </a:rPr>
              <a:t>A contact number</a:t>
            </a:r>
          </a:p>
        </p:txBody>
      </p:sp>
      <p:sp>
        <p:nvSpPr>
          <p:cNvPr id="8" name="TextBox 7"/>
          <p:cNvSpPr txBox="1"/>
          <p:nvPr/>
        </p:nvSpPr>
        <p:spPr>
          <a:xfrm>
            <a:off x="658368" y="4594859"/>
            <a:ext cx="10881360" cy="548640"/>
          </a:xfrm>
          <a:prstGeom prst="rect">
            <a:avLst/>
          </a:prstGeom>
          <a:noFill/>
        </p:spPr>
        <p:txBody>
          <a:bodyPr wrap="square">
            <a:spAutoFit/>
          </a:bodyPr>
          <a:lstStyle/>
          <a:p>
            <a:r>
              <a:rPr sz="1800" b="1" i="0">
                <a:solidFill>
                  <a:srgbClr val="006E96"/>
                </a:solidFill>
                <a:latin typeface="Arial"/>
              </a:rPr>
              <a:t>Nothing is typed twice.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3 — submit, decide, write</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The learner submits once.</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The automated checks run.</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The registrar, a person, approves.</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The service writes the record to the learner register, through the exchange.</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The register confirms that the record exists.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Identity block does not offer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query of a person's facts from server to server: required, but no interface is published.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PNIA's present service on Linkup</a:t>
            </a:r>
          </a:p>
          <a:p>
            <a:pPr>
              <a:spcAft>
                <a:spcPts val="300"/>
              </a:spcAft>
            </a:pPr>
            <a:r>
              <a:rPr sz="1800" b="0" i="0">
                <a:solidFill>
                  <a:srgbClr val="595959"/>
                </a:solidFill>
                <a:latin typeface="Arial"/>
              </a:rPr>
              <a:t>A read by national number, a contract of Progressa's own.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 build that uses it names it as such.</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run, step by step</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411479"/>
          </a:xfrm>
          <a:prstGeom prst="rect">
            <a:avLst/>
          </a:prstGeom>
          <a:noFill/>
        </p:spPr>
        <p:txBody>
          <a:bodyPr wrap="square">
            <a:spAutoFit/>
          </a:bodyPr>
          <a:lstStyle/>
          <a:p>
            <a:pPr>
              <a:spcAft>
                <a:spcPts val="300"/>
              </a:spcAft>
            </a:pPr>
            <a:r>
              <a:rPr sz="1600" b="1" i="0">
                <a:solidFill>
                  <a:srgbClr val="1A1A1A"/>
                </a:solidFill>
                <a:latin typeface="Arial"/>
              </a:rPr>
              <a:t>Sign in with the national identity: PNIA's own sign-in page</a:t>
            </a:r>
          </a:p>
        </p:txBody>
      </p:sp>
      <p:sp>
        <p:nvSpPr>
          <p:cNvPr id="6" name="Rectangle 5"/>
          <p:cNvSpPr/>
          <p:nvPr/>
        </p:nvSpPr>
        <p:spPr>
          <a:xfrm>
            <a:off x="621792" y="1879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1984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20240"/>
            <a:ext cx="10527487" cy="411479"/>
          </a:xfrm>
          <a:prstGeom prst="rect">
            <a:avLst/>
          </a:prstGeom>
          <a:noFill/>
        </p:spPr>
        <p:txBody>
          <a:bodyPr wrap="square">
            <a:spAutoFit/>
          </a:bodyPr>
          <a:lstStyle/>
          <a:p>
            <a:pPr>
              <a:spcAft>
                <a:spcPts val="300"/>
              </a:spcAft>
            </a:pPr>
            <a:r>
              <a:rPr sz="1600" b="1" i="0">
                <a:solidFill>
                  <a:srgbClr val="1A1A1A"/>
                </a:solidFill>
                <a:latin typeface="Arial"/>
              </a:rPr>
              <a:t>Sign in as the enrolled test person</a:t>
            </a:r>
          </a:p>
        </p:txBody>
      </p:sp>
      <p:sp>
        <p:nvSpPr>
          <p:cNvPr id="9" name="Rectangle 8"/>
          <p:cNvSpPr/>
          <p:nvPr/>
        </p:nvSpPr>
        <p:spPr>
          <a:xfrm>
            <a:off x="621792" y="2336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441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377440"/>
            <a:ext cx="10527487" cy="411479"/>
          </a:xfrm>
          <a:prstGeom prst="rect">
            <a:avLst/>
          </a:prstGeom>
          <a:noFill/>
        </p:spPr>
        <p:txBody>
          <a:bodyPr wrap="square">
            <a:spAutoFit/>
          </a:bodyPr>
          <a:lstStyle/>
          <a:p>
            <a:pPr>
              <a:spcAft>
                <a:spcPts val="300"/>
              </a:spcAft>
            </a:pPr>
            <a:r>
              <a:rPr sz="1600" b="1" i="0">
                <a:solidFill>
                  <a:srgbClr val="1A1A1A"/>
                </a:solidFill>
                <a:latin typeface="Arial"/>
              </a:rPr>
              <a:t>Approve the name and the date of birth only</a:t>
            </a:r>
          </a:p>
        </p:txBody>
      </p:sp>
      <p:sp>
        <p:nvSpPr>
          <p:cNvPr id="12" name="Rectangle 11"/>
          <p:cNvSpPr/>
          <p:nvPr/>
        </p:nvSpPr>
        <p:spPr>
          <a:xfrm>
            <a:off x="621792" y="2793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2898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2834640"/>
            <a:ext cx="10527487" cy="411479"/>
          </a:xfrm>
          <a:prstGeom prst="rect">
            <a:avLst/>
          </a:prstGeom>
          <a:noFill/>
        </p:spPr>
        <p:txBody>
          <a:bodyPr wrap="square">
            <a:spAutoFit/>
          </a:bodyPr>
          <a:lstStyle/>
          <a:p>
            <a:pPr>
              <a:spcAft>
                <a:spcPts val="300"/>
              </a:spcAft>
            </a:pPr>
            <a:r>
              <a:rPr sz="1600" b="1" i="0">
                <a:solidFill>
                  <a:srgbClr val="1A1A1A"/>
                </a:solidFill>
                <a:latin typeface="Arial"/>
              </a:rPr>
              <a:t>Back on the form: those two facts filled from PNIA</a:t>
            </a:r>
          </a:p>
        </p:txBody>
      </p:sp>
      <p:sp>
        <p:nvSpPr>
          <p:cNvPr id="15" name="Rectangle 14"/>
          <p:cNvSpPr/>
          <p:nvPr/>
        </p:nvSpPr>
        <p:spPr>
          <a:xfrm>
            <a:off x="621792" y="3250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3558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291840"/>
            <a:ext cx="10527487" cy="411479"/>
          </a:xfrm>
          <a:prstGeom prst="rect">
            <a:avLst/>
          </a:prstGeom>
          <a:noFill/>
        </p:spPr>
        <p:txBody>
          <a:bodyPr wrap="square">
            <a:spAutoFit/>
          </a:bodyPr>
          <a:lstStyle/>
          <a:p>
            <a:pPr>
              <a:spcAft>
                <a:spcPts val="300"/>
              </a:spcAft>
            </a:pPr>
            <a:r>
              <a:rPr sz="1600" b="1" i="0">
                <a:solidFill>
                  <a:srgbClr val="1A1A1A"/>
                </a:solidFill>
                <a:latin typeface="Arial"/>
              </a:rPr>
              <a:t>Type the school, the grade and a contact number</a:t>
            </a:r>
          </a:p>
        </p:txBody>
      </p:sp>
      <p:sp>
        <p:nvSpPr>
          <p:cNvPr id="18" name="Rectangle 17"/>
          <p:cNvSpPr/>
          <p:nvPr/>
        </p:nvSpPr>
        <p:spPr>
          <a:xfrm>
            <a:off x="621792" y="3707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3813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3749039"/>
            <a:ext cx="10527487" cy="411479"/>
          </a:xfrm>
          <a:prstGeom prst="rect">
            <a:avLst/>
          </a:prstGeom>
          <a:noFill/>
        </p:spPr>
        <p:txBody>
          <a:bodyPr wrap="square">
            <a:spAutoFit/>
          </a:bodyPr>
          <a:lstStyle/>
          <a:p>
            <a:pPr>
              <a:spcAft>
                <a:spcPts val="300"/>
              </a:spcAft>
            </a:pPr>
            <a:r>
              <a:rPr sz="1600" b="1" i="0">
                <a:solidFill>
                  <a:srgbClr val="1A1A1A"/>
                </a:solidFill>
                <a:latin typeface="Arial"/>
              </a:rPr>
              <a:t>Submit once; the automated checks run</a:t>
            </a:r>
          </a:p>
        </p:txBody>
      </p:sp>
      <p:sp>
        <p:nvSpPr>
          <p:cNvPr id="21" name="Rectangle 20"/>
          <p:cNvSpPr/>
          <p:nvPr/>
        </p:nvSpPr>
        <p:spPr>
          <a:xfrm>
            <a:off x="621792" y="41650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4206240"/>
            <a:ext cx="10527487" cy="411479"/>
          </a:xfrm>
          <a:prstGeom prst="rect">
            <a:avLst/>
          </a:prstGeom>
          <a:noFill/>
        </p:spPr>
        <p:txBody>
          <a:bodyPr wrap="square">
            <a:spAutoFit/>
          </a:bodyPr>
          <a:lstStyle/>
          <a:p>
            <a:pPr>
              <a:spcAft>
                <a:spcPts val="300"/>
              </a:spcAft>
            </a:pPr>
            <a:r>
              <a:rPr sz="1600" b="1" i="0">
                <a:solidFill>
                  <a:srgbClr val="1A1A1A"/>
                </a:solidFill>
                <a:latin typeface="Arial"/>
              </a:rPr>
              <a:t>The registrar opens the application and approves it</a:t>
            </a:r>
          </a:p>
        </p:txBody>
      </p:sp>
      <p:sp>
        <p:nvSpPr>
          <p:cNvPr id="24" name="Rectangle 23"/>
          <p:cNvSpPr/>
          <p:nvPr/>
        </p:nvSpPr>
        <p:spPr>
          <a:xfrm>
            <a:off x="621792" y="4622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1792" y="4727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6" name="TextBox 25"/>
          <p:cNvSpPr txBox="1"/>
          <p:nvPr/>
        </p:nvSpPr>
        <p:spPr>
          <a:xfrm>
            <a:off x="1115568" y="4663440"/>
            <a:ext cx="10527487" cy="411479"/>
          </a:xfrm>
          <a:prstGeom prst="rect">
            <a:avLst/>
          </a:prstGeom>
          <a:noFill/>
        </p:spPr>
        <p:txBody>
          <a:bodyPr wrap="square">
            <a:spAutoFit/>
          </a:bodyPr>
          <a:lstStyle/>
          <a:p>
            <a:pPr>
              <a:spcAft>
                <a:spcPts val="300"/>
              </a:spcAft>
            </a:pPr>
            <a:r>
              <a:rPr sz="1600" b="1" i="0">
                <a:solidFill>
                  <a:srgbClr val="1A1A1A"/>
                </a:solidFill>
                <a:latin typeface="Arial"/>
              </a:rPr>
              <a:t>The record written to the learner register, through the exchange</a:t>
            </a:r>
          </a:p>
        </p:txBody>
      </p:sp>
      <p:sp>
        <p:nvSpPr>
          <p:cNvPr id="27" name="Rectangle 26"/>
          <p:cNvSpPr/>
          <p:nvPr/>
        </p:nvSpPr>
        <p:spPr>
          <a:xfrm>
            <a:off x="621792" y="5079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1792" y="5184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9" name="TextBox 28"/>
          <p:cNvSpPr txBox="1"/>
          <p:nvPr/>
        </p:nvSpPr>
        <p:spPr>
          <a:xfrm>
            <a:off x="1115568" y="5120640"/>
            <a:ext cx="10527487" cy="411479"/>
          </a:xfrm>
          <a:prstGeom prst="rect">
            <a:avLst/>
          </a:prstGeom>
          <a:noFill/>
        </p:spPr>
        <p:txBody>
          <a:bodyPr wrap="square">
            <a:spAutoFit/>
          </a:bodyPr>
          <a:lstStyle/>
          <a:p>
            <a:pPr>
              <a:spcAft>
                <a:spcPts val="300"/>
              </a:spcAft>
            </a:pPr>
            <a:r>
              <a:rPr sz="1600" b="1" i="0">
                <a:solidFill>
                  <a:srgbClr val="1A1A1A"/>
                </a:solidFill>
                <a:latin typeface="Arial"/>
              </a:rPr>
              <a:t>The register confirms that the record exists</a:t>
            </a:r>
          </a:p>
        </p:txBody>
      </p:sp>
      <p:sp>
        <p:nvSpPr>
          <p:cNvPr id="30" name="TextBox 29"/>
          <p:cNvSpPr txBox="1"/>
          <p:nvPr/>
        </p:nvSpPr>
        <p:spPr>
          <a:xfrm>
            <a:off x="658368" y="565099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31" name="TextBox 3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learner signs in, the form fills with the facts the learner agrees to release, the registrar approves and the record is in the register: one run that proves four blocks work as one foundation.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acceptance script for the once-only run.</a:t>
            </a:r>
          </a:p>
          <a:p>
            <a:pPr algn="l">
              <a:spcAft>
                <a:spcPts val="400"/>
              </a:spcAft>
            </a:pPr>
            <a:r>
              <a:rPr sz="1800" b="0" i="0">
                <a:solidFill>
                  <a:srgbClr val="595959"/>
                </a:solidFill>
                <a:latin typeface="Arial"/>
              </a:rPr>
              <a:t>The prompt in the companion material gives you a numbered acceptance script for the run, each step with its pass condition.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5.2, Principle #5 (Once-Only)</a:t>
            </a:r>
          </a:p>
          <a:p>
            <a:pPr>
              <a:spcAft>
                <a:spcPts val="1000"/>
              </a:spcAft>
            </a:pPr>
            <a:r>
              <a:rPr sz="1800" b="0" i="0">
                <a:solidFill>
                  <a:srgbClr val="1A1A1A"/>
                </a:solidFill>
                <a:latin typeface="Arial"/>
              </a:rPr>
              <a:t>•  GovStack Registration, sections 6.3.2 and 6.3.2.7</a:t>
            </a:r>
          </a:p>
          <a:p>
            <a:pPr>
              <a:spcAft>
                <a:spcPts val="1000"/>
              </a:spcAft>
            </a:pPr>
            <a:r>
              <a:rPr sz="1800" b="0" i="0">
                <a:solidFill>
                  <a:srgbClr val="1A1A1A"/>
                </a:solidFill>
                <a:latin typeface="Arial"/>
              </a:rPr>
              <a:t>•  GovStack Identity 2.0, sections 9.1.1 and 7.2.1, and requirement 6.3-r1</a:t>
            </a:r>
          </a:p>
          <a:p>
            <a:pPr>
              <a:spcAft>
                <a:spcPts val="1000"/>
              </a:spcAft>
            </a:pPr>
            <a:r>
              <a:rPr sz="1800" b="0" i="0">
                <a:solidFill>
                  <a:srgbClr val="1A1A1A"/>
                </a:solidFill>
                <a:latin typeface="Arial"/>
              </a:rPr>
              <a:t>•  GovStack Information Mediator 1.1.1, section 4 (out-of-scope requirements) and section 9.1</a:t>
            </a:r>
          </a:p>
          <a:p>
            <a:pPr>
              <a:spcAft>
                <a:spcPts val="1000"/>
              </a:spcAft>
            </a:pPr>
            <a:r>
              <a:rPr sz="1800" b="0" i="0">
                <a:solidFill>
                  <a:srgbClr val="1A1A1A"/>
                </a:solidFill>
                <a:latin typeface="Arial"/>
              </a:rPr>
              <a:t>•  GovStack Digital Registries 3.0-alpha, section 8.2</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once-only registration, from beginning to end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acceptance checks: from "set up" to "proven"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configuration has a check that someone can run and read, and a block is called proven only when its checks have run and passed.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your steering committee the platform is GovStack compliant at Level 2.</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describes the product, not how your country set it up.</a:t>
            </a:r>
          </a:p>
          <a:p>
            <a:pPr>
              <a:spcAft>
                <a:spcPts val="800"/>
              </a:spcAft>
            </a:pPr>
            <a:r>
              <a:rPr sz="1700" b="0" i="0">
                <a:solidFill>
                  <a:srgbClr val="595959"/>
                </a:solidFill>
                <a:latin typeface="Arial"/>
              </a:rPr>
              <a:t>What you can ask for is simpler and stronger: a check for every configuration, run and passed, with its date.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GovStack itself offers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self-assessment of compliance against the requirements.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Automated tests of the published interfaces.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 compliance level for the product</a:t>
            </a:r>
          </a:p>
          <a:p>
            <a:pPr>
              <a:spcAft>
                <a:spcPts val="300"/>
              </a:spcAft>
            </a:pPr>
            <a:r>
              <a:rPr sz="1800" b="0" i="0">
                <a:solidFill>
                  <a:srgbClr val="595959"/>
                </a:solidFill>
                <a:latin typeface="Arial"/>
              </a:rPr>
              <a:t>Level 1 or Level 2.</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check for each configuration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What is run, against which published interface.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What counts as a pass.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result, and the date of the last run.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Set up is not proven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Set up</a:t>
            </a:r>
          </a:p>
          <a:p>
            <a:pPr>
              <a:spcAft>
                <a:spcPts val="300"/>
              </a:spcAft>
            </a:pPr>
            <a:r>
              <a:rPr sz="1800" b="0" i="0">
                <a:solidFill>
                  <a:srgbClr val="595959"/>
                </a:solidFill>
                <a:latin typeface="Arial"/>
              </a:rPr>
              <a:t>The configuration exists.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Proven</a:t>
            </a:r>
          </a:p>
          <a:p>
            <a:pPr>
              <a:spcAft>
                <a:spcPts val="300"/>
              </a:spcAft>
            </a:pPr>
            <a:r>
              <a:rPr sz="1800" b="0" i="0">
                <a:solidFill>
                  <a:srgbClr val="595959"/>
                </a:solidFill>
                <a:latin typeface="Arial"/>
              </a:rPr>
              <a:t>Every check has run and passed, with a date.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Until then</a:t>
            </a:r>
          </a:p>
          <a:p>
            <a:pPr>
              <a:spcAft>
                <a:spcPts val="300"/>
              </a:spcAft>
            </a:pPr>
            <a:r>
              <a:rPr sz="1800" b="0" i="0">
                <a:solidFill>
                  <a:srgbClr val="595959"/>
                </a:solidFill>
                <a:latin typeface="Arial"/>
              </a:rPr>
              <a:t>Set up, not yet proven.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sheet of checks</a:t>
            </a:r>
          </a:p>
        </p:txBody>
      </p:sp>
      <p:sp>
        <p:nvSpPr>
          <p:cNvPr id="4" name="TextBox 3"/>
          <p:cNvSpPr txBox="1"/>
          <p:nvPr/>
        </p:nvSpPr>
        <p:spPr>
          <a:xfrm>
            <a:off x="658368" y="1463040"/>
            <a:ext cx="3364991" cy="457200"/>
          </a:xfrm>
          <a:prstGeom prst="rect">
            <a:avLst/>
          </a:prstGeom>
          <a:noFill/>
        </p:spPr>
        <p:txBody>
          <a:bodyPr wrap="square">
            <a:spAutoFit/>
          </a:bodyPr>
          <a:lstStyle/>
          <a:p>
            <a:r>
              <a:rPr sz="1500" b="1" i="0">
                <a:solidFill>
                  <a:srgbClr val="006E96"/>
                </a:solidFill>
                <a:latin typeface="Arial"/>
              </a:rPr>
              <a:t>Configuration</a:t>
            </a:r>
          </a:p>
        </p:txBody>
      </p:sp>
      <p:sp>
        <p:nvSpPr>
          <p:cNvPr id="5" name="TextBox 4"/>
          <p:cNvSpPr txBox="1"/>
          <p:nvPr/>
        </p:nvSpPr>
        <p:spPr>
          <a:xfrm>
            <a:off x="4133087" y="1463040"/>
            <a:ext cx="2999232" cy="457200"/>
          </a:xfrm>
          <a:prstGeom prst="rect">
            <a:avLst/>
          </a:prstGeom>
          <a:noFill/>
        </p:spPr>
        <p:txBody>
          <a:bodyPr wrap="square">
            <a:spAutoFit/>
          </a:bodyPr>
          <a:lstStyle/>
          <a:p>
            <a:r>
              <a:rPr sz="1500" b="1" i="0">
                <a:solidFill>
                  <a:srgbClr val="006E96"/>
                </a:solidFill>
                <a:latin typeface="Arial"/>
              </a:rPr>
              <a:t>What is run</a:t>
            </a:r>
          </a:p>
        </p:txBody>
      </p:sp>
      <p:sp>
        <p:nvSpPr>
          <p:cNvPr id="6" name="TextBox 5"/>
          <p:cNvSpPr txBox="1"/>
          <p:nvPr/>
        </p:nvSpPr>
        <p:spPr>
          <a:xfrm>
            <a:off x="7242048" y="1463040"/>
            <a:ext cx="2724912" cy="457200"/>
          </a:xfrm>
          <a:prstGeom prst="rect">
            <a:avLst/>
          </a:prstGeom>
          <a:noFill/>
        </p:spPr>
        <p:txBody>
          <a:bodyPr wrap="square">
            <a:spAutoFit/>
          </a:bodyPr>
          <a:lstStyle/>
          <a:p>
            <a:r>
              <a:rPr sz="1500" b="1" i="0">
                <a:solidFill>
                  <a:srgbClr val="006E96"/>
                </a:solidFill>
                <a:latin typeface="Arial"/>
              </a:rPr>
              <a:t>What counts as a pass</a:t>
            </a:r>
          </a:p>
        </p:txBody>
      </p:sp>
      <p:sp>
        <p:nvSpPr>
          <p:cNvPr id="7" name="TextBox 6"/>
          <p:cNvSpPr txBox="1"/>
          <p:nvPr/>
        </p:nvSpPr>
        <p:spPr>
          <a:xfrm>
            <a:off x="10076688" y="1463040"/>
            <a:ext cx="1353312" cy="457200"/>
          </a:xfrm>
          <a:prstGeom prst="rect">
            <a:avLst/>
          </a:prstGeom>
          <a:noFill/>
        </p:spPr>
        <p:txBody>
          <a:bodyPr wrap="square">
            <a:spAutoFit/>
          </a:bodyPr>
          <a:lstStyle/>
          <a:p>
            <a:r>
              <a:rPr sz="1500" b="1" i="0">
                <a:solidFill>
                  <a:srgbClr val="006E96"/>
                </a:solidFill>
                <a:latin typeface="Arial"/>
              </a:rPr>
              <a:t>Last run</a:t>
            </a:r>
          </a:p>
        </p:txBody>
      </p:sp>
      <p:sp>
        <p:nvSpPr>
          <p:cNvPr id="8" name="Rectangle 7"/>
          <p:cNvSpPr/>
          <p:nvPr/>
        </p:nvSpPr>
        <p:spPr>
          <a:xfrm>
            <a:off x="658368" y="1920240"/>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11680"/>
            <a:ext cx="3364991" cy="508145"/>
          </a:xfrm>
          <a:prstGeom prst="rect">
            <a:avLst/>
          </a:prstGeom>
          <a:noFill/>
        </p:spPr>
        <p:txBody>
          <a:bodyPr wrap="square">
            <a:spAutoFit/>
          </a:bodyPr>
          <a:lstStyle/>
          <a:p>
            <a:r>
              <a:rPr sz="1500" b="1" i="0">
                <a:solidFill>
                  <a:srgbClr val="1A1A1A"/>
                </a:solidFill>
                <a:latin typeface="Arial"/>
              </a:rPr>
              <a:t>X1 The registration service as a member</a:t>
            </a:r>
          </a:p>
        </p:txBody>
      </p:sp>
      <p:sp>
        <p:nvSpPr>
          <p:cNvPr id="10" name="TextBox 9"/>
          <p:cNvSpPr txBox="1"/>
          <p:nvPr/>
        </p:nvSpPr>
        <p:spPr>
          <a:xfrm>
            <a:off x="4133087" y="2011680"/>
            <a:ext cx="2999232" cy="508145"/>
          </a:xfrm>
          <a:prstGeom prst="rect">
            <a:avLst/>
          </a:prstGeom>
          <a:noFill/>
        </p:spPr>
        <p:txBody>
          <a:bodyPr wrap="square">
            <a:spAutoFit/>
          </a:bodyPr>
          <a:lstStyle/>
          <a:p>
            <a:r>
              <a:rPr sz="1500" b="0" i="0">
                <a:solidFill>
                  <a:srgbClr val="1A1A1A"/>
                </a:solidFill>
                <a:latin typeface="Arial"/>
              </a:rPr>
              <a:t>List the members</a:t>
            </a:r>
          </a:p>
        </p:txBody>
      </p:sp>
      <p:sp>
        <p:nvSpPr>
          <p:cNvPr id="11" name="TextBox 10"/>
          <p:cNvSpPr txBox="1"/>
          <p:nvPr/>
        </p:nvSpPr>
        <p:spPr>
          <a:xfrm>
            <a:off x="7242048" y="2011680"/>
            <a:ext cx="2724912" cy="508145"/>
          </a:xfrm>
          <a:prstGeom prst="rect">
            <a:avLst/>
          </a:prstGeom>
          <a:noFill/>
        </p:spPr>
        <p:txBody>
          <a:bodyPr wrap="square">
            <a:spAutoFit/>
          </a:bodyPr>
          <a:lstStyle/>
          <a:p>
            <a:r>
              <a:rPr sz="1500" b="0" i="0">
                <a:solidFill>
                  <a:srgbClr val="1A1A1A"/>
                </a:solidFill>
                <a:latin typeface="Arial"/>
              </a:rPr>
              <a:t>Its member and application listed</a:t>
            </a:r>
          </a:p>
        </p:txBody>
      </p:sp>
      <p:sp>
        <p:nvSpPr>
          <p:cNvPr id="12" name="TextBox 11"/>
          <p:cNvSpPr txBox="1"/>
          <p:nvPr/>
        </p:nvSpPr>
        <p:spPr>
          <a:xfrm>
            <a:off x="10076688" y="2011680"/>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13" name="Rectangle 12"/>
          <p:cNvSpPr/>
          <p:nvPr/>
        </p:nvSpPr>
        <p:spPr>
          <a:xfrm>
            <a:off x="658368" y="253811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92977"/>
            <a:ext cx="3364991" cy="508145"/>
          </a:xfrm>
          <a:prstGeom prst="rect">
            <a:avLst/>
          </a:prstGeom>
          <a:noFill/>
        </p:spPr>
        <p:txBody>
          <a:bodyPr wrap="square">
            <a:spAutoFit/>
          </a:bodyPr>
          <a:lstStyle/>
          <a:p>
            <a:r>
              <a:rPr sz="1500" b="1" i="0">
                <a:solidFill>
                  <a:srgbClr val="1A1A1A"/>
                </a:solidFill>
                <a:latin typeface="Arial"/>
              </a:rPr>
              <a:t>X2 The write service and its contract</a:t>
            </a:r>
          </a:p>
        </p:txBody>
      </p:sp>
      <p:sp>
        <p:nvSpPr>
          <p:cNvPr id="15" name="TextBox 14"/>
          <p:cNvSpPr txBox="1"/>
          <p:nvPr/>
        </p:nvSpPr>
        <p:spPr>
          <a:xfrm>
            <a:off x="4133087" y="2592977"/>
            <a:ext cx="2999232" cy="508145"/>
          </a:xfrm>
          <a:prstGeom prst="rect">
            <a:avLst/>
          </a:prstGeom>
          <a:noFill/>
        </p:spPr>
        <p:txBody>
          <a:bodyPr wrap="square">
            <a:spAutoFit/>
          </a:bodyPr>
          <a:lstStyle/>
          <a:p>
            <a:r>
              <a:rPr sz="1500" b="0" i="0">
                <a:solidFill>
                  <a:srgbClr val="1A1A1A"/>
                </a:solidFill>
                <a:latin typeface="Arial"/>
              </a:rPr>
              <a:t>List the services; fetch the contract</a:t>
            </a:r>
          </a:p>
        </p:txBody>
      </p:sp>
      <p:sp>
        <p:nvSpPr>
          <p:cNvPr id="16" name="TextBox 15"/>
          <p:cNvSpPr txBox="1"/>
          <p:nvPr/>
        </p:nvSpPr>
        <p:spPr>
          <a:xfrm>
            <a:off x="7242048" y="2592977"/>
            <a:ext cx="2724912" cy="508145"/>
          </a:xfrm>
          <a:prstGeom prst="rect">
            <a:avLst/>
          </a:prstGeom>
          <a:noFill/>
        </p:spPr>
        <p:txBody>
          <a:bodyPr wrap="square">
            <a:spAutoFit/>
          </a:bodyPr>
          <a:lstStyle/>
          <a:p>
            <a:r>
              <a:rPr sz="1500" b="0" i="0">
                <a:solidFill>
                  <a:srgbClr val="1A1A1A"/>
                </a:solidFill>
                <a:latin typeface="Arial"/>
              </a:rPr>
              <a:t>Contract returned; a test record exists</a:t>
            </a:r>
          </a:p>
        </p:txBody>
      </p:sp>
      <p:sp>
        <p:nvSpPr>
          <p:cNvPr id="17" name="TextBox 16"/>
          <p:cNvSpPr txBox="1"/>
          <p:nvPr/>
        </p:nvSpPr>
        <p:spPr>
          <a:xfrm>
            <a:off x="10076688" y="2592977"/>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18" name="Rectangle 17"/>
          <p:cNvSpPr/>
          <p:nvPr/>
        </p:nvSpPr>
        <p:spPr>
          <a:xfrm>
            <a:off x="658368" y="311941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174274"/>
            <a:ext cx="3364991" cy="508145"/>
          </a:xfrm>
          <a:prstGeom prst="rect">
            <a:avLst/>
          </a:prstGeom>
          <a:noFill/>
        </p:spPr>
        <p:txBody>
          <a:bodyPr wrap="square">
            <a:spAutoFit/>
          </a:bodyPr>
          <a:lstStyle/>
          <a:p>
            <a:r>
              <a:rPr sz="1500" b="1" i="0">
                <a:solidFill>
                  <a:srgbClr val="1A1A1A"/>
                </a:solidFill>
                <a:latin typeface="Arial"/>
              </a:rPr>
              <a:t>X3 The grants</a:t>
            </a:r>
          </a:p>
        </p:txBody>
      </p:sp>
      <p:sp>
        <p:nvSpPr>
          <p:cNvPr id="20" name="TextBox 19"/>
          <p:cNvSpPr txBox="1"/>
          <p:nvPr/>
        </p:nvSpPr>
        <p:spPr>
          <a:xfrm>
            <a:off x="4133087" y="3174274"/>
            <a:ext cx="2999232" cy="508145"/>
          </a:xfrm>
          <a:prstGeom prst="rect">
            <a:avLst/>
          </a:prstGeom>
          <a:noFill/>
        </p:spPr>
        <p:txBody>
          <a:bodyPr wrap="square">
            <a:spAutoFit/>
          </a:bodyPr>
          <a:lstStyle/>
          <a:p>
            <a:r>
              <a:rPr sz="1500" b="0" i="0">
                <a:solidFill>
                  <a:srgbClr val="1A1A1A"/>
                </a:solidFill>
                <a:latin typeface="Arial"/>
              </a:rPr>
              <a:t>The call with a grant, and without one</a:t>
            </a:r>
          </a:p>
        </p:txBody>
      </p:sp>
      <p:sp>
        <p:nvSpPr>
          <p:cNvPr id="21" name="TextBox 20"/>
          <p:cNvSpPr txBox="1"/>
          <p:nvPr/>
        </p:nvSpPr>
        <p:spPr>
          <a:xfrm>
            <a:off x="7242048" y="3174274"/>
            <a:ext cx="2724912" cy="508145"/>
          </a:xfrm>
          <a:prstGeom prst="rect">
            <a:avLst/>
          </a:prstGeom>
          <a:noFill/>
        </p:spPr>
        <p:txBody>
          <a:bodyPr wrap="square">
            <a:spAutoFit/>
          </a:bodyPr>
          <a:lstStyle/>
          <a:p>
            <a:r>
              <a:rPr sz="1500" b="0" i="0">
                <a:solidFill>
                  <a:srgbClr val="1A1A1A"/>
                </a:solidFill>
                <a:latin typeface="Arial"/>
              </a:rPr>
              <a:t>Answered; refused</a:t>
            </a:r>
          </a:p>
        </p:txBody>
      </p:sp>
      <p:sp>
        <p:nvSpPr>
          <p:cNvPr id="22" name="TextBox 21"/>
          <p:cNvSpPr txBox="1"/>
          <p:nvPr/>
        </p:nvSpPr>
        <p:spPr>
          <a:xfrm>
            <a:off x="10076688" y="3174274"/>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23" name="Rectangle 22"/>
          <p:cNvSpPr/>
          <p:nvPr/>
        </p:nvSpPr>
        <p:spPr>
          <a:xfrm>
            <a:off x="658368" y="370070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755571"/>
            <a:ext cx="3364991" cy="508145"/>
          </a:xfrm>
          <a:prstGeom prst="rect">
            <a:avLst/>
          </a:prstGeom>
          <a:noFill/>
        </p:spPr>
        <p:txBody>
          <a:bodyPr wrap="square">
            <a:spAutoFit/>
          </a:bodyPr>
          <a:lstStyle/>
          <a:p>
            <a:r>
              <a:rPr sz="1500" b="1" i="0">
                <a:solidFill>
                  <a:srgbClr val="1A1A1A"/>
                </a:solidFill>
                <a:latin typeface="Arial"/>
              </a:rPr>
              <a:t>X4 The once-only sequence</a:t>
            </a:r>
          </a:p>
        </p:txBody>
      </p:sp>
      <p:sp>
        <p:nvSpPr>
          <p:cNvPr id="25" name="TextBox 24"/>
          <p:cNvSpPr txBox="1"/>
          <p:nvPr/>
        </p:nvSpPr>
        <p:spPr>
          <a:xfrm>
            <a:off x="4133087" y="3755571"/>
            <a:ext cx="2999232" cy="508145"/>
          </a:xfrm>
          <a:prstGeom prst="rect">
            <a:avLst/>
          </a:prstGeom>
          <a:noFill/>
        </p:spPr>
        <p:txBody>
          <a:bodyPr wrap="square">
            <a:spAutoFit/>
          </a:bodyPr>
          <a:lstStyle/>
          <a:p>
            <a:r>
              <a:rPr sz="1500" b="0" i="0">
                <a:solidFill>
                  <a:srgbClr val="1A1A1A"/>
                </a:solidFill>
                <a:latin typeface="Arial"/>
              </a:rPr>
              <a:t>The whole run, sign-in to register</a:t>
            </a:r>
          </a:p>
        </p:txBody>
      </p:sp>
      <p:sp>
        <p:nvSpPr>
          <p:cNvPr id="26" name="TextBox 25"/>
          <p:cNvSpPr txBox="1"/>
          <p:nvPr/>
        </p:nvSpPr>
        <p:spPr>
          <a:xfrm>
            <a:off x="7242048" y="3755571"/>
            <a:ext cx="2724912" cy="508145"/>
          </a:xfrm>
          <a:prstGeom prst="rect">
            <a:avLst/>
          </a:prstGeom>
          <a:noFill/>
        </p:spPr>
        <p:txBody>
          <a:bodyPr wrap="square">
            <a:spAutoFit/>
          </a:bodyPr>
          <a:lstStyle/>
          <a:p>
            <a:r>
              <a:rPr sz="1500" b="0" i="0">
                <a:solidFill>
                  <a:srgbClr val="1A1A1A"/>
                </a:solidFill>
                <a:latin typeface="Arial"/>
              </a:rPr>
              <a:t>The register confirms the record</a:t>
            </a:r>
          </a:p>
        </p:txBody>
      </p:sp>
      <p:sp>
        <p:nvSpPr>
          <p:cNvPr id="27" name="TextBox 26"/>
          <p:cNvSpPr txBox="1"/>
          <p:nvPr/>
        </p:nvSpPr>
        <p:spPr>
          <a:xfrm>
            <a:off x="10076688" y="3755571"/>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28" name="Rectangle 27"/>
          <p:cNvSpPr/>
          <p:nvPr/>
        </p:nvSpPr>
        <p:spPr>
          <a:xfrm>
            <a:off x="658368" y="4282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336868"/>
            <a:ext cx="3364991" cy="508145"/>
          </a:xfrm>
          <a:prstGeom prst="rect">
            <a:avLst/>
          </a:prstGeom>
          <a:noFill/>
        </p:spPr>
        <p:txBody>
          <a:bodyPr wrap="square">
            <a:spAutoFit/>
          </a:bodyPr>
          <a:lstStyle/>
          <a:p>
            <a:r>
              <a:rPr sz="1500" b="1" i="0">
                <a:solidFill>
                  <a:srgbClr val="1A1A1A"/>
                </a:solidFill>
                <a:latin typeface="Arial"/>
              </a:rPr>
              <a:t>X5 Each call through the caller's own server</a:t>
            </a:r>
          </a:p>
        </p:txBody>
      </p:sp>
      <p:sp>
        <p:nvSpPr>
          <p:cNvPr id="30" name="TextBox 29"/>
          <p:cNvSpPr txBox="1"/>
          <p:nvPr/>
        </p:nvSpPr>
        <p:spPr>
          <a:xfrm>
            <a:off x="4133087" y="4336868"/>
            <a:ext cx="2999232" cy="508145"/>
          </a:xfrm>
          <a:prstGeom prst="rect">
            <a:avLst/>
          </a:prstGeom>
          <a:noFill/>
        </p:spPr>
        <p:txBody>
          <a:bodyPr wrap="square">
            <a:spAutoFit/>
          </a:bodyPr>
          <a:lstStyle/>
          <a:p>
            <a:r>
              <a:rPr sz="1500" b="0" i="0">
                <a:solidFill>
                  <a:srgbClr val="1A1A1A"/>
                </a:solidFill>
                <a:latin typeface="Arial"/>
              </a:rPr>
              <a:t>Read the message log of the run</a:t>
            </a:r>
          </a:p>
        </p:txBody>
      </p:sp>
      <p:sp>
        <p:nvSpPr>
          <p:cNvPr id="31" name="TextBox 30"/>
          <p:cNvSpPr txBox="1"/>
          <p:nvPr/>
        </p:nvSpPr>
        <p:spPr>
          <a:xfrm>
            <a:off x="7242048" y="4336868"/>
            <a:ext cx="2724912" cy="508145"/>
          </a:xfrm>
          <a:prstGeom prst="rect">
            <a:avLst/>
          </a:prstGeom>
          <a:noFill/>
        </p:spPr>
        <p:txBody>
          <a:bodyPr wrap="square">
            <a:spAutoFit/>
          </a:bodyPr>
          <a:lstStyle/>
          <a:p>
            <a:r>
              <a:rPr sz="1500" b="0" i="0">
                <a:solidFill>
                  <a:srgbClr val="1A1A1A"/>
                </a:solidFill>
                <a:latin typeface="Arial"/>
              </a:rPr>
              <a:t>Each request on the caller's own server</a:t>
            </a:r>
          </a:p>
        </p:txBody>
      </p:sp>
      <p:sp>
        <p:nvSpPr>
          <p:cNvPr id="32" name="TextBox 31"/>
          <p:cNvSpPr txBox="1"/>
          <p:nvPr/>
        </p:nvSpPr>
        <p:spPr>
          <a:xfrm>
            <a:off x="10076688" y="4336868"/>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33" name="Rectangle 32"/>
          <p:cNvSpPr/>
          <p:nvPr/>
        </p:nvSpPr>
        <p:spPr>
          <a:xfrm>
            <a:off x="658368" y="486330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918165"/>
            <a:ext cx="3364991" cy="508145"/>
          </a:xfrm>
          <a:prstGeom prst="rect">
            <a:avLst/>
          </a:prstGeom>
          <a:noFill/>
        </p:spPr>
        <p:txBody>
          <a:bodyPr wrap="square">
            <a:spAutoFit/>
          </a:bodyPr>
          <a:lstStyle/>
          <a:p>
            <a:r>
              <a:rPr sz="1500" b="1" i="0">
                <a:solidFill>
                  <a:srgbClr val="1A1A1A"/>
                </a:solidFill>
                <a:latin typeface="Arial"/>
              </a:rPr>
              <a:t>X6 Full logging and access to monitoring</a:t>
            </a:r>
          </a:p>
        </p:txBody>
      </p:sp>
      <p:sp>
        <p:nvSpPr>
          <p:cNvPr id="35" name="TextBox 34"/>
          <p:cNvSpPr txBox="1"/>
          <p:nvPr/>
        </p:nvSpPr>
        <p:spPr>
          <a:xfrm>
            <a:off x="4133087" y="4918165"/>
            <a:ext cx="2999232" cy="508145"/>
          </a:xfrm>
          <a:prstGeom prst="rect">
            <a:avLst/>
          </a:prstGeom>
          <a:noFill/>
        </p:spPr>
        <p:txBody>
          <a:bodyPr wrap="square">
            <a:spAutoFit/>
          </a:bodyPr>
          <a:lstStyle/>
          <a:p>
            <a:r>
              <a:rPr sz="1500" b="0" i="0">
                <a:solidFill>
                  <a:srgbClr val="1A1A1A"/>
                </a:solidFill>
                <a:latin typeface="Arial"/>
              </a:rPr>
              <a:t>Query the logs; read monitoring</a:t>
            </a:r>
          </a:p>
        </p:txBody>
      </p:sp>
      <p:sp>
        <p:nvSpPr>
          <p:cNvPr id="36" name="TextBox 35"/>
          <p:cNvSpPr txBox="1"/>
          <p:nvPr/>
        </p:nvSpPr>
        <p:spPr>
          <a:xfrm>
            <a:off x="7242048" y="4918165"/>
            <a:ext cx="2724912" cy="508145"/>
          </a:xfrm>
          <a:prstGeom prst="rect">
            <a:avLst/>
          </a:prstGeom>
          <a:noFill/>
        </p:spPr>
        <p:txBody>
          <a:bodyPr wrap="square">
            <a:spAutoFit/>
          </a:bodyPr>
          <a:lstStyle/>
          <a:p>
            <a:r>
              <a:rPr sz="1500" b="0" i="0">
                <a:solidFill>
                  <a:srgbClr val="1A1A1A"/>
                </a:solidFill>
                <a:latin typeface="Arial"/>
              </a:rPr>
              <a:t>A signed, time-stamped record of each call</a:t>
            </a:r>
          </a:p>
        </p:txBody>
      </p:sp>
      <p:sp>
        <p:nvSpPr>
          <p:cNvPr id="37" name="TextBox 36"/>
          <p:cNvSpPr txBox="1"/>
          <p:nvPr/>
        </p:nvSpPr>
        <p:spPr>
          <a:xfrm>
            <a:off x="10076688" y="4918165"/>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38" name="Rectangle 37"/>
          <p:cNvSpPr/>
          <p:nvPr/>
        </p:nvSpPr>
        <p:spPr>
          <a:xfrm>
            <a:off x="658368" y="544459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499462"/>
            <a:ext cx="3364991" cy="508145"/>
          </a:xfrm>
          <a:prstGeom prst="rect">
            <a:avLst/>
          </a:prstGeom>
          <a:noFill/>
        </p:spPr>
        <p:txBody>
          <a:bodyPr wrap="square">
            <a:spAutoFit/>
          </a:bodyPr>
          <a:lstStyle/>
          <a:p>
            <a:r>
              <a:rPr sz="1500" b="1" i="0">
                <a:solidFill>
                  <a:srgbClr val="1A1A1A"/>
                </a:solidFill>
                <a:latin typeface="Arial"/>
              </a:rPr>
              <a:t>X7 The Payments block as a member</a:t>
            </a:r>
          </a:p>
        </p:txBody>
      </p:sp>
      <p:sp>
        <p:nvSpPr>
          <p:cNvPr id="40" name="TextBox 39"/>
          <p:cNvSpPr txBox="1"/>
          <p:nvPr/>
        </p:nvSpPr>
        <p:spPr>
          <a:xfrm>
            <a:off x="4133087" y="5499462"/>
            <a:ext cx="2999232" cy="508145"/>
          </a:xfrm>
          <a:prstGeom prst="rect">
            <a:avLst/>
          </a:prstGeom>
          <a:noFill/>
        </p:spPr>
        <p:txBody>
          <a:bodyPr wrap="square">
            <a:spAutoFit/>
          </a:bodyPr>
          <a:lstStyle/>
          <a:p>
            <a:r>
              <a:rPr sz="1500" b="0" i="0">
                <a:solidFill>
                  <a:srgbClr val="1A1A1A"/>
                </a:solidFill>
                <a:latin typeface="Arial"/>
              </a:rPr>
              <a:t>List its services</a:t>
            </a:r>
          </a:p>
        </p:txBody>
      </p:sp>
      <p:sp>
        <p:nvSpPr>
          <p:cNvPr id="41" name="TextBox 40"/>
          <p:cNvSpPr txBox="1"/>
          <p:nvPr/>
        </p:nvSpPr>
        <p:spPr>
          <a:xfrm>
            <a:off x="7242048" y="5499462"/>
            <a:ext cx="2724912" cy="508145"/>
          </a:xfrm>
          <a:prstGeom prst="rect">
            <a:avLst/>
          </a:prstGeom>
          <a:noFill/>
        </p:spPr>
        <p:txBody>
          <a:bodyPr wrap="square">
            <a:spAutoFit/>
          </a:bodyPr>
          <a:lstStyle/>
          <a:p>
            <a:r>
              <a:rPr sz="1500" b="0" i="0">
                <a:solidFill>
                  <a:srgbClr val="1A1A1A"/>
                </a:solidFill>
                <a:latin typeface="Arial"/>
              </a:rPr>
              <a:t>Only its own operations listed</a:t>
            </a:r>
          </a:p>
        </p:txBody>
      </p:sp>
      <p:sp>
        <p:nvSpPr>
          <p:cNvPr id="42" name="TextBox 41"/>
          <p:cNvSpPr txBox="1"/>
          <p:nvPr/>
        </p:nvSpPr>
        <p:spPr>
          <a:xfrm>
            <a:off x="10076688" y="5499462"/>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43" name="TextBox 4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Running the checks</a:t>
            </a:r>
          </a:p>
        </p:txBody>
      </p:sp>
      <p:sp>
        <p:nvSpPr>
          <p:cNvPr id="4" name="TextBox 3"/>
          <p:cNvSpPr txBox="1"/>
          <p:nvPr/>
        </p:nvSpPr>
        <p:spPr>
          <a:xfrm>
            <a:off x="658368" y="1463040"/>
            <a:ext cx="3364991" cy="457200"/>
          </a:xfrm>
          <a:prstGeom prst="rect">
            <a:avLst/>
          </a:prstGeom>
          <a:noFill/>
        </p:spPr>
        <p:txBody>
          <a:bodyPr wrap="square">
            <a:spAutoFit/>
          </a:bodyPr>
          <a:lstStyle/>
          <a:p>
            <a:r>
              <a:rPr sz="1500" b="1" i="0">
                <a:solidFill>
                  <a:srgbClr val="006E96"/>
                </a:solidFill>
                <a:latin typeface="Arial"/>
              </a:rPr>
              <a:t>Configuration</a:t>
            </a:r>
          </a:p>
        </p:txBody>
      </p:sp>
      <p:sp>
        <p:nvSpPr>
          <p:cNvPr id="5" name="TextBox 4"/>
          <p:cNvSpPr txBox="1"/>
          <p:nvPr/>
        </p:nvSpPr>
        <p:spPr>
          <a:xfrm>
            <a:off x="4133087" y="1463040"/>
            <a:ext cx="2999232" cy="457200"/>
          </a:xfrm>
          <a:prstGeom prst="rect">
            <a:avLst/>
          </a:prstGeom>
          <a:noFill/>
        </p:spPr>
        <p:txBody>
          <a:bodyPr wrap="square">
            <a:spAutoFit/>
          </a:bodyPr>
          <a:lstStyle/>
          <a:p>
            <a:r>
              <a:rPr sz="1500" b="1" i="0">
                <a:solidFill>
                  <a:srgbClr val="006E96"/>
                </a:solidFill>
                <a:latin typeface="Arial"/>
              </a:rPr>
              <a:t>What is run</a:t>
            </a:r>
          </a:p>
        </p:txBody>
      </p:sp>
      <p:sp>
        <p:nvSpPr>
          <p:cNvPr id="6" name="TextBox 5"/>
          <p:cNvSpPr txBox="1"/>
          <p:nvPr/>
        </p:nvSpPr>
        <p:spPr>
          <a:xfrm>
            <a:off x="7242048" y="1463040"/>
            <a:ext cx="2724912" cy="457200"/>
          </a:xfrm>
          <a:prstGeom prst="rect">
            <a:avLst/>
          </a:prstGeom>
          <a:noFill/>
        </p:spPr>
        <p:txBody>
          <a:bodyPr wrap="square">
            <a:spAutoFit/>
          </a:bodyPr>
          <a:lstStyle/>
          <a:p>
            <a:r>
              <a:rPr sz="1500" b="1" i="0">
                <a:solidFill>
                  <a:srgbClr val="006E96"/>
                </a:solidFill>
                <a:latin typeface="Arial"/>
              </a:rPr>
              <a:t>What counts as a pass</a:t>
            </a:r>
          </a:p>
        </p:txBody>
      </p:sp>
      <p:sp>
        <p:nvSpPr>
          <p:cNvPr id="7" name="TextBox 6"/>
          <p:cNvSpPr txBox="1"/>
          <p:nvPr/>
        </p:nvSpPr>
        <p:spPr>
          <a:xfrm>
            <a:off x="10076688" y="1463040"/>
            <a:ext cx="1353312" cy="457200"/>
          </a:xfrm>
          <a:prstGeom prst="rect">
            <a:avLst/>
          </a:prstGeom>
          <a:noFill/>
        </p:spPr>
        <p:txBody>
          <a:bodyPr wrap="square">
            <a:spAutoFit/>
          </a:bodyPr>
          <a:lstStyle/>
          <a:p>
            <a:r>
              <a:rPr sz="1500" b="1" i="0">
                <a:solidFill>
                  <a:srgbClr val="006E96"/>
                </a:solidFill>
                <a:latin typeface="Arial"/>
              </a:rPr>
              <a:t>Last run</a:t>
            </a:r>
          </a:p>
        </p:txBody>
      </p:sp>
      <p:sp>
        <p:nvSpPr>
          <p:cNvPr id="8" name="Rectangle 7"/>
          <p:cNvSpPr/>
          <p:nvPr/>
        </p:nvSpPr>
        <p:spPr>
          <a:xfrm>
            <a:off x="658368" y="1920240"/>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11680"/>
            <a:ext cx="3364991" cy="449362"/>
          </a:xfrm>
          <a:prstGeom prst="rect">
            <a:avLst/>
          </a:prstGeom>
          <a:noFill/>
        </p:spPr>
        <p:txBody>
          <a:bodyPr wrap="square">
            <a:spAutoFit/>
          </a:bodyPr>
          <a:lstStyle/>
          <a:p>
            <a:r>
              <a:rPr sz="1500" b="1" i="0">
                <a:solidFill>
                  <a:srgbClr val="1A1A1A"/>
                </a:solidFill>
                <a:latin typeface="Arial"/>
              </a:rPr>
              <a:t>X1 The registration service as a member</a:t>
            </a:r>
          </a:p>
        </p:txBody>
      </p:sp>
      <p:sp>
        <p:nvSpPr>
          <p:cNvPr id="10" name="TextBox 9"/>
          <p:cNvSpPr txBox="1"/>
          <p:nvPr/>
        </p:nvSpPr>
        <p:spPr>
          <a:xfrm>
            <a:off x="4133087" y="2011680"/>
            <a:ext cx="2999232" cy="449362"/>
          </a:xfrm>
          <a:prstGeom prst="rect">
            <a:avLst/>
          </a:prstGeom>
          <a:noFill/>
        </p:spPr>
        <p:txBody>
          <a:bodyPr wrap="square">
            <a:spAutoFit/>
          </a:bodyPr>
          <a:lstStyle/>
          <a:p>
            <a:r>
              <a:rPr sz="1500" b="0" i="0">
                <a:solidFill>
                  <a:srgbClr val="1A1A1A"/>
                </a:solidFill>
                <a:latin typeface="Arial"/>
              </a:rPr>
              <a:t>List the members</a:t>
            </a:r>
          </a:p>
        </p:txBody>
      </p:sp>
      <p:sp>
        <p:nvSpPr>
          <p:cNvPr id="11" name="TextBox 10"/>
          <p:cNvSpPr txBox="1"/>
          <p:nvPr/>
        </p:nvSpPr>
        <p:spPr>
          <a:xfrm>
            <a:off x="7242048" y="2011680"/>
            <a:ext cx="2724912" cy="449362"/>
          </a:xfrm>
          <a:prstGeom prst="rect">
            <a:avLst/>
          </a:prstGeom>
          <a:noFill/>
        </p:spPr>
        <p:txBody>
          <a:bodyPr wrap="square">
            <a:spAutoFit/>
          </a:bodyPr>
          <a:lstStyle/>
          <a:p>
            <a:r>
              <a:rPr sz="1500" b="0" i="0">
                <a:solidFill>
                  <a:srgbClr val="1A1A1A"/>
                </a:solidFill>
                <a:latin typeface="Arial"/>
              </a:rPr>
              <a:t>Its member and application listed</a:t>
            </a:r>
          </a:p>
        </p:txBody>
      </p:sp>
      <p:sp>
        <p:nvSpPr>
          <p:cNvPr id="12" name="TextBox 11"/>
          <p:cNvSpPr txBox="1"/>
          <p:nvPr/>
        </p:nvSpPr>
        <p:spPr>
          <a:xfrm>
            <a:off x="10076688" y="2011680"/>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13" name="Rectangle 12"/>
          <p:cNvSpPr/>
          <p:nvPr/>
        </p:nvSpPr>
        <p:spPr>
          <a:xfrm>
            <a:off x="658368" y="247933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34194"/>
            <a:ext cx="3364991" cy="449362"/>
          </a:xfrm>
          <a:prstGeom prst="rect">
            <a:avLst/>
          </a:prstGeom>
          <a:noFill/>
        </p:spPr>
        <p:txBody>
          <a:bodyPr wrap="square">
            <a:spAutoFit/>
          </a:bodyPr>
          <a:lstStyle/>
          <a:p>
            <a:r>
              <a:rPr sz="1500" b="1" i="0">
                <a:solidFill>
                  <a:srgbClr val="1A1A1A"/>
                </a:solidFill>
                <a:latin typeface="Arial"/>
              </a:rPr>
              <a:t>X2 The write service and its contract</a:t>
            </a:r>
          </a:p>
        </p:txBody>
      </p:sp>
      <p:sp>
        <p:nvSpPr>
          <p:cNvPr id="15" name="TextBox 14"/>
          <p:cNvSpPr txBox="1"/>
          <p:nvPr/>
        </p:nvSpPr>
        <p:spPr>
          <a:xfrm>
            <a:off x="4133087" y="2534194"/>
            <a:ext cx="2999232" cy="449362"/>
          </a:xfrm>
          <a:prstGeom prst="rect">
            <a:avLst/>
          </a:prstGeom>
          <a:noFill/>
        </p:spPr>
        <p:txBody>
          <a:bodyPr wrap="square">
            <a:spAutoFit/>
          </a:bodyPr>
          <a:lstStyle/>
          <a:p>
            <a:r>
              <a:rPr sz="1500" b="0" i="0">
                <a:solidFill>
                  <a:srgbClr val="1A1A1A"/>
                </a:solidFill>
                <a:latin typeface="Arial"/>
              </a:rPr>
              <a:t>List the services; fetch the contract</a:t>
            </a:r>
          </a:p>
        </p:txBody>
      </p:sp>
      <p:sp>
        <p:nvSpPr>
          <p:cNvPr id="16" name="TextBox 15"/>
          <p:cNvSpPr txBox="1"/>
          <p:nvPr/>
        </p:nvSpPr>
        <p:spPr>
          <a:xfrm>
            <a:off x="7242048" y="2534194"/>
            <a:ext cx="2724912" cy="449362"/>
          </a:xfrm>
          <a:prstGeom prst="rect">
            <a:avLst/>
          </a:prstGeom>
          <a:noFill/>
        </p:spPr>
        <p:txBody>
          <a:bodyPr wrap="square">
            <a:spAutoFit/>
          </a:bodyPr>
          <a:lstStyle/>
          <a:p>
            <a:r>
              <a:rPr sz="1500" b="0" i="0">
                <a:solidFill>
                  <a:srgbClr val="1A1A1A"/>
                </a:solidFill>
                <a:latin typeface="Arial"/>
              </a:rPr>
              <a:t>Contract returned; a test record exists</a:t>
            </a:r>
          </a:p>
        </p:txBody>
      </p:sp>
      <p:sp>
        <p:nvSpPr>
          <p:cNvPr id="17" name="TextBox 16"/>
          <p:cNvSpPr txBox="1"/>
          <p:nvPr/>
        </p:nvSpPr>
        <p:spPr>
          <a:xfrm>
            <a:off x="10076688" y="2534194"/>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18" name="Rectangle 17"/>
          <p:cNvSpPr/>
          <p:nvPr/>
        </p:nvSpPr>
        <p:spPr>
          <a:xfrm>
            <a:off x="658368" y="3001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056708"/>
            <a:ext cx="3364991" cy="449362"/>
          </a:xfrm>
          <a:prstGeom prst="rect">
            <a:avLst/>
          </a:prstGeom>
          <a:noFill/>
        </p:spPr>
        <p:txBody>
          <a:bodyPr wrap="square">
            <a:spAutoFit/>
          </a:bodyPr>
          <a:lstStyle/>
          <a:p>
            <a:r>
              <a:rPr sz="1500" b="1" i="0">
                <a:solidFill>
                  <a:srgbClr val="1A1A1A"/>
                </a:solidFill>
                <a:latin typeface="Arial"/>
              </a:rPr>
              <a:t>X3 The grants</a:t>
            </a:r>
          </a:p>
        </p:txBody>
      </p:sp>
      <p:sp>
        <p:nvSpPr>
          <p:cNvPr id="20" name="TextBox 19"/>
          <p:cNvSpPr txBox="1"/>
          <p:nvPr/>
        </p:nvSpPr>
        <p:spPr>
          <a:xfrm>
            <a:off x="4133087" y="3056708"/>
            <a:ext cx="2999232" cy="449362"/>
          </a:xfrm>
          <a:prstGeom prst="rect">
            <a:avLst/>
          </a:prstGeom>
          <a:noFill/>
        </p:spPr>
        <p:txBody>
          <a:bodyPr wrap="square">
            <a:spAutoFit/>
          </a:bodyPr>
          <a:lstStyle/>
          <a:p>
            <a:r>
              <a:rPr sz="1500" b="0" i="0">
                <a:solidFill>
                  <a:srgbClr val="1A1A1A"/>
                </a:solidFill>
                <a:latin typeface="Arial"/>
              </a:rPr>
              <a:t>The call with a grant, and without one</a:t>
            </a:r>
          </a:p>
        </p:txBody>
      </p:sp>
      <p:sp>
        <p:nvSpPr>
          <p:cNvPr id="21" name="TextBox 20"/>
          <p:cNvSpPr txBox="1"/>
          <p:nvPr/>
        </p:nvSpPr>
        <p:spPr>
          <a:xfrm>
            <a:off x="7242048" y="3056708"/>
            <a:ext cx="2724912" cy="449362"/>
          </a:xfrm>
          <a:prstGeom prst="rect">
            <a:avLst/>
          </a:prstGeom>
          <a:noFill/>
        </p:spPr>
        <p:txBody>
          <a:bodyPr wrap="square">
            <a:spAutoFit/>
          </a:bodyPr>
          <a:lstStyle/>
          <a:p>
            <a:r>
              <a:rPr sz="1500" b="0" i="0">
                <a:solidFill>
                  <a:srgbClr val="1A1A1A"/>
                </a:solidFill>
                <a:latin typeface="Arial"/>
              </a:rPr>
              <a:t>Answered; refused</a:t>
            </a:r>
          </a:p>
        </p:txBody>
      </p:sp>
      <p:sp>
        <p:nvSpPr>
          <p:cNvPr id="22" name="TextBox 21"/>
          <p:cNvSpPr txBox="1"/>
          <p:nvPr/>
        </p:nvSpPr>
        <p:spPr>
          <a:xfrm>
            <a:off x="10076688" y="3056708"/>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23" name="Rectangle 22"/>
          <p:cNvSpPr/>
          <p:nvPr/>
        </p:nvSpPr>
        <p:spPr>
          <a:xfrm>
            <a:off x="658368" y="352435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579222"/>
            <a:ext cx="3364991" cy="449362"/>
          </a:xfrm>
          <a:prstGeom prst="rect">
            <a:avLst/>
          </a:prstGeom>
          <a:noFill/>
        </p:spPr>
        <p:txBody>
          <a:bodyPr wrap="square">
            <a:spAutoFit/>
          </a:bodyPr>
          <a:lstStyle/>
          <a:p>
            <a:r>
              <a:rPr sz="1500" b="1" i="0">
                <a:solidFill>
                  <a:srgbClr val="1A1A1A"/>
                </a:solidFill>
                <a:latin typeface="Arial"/>
              </a:rPr>
              <a:t>X4 The once-only sequence</a:t>
            </a:r>
          </a:p>
        </p:txBody>
      </p:sp>
      <p:sp>
        <p:nvSpPr>
          <p:cNvPr id="25" name="TextBox 24"/>
          <p:cNvSpPr txBox="1"/>
          <p:nvPr/>
        </p:nvSpPr>
        <p:spPr>
          <a:xfrm>
            <a:off x="4133087" y="3579222"/>
            <a:ext cx="2999232" cy="449362"/>
          </a:xfrm>
          <a:prstGeom prst="rect">
            <a:avLst/>
          </a:prstGeom>
          <a:noFill/>
        </p:spPr>
        <p:txBody>
          <a:bodyPr wrap="square">
            <a:spAutoFit/>
          </a:bodyPr>
          <a:lstStyle/>
          <a:p>
            <a:r>
              <a:rPr sz="1500" b="0" i="0">
                <a:solidFill>
                  <a:srgbClr val="1A1A1A"/>
                </a:solidFill>
                <a:latin typeface="Arial"/>
              </a:rPr>
              <a:t>The whole run, sign-in to register</a:t>
            </a:r>
          </a:p>
        </p:txBody>
      </p:sp>
      <p:sp>
        <p:nvSpPr>
          <p:cNvPr id="26" name="TextBox 25"/>
          <p:cNvSpPr txBox="1"/>
          <p:nvPr/>
        </p:nvSpPr>
        <p:spPr>
          <a:xfrm>
            <a:off x="7242048" y="3579222"/>
            <a:ext cx="2724912" cy="449362"/>
          </a:xfrm>
          <a:prstGeom prst="rect">
            <a:avLst/>
          </a:prstGeom>
          <a:noFill/>
        </p:spPr>
        <p:txBody>
          <a:bodyPr wrap="square">
            <a:spAutoFit/>
          </a:bodyPr>
          <a:lstStyle/>
          <a:p>
            <a:r>
              <a:rPr sz="1500" b="0" i="0">
                <a:solidFill>
                  <a:srgbClr val="1A1A1A"/>
                </a:solidFill>
                <a:latin typeface="Arial"/>
              </a:rPr>
              <a:t>The register confirms the record</a:t>
            </a:r>
          </a:p>
        </p:txBody>
      </p:sp>
      <p:sp>
        <p:nvSpPr>
          <p:cNvPr id="27" name="TextBox 26"/>
          <p:cNvSpPr txBox="1"/>
          <p:nvPr/>
        </p:nvSpPr>
        <p:spPr>
          <a:xfrm>
            <a:off x="10076688" y="3579222"/>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28" name="Rectangle 27"/>
          <p:cNvSpPr/>
          <p:nvPr/>
        </p:nvSpPr>
        <p:spPr>
          <a:xfrm>
            <a:off x="658368" y="404687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101737"/>
            <a:ext cx="3364991" cy="449362"/>
          </a:xfrm>
          <a:prstGeom prst="rect">
            <a:avLst/>
          </a:prstGeom>
          <a:noFill/>
        </p:spPr>
        <p:txBody>
          <a:bodyPr wrap="square">
            <a:spAutoFit/>
          </a:bodyPr>
          <a:lstStyle/>
          <a:p>
            <a:r>
              <a:rPr sz="1500" b="1" i="0">
                <a:solidFill>
                  <a:srgbClr val="1A1A1A"/>
                </a:solidFill>
                <a:latin typeface="Arial"/>
              </a:rPr>
              <a:t>X5 Each call through the caller's own server</a:t>
            </a:r>
          </a:p>
        </p:txBody>
      </p:sp>
      <p:sp>
        <p:nvSpPr>
          <p:cNvPr id="30" name="TextBox 29"/>
          <p:cNvSpPr txBox="1"/>
          <p:nvPr/>
        </p:nvSpPr>
        <p:spPr>
          <a:xfrm>
            <a:off x="4133087" y="4101737"/>
            <a:ext cx="2999232" cy="449362"/>
          </a:xfrm>
          <a:prstGeom prst="rect">
            <a:avLst/>
          </a:prstGeom>
          <a:noFill/>
        </p:spPr>
        <p:txBody>
          <a:bodyPr wrap="square">
            <a:spAutoFit/>
          </a:bodyPr>
          <a:lstStyle/>
          <a:p>
            <a:r>
              <a:rPr sz="1500" b="0" i="0">
                <a:solidFill>
                  <a:srgbClr val="1A1A1A"/>
                </a:solidFill>
                <a:latin typeface="Arial"/>
              </a:rPr>
              <a:t>Read the message log of the run</a:t>
            </a:r>
          </a:p>
        </p:txBody>
      </p:sp>
      <p:sp>
        <p:nvSpPr>
          <p:cNvPr id="31" name="TextBox 30"/>
          <p:cNvSpPr txBox="1"/>
          <p:nvPr/>
        </p:nvSpPr>
        <p:spPr>
          <a:xfrm>
            <a:off x="7242048" y="4101737"/>
            <a:ext cx="2724912" cy="449362"/>
          </a:xfrm>
          <a:prstGeom prst="rect">
            <a:avLst/>
          </a:prstGeom>
          <a:noFill/>
        </p:spPr>
        <p:txBody>
          <a:bodyPr wrap="square">
            <a:spAutoFit/>
          </a:bodyPr>
          <a:lstStyle/>
          <a:p>
            <a:r>
              <a:rPr sz="1500" b="0" i="0">
                <a:solidFill>
                  <a:srgbClr val="1A1A1A"/>
                </a:solidFill>
                <a:latin typeface="Arial"/>
              </a:rPr>
              <a:t>Each request on the caller's own server</a:t>
            </a:r>
          </a:p>
        </p:txBody>
      </p:sp>
      <p:sp>
        <p:nvSpPr>
          <p:cNvPr id="32" name="TextBox 31"/>
          <p:cNvSpPr txBox="1"/>
          <p:nvPr/>
        </p:nvSpPr>
        <p:spPr>
          <a:xfrm>
            <a:off x="10076688" y="4101737"/>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33" name="Rectangle 32"/>
          <p:cNvSpPr/>
          <p:nvPr/>
        </p:nvSpPr>
        <p:spPr>
          <a:xfrm>
            <a:off x="658368" y="456938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624251"/>
            <a:ext cx="3364991" cy="449362"/>
          </a:xfrm>
          <a:prstGeom prst="rect">
            <a:avLst/>
          </a:prstGeom>
          <a:noFill/>
        </p:spPr>
        <p:txBody>
          <a:bodyPr wrap="square">
            <a:spAutoFit/>
          </a:bodyPr>
          <a:lstStyle/>
          <a:p>
            <a:r>
              <a:rPr sz="1500" b="1" i="0">
                <a:solidFill>
                  <a:srgbClr val="1A1A1A"/>
                </a:solidFill>
                <a:latin typeface="Arial"/>
              </a:rPr>
              <a:t>X6 Full logging and access to monitoring</a:t>
            </a:r>
          </a:p>
        </p:txBody>
      </p:sp>
      <p:sp>
        <p:nvSpPr>
          <p:cNvPr id="35" name="TextBox 34"/>
          <p:cNvSpPr txBox="1"/>
          <p:nvPr/>
        </p:nvSpPr>
        <p:spPr>
          <a:xfrm>
            <a:off x="4133087" y="4624251"/>
            <a:ext cx="2999232" cy="449362"/>
          </a:xfrm>
          <a:prstGeom prst="rect">
            <a:avLst/>
          </a:prstGeom>
          <a:noFill/>
        </p:spPr>
        <p:txBody>
          <a:bodyPr wrap="square">
            <a:spAutoFit/>
          </a:bodyPr>
          <a:lstStyle/>
          <a:p>
            <a:r>
              <a:rPr sz="1500" b="0" i="0">
                <a:solidFill>
                  <a:srgbClr val="1A1A1A"/>
                </a:solidFill>
                <a:latin typeface="Arial"/>
              </a:rPr>
              <a:t>Query the logs; read monitoring</a:t>
            </a:r>
          </a:p>
        </p:txBody>
      </p:sp>
      <p:sp>
        <p:nvSpPr>
          <p:cNvPr id="36" name="TextBox 35"/>
          <p:cNvSpPr txBox="1"/>
          <p:nvPr/>
        </p:nvSpPr>
        <p:spPr>
          <a:xfrm>
            <a:off x="7242048" y="4624251"/>
            <a:ext cx="2724912" cy="449362"/>
          </a:xfrm>
          <a:prstGeom prst="rect">
            <a:avLst/>
          </a:prstGeom>
          <a:noFill/>
        </p:spPr>
        <p:txBody>
          <a:bodyPr wrap="square">
            <a:spAutoFit/>
          </a:bodyPr>
          <a:lstStyle/>
          <a:p>
            <a:r>
              <a:rPr sz="1500" b="0" i="0">
                <a:solidFill>
                  <a:srgbClr val="1A1A1A"/>
                </a:solidFill>
                <a:latin typeface="Arial"/>
              </a:rPr>
              <a:t>A signed, time-stamped record of each call</a:t>
            </a:r>
          </a:p>
        </p:txBody>
      </p:sp>
      <p:sp>
        <p:nvSpPr>
          <p:cNvPr id="37" name="TextBox 36"/>
          <p:cNvSpPr txBox="1"/>
          <p:nvPr/>
        </p:nvSpPr>
        <p:spPr>
          <a:xfrm>
            <a:off x="10076688" y="4624251"/>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38" name="Rectangle 37"/>
          <p:cNvSpPr/>
          <p:nvPr/>
        </p:nvSpPr>
        <p:spPr>
          <a:xfrm>
            <a:off x="658368" y="509190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146765"/>
            <a:ext cx="3364991" cy="449362"/>
          </a:xfrm>
          <a:prstGeom prst="rect">
            <a:avLst/>
          </a:prstGeom>
          <a:noFill/>
        </p:spPr>
        <p:txBody>
          <a:bodyPr wrap="square">
            <a:spAutoFit/>
          </a:bodyPr>
          <a:lstStyle/>
          <a:p>
            <a:r>
              <a:rPr sz="1500" b="1" i="0">
                <a:solidFill>
                  <a:srgbClr val="1A1A1A"/>
                </a:solidFill>
                <a:latin typeface="Arial"/>
              </a:rPr>
              <a:t>X7 The Payments block as a member</a:t>
            </a:r>
          </a:p>
        </p:txBody>
      </p:sp>
      <p:sp>
        <p:nvSpPr>
          <p:cNvPr id="40" name="TextBox 39"/>
          <p:cNvSpPr txBox="1"/>
          <p:nvPr/>
        </p:nvSpPr>
        <p:spPr>
          <a:xfrm>
            <a:off x="4133087" y="5146765"/>
            <a:ext cx="2999232" cy="449362"/>
          </a:xfrm>
          <a:prstGeom prst="rect">
            <a:avLst/>
          </a:prstGeom>
          <a:noFill/>
        </p:spPr>
        <p:txBody>
          <a:bodyPr wrap="square">
            <a:spAutoFit/>
          </a:bodyPr>
          <a:lstStyle/>
          <a:p>
            <a:r>
              <a:rPr sz="1500" b="0" i="0">
                <a:solidFill>
                  <a:srgbClr val="1A1A1A"/>
                </a:solidFill>
                <a:latin typeface="Arial"/>
              </a:rPr>
              <a:t>List its services</a:t>
            </a:r>
          </a:p>
        </p:txBody>
      </p:sp>
      <p:sp>
        <p:nvSpPr>
          <p:cNvPr id="41" name="TextBox 40"/>
          <p:cNvSpPr txBox="1"/>
          <p:nvPr/>
        </p:nvSpPr>
        <p:spPr>
          <a:xfrm>
            <a:off x="7242048" y="5146765"/>
            <a:ext cx="2724912" cy="449362"/>
          </a:xfrm>
          <a:prstGeom prst="rect">
            <a:avLst/>
          </a:prstGeom>
          <a:noFill/>
        </p:spPr>
        <p:txBody>
          <a:bodyPr wrap="square">
            <a:spAutoFit/>
          </a:bodyPr>
          <a:lstStyle/>
          <a:p>
            <a:r>
              <a:rPr sz="1500" b="0" i="0">
                <a:solidFill>
                  <a:srgbClr val="1A1A1A"/>
                </a:solidFill>
                <a:latin typeface="Arial"/>
              </a:rPr>
              <a:t>Only its own operations listed</a:t>
            </a:r>
          </a:p>
        </p:txBody>
      </p:sp>
      <p:sp>
        <p:nvSpPr>
          <p:cNvPr id="42" name="TextBox 41"/>
          <p:cNvSpPr txBox="1"/>
          <p:nvPr/>
        </p:nvSpPr>
        <p:spPr>
          <a:xfrm>
            <a:off x="10076688" y="5146765"/>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43" name="TextBox 42"/>
          <p:cNvSpPr txBox="1"/>
          <p:nvPr/>
        </p:nvSpPr>
        <p:spPr>
          <a:xfrm>
            <a:off x="658368" y="5724143"/>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44" name="TextBox 4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configuration has a check that someone can run and read, and a block is called proven only when its checks have run and passed.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a failed check into a note for the owner.</a:t>
            </a:r>
          </a:p>
          <a:p>
            <a:pPr algn="l">
              <a:spcAft>
                <a:spcPts val="400"/>
              </a:spcAft>
            </a:pPr>
            <a:r>
              <a:rPr sz="1800" b="0" i="0">
                <a:solidFill>
                  <a:srgbClr val="595959"/>
                </a:solidFill>
                <a:latin typeface="Arial"/>
              </a:rPr>
              <a:t>The prompt in the companion material gives you a plain-language note for the owner: what was run, what was expected and what came back.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GovStack testing, 'Self-Assessment of Compliance' and API compliance testing</a:t>
            </a:r>
          </a:p>
          <a:p>
            <a:pPr>
              <a:spcAft>
                <a:spcPts val="1000"/>
              </a:spcAft>
            </a:pPr>
            <a:r>
              <a:rPr sz="1600" b="0" i="0">
                <a:solidFill>
                  <a:srgbClr val="1A1A1A"/>
                </a:solidFill>
                <a:latin typeface="Arial"/>
              </a:rPr>
              <a:t>•  GovStack website, 'How is Compliance Measured?'</a:t>
            </a:r>
          </a:p>
          <a:p>
            <a:pPr>
              <a:spcAft>
                <a:spcPts val="1000"/>
              </a:spcAft>
            </a:pPr>
            <a:r>
              <a:rPr sz="1600" b="0" i="0">
                <a:solidFill>
                  <a:srgbClr val="1A1A1A"/>
                </a:solidFill>
                <a:latin typeface="Arial"/>
              </a:rPr>
              <a:t>•  GovStack Architecture 2.1.0, section 6.4 (quality requirements 4 and 7)</a:t>
            </a:r>
          </a:p>
          <a:p>
            <a:pPr>
              <a:spcAft>
                <a:spcPts val="1000"/>
              </a:spcAft>
            </a:pPr>
            <a:r>
              <a:rPr sz="1600" b="0" i="0">
                <a:solidFill>
                  <a:srgbClr val="1A1A1A"/>
                </a:solidFill>
                <a:latin typeface="Arial"/>
              </a:rPr>
              <a:t>•  GovStack Information Mediator 1.1.1, sections 8.2.1 and 8.6.2</a:t>
            </a:r>
          </a:p>
          <a:p>
            <a:pPr>
              <a:spcAft>
                <a:spcPts val="1000"/>
              </a:spcAft>
            </a:pPr>
            <a:r>
              <a:rPr sz="1600" b="0" i="0">
                <a:solidFill>
                  <a:srgbClr val="1A1A1A"/>
                </a:solidFill>
                <a:latin typeface="Arial"/>
              </a:rPr>
              <a:t>•  GovStack Identity 2.0, section 9.1.1</a:t>
            </a:r>
          </a:p>
          <a:p>
            <a:pPr>
              <a:spcAft>
                <a:spcPts val="1000"/>
              </a:spcAft>
            </a:pPr>
            <a:r>
              <a:rPr sz="1600" b="0" i="0">
                <a:solidFill>
                  <a:srgbClr val="1A1A1A"/>
                </a:solidFill>
                <a:latin typeface="Arial"/>
              </a:rPr>
              <a:t>•  GovStack Digital Registries 3.0-alpha, section 8.2</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Reading the evidence of a call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Three records can show that a call took place, the message log, operational monitoring and the traffic view, but each only under settings you must choose before the first call.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auditor asks you to prove that the registration service wrote a learner's record on a given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Whether you can answer depends on choices made before the first call, not on what you do once the question arrives.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1 — the message log</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Full logging</a:t>
            </a:r>
          </a:p>
          <a:p>
            <a:pPr>
              <a:spcAft>
                <a:spcPts val="300"/>
              </a:spcAft>
            </a:pPr>
            <a:r>
              <a:rPr sz="1800" b="0" i="0">
                <a:solidFill>
                  <a:srgbClr val="595959"/>
                </a:solidFill>
                <a:latin typeface="Arial"/>
              </a:rPr>
              <a:t>The message and its details are kept; usable as evidence.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Details only</a:t>
            </a:r>
          </a:p>
          <a:p>
            <a:pPr>
              <a:spcAft>
                <a:spcPts val="300"/>
              </a:spcAft>
            </a:pPr>
            <a:r>
              <a:rPr sz="1800" b="0" i="0">
                <a:solidFill>
                  <a:srgbClr val="595959"/>
                </a:solidFill>
                <a:latin typeface="Arial"/>
              </a:rPr>
              <a:t>Cannot be used as evidence.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Off</a:t>
            </a:r>
          </a:p>
          <a:p>
            <a:pPr>
              <a:spcAft>
                <a:spcPts val="300"/>
              </a:spcAft>
            </a:pPr>
            <a:r>
              <a:rPr sz="1800" b="0" i="0">
                <a:solidFill>
                  <a:srgbClr val="595959"/>
                </a:solidFill>
                <a:latin typeface="Arial"/>
              </a:rPr>
              <a:t>No record at all.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2 — operational monitoring</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One record for each request.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Who called, which service, when, how large, the result.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Never the content of the message.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regular member sees only its own records.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3 — the traffic view</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graph of the requests through one security server.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Filter by period, party, role and status.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Needs the operational monitoring add-on.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run, three readers</a:t>
            </a:r>
          </a:p>
        </p:txBody>
      </p:sp>
      <p:sp>
        <p:nvSpPr>
          <p:cNvPr id="4" name="TextBox 3"/>
          <p:cNvSpPr txBox="1"/>
          <p:nvPr/>
        </p:nvSpPr>
        <p:spPr>
          <a:xfrm>
            <a:off x="658368" y="2264156"/>
            <a:ext cx="4096511" cy="457200"/>
          </a:xfrm>
          <a:prstGeom prst="rect">
            <a:avLst/>
          </a:prstGeom>
          <a:noFill/>
        </p:spPr>
        <p:txBody>
          <a:bodyPr wrap="square">
            <a:spAutoFit/>
          </a:bodyPr>
          <a:lstStyle/>
          <a:p>
            <a:r>
              <a:rPr sz="1700" b="1" i="0">
                <a:solidFill>
                  <a:srgbClr val="006E96"/>
                </a:solidFill>
                <a:latin typeface="Arial"/>
              </a:rPr>
              <a:t>Reader</a:t>
            </a:r>
          </a:p>
        </p:txBody>
      </p:sp>
      <p:sp>
        <p:nvSpPr>
          <p:cNvPr id="5" name="TextBox 4"/>
          <p:cNvSpPr txBox="1"/>
          <p:nvPr/>
        </p:nvSpPr>
        <p:spPr>
          <a:xfrm>
            <a:off x="4864607" y="2264156"/>
            <a:ext cx="6565392" cy="457200"/>
          </a:xfrm>
          <a:prstGeom prst="rect">
            <a:avLst/>
          </a:prstGeom>
          <a:noFill/>
        </p:spPr>
        <p:txBody>
          <a:bodyPr wrap="square">
            <a:spAutoFit/>
          </a:bodyPr>
          <a:lstStyle/>
          <a:p>
            <a:r>
              <a:rPr sz="1700" b="1" i="0">
                <a:solidFill>
                  <a:srgbClr val="006E96"/>
                </a:solidFill>
                <a:latin typeface="Arial"/>
              </a:rPr>
              <a:t>What it sees</a:t>
            </a:r>
          </a:p>
        </p:txBody>
      </p:sp>
      <p:sp>
        <p:nvSpPr>
          <p:cNvPr id="6" name="Rectangle 5"/>
          <p:cNvSpPr/>
          <p:nvPr/>
        </p:nvSpPr>
        <p:spPr>
          <a:xfrm>
            <a:off x="658368" y="2721356"/>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812796"/>
            <a:ext cx="4096511" cy="707644"/>
          </a:xfrm>
          <a:prstGeom prst="rect">
            <a:avLst/>
          </a:prstGeom>
          <a:noFill/>
        </p:spPr>
        <p:txBody>
          <a:bodyPr wrap="square">
            <a:spAutoFit/>
          </a:bodyPr>
          <a:lstStyle/>
          <a:p>
            <a:r>
              <a:rPr sz="1700" b="1" i="0">
                <a:solidFill>
                  <a:srgbClr val="1A1A1A"/>
                </a:solidFill>
                <a:latin typeface="Arial"/>
              </a:rPr>
              <a:t>The owner of the learner register</a:t>
            </a:r>
          </a:p>
        </p:txBody>
      </p:sp>
      <p:sp>
        <p:nvSpPr>
          <p:cNvPr id="8" name="TextBox 7"/>
          <p:cNvSpPr txBox="1"/>
          <p:nvPr/>
        </p:nvSpPr>
        <p:spPr>
          <a:xfrm>
            <a:off x="4864607" y="2812796"/>
            <a:ext cx="6565392" cy="707644"/>
          </a:xfrm>
          <a:prstGeom prst="rect">
            <a:avLst/>
          </a:prstGeom>
          <a:noFill/>
        </p:spPr>
        <p:txBody>
          <a:bodyPr wrap="square">
            <a:spAutoFit/>
          </a:bodyPr>
          <a:lstStyle/>
          <a:p>
            <a:r>
              <a:rPr sz="1700" b="0" i="0">
                <a:solidFill>
                  <a:srgbClr val="1A1A1A"/>
                </a:solidFill>
                <a:latin typeface="Arial"/>
              </a:rPr>
              <a:t>Its own message log; the monitoring records of calls to its service</a:t>
            </a:r>
          </a:p>
        </p:txBody>
      </p:sp>
      <p:sp>
        <p:nvSpPr>
          <p:cNvPr id="9" name="Rectangle 8"/>
          <p:cNvSpPr/>
          <p:nvPr/>
        </p:nvSpPr>
        <p:spPr>
          <a:xfrm>
            <a:off x="658368" y="35387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593591"/>
            <a:ext cx="4096511" cy="426974"/>
          </a:xfrm>
          <a:prstGeom prst="rect">
            <a:avLst/>
          </a:prstGeom>
          <a:noFill/>
        </p:spPr>
        <p:txBody>
          <a:bodyPr wrap="square">
            <a:spAutoFit/>
          </a:bodyPr>
          <a:lstStyle/>
          <a:p>
            <a:r>
              <a:rPr sz="1700" b="1" i="0">
                <a:solidFill>
                  <a:srgbClr val="1A1A1A"/>
                </a:solidFill>
                <a:latin typeface="Arial"/>
              </a:rPr>
              <a:t>The registration service</a:t>
            </a:r>
          </a:p>
        </p:txBody>
      </p:sp>
      <p:sp>
        <p:nvSpPr>
          <p:cNvPr id="11" name="TextBox 10"/>
          <p:cNvSpPr txBox="1"/>
          <p:nvPr/>
        </p:nvSpPr>
        <p:spPr>
          <a:xfrm>
            <a:off x="4864607" y="3593591"/>
            <a:ext cx="6565392" cy="426974"/>
          </a:xfrm>
          <a:prstGeom prst="rect">
            <a:avLst/>
          </a:prstGeom>
          <a:noFill/>
        </p:spPr>
        <p:txBody>
          <a:bodyPr wrap="square">
            <a:spAutoFit/>
          </a:bodyPr>
          <a:lstStyle/>
          <a:p>
            <a:r>
              <a:rPr sz="1700" b="0" i="0">
                <a:solidFill>
                  <a:srgbClr val="1A1A1A"/>
                </a:solidFill>
                <a:latin typeface="Arial"/>
              </a:rPr>
              <a:t>Its own message log; the monitoring records of its own calls</a:t>
            </a:r>
          </a:p>
        </p:txBody>
      </p:sp>
      <p:sp>
        <p:nvSpPr>
          <p:cNvPr id="12" name="Rectangle 11"/>
          <p:cNvSpPr/>
          <p:nvPr/>
        </p:nvSpPr>
        <p:spPr>
          <a:xfrm>
            <a:off x="658368" y="403885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93718"/>
            <a:ext cx="4096511" cy="426974"/>
          </a:xfrm>
          <a:prstGeom prst="rect">
            <a:avLst/>
          </a:prstGeom>
          <a:noFill/>
        </p:spPr>
        <p:txBody>
          <a:bodyPr wrap="square">
            <a:spAutoFit/>
          </a:bodyPr>
          <a:lstStyle/>
          <a:p>
            <a:r>
              <a:rPr sz="1700" b="1" i="0">
                <a:solidFill>
                  <a:srgbClr val="1A1A1A"/>
                </a:solidFill>
                <a:latin typeface="Arial"/>
              </a:rPr>
              <a:t>PDGA, the operator</a:t>
            </a:r>
          </a:p>
        </p:txBody>
      </p:sp>
      <p:sp>
        <p:nvSpPr>
          <p:cNvPr id="14" name="TextBox 13"/>
          <p:cNvSpPr txBox="1"/>
          <p:nvPr/>
        </p:nvSpPr>
        <p:spPr>
          <a:xfrm>
            <a:off x="4864607" y="4093718"/>
            <a:ext cx="6565392" cy="426974"/>
          </a:xfrm>
          <a:prstGeom prst="rect">
            <a:avLst/>
          </a:prstGeom>
          <a:noFill/>
        </p:spPr>
        <p:txBody>
          <a:bodyPr wrap="square">
            <a:spAutoFit/>
          </a:bodyPr>
          <a:lstStyle/>
          <a:p>
            <a:r>
              <a:rPr sz="1700" b="0" i="0">
                <a:solidFill>
                  <a:srgbClr val="1A1A1A"/>
                </a:solidFill>
                <a:latin typeface="Arial"/>
              </a:rPr>
              <a:t>The traffic view, and the records its role allows</a:t>
            </a:r>
          </a:p>
        </p:txBody>
      </p:sp>
      <p:sp>
        <p:nvSpPr>
          <p:cNvPr id="15" name="TextBox 14"/>
          <p:cNvSpPr txBox="1"/>
          <p:nvPr/>
        </p:nvSpPr>
        <p:spPr>
          <a:xfrm>
            <a:off x="658368" y="4648708"/>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Choose before the first call</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Full message logging on every security server that takes part.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Access to monitoring for whoever must read the evidence.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monitoring add-on, so that the traffic view exists.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Three records can show that a call took place, the message log, operational monitoring and the traffic view, but each only under settings you must choose before the first call.</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Report the calls of a period from the monitoring records.</a:t>
            </a:r>
          </a:p>
          <a:p>
            <a:pPr algn="l">
              <a:spcAft>
                <a:spcPts val="400"/>
              </a:spcAft>
            </a:pPr>
            <a:r>
              <a:rPr sz="1800" b="0" i="0">
                <a:solidFill>
                  <a:srgbClr val="595959"/>
                </a:solidFill>
                <a:latin typeface="Arial"/>
              </a:rPr>
              <a:t>The prompt in the companion material gives you a report of the calls by caller, service and result, with the failures listed.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NIIS X-Road 7.7.0, Security Server User Guide (UG-SS) sections 11, 14.2 and 15, and Operational Monitoring Protocol (PR-OPMON) section 2</a:t>
            </a:r>
          </a:p>
          <a:p>
            <a:pPr>
              <a:spcAft>
                <a:spcPts val="1000"/>
              </a:spcAft>
            </a:pPr>
            <a:r>
              <a:rPr sz="1800" b="0" i="0">
                <a:solidFill>
                  <a:srgbClr val="1A1A1A"/>
                </a:solidFill>
                <a:latin typeface="Arial"/>
              </a:rPr>
              <a:t>•  GovStack Information Mediator 1.1.1, sections 6.5 (logging services) and 6.6</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next services can now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Identity, the learner register and payments are now services with published contracts that the next education services can use without building them again, with consent and notification still to add.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Another team in the ministry wants to pay scholarships.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Its first plan is to build its own learner list and its own payment link.</a:t>
            </a:r>
          </a:p>
          <a:p>
            <a:pPr>
              <a:spcAft>
                <a:spcPts val="800"/>
              </a:spcAft>
            </a:pPr>
            <a:r>
              <a:rPr sz="1700" b="0" i="0">
                <a:solidFill>
                  <a:srgbClr val="595959"/>
                </a:solidFill>
                <a:latin typeface="Arial"/>
              </a:rPr>
              <a:t>Your job is to show the team what it can use instead, and on what terms.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exchange, with published contracts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Identity</a:t>
            </a:r>
          </a:p>
          <a:p>
            <a:pPr>
              <a:spcAft>
                <a:spcPts val="300"/>
              </a:spcAft>
            </a:pPr>
            <a:r>
              <a:rPr sz="1800" b="0" i="0">
                <a:solidFill>
                  <a:srgbClr val="595959"/>
                </a:solidFill>
                <a:latin typeface="Arial"/>
              </a:rPr>
              <a:t>PNIA's sign-in, for a service registered as its client.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learner register</a:t>
            </a:r>
          </a:p>
          <a:p>
            <a:pPr>
              <a:spcAft>
                <a:spcPts val="300"/>
              </a:spcAft>
            </a:pPr>
            <a:r>
              <a:rPr sz="1800" b="0" i="0">
                <a:solidFill>
                  <a:srgbClr val="595959"/>
                </a:solidFill>
                <a:latin typeface="Arial"/>
              </a:rPr>
              <a:t>Its services, on the owner's grant.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Payments</a:t>
            </a:r>
          </a:p>
          <a:p>
            <a:pPr>
              <a:spcAft>
                <a:spcPts val="300"/>
              </a:spcAft>
            </a:pPr>
            <a:r>
              <a:rPr sz="1800" b="0" i="0">
                <a:solidFill>
                  <a:srgbClr val="595959"/>
                </a:solidFill>
                <a:latin typeface="Arial"/>
              </a:rPr>
              <a:t>The Payments block's own interface.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scholarship, block by block</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Confirm the learner</a:t>
            </a:r>
          </a:p>
          <a:p>
            <a:pPr>
              <a:spcAft>
                <a:spcPts val="300"/>
              </a:spcAft>
            </a:pPr>
            <a:r>
              <a:rPr sz="1800" b="0" i="0">
                <a:solidFill>
                  <a:srgbClr val="595959"/>
                </a:solidFill>
                <a:latin typeface="Arial"/>
              </a:rPr>
              <a:t>Call the learner register.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Pay</a:t>
            </a:r>
          </a:p>
          <a:p>
            <a:pPr>
              <a:spcAft>
                <a:spcPts val="300"/>
              </a:spcAft>
            </a:pPr>
            <a:r>
              <a:rPr sz="1800" b="0" i="0">
                <a:solidFill>
                  <a:srgbClr val="595959"/>
                </a:solidFill>
                <a:latin typeface="Arial"/>
              </a:rPr>
              <a:t>The Payments block's path for bulk payments from government to people.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Or</a:t>
            </a:r>
          </a:p>
          <a:p>
            <a:pPr>
              <a:spcAft>
                <a:spcPts val="300"/>
              </a:spcAft>
            </a:pPr>
            <a:r>
              <a:rPr sz="1800" b="0" i="0">
                <a:solidFill>
                  <a:srgbClr val="595959"/>
                </a:solidFill>
                <a:latin typeface="Arial"/>
              </a:rPr>
              <a:t>Vouchers that only schools can redeem.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sees the saving</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Inside one project</a:t>
            </a:r>
          </a:p>
          <a:p>
            <a:pPr>
              <a:spcAft>
                <a:spcPts val="300"/>
              </a:spcAft>
            </a:pPr>
            <a:r>
              <a:rPr sz="1900" b="0" i="0">
                <a:solidFill>
                  <a:srgbClr val="595959"/>
                </a:solidFill>
                <a:latin typeface="Arial"/>
              </a:rPr>
              <a:t>Building your own looks quicker.</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Across the government</a:t>
            </a:r>
          </a:p>
          <a:p>
            <a:pPr>
              <a:spcAft>
                <a:spcPts val="300"/>
              </a:spcAft>
            </a:pPr>
            <a:r>
              <a:rPr sz="1900" b="0" i="0">
                <a:solidFill>
                  <a:srgbClr val="595959"/>
                </a:solidFill>
                <a:latin typeface="Arial"/>
              </a:rPr>
              <a:t>The second service costs less than the first.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Still to add: consent and notification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Consent</a:t>
            </a:r>
          </a:p>
          <a:p>
            <a:pPr>
              <a:spcAft>
                <a:spcPts val="300"/>
              </a:spcAft>
            </a:pPr>
            <a:r>
              <a:rPr sz="1800" b="0" i="0">
                <a:solidFill>
                  <a:srgbClr val="595959"/>
                </a:solidFill>
                <a:latin typeface="Arial"/>
              </a:rPr>
              <a:t>Recorded at first registration, checked before data is used.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Consent may be the wrong legal ground for a public authority.</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Notification</a:t>
            </a:r>
          </a:p>
          <a:p>
            <a:pPr>
              <a:spcAft>
                <a:spcPts val="300"/>
              </a:spcAft>
            </a:pPr>
            <a:r>
              <a:rPr sz="1800" b="0" i="0">
                <a:solidFill>
                  <a:srgbClr val="595959"/>
                </a:solidFill>
                <a:latin typeface="Arial"/>
              </a:rPr>
              <a:t>Telling a person that their registration is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for the next team</a:t>
            </a:r>
          </a:p>
        </p:txBody>
      </p:sp>
      <p:sp>
        <p:nvSpPr>
          <p:cNvPr id="4" name="Rounded Rectangle 3"/>
          <p:cNvSpPr/>
          <p:nvPr/>
        </p:nvSpPr>
        <p:spPr>
          <a:xfrm>
            <a:off x="65836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Service</a:t>
            </a:r>
          </a:p>
        </p:txBody>
      </p:sp>
      <p:sp>
        <p:nvSpPr>
          <p:cNvPr id="6" name="Rectangle 5"/>
          <p:cNvSpPr/>
          <p:nvPr/>
        </p:nvSpPr>
        <p:spPr>
          <a:xfrm>
            <a:off x="74980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3585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702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Contract</a:t>
            </a:r>
          </a:p>
        </p:txBody>
      </p:sp>
      <p:sp>
        <p:nvSpPr>
          <p:cNvPr id="11" name="Rectangle 10"/>
          <p:cNvSpPr/>
          <p:nvPr/>
        </p:nvSpPr>
        <p:spPr>
          <a:xfrm>
            <a:off x="352729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729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334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Conditions of access</a:t>
            </a:r>
          </a:p>
        </p:txBody>
      </p:sp>
      <p:sp>
        <p:nvSpPr>
          <p:cNvPr id="16" name="Rectangle 15"/>
          <p:cNvSpPr/>
          <p:nvPr/>
        </p:nvSpPr>
        <p:spPr>
          <a:xfrm>
            <a:off x="630478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478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478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9083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200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Owner</a:t>
            </a:r>
          </a:p>
        </p:txBody>
      </p:sp>
      <p:sp>
        <p:nvSpPr>
          <p:cNvPr id="21" name="Rectangle 20"/>
          <p:cNvSpPr/>
          <p:nvPr/>
        </p:nvSpPr>
        <p:spPr>
          <a:xfrm>
            <a:off x="908227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8227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8227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Identity, the learner register and payments are now services with published contracts that the next education services can use without building them again, with consent and notification still to add.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note 'what you may use' for the next service team.</a:t>
            </a:r>
          </a:p>
          <a:p>
            <a:pPr algn="l">
              <a:spcAft>
                <a:spcPts val="400"/>
              </a:spcAft>
            </a:pPr>
            <a:r>
              <a:rPr sz="1800" b="0" i="0">
                <a:solidFill>
                  <a:srgbClr val="595959"/>
                </a:solidFill>
                <a:latin typeface="Arial"/>
              </a:rPr>
              <a:t>The prompt in the companion material gives you a one-page note: each service, its contract, the conditions of access and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 6.2</a:t>
            </a:r>
          </a:p>
          <a:p>
            <a:pPr>
              <a:spcAft>
                <a:spcPts val="1000"/>
              </a:spcAft>
            </a:pPr>
            <a:r>
              <a:rPr sz="1800" b="0" i="0">
                <a:solidFill>
                  <a:srgbClr val="1A1A1A"/>
                </a:solidFill>
                <a:latin typeface="Arial"/>
              </a:rPr>
              <a:t>•  GovStack Payments 3.0, sections 9.1 and 9.2</a:t>
            </a:r>
          </a:p>
          <a:p>
            <a:pPr>
              <a:spcAft>
                <a:spcPts val="1000"/>
              </a:spcAft>
            </a:pPr>
            <a:r>
              <a:rPr sz="1800" b="0" i="0">
                <a:solidFill>
                  <a:srgbClr val="1A1A1A"/>
                </a:solidFill>
                <a:latin typeface="Arial"/>
              </a:rPr>
              <a:t>•  GovStack Consent 1.3.0, section 2 ('What Consent Is') and sections 9.2 and 9.4</a:t>
            </a:r>
          </a:p>
          <a:p>
            <a:pPr>
              <a:spcAft>
                <a:spcPts val="1000"/>
              </a:spcAft>
            </a:pPr>
            <a:r>
              <a:rPr sz="1800" b="0" i="0">
                <a:solidFill>
                  <a:srgbClr val="1A1A1A"/>
                </a:solidFill>
                <a:latin typeface="Arial"/>
              </a:rPr>
              <a:t>•  GovStack Messaging, sections 4.1 and 6.2.1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