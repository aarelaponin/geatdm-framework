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4" r:id="rId17"/>
    <p:sldId id="2725" r:id="rId16"/>
    <p:sldId id="2726" r:id="rId15"/>
    <p:sldId id="2727" r:id="rId14"/>
    <p:sldId id="2728" r:id="rId13"/>
    <p:sldId id="2729" r:id="rId12"/>
    <p:sldId id="2730" r:id="rId11"/>
    <p:sldId id="2731" r:id="rId10"/>
    <p:sldId id="273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vendor tells your steering committee the platform is GovStack compliant at Level 2. That describes the product, not how your country set it up. What you can ask for is simpler and stronger: a check for every configuration, run and passed, with its date.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GovStack's own testing offers two things. A software provider can assess its product against the functional requirements: a self-assessment. And there are automated tests of the published interfaces, run against candidate software. The two tests lead to a compliance level for the product: Level 1, partial, or Level 2, full. The GovStack Architecture specification also asks each block for a machine-readable definition of every external interface, and for a mock implementation, so that others can test against it.</a:t>
            </a:r>
          </a:p>
          <a:p/>
          <a:p>
            <a:r>
              <a:t>Production cue: States GovStack's testing and its two levels of compliance as its own pages describe them. All three concern the product; none checks a country's own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course follows the same idea, configuration by configuration. Every configuration has one check with the same name. The check says what is run, against which published interface, and what counts as a pass. For the exchange, check X1 lists the members and finds the registration service. Check X3 makes a call with a grant, which is answered, and the same call without one, which is refused. Check X4 is the whole run, from the sign-in to the register.</a:t>
            </a:r>
          </a:p>
          <a:p/>
          <a:p>
            <a:r>
              <a:t>Production cue: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Keep two words apart. A configuration that exists is set up. A block is proven only when every one of its checks has run and passed, and the result is written down with its date. Until then, the configuration is set up, and no more than that.</a:t>
            </a:r>
          </a:p>
          <a:p/>
          <a:p>
            <a:r>
              <a:t>Production cue: The two words are set in bold; the rest plain.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sheet of checks for the exchange. Each row names a configuration, what is run, what counts as a pass, and the result and date of the last run. Before the first run, the last column reads 'not yet run' in every row. That is not a weakness to hide. It is the honest state, and it tells the minister exactly what lies between a design and a proof.</a:t>
            </a:r>
          </a:p>
          <a:p/>
          <a:p>
            <a:r>
              <a:t>Production cue: The worked example of the outline. The same sheet is in the specimens folder, KP3-DPI/specimens/composition/acceptance-sheet.md.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When the build is ready, the checks are run one after another, and the sheet fills with results and dates. A failed check stays on the sheet with its output until it passes, and nobody edits a result by hand. That is what a good run shows, and nothing less.</a:t>
            </a:r>
          </a:p>
          <a:p/>
          <a:p>
            <a:r>
              <a:t>Production cue: Replaced by the recording of the 5.4 walkthrough when the configurations are built. Nothing on this slide claims a run.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Ask for the sheet, not only the product's compliance level. A block is proven when its checks have run and passed, each with a date.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acceptance checks: from "set up" to "proven"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configuration has a check that someone can run and read, and a block is called proven only when its checks have run and passed.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vendor tells your steering committee the platform is GovStack compliant at Level 2.</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describes the product, not how your country set it up.</a:t>
            </a:r>
          </a:p>
          <a:p>
            <a:pPr>
              <a:spcAft>
                <a:spcPts val="800"/>
              </a:spcAft>
            </a:pPr>
            <a:r>
              <a:rPr sz="1700" b="0" i="0">
                <a:solidFill>
                  <a:srgbClr val="595959"/>
                </a:solidFill>
                <a:latin typeface="Arial"/>
              </a:rPr>
              <a:t>What you can ask for is simpler and stronger: a check for every configuration, run and passed, with its date.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GovStack itself offers</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self-assessment of compliance against the requirements.</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Automated tests of the published interfaces.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 compliance level for the product</a:t>
            </a:r>
          </a:p>
          <a:p>
            <a:pPr>
              <a:spcAft>
                <a:spcPts val="300"/>
              </a:spcAft>
            </a:pPr>
            <a:r>
              <a:rPr sz="1800" b="0" i="0">
                <a:solidFill>
                  <a:srgbClr val="595959"/>
                </a:solidFill>
                <a:latin typeface="Arial"/>
              </a:rPr>
              <a:t>Level 1 or Level 2.</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check for each configuration</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What is run, against which published interface.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What counts as a pass.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result, and the date of the last run.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Set up is not proven</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Set up</a:t>
            </a:r>
          </a:p>
          <a:p>
            <a:pPr>
              <a:spcAft>
                <a:spcPts val="300"/>
              </a:spcAft>
            </a:pPr>
            <a:r>
              <a:rPr sz="1800" b="0" i="0">
                <a:solidFill>
                  <a:srgbClr val="595959"/>
                </a:solidFill>
                <a:latin typeface="Arial"/>
              </a:rPr>
              <a:t>The configuration exists.</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Proven</a:t>
            </a:r>
          </a:p>
          <a:p>
            <a:pPr>
              <a:spcAft>
                <a:spcPts val="300"/>
              </a:spcAft>
            </a:pPr>
            <a:r>
              <a:rPr sz="1800" b="0" i="0">
                <a:solidFill>
                  <a:srgbClr val="595959"/>
                </a:solidFill>
                <a:latin typeface="Arial"/>
              </a:rPr>
              <a:t>Every check has run and passed, with a date.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Until then</a:t>
            </a:r>
          </a:p>
          <a:p>
            <a:pPr>
              <a:spcAft>
                <a:spcPts val="300"/>
              </a:spcAft>
            </a:pPr>
            <a:r>
              <a:rPr sz="1800" b="0" i="0">
                <a:solidFill>
                  <a:srgbClr val="595959"/>
                </a:solidFill>
                <a:latin typeface="Arial"/>
              </a:rPr>
              <a:t>Set up, not yet proven.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sheet of checks</a:t>
            </a:r>
          </a:p>
        </p:txBody>
      </p:sp>
      <p:sp>
        <p:nvSpPr>
          <p:cNvPr id="4" name="TextBox 3"/>
          <p:cNvSpPr txBox="1"/>
          <p:nvPr/>
        </p:nvSpPr>
        <p:spPr>
          <a:xfrm>
            <a:off x="658368" y="1463040"/>
            <a:ext cx="3364991" cy="457200"/>
          </a:xfrm>
          <a:prstGeom prst="rect">
            <a:avLst/>
          </a:prstGeom>
          <a:noFill/>
        </p:spPr>
        <p:txBody>
          <a:bodyPr wrap="square">
            <a:spAutoFit/>
          </a:bodyPr>
          <a:lstStyle/>
          <a:p>
            <a:r>
              <a:rPr sz="1500" b="1" i="0">
                <a:solidFill>
                  <a:srgbClr val="006E96"/>
                </a:solidFill>
                <a:latin typeface="Arial"/>
              </a:rPr>
              <a:t>Configuration</a:t>
            </a:r>
          </a:p>
        </p:txBody>
      </p:sp>
      <p:sp>
        <p:nvSpPr>
          <p:cNvPr id="5" name="TextBox 4"/>
          <p:cNvSpPr txBox="1"/>
          <p:nvPr/>
        </p:nvSpPr>
        <p:spPr>
          <a:xfrm>
            <a:off x="4133087" y="1463040"/>
            <a:ext cx="2999232" cy="457200"/>
          </a:xfrm>
          <a:prstGeom prst="rect">
            <a:avLst/>
          </a:prstGeom>
          <a:noFill/>
        </p:spPr>
        <p:txBody>
          <a:bodyPr wrap="square">
            <a:spAutoFit/>
          </a:bodyPr>
          <a:lstStyle/>
          <a:p>
            <a:r>
              <a:rPr sz="1500" b="1" i="0">
                <a:solidFill>
                  <a:srgbClr val="006E96"/>
                </a:solidFill>
                <a:latin typeface="Arial"/>
              </a:rPr>
              <a:t>What is run</a:t>
            </a:r>
          </a:p>
        </p:txBody>
      </p:sp>
      <p:sp>
        <p:nvSpPr>
          <p:cNvPr id="6" name="TextBox 5"/>
          <p:cNvSpPr txBox="1"/>
          <p:nvPr/>
        </p:nvSpPr>
        <p:spPr>
          <a:xfrm>
            <a:off x="7242048" y="1463040"/>
            <a:ext cx="2724912" cy="457200"/>
          </a:xfrm>
          <a:prstGeom prst="rect">
            <a:avLst/>
          </a:prstGeom>
          <a:noFill/>
        </p:spPr>
        <p:txBody>
          <a:bodyPr wrap="square">
            <a:spAutoFit/>
          </a:bodyPr>
          <a:lstStyle/>
          <a:p>
            <a:r>
              <a:rPr sz="1500" b="1" i="0">
                <a:solidFill>
                  <a:srgbClr val="006E96"/>
                </a:solidFill>
                <a:latin typeface="Arial"/>
              </a:rPr>
              <a:t>What counts as a pass</a:t>
            </a:r>
          </a:p>
        </p:txBody>
      </p:sp>
      <p:sp>
        <p:nvSpPr>
          <p:cNvPr id="7" name="TextBox 6"/>
          <p:cNvSpPr txBox="1"/>
          <p:nvPr/>
        </p:nvSpPr>
        <p:spPr>
          <a:xfrm>
            <a:off x="10076688" y="1463040"/>
            <a:ext cx="1353312" cy="457200"/>
          </a:xfrm>
          <a:prstGeom prst="rect">
            <a:avLst/>
          </a:prstGeom>
          <a:noFill/>
        </p:spPr>
        <p:txBody>
          <a:bodyPr wrap="square">
            <a:spAutoFit/>
          </a:bodyPr>
          <a:lstStyle/>
          <a:p>
            <a:r>
              <a:rPr sz="1500" b="1" i="0">
                <a:solidFill>
                  <a:srgbClr val="006E96"/>
                </a:solidFill>
                <a:latin typeface="Arial"/>
              </a:rPr>
              <a:t>Last run</a:t>
            </a:r>
          </a:p>
        </p:txBody>
      </p:sp>
      <p:sp>
        <p:nvSpPr>
          <p:cNvPr id="8" name="Rectangle 7"/>
          <p:cNvSpPr/>
          <p:nvPr/>
        </p:nvSpPr>
        <p:spPr>
          <a:xfrm>
            <a:off x="658368" y="1920240"/>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011680"/>
            <a:ext cx="3364991" cy="508145"/>
          </a:xfrm>
          <a:prstGeom prst="rect">
            <a:avLst/>
          </a:prstGeom>
          <a:noFill/>
        </p:spPr>
        <p:txBody>
          <a:bodyPr wrap="square">
            <a:spAutoFit/>
          </a:bodyPr>
          <a:lstStyle/>
          <a:p>
            <a:r>
              <a:rPr sz="1500" b="1" i="0">
                <a:solidFill>
                  <a:srgbClr val="1A1A1A"/>
                </a:solidFill>
                <a:latin typeface="Arial"/>
              </a:rPr>
              <a:t>X1 The registration service as a member</a:t>
            </a:r>
          </a:p>
        </p:txBody>
      </p:sp>
      <p:sp>
        <p:nvSpPr>
          <p:cNvPr id="10" name="TextBox 9"/>
          <p:cNvSpPr txBox="1"/>
          <p:nvPr/>
        </p:nvSpPr>
        <p:spPr>
          <a:xfrm>
            <a:off x="4133087" y="2011680"/>
            <a:ext cx="2999232" cy="508145"/>
          </a:xfrm>
          <a:prstGeom prst="rect">
            <a:avLst/>
          </a:prstGeom>
          <a:noFill/>
        </p:spPr>
        <p:txBody>
          <a:bodyPr wrap="square">
            <a:spAutoFit/>
          </a:bodyPr>
          <a:lstStyle/>
          <a:p>
            <a:r>
              <a:rPr sz="1500" b="0" i="0">
                <a:solidFill>
                  <a:srgbClr val="1A1A1A"/>
                </a:solidFill>
                <a:latin typeface="Arial"/>
              </a:rPr>
              <a:t>List the members</a:t>
            </a:r>
          </a:p>
        </p:txBody>
      </p:sp>
      <p:sp>
        <p:nvSpPr>
          <p:cNvPr id="11" name="TextBox 10"/>
          <p:cNvSpPr txBox="1"/>
          <p:nvPr/>
        </p:nvSpPr>
        <p:spPr>
          <a:xfrm>
            <a:off x="7242048" y="2011680"/>
            <a:ext cx="2724912" cy="508145"/>
          </a:xfrm>
          <a:prstGeom prst="rect">
            <a:avLst/>
          </a:prstGeom>
          <a:noFill/>
        </p:spPr>
        <p:txBody>
          <a:bodyPr wrap="square">
            <a:spAutoFit/>
          </a:bodyPr>
          <a:lstStyle/>
          <a:p>
            <a:r>
              <a:rPr sz="1500" b="0" i="0">
                <a:solidFill>
                  <a:srgbClr val="1A1A1A"/>
                </a:solidFill>
                <a:latin typeface="Arial"/>
              </a:rPr>
              <a:t>Its member and application listed</a:t>
            </a:r>
          </a:p>
        </p:txBody>
      </p:sp>
      <p:sp>
        <p:nvSpPr>
          <p:cNvPr id="12" name="TextBox 11"/>
          <p:cNvSpPr txBox="1"/>
          <p:nvPr/>
        </p:nvSpPr>
        <p:spPr>
          <a:xfrm>
            <a:off x="10076688" y="2011680"/>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13" name="Rectangle 12"/>
          <p:cNvSpPr/>
          <p:nvPr/>
        </p:nvSpPr>
        <p:spPr>
          <a:xfrm>
            <a:off x="658368" y="253811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592977"/>
            <a:ext cx="3364991" cy="508145"/>
          </a:xfrm>
          <a:prstGeom prst="rect">
            <a:avLst/>
          </a:prstGeom>
          <a:noFill/>
        </p:spPr>
        <p:txBody>
          <a:bodyPr wrap="square">
            <a:spAutoFit/>
          </a:bodyPr>
          <a:lstStyle/>
          <a:p>
            <a:r>
              <a:rPr sz="1500" b="1" i="0">
                <a:solidFill>
                  <a:srgbClr val="1A1A1A"/>
                </a:solidFill>
                <a:latin typeface="Arial"/>
              </a:rPr>
              <a:t>X2 The write service and its contract</a:t>
            </a:r>
          </a:p>
        </p:txBody>
      </p:sp>
      <p:sp>
        <p:nvSpPr>
          <p:cNvPr id="15" name="TextBox 14"/>
          <p:cNvSpPr txBox="1"/>
          <p:nvPr/>
        </p:nvSpPr>
        <p:spPr>
          <a:xfrm>
            <a:off x="4133087" y="2592977"/>
            <a:ext cx="2999232" cy="508145"/>
          </a:xfrm>
          <a:prstGeom prst="rect">
            <a:avLst/>
          </a:prstGeom>
          <a:noFill/>
        </p:spPr>
        <p:txBody>
          <a:bodyPr wrap="square">
            <a:spAutoFit/>
          </a:bodyPr>
          <a:lstStyle/>
          <a:p>
            <a:r>
              <a:rPr sz="1500" b="0" i="0">
                <a:solidFill>
                  <a:srgbClr val="1A1A1A"/>
                </a:solidFill>
                <a:latin typeface="Arial"/>
              </a:rPr>
              <a:t>List the services; fetch the contract</a:t>
            </a:r>
          </a:p>
        </p:txBody>
      </p:sp>
      <p:sp>
        <p:nvSpPr>
          <p:cNvPr id="16" name="TextBox 15"/>
          <p:cNvSpPr txBox="1"/>
          <p:nvPr/>
        </p:nvSpPr>
        <p:spPr>
          <a:xfrm>
            <a:off x="7242048" y="2592977"/>
            <a:ext cx="2724912" cy="508145"/>
          </a:xfrm>
          <a:prstGeom prst="rect">
            <a:avLst/>
          </a:prstGeom>
          <a:noFill/>
        </p:spPr>
        <p:txBody>
          <a:bodyPr wrap="square">
            <a:spAutoFit/>
          </a:bodyPr>
          <a:lstStyle/>
          <a:p>
            <a:r>
              <a:rPr sz="1500" b="0" i="0">
                <a:solidFill>
                  <a:srgbClr val="1A1A1A"/>
                </a:solidFill>
                <a:latin typeface="Arial"/>
              </a:rPr>
              <a:t>Contract returned; a test record exists</a:t>
            </a:r>
          </a:p>
        </p:txBody>
      </p:sp>
      <p:sp>
        <p:nvSpPr>
          <p:cNvPr id="17" name="TextBox 16"/>
          <p:cNvSpPr txBox="1"/>
          <p:nvPr/>
        </p:nvSpPr>
        <p:spPr>
          <a:xfrm>
            <a:off x="10076688" y="2592977"/>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18" name="Rectangle 17"/>
          <p:cNvSpPr/>
          <p:nvPr/>
        </p:nvSpPr>
        <p:spPr>
          <a:xfrm>
            <a:off x="658368" y="311941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174274"/>
            <a:ext cx="3364991" cy="508145"/>
          </a:xfrm>
          <a:prstGeom prst="rect">
            <a:avLst/>
          </a:prstGeom>
          <a:noFill/>
        </p:spPr>
        <p:txBody>
          <a:bodyPr wrap="square">
            <a:spAutoFit/>
          </a:bodyPr>
          <a:lstStyle/>
          <a:p>
            <a:r>
              <a:rPr sz="1500" b="1" i="0">
                <a:solidFill>
                  <a:srgbClr val="1A1A1A"/>
                </a:solidFill>
                <a:latin typeface="Arial"/>
              </a:rPr>
              <a:t>X3 The grants</a:t>
            </a:r>
          </a:p>
        </p:txBody>
      </p:sp>
      <p:sp>
        <p:nvSpPr>
          <p:cNvPr id="20" name="TextBox 19"/>
          <p:cNvSpPr txBox="1"/>
          <p:nvPr/>
        </p:nvSpPr>
        <p:spPr>
          <a:xfrm>
            <a:off x="4133087" y="3174274"/>
            <a:ext cx="2999232" cy="508145"/>
          </a:xfrm>
          <a:prstGeom prst="rect">
            <a:avLst/>
          </a:prstGeom>
          <a:noFill/>
        </p:spPr>
        <p:txBody>
          <a:bodyPr wrap="square">
            <a:spAutoFit/>
          </a:bodyPr>
          <a:lstStyle/>
          <a:p>
            <a:r>
              <a:rPr sz="1500" b="0" i="0">
                <a:solidFill>
                  <a:srgbClr val="1A1A1A"/>
                </a:solidFill>
                <a:latin typeface="Arial"/>
              </a:rPr>
              <a:t>The call with a grant, and without one</a:t>
            </a:r>
          </a:p>
        </p:txBody>
      </p:sp>
      <p:sp>
        <p:nvSpPr>
          <p:cNvPr id="21" name="TextBox 20"/>
          <p:cNvSpPr txBox="1"/>
          <p:nvPr/>
        </p:nvSpPr>
        <p:spPr>
          <a:xfrm>
            <a:off x="7242048" y="3174274"/>
            <a:ext cx="2724912" cy="508145"/>
          </a:xfrm>
          <a:prstGeom prst="rect">
            <a:avLst/>
          </a:prstGeom>
          <a:noFill/>
        </p:spPr>
        <p:txBody>
          <a:bodyPr wrap="square">
            <a:spAutoFit/>
          </a:bodyPr>
          <a:lstStyle/>
          <a:p>
            <a:r>
              <a:rPr sz="1500" b="0" i="0">
                <a:solidFill>
                  <a:srgbClr val="1A1A1A"/>
                </a:solidFill>
                <a:latin typeface="Arial"/>
              </a:rPr>
              <a:t>Answered; refused</a:t>
            </a:r>
          </a:p>
        </p:txBody>
      </p:sp>
      <p:sp>
        <p:nvSpPr>
          <p:cNvPr id="22" name="TextBox 21"/>
          <p:cNvSpPr txBox="1"/>
          <p:nvPr/>
        </p:nvSpPr>
        <p:spPr>
          <a:xfrm>
            <a:off x="10076688" y="3174274"/>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23" name="Rectangle 22"/>
          <p:cNvSpPr/>
          <p:nvPr/>
        </p:nvSpPr>
        <p:spPr>
          <a:xfrm>
            <a:off x="658368" y="370070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755571"/>
            <a:ext cx="3364991" cy="508145"/>
          </a:xfrm>
          <a:prstGeom prst="rect">
            <a:avLst/>
          </a:prstGeom>
          <a:noFill/>
        </p:spPr>
        <p:txBody>
          <a:bodyPr wrap="square">
            <a:spAutoFit/>
          </a:bodyPr>
          <a:lstStyle/>
          <a:p>
            <a:r>
              <a:rPr sz="1500" b="1" i="0">
                <a:solidFill>
                  <a:srgbClr val="1A1A1A"/>
                </a:solidFill>
                <a:latin typeface="Arial"/>
              </a:rPr>
              <a:t>X4 The once-only sequence</a:t>
            </a:r>
          </a:p>
        </p:txBody>
      </p:sp>
      <p:sp>
        <p:nvSpPr>
          <p:cNvPr id="25" name="TextBox 24"/>
          <p:cNvSpPr txBox="1"/>
          <p:nvPr/>
        </p:nvSpPr>
        <p:spPr>
          <a:xfrm>
            <a:off x="4133087" y="3755571"/>
            <a:ext cx="2999232" cy="508145"/>
          </a:xfrm>
          <a:prstGeom prst="rect">
            <a:avLst/>
          </a:prstGeom>
          <a:noFill/>
        </p:spPr>
        <p:txBody>
          <a:bodyPr wrap="square">
            <a:spAutoFit/>
          </a:bodyPr>
          <a:lstStyle/>
          <a:p>
            <a:r>
              <a:rPr sz="1500" b="0" i="0">
                <a:solidFill>
                  <a:srgbClr val="1A1A1A"/>
                </a:solidFill>
                <a:latin typeface="Arial"/>
              </a:rPr>
              <a:t>The whole run, sign-in to register</a:t>
            </a:r>
          </a:p>
        </p:txBody>
      </p:sp>
      <p:sp>
        <p:nvSpPr>
          <p:cNvPr id="26" name="TextBox 25"/>
          <p:cNvSpPr txBox="1"/>
          <p:nvPr/>
        </p:nvSpPr>
        <p:spPr>
          <a:xfrm>
            <a:off x="7242048" y="3755571"/>
            <a:ext cx="2724912" cy="508145"/>
          </a:xfrm>
          <a:prstGeom prst="rect">
            <a:avLst/>
          </a:prstGeom>
          <a:noFill/>
        </p:spPr>
        <p:txBody>
          <a:bodyPr wrap="square">
            <a:spAutoFit/>
          </a:bodyPr>
          <a:lstStyle/>
          <a:p>
            <a:r>
              <a:rPr sz="1500" b="0" i="0">
                <a:solidFill>
                  <a:srgbClr val="1A1A1A"/>
                </a:solidFill>
                <a:latin typeface="Arial"/>
              </a:rPr>
              <a:t>The register confirms the record</a:t>
            </a:r>
          </a:p>
        </p:txBody>
      </p:sp>
      <p:sp>
        <p:nvSpPr>
          <p:cNvPr id="27" name="TextBox 26"/>
          <p:cNvSpPr txBox="1"/>
          <p:nvPr/>
        </p:nvSpPr>
        <p:spPr>
          <a:xfrm>
            <a:off x="10076688" y="3755571"/>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28" name="Rectangle 27"/>
          <p:cNvSpPr/>
          <p:nvPr/>
        </p:nvSpPr>
        <p:spPr>
          <a:xfrm>
            <a:off x="658368" y="428200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4336868"/>
            <a:ext cx="3364991" cy="508145"/>
          </a:xfrm>
          <a:prstGeom prst="rect">
            <a:avLst/>
          </a:prstGeom>
          <a:noFill/>
        </p:spPr>
        <p:txBody>
          <a:bodyPr wrap="square">
            <a:spAutoFit/>
          </a:bodyPr>
          <a:lstStyle/>
          <a:p>
            <a:r>
              <a:rPr sz="1500" b="1" i="0">
                <a:solidFill>
                  <a:srgbClr val="1A1A1A"/>
                </a:solidFill>
                <a:latin typeface="Arial"/>
              </a:rPr>
              <a:t>X5 Each call through the caller's own server</a:t>
            </a:r>
          </a:p>
        </p:txBody>
      </p:sp>
      <p:sp>
        <p:nvSpPr>
          <p:cNvPr id="30" name="TextBox 29"/>
          <p:cNvSpPr txBox="1"/>
          <p:nvPr/>
        </p:nvSpPr>
        <p:spPr>
          <a:xfrm>
            <a:off x="4133087" y="4336868"/>
            <a:ext cx="2999232" cy="508145"/>
          </a:xfrm>
          <a:prstGeom prst="rect">
            <a:avLst/>
          </a:prstGeom>
          <a:noFill/>
        </p:spPr>
        <p:txBody>
          <a:bodyPr wrap="square">
            <a:spAutoFit/>
          </a:bodyPr>
          <a:lstStyle/>
          <a:p>
            <a:r>
              <a:rPr sz="1500" b="0" i="0">
                <a:solidFill>
                  <a:srgbClr val="1A1A1A"/>
                </a:solidFill>
                <a:latin typeface="Arial"/>
              </a:rPr>
              <a:t>Read the message log of the run</a:t>
            </a:r>
          </a:p>
        </p:txBody>
      </p:sp>
      <p:sp>
        <p:nvSpPr>
          <p:cNvPr id="31" name="TextBox 30"/>
          <p:cNvSpPr txBox="1"/>
          <p:nvPr/>
        </p:nvSpPr>
        <p:spPr>
          <a:xfrm>
            <a:off x="7242048" y="4336868"/>
            <a:ext cx="2724912" cy="508145"/>
          </a:xfrm>
          <a:prstGeom prst="rect">
            <a:avLst/>
          </a:prstGeom>
          <a:noFill/>
        </p:spPr>
        <p:txBody>
          <a:bodyPr wrap="square">
            <a:spAutoFit/>
          </a:bodyPr>
          <a:lstStyle/>
          <a:p>
            <a:r>
              <a:rPr sz="1500" b="0" i="0">
                <a:solidFill>
                  <a:srgbClr val="1A1A1A"/>
                </a:solidFill>
                <a:latin typeface="Arial"/>
              </a:rPr>
              <a:t>Each request on the caller's own server</a:t>
            </a:r>
          </a:p>
        </p:txBody>
      </p:sp>
      <p:sp>
        <p:nvSpPr>
          <p:cNvPr id="32" name="TextBox 31"/>
          <p:cNvSpPr txBox="1"/>
          <p:nvPr/>
        </p:nvSpPr>
        <p:spPr>
          <a:xfrm>
            <a:off x="10076688" y="4336868"/>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33" name="Rectangle 32"/>
          <p:cNvSpPr/>
          <p:nvPr/>
        </p:nvSpPr>
        <p:spPr>
          <a:xfrm>
            <a:off x="658368" y="486330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918165"/>
            <a:ext cx="3364991" cy="508145"/>
          </a:xfrm>
          <a:prstGeom prst="rect">
            <a:avLst/>
          </a:prstGeom>
          <a:noFill/>
        </p:spPr>
        <p:txBody>
          <a:bodyPr wrap="square">
            <a:spAutoFit/>
          </a:bodyPr>
          <a:lstStyle/>
          <a:p>
            <a:r>
              <a:rPr sz="1500" b="1" i="0">
                <a:solidFill>
                  <a:srgbClr val="1A1A1A"/>
                </a:solidFill>
                <a:latin typeface="Arial"/>
              </a:rPr>
              <a:t>X6 Full logging and access to monitoring</a:t>
            </a:r>
          </a:p>
        </p:txBody>
      </p:sp>
      <p:sp>
        <p:nvSpPr>
          <p:cNvPr id="35" name="TextBox 34"/>
          <p:cNvSpPr txBox="1"/>
          <p:nvPr/>
        </p:nvSpPr>
        <p:spPr>
          <a:xfrm>
            <a:off x="4133087" y="4918165"/>
            <a:ext cx="2999232" cy="508145"/>
          </a:xfrm>
          <a:prstGeom prst="rect">
            <a:avLst/>
          </a:prstGeom>
          <a:noFill/>
        </p:spPr>
        <p:txBody>
          <a:bodyPr wrap="square">
            <a:spAutoFit/>
          </a:bodyPr>
          <a:lstStyle/>
          <a:p>
            <a:r>
              <a:rPr sz="1500" b="0" i="0">
                <a:solidFill>
                  <a:srgbClr val="1A1A1A"/>
                </a:solidFill>
                <a:latin typeface="Arial"/>
              </a:rPr>
              <a:t>Query the logs; read monitoring</a:t>
            </a:r>
          </a:p>
        </p:txBody>
      </p:sp>
      <p:sp>
        <p:nvSpPr>
          <p:cNvPr id="36" name="TextBox 35"/>
          <p:cNvSpPr txBox="1"/>
          <p:nvPr/>
        </p:nvSpPr>
        <p:spPr>
          <a:xfrm>
            <a:off x="7242048" y="4918165"/>
            <a:ext cx="2724912" cy="508145"/>
          </a:xfrm>
          <a:prstGeom prst="rect">
            <a:avLst/>
          </a:prstGeom>
          <a:noFill/>
        </p:spPr>
        <p:txBody>
          <a:bodyPr wrap="square">
            <a:spAutoFit/>
          </a:bodyPr>
          <a:lstStyle/>
          <a:p>
            <a:r>
              <a:rPr sz="1500" b="0" i="0">
                <a:solidFill>
                  <a:srgbClr val="1A1A1A"/>
                </a:solidFill>
                <a:latin typeface="Arial"/>
              </a:rPr>
              <a:t>A signed, time-stamped record of each call</a:t>
            </a:r>
          </a:p>
        </p:txBody>
      </p:sp>
      <p:sp>
        <p:nvSpPr>
          <p:cNvPr id="37" name="TextBox 36"/>
          <p:cNvSpPr txBox="1"/>
          <p:nvPr/>
        </p:nvSpPr>
        <p:spPr>
          <a:xfrm>
            <a:off x="10076688" y="4918165"/>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38" name="Rectangle 37"/>
          <p:cNvSpPr/>
          <p:nvPr/>
        </p:nvSpPr>
        <p:spPr>
          <a:xfrm>
            <a:off x="658368" y="544459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499462"/>
            <a:ext cx="3364991" cy="508145"/>
          </a:xfrm>
          <a:prstGeom prst="rect">
            <a:avLst/>
          </a:prstGeom>
          <a:noFill/>
        </p:spPr>
        <p:txBody>
          <a:bodyPr wrap="square">
            <a:spAutoFit/>
          </a:bodyPr>
          <a:lstStyle/>
          <a:p>
            <a:r>
              <a:rPr sz="1500" b="1" i="0">
                <a:solidFill>
                  <a:srgbClr val="1A1A1A"/>
                </a:solidFill>
                <a:latin typeface="Arial"/>
              </a:rPr>
              <a:t>X7 The Payments block as a member</a:t>
            </a:r>
          </a:p>
        </p:txBody>
      </p:sp>
      <p:sp>
        <p:nvSpPr>
          <p:cNvPr id="40" name="TextBox 39"/>
          <p:cNvSpPr txBox="1"/>
          <p:nvPr/>
        </p:nvSpPr>
        <p:spPr>
          <a:xfrm>
            <a:off x="4133087" y="5499462"/>
            <a:ext cx="2999232" cy="508145"/>
          </a:xfrm>
          <a:prstGeom prst="rect">
            <a:avLst/>
          </a:prstGeom>
          <a:noFill/>
        </p:spPr>
        <p:txBody>
          <a:bodyPr wrap="square">
            <a:spAutoFit/>
          </a:bodyPr>
          <a:lstStyle/>
          <a:p>
            <a:r>
              <a:rPr sz="1500" b="0" i="0">
                <a:solidFill>
                  <a:srgbClr val="1A1A1A"/>
                </a:solidFill>
                <a:latin typeface="Arial"/>
              </a:rPr>
              <a:t>List its services</a:t>
            </a:r>
          </a:p>
        </p:txBody>
      </p:sp>
      <p:sp>
        <p:nvSpPr>
          <p:cNvPr id="41" name="TextBox 40"/>
          <p:cNvSpPr txBox="1"/>
          <p:nvPr/>
        </p:nvSpPr>
        <p:spPr>
          <a:xfrm>
            <a:off x="7242048" y="5499462"/>
            <a:ext cx="2724912" cy="508145"/>
          </a:xfrm>
          <a:prstGeom prst="rect">
            <a:avLst/>
          </a:prstGeom>
          <a:noFill/>
        </p:spPr>
        <p:txBody>
          <a:bodyPr wrap="square">
            <a:spAutoFit/>
          </a:bodyPr>
          <a:lstStyle/>
          <a:p>
            <a:r>
              <a:rPr sz="1500" b="0" i="0">
                <a:solidFill>
                  <a:srgbClr val="1A1A1A"/>
                </a:solidFill>
                <a:latin typeface="Arial"/>
              </a:rPr>
              <a:t>Only its own operations listed</a:t>
            </a:r>
          </a:p>
        </p:txBody>
      </p:sp>
      <p:sp>
        <p:nvSpPr>
          <p:cNvPr id="42" name="TextBox 41"/>
          <p:cNvSpPr txBox="1"/>
          <p:nvPr/>
        </p:nvSpPr>
        <p:spPr>
          <a:xfrm>
            <a:off x="10076688" y="5499462"/>
            <a:ext cx="1353312" cy="508145"/>
          </a:xfrm>
          <a:prstGeom prst="rect">
            <a:avLst/>
          </a:prstGeom>
          <a:noFill/>
        </p:spPr>
        <p:txBody>
          <a:bodyPr wrap="square">
            <a:spAutoFit/>
          </a:bodyPr>
          <a:lstStyle/>
          <a:p>
            <a:r>
              <a:rPr sz="1500" b="0" i="0">
                <a:solidFill>
                  <a:srgbClr val="1A1A1A"/>
                </a:solidFill>
                <a:latin typeface="Arial"/>
              </a:rPr>
              <a:t>not yet run</a:t>
            </a:r>
          </a:p>
        </p:txBody>
      </p:sp>
      <p:sp>
        <p:nvSpPr>
          <p:cNvPr id="43" name="TextBox 4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Running the checks</a:t>
            </a:r>
          </a:p>
        </p:txBody>
      </p:sp>
      <p:sp>
        <p:nvSpPr>
          <p:cNvPr id="4" name="TextBox 3"/>
          <p:cNvSpPr txBox="1"/>
          <p:nvPr/>
        </p:nvSpPr>
        <p:spPr>
          <a:xfrm>
            <a:off x="658368" y="1463040"/>
            <a:ext cx="3364991" cy="457200"/>
          </a:xfrm>
          <a:prstGeom prst="rect">
            <a:avLst/>
          </a:prstGeom>
          <a:noFill/>
        </p:spPr>
        <p:txBody>
          <a:bodyPr wrap="square">
            <a:spAutoFit/>
          </a:bodyPr>
          <a:lstStyle/>
          <a:p>
            <a:r>
              <a:rPr sz="1500" b="1" i="0">
                <a:solidFill>
                  <a:srgbClr val="006E96"/>
                </a:solidFill>
                <a:latin typeface="Arial"/>
              </a:rPr>
              <a:t>Configuration</a:t>
            </a:r>
          </a:p>
        </p:txBody>
      </p:sp>
      <p:sp>
        <p:nvSpPr>
          <p:cNvPr id="5" name="TextBox 4"/>
          <p:cNvSpPr txBox="1"/>
          <p:nvPr/>
        </p:nvSpPr>
        <p:spPr>
          <a:xfrm>
            <a:off x="4133087" y="1463040"/>
            <a:ext cx="2999232" cy="457200"/>
          </a:xfrm>
          <a:prstGeom prst="rect">
            <a:avLst/>
          </a:prstGeom>
          <a:noFill/>
        </p:spPr>
        <p:txBody>
          <a:bodyPr wrap="square">
            <a:spAutoFit/>
          </a:bodyPr>
          <a:lstStyle/>
          <a:p>
            <a:r>
              <a:rPr sz="1500" b="1" i="0">
                <a:solidFill>
                  <a:srgbClr val="006E96"/>
                </a:solidFill>
                <a:latin typeface="Arial"/>
              </a:rPr>
              <a:t>What is run</a:t>
            </a:r>
          </a:p>
        </p:txBody>
      </p:sp>
      <p:sp>
        <p:nvSpPr>
          <p:cNvPr id="6" name="TextBox 5"/>
          <p:cNvSpPr txBox="1"/>
          <p:nvPr/>
        </p:nvSpPr>
        <p:spPr>
          <a:xfrm>
            <a:off x="7242048" y="1463040"/>
            <a:ext cx="2724912" cy="457200"/>
          </a:xfrm>
          <a:prstGeom prst="rect">
            <a:avLst/>
          </a:prstGeom>
          <a:noFill/>
        </p:spPr>
        <p:txBody>
          <a:bodyPr wrap="square">
            <a:spAutoFit/>
          </a:bodyPr>
          <a:lstStyle/>
          <a:p>
            <a:r>
              <a:rPr sz="1500" b="1" i="0">
                <a:solidFill>
                  <a:srgbClr val="006E96"/>
                </a:solidFill>
                <a:latin typeface="Arial"/>
              </a:rPr>
              <a:t>What counts as a pass</a:t>
            </a:r>
          </a:p>
        </p:txBody>
      </p:sp>
      <p:sp>
        <p:nvSpPr>
          <p:cNvPr id="7" name="TextBox 6"/>
          <p:cNvSpPr txBox="1"/>
          <p:nvPr/>
        </p:nvSpPr>
        <p:spPr>
          <a:xfrm>
            <a:off x="10076688" y="1463040"/>
            <a:ext cx="1353312" cy="457200"/>
          </a:xfrm>
          <a:prstGeom prst="rect">
            <a:avLst/>
          </a:prstGeom>
          <a:noFill/>
        </p:spPr>
        <p:txBody>
          <a:bodyPr wrap="square">
            <a:spAutoFit/>
          </a:bodyPr>
          <a:lstStyle/>
          <a:p>
            <a:r>
              <a:rPr sz="1500" b="1" i="0">
                <a:solidFill>
                  <a:srgbClr val="006E96"/>
                </a:solidFill>
                <a:latin typeface="Arial"/>
              </a:rPr>
              <a:t>Last run</a:t>
            </a:r>
          </a:p>
        </p:txBody>
      </p:sp>
      <p:sp>
        <p:nvSpPr>
          <p:cNvPr id="8" name="Rectangle 7"/>
          <p:cNvSpPr/>
          <p:nvPr/>
        </p:nvSpPr>
        <p:spPr>
          <a:xfrm>
            <a:off x="658368" y="1920240"/>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011680"/>
            <a:ext cx="3364991" cy="449362"/>
          </a:xfrm>
          <a:prstGeom prst="rect">
            <a:avLst/>
          </a:prstGeom>
          <a:noFill/>
        </p:spPr>
        <p:txBody>
          <a:bodyPr wrap="square">
            <a:spAutoFit/>
          </a:bodyPr>
          <a:lstStyle/>
          <a:p>
            <a:r>
              <a:rPr sz="1500" b="1" i="0">
                <a:solidFill>
                  <a:srgbClr val="1A1A1A"/>
                </a:solidFill>
                <a:latin typeface="Arial"/>
              </a:rPr>
              <a:t>X1 The registration service as a member</a:t>
            </a:r>
          </a:p>
        </p:txBody>
      </p:sp>
      <p:sp>
        <p:nvSpPr>
          <p:cNvPr id="10" name="TextBox 9"/>
          <p:cNvSpPr txBox="1"/>
          <p:nvPr/>
        </p:nvSpPr>
        <p:spPr>
          <a:xfrm>
            <a:off x="4133087" y="2011680"/>
            <a:ext cx="2999232" cy="449362"/>
          </a:xfrm>
          <a:prstGeom prst="rect">
            <a:avLst/>
          </a:prstGeom>
          <a:noFill/>
        </p:spPr>
        <p:txBody>
          <a:bodyPr wrap="square">
            <a:spAutoFit/>
          </a:bodyPr>
          <a:lstStyle/>
          <a:p>
            <a:r>
              <a:rPr sz="1500" b="0" i="0">
                <a:solidFill>
                  <a:srgbClr val="1A1A1A"/>
                </a:solidFill>
                <a:latin typeface="Arial"/>
              </a:rPr>
              <a:t>List the members</a:t>
            </a:r>
          </a:p>
        </p:txBody>
      </p:sp>
      <p:sp>
        <p:nvSpPr>
          <p:cNvPr id="11" name="TextBox 10"/>
          <p:cNvSpPr txBox="1"/>
          <p:nvPr/>
        </p:nvSpPr>
        <p:spPr>
          <a:xfrm>
            <a:off x="7242048" y="2011680"/>
            <a:ext cx="2724912" cy="449362"/>
          </a:xfrm>
          <a:prstGeom prst="rect">
            <a:avLst/>
          </a:prstGeom>
          <a:noFill/>
        </p:spPr>
        <p:txBody>
          <a:bodyPr wrap="square">
            <a:spAutoFit/>
          </a:bodyPr>
          <a:lstStyle/>
          <a:p>
            <a:r>
              <a:rPr sz="1500" b="0" i="0">
                <a:solidFill>
                  <a:srgbClr val="1A1A1A"/>
                </a:solidFill>
                <a:latin typeface="Arial"/>
              </a:rPr>
              <a:t>Its member and application listed</a:t>
            </a:r>
          </a:p>
        </p:txBody>
      </p:sp>
      <p:sp>
        <p:nvSpPr>
          <p:cNvPr id="12" name="TextBox 11"/>
          <p:cNvSpPr txBox="1"/>
          <p:nvPr/>
        </p:nvSpPr>
        <p:spPr>
          <a:xfrm>
            <a:off x="10076688" y="2011680"/>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13" name="Rectangle 12"/>
          <p:cNvSpPr/>
          <p:nvPr/>
        </p:nvSpPr>
        <p:spPr>
          <a:xfrm>
            <a:off x="658368" y="247933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534194"/>
            <a:ext cx="3364991" cy="449362"/>
          </a:xfrm>
          <a:prstGeom prst="rect">
            <a:avLst/>
          </a:prstGeom>
          <a:noFill/>
        </p:spPr>
        <p:txBody>
          <a:bodyPr wrap="square">
            <a:spAutoFit/>
          </a:bodyPr>
          <a:lstStyle/>
          <a:p>
            <a:r>
              <a:rPr sz="1500" b="1" i="0">
                <a:solidFill>
                  <a:srgbClr val="1A1A1A"/>
                </a:solidFill>
                <a:latin typeface="Arial"/>
              </a:rPr>
              <a:t>X2 The write service and its contract</a:t>
            </a:r>
          </a:p>
        </p:txBody>
      </p:sp>
      <p:sp>
        <p:nvSpPr>
          <p:cNvPr id="15" name="TextBox 14"/>
          <p:cNvSpPr txBox="1"/>
          <p:nvPr/>
        </p:nvSpPr>
        <p:spPr>
          <a:xfrm>
            <a:off x="4133087" y="2534194"/>
            <a:ext cx="2999232" cy="449362"/>
          </a:xfrm>
          <a:prstGeom prst="rect">
            <a:avLst/>
          </a:prstGeom>
          <a:noFill/>
        </p:spPr>
        <p:txBody>
          <a:bodyPr wrap="square">
            <a:spAutoFit/>
          </a:bodyPr>
          <a:lstStyle/>
          <a:p>
            <a:r>
              <a:rPr sz="1500" b="0" i="0">
                <a:solidFill>
                  <a:srgbClr val="1A1A1A"/>
                </a:solidFill>
                <a:latin typeface="Arial"/>
              </a:rPr>
              <a:t>List the services; fetch the contract</a:t>
            </a:r>
          </a:p>
        </p:txBody>
      </p:sp>
      <p:sp>
        <p:nvSpPr>
          <p:cNvPr id="16" name="TextBox 15"/>
          <p:cNvSpPr txBox="1"/>
          <p:nvPr/>
        </p:nvSpPr>
        <p:spPr>
          <a:xfrm>
            <a:off x="7242048" y="2534194"/>
            <a:ext cx="2724912" cy="449362"/>
          </a:xfrm>
          <a:prstGeom prst="rect">
            <a:avLst/>
          </a:prstGeom>
          <a:noFill/>
        </p:spPr>
        <p:txBody>
          <a:bodyPr wrap="square">
            <a:spAutoFit/>
          </a:bodyPr>
          <a:lstStyle/>
          <a:p>
            <a:r>
              <a:rPr sz="1500" b="0" i="0">
                <a:solidFill>
                  <a:srgbClr val="1A1A1A"/>
                </a:solidFill>
                <a:latin typeface="Arial"/>
              </a:rPr>
              <a:t>Contract returned; a test record exists</a:t>
            </a:r>
          </a:p>
        </p:txBody>
      </p:sp>
      <p:sp>
        <p:nvSpPr>
          <p:cNvPr id="17" name="TextBox 16"/>
          <p:cNvSpPr txBox="1"/>
          <p:nvPr/>
        </p:nvSpPr>
        <p:spPr>
          <a:xfrm>
            <a:off x="10076688" y="2534194"/>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18" name="Rectangle 17"/>
          <p:cNvSpPr/>
          <p:nvPr/>
        </p:nvSpPr>
        <p:spPr>
          <a:xfrm>
            <a:off x="658368" y="30018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056708"/>
            <a:ext cx="3364991" cy="449362"/>
          </a:xfrm>
          <a:prstGeom prst="rect">
            <a:avLst/>
          </a:prstGeom>
          <a:noFill/>
        </p:spPr>
        <p:txBody>
          <a:bodyPr wrap="square">
            <a:spAutoFit/>
          </a:bodyPr>
          <a:lstStyle/>
          <a:p>
            <a:r>
              <a:rPr sz="1500" b="1" i="0">
                <a:solidFill>
                  <a:srgbClr val="1A1A1A"/>
                </a:solidFill>
                <a:latin typeface="Arial"/>
              </a:rPr>
              <a:t>X3 The grants</a:t>
            </a:r>
          </a:p>
        </p:txBody>
      </p:sp>
      <p:sp>
        <p:nvSpPr>
          <p:cNvPr id="20" name="TextBox 19"/>
          <p:cNvSpPr txBox="1"/>
          <p:nvPr/>
        </p:nvSpPr>
        <p:spPr>
          <a:xfrm>
            <a:off x="4133087" y="3056708"/>
            <a:ext cx="2999232" cy="449362"/>
          </a:xfrm>
          <a:prstGeom prst="rect">
            <a:avLst/>
          </a:prstGeom>
          <a:noFill/>
        </p:spPr>
        <p:txBody>
          <a:bodyPr wrap="square">
            <a:spAutoFit/>
          </a:bodyPr>
          <a:lstStyle/>
          <a:p>
            <a:r>
              <a:rPr sz="1500" b="0" i="0">
                <a:solidFill>
                  <a:srgbClr val="1A1A1A"/>
                </a:solidFill>
                <a:latin typeface="Arial"/>
              </a:rPr>
              <a:t>The call with a grant, and without one</a:t>
            </a:r>
          </a:p>
        </p:txBody>
      </p:sp>
      <p:sp>
        <p:nvSpPr>
          <p:cNvPr id="21" name="TextBox 20"/>
          <p:cNvSpPr txBox="1"/>
          <p:nvPr/>
        </p:nvSpPr>
        <p:spPr>
          <a:xfrm>
            <a:off x="7242048" y="3056708"/>
            <a:ext cx="2724912" cy="449362"/>
          </a:xfrm>
          <a:prstGeom prst="rect">
            <a:avLst/>
          </a:prstGeom>
          <a:noFill/>
        </p:spPr>
        <p:txBody>
          <a:bodyPr wrap="square">
            <a:spAutoFit/>
          </a:bodyPr>
          <a:lstStyle/>
          <a:p>
            <a:r>
              <a:rPr sz="1500" b="0" i="0">
                <a:solidFill>
                  <a:srgbClr val="1A1A1A"/>
                </a:solidFill>
                <a:latin typeface="Arial"/>
              </a:rPr>
              <a:t>Answered; refused</a:t>
            </a:r>
          </a:p>
        </p:txBody>
      </p:sp>
      <p:sp>
        <p:nvSpPr>
          <p:cNvPr id="22" name="TextBox 21"/>
          <p:cNvSpPr txBox="1"/>
          <p:nvPr/>
        </p:nvSpPr>
        <p:spPr>
          <a:xfrm>
            <a:off x="10076688" y="3056708"/>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23" name="Rectangle 22"/>
          <p:cNvSpPr/>
          <p:nvPr/>
        </p:nvSpPr>
        <p:spPr>
          <a:xfrm>
            <a:off x="658368" y="352435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579222"/>
            <a:ext cx="3364991" cy="449362"/>
          </a:xfrm>
          <a:prstGeom prst="rect">
            <a:avLst/>
          </a:prstGeom>
          <a:noFill/>
        </p:spPr>
        <p:txBody>
          <a:bodyPr wrap="square">
            <a:spAutoFit/>
          </a:bodyPr>
          <a:lstStyle/>
          <a:p>
            <a:r>
              <a:rPr sz="1500" b="1" i="0">
                <a:solidFill>
                  <a:srgbClr val="1A1A1A"/>
                </a:solidFill>
                <a:latin typeface="Arial"/>
              </a:rPr>
              <a:t>X4 The once-only sequence</a:t>
            </a:r>
          </a:p>
        </p:txBody>
      </p:sp>
      <p:sp>
        <p:nvSpPr>
          <p:cNvPr id="25" name="TextBox 24"/>
          <p:cNvSpPr txBox="1"/>
          <p:nvPr/>
        </p:nvSpPr>
        <p:spPr>
          <a:xfrm>
            <a:off x="4133087" y="3579222"/>
            <a:ext cx="2999232" cy="449362"/>
          </a:xfrm>
          <a:prstGeom prst="rect">
            <a:avLst/>
          </a:prstGeom>
          <a:noFill/>
        </p:spPr>
        <p:txBody>
          <a:bodyPr wrap="square">
            <a:spAutoFit/>
          </a:bodyPr>
          <a:lstStyle/>
          <a:p>
            <a:r>
              <a:rPr sz="1500" b="0" i="0">
                <a:solidFill>
                  <a:srgbClr val="1A1A1A"/>
                </a:solidFill>
                <a:latin typeface="Arial"/>
              </a:rPr>
              <a:t>The whole run, sign-in to register</a:t>
            </a:r>
          </a:p>
        </p:txBody>
      </p:sp>
      <p:sp>
        <p:nvSpPr>
          <p:cNvPr id="26" name="TextBox 25"/>
          <p:cNvSpPr txBox="1"/>
          <p:nvPr/>
        </p:nvSpPr>
        <p:spPr>
          <a:xfrm>
            <a:off x="7242048" y="3579222"/>
            <a:ext cx="2724912" cy="449362"/>
          </a:xfrm>
          <a:prstGeom prst="rect">
            <a:avLst/>
          </a:prstGeom>
          <a:noFill/>
        </p:spPr>
        <p:txBody>
          <a:bodyPr wrap="square">
            <a:spAutoFit/>
          </a:bodyPr>
          <a:lstStyle/>
          <a:p>
            <a:r>
              <a:rPr sz="1500" b="0" i="0">
                <a:solidFill>
                  <a:srgbClr val="1A1A1A"/>
                </a:solidFill>
                <a:latin typeface="Arial"/>
              </a:rPr>
              <a:t>The register confirms the record</a:t>
            </a:r>
          </a:p>
        </p:txBody>
      </p:sp>
      <p:sp>
        <p:nvSpPr>
          <p:cNvPr id="27" name="TextBox 26"/>
          <p:cNvSpPr txBox="1"/>
          <p:nvPr/>
        </p:nvSpPr>
        <p:spPr>
          <a:xfrm>
            <a:off x="10076688" y="3579222"/>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28" name="Rectangle 27"/>
          <p:cNvSpPr/>
          <p:nvPr/>
        </p:nvSpPr>
        <p:spPr>
          <a:xfrm>
            <a:off x="658368" y="404687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4101737"/>
            <a:ext cx="3364991" cy="449362"/>
          </a:xfrm>
          <a:prstGeom prst="rect">
            <a:avLst/>
          </a:prstGeom>
          <a:noFill/>
        </p:spPr>
        <p:txBody>
          <a:bodyPr wrap="square">
            <a:spAutoFit/>
          </a:bodyPr>
          <a:lstStyle/>
          <a:p>
            <a:r>
              <a:rPr sz="1500" b="1" i="0">
                <a:solidFill>
                  <a:srgbClr val="1A1A1A"/>
                </a:solidFill>
                <a:latin typeface="Arial"/>
              </a:rPr>
              <a:t>X5 Each call through the caller's own server</a:t>
            </a:r>
          </a:p>
        </p:txBody>
      </p:sp>
      <p:sp>
        <p:nvSpPr>
          <p:cNvPr id="30" name="TextBox 29"/>
          <p:cNvSpPr txBox="1"/>
          <p:nvPr/>
        </p:nvSpPr>
        <p:spPr>
          <a:xfrm>
            <a:off x="4133087" y="4101737"/>
            <a:ext cx="2999232" cy="449362"/>
          </a:xfrm>
          <a:prstGeom prst="rect">
            <a:avLst/>
          </a:prstGeom>
          <a:noFill/>
        </p:spPr>
        <p:txBody>
          <a:bodyPr wrap="square">
            <a:spAutoFit/>
          </a:bodyPr>
          <a:lstStyle/>
          <a:p>
            <a:r>
              <a:rPr sz="1500" b="0" i="0">
                <a:solidFill>
                  <a:srgbClr val="1A1A1A"/>
                </a:solidFill>
                <a:latin typeface="Arial"/>
              </a:rPr>
              <a:t>Read the message log of the run</a:t>
            </a:r>
          </a:p>
        </p:txBody>
      </p:sp>
      <p:sp>
        <p:nvSpPr>
          <p:cNvPr id="31" name="TextBox 30"/>
          <p:cNvSpPr txBox="1"/>
          <p:nvPr/>
        </p:nvSpPr>
        <p:spPr>
          <a:xfrm>
            <a:off x="7242048" y="4101737"/>
            <a:ext cx="2724912" cy="449362"/>
          </a:xfrm>
          <a:prstGeom prst="rect">
            <a:avLst/>
          </a:prstGeom>
          <a:noFill/>
        </p:spPr>
        <p:txBody>
          <a:bodyPr wrap="square">
            <a:spAutoFit/>
          </a:bodyPr>
          <a:lstStyle/>
          <a:p>
            <a:r>
              <a:rPr sz="1500" b="0" i="0">
                <a:solidFill>
                  <a:srgbClr val="1A1A1A"/>
                </a:solidFill>
                <a:latin typeface="Arial"/>
              </a:rPr>
              <a:t>Each request on the caller's own server</a:t>
            </a:r>
          </a:p>
        </p:txBody>
      </p:sp>
      <p:sp>
        <p:nvSpPr>
          <p:cNvPr id="32" name="TextBox 31"/>
          <p:cNvSpPr txBox="1"/>
          <p:nvPr/>
        </p:nvSpPr>
        <p:spPr>
          <a:xfrm>
            <a:off x="10076688" y="4101737"/>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33" name="Rectangle 32"/>
          <p:cNvSpPr/>
          <p:nvPr/>
        </p:nvSpPr>
        <p:spPr>
          <a:xfrm>
            <a:off x="658368" y="456938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624251"/>
            <a:ext cx="3364991" cy="449362"/>
          </a:xfrm>
          <a:prstGeom prst="rect">
            <a:avLst/>
          </a:prstGeom>
          <a:noFill/>
        </p:spPr>
        <p:txBody>
          <a:bodyPr wrap="square">
            <a:spAutoFit/>
          </a:bodyPr>
          <a:lstStyle/>
          <a:p>
            <a:r>
              <a:rPr sz="1500" b="1" i="0">
                <a:solidFill>
                  <a:srgbClr val="1A1A1A"/>
                </a:solidFill>
                <a:latin typeface="Arial"/>
              </a:rPr>
              <a:t>X6 Full logging and access to monitoring</a:t>
            </a:r>
          </a:p>
        </p:txBody>
      </p:sp>
      <p:sp>
        <p:nvSpPr>
          <p:cNvPr id="35" name="TextBox 34"/>
          <p:cNvSpPr txBox="1"/>
          <p:nvPr/>
        </p:nvSpPr>
        <p:spPr>
          <a:xfrm>
            <a:off x="4133087" y="4624251"/>
            <a:ext cx="2999232" cy="449362"/>
          </a:xfrm>
          <a:prstGeom prst="rect">
            <a:avLst/>
          </a:prstGeom>
          <a:noFill/>
        </p:spPr>
        <p:txBody>
          <a:bodyPr wrap="square">
            <a:spAutoFit/>
          </a:bodyPr>
          <a:lstStyle/>
          <a:p>
            <a:r>
              <a:rPr sz="1500" b="0" i="0">
                <a:solidFill>
                  <a:srgbClr val="1A1A1A"/>
                </a:solidFill>
                <a:latin typeface="Arial"/>
              </a:rPr>
              <a:t>Query the logs; read monitoring</a:t>
            </a:r>
          </a:p>
        </p:txBody>
      </p:sp>
      <p:sp>
        <p:nvSpPr>
          <p:cNvPr id="36" name="TextBox 35"/>
          <p:cNvSpPr txBox="1"/>
          <p:nvPr/>
        </p:nvSpPr>
        <p:spPr>
          <a:xfrm>
            <a:off x="7242048" y="4624251"/>
            <a:ext cx="2724912" cy="449362"/>
          </a:xfrm>
          <a:prstGeom prst="rect">
            <a:avLst/>
          </a:prstGeom>
          <a:noFill/>
        </p:spPr>
        <p:txBody>
          <a:bodyPr wrap="square">
            <a:spAutoFit/>
          </a:bodyPr>
          <a:lstStyle/>
          <a:p>
            <a:r>
              <a:rPr sz="1500" b="0" i="0">
                <a:solidFill>
                  <a:srgbClr val="1A1A1A"/>
                </a:solidFill>
                <a:latin typeface="Arial"/>
              </a:rPr>
              <a:t>A signed, time-stamped record of each call</a:t>
            </a:r>
          </a:p>
        </p:txBody>
      </p:sp>
      <p:sp>
        <p:nvSpPr>
          <p:cNvPr id="37" name="TextBox 36"/>
          <p:cNvSpPr txBox="1"/>
          <p:nvPr/>
        </p:nvSpPr>
        <p:spPr>
          <a:xfrm>
            <a:off x="10076688" y="4624251"/>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38" name="Rectangle 37"/>
          <p:cNvSpPr/>
          <p:nvPr/>
        </p:nvSpPr>
        <p:spPr>
          <a:xfrm>
            <a:off x="658368" y="509190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146765"/>
            <a:ext cx="3364991" cy="449362"/>
          </a:xfrm>
          <a:prstGeom prst="rect">
            <a:avLst/>
          </a:prstGeom>
          <a:noFill/>
        </p:spPr>
        <p:txBody>
          <a:bodyPr wrap="square">
            <a:spAutoFit/>
          </a:bodyPr>
          <a:lstStyle/>
          <a:p>
            <a:r>
              <a:rPr sz="1500" b="1" i="0">
                <a:solidFill>
                  <a:srgbClr val="1A1A1A"/>
                </a:solidFill>
                <a:latin typeface="Arial"/>
              </a:rPr>
              <a:t>X7 The Payments block as a member</a:t>
            </a:r>
          </a:p>
        </p:txBody>
      </p:sp>
      <p:sp>
        <p:nvSpPr>
          <p:cNvPr id="40" name="TextBox 39"/>
          <p:cNvSpPr txBox="1"/>
          <p:nvPr/>
        </p:nvSpPr>
        <p:spPr>
          <a:xfrm>
            <a:off x="4133087" y="5146765"/>
            <a:ext cx="2999232" cy="449362"/>
          </a:xfrm>
          <a:prstGeom prst="rect">
            <a:avLst/>
          </a:prstGeom>
          <a:noFill/>
        </p:spPr>
        <p:txBody>
          <a:bodyPr wrap="square">
            <a:spAutoFit/>
          </a:bodyPr>
          <a:lstStyle/>
          <a:p>
            <a:r>
              <a:rPr sz="1500" b="0" i="0">
                <a:solidFill>
                  <a:srgbClr val="1A1A1A"/>
                </a:solidFill>
                <a:latin typeface="Arial"/>
              </a:rPr>
              <a:t>List its services</a:t>
            </a:r>
          </a:p>
        </p:txBody>
      </p:sp>
      <p:sp>
        <p:nvSpPr>
          <p:cNvPr id="41" name="TextBox 40"/>
          <p:cNvSpPr txBox="1"/>
          <p:nvPr/>
        </p:nvSpPr>
        <p:spPr>
          <a:xfrm>
            <a:off x="7242048" y="5146765"/>
            <a:ext cx="2724912" cy="449362"/>
          </a:xfrm>
          <a:prstGeom prst="rect">
            <a:avLst/>
          </a:prstGeom>
          <a:noFill/>
        </p:spPr>
        <p:txBody>
          <a:bodyPr wrap="square">
            <a:spAutoFit/>
          </a:bodyPr>
          <a:lstStyle/>
          <a:p>
            <a:r>
              <a:rPr sz="1500" b="0" i="0">
                <a:solidFill>
                  <a:srgbClr val="1A1A1A"/>
                </a:solidFill>
                <a:latin typeface="Arial"/>
              </a:rPr>
              <a:t>Only its own operations listed</a:t>
            </a:r>
          </a:p>
        </p:txBody>
      </p:sp>
      <p:sp>
        <p:nvSpPr>
          <p:cNvPr id="42" name="TextBox 41"/>
          <p:cNvSpPr txBox="1"/>
          <p:nvPr/>
        </p:nvSpPr>
        <p:spPr>
          <a:xfrm>
            <a:off x="10076688" y="5146765"/>
            <a:ext cx="1353312" cy="449362"/>
          </a:xfrm>
          <a:prstGeom prst="rect">
            <a:avLst/>
          </a:prstGeom>
          <a:noFill/>
        </p:spPr>
        <p:txBody>
          <a:bodyPr wrap="square">
            <a:spAutoFit/>
          </a:bodyPr>
          <a:lstStyle/>
          <a:p>
            <a:r>
              <a:rPr sz="1500" b="0" i="0">
                <a:solidFill>
                  <a:srgbClr val="1A1A1A"/>
                </a:solidFill>
                <a:latin typeface="Arial"/>
              </a:rPr>
              <a:t>not yet run</a:t>
            </a:r>
          </a:p>
        </p:txBody>
      </p:sp>
      <p:sp>
        <p:nvSpPr>
          <p:cNvPr id="43" name="TextBox 42"/>
          <p:cNvSpPr txBox="1"/>
          <p:nvPr/>
        </p:nvSpPr>
        <p:spPr>
          <a:xfrm>
            <a:off x="658368" y="5724143"/>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44" name="TextBox 4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configuration has a check that someone can run and read, and a block is called proven only when its checks have run and passed.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a failed check into a note for the owner.</a:t>
            </a:r>
          </a:p>
          <a:p>
            <a:pPr algn="l">
              <a:spcAft>
                <a:spcPts val="400"/>
              </a:spcAft>
            </a:pPr>
            <a:r>
              <a:rPr sz="1800" b="0" i="0">
                <a:solidFill>
                  <a:srgbClr val="595959"/>
                </a:solidFill>
                <a:latin typeface="Arial"/>
              </a:rPr>
              <a:t>The prompt in the companion material gives you a plain-language note for the owner: what was run, what was expected and what came back.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600" b="0" i="0">
                <a:solidFill>
                  <a:srgbClr val="1A1A1A"/>
                </a:solidFill>
                <a:latin typeface="Arial"/>
              </a:rPr>
              <a:t>•  GovStack testing, 'Self-Assessment of Compliance' and API compliance testing</a:t>
            </a:r>
          </a:p>
          <a:p>
            <a:pPr>
              <a:spcAft>
                <a:spcPts val="1000"/>
              </a:spcAft>
            </a:pPr>
            <a:r>
              <a:rPr sz="1600" b="0" i="0">
                <a:solidFill>
                  <a:srgbClr val="1A1A1A"/>
                </a:solidFill>
                <a:latin typeface="Arial"/>
              </a:rPr>
              <a:t>•  GovStack website, 'How is Compliance Measured?'</a:t>
            </a:r>
          </a:p>
          <a:p>
            <a:pPr>
              <a:spcAft>
                <a:spcPts val="1000"/>
              </a:spcAft>
            </a:pPr>
            <a:r>
              <a:rPr sz="1600" b="0" i="0">
                <a:solidFill>
                  <a:srgbClr val="1A1A1A"/>
                </a:solidFill>
                <a:latin typeface="Arial"/>
              </a:rPr>
              <a:t>•  GovStack Architecture 2.1.0, section 6.4 (quality requirements 4 and 7)</a:t>
            </a:r>
          </a:p>
          <a:p>
            <a:pPr>
              <a:spcAft>
                <a:spcPts val="1000"/>
              </a:spcAft>
            </a:pPr>
            <a:r>
              <a:rPr sz="1600" b="0" i="0">
                <a:solidFill>
                  <a:srgbClr val="1A1A1A"/>
                </a:solidFill>
                <a:latin typeface="Arial"/>
              </a:rPr>
              <a:t>•  GovStack Information Mediator 1.1.1, sections 8.2.1 and 8.6.2</a:t>
            </a:r>
          </a:p>
          <a:p>
            <a:pPr>
              <a:spcAft>
                <a:spcPts val="1000"/>
              </a:spcAft>
            </a:pPr>
            <a:r>
              <a:rPr sz="1600" b="0" i="0">
                <a:solidFill>
                  <a:srgbClr val="1A1A1A"/>
                </a:solidFill>
                <a:latin typeface="Arial"/>
              </a:rPr>
              <a:t>•  GovStack Identity 2.0, section 9.1.1</a:t>
            </a:r>
          </a:p>
          <a:p>
            <a:pPr>
              <a:spcAft>
                <a:spcPts val="1000"/>
              </a:spcAft>
            </a:pPr>
            <a:r>
              <a:rPr sz="1600" b="0" i="0">
                <a:solidFill>
                  <a:srgbClr val="1A1A1A"/>
                </a:solidFill>
                <a:latin typeface="Arial"/>
              </a:rPr>
              <a:t>•  GovStack Digital Registries 3.0-alpha, section 8.2</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The acceptance checks: from "set up" to "proven"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