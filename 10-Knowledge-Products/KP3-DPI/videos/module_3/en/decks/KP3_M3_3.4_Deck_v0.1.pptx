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1" r:id="rId43"/>
    <p:sldId id="2722" r:id="rId44"/>
    <p:sldId id="2723" r:id="rId45"/>
    <p:sldId id="2724" r:id="rId17"/>
    <p:sldId id="2725" r:id="rId16"/>
    <p:sldId id="2726" r:id="rId15"/>
    <p:sldId id="2727" r:id="rId14"/>
    <p:sldId id="272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head teacher sends the term's list of learners. Three rows are wrong. If the register takes them, every service that reads it inherits the mistakes. If the register drops them silently, the school never learns what to fix.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every row is checked at the bronze tier, before anyone approves it. Giga's published flow runs its data-quality checks at bronze and splits the rows into two tables: those that passed and those that failed. The GovStack Digital Registries specification names validation rules, deduplication and data-quality controls among the functions of a register. It lets each field carry rules such as required, unique, minimum and maximum. The checks at bronze apply the same rules before a row comes near the register.</a:t>
            </a:r>
          </a:p>
          <a:p/>
          <a:p>
            <a:r>
              <a:t>Production cue: The split into passed and failed is Giga's; the field rules are the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three faulty rows from a Progressa school. In the first, the same learner appears twice, with the same learner number. In the second, the date of birth is empty, and it is required. In the third, the date of birth says the child is three years old and in grade six. Each row goes to the failed table with its reason in plain words. Who sets the limits, such as the range of ages for each grade? The register's owner, not the programmer. A range is a policy choice.</a:t>
            </a:r>
          </a:p>
          <a:p/>
          <a:p>
            <a:r>
              <a:t>Production cue: Invented values for Progressa. Text only.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failed row is not thrown away, and it is not a secret. In Giga's flow, a data-quality report is generated and emailed to the person who uploaded the file. Do the same. The head teacher gets a short list: which rows failed, and what to correct. The next file comes back cleaner. Over a few terms, the schools learn the rules, and the share of failed rows falls. That share is worth reporting to your director every term.</a:t>
            </a:r>
          </a:p>
          <a:p/>
          <a:p>
            <a:r>
              <a:t>Production cue: The feedback loop to the school.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a seeded load that contains three faulty rows: a duplicate, a missing required value and a value outside its range. A good run passes when each of the three lands among the failed rows with its reason stated, and no faulty row reaches staging.</a:t>
            </a:r>
          </a:p>
          <a:p/>
          <a:p>
            <a:r>
              <a:t>Production cue: Replaced by the recorded segment once check RG10 passes.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Check every row at bronze, set each failing row aside with its reason, and send the school the list of what to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Quality checks that stop a bad row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row is checked at the bronze tier, and a row that fails is set aside with its reason, so that the people who sent the data know what to correct.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head teacher sends the term's list of learners.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Three rows are wrong.</a:t>
            </a:r>
          </a:p>
          <a:p>
            <a:pPr>
              <a:spcAft>
                <a:spcPts val="800"/>
              </a:spcAft>
            </a:pPr>
            <a:r>
              <a:rPr sz="1700" b="0" i="0">
                <a:solidFill>
                  <a:srgbClr val="595959"/>
                </a:solidFill>
                <a:latin typeface="Arial"/>
              </a:rPr>
              <a:t>If the register takes them, every service that reads it inherits the mistakes.</a:t>
            </a:r>
          </a:p>
          <a:p>
            <a:pPr>
              <a:spcAft>
                <a:spcPts val="800"/>
              </a:spcAft>
            </a:pPr>
            <a:r>
              <a:rPr sz="1700" b="0" i="0">
                <a:solidFill>
                  <a:srgbClr val="595959"/>
                </a:solidFill>
                <a:latin typeface="Arial"/>
              </a:rPr>
              <a:t>If the register drops them silently, the school never learns what to fix.</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Checked at bronze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row is checked before anyone approves it.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Rows split into two tables</a:t>
            </a:r>
          </a:p>
          <a:p>
            <a:pPr>
              <a:spcAft>
                <a:spcPts val="300"/>
              </a:spcAft>
            </a:pPr>
            <a:r>
              <a:rPr sz="1800" b="0" i="0">
                <a:solidFill>
                  <a:srgbClr val="595959"/>
                </a:solidFill>
                <a:latin typeface="Arial"/>
              </a:rPr>
              <a:t>Passed and failed.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Rules on each field</a:t>
            </a:r>
          </a:p>
          <a:p>
            <a:pPr>
              <a:spcAft>
                <a:spcPts val="300"/>
              </a:spcAft>
            </a:pPr>
            <a:r>
              <a:rPr sz="1800" b="0" i="0">
                <a:solidFill>
                  <a:srgbClr val="595959"/>
                </a:solidFill>
                <a:latin typeface="Arial"/>
              </a:rPr>
              <a:t>Required, unique, minimum, maximum.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faulty rows</a:t>
            </a:r>
          </a:p>
        </p:txBody>
      </p:sp>
      <p:sp>
        <p:nvSpPr>
          <p:cNvPr id="4" name="TextBox 3"/>
          <p:cNvSpPr txBox="1"/>
          <p:nvPr/>
        </p:nvSpPr>
        <p:spPr>
          <a:xfrm>
            <a:off x="658368" y="2610231"/>
            <a:ext cx="4828032" cy="457200"/>
          </a:xfrm>
          <a:prstGeom prst="rect">
            <a:avLst/>
          </a:prstGeom>
          <a:noFill/>
        </p:spPr>
        <p:txBody>
          <a:bodyPr wrap="square">
            <a:spAutoFit/>
          </a:bodyPr>
          <a:lstStyle/>
          <a:p>
            <a:r>
              <a:rPr sz="1700" b="1" i="0">
                <a:solidFill>
                  <a:srgbClr val="006E96"/>
                </a:solidFill>
                <a:latin typeface="Arial"/>
              </a:rPr>
              <a:t>Row</a:t>
            </a:r>
          </a:p>
        </p:txBody>
      </p:sp>
      <p:sp>
        <p:nvSpPr>
          <p:cNvPr id="5" name="TextBox 4"/>
          <p:cNvSpPr txBox="1"/>
          <p:nvPr/>
        </p:nvSpPr>
        <p:spPr>
          <a:xfrm>
            <a:off x="5596128" y="2610231"/>
            <a:ext cx="5833872" cy="457200"/>
          </a:xfrm>
          <a:prstGeom prst="rect">
            <a:avLst/>
          </a:prstGeom>
          <a:noFill/>
        </p:spPr>
        <p:txBody>
          <a:bodyPr wrap="square">
            <a:spAutoFit/>
          </a:bodyPr>
          <a:lstStyle/>
          <a:p>
            <a:r>
              <a:rPr sz="1700" b="1" i="0">
                <a:solidFill>
                  <a:srgbClr val="006E96"/>
                </a:solidFill>
                <a:latin typeface="Arial"/>
              </a:rPr>
              <a:t>Reason</a:t>
            </a:r>
          </a:p>
        </p:txBody>
      </p:sp>
      <p:sp>
        <p:nvSpPr>
          <p:cNvPr id="6" name="Rectangle 5"/>
          <p:cNvSpPr/>
          <p:nvPr/>
        </p:nvSpPr>
        <p:spPr>
          <a:xfrm>
            <a:off x="658368" y="3067431"/>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158871"/>
            <a:ext cx="4828032" cy="426974"/>
          </a:xfrm>
          <a:prstGeom prst="rect">
            <a:avLst/>
          </a:prstGeom>
          <a:noFill/>
        </p:spPr>
        <p:txBody>
          <a:bodyPr wrap="square">
            <a:spAutoFit/>
          </a:bodyPr>
          <a:lstStyle/>
          <a:p>
            <a:r>
              <a:rPr sz="1700" b="1" i="0">
                <a:solidFill>
                  <a:srgbClr val="1A1A1A"/>
                </a:solidFill>
                <a:latin typeface="Arial"/>
              </a:rPr>
              <a:t>The same learner twice</a:t>
            </a:r>
          </a:p>
        </p:txBody>
      </p:sp>
      <p:sp>
        <p:nvSpPr>
          <p:cNvPr id="8" name="TextBox 7"/>
          <p:cNvSpPr txBox="1"/>
          <p:nvPr/>
        </p:nvSpPr>
        <p:spPr>
          <a:xfrm>
            <a:off x="5596128" y="3158871"/>
            <a:ext cx="5833872" cy="426974"/>
          </a:xfrm>
          <a:prstGeom prst="rect">
            <a:avLst/>
          </a:prstGeom>
          <a:noFill/>
        </p:spPr>
        <p:txBody>
          <a:bodyPr wrap="square">
            <a:spAutoFit/>
          </a:bodyPr>
          <a:lstStyle/>
          <a:p>
            <a:r>
              <a:rPr sz="1700" b="0" i="0">
                <a:solidFill>
                  <a:srgbClr val="1A1A1A"/>
                </a:solidFill>
                <a:latin typeface="Arial"/>
              </a:rPr>
              <a:t>Duplicate learner number</a:t>
            </a:r>
          </a:p>
        </p:txBody>
      </p:sp>
      <p:sp>
        <p:nvSpPr>
          <p:cNvPr id="9" name="Rectangle 8"/>
          <p:cNvSpPr/>
          <p:nvPr/>
        </p:nvSpPr>
        <p:spPr>
          <a:xfrm>
            <a:off x="658368" y="3604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658997"/>
            <a:ext cx="4828032" cy="426974"/>
          </a:xfrm>
          <a:prstGeom prst="rect">
            <a:avLst/>
          </a:prstGeom>
          <a:noFill/>
        </p:spPr>
        <p:txBody>
          <a:bodyPr wrap="square">
            <a:spAutoFit/>
          </a:bodyPr>
          <a:lstStyle/>
          <a:p>
            <a:r>
              <a:rPr sz="1700" b="1" i="0">
                <a:solidFill>
                  <a:srgbClr val="1A1A1A"/>
                </a:solidFill>
                <a:latin typeface="Arial"/>
              </a:rPr>
              <a:t>Date of birth empty</a:t>
            </a:r>
          </a:p>
        </p:txBody>
      </p:sp>
      <p:sp>
        <p:nvSpPr>
          <p:cNvPr id="11" name="TextBox 10"/>
          <p:cNvSpPr txBox="1"/>
          <p:nvPr/>
        </p:nvSpPr>
        <p:spPr>
          <a:xfrm>
            <a:off x="5596128" y="3658997"/>
            <a:ext cx="5833872" cy="426974"/>
          </a:xfrm>
          <a:prstGeom prst="rect">
            <a:avLst/>
          </a:prstGeom>
          <a:noFill/>
        </p:spPr>
        <p:txBody>
          <a:bodyPr wrap="square">
            <a:spAutoFit/>
          </a:bodyPr>
          <a:lstStyle/>
          <a:p>
            <a:r>
              <a:rPr sz="1700" b="0" i="0">
                <a:solidFill>
                  <a:srgbClr val="1A1A1A"/>
                </a:solidFill>
                <a:latin typeface="Arial"/>
              </a:rPr>
              <a:t>Missing date of birth</a:t>
            </a:r>
          </a:p>
        </p:txBody>
      </p:sp>
      <p:sp>
        <p:nvSpPr>
          <p:cNvPr id="12" name="Rectangle 11"/>
          <p:cNvSpPr/>
          <p:nvPr/>
        </p:nvSpPr>
        <p:spPr>
          <a:xfrm>
            <a:off x="658368" y="410425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59123"/>
            <a:ext cx="4828032" cy="426974"/>
          </a:xfrm>
          <a:prstGeom prst="rect">
            <a:avLst/>
          </a:prstGeom>
          <a:noFill/>
        </p:spPr>
        <p:txBody>
          <a:bodyPr wrap="square">
            <a:spAutoFit/>
          </a:bodyPr>
          <a:lstStyle/>
          <a:p>
            <a:r>
              <a:rPr sz="1700" b="1" i="0">
                <a:solidFill>
                  <a:srgbClr val="1A1A1A"/>
                </a:solidFill>
                <a:latin typeface="Arial"/>
              </a:rPr>
              <a:t>Age three, grade six</a:t>
            </a:r>
          </a:p>
        </p:txBody>
      </p:sp>
      <p:sp>
        <p:nvSpPr>
          <p:cNvPr id="14" name="TextBox 13"/>
          <p:cNvSpPr txBox="1"/>
          <p:nvPr/>
        </p:nvSpPr>
        <p:spPr>
          <a:xfrm>
            <a:off x="5596128" y="4159123"/>
            <a:ext cx="5833872" cy="426974"/>
          </a:xfrm>
          <a:prstGeom prst="rect">
            <a:avLst/>
          </a:prstGeom>
          <a:noFill/>
        </p:spPr>
        <p:txBody>
          <a:bodyPr wrap="square">
            <a:spAutoFit/>
          </a:bodyPr>
          <a:lstStyle/>
          <a:p>
            <a:r>
              <a:rPr sz="1700" b="0" i="0">
                <a:solidFill>
                  <a:srgbClr val="1A1A1A"/>
                </a:solidFill>
                <a:latin typeface="Arial"/>
              </a:rPr>
              <a:t>Age outside the range for the grade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sender is told</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failed row is kept, with its reason.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 report goes to the person who sent the file.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share of failed rows, term by term.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A seeded load with three faulty rows.</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Each lands among the failed rows, with its reason.</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No faulty row reaches staging.</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row is checked at the bronze tier, and a row that fails is set aside with its reason, so that the people who sent the data know what to correct.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the checks and the failure messages.</a:t>
            </a:r>
          </a:p>
          <a:p>
            <a:pPr algn="l">
              <a:spcAft>
                <a:spcPts val="400"/>
              </a:spcAft>
            </a:pPr>
            <a:r>
              <a:rPr sz="1800" b="0" i="0">
                <a:solidFill>
                  <a:srgbClr val="595959"/>
                </a:solidFill>
                <a:latin typeface="Arial"/>
              </a:rPr>
              <a:t>The prompt in the companion material gives you a table of checks with one test row for each check.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UNICEF Giga, giga-dagster, docs/dataflow.md (the bronze tier)</a:t>
            </a:r>
          </a:p>
          <a:p>
            <a:pPr>
              <a:spcAft>
                <a:spcPts val="1000"/>
              </a:spcAft>
            </a:pPr>
            <a:r>
              <a:rPr sz="1800" b="0" i="0">
                <a:solidFill>
                  <a:srgbClr val="1A1A1A"/>
                </a:solidFill>
                <a:latin typeface="Arial"/>
              </a:rPr>
              <a:t>•  GovStack Digital Registries specification, version 3.0-alpha (section 4.1; DRS-17)</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