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3" r:id="rId35"/>
    <p:sldId id="2714" r:id="rId36"/>
    <p:sldId id="2715" r:id="rId37"/>
    <p:sldId id="2716" r:id="rId38"/>
    <p:sldId id="2717" r:id="rId39"/>
    <p:sldId id="2718" r:id="rId40"/>
    <p:sldId id="2719" r:id="rId41"/>
    <p:sldId id="272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Digital Registries specification says what goes in the file. The register has a name, a unique short code, an owning body, a retention policy, a classification and a lifecycle state, from draft to published to archived. Each field has a name and a type, such as text, date or a list of values. A field can be required or unique, with a minimum and a maximum. A link joins one database to another, for example each learner to a school, with a rule for what happens when the school is deleted. Every publication creates a new version. The schema can be exported and imported as JSON or YAML.</a:t>
            </a:r>
          </a:p>
          <a:p/>
          <a:p>
            <a:r>
              <a:t>Production cue: Plain text. The terms are the specification's: name, short code, metadata, lifecycle state, field type, link, version.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register is set up from one file. The file names the register, lists its fields, states the rules on each field, links it to other registers and names its key. Get this file right, and the rest of the build follows from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choice needs the owner's decision: the key. It is tempting to key the register on the national identity number. Do not. The GovStack Identity specification keeps that number secret inside the identity block. A service that checks a person signs the person in, with the person present, and receives an identifier made for that service alone. So Progressa's register keeps a learner number of its own, and stores beside it the identifier that the identity authority, PNIA, gives to the service. It never stores the national number.</a:t>
            </a:r>
          </a:p>
          <a:p/>
          <a:p>
            <a:r>
              <a:t>Production cue: The one decision the owner must take. Text 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drafts this file well, because its inputs are written down: the education act, the registration form, and the list of services that will read the register. The prompt asks it to trace every rule to the line it came from. The owner then decides the key and the fields that hold personal data. The marks for personal data are optional in the specification, so no check depends on them. The owner corrects the draft and publishes it. The file states the edition of the specification it implements: version 3.0-alpha, an early release.</a:t>
            </a:r>
          </a:p>
          <a:p/>
          <a:p>
            <a:r>
              <a:t>Production cue: Who does what: the assistant drafts, the owner decides.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walkthrough of this subtopic shows the schema drafted, and the register created from it through the published interface. The check lists the registers and reads this one back: its schema, its metadata and the state published. A record without a required field must be refused, and so must a second record with the same learner number.</a:t>
            </a:r>
          </a:p>
          <a:p/>
          <a:p>
            <a:r>
              <a:t>Production cue: Replaced by the recorded segment once checks RG1 to RG4 and RG12 pass. Until then, text only.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One schema file, drafted by AI from the law and the form, corrected and published by the owner, and keyed on the register's own number.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Generating the register's schema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register is set up from one schema file, with its fields, rules, links and key, which an AI assistant drafts from the law and the form and the owner corrects and publishes.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register is set up from one file.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file names the register, lists its fields, states the rules on each field, links it to other registers and names its key.</a:t>
            </a:r>
          </a:p>
          <a:p>
            <a:pPr>
              <a:spcAft>
                <a:spcPts val="800"/>
              </a:spcAft>
            </a:pPr>
            <a:r>
              <a:rPr sz="1700" b="0" i="0">
                <a:solidFill>
                  <a:srgbClr val="595959"/>
                </a:solidFill>
                <a:latin typeface="Arial"/>
              </a:rPr>
              <a:t>Get this file right, and the rest of the build follows from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schema file holds</a:t>
            </a:r>
          </a:p>
        </p:txBody>
      </p:sp>
      <p:sp>
        <p:nvSpPr>
          <p:cNvPr id="4" name="TextBox 3"/>
          <p:cNvSpPr txBox="1"/>
          <p:nvPr/>
        </p:nvSpPr>
        <p:spPr>
          <a:xfrm>
            <a:off x="658368" y="1463040"/>
            <a:ext cx="10984687" cy="832103"/>
          </a:xfrm>
          <a:prstGeom prst="rect">
            <a:avLst/>
          </a:prstGeom>
          <a:noFill/>
        </p:spPr>
        <p:txBody>
          <a:bodyPr wrap="square">
            <a:spAutoFit/>
          </a:bodyPr>
          <a:lstStyle/>
          <a:p>
            <a:pPr>
              <a:spcAft>
                <a:spcPts val="300"/>
              </a:spcAft>
            </a:pPr>
            <a:r>
              <a:rPr sz="1900" b="1" i="0">
                <a:solidFill>
                  <a:srgbClr val="1A1A1A"/>
                </a:solidFill>
                <a:latin typeface="Arial"/>
              </a:rPr>
              <a:t>The register</a:t>
            </a:r>
          </a:p>
          <a:p>
            <a:pPr>
              <a:spcAft>
                <a:spcPts val="300"/>
              </a:spcAft>
            </a:pPr>
            <a:r>
              <a:rPr sz="1600" b="0" i="0">
                <a:solidFill>
                  <a:srgbClr val="595959"/>
                </a:solidFill>
                <a:latin typeface="Arial"/>
              </a:rPr>
              <a:t>Name, short code, owner, retention, classification, state.</a:t>
            </a:r>
          </a:p>
        </p:txBody>
      </p:sp>
      <p:sp>
        <p:nvSpPr>
          <p:cNvPr id="5" name="Rectangle 4"/>
          <p:cNvSpPr/>
          <p:nvPr/>
        </p:nvSpPr>
        <p:spPr>
          <a:xfrm>
            <a:off x="621792" y="22997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40864"/>
            <a:ext cx="10984687" cy="832103"/>
          </a:xfrm>
          <a:prstGeom prst="rect">
            <a:avLst/>
          </a:prstGeom>
          <a:noFill/>
        </p:spPr>
        <p:txBody>
          <a:bodyPr wrap="square">
            <a:spAutoFit/>
          </a:bodyPr>
          <a:lstStyle/>
          <a:p>
            <a:pPr>
              <a:spcAft>
                <a:spcPts val="300"/>
              </a:spcAft>
            </a:pPr>
            <a:r>
              <a:rPr sz="1900" b="1" i="0">
                <a:solidFill>
                  <a:srgbClr val="1A1A1A"/>
                </a:solidFill>
                <a:latin typeface="Arial"/>
              </a:rPr>
              <a:t>Fields</a:t>
            </a:r>
          </a:p>
          <a:p>
            <a:pPr>
              <a:spcAft>
                <a:spcPts val="300"/>
              </a:spcAft>
            </a:pPr>
            <a:r>
              <a:rPr sz="1600" b="0" i="0">
                <a:solidFill>
                  <a:srgbClr val="595959"/>
                </a:solidFill>
                <a:latin typeface="Arial"/>
              </a:rPr>
              <a:t>Name, type, required, unique, minimum, maximum.</a:t>
            </a:r>
          </a:p>
        </p:txBody>
      </p:sp>
      <p:sp>
        <p:nvSpPr>
          <p:cNvPr id="7" name="Rectangle 6"/>
          <p:cNvSpPr/>
          <p:nvPr/>
        </p:nvSpPr>
        <p:spPr>
          <a:xfrm>
            <a:off x="621792" y="3177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218688"/>
            <a:ext cx="10984687" cy="832103"/>
          </a:xfrm>
          <a:prstGeom prst="rect">
            <a:avLst/>
          </a:prstGeom>
          <a:noFill/>
        </p:spPr>
        <p:txBody>
          <a:bodyPr wrap="square">
            <a:spAutoFit/>
          </a:bodyPr>
          <a:lstStyle/>
          <a:p>
            <a:pPr>
              <a:spcAft>
                <a:spcPts val="300"/>
              </a:spcAft>
            </a:pPr>
            <a:r>
              <a:rPr sz="1900" b="1" i="0">
                <a:solidFill>
                  <a:srgbClr val="1A1A1A"/>
                </a:solidFill>
                <a:latin typeface="Arial"/>
              </a:rPr>
              <a:t>Links</a:t>
            </a:r>
          </a:p>
          <a:p>
            <a:pPr>
              <a:spcAft>
                <a:spcPts val="300"/>
              </a:spcAft>
            </a:pPr>
            <a:r>
              <a:rPr sz="1600" b="0" i="0">
                <a:solidFill>
                  <a:srgbClr val="595959"/>
                </a:solidFill>
                <a:latin typeface="Arial"/>
              </a:rPr>
              <a:t>Each learner to a school, with a rule on deletion.</a:t>
            </a:r>
          </a:p>
        </p:txBody>
      </p:sp>
      <p:sp>
        <p:nvSpPr>
          <p:cNvPr id="9" name="Rectangle 8"/>
          <p:cNvSpPr/>
          <p:nvPr/>
        </p:nvSpPr>
        <p:spPr>
          <a:xfrm>
            <a:off x="621792" y="405536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96512"/>
            <a:ext cx="10984687" cy="832103"/>
          </a:xfrm>
          <a:prstGeom prst="rect">
            <a:avLst/>
          </a:prstGeom>
          <a:noFill/>
        </p:spPr>
        <p:txBody>
          <a:bodyPr wrap="square">
            <a:spAutoFit/>
          </a:bodyPr>
          <a:lstStyle/>
          <a:p>
            <a:pPr>
              <a:spcAft>
                <a:spcPts val="300"/>
              </a:spcAft>
            </a:pPr>
            <a:r>
              <a:rPr sz="1900" b="1" i="0">
                <a:solidFill>
                  <a:srgbClr val="1A1A1A"/>
                </a:solidFill>
                <a:latin typeface="Arial"/>
              </a:rPr>
              <a:t>Versions</a:t>
            </a:r>
          </a:p>
          <a:p>
            <a:pPr>
              <a:spcAft>
                <a:spcPts val="300"/>
              </a:spcAft>
            </a:pPr>
            <a:r>
              <a:rPr sz="1600" b="0" i="0">
                <a:solidFill>
                  <a:srgbClr val="595959"/>
                </a:solidFill>
                <a:latin typeface="Arial"/>
              </a:rPr>
              <a:t>Each publication is a new version.</a:t>
            </a:r>
          </a:p>
        </p:txBody>
      </p:sp>
      <p:sp>
        <p:nvSpPr>
          <p:cNvPr id="11" name="Rectangle 10"/>
          <p:cNvSpPr/>
          <p:nvPr/>
        </p:nvSpPr>
        <p:spPr>
          <a:xfrm>
            <a:off x="621792" y="49331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74336"/>
            <a:ext cx="10984687" cy="832103"/>
          </a:xfrm>
          <a:prstGeom prst="rect">
            <a:avLst/>
          </a:prstGeom>
          <a:noFill/>
        </p:spPr>
        <p:txBody>
          <a:bodyPr wrap="square">
            <a:spAutoFit/>
          </a:bodyPr>
          <a:lstStyle/>
          <a:p>
            <a:pPr>
              <a:spcAft>
                <a:spcPts val="300"/>
              </a:spcAft>
            </a:pPr>
            <a:r>
              <a:rPr sz="1900" b="1" i="0">
                <a:solidFill>
                  <a:srgbClr val="1A1A1A"/>
                </a:solidFill>
                <a:latin typeface="Arial"/>
              </a:rPr>
              <a:t>Format</a:t>
            </a:r>
          </a:p>
          <a:p>
            <a:pPr>
              <a:spcAft>
                <a:spcPts val="300"/>
              </a:spcAft>
            </a:pPr>
            <a:r>
              <a:rPr sz="1600" b="0" i="0">
                <a:solidFill>
                  <a:srgbClr val="595959"/>
                </a:solidFill>
                <a:latin typeface="Arial"/>
              </a:rPr>
              <a:t>JSON or YAML, to export and to import.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key is not the national number</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register keeps a learner number of its own.</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Beside it, the identifier the identity authority gives to the service.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Never the national identity number.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Drafted by AI, decided by the owner</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Inputs</a:t>
            </a:r>
          </a:p>
          <a:p>
            <a:pPr>
              <a:spcAft>
                <a:spcPts val="300"/>
              </a:spcAft>
            </a:pPr>
            <a:r>
              <a:rPr sz="1800" b="0" i="0">
                <a:solidFill>
                  <a:srgbClr val="595959"/>
                </a:solidFill>
                <a:latin typeface="Arial"/>
              </a:rPr>
              <a:t>The education act, the registration form, the services that will read the register.</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rule traced to the line it came from.</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owner decides the key and the personal-data fields, corrects and publishes.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will show</a:t>
            </a:r>
          </a:p>
        </p:txBody>
      </p:sp>
      <p:sp>
        <p:nvSpPr>
          <p:cNvPr id="4" name="Oval 3"/>
          <p:cNvSpPr/>
          <p:nvPr/>
        </p:nvSpPr>
        <p:spPr>
          <a:xfrm>
            <a:off x="621792" y="1527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978408"/>
          </a:xfrm>
          <a:prstGeom prst="rect">
            <a:avLst/>
          </a:prstGeom>
          <a:noFill/>
        </p:spPr>
        <p:txBody>
          <a:bodyPr wrap="square">
            <a:spAutoFit/>
          </a:bodyPr>
          <a:lstStyle/>
          <a:p>
            <a:pPr>
              <a:spcAft>
                <a:spcPts val="300"/>
              </a:spcAft>
            </a:pPr>
            <a:r>
              <a:rPr sz="2000" b="1" i="0">
                <a:solidFill>
                  <a:srgbClr val="1A1A1A"/>
                </a:solidFill>
                <a:latin typeface="Arial"/>
              </a:rPr>
              <a:t>The schema drafted, and the register created from it.</a:t>
            </a:r>
          </a:p>
        </p:txBody>
      </p:sp>
      <p:sp>
        <p:nvSpPr>
          <p:cNvPr id="6" name="Rectangle 5"/>
          <p:cNvSpPr/>
          <p:nvPr/>
        </p:nvSpPr>
        <p:spPr>
          <a:xfrm>
            <a:off x="621792" y="24460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5117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87168"/>
            <a:ext cx="10527487" cy="978408"/>
          </a:xfrm>
          <a:prstGeom prst="rect">
            <a:avLst/>
          </a:prstGeom>
          <a:noFill/>
        </p:spPr>
        <p:txBody>
          <a:bodyPr wrap="square">
            <a:spAutoFit/>
          </a:bodyPr>
          <a:lstStyle/>
          <a:p>
            <a:pPr>
              <a:spcAft>
                <a:spcPts val="300"/>
              </a:spcAft>
            </a:pPr>
            <a:r>
              <a:rPr sz="2000" b="1" i="0">
                <a:solidFill>
                  <a:srgbClr val="1A1A1A"/>
                </a:solidFill>
                <a:latin typeface="Arial"/>
              </a:rPr>
              <a:t>The register listed and read back</a:t>
            </a:r>
          </a:p>
          <a:p>
            <a:pPr>
              <a:spcAft>
                <a:spcPts val="300"/>
              </a:spcAft>
            </a:pPr>
            <a:r>
              <a:rPr sz="1700" b="0" i="0">
                <a:solidFill>
                  <a:srgbClr val="595959"/>
                </a:solidFill>
                <a:latin typeface="Arial"/>
              </a:rPr>
              <a:t>Schema, metadata, state published.</a:t>
            </a:r>
          </a:p>
        </p:txBody>
      </p:sp>
      <p:sp>
        <p:nvSpPr>
          <p:cNvPr id="9" name="Rectangle 8"/>
          <p:cNvSpPr/>
          <p:nvPr/>
        </p:nvSpPr>
        <p:spPr>
          <a:xfrm>
            <a:off x="621792" y="3470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5753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11296"/>
            <a:ext cx="10527487" cy="978408"/>
          </a:xfrm>
          <a:prstGeom prst="rect">
            <a:avLst/>
          </a:prstGeom>
          <a:noFill/>
        </p:spPr>
        <p:txBody>
          <a:bodyPr wrap="square">
            <a:spAutoFit/>
          </a:bodyPr>
          <a:lstStyle/>
          <a:p>
            <a:pPr>
              <a:spcAft>
                <a:spcPts val="300"/>
              </a:spcAft>
            </a:pPr>
            <a:r>
              <a:rPr sz="2000" b="1" i="0">
                <a:solidFill>
                  <a:srgbClr val="1A1A1A"/>
                </a:solidFill>
                <a:latin typeface="Arial"/>
              </a:rPr>
              <a:t>A record without a required field</a:t>
            </a:r>
          </a:p>
          <a:p>
            <a:pPr>
              <a:spcAft>
                <a:spcPts val="300"/>
              </a:spcAft>
            </a:pPr>
            <a:r>
              <a:rPr sz="1700" b="0" i="0">
                <a:solidFill>
                  <a:srgbClr val="595959"/>
                </a:solidFill>
                <a:latin typeface="Arial"/>
              </a:rPr>
              <a:t>Refused.</a:t>
            </a:r>
          </a:p>
        </p:txBody>
      </p:sp>
      <p:sp>
        <p:nvSpPr>
          <p:cNvPr id="12" name="Rectangle 11"/>
          <p:cNvSpPr/>
          <p:nvPr/>
        </p:nvSpPr>
        <p:spPr>
          <a:xfrm>
            <a:off x="621792" y="4494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59943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535424"/>
            <a:ext cx="10527487" cy="978408"/>
          </a:xfrm>
          <a:prstGeom prst="rect">
            <a:avLst/>
          </a:prstGeom>
          <a:noFill/>
        </p:spPr>
        <p:txBody>
          <a:bodyPr wrap="square">
            <a:spAutoFit/>
          </a:bodyPr>
          <a:lstStyle/>
          <a:p>
            <a:pPr>
              <a:spcAft>
                <a:spcPts val="300"/>
              </a:spcAft>
            </a:pPr>
            <a:r>
              <a:rPr sz="2000" b="1" i="0">
                <a:solidFill>
                  <a:srgbClr val="1A1A1A"/>
                </a:solidFill>
                <a:latin typeface="Arial"/>
              </a:rPr>
              <a:t>A second record with the same learner number: refused.</a:t>
            </a:r>
          </a:p>
        </p:txBody>
      </p:sp>
      <p:sp>
        <p:nvSpPr>
          <p:cNvPr id="15" name="TextBox 14"/>
          <p:cNvSpPr txBox="1"/>
          <p:nvPr/>
        </p:nvSpPr>
        <p:spPr>
          <a:xfrm>
            <a:off x="658368" y="5632704"/>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The register is set up from one schema file, with its fields, rules, links and key, which an AI assistant drafts from the law and the form and the owner corrects and publishes.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register's schema file.</a:t>
            </a:r>
          </a:p>
          <a:p>
            <a:pPr algn="l">
              <a:spcAft>
                <a:spcPts val="400"/>
              </a:spcAft>
            </a:pPr>
            <a:r>
              <a:rPr sz="1800" b="0" i="0">
                <a:solidFill>
                  <a:srgbClr val="595959"/>
                </a:solidFill>
                <a:latin typeface="Arial"/>
              </a:rPr>
              <a:t>The prompt in the companion material gives you a draft schema file in YAML with a trace table.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Digital Registries specification, version 3.0-alpha (DRS-1, DRS-2, DRS-3, DRS-4, DRS-10, DRS-11, DRS-13, DRS-14, DRS-17, DRS-28, DRS-30, section 8.2)</a:t>
            </a:r>
          </a:p>
          <a:p>
            <a:pPr>
              <a:spcAft>
                <a:spcPts val="1000"/>
              </a:spcAft>
            </a:pPr>
            <a:r>
              <a:rPr sz="1800" b="0" i="0">
                <a:solidFill>
                  <a:srgbClr val="1A1A1A"/>
                </a:solidFill>
                <a:latin typeface="Arial"/>
              </a:rPr>
              <a:t>•  GovStack Identity specification, version 2.0 (sections 4.1.1 and 4.1.2, requirement 11 of section 6.1)</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