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Digital Registries specification says what goes in the file. The register has a name, a unique short code, an owning body, a retention policy, a classification and a lifecycle state, from draft to published to archived. Each field has a name and a type, such as text, date or a list of values. A field can be required or unique, with a minimum and a maximum. A link joins one database to another, for example each learner to a school, with a rule for what happens when the school is deleted. Every publication creates a new version. The schema can be exported and imported as JSON or YAML.</a:t>
            </a:r>
          </a:p>
          <a:p/>
          <a:p>
            <a:r>
              <a:t>Production cue: Plain text. The terms are the specification's: name, short code, metadata, lifecycle state, field type, link, version.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register is set up from one file. The file names the register, lists its fields, states the rules on each field, links it to other registers and names its key. Get this file right, and the rest of the build follows from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Count the lists of learners your country keeps today. The schools keep one. The examination body keeps one. A donor project keeps a third. Each list says something different about the same child, and nobody can say which list is right.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how fragmentation looks in education. One donor funded a school census system. Another funded a cash transfer for girls. A third funded an examination system. Each project built its own list of learners, because each project had to deliver on time. Now a parent fills the same form at five counters, and the ministry cannot say how many learners it has.</a:t>
            </a:r>
          </a:p>
          <a:p/>
          <a:p>
            <a:r>
              <a:t>Production cue: The recognition moment. Text only; no donor is named.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Digital Registries specification describes the answer. A register is a trusted, authoritative service, and the single source of truth for the records it holds. Notice the word service. A register is not a spreadsheet on a shared drive. It has a schema, versions, an interface that other systems call, rules on who may read and change each record, and a log of every change. The same specification names the avoidance of duplicated registries across government as a standard. PAERA, the GovStack reference architecture, lists an education register among a country's main state registries, and calls state registries the authoritative source of information.</a:t>
            </a:r>
          </a:p>
          <a:p/>
          <a:p>
            <a:r>
              <a:t>Production cue: The quoted words are the specification's own, from its section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also says that putting a state registry online needs two building blocks. Registration is where a person applies and an officer decides. The Digital Registry keeps the record and serves it to others. That is why a register is built once and called by many services. Procurement rules can make each contract cheaper, but only whole-of-government planning makes re-use possible.</a:t>
            </a:r>
          </a:p>
          <a:p/>
          <a:p>
            <a:r>
              <a:t>Production cue: Boxes and plain text only. Carries the re-use argument.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Progressa, the fictional country of this course. Its learner registry, PLR, is already a member of the data exchange layer. It publishes one enrolment service, which only the examination authority may call. It is not yet the authoritative register the country needs. The education act gives it no basis. It does not hold one record for every learner. It has no quality rules and no link to the national identity. This module sets up the register behind PLR.</a:t>
            </a:r>
          </a:p>
          <a:p/>
          <a:p>
            <a:r>
              <a:t>Production cue: The present state of PLR, as the course states it. Nothing is said to 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more part matters. A register is only as good as the data that reaches it. Records arrive from schools in messy files. They are checked, approved by a person, and only then written to the register. UNICEF Giga publishes such a flow for its school data, and says it applies ideas from master data management to produce a single source of truth. The edition of the Digital Registries specification used here is an early release, version 3.0-alpha, and its numbers may change.</a:t>
            </a:r>
          </a:p>
          <a:p/>
          <a:p>
            <a:r>
              <a:t>Production cue: Text arrows only. The tiers themselves are the subject of 3.2.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One authoritative record of each learner, held as a service with rules on who reads and changes it, and filled through a disciplined load. That is what the register is for.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term, schools send lists of learners. Some are spreadsheets, some are exports, some were typed from paper. Column names differ. Dates are written three ways. Write such a file straight into the register, and the register becomes one more list nobody trusts.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UNICEF Giga publishes a flow for school data that solves this. It has five tiers. Raw is the file as it arrived, with wrong column names and wrong data types. At bronze, the columns are mapped, the quality checks run, and the rows are split into two tables: those that passed and those that failed. At staging, a person with the right permission approves or rejects each passed row. Approved rows are merged into silver. Silver is merged into gold, which is split into a master table and a reference table.</a:t>
            </a:r>
          </a:p>
          <a:p/>
          <a:p>
            <a:r>
              <a:t>Production cue: A text list, top to bottom. The tier names are Giga's own: raw, bronze, staging, silver, gold.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things in this flow are easy to get wrong. First, raw is a tier of its own, and the checks run at bronze. The file is kept as it came, so you can always show what a school sent. Second, a person approves the rows before they reach silver. That approval is an act of responsibility. A program can prepare it, but it cannot replace it.</a:t>
            </a:r>
          </a:p>
          <a:p/>
          <a:p>
            <a:r>
              <a:t>Production cue: The two errors the module corrects. Text only.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Giga says its tiers were inspired by a common data pattern, which Databricks describes as layers that improve the structure and quality of data step by step. The GovStack Digital Registries specification does not describe tiers. It does let you keep several linked databases in one installation, and run scheduled, rule-based automation that moves records between them. So the tiers can be held as linked databases beside the register, or in a data platform in front of it. Applying Giga's school flow to learners is this course's own adaptation.</a:t>
            </a:r>
          </a:p>
          <a:p/>
          <a:p>
            <a:r>
              <a:t>Production cue: The adaptation is named as the course's own.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Here is what a good run of this walkthrough shows. A seeded file of Progressa learners, with some faulty rows in it, enters raw. At bronze, the faulty rows go to the failed table. At staging, an officer of the learner registry approves the passed rows. The count of rows is read at every tier. A good run passes when only approved rows reach silver and gold holds the master records.</a:t>
            </a:r>
          </a:p>
          <a:p/>
          <a:p>
            <a:r>
              <a:t>Production cue: Replaced by the recorded segment once check RG9 passes. Until then, text only.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Raw, bronze, staging, silver, gold: checks at bronze, a person's approval before silver, and only then a record the register can trust.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3 deck. Each section that follows is one standalone ~5 minute video, Architect-facing — the team that configures the learner register. Module 2 stood up the Registration block; this module stands up the register it writes to.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3.1 is what the register is for. 3.2 to 3.6 are the register and its load — tiers, schema, checks, the Giga pattern, reconciliation. 3.7 opens the register to other services.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choice needs the owner's decision: the key. It is tempting to key the register on the national identity number. Do not. The GovStack Identity specification keeps that number secret inside the identity block. A service that checks a person signs the person in, with the person present, and receives an identifier made for that service alone. So Progressa's register keeps a learner number of its own, and stores beside it the identifier that the identity authority, PNIA, gives to the service. It never stores the national number.</a:t>
            </a:r>
          </a:p>
          <a:p/>
          <a:p>
            <a:r>
              <a:t>Production cue: The one decision the owner must take. Text only.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drafts this file well, because its inputs are written down: the education act, the registration form, and the list of services that will read the register. The prompt asks it to trace every rule to the line it came from. The owner then decides the key and the fields that hold personal data. The marks for personal data are optional in the specification, so no check depends on them. The owner corrects the draft and publishes it. The file states the edition of the specification it implements: version 3.0-alpha, an early release.</a:t>
            </a:r>
          </a:p>
          <a:p/>
          <a:p>
            <a:r>
              <a:t>Production cue: Who does what: the assistant drafts, the owner decides.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walkthrough of this subtopic shows the schema drafted, and the register created from it through the published interface. The check lists the registers and reads this one back: its schema, its metadata and the state published. A record without a required field must be refused, and so must a second record with the same learner number.</a:t>
            </a:r>
          </a:p>
          <a:p/>
          <a:p>
            <a:r>
              <a:t>Production cue: Replaced by the recorded segment once checks RG1 to RG4 and RG12 pass. Until then, text only.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One schema file, drafted by AI from the law and the form, corrected and published by the owner, and keyed on the register's own number.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head teacher sends the term's list of learners. Three rows are wrong. If the register takes them, every service that reads it inherits the mistakes. If the register drops them silently, the school never learns what to fix.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every row is checked at the bronze tier, before anyone approves it. Giga's published flow runs its data-quality checks at bronze and splits the rows into two tables: those that passed and those that failed. The GovStack Digital Registries specification names validation rules, deduplication and data-quality controls among the functions of a register. It lets each field carry rules such as required, unique, minimum and maximum. The checks at bronze apply the same rules before a row comes near the register.</a:t>
            </a:r>
          </a:p>
          <a:p/>
          <a:p>
            <a:r>
              <a:t>Production cue: The split into passed and failed is Giga's; the field rules are the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Look at three faulty rows from a Progressa school. In the first, the same learner appears twice, with the same learner number. In the second, the date of birth is empty, and it is required. In the third, the date of birth says the child is three years old and in grade six. Each row goes to the failed table with its reason in plain words. Who sets the limits, such as the range of ages for each grade? The register's owner, not the programmer. A range is a policy choice.</a:t>
            </a:r>
          </a:p>
          <a:p/>
          <a:p>
            <a:r>
              <a:t>Production cue: Invented values for Progressa. Text only.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failed row is not thrown away, and it is not a secret. In Giga's flow, a data-quality report is generated and emailed to the person who uploaded the file. Do the same. The head teacher gets a short list: which rows failed, and what to correct. The next file comes back cleaner. Over a few terms, the schools learn the rules, and the share of failed rows falls. That share is worth reporting to your director every term.</a:t>
            </a:r>
          </a:p>
          <a:p/>
          <a:p>
            <a:r>
              <a:t>Production cue: The feedback loop to the school.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walkthrough of this subtopic shows a seeded load that contains three faulty rows: a duplicate, a missing required value and a value outside its range. A good run passes when each of the three lands among the failed rows with its reason stated, and no faulty row reaches staging.</a:t>
            </a:r>
          </a:p>
          <a:p/>
          <a:p>
            <a:r>
              <a:t>Production cue: Replaced by the recorded segment once check RG10 passes. Until then, text only.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Check every row at bronze, set each failing row aside with its reason, and send the school the list of what to correct.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vendor tells you their data platform is unique. A donor asks whether your register follows any known practice. Both questions have the same good answer: a published pattern, followed in the open, with every change you made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UNICEF Giga runs a data platform for school data. Its aim, in its own words, is to apply concepts from master data management and data governance to produce a single source of truth: the School Master Data. Its documentation shows five tiers, checks at bronze, a person's review at staging, and a gold tier split into a master table and a reference table. Giga says its tiers were inspired by the medallion pattern that Databricks describes. This is a real, published example of the pattern this module follows.</a:t>
            </a:r>
          </a:p>
          <a:p/>
          <a:p>
            <a:r>
              <a:t>Production cue: Giga's own words for its aim. No Giga logo, no screenshot of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Follow it, and say what you took. The learner register takes the five tiers, the checks at bronze, the person's review before silver, and the split of gold into master and reference. Then say what you changed. Giga's records are schools; Progressa's are learners. Giga's gold tier is its destination; Progressa's destination is a register, a service with its own rules of access. Applying a pattern built for schools to learners is this course's own adaptation, and it should be named as such.</a:t>
            </a:r>
          </a:p>
          <a:p/>
          <a:p>
            <a:r>
              <a:t>Production cue: The worked example: Giga's flow as published beside the table built for Progressa.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more line matters. Neither of Giga's two public repositories carries a licence. A repository without a licence gives no permission to copy its code, even when anyone can read it. So you may read the documentation, cite the pattern and follow it, and your team writes its own code. Put the citation in your design document and in the register's files, so that an auditor or a donor can see where the pattern came from.</a:t>
            </a:r>
          </a:p>
          <a:p/>
          <a:p>
            <a:r>
              <a:t>Production cue: The licence point, stated plainly.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helps you in the room where the money is decided. A pattern that a global programme has published and runs is easier to defend than one your vendor invented. It also keeps you free: the next vendor can follow the same published pattern. And because your choices are written down, they survive a change of team, a change of vendor and the end of a donor project.</a:t>
            </a:r>
          </a:p>
          <a:p/>
          <a:p>
            <a:r>
              <a:t>Production cue: The case to make upward.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Follow Giga's published pattern for learners, say what you took and what you changed, and write your own code.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After a load, a director asks a simple question: did every learner the schools sent reach the register? Most teams answer with a feeling. You can answer with two lines of arithmetic, and show your working.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line is about the checks. The rows received must equal the rows that passed plus the rows set aside at bronze. If they do not, rows were lost or counted twice inside the load. The second line is about the register. The rows approved at staging must equal the records the register added plus the records it changed. If they do not, the load did not write what the officer approved.</a:t>
            </a:r>
          </a:p>
          <a:p/>
          <a:p>
            <a:r>
              <a:t>Production cue: The two equations, nothing else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numbers come from things the GovStack Digital Registries specification already requires. The register logs every change, and shows the value before and after. It can import data and update entries. It answers statistical queries, such as how many records it holds, and it has an operation that says whether a given record exists. So the reconciliation needs no new system. Count the tiers, read the log, and read the record count before and after.</a:t>
            </a:r>
          </a:p>
          <a:p/>
          <a:p>
            <a:r>
              <a:t>Production cue: Each row is a requirement or an operation of the specification.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 clear with your readers on one point. No published source describes this reconciliation, neither the GovStack specification nor Giga's flow. It is the practice of the team that wrote this course, built on what the specification does publish. Present it to your auditors that way; it is simple enough for them to check. And keep one hard rule. A line that does not balance stops the next load until someone finds where the rows went and writes down the cause.</a:t>
            </a:r>
          </a:p>
          <a:p/>
          <a:p>
            <a:r>
              <a:t>Production cue: Says plainly that the practice is this course's own.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walkthrough of this subtopic shows one load of Progressa learners reconciled on a single sheet: rows received, passed, set aside, approved, added and changed, and the register's record count before and after. A good run passes when both lines balance and a sample of the loaded records is confirmed to exist in the register.</a:t>
            </a:r>
          </a:p>
          <a:p/>
          <a:p>
            <a:r>
              <a:t>Production cue: Replaced by the recorded segment once checks RG7 and RG11 pass. Until then, text only.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Received equals passed plus set aside; approved equals added plus changed. Show both lines after every load.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 the register holds good records, every office will want them: the scholarship office, the school feeding programme, the examination authority. If each gets a copy, you are back to many lists. If each calls the register, you keep one.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Digital Registries specification is clear. Applicants do not reach the register directly. They come through other building blocks, such as the Registration block, with the Information Mediator between them. Each register generates services for creating, reading and updating records, described with OpenAPI, and lists them with a description and an example for every field. The specification also asks for bulk operations, archive and event subscription, but publishes no operation for them yet. Do not promise them to another ministry as published interfaces.</a:t>
            </a:r>
          </a:p>
          <a:p/>
          <a:p>
            <a:r>
              <a:t>Production cue: The third row says what is not yet published.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these calls pass through Linkup, the data exchange layer. The Information Mediator specification sets the rule: a service is registered with its OpenAPI description, a consumer must ask for the service it wants, and the provider of that service decides whether the consumer may call it. So the learner registry, not the caller, decides who reaches the register at all.</a:t>
            </a:r>
          </a:p>
          <a:p/>
          <a:p>
            <a:r>
              <a:t>Production cue: Text only; Linkup is named, nothing is said to run.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the register, access is decided per service, per record and per field. A rule can rest on a role, an attribute, a policy or consent, and the specification names delegated access for a guardian or a parent. In Progressa, the registration service may create and update learner records. Every other service may only read, and only the fields it needs. A table of access rules gives the business side and IT one shared language, so a decision about a child's data means the same thing in both rooms.</a:t>
            </a:r>
          </a:p>
          <a:p/>
          <a:p>
            <a:r>
              <a:t>Production cue: Carries the shared-language argument.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register logs every read of personal data: which record, which field, who read it and when. Every data owner has the right to see who looked at their personal data, and the register offers an interface for that report. For a learner who is a child, the parent sees it. Few features build more trust. And deleting a record keeps the logical record, so the history stays.</a:t>
            </a:r>
          </a:p>
          <a:p/>
          <a:p>
            <a:r>
              <a:t>Production cue: The trust point for parents.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walkthrough of this subtopic shows an update sent by a service that may only read, and refused. The same update sent by the registration service is accepted. Then the parent's report shows the one read of the learner's record, who read it and when. A good run passes on all three.</a:t>
            </a:r>
          </a:p>
          <a:p/>
          <a:p>
            <a:r>
              <a:t>Production cue: Replaced by the recorded segment once checks RG5 and RG6 pass. Until then, text only.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One interface, each service seeing only what its role allows, and every parent able to see who read their child's record.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The Registry block</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KP3 · Education DPI Roadmap · Module 3</a:t>
            </a:r>
          </a:p>
          <a:p>
            <a:r>
              <a:rPr sz="1400" b="0" i="0">
                <a:solidFill>
                  <a:srgbClr val="595959"/>
                </a:solidFill>
                <a:latin typeface="Arial"/>
              </a:rPr>
              <a:t>Seven standalone videos for the team that sets up the learner register: what a register is for, the five tiers a load passes through, the schema an AI assistant drafts and the owner publishes, the checks that stop a bad row, a published pattern followed in the open, the reconciliation of every load, and the register as a service others call.</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~30 mins across 7 videos (3.1 – 3.7)</a:t>
            </a:r>
          </a:p>
          <a:p>
            <a:r>
              <a:rPr sz="1400" b="1" i="0">
                <a:solidFill>
                  <a:srgbClr val="1A1A1A"/>
                </a:solidFill>
                <a:latin typeface="Arial"/>
              </a:rPr>
              <a:t>Target audience: </a:t>
            </a:r>
            <a:r>
              <a:rPr sz="1400" b="0" i="0">
                <a:solidFill>
                  <a:srgbClr val="1A1A1A"/>
                </a:solidFill>
                <a:latin typeface="Arial"/>
              </a:rPr>
              <a:t>The team that configures the register: the head of the ministry's ICT unit, the registry architect, the data lead or the integration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STANDS UP</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One authoritative record of each learner</a:t>
            </a:r>
          </a:p>
        </p:txBody>
      </p:sp>
      <p:sp>
        <p:nvSpPr>
          <p:cNvPr id="21" name="Rounded Rectangle 20"/>
          <p:cNvSpPr/>
          <p:nvPr/>
        </p:nvSpPr>
        <p:spPr>
          <a:xfrm>
            <a:off x="7452360" y="175260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Raw · bronze · staging · silver · gold</a:t>
            </a:r>
          </a:p>
        </p:txBody>
      </p:sp>
      <p:sp>
        <p:nvSpPr>
          <p:cNvPr id="22" name="Rounded Rectangle 21"/>
          <p:cNvSpPr/>
          <p:nvPr/>
        </p:nvSpPr>
        <p:spPr>
          <a:xfrm>
            <a:off x="7452360" y="254508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schema the owner publishes</a:t>
            </a:r>
          </a:p>
        </p:txBody>
      </p:sp>
      <p:sp>
        <p:nvSpPr>
          <p:cNvPr id="23" name="Rounded Rectangle 22"/>
          <p:cNvSpPr/>
          <p:nvPr/>
        </p:nvSpPr>
        <p:spPr>
          <a:xfrm>
            <a:off x="7452360" y="333756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Checks that stop a bad row</a:t>
            </a:r>
          </a:p>
        </p:txBody>
      </p:sp>
      <p:sp>
        <p:nvSpPr>
          <p:cNvPr id="24" name="Rounded Rectangle 23"/>
          <p:cNvSpPr/>
          <p:nvPr/>
        </p:nvSpPr>
        <p:spPr>
          <a:xfrm>
            <a:off x="7452360" y="413004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Every load accounted for</a:t>
            </a:r>
          </a:p>
        </p:txBody>
      </p:sp>
      <p:sp>
        <p:nvSpPr>
          <p:cNvPr id="25" name="Rounded Rectangle 24"/>
          <p:cNvSpPr/>
          <p:nvPr/>
        </p:nvSpPr>
        <p:spPr>
          <a:xfrm>
            <a:off x="7452360" y="4922520"/>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Access by role, every read logged</a:t>
            </a:r>
          </a:p>
        </p:txBody>
      </p:sp>
      <p:sp>
        <p:nvSpPr>
          <p:cNvPr id="26" name="TextBox 25"/>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tiers · 1 schema · 2 lines that must balance</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3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3.1  What a register is for: one authoritative record</a:t>
            </a:r>
            <a:r>
              <a:rPr sz="1200" b="0" i="0">
                <a:solidFill>
                  <a:srgbClr val="595959"/>
                </a:solidFill>
                <a:latin typeface="Arial"/>
              </a:rPr>
              <a:t>   ~5 min</a:t>
            </a:r>
          </a:p>
          <a:p>
            <a:pPr algn="l">
              <a:spcAft>
                <a:spcPts val="900"/>
              </a:spcAft>
            </a:pPr>
            <a:r>
              <a:rPr sz="1500" b="1" i="0">
                <a:solidFill>
                  <a:srgbClr val="1A1A1A"/>
                </a:solidFill>
                <a:latin typeface="Arial"/>
              </a:rPr>
              <a:t>3.2  Five tiers between a messy file and a trusted record</a:t>
            </a:r>
            <a:r>
              <a:rPr sz="1200" b="0" i="0">
                <a:solidFill>
                  <a:srgbClr val="595959"/>
                </a:solidFill>
                <a:latin typeface="Arial"/>
              </a:rPr>
              <a:t>   ~5 min</a:t>
            </a:r>
          </a:p>
          <a:p>
            <a:pPr algn="l">
              <a:spcAft>
                <a:spcPts val="900"/>
              </a:spcAft>
            </a:pPr>
            <a:r>
              <a:rPr sz="1500" b="1" i="0">
                <a:solidFill>
                  <a:srgbClr val="1A1A1A"/>
                </a:solidFill>
                <a:latin typeface="Arial"/>
              </a:rPr>
              <a:t>3.3  Generating the register's schema</a:t>
            </a:r>
            <a:r>
              <a:rPr sz="1200" b="0" i="0">
                <a:solidFill>
                  <a:srgbClr val="595959"/>
                </a:solidFill>
                <a:latin typeface="Arial"/>
              </a:rPr>
              <a:t>   ~5 min</a:t>
            </a:r>
          </a:p>
          <a:p>
            <a:pPr algn="l">
              <a:spcAft>
                <a:spcPts val="900"/>
              </a:spcAft>
            </a:pPr>
            <a:r>
              <a:rPr sz="1500" b="1" i="0">
                <a:solidFill>
                  <a:srgbClr val="1A1A1A"/>
                </a:solidFill>
                <a:latin typeface="Arial"/>
              </a:rPr>
              <a:t>3.4  Quality checks that stop a bad row</a:t>
            </a:r>
            <a:r>
              <a:rPr sz="1200" b="0" i="0">
                <a:solidFill>
                  <a:srgbClr val="595959"/>
                </a:solidFill>
                <a:latin typeface="Arial"/>
              </a:rPr>
              <a:t>   ~5 min</a:t>
            </a:r>
          </a:p>
          <a:p>
            <a:pPr algn="l">
              <a:spcAft>
                <a:spcPts val="900"/>
              </a:spcAft>
            </a:pPr>
            <a:r>
              <a:rPr sz="1500" b="1" i="0">
                <a:solidFill>
                  <a:srgbClr val="1A1A1A"/>
                </a:solidFill>
                <a:latin typeface="Arial"/>
              </a:rPr>
              <a:t>3.5  A published pattern, followed in the open</a:t>
            </a:r>
            <a:r>
              <a:rPr sz="1200" b="0" i="0">
                <a:solidFill>
                  <a:srgbClr val="595959"/>
                </a:solidFill>
                <a:latin typeface="Arial"/>
              </a:rPr>
              <a:t>   ~5 min</a:t>
            </a:r>
          </a:p>
          <a:p>
            <a:pPr algn="l">
              <a:spcAft>
                <a:spcPts val="900"/>
              </a:spcAft>
            </a:pPr>
            <a:r>
              <a:rPr sz="1500" b="1" i="0">
                <a:solidFill>
                  <a:srgbClr val="1A1A1A"/>
                </a:solidFill>
                <a:latin typeface="Arial"/>
              </a:rPr>
              <a:t>3.6  Account for every load</a:t>
            </a:r>
            <a:r>
              <a:rPr sz="1200" b="0" i="0">
                <a:solidFill>
                  <a:srgbClr val="595959"/>
                </a:solidFill>
                <a:latin typeface="Arial"/>
              </a:rPr>
              <a:t>   ~5 min</a:t>
            </a:r>
          </a:p>
          <a:p>
            <a:pPr algn="l">
              <a:spcAft>
                <a:spcPts val="900"/>
              </a:spcAft>
            </a:pPr>
            <a:r>
              <a:rPr sz="1500" b="1" i="0">
                <a:solidFill>
                  <a:srgbClr val="1A1A1A"/>
                </a:solidFill>
                <a:latin typeface="Arial"/>
              </a:rPr>
              <a:t>3.7  The register as a service others can use</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A register gives every service one authoritative record of each learner, held as a service with rules on who may read and change it.</a:t>
            </a:r>
          </a:p>
          <a:p>
            <a:pPr>
              <a:spcAft>
                <a:spcPts val="1000"/>
              </a:spcAft>
            </a:pPr>
            <a:r>
              <a:rPr sz="1900" b="0" i="1">
                <a:solidFill>
                  <a:srgbClr val="1A1A1A"/>
                </a:solidFill>
                <a:latin typeface="Arial"/>
              </a:rPr>
              <a:t>Fill it through a disciplined load, check every row, account for every load, and let others reach it only through its published interface.</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a register is for: one authoritative record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register gives every service one authoritative record of each learner, held as a service with rules on who may read and change it, and filled through a disciplined load.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Count the lists of learners your country keeps today.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schools keep one. The examination body keeps one.</a:t>
            </a:r>
          </a:p>
          <a:p>
            <a:pPr>
              <a:spcAft>
                <a:spcPts val="800"/>
              </a:spcAft>
            </a:pPr>
            <a:r>
              <a:rPr sz="1700" b="0" i="0">
                <a:solidFill>
                  <a:srgbClr val="595959"/>
                </a:solidFill>
                <a:latin typeface="Arial"/>
              </a:rPr>
              <a:t>A donor project keeps a third.</a:t>
            </a:r>
          </a:p>
          <a:p>
            <a:pPr>
              <a:spcAft>
                <a:spcPts val="800"/>
              </a:spcAft>
            </a:pPr>
            <a:r>
              <a:rPr sz="1700" b="0" i="0">
                <a:solidFill>
                  <a:srgbClr val="595959"/>
                </a:solidFill>
                <a:latin typeface="Arial"/>
              </a:rPr>
              <a:t>Each list says something different about the same child, and nobody can say which list is right.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Many lists, no answer</a:t>
            </a:r>
          </a:p>
        </p:txBody>
      </p:sp>
      <p:sp>
        <p:nvSpPr>
          <p:cNvPr id="4" name="TextBox 3"/>
          <p:cNvSpPr txBox="1"/>
          <p:nvPr/>
        </p:nvSpPr>
        <p:spPr>
          <a:xfrm>
            <a:off x="658368" y="1522475"/>
            <a:ext cx="10984687" cy="1143000"/>
          </a:xfrm>
          <a:prstGeom prst="rect">
            <a:avLst/>
          </a:prstGeom>
          <a:noFill/>
        </p:spPr>
        <p:txBody>
          <a:bodyPr wrap="square">
            <a:spAutoFit/>
          </a:bodyPr>
          <a:lstStyle/>
          <a:p>
            <a:pPr>
              <a:spcAft>
                <a:spcPts val="300"/>
              </a:spcAft>
            </a:pPr>
            <a:r>
              <a:rPr sz="2200" b="1" i="0">
                <a:solidFill>
                  <a:srgbClr val="1A1A1A"/>
                </a:solidFill>
                <a:latin typeface="Arial"/>
              </a:rPr>
              <a:t>One donor funded a school census system.</a:t>
            </a:r>
          </a:p>
        </p:txBody>
      </p:sp>
      <p:sp>
        <p:nvSpPr>
          <p:cNvPr id="5" name="Rectangle 4"/>
          <p:cNvSpPr/>
          <p:nvPr/>
        </p:nvSpPr>
        <p:spPr>
          <a:xfrm>
            <a:off x="621792" y="26700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11196"/>
            <a:ext cx="10984687" cy="1143000"/>
          </a:xfrm>
          <a:prstGeom prst="rect">
            <a:avLst/>
          </a:prstGeom>
          <a:noFill/>
        </p:spPr>
        <p:txBody>
          <a:bodyPr wrap="square">
            <a:spAutoFit/>
          </a:bodyPr>
          <a:lstStyle/>
          <a:p>
            <a:pPr>
              <a:spcAft>
                <a:spcPts val="300"/>
              </a:spcAft>
            </a:pPr>
            <a:r>
              <a:rPr sz="2200" b="1" i="0">
                <a:solidFill>
                  <a:srgbClr val="1A1A1A"/>
                </a:solidFill>
                <a:latin typeface="Arial"/>
              </a:rPr>
              <a:t>Another funded a cash transfer for girls.</a:t>
            </a:r>
          </a:p>
        </p:txBody>
      </p:sp>
      <p:sp>
        <p:nvSpPr>
          <p:cNvPr id="7" name="Rectangle 6"/>
          <p:cNvSpPr/>
          <p:nvPr/>
        </p:nvSpPr>
        <p:spPr>
          <a:xfrm>
            <a:off x="621792" y="38587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99915"/>
            <a:ext cx="10984687" cy="1143000"/>
          </a:xfrm>
          <a:prstGeom prst="rect">
            <a:avLst/>
          </a:prstGeom>
          <a:noFill/>
        </p:spPr>
        <p:txBody>
          <a:bodyPr wrap="square">
            <a:spAutoFit/>
          </a:bodyPr>
          <a:lstStyle/>
          <a:p>
            <a:pPr>
              <a:spcAft>
                <a:spcPts val="300"/>
              </a:spcAft>
            </a:pPr>
            <a:r>
              <a:rPr sz="2200" b="1" i="0">
                <a:solidFill>
                  <a:srgbClr val="1A1A1A"/>
                </a:solidFill>
                <a:latin typeface="Arial"/>
              </a:rPr>
              <a:t>A third funded an examination system.</a:t>
            </a:r>
          </a:p>
        </p:txBody>
      </p:sp>
      <p:sp>
        <p:nvSpPr>
          <p:cNvPr id="9" name="TextBox 8"/>
          <p:cNvSpPr txBox="1"/>
          <p:nvPr/>
        </p:nvSpPr>
        <p:spPr>
          <a:xfrm>
            <a:off x="658368" y="5161788"/>
            <a:ext cx="10881360" cy="548640"/>
          </a:xfrm>
          <a:prstGeom prst="rect">
            <a:avLst/>
          </a:prstGeom>
          <a:noFill/>
        </p:spPr>
        <p:txBody>
          <a:bodyPr wrap="square">
            <a:spAutoFit/>
          </a:bodyPr>
          <a:lstStyle/>
          <a:p>
            <a:r>
              <a:rPr sz="1700" b="1" i="0">
                <a:solidFill>
                  <a:srgbClr val="006E96"/>
                </a:solidFill>
                <a:latin typeface="Arial"/>
              </a:rPr>
              <a:t>Three lists of the same learners.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register is a service</a:t>
            </a:r>
          </a:p>
        </p:txBody>
      </p:sp>
      <p:sp>
        <p:nvSpPr>
          <p:cNvPr id="4" name="TextBox 3"/>
          <p:cNvSpPr txBox="1"/>
          <p:nvPr/>
        </p:nvSpPr>
        <p:spPr>
          <a:xfrm>
            <a:off x="658368" y="1463040"/>
            <a:ext cx="10881360" cy="1051560"/>
          </a:xfrm>
          <a:prstGeom prst="rect">
            <a:avLst/>
          </a:prstGeom>
          <a:noFill/>
        </p:spPr>
        <p:txBody>
          <a:bodyPr wrap="square">
            <a:spAutoFit/>
          </a:bodyPr>
          <a:lstStyle/>
          <a:p>
            <a:pPr>
              <a:spcAft>
                <a:spcPts val="400"/>
              </a:spcAft>
            </a:pPr>
            <a:r>
              <a:rPr sz="2000" b="0" i="1">
                <a:solidFill>
                  <a:srgbClr val="006E96"/>
                </a:solidFill>
                <a:latin typeface="Arial"/>
              </a:rPr>
              <a:t>“a trusted, authoritative service”</a:t>
            </a:r>
          </a:p>
          <a:p>
            <a:pPr>
              <a:spcAft>
                <a:spcPts val="400"/>
              </a:spcAft>
            </a:pPr>
            <a:r>
              <a:rPr sz="2000" b="0" i="1">
                <a:solidFill>
                  <a:srgbClr val="006E96"/>
                </a:solidFill>
                <a:latin typeface="Arial"/>
              </a:rPr>
              <a:t>“the single source of truth”</a:t>
            </a:r>
          </a:p>
        </p:txBody>
      </p:sp>
      <p:sp>
        <p:nvSpPr>
          <p:cNvPr id="5" name="TextBox 4"/>
          <p:cNvSpPr txBox="1"/>
          <p:nvPr/>
        </p:nvSpPr>
        <p:spPr>
          <a:xfrm>
            <a:off x="658368" y="2514600"/>
            <a:ext cx="10984687" cy="649223"/>
          </a:xfrm>
          <a:prstGeom prst="rect">
            <a:avLst/>
          </a:prstGeom>
          <a:noFill/>
        </p:spPr>
        <p:txBody>
          <a:bodyPr wrap="square">
            <a:spAutoFit/>
          </a:bodyPr>
          <a:lstStyle/>
          <a:p>
            <a:pPr>
              <a:spcAft>
                <a:spcPts val="300"/>
              </a:spcAft>
            </a:pPr>
            <a:r>
              <a:rPr sz="1700" b="1" i="0">
                <a:solidFill>
                  <a:srgbClr val="1A1A1A"/>
                </a:solidFill>
                <a:latin typeface="Arial"/>
              </a:rPr>
              <a:t>A schema</a:t>
            </a:r>
          </a:p>
        </p:txBody>
      </p:sp>
      <p:sp>
        <p:nvSpPr>
          <p:cNvPr id="6" name="Rectangle 5"/>
          <p:cNvSpPr/>
          <p:nvPr/>
        </p:nvSpPr>
        <p:spPr>
          <a:xfrm>
            <a:off x="621792" y="316839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3209544"/>
            <a:ext cx="10984687" cy="649223"/>
          </a:xfrm>
          <a:prstGeom prst="rect">
            <a:avLst/>
          </a:prstGeom>
          <a:noFill/>
        </p:spPr>
        <p:txBody>
          <a:bodyPr wrap="square">
            <a:spAutoFit/>
          </a:bodyPr>
          <a:lstStyle/>
          <a:p>
            <a:pPr>
              <a:spcAft>
                <a:spcPts val="300"/>
              </a:spcAft>
            </a:pPr>
            <a:r>
              <a:rPr sz="1700" b="1" i="0">
                <a:solidFill>
                  <a:srgbClr val="1A1A1A"/>
                </a:solidFill>
                <a:latin typeface="Arial"/>
              </a:rPr>
              <a:t>Versions</a:t>
            </a:r>
          </a:p>
        </p:txBody>
      </p:sp>
      <p:sp>
        <p:nvSpPr>
          <p:cNvPr id="8" name="Rectangle 7"/>
          <p:cNvSpPr/>
          <p:nvPr/>
        </p:nvSpPr>
        <p:spPr>
          <a:xfrm>
            <a:off x="621792" y="386333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904487"/>
            <a:ext cx="10984687" cy="649223"/>
          </a:xfrm>
          <a:prstGeom prst="rect">
            <a:avLst/>
          </a:prstGeom>
          <a:noFill/>
        </p:spPr>
        <p:txBody>
          <a:bodyPr wrap="square">
            <a:spAutoFit/>
          </a:bodyPr>
          <a:lstStyle/>
          <a:p>
            <a:pPr>
              <a:spcAft>
                <a:spcPts val="300"/>
              </a:spcAft>
            </a:pPr>
            <a:r>
              <a:rPr sz="1700" b="1" i="0">
                <a:solidFill>
                  <a:srgbClr val="1A1A1A"/>
                </a:solidFill>
                <a:latin typeface="Arial"/>
              </a:rPr>
              <a:t>An interface other systems call</a:t>
            </a:r>
          </a:p>
        </p:txBody>
      </p:sp>
      <p:sp>
        <p:nvSpPr>
          <p:cNvPr id="10" name="Rectangle 9"/>
          <p:cNvSpPr/>
          <p:nvPr/>
        </p:nvSpPr>
        <p:spPr>
          <a:xfrm>
            <a:off x="621792" y="455828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599431"/>
            <a:ext cx="10984687" cy="649223"/>
          </a:xfrm>
          <a:prstGeom prst="rect">
            <a:avLst/>
          </a:prstGeom>
          <a:noFill/>
        </p:spPr>
        <p:txBody>
          <a:bodyPr wrap="square">
            <a:spAutoFit/>
          </a:bodyPr>
          <a:lstStyle/>
          <a:p>
            <a:pPr>
              <a:spcAft>
                <a:spcPts val="300"/>
              </a:spcAft>
            </a:pPr>
            <a:r>
              <a:rPr sz="1700" b="1" i="0">
                <a:solidFill>
                  <a:srgbClr val="1A1A1A"/>
                </a:solidFill>
                <a:latin typeface="Arial"/>
              </a:rPr>
              <a:t>Rules on who may read and change</a:t>
            </a:r>
          </a:p>
        </p:txBody>
      </p:sp>
      <p:sp>
        <p:nvSpPr>
          <p:cNvPr id="12" name="Rectangle 11"/>
          <p:cNvSpPr/>
          <p:nvPr/>
        </p:nvSpPr>
        <p:spPr>
          <a:xfrm>
            <a:off x="621792" y="52532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294375"/>
            <a:ext cx="10984687" cy="649223"/>
          </a:xfrm>
          <a:prstGeom prst="rect">
            <a:avLst/>
          </a:prstGeom>
          <a:noFill/>
        </p:spPr>
        <p:txBody>
          <a:bodyPr wrap="square">
            <a:spAutoFit/>
          </a:bodyPr>
          <a:lstStyle/>
          <a:p>
            <a:pPr>
              <a:spcAft>
                <a:spcPts val="300"/>
              </a:spcAft>
            </a:pPr>
            <a:r>
              <a:rPr sz="1700" b="1" i="0">
                <a:solidFill>
                  <a:srgbClr val="1A1A1A"/>
                </a:solidFill>
                <a:latin typeface="Arial"/>
              </a:rPr>
              <a:t>A log of every change</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building blocks</a:t>
            </a:r>
          </a:p>
        </p:txBody>
      </p:sp>
      <p:sp>
        <p:nvSpPr>
          <p:cNvPr id="4" name="Rounded Rectangle 3"/>
          <p:cNvSpPr/>
          <p:nvPr/>
        </p:nvSpPr>
        <p:spPr>
          <a:xfrm>
            <a:off x="658368" y="2583179"/>
            <a:ext cx="5394960" cy="13716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2729484"/>
            <a:ext cx="4992624" cy="1097280"/>
          </a:xfrm>
          <a:prstGeom prst="rect">
            <a:avLst/>
          </a:prstGeom>
          <a:noFill/>
        </p:spPr>
        <p:txBody>
          <a:bodyPr wrap="square">
            <a:spAutoFit/>
          </a:bodyPr>
          <a:lstStyle/>
          <a:p>
            <a:pPr>
              <a:spcAft>
                <a:spcPts val="700"/>
              </a:spcAft>
            </a:pPr>
            <a:r>
              <a:rPr sz="2100" b="1" i="0">
                <a:solidFill>
                  <a:srgbClr val="006E96"/>
                </a:solidFill>
                <a:latin typeface="Arial"/>
              </a:rPr>
              <a:t>Registration</a:t>
            </a:r>
          </a:p>
          <a:p>
            <a:pPr>
              <a:spcAft>
                <a:spcPts val="700"/>
              </a:spcAft>
            </a:pPr>
            <a:r>
              <a:rPr sz="1800" b="0" i="0">
                <a:solidFill>
                  <a:srgbClr val="1A1A1A"/>
                </a:solidFill>
                <a:latin typeface="Arial"/>
              </a:rPr>
              <a:t>A person applies, an officer decides.</a:t>
            </a:r>
          </a:p>
        </p:txBody>
      </p:sp>
      <p:sp>
        <p:nvSpPr>
          <p:cNvPr id="6" name="Rounded Rectangle 5"/>
          <p:cNvSpPr/>
          <p:nvPr/>
        </p:nvSpPr>
        <p:spPr>
          <a:xfrm>
            <a:off x="6263640" y="2583179"/>
            <a:ext cx="5394960" cy="137160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2729484"/>
            <a:ext cx="4992624" cy="1097280"/>
          </a:xfrm>
          <a:prstGeom prst="rect">
            <a:avLst/>
          </a:prstGeom>
          <a:noFill/>
        </p:spPr>
        <p:txBody>
          <a:bodyPr wrap="square">
            <a:spAutoFit/>
          </a:bodyPr>
          <a:lstStyle/>
          <a:p>
            <a:pPr>
              <a:spcAft>
                <a:spcPts val="700"/>
              </a:spcAft>
            </a:pPr>
            <a:r>
              <a:rPr sz="2100" b="1" i="0">
                <a:solidFill>
                  <a:srgbClr val="006E96"/>
                </a:solidFill>
                <a:latin typeface="Arial"/>
              </a:rPr>
              <a:t>Digital Registry</a:t>
            </a:r>
          </a:p>
          <a:p>
            <a:pPr>
              <a:spcAft>
                <a:spcPts val="700"/>
              </a:spcAft>
            </a:pPr>
            <a:r>
              <a:rPr sz="1800" b="0" i="0">
                <a:solidFill>
                  <a:srgbClr val="1A1A1A"/>
                </a:solidFill>
                <a:latin typeface="Arial"/>
              </a:rPr>
              <a:t>Keeps the record and serves it to others.</a:t>
            </a:r>
          </a:p>
        </p:txBody>
      </p:sp>
      <p:sp>
        <p:nvSpPr>
          <p:cNvPr id="8" name="TextBox 7"/>
          <p:cNvSpPr txBox="1"/>
          <p:nvPr/>
        </p:nvSpPr>
        <p:spPr>
          <a:xfrm>
            <a:off x="658368" y="4137659"/>
            <a:ext cx="10881360" cy="548640"/>
          </a:xfrm>
          <a:prstGeom prst="rect">
            <a:avLst/>
          </a:prstGeom>
          <a:noFill/>
        </p:spPr>
        <p:txBody>
          <a:bodyPr wrap="square">
            <a:spAutoFit/>
          </a:bodyPr>
          <a:lstStyle/>
          <a:p>
            <a:r>
              <a:rPr sz="1800" b="1" i="0">
                <a:solidFill>
                  <a:srgbClr val="006E96"/>
                </a:solidFill>
                <a:latin typeface="Arial"/>
              </a:rPr>
              <a:t>Built once, called by many services.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today</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PLR</a:t>
            </a:r>
          </a:p>
          <a:p>
            <a:pPr>
              <a:spcAft>
                <a:spcPts val="300"/>
              </a:spcAft>
            </a:pPr>
            <a:r>
              <a:rPr sz="1700" b="0" i="0">
                <a:solidFill>
                  <a:srgbClr val="595959"/>
                </a:solidFill>
                <a:latin typeface="Arial"/>
              </a:rPr>
              <a:t>A member of the data exchange layer, with one enrolment service.</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No basis in the education act.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No record for every learner. No quality rules. No link to the national identity.</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This module sets up the register behind PLR.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Filled through a disciplined load</a:t>
            </a:r>
          </a:p>
        </p:txBody>
      </p:sp>
      <p:cxnSp>
        <p:nvCxnSpPr>
          <p:cNvPr id="4" name="Connector 3"/>
          <p:cNvCxnSpPr/>
          <p:nvPr/>
        </p:nvCxnSpPr>
        <p:spPr>
          <a:xfrm>
            <a:off x="3127248" y="3383279"/>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43600" y="3383279"/>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759952" y="3383279"/>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2651759"/>
            <a:ext cx="2432304" cy="1463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Messy file</a:t>
            </a:r>
          </a:p>
        </p:txBody>
      </p:sp>
      <p:sp>
        <p:nvSpPr>
          <p:cNvPr id="8" name="Rounded Rectangle 7"/>
          <p:cNvSpPr/>
          <p:nvPr/>
        </p:nvSpPr>
        <p:spPr>
          <a:xfrm>
            <a:off x="3474720" y="2651759"/>
            <a:ext cx="2432304" cy="1463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Checked</a:t>
            </a:r>
          </a:p>
        </p:txBody>
      </p:sp>
      <p:sp>
        <p:nvSpPr>
          <p:cNvPr id="9" name="Rounded Rectangle 8"/>
          <p:cNvSpPr/>
          <p:nvPr/>
        </p:nvSpPr>
        <p:spPr>
          <a:xfrm>
            <a:off x="6291072" y="2651759"/>
            <a:ext cx="2432304" cy="14630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FFFFFF"/>
                </a:solidFill>
                <a:latin typeface="Arial"/>
              </a:rPr>
              <a:t>Approved by a person</a:t>
            </a:r>
          </a:p>
        </p:txBody>
      </p:sp>
      <p:sp>
        <p:nvSpPr>
          <p:cNvPr id="10" name="Rounded Rectangle 9"/>
          <p:cNvSpPr/>
          <p:nvPr/>
        </p:nvSpPr>
        <p:spPr>
          <a:xfrm>
            <a:off x="9107424" y="2651759"/>
            <a:ext cx="2432304" cy="1463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Written to the register</a:t>
            </a:r>
          </a:p>
        </p:txBody>
      </p:sp>
      <p:sp>
        <p:nvSpPr>
          <p:cNvPr id="11" name="TextBox 10"/>
          <p:cNvSpPr txBox="1"/>
          <p:nvPr/>
        </p:nvSpPr>
        <p:spPr>
          <a:xfrm>
            <a:off x="658368" y="4389120"/>
            <a:ext cx="10881360" cy="365760"/>
          </a:xfrm>
          <a:prstGeom prst="rect">
            <a:avLst/>
          </a:prstGeom>
          <a:noFill/>
        </p:spPr>
        <p:txBody>
          <a:bodyPr wrap="square">
            <a:spAutoFit/>
          </a:bodyPr>
          <a:lstStyle/>
          <a:p>
            <a:r>
              <a:rPr sz="1300" b="0" i="1">
                <a:solidFill>
                  <a:srgbClr val="595959"/>
                </a:solidFill>
                <a:latin typeface="Arial"/>
              </a:rPr>
              <a:t>Digital Registries specification, version 3.0-alpha: an early release.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A register gives every service one authoritative record of each learner, held as a service with rules on who may read and change it, and filled through a disciplined load.</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register's one-page charter.</a:t>
            </a:r>
          </a:p>
          <a:p>
            <a:pPr algn="l">
              <a:spcAft>
                <a:spcPts val="400"/>
              </a:spcAft>
            </a:pPr>
            <a:r>
              <a:rPr sz="1800" b="0" i="0">
                <a:solidFill>
                  <a:srgbClr val="595959"/>
                </a:solidFill>
                <a:latin typeface="Arial"/>
              </a:rPr>
              <a:t>The prompt in the companion material gives you a one-page register charter with six headings.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Digital Registries specification, version 3.0-alpha (section 2; section 10.5.8; release notes)</a:t>
            </a:r>
          </a:p>
          <a:p>
            <a:pPr>
              <a:spcAft>
                <a:spcPts val="1000"/>
              </a:spcAft>
            </a:pPr>
            <a:r>
              <a:rPr sz="1800" b="0" i="0">
                <a:solidFill>
                  <a:srgbClr val="1A1A1A"/>
                </a:solidFill>
                <a:latin typeface="Arial"/>
              </a:rPr>
              <a:t>•  PAERA v1.0, Annex 1 section A1.2.5, Annex 3 and section 3.4.2</a:t>
            </a:r>
          </a:p>
          <a:p>
            <a:pPr>
              <a:spcAft>
                <a:spcPts val="1000"/>
              </a:spcAft>
            </a:pPr>
            <a:r>
              <a:rPr sz="1800" b="0" i="0">
                <a:solidFill>
                  <a:srgbClr val="1A1A1A"/>
                </a:solidFill>
                <a:latin typeface="Arial"/>
              </a:rPr>
              <a:t>•  UNICEF Giga, giga-dagster, docs/README.md</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Five tiers between a messy file and a trusted record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Data reaches the register through five tiers, raw, bronze, staging, silver and gold, with quality checks at bronze and a person's approval before silver.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term, schools send lists of learners.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Some are spreadsheets, some are exports, some were typed from paper.</a:t>
            </a:r>
          </a:p>
          <a:p>
            <a:pPr>
              <a:spcAft>
                <a:spcPts val="800"/>
              </a:spcAft>
            </a:pPr>
            <a:r>
              <a:rPr sz="1700" b="0" i="0">
                <a:solidFill>
                  <a:srgbClr val="595959"/>
                </a:solidFill>
                <a:latin typeface="Arial"/>
              </a:rPr>
              <a:t>Column names differ. Dates are written three ways.</a:t>
            </a:r>
          </a:p>
          <a:p>
            <a:pPr>
              <a:spcAft>
                <a:spcPts val="800"/>
              </a:spcAft>
            </a:pPr>
            <a:r>
              <a:rPr sz="1700" b="0" i="0">
                <a:solidFill>
                  <a:srgbClr val="595959"/>
                </a:solidFill>
                <a:latin typeface="Arial"/>
              </a:rPr>
              <a:t>Write such a file straight into the register, and the register becomes one more list nobody trusts.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tiers</a:t>
            </a:r>
          </a:p>
        </p:txBody>
      </p:sp>
      <p:cxnSp>
        <p:nvCxnSpPr>
          <p:cNvPr id="4" name="Connector 3"/>
          <p:cNvCxnSpPr/>
          <p:nvPr/>
        </p:nvCxnSpPr>
        <p:spPr>
          <a:xfrm>
            <a:off x="2563977"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17059"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70140"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23222" y="3589020"/>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Raw</a:t>
            </a:r>
          </a:p>
          <a:p>
            <a:pPr algn="l">
              <a:spcAft>
                <a:spcPts val="300"/>
              </a:spcAft>
            </a:pPr>
            <a:r>
              <a:rPr sz="1400" b="0" i="0">
                <a:solidFill>
                  <a:srgbClr val="1A1A1A"/>
                </a:solidFill>
                <a:latin typeface="Arial"/>
              </a:rPr>
              <a:t>The file as it arrived.</a:t>
            </a:r>
          </a:p>
        </p:txBody>
      </p:sp>
      <p:sp>
        <p:nvSpPr>
          <p:cNvPr id="9" name="Rounded Rectangle 8"/>
          <p:cNvSpPr/>
          <p:nvPr/>
        </p:nvSpPr>
        <p:spPr>
          <a:xfrm>
            <a:off x="2911449"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Bronze</a:t>
            </a:r>
          </a:p>
          <a:p>
            <a:pPr algn="l">
              <a:spcAft>
                <a:spcPts val="300"/>
              </a:spcAft>
            </a:pPr>
            <a:r>
              <a:rPr sz="1400" b="0" i="0">
                <a:solidFill>
                  <a:srgbClr val="1A1A1A"/>
                </a:solidFill>
                <a:latin typeface="Arial"/>
              </a:rPr>
              <a:t>Columns mapped; quality checks run; rows split into passed and failed.</a:t>
            </a:r>
          </a:p>
        </p:txBody>
      </p:sp>
      <p:sp>
        <p:nvSpPr>
          <p:cNvPr id="10" name="Rounded Rectangle 9"/>
          <p:cNvSpPr/>
          <p:nvPr/>
        </p:nvSpPr>
        <p:spPr>
          <a:xfrm>
            <a:off x="5164531" y="2446020"/>
            <a:ext cx="1869033" cy="22860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Staging</a:t>
            </a:r>
          </a:p>
          <a:p>
            <a:pPr algn="l">
              <a:spcAft>
                <a:spcPts val="300"/>
              </a:spcAft>
            </a:pPr>
            <a:r>
              <a:rPr sz="1400" b="0" i="0">
                <a:solidFill>
                  <a:srgbClr val="FFFFFF"/>
                </a:solidFill>
                <a:latin typeface="Arial"/>
              </a:rPr>
              <a:t>A person approves or rejects each passed row.</a:t>
            </a:r>
          </a:p>
        </p:txBody>
      </p:sp>
      <p:sp>
        <p:nvSpPr>
          <p:cNvPr id="11" name="Rounded Rectangle 10"/>
          <p:cNvSpPr/>
          <p:nvPr/>
        </p:nvSpPr>
        <p:spPr>
          <a:xfrm>
            <a:off x="7417612"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Silver</a:t>
            </a:r>
          </a:p>
          <a:p>
            <a:pPr algn="l">
              <a:spcAft>
                <a:spcPts val="300"/>
              </a:spcAft>
            </a:pPr>
            <a:r>
              <a:rPr sz="1400" b="0" i="0">
                <a:solidFill>
                  <a:srgbClr val="1A1A1A"/>
                </a:solidFill>
                <a:latin typeface="Arial"/>
              </a:rPr>
              <a:t>Approved rows merged.</a:t>
            </a:r>
          </a:p>
        </p:txBody>
      </p:sp>
      <p:sp>
        <p:nvSpPr>
          <p:cNvPr id="12" name="Rounded Rectangle 11"/>
          <p:cNvSpPr/>
          <p:nvPr/>
        </p:nvSpPr>
        <p:spPr>
          <a:xfrm>
            <a:off x="9670694" y="2446020"/>
            <a:ext cx="1869033" cy="22860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Gold</a:t>
            </a:r>
          </a:p>
          <a:p>
            <a:pPr algn="l">
              <a:spcAft>
                <a:spcPts val="300"/>
              </a:spcAft>
            </a:pPr>
            <a:r>
              <a:rPr sz="1400" b="0" i="0">
                <a:solidFill>
                  <a:srgbClr val="1A1A1A"/>
                </a:solidFill>
                <a:latin typeface="Arial"/>
              </a:rPr>
              <a:t>Merged, then split into a master table and a reference table.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things to get right</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Raw is a tier of its own. The checks run at bronze.</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A person approves before silver. No program replaces that act.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tiers live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A common pattern</a:t>
            </a:r>
          </a:p>
          <a:p>
            <a:pPr>
              <a:spcAft>
                <a:spcPts val="300"/>
              </a:spcAft>
            </a:pPr>
            <a:r>
              <a:rPr sz="1800" b="0" i="0">
                <a:solidFill>
                  <a:srgbClr val="595959"/>
                </a:solidFill>
                <a:latin typeface="Arial"/>
              </a:rPr>
              <a:t>Layers that improve data step by step.</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GovStack</a:t>
            </a:r>
          </a:p>
          <a:p>
            <a:pPr>
              <a:spcAft>
                <a:spcPts val="300"/>
              </a:spcAft>
            </a:pPr>
            <a:r>
              <a:rPr sz="1800" b="0" i="0">
                <a:solidFill>
                  <a:srgbClr val="595959"/>
                </a:solidFill>
                <a:latin typeface="Arial"/>
              </a:rPr>
              <a:t>Linked databases and scheduled, rule-based automation.</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Schools to learners</a:t>
            </a:r>
          </a:p>
          <a:p>
            <a:pPr>
              <a:spcAft>
                <a:spcPts val="300"/>
              </a:spcAft>
            </a:pPr>
            <a:r>
              <a:rPr sz="1800" b="0" i="0">
                <a:solidFill>
                  <a:srgbClr val="595959"/>
                </a:solidFill>
                <a:latin typeface="Arial"/>
              </a:rPr>
              <a:t>This course's own adaptation.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walkthrough will show</a:t>
            </a:r>
          </a:p>
        </p:txBody>
      </p:sp>
      <p:sp>
        <p:nvSpPr>
          <p:cNvPr id="4" name="Oval 3"/>
          <p:cNvSpPr/>
          <p:nvPr/>
        </p:nvSpPr>
        <p:spPr>
          <a:xfrm>
            <a:off x="621792" y="15270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978408"/>
          </a:xfrm>
          <a:prstGeom prst="rect">
            <a:avLst/>
          </a:prstGeom>
          <a:noFill/>
        </p:spPr>
        <p:txBody>
          <a:bodyPr wrap="square">
            <a:spAutoFit/>
          </a:bodyPr>
          <a:lstStyle/>
          <a:p>
            <a:pPr>
              <a:spcAft>
                <a:spcPts val="300"/>
              </a:spcAft>
            </a:pPr>
            <a:r>
              <a:rPr sz="2000" b="1" i="0">
                <a:solidFill>
                  <a:srgbClr val="1A1A1A"/>
                </a:solidFill>
                <a:latin typeface="Arial"/>
              </a:rPr>
              <a:t>A seeded file of learners, with faulty rows, enters raw.</a:t>
            </a:r>
          </a:p>
        </p:txBody>
      </p:sp>
      <p:sp>
        <p:nvSpPr>
          <p:cNvPr id="6" name="Rectangle 5"/>
          <p:cNvSpPr/>
          <p:nvPr/>
        </p:nvSpPr>
        <p:spPr>
          <a:xfrm>
            <a:off x="621792" y="24460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5117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87168"/>
            <a:ext cx="10527487" cy="978408"/>
          </a:xfrm>
          <a:prstGeom prst="rect">
            <a:avLst/>
          </a:prstGeom>
          <a:noFill/>
        </p:spPr>
        <p:txBody>
          <a:bodyPr wrap="square">
            <a:spAutoFit/>
          </a:bodyPr>
          <a:lstStyle/>
          <a:p>
            <a:pPr>
              <a:spcAft>
                <a:spcPts val="300"/>
              </a:spcAft>
            </a:pPr>
            <a:r>
              <a:rPr sz="2000" b="1" i="0">
                <a:solidFill>
                  <a:srgbClr val="1A1A1A"/>
                </a:solidFill>
                <a:latin typeface="Arial"/>
              </a:rPr>
              <a:t>Faulty rows stop at bronze, in the failed table.</a:t>
            </a:r>
          </a:p>
        </p:txBody>
      </p:sp>
      <p:sp>
        <p:nvSpPr>
          <p:cNvPr id="9" name="Rectangle 8"/>
          <p:cNvSpPr/>
          <p:nvPr/>
        </p:nvSpPr>
        <p:spPr>
          <a:xfrm>
            <a:off x="621792" y="34701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57530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11296"/>
            <a:ext cx="10527487" cy="978408"/>
          </a:xfrm>
          <a:prstGeom prst="rect">
            <a:avLst/>
          </a:prstGeom>
          <a:noFill/>
        </p:spPr>
        <p:txBody>
          <a:bodyPr wrap="square">
            <a:spAutoFit/>
          </a:bodyPr>
          <a:lstStyle/>
          <a:p>
            <a:pPr>
              <a:spcAft>
                <a:spcPts val="300"/>
              </a:spcAft>
            </a:pPr>
            <a:r>
              <a:rPr sz="2000" b="1" i="0">
                <a:solidFill>
                  <a:srgbClr val="1A1A1A"/>
                </a:solidFill>
                <a:latin typeface="Arial"/>
              </a:rPr>
              <a:t>An officer approves the passed rows at staging.</a:t>
            </a:r>
          </a:p>
        </p:txBody>
      </p:sp>
      <p:sp>
        <p:nvSpPr>
          <p:cNvPr id="12" name="Rectangle 11"/>
          <p:cNvSpPr/>
          <p:nvPr/>
        </p:nvSpPr>
        <p:spPr>
          <a:xfrm>
            <a:off x="621792" y="4494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59943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535424"/>
            <a:ext cx="10527487" cy="978408"/>
          </a:xfrm>
          <a:prstGeom prst="rect">
            <a:avLst/>
          </a:prstGeom>
          <a:noFill/>
        </p:spPr>
        <p:txBody>
          <a:bodyPr wrap="square">
            <a:spAutoFit/>
          </a:bodyPr>
          <a:lstStyle/>
          <a:p>
            <a:pPr>
              <a:spcAft>
                <a:spcPts val="300"/>
              </a:spcAft>
            </a:pPr>
            <a:r>
              <a:rPr sz="2000" b="1" i="0">
                <a:solidFill>
                  <a:srgbClr val="1A1A1A"/>
                </a:solidFill>
                <a:latin typeface="Arial"/>
              </a:rPr>
              <a:t>Only approved rows reach silver; gold holds the master records.</a:t>
            </a:r>
          </a:p>
        </p:txBody>
      </p:sp>
      <p:sp>
        <p:nvSpPr>
          <p:cNvPr id="15" name="TextBox 14"/>
          <p:cNvSpPr txBox="1"/>
          <p:nvPr/>
        </p:nvSpPr>
        <p:spPr>
          <a:xfrm>
            <a:off x="658368" y="5632704"/>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Data reaches the register through five tiers, raw, bronze, staging, silver and gold, with quality checks at bronze and a person's approval before silver.</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Design the five tiers for a new source file.</a:t>
            </a:r>
          </a:p>
          <a:p>
            <a:pPr algn="l">
              <a:spcAft>
                <a:spcPts val="400"/>
              </a:spcAft>
            </a:pPr>
            <a:r>
              <a:rPr sz="1800" b="0" i="0">
                <a:solidFill>
                  <a:srgbClr val="595959"/>
                </a:solidFill>
                <a:latin typeface="Arial"/>
              </a:rPr>
              <a:t>The prompt in the companion material gives you a tier design table with the column mapping, the bronze checks and the staging approver.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UNICEF Giga, giga-dagster, docs/dataflow.md</a:t>
            </a:r>
          </a:p>
          <a:p>
            <a:pPr>
              <a:spcAft>
                <a:spcPts val="1000"/>
              </a:spcAft>
            </a:pPr>
            <a:r>
              <a:rPr sz="1800" b="0" i="0">
                <a:solidFill>
                  <a:srgbClr val="1A1A1A"/>
                </a:solidFill>
                <a:latin typeface="Arial"/>
              </a:rPr>
              <a:t>•  Databricks, 'What is Medallion Architecture?'</a:t>
            </a:r>
          </a:p>
          <a:p>
            <a:pPr>
              <a:spcAft>
                <a:spcPts val="1000"/>
              </a:spcAft>
            </a:pPr>
            <a:r>
              <a:rPr sz="1800" b="0" i="0">
                <a:solidFill>
                  <a:srgbClr val="1A1A1A"/>
                </a:solidFill>
                <a:latin typeface="Arial"/>
              </a:rPr>
              <a:t>•  GovStack Digital Registries specification, version 3.0-alpha, DRS-2 and DRS-19</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Five tiers between a messy file and a trusted record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Generating the register's schema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register is set up from one schema file, with its fields, rules, links and key, which an AI assistant drafts from the law and the form and the owner corrects and publishes.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register is set up from one file.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file names the register, lists its fields, states the rules on each field, links it to other registers and names its key.</a:t>
            </a:r>
          </a:p>
          <a:p>
            <a:pPr>
              <a:spcAft>
                <a:spcPts val="800"/>
              </a:spcAft>
            </a:pPr>
            <a:r>
              <a:rPr sz="1700" b="0" i="0">
                <a:solidFill>
                  <a:srgbClr val="595959"/>
                </a:solidFill>
                <a:latin typeface="Arial"/>
              </a:rPr>
              <a:t>Get this file right, and the rest of the build follows from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schema file holds</a:t>
            </a:r>
          </a:p>
        </p:txBody>
      </p:sp>
      <p:sp>
        <p:nvSpPr>
          <p:cNvPr id="4" name="TextBox 3"/>
          <p:cNvSpPr txBox="1"/>
          <p:nvPr/>
        </p:nvSpPr>
        <p:spPr>
          <a:xfrm>
            <a:off x="658368" y="1463040"/>
            <a:ext cx="10984687" cy="832103"/>
          </a:xfrm>
          <a:prstGeom prst="rect">
            <a:avLst/>
          </a:prstGeom>
          <a:noFill/>
        </p:spPr>
        <p:txBody>
          <a:bodyPr wrap="square">
            <a:spAutoFit/>
          </a:bodyPr>
          <a:lstStyle/>
          <a:p>
            <a:pPr>
              <a:spcAft>
                <a:spcPts val="300"/>
              </a:spcAft>
            </a:pPr>
            <a:r>
              <a:rPr sz="1900" b="1" i="0">
                <a:solidFill>
                  <a:srgbClr val="1A1A1A"/>
                </a:solidFill>
                <a:latin typeface="Arial"/>
              </a:rPr>
              <a:t>The register</a:t>
            </a:r>
          </a:p>
          <a:p>
            <a:pPr>
              <a:spcAft>
                <a:spcPts val="300"/>
              </a:spcAft>
            </a:pPr>
            <a:r>
              <a:rPr sz="1600" b="0" i="0">
                <a:solidFill>
                  <a:srgbClr val="595959"/>
                </a:solidFill>
                <a:latin typeface="Arial"/>
              </a:rPr>
              <a:t>Name, short code, owner, retention, classification, state.</a:t>
            </a:r>
          </a:p>
        </p:txBody>
      </p:sp>
      <p:sp>
        <p:nvSpPr>
          <p:cNvPr id="5" name="Rectangle 4"/>
          <p:cNvSpPr/>
          <p:nvPr/>
        </p:nvSpPr>
        <p:spPr>
          <a:xfrm>
            <a:off x="621792" y="22997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40864"/>
            <a:ext cx="10984687" cy="832103"/>
          </a:xfrm>
          <a:prstGeom prst="rect">
            <a:avLst/>
          </a:prstGeom>
          <a:noFill/>
        </p:spPr>
        <p:txBody>
          <a:bodyPr wrap="square">
            <a:spAutoFit/>
          </a:bodyPr>
          <a:lstStyle/>
          <a:p>
            <a:pPr>
              <a:spcAft>
                <a:spcPts val="300"/>
              </a:spcAft>
            </a:pPr>
            <a:r>
              <a:rPr sz="1900" b="1" i="0">
                <a:solidFill>
                  <a:srgbClr val="1A1A1A"/>
                </a:solidFill>
                <a:latin typeface="Arial"/>
              </a:rPr>
              <a:t>Fields</a:t>
            </a:r>
          </a:p>
          <a:p>
            <a:pPr>
              <a:spcAft>
                <a:spcPts val="300"/>
              </a:spcAft>
            </a:pPr>
            <a:r>
              <a:rPr sz="1600" b="0" i="0">
                <a:solidFill>
                  <a:srgbClr val="595959"/>
                </a:solidFill>
                <a:latin typeface="Arial"/>
              </a:rPr>
              <a:t>Name, type, required, unique, minimum, maximum.</a:t>
            </a:r>
          </a:p>
        </p:txBody>
      </p:sp>
      <p:sp>
        <p:nvSpPr>
          <p:cNvPr id="7" name="Rectangle 6"/>
          <p:cNvSpPr/>
          <p:nvPr/>
        </p:nvSpPr>
        <p:spPr>
          <a:xfrm>
            <a:off x="621792" y="31775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218688"/>
            <a:ext cx="10984687" cy="832103"/>
          </a:xfrm>
          <a:prstGeom prst="rect">
            <a:avLst/>
          </a:prstGeom>
          <a:noFill/>
        </p:spPr>
        <p:txBody>
          <a:bodyPr wrap="square">
            <a:spAutoFit/>
          </a:bodyPr>
          <a:lstStyle/>
          <a:p>
            <a:pPr>
              <a:spcAft>
                <a:spcPts val="300"/>
              </a:spcAft>
            </a:pPr>
            <a:r>
              <a:rPr sz="1900" b="1" i="0">
                <a:solidFill>
                  <a:srgbClr val="1A1A1A"/>
                </a:solidFill>
                <a:latin typeface="Arial"/>
              </a:rPr>
              <a:t>Links</a:t>
            </a:r>
          </a:p>
          <a:p>
            <a:pPr>
              <a:spcAft>
                <a:spcPts val="300"/>
              </a:spcAft>
            </a:pPr>
            <a:r>
              <a:rPr sz="1600" b="0" i="0">
                <a:solidFill>
                  <a:srgbClr val="595959"/>
                </a:solidFill>
                <a:latin typeface="Arial"/>
              </a:rPr>
              <a:t>Each learner to a school, with a rule on deletion.</a:t>
            </a:r>
          </a:p>
        </p:txBody>
      </p:sp>
      <p:sp>
        <p:nvSpPr>
          <p:cNvPr id="9" name="Rectangle 8"/>
          <p:cNvSpPr/>
          <p:nvPr/>
        </p:nvSpPr>
        <p:spPr>
          <a:xfrm>
            <a:off x="621792" y="405536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96512"/>
            <a:ext cx="10984687" cy="832103"/>
          </a:xfrm>
          <a:prstGeom prst="rect">
            <a:avLst/>
          </a:prstGeom>
          <a:noFill/>
        </p:spPr>
        <p:txBody>
          <a:bodyPr wrap="square">
            <a:spAutoFit/>
          </a:bodyPr>
          <a:lstStyle/>
          <a:p>
            <a:pPr>
              <a:spcAft>
                <a:spcPts val="300"/>
              </a:spcAft>
            </a:pPr>
            <a:r>
              <a:rPr sz="1900" b="1" i="0">
                <a:solidFill>
                  <a:srgbClr val="1A1A1A"/>
                </a:solidFill>
                <a:latin typeface="Arial"/>
              </a:rPr>
              <a:t>Versions</a:t>
            </a:r>
          </a:p>
          <a:p>
            <a:pPr>
              <a:spcAft>
                <a:spcPts val="300"/>
              </a:spcAft>
            </a:pPr>
            <a:r>
              <a:rPr sz="1600" b="0" i="0">
                <a:solidFill>
                  <a:srgbClr val="595959"/>
                </a:solidFill>
                <a:latin typeface="Arial"/>
              </a:rPr>
              <a:t>Each publication is a new version.</a:t>
            </a:r>
          </a:p>
        </p:txBody>
      </p:sp>
      <p:sp>
        <p:nvSpPr>
          <p:cNvPr id="11" name="Rectangle 10"/>
          <p:cNvSpPr/>
          <p:nvPr/>
        </p:nvSpPr>
        <p:spPr>
          <a:xfrm>
            <a:off x="621792" y="49331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74336"/>
            <a:ext cx="10984687" cy="832103"/>
          </a:xfrm>
          <a:prstGeom prst="rect">
            <a:avLst/>
          </a:prstGeom>
          <a:noFill/>
        </p:spPr>
        <p:txBody>
          <a:bodyPr wrap="square">
            <a:spAutoFit/>
          </a:bodyPr>
          <a:lstStyle/>
          <a:p>
            <a:pPr>
              <a:spcAft>
                <a:spcPts val="300"/>
              </a:spcAft>
            </a:pPr>
            <a:r>
              <a:rPr sz="1900" b="1" i="0">
                <a:solidFill>
                  <a:srgbClr val="1A1A1A"/>
                </a:solidFill>
                <a:latin typeface="Arial"/>
              </a:rPr>
              <a:t>Format</a:t>
            </a:r>
          </a:p>
          <a:p>
            <a:pPr>
              <a:spcAft>
                <a:spcPts val="300"/>
              </a:spcAft>
            </a:pPr>
            <a:r>
              <a:rPr sz="1600" b="0" i="0">
                <a:solidFill>
                  <a:srgbClr val="595959"/>
                </a:solidFill>
                <a:latin typeface="Arial"/>
              </a:rPr>
              <a:t>JSON or YAML, to export and to import.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key is not the national number</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register keeps a learner number of its own.</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Beside it, the identifier the identity authority gives to the service.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Never the national identity number.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Drafted by AI, decided by the owner</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Inputs</a:t>
            </a:r>
          </a:p>
          <a:p>
            <a:pPr>
              <a:spcAft>
                <a:spcPts val="300"/>
              </a:spcAft>
            </a:pPr>
            <a:r>
              <a:rPr sz="1800" b="0" i="0">
                <a:solidFill>
                  <a:srgbClr val="595959"/>
                </a:solidFill>
                <a:latin typeface="Arial"/>
              </a:rPr>
              <a:t>The education act, the registration form, the services that will read the register.</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rule traced to the line it came from.</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owner decides the key and the personal-data fields, corrects and publishes.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walkthrough will show</a:t>
            </a:r>
          </a:p>
        </p:txBody>
      </p:sp>
      <p:sp>
        <p:nvSpPr>
          <p:cNvPr id="4" name="Oval 3"/>
          <p:cNvSpPr/>
          <p:nvPr/>
        </p:nvSpPr>
        <p:spPr>
          <a:xfrm>
            <a:off x="621792" y="15270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978408"/>
          </a:xfrm>
          <a:prstGeom prst="rect">
            <a:avLst/>
          </a:prstGeom>
          <a:noFill/>
        </p:spPr>
        <p:txBody>
          <a:bodyPr wrap="square">
            <a:spAutoFit/>
          </a:bodyPr>
          <a:lstStyle/>
          <a:p>
            <a:pPr>
              <a:spcAft>
                <a:spcPts val="300"/>
              </a:spcAft>
            </a:pPr>
            <a:r>
              <a:rPr sz="2000" b="1" i="0">
                <a:solidFill>
                  <a:srgbClr val="1A1A1A"/>
                </a:solidFill>
                <a:latin typeface="Arial"/>
              </a:rPr>
              <a:t>The schema drafted, and the register created from it.</a:t>
            </a:r>
          </a:p>
        </p:txBody>
      </p:sp>
      <p:sp>
        <p:nvSpPr>
          <p:cNvPr id="6" name="Rectangle 5"/>
          <p:cNvSpPr/>
          <p:nvPr/>
        </p:nvSpPr>
        <p:spPr>
          <a:xfrm>
            <a:off x="621792" y="24460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5117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87168"/>
            <a:ext cx="10527487" cy="978408"/>
          </a:xfrm>
          <a:prstGeom prst="rect">
            <a:avLst/>
          </a:prstGeom>
          <a:noFill/>
        </p:spPr>
        <p:txBody>
          <a:bodyPr wrap="square">
            <a:spAutoFit/>
          </a:bodyPr>
          <a:lstStyle/>
          <a:p>
            <a:pPr>
              <a:spcAft>
                <a:spcPts val="300"/>
              </a:spcAft>
            </a:pPr>
            <a:r>
              <a:rPr sz="2000" b="1" i="0">
                <a:solidFill>
                  <a:srgbClr val="1A1A1A"/>
                </a:solidFill>
                <a:latin typeface="Arial"/>
              </a:rPr>
              <a:t>The register listed and read back</a:t>
            </a:r>
          </a:p>
          <a:p>
            <a:pPr>
              <a:spcAft>
                <a:spcPts val="300"/>
              </a:spcAft>
            </a:pPr>
            <a:r>
              <a:rPr sz="1700" b="0" i="0">
                <a:solidFill>
                  <a:srgbClr val="595959"/>
                </a:solidFill>
                <a:latin typeface="Arial"/>
              </a:rPr>
              <a:t>Schema, metadata, state published.</a:t>
            </a:r>
          </a:p>
        </p:txBody>
      </p:sp>
      <p:sp>
        <p:nvSpPr>
          <p:cNvPr id="9" name="Rectangle 8"/>
          <p:cNvSpPr/>
          <p:nvPr/>
        </p:nvSpPr>
        <p:spPr>
          <a:xfrm>
            <a:off x="621792" y="34701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57530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11296"/>
            <a:ext cx="10527487" cy="978408"/>
          </a:xfrm>
          <a:prstGeom prst="rect">
            <a:avLst/>
          </a:prstGeom>
          <a:noFill/>
        </p:spPr>
        <p:txBody>
          <a:bodyPr wrap="square">
            <a:spAutoFit/>
          </a:bodyPr>
          <a:lstStyle/>
          <a:p>
            <a:pPr>
              <a:spcAft>
                <a:spcPts val="300"/>
              </a:spcAft>
            </a:pPr>
            <a:r>
              <a:rPr sz="2000" b="1" i="0">
                <a:solidFill>
                  <a:srgbClr val="1A1A1A"/>
                </a:solidFill>
                <a:latin typeface="Arial"/>
              </a:rPr>
              <a:t>A record without a required field</a:t>
            </a:r>
          </a:p>
          <a:p>
            <a:pPr>
              <a:spcAft>
                <a:spcPts val="300"/>
              </a:spcAft>
            </a:pPr>
            <a:r>
              <a:rPr sz="1700" b="0" i="0">
                <a:solidFill>
                  <a:srgbClr val="595959"/>
                </a:solidFill>
                <a:latin typeface="Arial"/>
              </a:rPr>
              <a:t>Refused.</a:t>
            </a:r>
          </a:p>
        </p:txBody>
      </p:sp>
      <p:sp>
        <p:nvSpPr>
          <p:cNvPr id="12" name="Rectangle 11"/>
          <p:cNvSpPr/>
          <p:nvPr/>
        </p:nvSpPr>
        <p:spPr>
          <a:xfrm>
            <a:off x="621792" y="4494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59943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535424"/>
            <a:ext cx="10527487" cy="978408"/>
          </a:xfrm>
          <a:prstGeom prst="rect">
            <a:avLst/>
          </a:prstGeom>
          <a:noFill/>
        </p:spPr>
        <p:txBody>
          <a:bodyPr wrap="square">
            <a:spAutoFit/>
          </a:bodyPr>
          <a:lstStyle/>
          <a:p>
            <a:pPr>
              <a:spcAft>
                <a:spcPts val="300"/>
              </a:spcAft>
            </a:pPr>
            <a:r>
              <a:rPr sz="2000" b="1" i="0">
                <a:solidFill>
                  <a:srgbClr val="1A1A1A"/>
                </a:solidFill>
                <a:latin typeface="Arial"/>
              </a:rPr>
              <a:t>A second record with the same learner number: refused.</a:t>
            </a:r>
          </a:p>
        </p:txBody>
      </p:sp>
      <p:sp>
        <p:nvSpPr>
          <p:cNvPr id="15" name="TextBox 14"/>
          <p:cNvSpPr txBox="1"/>
          <p:nvPr/>
        </p:nvSpPr>
        <p:spPr>
          <a:xfrm>
            <a:off x="658368" y="5632704"/>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The register is set up from one schema file, with its fields, rules, links and key, which an AI assistant drafts from the law and the form and the owner corrects and publishes.</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register's schema file.</a:t>
            </a:r>
          </a:p>
          <a:p>
            <a:pPr algn="l">
              <a:spcAft>
                <a:spcPts val="400"/>
              </a:spcAft>
            </a:pPr>
            <a:r>
              <a:rPr sz="1800" b="0" i="0">
                <a:solidFill>
                  <a:srgbClr val="595959"/>
                </a:solidFill>
                <a:latin typeface="Arial"/>
              </a:rPr>
              <a:t>The prompt in the companion material gives you a draft schema file in YAML with a trace table.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Digital Registries specification, version 3.0-alpha (DRS-1, DRS-2, DRS-3, DRS-4, DRS-10, DRS-11, DRS-13, DRS-14, DRS-17, DRS-28, DRS-30, section 8.2)</a:t>
            </a:r>
          </a:p>
          <a:p>
            <a:pPr>
              <a:spcAft>
                <a:spcPts val="1000"/>
              </a:spcAft>
            </a:pPr>
            <a:r>
              <a:rPr sz="1800" b="0" i="0">
                <a:solidFill>
                  <a:srgbClr val="1A1A1A"/>
                </a:solidFill>
                <a:latin typeface="Arial"/>
              </a:rPr>
              <a:t>•  GovStack Identity specification, version 2.0 (sections 4.1.1 and 4.1.2, requirement 11 of section 6.1)</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Generating the register's schema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Quality checks that stop a bad row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row is checked at the bronze tier, and a row that fails is set aside with its reason, so that the people who sent the data know what to correct.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head teacher sends the term's list of learners.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Three rows are wrong.</a:t>
            </a:r>
          </a:p>
          <a:p>
            <a:pPr>
              <a:spcAft>
                <a:spcPts val="800"/>
              </a:spcAft>
            </a:pPr>
            <a:r>
              <a:rPr sz="1700" b="0" i="0">
                <a:solidFill>
                  <a:srgbClr val="595959"/>
                </a:solidFill>
                <a:latin typeface="Arial"/>
              </a:rPr>
              <a:t>If the register takes them, every service that reads it inherits the mistakes.</a:t>
            </a:r>
          </a:p>
          <a:p>
            <a:pPr>
              <a:spcAft>
                <a:spcPts val="800"/>
              </a:spcAft>
            </a:pPr>
            <a:r>
              <a:rPr sz="1700" b="0" i="0">
                <a:solidFill>
                  <a:srgbClr val="595959"/>
                </a:solidFill>
                <a:latin typeface="Arial"/>
              </a:rPr>
              <a:t>If the register drops them silently, the school never learns what to fix.</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Checked at bronze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row is checked before anyone approves it.</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Rows split into two tables</a:t>
            </a:r>
          </a:p>
          <a:p>
            <a:pPr>
              <a:spcAft>
                <a:spcPts val="300"/>
              </a:spcAft>
            </a:pPr>
            <a:r>
              <a:rPr sz="1800" b="0" i="0">
                <a:solidFill>
                  <a:srgbClr val="595959"/>
                </a:solidFill>
                <a:latin typeface="Arial"/>
              </a:rPr>
              <a:t>Passed and failed.</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Rules on each field</a:t>
            </a:r>
          </a:p>
          <a:p>
            <a:pPr>
              <a:spcAft>
                <a:spcPts val="300"/>
              </a:spcAft>
            </a:pPr>
            <a:r>
              <a:rPr sz="1800" b="0" i="0">
                <a:solidFill>
                  <a:srgbClr val="595959"/>
                </a:solidFill>
                <a:latin typeface="Arial"/>
              </a:rPr>
              <a:t>Required, unique, minimum, maximum.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faulty rows</a:t>
            </a:r>
          </a:p>
        </p:txBody>
      </p:sp>
      <p:sp>
        <p:nvSpPr>
          <p:cNvPr id="4" name="TextBox 3"/>
          <p:cNvSpPr txBox="1"/>
          <p:nvPr/>
        </p:nvSpPr>
        <p:spPr>
          <a:xfrm>
            <a:off x="658368" y="2610231"/>
            <a:ext cx="4828032" cy="457200"/>
          </a:xfrm>
          <a:prstGeom prst="rect">
            <a:avLst/>
          </a:prstGeom>
          <a:noFill/>
        </p:spPr>
        <p:txBody>
          <a:bodyPr wrap="square">
            <a:spAutoFit/>
          </a:bodyPr>
          <a:lstStyle/>
          <a:p>
            <a:r>
              <a:rPr sz="1700" b="1" i="0">
                <a:solidFill>
                  <a:srgbClr val="006E96"/>
                </a:solidFill>
                <a:latin typeface="Arial"/>
              </a:rPr>
              <a:t>Row</a:t>
            </a:r>
          </a:p>
        </p:txBody>
      </p:sp>
      <p:sp>
        <p:nvSpPr>
          <p:cNvPr id="5" name="TextBox 4"/>
          <p:cNvSpPr txBox="1"/>
          <p:nvPr/>
        </p:nvSpPr>
        <p:spPr>
          <a:xfrm>
            <a:off x="5596128" y="2610231"/>
            <a:ext cx="5833872" cy="457200"/>
          </a:xfrm>
          <a:prstGeom prst="rect">
            <a:avLst/>
          </a:prstGeom>
          <a:noFill/>
        </p:spPr>
        <p:txBody>
          <a:bodyPr wrap="square">
            <a:spAutoFit/>
          </a:bodyPr>
          <a:lstStyle/>
          <a:p>
            <a:r>
              <a:rPr sz="1700" b="1" i="0">
                <a:solidFill>
                  <a:srgbClr val="006E96"/>
                </a:solidFill>
                <a:latin typeface="Arial"/>
              </a:rPr>
              <a:t>Reason</a:t>
            </a:r>
          </a:p>
        </p:txBody>
      </p:sp>
      <p:sp>
        <p:nvSpPr>
          <p:cNvPr id="6" name="Rectangle 5"/>
          <p:cNvSpPr/>
          <p:nvPr/>
        </p:nvSpPr>
        <p:spPr>
          <a:xfrm>
            <a:off x="658368" y="3067431"/>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3158871"/>
            <a:ext cx="4828032" cy="426974"/>
          </a:xfrm>
          <a:prstGeom prst="rect">
            <a:avLst/>
          </a:prstGeom>
          <a:noFill/>
        </p:spPr>
        <p:txBody>
          <a:bodyPr wrap="square">
            <a:spAutoFit/>
          </a:bodyPr>
          <a:lstStyle/>
          <a:p>
            <a:r>
              <a:rPr sz="1700" b="1" i="0">
                <a:solidFill>
                  <a:srgbClr val="1A1A1A"/>
                </a:solidFill>
                <a:latin typeface="Arial"/>
              </a:rPr>
              <a:t>The same learner twice</a:t>
            </a:r>
          </a:p>
        </p:txBody>
      </p:sp>
      <p:sp>
        <p:nvSpPr>
          <p:cNvPr id="8" name="TextBox 7"/>
          <p:cNvSpPr txBox="1"/>
          <p:nvPr/>
        </p:nvSpPr>
        <p:spPr>
          <a:xfrm>
            <a:off x="5596128" y="3158871"/>
            <a:ext cx="5833872" cy="426974"/>
          </a:xfrm>
          <a:prstGeom prst="rect">
            <a:avLst/>
          </a:prstGeom>
          <a:noFill/>
        </p:spPr>
        <p:txBody>
          <a:bodyPr wrap="square">
            <a:spAutoFit/>
          </a:bodyPr>
          <a:lstStyle/>
          <a:p>
            <a:r>
              <a:rPr sz="1700" b="0" i="0">
                <a:solidFill>
                  <a:srgbClr val="1A1A1A"/>
                </a:solidFill>
                <a:latin typeface="Arial"/>
              </a:rPr>
              <a:t>Duplicate learner number</a:t>
            </a:r>
          </a:p>
        </p:txBody>
      </p:sp>
      <p:sp>
        <p:nvSpPr>
          <p:cNvPr id="9" name="Rectangle 8"/>
          <p:cNvSpPr/>
          <p:nvPr/>
        </p:nvSpPr>
        <p:spPr>
          <a:xfrm>
            <a:off x="658368" y="36041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658997"/>
            <a:ext cx="4828032" cy="426974"/>
          </a:xfrm>
          <a:prstGeom prst="rect">
            <a:avLst/>
          </a:prstGeom>
          <a:noFill/>
        </p:spPr>
        <p:txBody>
          <a:bodyPr wrap="square">
            <a:spAutoFit/>
          </a:bodyPr>
          <a:lstStyle/>
          <a:p>
            <a:r>
              <a:rPr sz="1700" b="1" i="0">
                <a:solidFill>
                  <a:srgbClr val="1A1A1A"/>
                </a:solidFill>
                <a:latin typeface="Arial"/>
              </a:rPr>
              <a:t>Date of birth empty</a:t>
            </a:r>
          </a:p>
        </p:txBody>
      </p:sp>
      <p:sp>
        <p:nvSpPr>
          <p:cNvPr id="11" name="TextBox 10"/>
          <p:cNvSpPr txBox="1"/>
          <p:nvPr/>
        </p:nvSpPr>
        <p:spPr>
          <a:xfrm>
            <a:off x="5596128" y="3658997"/>
            <a:ext cx="5833872" cy="426974"/>
          </a:xfrm>
          <a:prstGeom prst="rect">
            <a:avLst/>
          </a:prstGeom>
          <a:noFill/>
        </p:spPr>
        <p:txBody>
          <a:bodyPr wrap="square">
            <a:spAutoFit/>
          </a:bodyPr>
          <a:lstStyle/>
          <a:p>
            <a:r>
              <a:rPr sz="1700" b="0" i="0">
                <a:solidFill>
                  <a:srgbClr val="1A1A1A"/>
                </a:solidFill>
                <a:latin typeface="Arial"/>
              </a:rPr>
              <a:t>Missing date of birth</a:t>
            </a:r>
          </a:p>
        </p:txBody>
      </p:sp>
      <p:sp>
        <p:nvSpPr>
          <p:cNvPr id="12" name="Rectangle 11"/>
          <p:cNvSpPr/>
          <p:nvPr/>
        </p:nvSpPr>
        <p:spPr>
          <a:xfrm>
            <a:off x="658368" y="410425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159123"/>
            <a:ext cx="4828032" cy="426974"/>
          </a:xfrm>
          <a:prstGeom prst="rect">
            <a:avLst/>
          </a:prstGeom>
          <a:noFill/>
        </p:spPr>
        <p:txBody>
          <a:bodyPr wrap="square">
            <a:spAutoFit/>
          </a:bodyPr>
          <a:lstStyle/>
          <a:p>
            <a:r>
              <a:rPr sz="1700" b="1" i="0">
                <a:solidFill>
                  <a:srgbClr val="1A1A1A"/>
                </a:solidFill>
                <a:latin typeface="Arial"/>
              </a:rPr>
              <a:t>Age three, grade six</a:t>
            </a:r>
          </a:p>
        </p:txBody>
      </p:sp>
      <p:sp>
        <p:nvSpPr>
          <p:cNvPr id="14" name="TextBox 13"/>
          <p:cNvSpPr txBox="1"/>
          <p:nvPr/>
        </p:nvSpPr>
        <p:spPr>
          <a:xfrm>
            <a:off x="5596128" y="4159123"/>
            <a:ext cx="5833872" cy="426974"/>
          </a:xfrm>
          <a:prstGeom prst="rect">
            <a:avLst/>
          </a:prstGeom>
          <a:noFill/>
        </p:spPr>
        <p:txBody>
          <a:bodyPr wrap="square">
            <a:spAutoFit/>
          </a:bodyPr>
          <a:lstStyle/>
          <a:p>
            <a:r>
              <a:rPr sz="1700" b="0" i="0">
                <a:solidFill>
                  <a:srgbClr val="1A1A1A"/>
                </a:solidFill>
                <a:latin typeface="Arial"/>
              </a:rPr>
              <a:t>Age outside the range for the grade</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sender is told</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A failed row is kept, with its reason.</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A report goes to the person who sent the file.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share of failed rows, term by term.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walkthrough will show</a:t>
            </a:r>
          </a:p>
        </p:txBody>
      </p:sp>
      <p:sp>
        <p:nvSpPr>
          <p:cNvPr id="4" name="Oval 3"/>
          <p:cNvSpPr/>
          <p:nvPr/>
        </p:nvSpPr>
        <p:spPr>
          <a:xfrm>
            <a:off x="621792" y="166420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600199"/>
            <a:ext cx="10527487" cy="1143000"/>
          </a:xfrm>
          <a:prstGeom prst="rect">
            <a:avLst/>
          </a:prstGeom>
          <a:noFill/>
        </p:spPr>
        <p:txBody>
          <a:bodyPr wrap="square">
            <a:spAutoFit/>
          </a:bodyPr>
          <a:lstStyle/>
          <a:p>
            <a:pPr>
              <a:spcAft>
                <a:spcPts val="300"/>
              </a:spcAft>
            </a:pPr>
            <a:r>
              <a:rPr sz="2200" b="1" i="0">
                <a:solidFill>
                  <a:srgbClr val="1A1A1A"/>
                </a:solidFill>
                <a:latin typeface="Arial"/>
              </a:rPr>
              <a:t>A seeded load with three faulty rows.</a:t>
            </a:r>
          </a:p>
        </p:txBody>
      </p:sp>
      <p:sp>
        <p:nvSpPr>
          <p:cNvPr id="6" name="Rectangle 5"/>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5292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88920"/>
            <a:ext cx="10527487" cy="1143000"/>
          </a:xfrm>
          <a:prstGeom prst="rect">
            <a:avLst/>
          </a:prstGeom>
          <a:noFill/>
        </p:spPr>
        <p:txBody>
          <a:bodyPr wrap="square">
            <a:spAutoFit/>
          </a:bodyPr>
          <a:lstStyle/>
          <a:p>
            <a:pPr>
              <a:spcAft>
                <a:spcPts val="300"/>
              </a:spcAft>
            </a:pPr>
            <a:r>
              <a:rPr sz="2200" b="1" i="0">
                <a:solidFill>
                  <a:srgbClr val="1A1A1A"/>
                </a:solidFill>
                <a:latin typeface="Arial"/>
              </a:rPr>
              <a:t>Each lands among the failed rows, with its reason.</a:t>
            </a:r>
          </a:p>
        </p:txBody>
      </p:sp>
      <p:sp>
        <p:nvSpPr>
          <p:cNvPr id="9" name="Rectangle 8"/>
          <p:cNvSpPr/>
          <p:nvPr/>
        </p:nvSpPr>
        <p:spPr>
          <a:xfrm>
            <a:off x="621792" y="3936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041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77639"/>
            <a:ext cx="10527487" cy="1143000"/>
          </a:xfrm>
          <a:prstGeom prst="rect">
            <a:avLst/>
          </a:prstGeom>
          <a:noFill/>
        </p:spPr>
        <p:txBody>
          <a:bodyPr wrap="square">
            <a:spAutoFit/>
          </a:bodyPr>
          <a:lstStyle/>
          <a:p>
            <a:pPr>
              <a:spcAft>
                <a:spcPts val="300"/>
              </a:spcAft>
            </a:pPr>
            <a:r>
              <a:rPr sz="2200" b="1" i="0">
                <a:solidFill>
                  <a:srgbClr val="1A1A1A"/>
                </a:solidFill>
                <a:latin typeface="Arial"/>
              </a:rPr>
              <a:t>No faulty row reaches staging.</a:t>
            </a:r>
          </a:p>
        </p:txBody>
      </p:sp>
      <p:sp>
        <p:nvSpPr>
          <p:cNvPr id="12" name="TextBox 11"/>
          <p:cNvSpPr txBox="1"/>
          <p:nvPr/>
        </p:nvSpPr>
        <p:spPr>
          <a:xfrm>
            <a:off x="658368" y="5239512"/>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 row is checked at the bronze tier, and a row that fails is set aside with its reason, so that the people who sent the data know what to correct.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Propose the checks and the failure messages.</a:t>
            </a:r>
          </a:p>
          <a:p>
            <a:pPr algn="l">
              <a:spcAft>
                <a:spcPts val="400"/>
              </a:spcAft>
            </a:pPr>
            <a:r>
              <a:rPr sz="1800" b="0" i="0">
                <a:solidFill>
                  <a:srgbClr val="595959"/>
                </a:solidFill>
                <a:latin typeface="Arial"/>
              </a:rPr>
              <a:t>The prompt in the companion material gives you a table of checks with one test row for each check.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UNICEF Giga, giga-dagster, docs/dataflow.md (the bronze tier)</a:t>
            </a:r>
          </a:p>
          <a:p>
            <a:pPr>
              <a:spcAft>
                <a:spcPts val="1000"/>
              </a:spcAft>
            </a:pPr>
            <a:r>
              <a:rPr sz="1800" b="0" i="0">
                <a:solidFill>
                  <a:srgbClr val="1A1A1A"/>
                </a:solidFill>
                <a:latin typeface="Arial"/>
              </a:rPr>
              <a:t>•  GovStack Digital Registries specification, version 3.0-alpha (section 4.1; DRS-17)</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Quality checks that stop a bad row</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 published pattern, followed in the open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Giga's School Master Data shows the pattern at work for schools, and you may follow it for learners if you say what you took and changed and copy no unlicensed code.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vendor tells you their data platform is unique.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donor asks whether your register follows any known practice.</a:t>
            </a:r>
          </a:p>
          <a:p>
            <a:pPr>
              <a:spcAft>
                <a:spcPts val="800"/>
              </a:spcAft>
            </a:pPr>
            <a:r>
              <a:rPr sz="1700" b="0" i="0">
                <a:solidFill>
                  <a:srgbClr val="595959"/>
                </a:solidFill>
                <a:latin typeface="Arial"/>
              </a:rPr>
              <a:t>Both questions have the same good answer: a published pattern, followed in the open, with every change you made written down.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Giga publishes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aim</a:t>
            </a:r>
          </a:p>
          <a:p>
            <a:pPr>
              <a:spcAft>
                <a:spcPts val="300"/>
              </a:spcAft>
            </a:pPr>
            <a:r>
              <a:rPr sz="1800" b="0" i="0">
                <a:solidFill>
                  <a:srgbClr val="595959"/>
                </a:solidFill>
                <a:latin typeface="Arial"/>
              </a:rPr>
              <a:t>One source of truth, the School Master Data.</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Five tiers</a:t>
            </a:r>
          </a:p>
          <a:p>
            <a:pPr>
              <a:spcAft>
                <a:spcPts val="300"/>
              </a:spcAft>
            </a:pPr>
            <a:r>
              <a:rPr sz="1800" b="0" i="0">
                <a:solidFill>
                  <a:srgbClr val="595959"/>
                </a:solidFill>
                <a:latin typeface="Arial"/>
              </a:rPr>
              <a:t>Raw, bronze, staging, silver, gold.</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Gold split into a master table and a reference table.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learner register takes, and what it changes</a:t>
            </a:r>
          </a:p>
        </p:txBody>
      </p:sp>
      <p:sp>
        <p:nvSpPr>
          <p:cNvPr id="4" name="Rounded Rectangle 3"/>
          <p:cNvSpPr/>
          <p:nvPr/>
        </p:nvSpPr>
        <p:spPr>
          <a:xfrm>
            <a:off x="658368" y="2217420"/>
            <a:ext cx="5394960" cy="27432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2363724"/>
            <a:ext cx="4992624" cy="2468880"/>
          </a:xfrm>
          <a:prstGeom prst="rect">
            <a:avLst/>
          </a:prstGeom>
          <a:noFill/>
        </p:spPr>
        <p:txBody>
          <a:bodyPr wrap="square">
            <a:spAutoFit/>
          </a:bodyPr>
          <a:lstStyle/>
          <a:p>
            <a:pPr>
              <a:spcAft>
                <a:spcPts val="700"/>
              </a:spcAft>
            </a:pPr>
            <a:r>
              <a:rPr sz="2100" b="1" i="0">
                <a:solidFill>
                  <a:srgbClr val="006E96"/>
                </a:solidFill>
                <a:latin typeface="Arial"/>
              </a:rPr>
              <a:t>Takes</a:t>
            </a:r>
          </a:p>
          <a:p>
            <a:pPr>
              <a:spcAft>
                <a:spcPts val="700"/>
              </a:spcAft>
            </a:pPr>
            <a:r>
              <a:rPr sz="1800" b="0" i="0">
                <a:solidFill>
                  <a:srgbClr val="1A1A1A"/>
                </a:solidFill>
                <a:latin typeface="Arial"/>
              </a:rPr>
              <a:t>The five tiers</a:t>
            </a:r>
          </a:p>
          <a:p>
            <a:pPr>
              <a:spcAft>
                <a:spcPts val="700"/>
              </a:spcAft>
            </a:pPr>
            <a:r>
              <a:rPr sz="1800" b="0" i="0">
                <a:solidFill>
                  <a:srgbClr val="1A1A1A"/>
                </a:solidFill>
                <a:latin typeface="Arial"/>
              </a:rPr>
              <a:t>The checks at bronze</a:t>
            </a:r>
          </a:p>
          <a:p>
            <a:pPr>
              <a:spcAft>
                <a:spcPts val="700"/>
              </a:spcAft>
            </a:pPr>
            <a:r>
              <a:rPr sz="1800" b="0" i="0">
                <a:solidFill>
                  <a:srgbClr val="1A1A1A"/>
                </a:solidFill>
                <a:latin typeface="Arial"/>
              </a:rPr>
              <a:t>The review before silver</a:t>
            </a:r>
          </a:p>
          <a:p>
            <a:pPr>
              <a:spcAft>
                <a:spcPts val="700"/>
              </a:spcAft>
            </a:pPr>
            <a:r>
              <a:rPr sz="1800" b="0" i="0">
                <a:solidFill>
                  <a:srgbClr val="1A1A1A"/>
                </a:solidFill>
                <a:latin typeface="Arial"/>
              </a:rPr>
              <a:t>The split of gold</a:t>
            </a:r>
          </a:p>
        </p:txBody>
      </p:sp>
      <p:sp>
        <p:nvSpPr>
          <p:cNvPr id="6" name="Rounded Rectangle 5"/>
          <p:cNvSpPr/>
          <p:nvPr/>
        </p:nvSpPr>
        <p:spPr>
          <a:xfrm>
            <a:off x="6263640" y="2217420"/>
            <a:ext cx="5394960" cy="274320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2363724"/>
            <a:ext cx="4992624" cy="2468880"/>
          </a:xfrm>
          <a:prstGeom prst="rect">
            <a:avLst/>
          </a:prstGeom>
          <a:noFill/>
        </p:spPr>
        <p:txBody>
          <a:bodyPr wrap="square">
            <a:spAutoFit/>
          </a:bodyPr>
          <a:lstStyle/>
          <a:p>
            <a:pPr>
              <a:spcAft>
                <a:spcPts val="700"/>
              </a:spcAft>
            </a:pPr>
            <a:r>
              <a:rPr sz="2100" b="1" i="0">
                <a:solidFill>
                  <a:srgbClr val="006E96"/>
                </a:solidFill>
                <a:latin typeface="Arial"/>
              </a:rPr>
              <a:t>Changes</a:t>
            </a:r>
          </a:p>
          <a:p>
            <a:pPr>
              <a:spcAft>
                <a:spcPts val="700"/>
              </a:spcAft>
            </a:pPr>
            <a:r>
              <a:rPr sz="1800" b="0" i="0">
                <a:solidFill>
                  <a:srgbClr val="1A1A1A"/>
                </a:solidFill>
                <a:latin typeface="Arial"/>
              </a:rPr>
              <a:t>Learners in place of schools</a:t>
            </a:r>
          </a:p>
          <a:p>
            <a:pPr>
              <a:spcAft>
                <a:spcPts val="700"/>
              </a:spcAft>
            </a:pPr>
            <a:r>
              <a:rPr sz="1800" b="0" i="0">
                <a:solidFill>
                  <a:srgbClr val="1A1A1A"/>
                </a:solidFill>
                <a:latin typeface="Arial"/>
              </a:rPr>
              <a:t>A register as the destination</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Follow the pattern, not the code</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No licence</a:t>
            </a:r>
          </a:p>
          <a:p>
            <a:pPr>
              <a:spcAft>
                <a:spcPts val="300"/>
              </a:spcAft>
            </a:pPr>
            <a:r>
              <a:rPr sz="1900" b="0" i="0">
                <a:solidFill>
                  <a:srgbClr val="595959"/>
                </a:solidFill>
                <a:latin typeface="Arial"/>
              </a:rPr>
              <a:t>No permission to copy.</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Cite the pattern. Write your own code.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this helps you</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Easier to defend than a pattern a vendor invented.</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next vendor can follow the same pattern.</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Written choices outlive the team and the project.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Giga's School Master Data shows the pattern at work for schools, and you may follow it for learners if you say what you took and changed and copy no unlicensed code.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a repository's documentation and licence before you follow it.</a:t>
            </a:r>
          </a:p>
          <a:p>
            <a:pPr algn="l">
              <a:spcAft>
                <a:spcPts val="400"/>
              </a:spcAft>
            </a:pPr>
            <a:r>
              <a:rPr sz="1800" b="0" i="0">
                <a:solidFill>
                  <a:srgbClr val="595959"/>
                </a:solidFill>
                <a:latin typeface="Arial"/>
              </a:rPr>
              <a:t>The prompt in the companion material gives you a reuse note in three parts.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UNICEF Giga, giga-dagster, docs/dataflow.md and docs/README.md, and the repository's licence field</a:t>
            </a:r>
          </a:p>
          <a:p>
            <a:pPr>
              <a:spcAft>
                <a:spcPts val="1000"/>
              </a:spcAft>
            </a:pPr>
            <a:r>
              <a:rPr sz="1800" b="0" i="0">
                <a:solidFill>
                  <a:srgbClr val="1A1A1A"/>
                </a:solidFill>
                <a:latin typeface="Arial"/>
              </a:rPr>
              <a:t>•  Databricks, 'What is Medallion Architecture?'</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A published pattern, followed in the open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Account for every load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After every load, show that the rows received equal the rows passed plus the rows set aside, and that the rows approved equal the records the register added or changed.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After a load, a director asks a simple question: did every learner the schools sent reach the register?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Most teams answer with a feeling.</a:t>
            </a:r>
          </a:p>
          <a:p>
            <a:pPr>
              <a:spcAft>
                <a:spcPts val="800"/>
              </a:spcAft>
            </a:pPr>
            <a:r>
              <a:rPr sz="1700" b="0" i="0">
                <a:solidFill>
                  <a:srgbClr val="595959"/>
                </a:solidFill>
                <a:latin typeface="Arial"/>
              </a:rPr>
              <a:t>You can answer with two lines of arithmetic, and show your working.</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lines</a:t>
            </a:r>
          </a:p>
        </p:txBody>
      </p:sp>
      <p:sp>
        <p:nvSpPr>
          <p:cNvPr id="4" name="TextBox 3"/>
          <p:cNvSpPr txBox="1"/>
          <p:nvPr/>
        </p:nvSpPr>
        <p:spPr>
          <a:xfrm>
            <a:off x="658368" y="2400300"/>
            <a:ext cx="10984687" cy="1143000"/>
          </a:xfrm>
          <a:prstGeom prst="rect">
            <a:avLst/>
          </a:prstGeom>
          <a:noFill/>
        </p:spPr>
        <p:txBody>
          <a:bodyPr wrap="square">
            <a:spAutoFit/>
          </a:bodyPr>
          <a:lstStyle/>
          <a:p>
            <a:pPr>
              <a:spcAft>
                <a:spcPts val="300"/>
              </a:spcAft>
            </a:pPr>
            <a:r>
              <a:rPr sz="3000" b="1" i="0">
                <a:solidFill>
                  <a:srgbClr val="1A1A1A"/>
                </a:solidFill>
                <a:latin typeface="Arial"/>
              </a:rPr>
              <a:t>Rows received = rows passed + rows set aside</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143000"/>
          </a:xfrm>
          <a:prstGeom prst="rect">
            <a:avLst/>
          </a:prstGeom>
          <a:noFill/>
        </p:spPr>
        <p:txBody>
          <a:bodyPr wrap="square">
            <a:spAutoFit/>
          </a:bodyPr>
          <a:lstStyle/>
          <a:p>
            <a:pPr>
              <a:spcAft>
                <a:spcPts val="300"/>
              </a:spcAft>
            </a:pPr>
            <a:r>
              <a:rPr sz="3000" b="1" i="0">
                <a:solidFill>
                  <a:srgbClr val="1A1A1A"/>
                </a:solidFill>
                <a:latin typeface="Arial"/>
              </a:rPr>
              <a:t>Rows approved = records added + records changed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numbers come from</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The change log</a:t>
            </a:r>
          </a:p>
          <a:p>
            <a:pPr>
              <a:spcAft>
                <a:spcPts val="300"/>
              </a:spcAft>
            </a:pPr>
            <a:r>
              <a:rPr sz="1700" b="0" i="0">
                <a:solidFill>
                  <a:srgbClr val="595959"/>
                </a:solidFill>
                <a:latin typeface="Arial"/>
              </a:rPr>
              <a:t>Every change, with the value before and after.</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Import, and the update of entries.</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Statistical queries</a:t>
            </a:r>
          </a:p>
          <a:p>
            <a:pPr>
              <a:spcAft>
                <a:spcPts val="300"/>
              </a:spcAft>
            </a:pPr>
            <a:r>
              <a:rPr sz="1700" b="0" i="0">
                <a:solidFill>
                  <a:srgbClr val="595959"/>
                </a:solidFill>
                <a:latin typeface="Arial"/>
              </a:rPr>
              <a:t>How many records.</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An operation that says whether a record exists.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honest note, and a hard rule</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No published source describes this check. It is this course's own practice.</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A line that does not balance stops the next load.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walkthrough will show</a:t>
            </a:r>
          </a:p>
        </p:txBody>
      </p:sp>
      <p:sp>
        <p:nvSpPr>
          <p:cNvPr id="4" name="Oval 3"/>
          <p:cNvSpPr/>
          <p:nvPr/>
        </p:nvSpPr>
        <p:spPr>
          <a:xfrm>
            <a:off x="621792" y="166420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600199"/>
            <a:ext cx="10527487" cy="1143000"/>
          </a:xfrm>
          <a:prstGeom prst="rect">
            <a:avLst/>
          </a:prstGeom>
          <a:noFill/>
        </p:spPr>
        <p:txBody>
          <a:bodyPr wrap="square">
            <a:spAutoFit/>
          </a:bodyPr>
          <a:lstStyle/>
          <a:p>
            <a:pPr>
              <a:spcAft>
                <a:spcPts val="300"/>
              </a:spcAft>
            </a:pPr>
            <a:r>
              <a:rPr sz="2200" b="1" i="0">
                <a:solidFill>
                  <a:srgbClr val="1A1A1A"/>
                </a:solidFill>
                <a:latin typeface="Arial"/>
              </a:rPr>
              <a:t>One load on one sheet</a:t>
            </a:r>
          </a:p>
          <a:p>
            <a:pPr>
              <a:spcAft>
                <a:spcPts val="300"/>
              </a:spcAft>
            </a:pPr>
            <a:r>
              <a:rPr sz="1800" b="0" i="0">
                <a:solidFill>
                  <a:srgbClr val="595959"/>
                </a:solidFill>
                <a:latin typeface="Arial"/>
              </a:rPr>
              <a:t>Received, passed, set aside, approved, added, changed.</a:t>
            </a:r>
          </a:p>
        </p:txBody>
      </p:sp>
      <p:sp>
        <p:nvSpPr>
          <p:cNvPr id="6" name="Rectangle 5"/>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5292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88920"/>
            <a:ext cx="10527487" cy="1143000"/>
          </a:xfrm>
          <a:prstGeom prst="rect">
            <a:avLst/>
          </a:prstGeom>
          <a:noFill/>
        </p:spPr>
        <p:txBody>
          <a:bodyPr wrap="square">
            <a:spAutoFit/>
          </a:bodyPr>
          <a:lstStyle/>
          <a:p>
            <a:pPr>
              <a:spcAft>
                <a:spcPts val="300"/>
              </a:spcAft>
            </a:pPr>
            <a:r>
              <a:rPr sz="2200" b="1" i="0">
                <a:solidFill>
                  <a:srgbClr val="1A1A1A"/>
                </a:solidFill>
                <a:latin typeface="Arial"/>
              </a:rPr>
              <a:t>The record count before and after.</a:t>
            </a:r>
          </a:p>
        </p:txBody>
      </p:sp>
      <p:sp>
        <p:nvSpPr>
          <p:cNvPr id="9" name="Rectangle 8"/>
          <p:cNvSpPr/>
          <p:nvPr/>
        </p:nvSpPr>
        <p:spPr>
          <a:xfrm>
            <a:off x="621792" y="3936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041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77639"/>
            <a:ext cx="10527487" cy="1143000"/>
          </a:xfrm>
          <a:prstGeom prst="rect">
            <a:avLst/>
          </a:prstGeom>
          <a:noFill/>
        </p:spPr>
        <p:txBody>
          <a:bodyPr wrap="square">
            <a:spAutoFit/>
          </a:bodyPr>
          <a:lstStyle/>
          <a:p>
            <a:pPr>
              <a:spcAft>
                <a:spcPts val="300"/>
              </a:spcAft>
            </a:pPr>
            <a:r>
              <a:rPr sz="2200" b="1" i="0">
                <a:solidFill>
                  <a:srgbClr val="1A1A1A"/>
                </a:solidFill>
                <a:latin typeface="Arial"/>
              </a:rPr>
              <a:t>A sample of records confirmed to exist.</a:t>
            </a:r>
          </a:p>
        </p:txBody>
      </p:sp>
      <p:sp>
        <p:nvSpPr>
          <p:cNvPr id="12" name="TextBox 11"/>
          <p:cNvSpPr txBox="1"/>
          <p:nvPr/>
        </p:nvSpPr>
        <p:spPr>
          <a:xfrm>
            <a:off x="658368" y="5239512"/>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After every load, show that the rows received equal the rows passed plus the rows set aside, and that the rows approved equal the records the register added or changed.</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reconciliation note of a load.</a:t>
            </a:r>
          </a:p>
          <a:p>
            <a:pPr algn="l">
              <a:spcAft>
                <a:spcPts val="400"/>
              </a:spcAft>
            </a:pPr>
            <a:r>
              <a:rPr sz="1800" b="0" i="0">
                <a:solidFill>
                  <a:srgbClr val="595959"/>
                </a:solidFill>
                <a:latin typeface="Arial"/>
              </a:rPr>
              <a:t>The prompt in the companion material gives you a reconciliation note with both lines computed.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Digital Registries specification, version 3.0-alpha (DRS-7, DRS-21, DRS-24, DRS-26; sections 8.1 and 8.2). The reconciliation is this course's own practice</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Account for every load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register as a service others can use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Other services reach the register only through its published interface, each seeing no more than its role allows, and every learner or parent can see who read their record.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Once the register holds good records, every office will want them: the scholarship office, the school feeding programme, the examination authority.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If each gets a copy, you are back to many lists.</a:t>
            </a:r>
          </a:p>
          <a:p>
            <a:pPr>
              <a:spcAft>
                <a:spcPts val="800"/>
              </a:spcAft>
            </a:pPr>
            <a:r>
              <a:rPr sz="1700" b="0" i="0">
                <a:solidFill>
                  <a:srgbClr val="595959"/>
                </a:solidFill>
                <a:latin typeface="Arial"/>
              </a:rPr>
              <a:t>If each calls the register, you keep one.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Only through the published interface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No one reaches the register directly.</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Services generated for each register, described with OpenAPI, listed with examples.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Not yet published</a:t>
            </a:r>
          </a:p>
          <a:p>
            <a:pPr>
              <a:spcAft>
                <a:spcPts val="300"/>
              </a:spcAft>
            </a:pPr>
            <a:r>
              <a:rPr sz="1800" b="0" i="0">
                <a:solidFill>
                  <a:srgbClr val="595959"/>
                </a:solidFill>
                <a:latin typeface="Arial"/>
              </a:rPr>
              <a:t>Bulk operations, archive, event subscription.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Through the data exchange layer</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Each call passes through the data exchange layer, Linkup.</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The provider of a service decides who may call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 more than the role allows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registration service</a:t>
            </a:r>
          </a:p>
          <a:p>
            <a:pPr>
              <a:spcAft>
                <a:spcPts val="300"/>
              </a:spcAft>
            </a:pPr>
            <a:r>
              <a:rPr sz="1800" b="0" i="0">
                <a:solidFill>
                  <a:srgbClr val="595959"/>
                </a:solidFill>
                <a:latin typeface="Arial"/>
              </a:rPr>
              <a:t>Create and update.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other service</a:t>
            </a:r>
          </a:p>
          <a:p>
            <a:pPr>
              <a:spcAft>
                <a:spcPts val="300"/>
              </a:spcAft>
            </a:pPr>
            <a:r>
              <a:rPr sz="1800" b="0" i="0">
                <a:solidFill>
                  <a:srgbClr val="595959"/>
                </a:solidFill>
                <a:latin typeface="Arial"/>
              </a:rPr>
              <a:t>Read only, and only the fields it needs.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A parent</a:t>
            </a:r>
          </a:p>
          <a:p>
            <a:pPr>
              <a:spcAft>
                <a:spcPts val="300"/>
              </a:spcAft>
            </a:pPr>
            <a:r>
              <a:rPr sz="1800" b="0" i="0">
                <a:solidFill>
                  <a:srgbClr val="595959"/>
                </a:solidFill>
                <a:latin typeface="Arial"/>
              </a:rPr>
              <a:t>Delegated access to their child's record.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read my child's record?</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read of personal data is logged.</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data owner may see who read their data.</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Deleting a record keeps the logical record.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walkthrough will show</a:t>
            </a:r>
          </a:p>
        </p:txBody>
      </p:sp>
      <p:sp>
        <p:nvSpPr>
          <p:cNvPr id="4" name="Oval 3"/>
          <p:cNvSpPr/>
          <p:nvPr/>
        </p:nvSpPr>
        <p:spPr>
          <a:xfrm>
            <a:off x="621792" y="166420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600199"/>
            <a:ext cx="10527487" cy="1143000"/>
          </a:xfrm>
          <a:prstGeom prst="rect">
            <a:avLst/>
          </a:prstGeom>
          <a:noFill/>
        </p:spPr>
        <p:txBody>
          <a:bodyPr wrap="square">
            <a:spAutoFit/>
          </a:bodyPr>
          <a:lstStyle/>
          <a:p>
            <a:pPr>
              <a:spcAft>
                <a:spcPts val="300"/>
              </a:spcAft>
            </a:pPr>
            <a:r>
              <a:rPr sz="2200" b="1" i="0">
                <a:solidFill>
                  <a:srgbClr val="1A1A1A"/>
                </a:solidFill>
                <a:latin typeface="Arial"/>
              </a:rPr>
              <a:t>An update from a read-only service</a:t>
            </a:r>
          </a:p>
          <a:p>
            <a:pPr>
              <a:spcAft>
                <a:spcPts val="300"/>
              </a:spcAft>
            </a:pPr>
            <a:r>
              <a:rPr sz="1800" b="0" i="0">
                <a:solidFill>
                  <a:srgbClr val="595959"/>
                </a:solidFill>
                <a:latin typeface="Arial"/>
              </a:rPr>
              <a:t>Refused.</a:t>
            </a:r>
          </a:p>
        </p:txBody>
      </p:sp>
      <p:sp>
        <p:nvSpPr>
          <p:cNvPr id="6" name="Rectangle 5"/>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5292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88920"/>
            <a:ext cx="10527487" cy="1143000"/>
          </a:xfrm>
          <a:prstGeom prst="rect">
            <a:avLst/>
          </a:prstGeom>
          <a:noFill/>
        </p:spPr>
        <p:txBody>
          <a:bodyPr wrap="square">
            <a:spAutoFit/>
          </a:bodyPr>
          <a:lstStyle/>
          <a:p>
            <a:pPr>
              <a:spcAft>
                <a:spcPts val="300"/>
              </a:spcAft>
            </a:pPr>
            <a:r>
              <a:rPr sz="2200" b="1" i="0">
                <a:solidFill>
                  <a:srgbClr val="1A1A1A"/>
                </a:solidFill>
                <a:latin typeface="Arial"/>
              </a:rPr>
              <a:t>The same update from the registration service: accepted.</a:t>
            </a:r>
          </a:p>
        </p:txBody>
      </p:sp>
      <p:sp>
        <p:nvSpPr>
          <p:cNvPr id="9" name="Rectangle 8"/>
          <p:cNvSpPr/>
          <p:nvPr/>
        </p:nvSpPr>
        <p:spPr>
          <a:xfrm>
            <a:off x="621792" y="3936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0416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77639"/>
            <a:ext cx="10527487" cy="1143000"/>
          </a:xfrm>
          <a:prstGeom prst="rect">
            <a:avLst/>
          </a:prstGeom>
          <a:noFill/>
        </p:spPr>
        <p:txBody>
          <a:bodyPr wrap="square">
            <a:spAutoFit/>
          </a:bodyPr>
          <a:lstStyle/>
          <a:p>
            <a:pPr>
              <a:spcAft>
                <a:spcPts val="300"/>
              </a:spcAft>
            </a:pPr>
            <a:r>
              <a:rPr sz="2200" b="1" i="0">
                <a:solidFill>
                  <a:srgbClr val="1A1A1A"/>
                </a:solidFill>
                <a:latin typeface="Arial"/>
              </a:rPr>
              <a:t>The parent's report</a:t>
            </a:r>
          </a:p>
          <a:p>
            <a:pPr>
              <a:spcAft>
                <a:spcPts val="300"/>
              </a:spcAft>
            </a:pPr>
            <a:r>
              <a:rPr sz="1800" b="0" i="0">
                <a:solidFill>
                  <a:srgbClr val="595959"/>
                </a:solidFill>
                <a:latin typeface="Arial"/>
              </a:rPr>
              <a:t>One read, the reader, the time.</a:t>
            </a:r>
          </a:p>
        </p:txBody>
      </p:sp>
      <p:sp>
        <p:nvSpPr>
          <p:cNvPr id="12" name="TextBox 11"/>
          <p:cNvSpPr txBox="1"/>
          <p:nvPr/>
        </p:nvSpPr>
        <p:spPr>
          <a:xfrm>
            <a:off x="658368" y="5239512"/>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Other services reach the register only through its published interface, each seeing no more than its role allows, and every learner or parent can see who read their record.</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register's table of access rules.</a:t>
            </a:r>
          </a:p>
          <a:p>
            <a:pPr algn="l">
              <a:spcAft>
                <a:spcPts val="400"/>
              </a:spcAft>
            </a:pPr>
            <a:r>
              <a:rPr sz="1800" b="0" i="0">
                <a:solidFill>
                  <a:srgbClr val="595959"/>
                </a:solidFill>
                <a:latin typeface="Arial"/>
              </a:rPr>
              <a:t>The prompt in the companion material gives you an access-rules table, field by field, with test cases.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Digital Registries specification, version 3.0-alpha (sections 4.2, 5.2, 8 and 9.2.1; DRS-5, DRS-6, DRS-8, DRS-21, DRS-33, DRS-34, DRS-35, DRS-37)</a:t>
            </a:r>
          </a:p>
          <a:p>
            <a:pPr>
              <a:spcAft>
                <a:spcPts val="1000"/>
              </a:spcAft>
            </a:pPr>
            <a:r>
              <a:rPr sz="1800" b="0" i="0">
                <a:solidFill>
                  <a:srgbClr val="1A1A1A"/>
                </a:solidFill>
                <a:latin typeface="Arial"/>
              </a:rPr>
              <a:t>•  GovStack Information Mediator specification, version 1.1.1 (sections 6.2 and 6.3)</a:t>
            </a:r>
          </a:p>
          <a:p>
            <a:pPr>
              <a:spcAft>
                <a:spcPts val="1000"/>
              </a:spcAft>
            </a:pPr>
            <a:r>
              <a:rPr sz="1800" b="0" i="0">
                <a:solidFill>
                  <a:srgbClr val="1A1A1A"/>
                </a:solidFill>
                <a:latin typeface="Arial"/>
              </a:rPr>
              <a:t>•  OpenAPI Specification 3.0.3</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The register as a service others can use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