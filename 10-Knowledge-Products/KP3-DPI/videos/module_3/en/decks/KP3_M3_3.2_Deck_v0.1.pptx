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term, schools send lists of learners. Some are spreadsheets, some are exports, some were typed from paper. Column names differ. Dates are written three ways. Write such a file straight into the register, and the register becomes one more list nobody trusts.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UNICEF Giga publishes a flow for school data that solves this. It has five tiers. Raw is the file as it arrived, with wrong column names and wrong data types. At bronze, the columns are mapped, the quality checks run, and the rows are split into two tables: those that passed and those that failed. At staging, a person with the right permission approves or rejects each passed row. Approved rows are merged into silver. Silver is merged into gold, which is split into a master table and a reference table.</a:t>
            </a:r>
          </a:p>
          <a:p/>
          <a:p>
            <a:r>
              <a:t>Production cue: A text list, top to bottom. The tier names are Giga's own: raw, bronze, staging, silver, gold.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things in this flow are easy to get wrong. First, raw is a tier of its own, and the checks run at bronze. The file is kept as it came, so you can always show what a school sent. Second, a person approves the rows before they reach silver. That approval is an act of responsibility. A program can prepare it, but it cannot replace it.</a:t>
            </a:r>
          </a:p>
          <a:p/>
          <a:p>
            <a:r>
              <a:t>Production cue: The two errors the module corrects. Text 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Giga says its tiers were inspired by a common data pattern, which Databricks describes as layers that improve the structure and quality of data step by step. The GovStack Digital Registries specification does not describe tiers. It does let you keep several linked databases in one installation, and run scheduled, rule-based automation that moves records between them. So the tiers can be held as linked databases beside the register, or in a data platform in front of it. Applying Giga's school flow to learners is this course's own adaptation.</a:t>
            </a:r>
          </a:p>
          <a:p/>
          <a:p>
            <a:r>
              <a:t>Production cue: The adaptation is named as the course's 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Here is what a good run of this walkthrough shows. A seeded file of Progressa learners, with some faulty rows in it, enters raw. At bronze, the faulty rows go to the failed table. At staging, an officer of the learner registry approves the passed rows. The count of rows is read at every tier. A good run passes when only approved rows reach silver and gold holds the master records.</a:t>
            </a:r>
          </a:p>
          <a:p/>
          <a:p>
            <a:r>
              <a:t>Production cue: Replaced by the recorded segment once check RG9 passes.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Raw, bronze, staging, silver, gold: checks at bronze, a person's approval before silver, and only then a record the register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Five tiers between a messy file and a trusted record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Data reaches the register through five tiers, raw, bronze, staging, silver and gold, with quality checks at bronze and a person's approval before silver.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term, schools send lists of learners.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Some are spreadsheets, some are exports, some were typed from paper.</a:t>
            </a:r>
          </a:p>
          <a:p>
            <a:pPr>
              <a:spcAft>
                <a:spcPts val="800"/>
              </a:spcAft>
            </a:pPr>
            <a:r>
              <a:rPr sz="1700" b="0" i="0">
                <a:solidFill>
                  <a:srgbClr val="595959"/>
                </a:solidFill>
                <a:latin typeface="Arial"/>
              </a:rPr>
              <a:t>Column names differ. Dates are written three ways.</a:t>
            </a:r>
          </a:p>
          <a:p>
            <a:pPr>
              <a:spcAft>
                <a:spcPts val="800"/>
              </a:spcAft>
            </a:pPr>
            <a:r>
              <a:rPr sz="1700" b="0" i="0">
                <a:solidFill>
                  <a:srgbClr val="595959"/>
                </a:solidFill>
                <a:latin typeface="Arial"/>
              </a:rPr>
              <a:t>Write such a file straight into the register, and the register becomes one more list nobody trusts.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tiers</a:t>
            </a:r>
          </a:p>
        </p:txBody>
      </p:sp>
      <p:cxnSp>
        <p:nvCxnSpPr>
          <p:cNvPr id="4" name="Connector 3"/>
          <p:cNvCxnSpPr/>
          <p:nvPr/>
        </p:nvCxnSpPr>
        <p:spPr>
          <a:xfrm>
            <a:off x="2563977"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17059"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70140"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3222"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Raw</a:t>
            </a:r>
          </a:p>
          <a:p>
            <a:pPr algn="l">
              <a:spcAft>
                <a:spcPts val="300"/>
              </a:spcAft>
            </a:pPr>
            <a:r>
              <a:rPr sz="1400" b="0" i="0">
                <a:solidFill>
                  <a:srgbClr val="1A1A1A"/>
                </a:solidFill>
                <a:latin typeface="Arial"/>
              </a:rPr>
              <a:t>The file as it arrived.</a:t>
            </a:r>
          </a:p>
        </p:txBody>
      </p:sp>
      <p:sp>
        <p:nvSpPr>
          <p:cNvPr id="9" name="Rounded Rectangle 8"/>
          <p:cNvSpPr/>
          <p:nvPr/>
        </p:nvSpPr>
        <p:spPr>
          <a:xfrm>
            <a:off x="2911449"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Bronze</a:t>
            </a:r>
          </a:p>
          <a:p>
            <a:pPr algn="l">
              <a:spcAft>
                <a:spcPts val="300"/>
              </a:spcAft>
            </a:pPr>
            <a:r>
              <a:rPr sz="1400" b="0" i="0">
                <a:solidFill>
                  <a:srgbClr val="1A1A1A"/>
                </a:solidFill>
                <a:latin typeface="Arial"/>
              </a:rPr>
              <a:t>Columns mapped; quality checks run; rows split into passed and failed.</a:t>
            </a:r>
          </a:p>
        </p:txBody>
      </p:sp>
      <p:sp>
        <p:nvSpPr>
          <p:cNvPr id="10" name="Rounded Rectangle 9"/>
          <p:cNvSpPr/>
          <p:nvPr/>
        </p:nvSpPr>
        <p:spPr>
          <a:xfrm>
            <a:off x="5164531" y="2446020"/>
            <a:ext cx="1869033"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Staging</a:t>
            </a:r>
          </a:p>
          <a:p>
            <a:pPr algn="l">
              <a:spcAft>
                <a:spcPts val="300"/>
              </a:spcAft>
            </a:pPr>
            <a:r>
              <a:rPr sz="1400" b="0" i="0">
                <a:solidFill>
                  <a:srgbClr val="FFFFFF"/>
                </a:solidFill>
                <a:latin typeface="Arial"/>
              </a:rPr>
              <a:t>A person approves or rejects each passed row.</a:t>
            </a:r>
          </a:p>
        </p:txBody>
      </p:sp>
      <p:sp>
        <p:nvSpPr>
          <p:cNvPr id="11" name="Rounded Rectangle 10"/>
          <p:cNvSpPr/>
          <p:nvPr/>
        </p:nvSpPr>
        <p:spPr>
          <a:xfrm>
            <a:off x="7417612"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Silver</a:t>
            </a:r>
          </a:p>
          <a:p>
            <a:pPr algn="l">
              <a:spcAft>
                <a:spcPts val="300"/>
              </a:spcAft>
            </a:pPr>
            <a:r>
              <a:rPr sz="1400" b="0" i="0">
                <a:solidFill>
                  <a:srgbClr val="1A1A1A"/>
                </a:solidFill>
                <a:latin typeface="Arial"/>
              </a:rPr>
              <a:t>Approved rows merged.</a:t>
            </a:r>
          </a:p>
        </p:txBody>
      </p:sp>
      <p:sp>
        <p:nvSpPr>
          <p:cNvPr id="12" name="Rounded Rectangle 11"/>
          <p:cNvSpPr/>
          <p:nvPr/>
        </p:nvSpPr>
        <p:spPr>
          <a:xfrm>
            <a:off x="9670694"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Gold</a:t>
            </a:r>
          </a:p>
          <a:p>
            <a:pPr algn="l">
              <a:spcAft>
                <a:spcPts val="300"/>
              </a:spcAft>
            </a:pPr>
            <a:r>
              <a:rPr sz="1400" b="0" i="0">
                <a:solidFill>
                  <a:srgbClr val="1A1A1A"/>
                </a:solidFill>
                <a:latin typeface="Arial"/>
              </a:rPr>
              <a:t>Merged, then split into a master table and a reference table.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to get right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Raw is a tier of its own. The checks run at bronze.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 person approves before silver. No program replaces that act.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tiers live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common pattern</a:t>
            </a:r>
          </a:p>
          <a:p>
            <a:pPr>
              <a:spcAft>
                <a:spcPts val="300"/>
              </a:spcAft>
            </a:pPr>
            <a:r>
              <a:rPr sz="1800" b="0" i="0">
                <a:solidFill>
                  <a:srgbClr val="595959"/>
                </a:solidFill>
                <a:latin typeface="Arial"/>
              </a:rPr>
              <a:t>Layers that improve data step by step.</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GovStack</a:t>
            </a:r>
          </a:p>
          <a:p>
            <a:pPr>
              <a:spcAft>
                <a:spcPts val="300"/>
              </a:spcAft>
            </a:pPr>
            <a:r>
              <a:rPr sz="1800" b="0" i="0">
                <a:solidFill>
                  <a:srgbClr val="595959"/>
                </a:solidFill>
                <a:latin typeface="Arial"/>
              </a:rPr>
              <a:t>Linked databases and scheduled, rule-based automation.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Schools to learners</a:t>
            </a:r>
          </a:p>
          <a:p>
            <a:pPr>
              <a:spcAft>
                <a:spcPts val="300"/>
              </a:spcAft>
            </a:pPr>
            <a:r>
              <a:rPr sz="1800" b="0" i="0">
                <a:solidFill>
                  <a:srgbClr val="595959"/>
                </a:solidFill>
                <a:latin typeface="Arial"/>
              </a:rPr>
              <a:t>This course's own adaptation.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A seeded file of learners, with faulty rows, enters raw.</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Faulty rows stop at bronze, in the failed table.</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An officer approves the passed rows at staging.</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Only approved rows reach silver; gold holds the master records.</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Data reaches the register through five tiers, raw, bronze, staging, silver and gold, with quality checks at bronze and a person's approval before silver.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the five tiers for a new source file.</a:t>
            </a:r>
          </a:p>
          <a:p>
            <a:pPr algn="l">
              <a:spcAft>
                <a:spcPts val="400"/>
              </a:spcAft>
            </a:pPr>
            <a:r>
              <a:rPr sz="1800" b="0" i="0">
                <a:solidFill>
                  <a:srgbClr val="595959"/>
                </a:solidFill>
                <a:latin typeface="Arial"/>
              </a:rPr>
              <a:t>The prompt in the companion material gives you a tier design table with the column mapping, the bronze checks and the staging approver.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a:t>
            </a:r>
          </a:p>
          <a:p>
            <a:pPr>
              <a:spcAft>
                <a:spcPts val="1000"/>
              </a:spcAft>
            </a:pPr>
            <a:r>
              <a:rPr sz="1800" b="0" i="0">
                <a:solidFill>
                  <a:srgbClr val="1A1A1A"/>
                </a:solidFill>
                <a:latin typeface="Arial"/>
              </a:rPr>
              <a:t>•  Databricks, 'What is Medallion Architecture?'</a:t>
            </a:r>
          </a:p>
          <a:p>
            <a:pPr>
              <a:spcAft>
                <a:spcPts val="1000"/>
              </a:spcAft>
            </a:pPr>
            <a:r>
              <a:rPr sz="1800" b="0" i="0">
                <a:solidFill>
                  <a:srgbClr val="1A1A1A"/>
                </a:solidFill>
                <a:latin typeface="Arial"/>
              </a:rPr>
              <a:t>•  GovStack Digital Registries specification, version 3.0-alpha, DRS-2 and DRS-19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