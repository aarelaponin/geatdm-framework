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Count the lists of learners your country keeps today. The schools keep one. The examination body keeps one. A donor project keeps a third. Each list says something different about the same child, and nobody can say which list is right.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how fragmentation looks in education. One donor funded a school census system. Another funded a cash transfer for girls. A third funded an examination system. Each project built its own list of learners, because each project had to deliver on time. Now a parent fills the same form at five counters, and the ministry cannot say how many learners it has.</a:t>
            </a:r>
          </a:p>
          <a:p/>
          <a:p>
            <a:r>
              <a:t>Production cue: The recognition moment. Text only; no donor is named.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Digital Registries specification describes the answer. A register is a trusted, authoritative service, and the single source of truth for the records it holds. Notice the word service. A register is not a spreadsheet on a shared drive. It has a schema, versions, an interface that other systems call, rules on who may read and change each record, and a log of every change. The same specification names the avoidance of duplicated registries across government as a standard. PAERA, the GovStack reference architecture, lists an education register among a country's main state registries, and calls state registries the authoritative source of information.</a:t>
            </a:r>
          </a:p>
          <a:p/>
          <a:p>
            <a:r>
              <a:t>Production cue: The quoted words are the specification's own, from its section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also says that putting a state registry online needs two building blocks. Registration is where a person applies and an officer decides. The Digital Registry keeps the record and serves it to others. That is why a register is built once and called by many services. Procurement rules can make each contract cheaper, but only whole-of-government planning makes re-use possible.</a:t>
            </a:r>
          </a:p>
          <a:p/>
          <a:p>
            <a:r>
              <a:t>Production cue: Boxes and plain text only. Carries the re-use argument.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Progressa, the fictional country of this course. Its learner registry, PLR, is already a member of the data exchange layer. It publishes one enrolment service, which only the examination authority may call. It is not yet the authoritative register the country needs. The education act gives it no basis. It does not hold one record for every learner. It has no quality rules and no link to the national identity. This module sets up the register behind PLR.</a:t>
            </a:r>
          </a:p>
          <a:p/>
          <a:p>
            <a:r>
              <a:t>Production cue: The present state of PLR, as the course states it. Nothing is said to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part matters. A register is only as good as the data that reaches it. Records arrive from schools in messy files. They are checked, approved by a person, and only then written to the register. UNICEF Giga publishes such a flow for its school data, and says it applies ideas from master data management to produce a single source of truth. The edition of the Digital Registries specification used here is an early release, version 3.0-alpha, and its numbers may change.</a:t>
            </a:r>
          </a:p>
          <a:p/>
          <a:p>
            <a:r>
              <a:t>Production cue: Text arrows only. The tiers themselves are the subject of 3.2.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One authoritative record of each learner, held as a service with rules on who reads and changes it, and filled through a disciplined load. That is what the register is for.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a register is for: one authoritative record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register gives every service one authoritative record of each learner, held as a service with rules on who may read and change it, and filled through a disciplined load.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Count the lists of learners your country keeps today.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schools keep one. The examination body keeps one.</a:t>
            </a:r>
          </a:p>
          <a:p>
            <a:pPr>
              <a:spcAft>
                <a:spcPts val="800"/>
              </a:spcAft>
            </a:pPr>
            <a:r>
              <a:rPr sz="1700" b="0" i="0">
                <a:solidFill>
                  <a:srgbClr val="595959"/>
                </a:solidFill>
                <a:latin typeface="Arial"/>
              </a:rPr>
              <a:t>A donor project keeps a third.</a:t>
            </a:r>
          </a:p>
          <a:p>
            <a:pPr>
              <a:spcAft>
                <a:spcPts val="800"/>
              </a:spcAft>
            </a:pPr>
            <a:r>
              <a:rPr sz="1700" b="0" i="0">
                <a:solidFill>
                  <a:srgbClr val="595959"/>
                </a:solidFill>
                <a:latin typeface="Arial"/>
              </a:rPr>
              <a:t>Each list says something different about the same child, and nobody can say which list is right.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Many lists, no answer</a:t>
            </a:r>
          </a:p>
        </p:txBody>
      </p:sp>
      <p:sp>
        <p:nvSpPr>
          <p:cNvPr id="4" name="TextBox 3"/>
          <p:cNvSpPr txBox="1"/>
          <p:nvPr/>
        </p:nvSpPr>
        <p:spPr>
          <a:xfrm>
            <a:off x="658368" y="1522475"/>
            <a:ext cx="10984687" cy="1143000"/>
          </a:xfrm>
          <a:prstGeom prst="rect">
            <a:avLst/>
          </a:prstGeom>
          <a:noFill/>
        </p:spPr>
        <p:txBody>
          <a:bodyPr wrap="square">
            <a:spAutoFit/>
          </a:bodyPr>
          <a:lstStyle/>
          <a:p>
            <a:pPr>
              <a:spcAft>
                <a:spcPts val="300"/>
              </a:spcAft>
            </a:pPr>
            <a:r>
              <a:rPr sz="2200" b="1" i="0">
                <a:solidFill>
                  <a:srgbClr val="1A1A1A"/>
                </a:solidFill>
                <a:latin typeface="Arial"/>
              </a:rPr>
              <a:t>One donor funded a school census system.</a:t>
            </a:r>
          </a:p>
        </p:txBody>
      </p:sp>
      <p:sp>
        <p:nvSpPr>
          <p:cNvPr id="5" name="Rectangle 4"/>
          <p:cNvSpPr/>
          <p:nvPr/>
        </p:nvSpPr>
        <p:spPr>
          <a:xfrm>
            <a:off x="621792" y="26700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11196"/>
            <a:ext cx="10984687" cy="1143000"/>
          </a:xfrm>
          <a:prstGeom prst="rect">
            <a:avLst/>
          </a:prstGeom>
          <a:noFill/>
        </p:spPr>
        <p:txBody>
          <a:bodyPr wrap="square">
            <a:spAutoFit/>
          </a:bodyPr>
          <a:lstStyle/>
          <a:p>
            <a:pPr>
              <a:spcAft>
                <a:spcPts val="300"/>
              </a:spcAft>
            </a:pPr>
            <a:r>
              <a:rPr sz="2200" b="1" i="0">
                <a:solidFill>
                  <a:srgbClr val="1A1A1A"/>
                </a:solidFill>
                <a:latin typeface="Arial"/>
              </a:rPr>
              <a:t>Another funded a cash transfer for girls.</a:t>
            </a:r>
          </a:p>
        </p:txBody>
      </p:sp>
      <p:sp>
        <p:nvSpPr>
          <p:cNvPr id="7" name="Rectangle 6"/>
          <p:cNvSpPr/>
          <p:nvPr/>
        </p:nvSpPr>
        <p:spPr>
          <a:xfrm>
            <a:off x="621792" y="38587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99915"/>
            <a:ext cx="10984687" cy="1143000"/>
          </a:xfrm>
          <a:prstGeom prst="rect">
            <a:avLst/>
          </a:prstGeom>
          <a:noFill/>
        </p:spPr>
        <p:txBody>
          <a:bodyPr wrap="square">
            <a:spAutoFit/>
          </a:bodyPr>
          <a:lstStyle/>
          <a:p>
            <a:pPr>
              <a:spcAft>
                <a:spcPts val="300"/>
              </a:spcAft>
            </a:pPr>
            <a:r>
              <a:rPr sz="2200" b="1" i="0">
                <a:solidFill>
                  <a:srgbClr val="1A1A1A"/>
                </a:solidFill>
                <a:latin typeface="Arial"/>
              </a:rPr>
              <a:t>A third funded an examination system.</a:t>
            </a:r>
          </a:p>
        </p:txBody>
      </p:sp>
      <p:sp>
        <p:nvSpPr>
          <p:cNvPr id="9" name="TextBox 8"/>
          <p:cNvSpPr txBox="1"/>
          <p:nvPr/>
        </p:nvSpPr>
        <p:spPr>
          <a:xfrm>
            <a:off x="658368" y="5161788"/>
            <a:ext cx="10881360" cy="548640"/>
          </a:xfrm>
          <a:prstGeom prst="rect">
            <a:avLst/>
          </a:prstGeom>
          <a:noFill/>
        </p:spPr>
        <p:txBody>
          <a:bodyPr wrap="square">
            <a:spAutoFit/>
          </a:bodyPr>
          <a:lstStyle/>
          <a:p>
            <a:r>
              <a:rPr sz="1700" b="1" i="0">
                <a:solidFill>
                  <a:srgbClr val="006E96"/>
                </a:solidFill>
                <a:latin typeface="Arial"/>
              </a:rPr>
              <a:t>Three lists of the same learners.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register is a service</a:t>
            </a:r>
          </a:p>
        </p:txBody>
      </p:sp>
      <p:sp>
        <p:nvSpPr>
          <p:cNvPr id="4" name="TextBox 3"/>
          <p:cNvSpPr txBox="1"/>
          <p:nvPr/>
        </p:nvSpPr>
        <p:spPr>
          <a:xfrm>
            <a:off x="658368" y="1463040"/>
            <a:ext cx="10881360" cy="1051560"/>
          </a:xfrm>
          <a:prstGeom prst="rect">
            <a:avLst/>
          </a:prstGeom>
          <a:noFill/>
        </p:spPr>
        <p:txBody>
          <a:bodyPr wrap="square">
            <a:spAutoFit/>
          </a:bodyPr>
          <a:lstStyle/>
          <a:p>
            <a:pPr>
              <a:spcAft>
                <a:spcPts val="400"/>
              </a:spcAft>
            </a:pPr>
            <a:r>
              <a:rPr sz="2000" b="0" i="1">
                <a:solidFill>
                  <a:srgbClr val="006E96"/>
                </a:solidFill>
                <a:latin typeface="Arial"/>
              </a:rPr>
              <a:t>“a trusted, authoritative service”</a:t>
            </a:r>
          </a:p>
          <a:p>
            <a:pPr>
              <a:spcAft>
                <a:spcPts val="400"/>
              </a:spcAft>
            </a:pPr>
            <a:r>
              <a:rPr sz="2000" b="0" i="1">
                <a:solidFill>
                  <a:srgbClr val="006E96"/>
                </a:solidFill>
                <a:latin typeface="Arial"/>
              </a:rPr>
              <a:t>“the single source of truth”</a:t>
            </a:r>
          </a:p>
        </p:txBody>
      </p:sp>
      <p:sp>
        <p:nvSpPr>
          <p:cNvPr id="5" name="TextBox 4"/>
          <p:cNvSpPr txBox="1"/>
          <p:nvPr/>
        </p:nvSpPr>
        <p:spPr>
          <a:xfrm>
            <a:off x="658368" y="2514600"/>
            <a:ext cx="10984687" cy="649223"/>
          </a:xfrm>
          <a:prstGeom prst="rect">
            <a:avLst/>
          </a:prstGeom>
          <a:noFill/>
        </p:spPr>
        <p:txBody>
          <a:bodyPr wrap="square">
            <a:spAutoFit/>
          </a:bodyPr>
          <a:lstStyle/>
          <a:p>
            <a:pPr>
              <a:spcAft>
                <a:spcPts val="300"/>
              </a:spcAft>
            </a:pPr>
            <a:r>
              <a:rPr sz="1700" b="1" i="0">
                <a:solidFill>
                  <a:srgbClr val="1A1A1A"/>
                </a:solidFill>
                <a:latin typeface="Arial"/>
              </a:rPr>
              <a:t>A schema</a:t>
            </a:r>
          </a:p>
        </p:txBody>
      </p:sp>
      <p:sp>
        <p:nvSpPr>
          <p:cNvPr id="6" name="Rectangle 5"/>
          <p:cNvSpPr/>
          <p:nvPr/>
        </p:nvSpPr>
        <p:spPr>
          <a:xfrm>
            <a:off x="621792" y="31683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3209544"/>
            <a:ext cx="10984687" cy="649223"/>
          </a:xfrm>
          <a:prstGeom prst="rect">
            <a:avLst/>
          </a:prstGeom>
          <a:noFill/>
        </p:spPr>
        <p:txBody>
          <a:bodyPr wrap="square">
            <a:spAutoFit/>
          </a:bodyPr>
          <a:lstStyle/>
          <a:p>
            <a:pPr>
              <a:spcAft>
                <a:spcPts val="300"/>
              </a:spcAft>
            </a:pPr>
            <a:r>
              <a:rPr sz="1700" b="1" i="0">
                <a:solidFill>
                  <a:srgbClr val="1A1A1A"/>
                </a:solidFill>
                <a:latin typeface="Arial"/>
              </a:rPr>
              <a:t>Versions</a:t>
            </a:r>
          </a:p>
        </p:txBody>
      </p:sp>
      <p:sp>
        <p:nvSpPr>
          <p:cNvPr id="8" name="Rectangle 7"/>
          <p:cNvSpPr/>
          <p:nvPr/>
        </p:nvSpPr>
        <p:spPr>
          <a:xfrm>
            <a:off x="621792" y="386333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904487"/>
            <a:ext cx="10984687" cy="649223"/>
          </a:xfrm>
          <a:prstGeom prst="rect">
            <a:avLst/>
          </a:prstGeom>
          <a:noFill/>
        </p:spPr>
        <p:txBody>
          <a:bodyPr wrap="square">
            <a:spAutoFit/>
          </a:bodyPr>
          <a:lstStyle/>
          <a:p>
            <a:pPr>
              <a:spcAft>
                <a:spcPts val="300"/>
              </a:spcAft>
            </a:pPr>
            <a:r>
              <a:rPr sz="1700" b="1" i="0">
                <a:solidFill>
                  <a:srgbClr val="1A1A1A"/>
                </a:solidFill>
                <a:latin typeface="Arial"/>
              </a:rPr>
              <a:t>An interface other systems call</a:t>
            </a:r>
          </a:p>
        </p:txBody>
      </p:sp>
      <p:sp>
        <p:nvSpPr>
          <p:cNvPr id="10" name="Rectangle 9"/>
          <p:cNvSpPr/>
          <p:nvPr/>
        </p:nvSpPr>
        <p:spPr>
          <a:xfrm>
            <a:off x="621792" y="455828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599431"/>
            <a:ext cx="10984687" cy="649223"/>
          </a:xfrm>
          <a:prstGeom prst="rect">
            <a:avLst/>
          </a:prstGeom>
          <a:noFill/>
        </p:spPr>
        <p:txBody>
          <a:bodyPr wrap="square">
            <a:spAutoFit/>
          </a:bodyPr>
          <a:lstStyle/>
          <a:p>
            <a:pPr>
              <a:spcAft>
                <a:spcPts val="300"/>
              </a:spcAft>
            </a:pPr>
            <a:r>
              <a:rPr sz="1700" b="1" i="0">
                <a:solidFill>
                  <a:srgbClr val="1A1A1A"/>
                </a:solidFill>
                <a:latin typeface="Arial"/>
              </a:rPr>
              <a:t>Rules on who may read and change</a:t>
            </a:r>
          </a:p>
        </p:txBody>
      </p:sp>
      <p:sp>
        <p:nvSpPr>
          <p:cNvPr id="12" name="Rectangle 11"/>
          <p:cNvSpPr/>
          <p:nvPr/>
        </p:nvSpPr>
        <p:spPr>
          <a:xfrm>
            <a:off x="621792" y="52532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294375"/>
            <a:ext cx="10984687" cy="649223"/>
          </a:xfrm>
          <a:prstGeom prst="rect">
            <a:avLst/>
          </a:prstGeom>
          <a:noFill/>
        </p:spPr>
        <p:txBody>
          <a:bodyPr wrap="square">
            <a:spAutoFit/>
          </a:bodyPr>
          <a:lstStyle/>
          <a:p>
            <a:pPr>
              <a:spcAft>
                <a:spcPts val="300"/>
              </a:spcAft>
            </a:pPr>
            <a:r>
              <a:rPr sz="1700" b="1" i="0">
                <a:solidFill>
                  <a:srgbClr val="1A1A1A"/>
                </a:solidFill>
                <a:latin typeface="Arial"/>
              </a:rPr>
              <a:t>A log of every change</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building blocks</a:t>
            </a:r>
          </a:p>
        </p:txBody>
      </p:sp>
      <p:sp>
        <p:nvSpPr>
          <p:cNvPr id="4" name="Rounded Rectangle 3"/>
          <p:cNvSpPr/>
          <p:nvPr/>
        </p:nvSpPr>
        <p:spPr>
          <a:xfrm>
            <a:off x="658368" y="2583179"/>
            <a:ext cx="5394960" cy="137160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2729484"/>
            <a:ext cx="4992624" cy="1097280"/>
          </a:xfrm>
          <a:prstGeom prst="rect">
            <a:avLst/>
          </a:prstGeom>
          <a:noFill/>
        </p:spPr>
        <p:txBody>
          <a:bodyPr wrap="square">
            <a:spAutoFit/>
          </a:bodyPr>
          <a:lstStyle/>
          <a:p>
            <a:pPr>
              <a:spcAft>
                <a:spcPts val="700"/>
              </a:spcAft>
            </a:pPr>
            <a:r>
              <a:rPr sz="2100" b="1" i="0">
                <a:solidFill>
                  <a:srgbClr val="006E96"/>
                </a:solidFill>
                <a:latin typeface="Arial"/>
              </a:rPr>
              <a:t>Registration</a:t>
            </a:r>
          </a:p>
          <a:p>
            <a:pPr>
              <a:spcAft>
                <a:spcPts val="700"/>
              </a:spcAft>
            </a:pPr>
            <a:r>
              <a:rPr sz="1800" b="0" i="0">
                <a:solidFill>
                  <a:srgbClr val="1A1A1A"/>
                </a:solidFill>
                <a:latin typeface="Arial"/>
              </a:rPr>
              <a:t>A person applies, an officer decides.</a:t>
            </a:r>
          </a:p>
        </p:txBody>
      </p:sp>
      <p:sp>
        <p:nvSpPr>
          <p:cNvPr id="6" name="Rounded Rectangle 5"/>
          <p:cNvSpPr/>
          <p:nvPr/>
        </p:nvSpPr>
        <p:spPr>
          <a:xfrm>
            <a:off x="6263640" y="2583179"/>
            <a:ext cx="5394960" cy="137160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2729484"/>
            <a:ext cx="4992624" cy="1097280"/>
          </a:xfrm>
          <a:prstGeom prst="rect">
            <a:avLst/>
          </a:prstGeom>
          <a:noFill/>
        </p:spPr>
        <p:txBody>
          <a:bodyPr wrap="square">
            <a:spAutoFit/>
          </a:bodyPr>
          <a:lstStyle/>
          <a:p>
            <a:pPr>
              <a:spcAft>
                <a:spcPts val="700"/>
              </a:spcAft>
            </a:pPr>
            <a:r>
              <a:rPr sz="2100" b="1" i="0">
                <a:solidFill>
                  <a:srgbClr val="006E96"/>
                </a:solidFill>
                <a:latin typeface="Arial"/>
              </a:rPr>
              <a:t>Digital Registry</a:t>
            </a:r>
          </a:p>
          <a:p>
            <a:pPr>
              <a:spcAft>
                <a:spcPts val="700"/>
              </a:spcAft>
            </a:pPr>
            <a:r>
              <a:rPr sz="1800" b="0" i="0">
                <a:solidFill>
                  <a:srgbClr val="1A1A1A"/>
                </a:solidFill>
                <a:latin typeface="Arial"/>
              </a:rPr>
              <a:t>Keeps the record and serves it to others.</a:t>
            </a:r>
          </a:p>
        </p:txBody>
      </p:sp>
      <p:sp>
        <p:nvSpPr>
          <p:cNvPr id="8" name="TextBox 7"/>
          <p:cNvSpPr txBox="1"/>
          <p:nvPr/>
        </p:nvSpPr>
        <p:spPr>
          <a:xfrm>
            <a:off x="658368" y="4137659"/>
            <a:ext cx="10881360" cy="548640"/>
          </a:xfrm>
          <a:prstGeom prst="rect">
            <a:avLst/>
          </a:prstGeom>
          <a:noFill/>
        </p:spPr>
        <p:txBody>
          <a:bodyPr wrap="square">
            <a:spAutoFit/>
          </a:bodyPr>
          <a:lstStyle/>
          <a:p>
            <a:r>
              <a:rPr sz="1800" b="1" i="0">
                <a:solidFill>
                  <a:srgbClr val="006E96"/>
                </a:solidFill>
                <a:latin typeface="Arial"/>
              </a:rPr>
              <a:t>Built once, called by many services.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today</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PLR</a:t>
            </a:r>
          </a:p>
          <a:p>
            <a:pPr>
              <a:spcAft>
                <a:spcPts val="300"/>
              </a:spcAft>
            </a:pPr>
            <a:r>
              <a:rPr sz="1700" b="0" i="0">
                <a:solidFill>
                  <a:srgbClr val="595959"/>
                </a:solidFill>
                <a:latin typeface="Arial"/>
              </a:rPr>
              <a:t>A member of the data exchange layer, with one enrolment service.</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No basis in the education act.</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No record for every learner. No quality rules. No link to the national identity.</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This module sets up the register behind PLR.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Filled through a disciplined load</a:t>
            </a:r>
          </a:p>
        </p:txBody>
      </p:sp>
      <p:cxnSp>
        <p:nvCxnSpPr>
          <p:cNvPr id="4" name="Connector 3"/>
          <p:cNvCxnSpPr/>
          <p:nvPr/>
        </p:nvCxnSpPr>
        <p:spPr>
          <a:xfrm>
            <a:off x="3127248" y="3383279"/>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43600" y="3383279"/>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59952" y="3383279"/>
            <a:ext cx="31089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2651759"/>
            <a:ext cx="2432304"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Messy file</a:t>
            </a:r>
          </a:p>
        </p:txBody>
      </p:sp>
      <p:sp>
        <p:nvSpPr>
          <p:cNvPr id="8" name="Rounded Rectangle 7"/>
          <p:cNvSpPr/>
          <p:nvPr/>
        </p:nvSpPr>
        <p:spPr>
          <a:xfrm>
            <a:off x="3474720" y="2651759"/>
            <a:ext cx="2432304"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Checked</a:t>
            </a:r>
          </a:p>
        </p:txBody>
      </p:sp>
      <p:sp>
        <p:nvSpPr>
          <p:cNvPr id="9" name="Rounded Rectangle 8"/>
          <p:cNvSpPr/>
          <p:nvPr/>
        </p:nvSpPr>
        <p:spPr>
          <a:xfrm>
            <a:off x="6291072" y="2651759"/>
            <a:ext cx="2432304" cy="14630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FFFFFF"/>
                </a:solidFill>
                <a:latin typeface="Arial"/>
              </a:rPr>
              <a:t>Approved by a person</a:t>
            </a:r>
          </a:p>
        </p:txBody>
      </p:sp>
      <p:sp>
        <p:nvSpPr>
          <p:cNvPr id="10" name="Rounded Rectangle 9"/>
          <p:cNvSpPr/>
          <p:nvPr/>
        </p:nvSpPr>
        <p:spPr>
          <a:xfrm>
            <a:off x="9107424" y="2651759"/>
            <a:ext cx="2432304" cy="14630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600" b="1" i="0">
                <a:solidFill>
                  <a:srgbClr val="006E96"/>
                </a:solidFill>
                <a:latin typeface="Arial"/>
              </a:rPr>
              <a:t>Written to the register</a:t>
            </a:r>
          </a:p>
        </p:txBody>
      </p:sp>
      <p:sp>
        <p:nvSpPr>
          <p:cNvPr id="11" name="TextBox 10"/>
          <p:cNvSpPr txBox="1"/>
          <p:nvPr/>
        </p:nvSpPr>
        <p:spPr>
          <a:xfrm>
            <a:off x="658368" y="4389120"/>
            <a:ext cx="10881360" cy="365760"/>
          </a:xfrm>
          <a:prstGeom prst="rect">
            <a:avLst/>
          </a:prstGeom>
          <a:noFill/>
        </p:spPr>
        <p:txBody>
          <a:bodyPr wrap="square">
            <a:spAutoFit/>
          </a:bodyPr>
          <a:lstStyle/>
          <a:p>
            <a:r>
              <a:rPr sz="1300" b="0" i="1">
                <a:solidFill>
                  <a:srgbClr val="595959"/>
                </a:solidFill>
                <a:latin typeface="Arial"/>
              </a:rPr>
              <a:t>Digital Registries specification, version 3.0-alpha: an early release.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800" b="1" i="0">
                <a:solidFill>
                  <a:srgbClr val="1A1A1A"/>
                </a:solidFill>
                <a:latin typeface="Arial"/>
              </a:rPr>
              <a:t>A register gives every service one authoritative record of each learner, held as a service with rules on who may read and change it, and filled through a disciplined load.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register's one-page charter.</a:t>
            </a:r>
          </a:p>
          <a:p>
            <a:pPr algn="l">
              <a:spcAft>
                <a:spcPts val="400"/>
              </a:spcAft>
            </a:pPr>
            <a:r>
              <a:rPr sz="1800" b="0" i="0">
                <a:solidFill>
                  <a:srgbClr val="595959"/>
                </a:solidFill>
                <a:latin typeface="Arial"/>
              </a:rPr>
              <a:t>The prompt in the companion material gives you a one-page register charter with six headings.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GovStack Digital Registries specification, version 3.0-alpha (section 2; section 10.5.8; release notes)</a:t>
            </a:r>
          </a:p>
          <a:p>
            <a:pPr>
              <a:spcAft>
                <a:spcPts val="1000"/>
              </a:spcAft>
            </a:pPr>
            <a:r>
              <a:rPr sz="1800" b="0" i="0">
                <a:solidFill>
                  <a:srgbClr val="1A1A1A"/>
                </a:solidFill>
                <a:latin typeface="Arial"/>
              </a:rPr>
              <a:t>•  PAERA v1.0, Annex 1 section A1.2.5, Annex 3 and section 3.4.2</a:t>
            </a:r>
          </a:p>
          <a:p>
            <a:pPr>
              <a:spcAft>
                <a:spcPts val="1000"/>
              </a:spcAft>
            </a:pPr>
            <a:r>
              <a:rPr sz="1800" b="0" i="0">
                <a:solidFill>
                  <a:srgbClr val="1A1A1A"/>
                </a:solidFill>
                <a:latin typeface="Arial"/>
              </a:rPr>
              <a:t>•  UNICEF Giga, giga-dagster, docs/README.md</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What a register is for: one authoritative record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