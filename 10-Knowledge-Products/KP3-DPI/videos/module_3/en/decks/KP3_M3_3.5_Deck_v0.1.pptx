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9" r:id="rId12"/>
    <p:sldId id="2730" r:id="rId11"/>
    <p:sldId id="2731" r:id="rId10"/>
    <p:sldId id="2732" r:id="rId54"/>
    <p:sldId id="2733" r:id="rId55"/>
    <p:sldId id="2734" r:id="rId56"/>
    <p:sldId id="2735" r:id="rId57"/>
    <p:sldId id="273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 their data platform is unique. A donor asks whether your register follows any known practice. Both questions have the same good answer: a published pattern, followed in the open, with every change you made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UNICEF Giga runs a data platform for school data. Its aim, in its own words, is to apply concepts from master data management and data governance to produce a single source of truth: the School Master Data. Its documentation shows five tiers, checks at bronze, a person's review at staging, and a gold tier split into a master table and a reference table. Giga says its tiers were inspired by the medallion pattern that Databricks describes. This is a real, published example of the pattern this module follows.</a:t>
            </a:r>
          </a:p>
          <a:p/>
          <a:p>
            <a:r>
              <a:t>Production cue: Giga's own words for its aim. No Giga logo, no screenshot of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Follow it, and say what you took. The learner register takes the five tiers, the checks at bronze, the person's review before silver, and the split of gold into master and reference. Then say what you changed. Giga's records are schools; Progressa's are learners. Giga's gold tier is its destination; Progressa's destination is a register, a service with its own rules of access. Applying a pattern built for schools to learners is this course's own adaptation, and it should be named as such.</a:t>
            </a:r>
          </a:p>
          <a:p/>
          <a:p>
            <a:r>
              <a:t>Production cue: The worked example: Giga's flow as published beside the table built for Progressa.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line matters. Neither of Giga's two public repositories carries a licence. A repository without a licence gives no permission to copy its code, even when anyone can read it. So you may read the documentation, cite the pattern and follow it, and your team writes its own code. Put the citation in your design document and in the register's files, so that an auditor or a donor can see where the pattern came from.</a:t>
            </a:r>
          </a:p>
          <a:p/>
          <a:p>
            <a:r>
              <a:t>Production cue: The licence point, stated plainly.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helps you in the room where the money is decided. A pattern that a global programme has published and runs is easier to defend than one your vendor invented. It also keeps you free: the next vendor can follow the same published pattern. And because your choices are written down, they survive a change of team, a change of vendor and the end of a donor project.</a:t>
            </a:r>
          </a:p>
          <a:p/>
          <a:p>
            <a:r>
              <a:t>Production cue: The case to make upward.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Follow Giga's published pattern for learners, say what you took and what you changed, and write your own code.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 published pattern, followed in the open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Giga's School Master Data shows the pattern at work for schools, and you may follow it for learners if you say what you took and changed and copy no unlicensed code.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 their data platform is unique.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asks whether your register follows any known practice.</a:t>
            </a:r>
          </a:p>
          <a:p>
            <a:pPr>
              <a:spcAft>
                <a:spcPts val="800"/>
              </a:spcAft>
            </a:pPr>
            <a:r>
              <a:rPr sz="1700" b="0" i="0">
                <a:solidFill>
                  <a:srgbClr val="595959"/>
                </a:solidFill>
                <a:latin typeface="Arial"/>
              </a:rPr>
              <a:t>Both questions have the same good answer: a published pattern, followed in the open, with every change you made written down.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Giga publishes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aim</a:t>
            </a:r>
          </a:p>
          <a:p>
            <a:pPr>
              <a:spcAft>
                <a:spcPts val="300"/>
              </a:spcAft>
            </a:pPr>
            <a:r>
              <a:rPr sz="1800" b="0" i="0">
                <a:solidFill>
                  <a:srgbClr val="595959"/>
                </a:solidFill>
                <a:latin typeface="Arial"/>
              </a:rPr>
              <a:t>One source of truth, the School Master Data.</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Five tiers</a:t>
            </a:r>
          </a:p>
          <a:p>
            <a:pPr>
              <a:spcAft>
                <a:spcPts val="300"/>
              </a:spcAft>
            </a:pPr>
            <a:r>
              <a:rPr sz="1800" b="0" i="0">
                <a:solidFill>
                  <a:srgbClr val="595959"/>
                </a:solidFill>
                <a:latin typeface="Arial"/>
              </a:rPr>
              <a:t>Raw, bronze, staging, silver, gold.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Gold split into a master table and a reference table.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learner register takes, and what it changes</a:t>
            </a:r>
          </a:p>
        </p:txBody>
      </p:sp>
      <p:sp>
        <p:nvSpPr>
          <p:cNvPr id="4" name="Rounded Rectangle 3"/>
          <p:cNvSpPr/>
          <p:nvPr/>
        </p:nvSpPr>
        <p:spPr>
          <a:xfrm>
            <a:off x="658368" y="2217420"/>
            <a:ext cx="5394960" cy="2743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363724"/>
            <a:ext cx="4992624" cy="2468880"/>
          </a:xfrm>
          <a:prstGeom prst="rect">
            <a:avLst/>
          </a:prstGeom>
          <a:noFill/>
        </p:spPr>
        <p:txBody>
          <a:bodyPr wrap="square">
            <a:spAutoFit/>
          </a:bodyPr>
          <a:lstStyle/>
          <a:p>
            <a:pPr>
              <a:spcAft>
                <a:spcPts val="700"/>
              </a:spcAft>
            </a:pPr>
            <a:r>
              <a:rPr sz="2100" b="1" i="0">
                <a:solidFill>
                  <a:srgbClr val="006E96"/>
                </a:solidFill>
                <a:latin typeface="Arial"/>
              </a:rPr>
              <a:t>Takes</a:t>
            </a:r>
          </a:p>
          <a:p>
            <a:pPr>
              <a:spcAft>
                <a:spcPts val="700"/>
              </a:spcAft>
            </a:pPr>
            <a:r>
              <a:rPr sz="1800" b="0" i="0">
                <a:solidFill>
                  <a:srgbClr val="1A1A1A"/>
                </a:solidFill>
                <a:latin typeface="Arial"/>
              </a:rPr>
              <a:t>The five tiers</a:t>
            </a:r>
          </a:p>
          <a:p>
            <a:pPr>
              <a:spcAft>
                <a:spcPts val="700"/>
              </a:spcAft>
            </a:pPr>
            <a:r>
              <a:rPr sz="1800" b="0" i="0">
                <a:solidFill>
                  <a:srgbClr val="1A1A1A"/>
                </a:solidFill>
                <a:latin typeface="Arial"/>
              </a:rPr>
              <a:t>The checks at bronze</a:t>
            </a:r>
          </a:p>
          <a:p>
            <a:pPr>
              <a:spcAft>
                <a:spcPts val="700"/>
              </a:spcAft>
            </a:pPr>
            <a:r>
              <a:rPr sz="1800" b="0" i="0">
                <a:solidFill>
                  <a:srgbClr val="1A1A1A"/>
                </a:solidFill>
                <a:latin typeface="Arial"/>
              </a:rPr>
              <a:t>The review before silver</a:t>
            </a:r>
          </a:p>
          <a:p>
            <a:pPr>
              <a:spcAft>
                <a:spcPts val="700"/>
              </a:spcAft>
            </a:pPr>
            <a:r>
              <a:rPr sz="1800" b="0" i="0">
                <a:solidFill>
                  <a:srgbClr val="1A1A1A"/>
                </a:solidFill>
                <a:latin typeface="Arial"/>
              </a:rPr>
              <a:t>The split of gold</a:t>
            </a:r>
          </a:p>
        </p:txBody>
      </p:sp>
      <p:sp>
        <p:nvSpPr>
          <p:cNvPr id="6" name="Rounded Rectangle 5"/>
          <p:cNvSpPr/>
          <p:nvPr/>
        </p:nvSpPr>
        <p:spPr>
          <a:xfrm>
            <a:off x="6263640" y="2217420"/>
            <a:ext cx="5394960" cy="27432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2363724"/>
            <a:ext cx="4992624" cy="2468880"/>
          </a:xfrm>
          <a:prstGeom prst="rect">
            <a:avLst/>
          </a:prstGeom>
          <a:noFill/>
        </p:spPr>
        <p:txBody>
          <a:bodyPr wrap="square">
            <a:spAutoFit/>
          </a:bodyPr>
          <a:lstStyle/>
          <a:p>
            <a:pPr>
              <a:spcAft>
                <a:spcPts val="700"/>
              </a:spcAft>
            </a:pPr>
            <a:r>
              <a:rPr sz="2100" b="1" i="0">
                <a:solidFill>
                  <a:srgbClr val="006E96"/>
                </a:solidFill>
                <a:latin typeface="Arial"/>
              </a:rPr>
              <a:t>Changes</a:t>
            </a:r>
          </a:p>
          <a:p>
            <a:pPr>
              <a:spcAft>
                <a:spcPts val="700"/>
              </a:spcAft>
            </a:pPr>
            <a:r>
              <a:rPr sz="1800" b="0" i="0">
                <a:solidFill>
                  <a:srgbClr val="1A1A1A"/>
                </a:solidFill>
                <a:latin typeface="Arial"/>
              </a:rPr>
              <a:t>Learners in place of schools</a:t>
            </a:r>
          </a:p>
          <a:p>
            <a:pPr>
              <a:spcAft>
                <a:spcPts val="700"/>
              </a:spcAft>
            </a:pPr>
            <a:r>
              <a:rPr sz="1800" b="0" i="0">
                <a:solidFill>
                  <a:srgbClr val="1A1A1A"/>
                </a:solidFill>
                <a:latin typeface="Arial"/>
              </a:rPr>
              <a:t>A register as the destination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Follow the pattern, not the code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No licence</a:t>
            </a:r>
          </a:p>
          <a:p>
            <a:pPr>
              <a:spcAft>
                <a:spcPts val="300"/>
              </a:spcAft>
            </a:pPr>
            <a:r>
              <a:rPr sz="1900" b="0" i="0">
                <a:solidFill>
                  <a:srgbClr val="595959"/>
                </a:solidFill>
                <a:latin typeface="Arial"/>
              </a:rPr>
              <a:t>No permission to copy.</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Cite the pattern. Write your own code.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this helps you</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Easier to defend than a pattern a vendor invented.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next vendor can follow the same pattern.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Written choices outlive the team and the project.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Giga's School Master Data shows the pattern at work for schools, and you may follow it for learners if you say what you took and changed and copy no unlicensed code.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 repository's documentation and licence before you follow it.</a:t>
            </a:r>
          </a:p>
          <a:p>
            <a:pPr algn="l">
              <a:spcAft>
                <a:spcPts val="400"/>
              </a:spcAft>
            </a:pPr>
            <a:r>
              <a:rPr sz="1800" b="0" i="0">
                <a:solidFill>
                  <a:srgbClr val="595959"/>
                </a:solidFill>
                <a:latin typeface="Arial"/>
              </a:rPr>
              <a:t>The prompt in the companion material gives you a reuse note in three parts.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 and docs/README.md, and the repository's licence field</a:t>
            </a:r>
          </a:p>
          <a:p>
            <a:pPr>
              <a:spcAft>
                <a:spcPts val="1000"/>
              </a:spcAft>
            </a:pPr>
            <a:r>
              <a:rPr sz="1800" b="0" i="0">
                <a:solidFill>
                  <a:srgbClr val="1A1A1A"/>
                </a:solidFill>
                <a:latin typeface="Arial"/>
              </a:rPr>
              <a:t>•  Databricks, 'What is Medallion Architecture?'</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