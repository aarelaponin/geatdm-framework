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7" r:id="rId59"/>
    <p:sldId id="2738" r:id="rId60"/>
    <p:sldId id="2739" r:id="rId61"/>
    <p:sldId id="2740" r:id="rId62"/>
    <p:sldId id="2741" r:id="rId63"/>
    <p:sldId id="2742" r:id="rId64"/>
    <p:sldId id="2743" r:id="rId65"/>
    <p:sldId id="2744"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After a load, a director asks a simple question: did every learner the schools sent reach the register? Most teams answer with a feeling. You can answer with two lines of arithmetic, and show your working.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line is about the checks. The rows received must equal the rows that passed plus the rows set aside at bronze. If they do not, rows were lost or counted twice inside the load. The second line is about the register. The rows approved at staging must equal the records the register added plus the records it changed. If they do not, the load did not write what the officer approved.</a:t>
            </a:r>
          </a:p>
          <a:p/>
          <a:p>
            <a:r>
              <a:t>Production cue: The two equations, nothing else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numbers come from things the GovStack Digital Registries specification already requires. The register logs every change, and shows the value before and after. It can import data and update entries. It answers statistical queries, such as how many records it holds, and it has an operation that says whether a given record exists. So the reconciliation needs no new system. Count the tiers, read the log, and read the record count before and after.</a:t>
            </a:r>
          </a:p>
          <a:p/>
          <a:p>
            <a:r>
              <a:t>Production cue: Each row is a requirement or an operation of the specification.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 clear with your readers on one point. No published source describes this reconciliation, neither the GovStack specification nor Giga's flow. It is the practice of the team that wrote this course, built on what the specification does publish. Present it to your auditors that way; it is simple enough for them to check. And keep one hard rule. A line that does not balance stops the next load until someone finds where the rows went and writes down the cause.</a:t>
            </a:r>
          </a:p>
          <a:p/>
          <a:p>
            <a:r>
              <a:t>Production cue: Says plainly that the practice is this course's own.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walkthrough of this subtopic shows one load of Progressa learners reconciled on a single sheet: rows received, passed, set aside, approved, added and changed, and the register's record count before and after. A good run passes when both lines balance and a sample of the loaded records is confirmed to exist in the register.</a:t>
            </a:r>
          </a:p>
          <a:p/>
          <a:p>
            <a:r>
              <a:t>Production cue: Replaced by the recorded segment once checks RG7 and RG11 pass. Until then, text only.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Received equals passed plus set aside; approved equals added plus changed. Show both lines after every load.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Account for every load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After every load, show that the rows received equal the rows passed plus the rows set aside, and that the rows approved equal the records the register added or changed.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After a load, a director asks a simple question: did every learner the schools sent reach the register?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Most teams answer with a feeling.</a:t>
            </a:r>
          </a:p>
          <a:p>
            <a:pPr>
              <a:spcAft>
                <a:spcPts val="800"/>
              </a:spcAft>
            </a:pPr>
            <a:r>
              <a:rPr sz="1700" b="0" i="0">
                <a:solidFill>
                  <a:srgbClr val="595959"/>
                </a:solidFill>
                <a:latin typeface="Arial"/>
              </a:rPr>
              <a:t>You can answer with two lines of arithmetic, and show your working.</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Account for every load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lines</a:t>
            </a:r>
          </a:p>
        </p:txBody>
      </p:sp>
      <p:sp>
        <p:nvSpPr>
          <p:cNvPr id="4" name="TextBox 3"/>
          <p:cNvSpPr txBox="1"/>
          <p:nvPr/>
        </p:nvSpPr>
        <p:spPr>
          <a:xfrm>
            <a:off x="658368" y="2400300"/>
            <a:ext cx="10984687" cy="1143000"/>
          </a:xfrm>
          <a:prstGeom prst="rect">
            <a:avLst/>
          </a:prstGeom>
          <a:noFill/>
        </p:spPr>
        <p:txBody>
          <a:bodyPr wrap="square">
            <a:spAutoFit/>
          </a:bodyPr>
          <a:lstStyle/>
          <a:p>
            <a:pPr>
              <a:spcAft>
                <a:spcPts val="300"/>
              </a:spcAft>
            </a:pPr>
            <a:r>
              <a:rPr sz="3000" b="1" i="0">
                <a:solidFill>
                  <a:srgbClr val="1A1A1A"/>
                </a:solidFill>
                <a:latin typeface="Arial"/>
              </a:rPr>
              <a:t>Rows received = rows passed + rows set aside</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143000"/>
          </a:xfrm>
          <a:prstGeom prst="rect">
            <a:avLst/>
          </a:prstGeom>
          <a:noFill/>
        </p:spPr>
        <p:txBody>
          <a:bodyPr wrap="square">
            <a:spAutoFit/>
          </a:bodyPr>
          <a:lstStyle/>
          <a:p>
            <a:pPr>
              <a:spcAft>
                <a:spcPts val="300"/>
              </a:spcAft>
            </a:pPr>
            <a:r>
              <a:rPr sz="3000" b="1" i="0">
                <a:solidFill>
                  <a:srgbClr val="1A1A1A"/>
                </a:solidFill>
                <a:latin typeface="Arial"/>
              </a:rPr>
              <a:t>Rows approved = records added + records changed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Account for every load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numbers come from</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The change log</a:t>
            </a:r>
          </a:p>
          <a:p>
            <a:pPr>
              <a:spcAft>
                <a:spcPts val="300"/>
              </a:spcAft>
            </a:pPr>
            <a:r>
              <a:rPr sz="1700" b="0" i="0">
                <a:solidFill>
                  <a:srgbClr val="595959"/>
                </a:solidFill>
                <a:latin typeface="Arial"/>
              </a:rPr>
              <a:t>Every change, with the value before and after.</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Import, and the update of entries.</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Statistical queries</a:t>
            </a:r>
          </a:p>
          <a:p>
            <a:pPr>
              <a:spcAft>
                <a:spcPts val="300"/>
              </a:spcAft>
            </a:pPr>
            <a:r>
              <a:rPr sz="1700" b="0" i="0">
                <a:solidFill>
                  <a:srgbClr val="595959"/>
                </a:solidFill>
                <a:latin typeface="Arial"/>
              </a:rPr>
              <a:t>How many records.</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An operation that says whether a record exists.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Account for every load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honest note, and a hard rule</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No published source describes this check. It is this course's own practice.</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A line that does not balance stops the next load.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Account for every load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walkthrough will show</a:t>
            </a:r>
          </a:p>
        </p:txBody>
      </p:sp>
      <p:sp>
        <p:nvSpPr>
          <p:cNvPr id="4" name="Oval 3"/>
          <p:cNvSpPr/>
          <p:nvPr/>
        </p:nvSpPr>
        <p:spPr>
          <a:xfrm>
            <a:off x="621792" y="166420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600199"/>
            <a:ext cx="10527487" cy="1143000"/>
          </a:xfrm>
          <a:prstGeom prst="rect">
            <a:avLst/>
          </a:prstGeom>
          <a:noFill/>
        </p:spPr>
        <p:txBody>
          <a:bodyPr wrap="square">
            <a:spAutoFit/>
          </a:bodyPr>
          <a:lstStyle/>
          <a:p>
            <a:pPr>
              <a:spcAft>
                <a:spcPts val="300"/>
              </a:spcAft>
            </a:pPr>
            <a:r>
              <a:rPr sz="2200" b="1" i="0">
                <a:solidFill>
                  <a:srgbClr val="1A1A1A"/>
                </a:solidFill>
                <a:latin typeface="Arial"/>
              </a:rPr>
              <a:t>One load on one sheet</a:t>
            </a:r>
          </a:p>
          <a:p>
            <a:pPr>
              <a:spcAft>
                <a:spcPts val="300"/>
              </a:spcAft>
            </a:pPr>
            <a:r>
              <a:rPr sz="1800" b="0" i="0">
                <a:solidFill>
                  <a:srgbClr val="595959"/>
                </a:solidFill>
                <a:latin typeface="Arial"/>
              </a:rPr>
              <a:t>Received, passed, set aside, approved, added, changed.</a:t>
            </a:r>
          </a:p>
        </p:txBody>
      </p:sp>
      <p:sp>
        <p:nvSpPr>
          <p:cNvPr id="6" name="Rectangle 5"/>
          <p:cNvSpPr/>
          <p:nvPr/>
        </p:nvSpPr>
        <p:spPr>
          <a:xfrm>
            <a:off x="621792" y="2747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85292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788920"/>
            <a:ext cx="10527487" cy="1143000"/>
          </a:xfrm>
          <a:prstGeom prst="rect">
            <a:avLst/>
          </a:prstGeom>
          <a:noFill/>
        </p:spPr>
        <p:txBody>
          <a:bodyPr wrap="square">
            <a:spAutoFit/>
          </a:bodyPr>
          <a:lstStyle/>
          <a:p>
            <a:pPr>
              <a:spcAft>
                <a:spcPts val="300"/>
              </a:spcAft>
            </a:pPr>
            <a:r>
              <a:rPr sz="2200" b="1" i="0">
                <a:solidFill>
                  <a:srgbClr val="1A1A1A"/>
                </a:solidFill>
                <a:latin typeface="Arial"/>
              </a:rPr>
              <a:t>The record count before and after.</a:t>
            </a:r>
          </a:p>
        </p:txBody>
      </p:sp>
      <p:sp>
        <p:nvSpPr>
          <p:cNvPr id="9" name="Rectangle 8"/>
          <p:cNvSpPr/>
          <p:nvPr/>
        </p:nvSpPr>
        <p:spPr>
          <a:xfrm>
            <a:off x="621792" y="39364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0416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977639"/>
            <a:ext cx="10527487" cy="1143000"/>
          </a:xfrm>
          <a:prstGeom prst="rect">
            <a:avLst/>
          </a:prstGeom>
          <a:noFill/>
        </p:spPr>
        <p:txBody>
          <a:bodyPr wrap="square">
            <a:spAutoFit/>
          </a:bodyPr>
          <a:lstStyle/>
          <a:p>
            <a:pPr>
              <a:spcAft>
                <a:spcPts val="300"/>
              </a:spcAft>
            </a:pPr>
            <a:r>
              <a:rPr sz="2200" b="1" i="0">
                <a:solidFill>
                  <a:srgbClr val="1A1A1A"/>
                </a:solidFill>
                <a:latin typeface="Arial"/>
              </a:rPr>
              <a:t>A sample of records confirmed to exist.</a:t>
            </a:r>
          </a:p>
        </p:txBody>
      </p:sp>
      <p:sp>
        <p:nvSpPr>
          <p:cNvPr id="12" name="TextBox 11"/>
          <p:cNvSpPr txBox="1"/>
          <p:nvPr/>
        </p:nvSpPr>
        <p:spPr>
          <a:xfrm>
            <a:off x="658368" y="5239512"/>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Account for every load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After every load, show that the rows received equal the rows passed plus the rows set aside, and that the rows approved equal the records the register added or changed.</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reconciliation note of a load.</a:t>
            </a:r>
          </a:p>
          <a:p>
            <a:pPr algn="l">
              <a:spcAft>
                <a:spcPts val="400"/>
              </a:spcAft>
            </a:pPr>
            <a:r>
              <a:rPr sz="1800" b="0" i="0">
                <a:solidFill>
                  <a:srgbClr val="595959"/>
                </a:solidFill>
                <a:latin typeface="Arial"/>
              </a:rPr>
              <a:t>The prompt in the companion material gives you a reconciliation note with both lines computed.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Account for every load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Digital Registries specification, version 3.0-alpha (DRS-7, DRS-21, DRS-24, DRS-26; sections 8.1 and 8.2). The reconciliation is this course's own practice</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Account for every load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