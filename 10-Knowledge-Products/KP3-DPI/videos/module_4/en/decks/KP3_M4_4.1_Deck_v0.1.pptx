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ministry of education that wants to know who its learners are may be tempted to issue an identity of its own. Before it does, someone should show the finance ministry what that choice costs, and who has already paid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Identity specification makes a sharp point. An identity system is not like the registration screen of an ordinary application. It establishes a person's foundational identity, the base for every digital interaction that person will have. That makes it valuable to the person and attractive to attackers, so it demands the highest level of security. Enrolling people well takes time, documents and trained staff. Running it well is a national task, not a side task of one ministry.</a:t>
            </a:r>
          </a:p>
          <a:p/>
          <a:p>
            <a:r>
              <a:t>Production cue: The specification's own point, in plain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World Bank studied what foundational identity systems cost. It found six categories: human resources, the identity credential, central IT infrastructure, physical establishments such as offices, enrolment IT infrastructure, and information, education and communication. Together they made up over 90 percent of the cost in the start-up phase. Once a system runs, human resources are often greater than 80 percent of its annual cost. That is people, offices and machines, paid every year.</a:t>
            </a:r>
          </a:p>
          <a:p/>
          <a:p>
            <a:r>
              <a:t>Production cue: Each figure with its unit, its year and its page. Text-only.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more findings matter for a ministry tempted to go alone. The credential, the card or document in the person's hand, ranged from as low as 3 percent to over 40 percent of the total cost. And the way the government bought the system changed the overall cost by 25 percent to over 100 percent. A sector scheme would carry those costs again, and would have to get its own purchase right again.</a:t>
            </a:r>
          </a:p>
          <a:p/>
          <a:p>
            <a:r>
              <a:t>Production cue: Figures as the study states them, with their pages. Text-only.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 Suppose the ministry of education, MoEYS, gave every learner an identity of its own. Category by category it would need staff to enrol and support learners, cards to print and hand out, central systems with their back-up, offices for enrolment, kits for the schools, and campaigns to explain it all. The national identity authority, PNIA, already carries each of these. Using PNIA's service, the ministry carries one thing: the work of connecting its service and testing it. No figures are given here. The point is which costs would appear twice.</a:t>
            </a:r>
          </a:p>
          <a:p/>
          <a:p>
            <a:r>
              <a:t>Production cue: The worked example, built for Progressa. The table names categories and invents no cost.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specifications expect exactly this. A country that already runs an identity system, such as a population register or an identity document system, reuses it, equipped with a services facade, so that every other block can use it. The Registration specification goes the same way: an applicant can register on a service by signing in with the foundational identity. The country builds identity once, and every service uses it.</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Identity costs a great deal to build and more to run. A country pays that cost once. A ministry that builds its own pays it again.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identity is built once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identity system is costly to build and to run, so a country builds it once and every service uses it, and a ministry that builds its own pays those costs a second time.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ministry of education that wants to know who its learners are may be tempted to issue an identity of its own.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it does, someone should show the finance ministry what that choice costs, and who has already paid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 an ordinary registration system</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It establishes a person's foundational identity.</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digital interaction of that person rests on it.</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It attracts attackers, so it demands the highest security.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identity systems cost: the World Bank's study</a:t>
            </a:r>
          </a:p>
        </p:txBody>
      </p:sp>
      <p:sp>
        <p:nvSpPr>
          <p:cNvPr id="4" name="TextBox 3"/>
          <p:cNvSpPr txBox="1"/>
          <p:nvPr/>
        </p:nvSpPr>
        <p:spPr>
          <a:xfrm>
            <a:off x="658368" y="1897379"/>
            <a:ext cx="10984687" cy="1645920"/>
          </a:xfrm>
          <a:prstGeom prst="rect">
            <a:avLst/>
          </a:prstGeom>
          <a:noFill/>
        </p:spPr>
        <p:txBody>
          <a:bodyPr wrap="square">
            <a:spAutoFit/>
          </a:bodyPr>
          <a:lstStyle/>
          <a:p>
            <a:pPr>
              <a:spcAft>
                <a:spcPts val="300"/>
              </a:spcAft>
            </a:pPr>
            <a:r>
              <a:rPr sz="2400" b="1" i="0">
                <a:solidFill>
                  <a:srgbClr val="1A1A1A"/>
                </a:solidFill>
                <a:latin typeface="Arial"/>
              </a:rPr>
              <a:t>Six categories made up over 90 percent of the cost in the start-up phase: human resources; the identity credential; central IT infrastructure; physical establishments; enrolment IT infrastructure; information, education and communication.</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Once the system runs, human resources are often greater than 80 percent of the annual cost.</a:t>
            </a:r>
          </a:p>
        </p:txBody>
      </p:sp>
      <p:sp>
        <p:nvSpPr>
          <p:cNvPr id="7" name="TextBox 6"/>
          <p:cNvSpPr txBox="1"/>
          <p:nvPr/>
        </p:nvSpPr>
        <p:spPr>
          <a:xfrm>
            <a:off x="658368" y="4942331"/>
            <a:ext cx="10881360" cy="365760"/>
          </a:xfrm>
          <a:prstGeom prst="rect">
            <a:avLst/>
          </a:prstGeom>
          <a:noFill/>
        </p:spPr>
        <p:txBody>
          <a:bodyPr wrap="square">
            <a:spAutoFit/>
          </a:bodyPr>
          <a:lstStyle/>
          <a:p>
            <a:r>
              <a:rPr sz="1300" b="0" i="1">
                <a:solidFill>
                  <a:srgbClr val="595959"/>
                </a:solidFill>
                <a:latin typeface="Arial"/>
              </a:rPr>
              <a:t>World Bank, 2018, page 3.</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findings for a ministry tempted to go alone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The credential ranged from as low as 3% to over 40% of total cost (page 5).</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The way the government bought the system changed the overall cost by 25 percent to over 100 percent (page 7).</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 learner identity of its own, or PNIA's service</a:t>
            </a:r>
          </a:p>
        </p:txBody>
      </p:sp>
      <p:sp>
        <p:nvSpPr>
          <p:cNvPr id="4" name="TextBox 3"/>
          <p:cNvSpPr txBox="1"/>
          <p:nvPr/>
        </p:nvSpPr>
        <p:spPr>
          <a:xfrm>
            <a:off x="658368" y="1505711"/>
            <a:ext cx="3456432" cy="457200"/>
          </a:xfrm>
          <a:prstGeom prst="rect">
            <a:avLst/>
          </a:prstGeom>
          <a:noFill/>
        </p:spPr>
        <p:txBody>
          <a:bodyPr wrap="square">
            <a:spAutoFit/>
          </a:bodyPr>
          <a:lstStyle/>
          <a:p>
            <a:r>
              <a:rPr sz="1500" b="1" i="0">
                <a:solidFill>
                  <a:srgbClr val="006E96"/>
                </a:solidFill>
                <a:latin typeface="Arial"/>
              </a:rPr>
              <a:t>Cost category</a:t>
            </a:r>
          </a:p>
        </p:txBody>
      </p:sp>
      <p:sp>
        <p:nvSpPr>
          <p:cNvPr id="5" name="TextBox 4"/>
          <p:cNvSpPr txBox="1"/>
          <p:nvPr/>
        </p:nvSpPr>
        <p:spPr>
          <a:xfrm>
            <a:off x="4224528" y="1505711"/>
            <a:ext cx="3730752" cy="457200"/>
          </a:xfrm>
          <a:prstGeom prst="rect">
            <a:avLst/>
          </a:prstGeom>
          <a:noFill/>
        </p:spPr>
        <p:txBody>
          <a:bodyPr wrap="square">
            <a:spAutoFit/>
          </a:bodyPr>
          <a:lstStyle/>
          <a:p>
            <a:r>
              <a:rPr sz="1500" b="1" i="0">
                <a:solidFill>
                  <a:srgbClr val="006E96"/>
                </a:solidFill>
                <a:latin typeface="Arial"/>
              </a:rPr>
              <a:t>If MoEYS ran its own learner identity</a:t>
            </a:r>
          </a:p>
        </p:txBody>
      </p:sp>
      <p:sp>
        <p:nvSpPr>
          <p:cNvPr id="6" name="TextBox 5"/>
          <p:cNvSpPr txBox="1"/>
          <p:nvPr/>
        </p:nvSpPr>
        <p:spPr>
          <a:xfrm>
            <a:off x="8065008" y="1505711"/>
            <a:ext cx="3364991" cy="457200"/>
          </a:xfrm>
          <a:prstGeom prst="rect">
            <a:avLst/>
          </a:prstGeom>
          <a:noFill/>
        </p:spPr>
        <p:txBody>
          <a:bodyPr wrap="square">
            <a:spAutoFit/>
          </a:bodyPr>
          <a:lstStyle/>
          <a:p>
            <a:r>
              <a:rPr sz="1500" b="1" i="0">
                <a:solidFill>
                  <a:srgbClr val="006E96"/>
                </a:solidFill>
                <a:latin typeface="Arial"/>
              </a:rPr>
              <a:t>If MoEYS uses PNIA's service</a:t>
            </a:r>
          </a:p>
        </p:txBody>
      </p:sp>
      <p:sp>
        <p:nvSpPr>
          <p:cNvPr id="7" name="Rectangle 6"/>
          <p:cNvSpPr/>
          <p:nvPr/>
        </p:nvSpPr>
        <p:spPr>
          <a:xfrm>
            <a:off x="658368" y="1962911"/>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054352"/>
            <a:ext cx="3456432" cy="641604"/>
          </a:xfrm>
          <a:prstGeom prst="rect">
            <a:avLst/>
          </a:prstGeom>
          <a:noFill/>
        </p:spPr>
        <p:txBody>
          <a:bodyPr wrap="square">
            <a:spAutoFit/>
          </a:bodyPr>
          <a:lstStyle/>
          <a:p>
            <a:r>
              <a:rPr sz="1500" b="1" i="0">
                <a:solidFill>
                  <a:srgbClr val="1A1A1A"/>
                </a:solidFill>
                <a:latin typeface="Arial"/>
              </a:rPr>
              <a:t>Human resources</a:t>
            </a:r>
          </a:p>
        </p:txBody>
      </p:sp>
      <p:sp>
        <p:nvSpPr>
          <p:cNvPr id="9" name="TextBox 8"/>
          <p:cNvSpPr txBox="1"/>
          <p:nvPr/>
        </p:nvSpPr>
        <p:spPr>
          <a:xfrm>
            <a:off x="4224528" y="2054352"/>
            <a:ext cx="3730752" cy="641604"/>
          </a:xfrm>
          <a:prstGeom prst="rect">
            <a:avLst/>
          </a:prstGeom>
          <a:noFill/>
        </p:spPr>
        <p:txBody>
          <a:bodyPr wrap="square">
            <a:spAutoFit/>
          </a:bodyPr>
          <a:lstStyle/>
          <a:p>
            <a:r>
              <a:rPr sz="1500" b="0" i="0">
                <a:solidFill>
                  <a:srgbClr val="1A1A1A"/>
                </a:solidFill>
                <a:latin typeface="Arial"/>
              </a:rPr>
              <a:t>Staff to enrol and support learners</a:t>
            </a:r>
          </a:p>
        </p:txBody>
      </p:sp>
      <p:sp>
        <p:nvSpPr>
          <p:cNvPr id="10" name="TextBox 9"/>
          <p:cNvSpPr txBox="1"/>
          <p:nvPr/>
        </p:nvSpPr>
        <p:spPr>
          <a:xfrm>
            <a:off x="8065008" y="2054352"/>
            <a:ext cx="3364991" cy="641604"/>
          </a:xfrm>
          <a:prstGeom prst="rect">
            <a:avLst/>
          </a:prstGeom>
          <a:noFill/>
        </p:spPr>
        <p:txBody>
          <a:bodyPr wrap="square">
            <a:spAutoFit/>
          </a:bodyPr>
          <a:lstStyle/>
          <a:p>
            <a:r>
              <a:rPr sz="1500" b="0" i="0">
                <a:solidFill>
                  <a:srgbClr val="1A1A1A"/>
                </a:solidFill>
                <a:latin typeface="Arial"/>
              </a:rPr>
              <a:t>Connecting the service and testing it</a:t>
            </a:r>
          </a:p>
        </p:txBody>
      </p:sp>
      <p:sp>
        <p:nvSpPr>
          <p:cNvPr id="11" name="Rectangle 10"/>
          <p:cNvSpPr/>
          <p:nvPr/>
        </p:nvSpPr>
        <p:spPr>
          <a:xfrm>
            <a:off x="658368" y="27142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769108"/>
            <a:ext cx="3456432" cy="393953"/>
          </a:xfrm>
          <a:prstGeom prst="rect">
            <a:avLst/>
          </a:prstGeom>
          <a:noFill/>
        </p:spPr>
        <p:txBody>
          <a:bodyPr wrap="square">
            <a:spAutoFit/>
          </a:bodyPr>
          <a:lstStyle/>
          <a:p>
            <a:r>
              <a:rPr sz="1500" b="1" i="0">
                <a:solidFill>
                  <a:srgbClr val="1A1A1A"/>
                </a:solidFill>
                <a:latin typeface="Arial"/>
              </a:rPr>
              <a:t>The identity credential</a:t>
            </a:r>
          </a:p>
        </p:txBody>
      </p:sp>
      <p:sp>
        <p:nvSpPr>
          <p:cNvPr id="13" name="TextBox 12"/>
          <p:cNvSpPr txBox="1"/>
          <p:nvPr/>
        </p:nvSpPr>
        <p:spPr>
          <a:xfrm>
            <a:off x="4224528" y="2769108"/>
            <a:ext cx="3730752" cy="393953"/>
          </a:xfrm>
          <a:prstGeom prst="rect">
            <a:avLst/>
          </a:prstGeom>
          <a:noFill/>
        </p:spPr>
        <p:txBody>
          <a:bodyPr wrap="square">
            <a:spAutoFit/>
          </a:bodyPr>
          <a:lstStyle/>
          <a:p>
            <a:r>
              <a:rPr sz="1500" b="0" i="0">
                <a:solidFill>
                  <a:srgbClr val="1A1A1A"/>
                </a:solidFill>
                <a:latin typeface="Arial"/>
              </a:rPr>
              <a:t>Cards to print and hand out</a:t>
            </a:r>
          </a:p>
        </p:txBody>
      </p:sp>
      <p:sp>
        <p:nvSpPr>
          <p:cNvPr id="14" name="TextBox 13"/>
          <p:cNvSpPr txBox="1"/>
          <p:nvPr/>
        </p:nvSpPr>
        <p:spPr>
          <a:xfrm>
            <a:off x="8065008" y="2769108"/>
            <a:ext cx="3364991" cy="393953"/>
          </a:xfrm>
          <a:prstGeom prst="rect">
            <a:avLst/>
          </a:prstGeom>
          <a:noFill/>
        </p:spPr>
        <p:txBody>
          <a:bodyPr wrap="square">
            <a:spAutoFit/>
          </a:bodyPr>
          <a:lstStyle/>
          <a:p>
            <a:r>
              <a:rPr sz="1500" b="0" i="0">
                <a:solidFill>
                  <a:srgbClr val="1A1A1A"/>
                </a:solidFill>
                <a:latin typeface="Arial"/>
              </a:rPr>
              <a:t>Carried by PNIA</a:t>
            </a:r>
          </a:p>
        </p:txBody>
      </p:sp>
      <p:sp>
        <p:nvSpPr>
          <p:cNvPr id="15" name="Rectangle 14"/>
          <p:cNvSpPr/>
          <p:nvPr/>
        </p:nvSpPr>
        <p:spPr>
          <a:xfrm>
            <a:off x="658368" y="318135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236214"/>
            <a:ext cx="3456432" cy="393953"/>
          </a:xfrm>
          <a:prstGeom prst="rect">
            <a:avLst/>
          </a:prstGeom>
          <a:noFill/>
        </p:spPr>
        <p:txBody>
          <a:bodyPr wrap="square">
            <a:spAutoFit/>
          </a:bodyPr>
          <a:lstStyle/>
          <a:p>
            <a:r>
              <a:rPr sz="1500" b="1" i="0">
                <a:solidFill>
                  <a:srgbClr val="1A1A1A"/>
                </a:solidFill>
                <a:latin typeface="Arial"/>
              </a:rPr>
              <a:t>Central IT infrastructure</a:t>
            </a:r>
          </a:p>
        </p:txBody>
      </p:sp>
      <p:sp>
        <p:nvSpPr>
          <p:cNvPr id="17" name="TextBox 16"/>
          <p:cNvSpPr txBox="1"/>
          <p:nvPr/>
        </p:nvSpPr>
        <p:spPr>
          <a:xfrm>
            <a:off x="4224528" y="3236214"/>
            <a:ext cx="3730752" cy="393953"/>
          </a:xfrm>
          <a:prstGeom prst="rect">
            <a:avLst/>
          </a:prstGeom>
          <a:noFill/>
        </p:spPr>
        <p:txBody>
          <a:bodyPr wrap="square">
            <a:spAutoFit/>
          </a:bodyPr>
          <a:lstStyle/>
          <a:p>
            <a:r>
              <a:rPr sz="1500" b="0" i="0">
                <a:solidFill>
                  <a:srgbClr val="1A1A1A"/>
                </a:solidFill>
                <a:latin typeface="Arial"/>
              </a:rPr>
              <a:t>Central systems and their back-up</a:t>
            </a:r>
          </a:p>
        </p:txBody>
      </p:sp>
      <p:sp>
        <p:nvSpPr>
          <p:cNvPr id="18" name="TextBox 17"/>
          <p:cNvSpPr txBox="1"/>
          <p:nvPr/>
        </p:nvSpPr>
        <p:spPr>
          <a:xfrm>
            <a:off x="8065008" y="3236214"/>
            <a:ext cx="3364991" cy="393953"/>
          </a:xfrm>
          <a:prstGeom prst="rect">
            <a:avLst/>
          </a:prstGeom>
          <a:noFill/>
        </p:spPr>
        <p:txBody>
          <a:bodyPr wrap="square">
            <a:spAutoFit/>
          </a:bodyPr>
          <a:lstStyle/>
          <a:p>
            <a:r>
              <a:rPr sz="1500" b="0" i="0">
                <a:solidFill>
                  <a:srgbClr val="1A1A1A"/>
                </a:solidFill>
                <a:latin typeface="Arial"/>
              </a:rPr>
              <a:t>Carried by PNIA</a:t>
            </a:r>
          </a:p>
        </p:txBody>
      </p:sp>
      <p:sp>
        <p:nvSpPr>
          <p:cNvPr id="19" name="Rectangle 18"/>
          <p:cNvSpPr/>
          <p:nvPr/>
        </p:nvSpPr>
        <p:spPr>
          <a:xfrm>
            <a:off x="658368" y="36484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703320"/>
            <a:ext cx="3456432" cy="393953"/>
          </a:xfrm>
          <a:prstGeom prst="rect">
            <a:avLst/>
          </a:prstGeom>
          <a:noFill/>
        </p:spPr>
        <p:txBody>
          <a:bodyPr wrap="square">
            <a:spAutoFit/>
          </a:bodyPr>
          <a:lstStyle/>
          <a:p>
            <a:r>
              <a:rPr sz="1500" b="1" i="0">
                <a:solidFill>
                  <a:srgbClr val="1A1A1A"/>
                </a:solidFill>
                <a:latin typeface="Arial"/>
              </a:rPr>
              <a:t>Physical establishments</a:t>
            </a:r>
          </a:p>
        </p:txBody>
      </p:sp>
      <p:sp>
        <p:nvSpPr>
          <p:cNvPr id="21" name="TextBox 20"/>
          <p:cNvSpPr txBox="1"/>
          <p:nvPr/>
        </p:nvSpPr>
        <p:spPr>
          <a:xfrm>
            <a:off x="4224528" y="3703320"/>
            <a:ext cx="3730752" cy="393953"/>
          </a:xfrm>
          <a:prstGeom prst="rect">
            <a:avLst/>
          </a:prstGeom>
          <a:noFill/>
        </p:spPr>
        <p:txBody>
          <a:bodyPr wrap="square">
            <a:spAutoFit/>
          </a:bodyPr>
          <a:lstStyle/>
          <a:p>
            <a:r>
              <a:rPr sz="1500" b="0" i="0">
                <a:solidFill>
                  <a:srgbClr val="1A1A1A"/>
                </a:solidFill>
                <a:latin typeface="Arial"/>
              </a:rPr>
              <a:t>Offices for enrolment</a:t>
            </a:r>
          </a:p>
        </p:txBody>
      </p:sp>
      <p:sp>
        <p:nvSpPr>
          <p:cNvPr id="22" name="TextBox 21"/>
          <p:cNvSpPr txBox="1"/>
          <p:nvPr/>
        </p:nvSpPr>
        <p:spPr>
          <a:xfrm>
            <a:off x="8065008" y="3703320"/>
            <a:ext cx="3364991" cy="393953"/>
          </a:xfrm>
          <a:prstGeom prst="rect">
            <a:avLst/>
          </a:prstGeom>
          <a:noFill/>
        </p:spPr>
        <p:txBody>
          <a:bodyPr wrap="square">
            <a:spAutoFit/>
          </a:bodyPr>
          <a:lstStyle/>
          <a:p>
            <a:r>
              <a:rPr sz="1500" b="0" i="0">
                <a:solidFill>
                  <a:srgbClr val="1A1A1A"/>
                </a:solidFill>
                <a:latin typeface="Arial"/>
              </a:rPr>
              <a:t>Carried by PNIA</a:t>
            </a:r>
          </a:p>
        </p:txBody>
      </p:sp>
      <p:sp>
        <p:nvSpPr>
          <p:cNvPr id="23" name="Rectangle 22"/>
          <p:cNvSpPr/>
          <p:nvPr/>
        </p:nvSpPr>
        <p:spPr>
          <a:xfrm>
            <a:off x="658368" y="41155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170425"/>
            <a:ext cx="3456432" cy="393953"/>
          </a:xfrm>
          <a:prstGeom prst="rect">
            <a:avLst/>
          </a:prstGeom>
          <a:noFill/>
        </p:spPr>
        <p:txBody>
          <a:bodyPr wrap="square">
            <a:spAutoFit/>
          </a:bodyPr>
          <a:lstStyle/>
          <a:p>
            <a:r>
              <a:rPr sz="1500" b="1" i="0">
                <a:solidFill>
                  <a:srgbClr val="1A1A1A"/>
                </a:solidFill>
                <a:latin typeface="Arial"/>
              </a:rPr>
              <a:t>Enrolment IT infrastructure</a:t>
            </a:r>
          </a:p>
        </p:txBody>
      </p:sp>
      <p:sp>
        <p:nvSpPr>
          <p:cNvPr id="25" name="TextBox 24"/>
          <p:cNvSpPr txBox="1"/>
          <p:nvPr/>
        </p:nvSpPr>
        <p:spPr>
          <a:xfrm>
            <a:off x="4224528" y="4170425"/>
            <a:ext cx="3730752" cy="393953"/>
          </a:xfrm>
          <a:prstGeom prst="rect">
            <a:avLst/>
          </a:prstGeom>
          <a:noFill/>
        </p:spPr>
        <p:txBody>
          <a:bodyPr wrap="square">
            <a:spAutoFit/>
          </a:bodyPr>
          <a:lstStyle/>
          <a:p>
            <a:r>
              <a:rPr sz="1500" b="0" i="0">
                <a:solidFill>
                  <a:srgbClr val="1A1A1A"/>
                </a:solidFill>
                <a:latin typeface="Arial"/>
              </a:rPr>
              <a:t>Kits for the schools</a:t>
            </a:r>
          </a:p>
        </p:txBody>
      </p:sp>
      <p:sp>
        <p:nvSpPr>
          <p:cNvPr id="26" name="TextBox 25"/>
          <p:cNvSpPr txBox="1"/>
          <p:nvPr/>
        </p:nvSpPr>
        <p:spPr>
          <a:xfrm>
            <a:off x="8065008" y="4170425"/>
            <a:ext cx="3364991" cy="393953"/>
          </a:xfrm>
          <a:prstGeom prst="rect">
            <a:avLst/>
          </a:prstGeom>
          <a:noFill/>
        </p:spPr>
        <p:txBody>
          <a:bodyPr wrap="square">
            <a:spAutoFit/>
          </a:bodyPr>
          <a:lstStyle/>
          <a:p>
            <a:r>
              <a:rPr sz="1500" b="0" i="0">
                <a:solidFill>
                  <a:srgbClr val="1A1A1A"/>
                </a:solidFill>
                <a:latin typeface="Arial"/>
              </a:rPr>
              <a:t>Carried by PNIA</a:t>
            </a:r>
          </a:p>
        </p:txBody>
      </p:sp>
      <p:sp>
        <p:nvSpPr>
          <p:cNvPr id="27" name="Rectangle 26"/>
          <p:cNvSpPr/>
          <p:nvPr/>
        </p:nvSpPr>
        <p:spPr>
          <a:xfrm>
            <a:off x="658368" y="45826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637532"/>
            <a:ext cx="3456432" cy="641604"/>
          </a:xfrm>
          <a:prstGeom prst="rect">
            <a:avLst/>
          </a:prstGeom>
          <a:noFill/>
        </p:spPr>
        <p:txBody>
          <a:bodyPr wrap="square">
            <a:spAutoFit/>
          </a:bodyPr>
          <a:lstStyle/>
          <a:p>
            <a:r>
              <a:rPr sz="1500" b="1" i="0">
                <a:solidFill>
                  <a:srgbClr val="1A1A1A"/>
                </a:solidFill>
                <a:latin typeface="Arial"/>
              </a:rPr>
              <a:t>Information, education and communication</a:t>
            </a:r>
          </a:p>
        </p:txBody>
      </p:sp>
      <p:sp>
        <p:nvSpPr>
          <p:cNvPr id="29" name="TextBox 28"/>
          <p:cNvSpPr txBox="1"/>
          <p:nvPr/>
        </p:nvSpPr>
        <p:spPr>
          <a:xfrm>
            <a:off x="4224528" y="4637532"/>
            <a:ext cx="3730752" cy="641604"/>
          </a:xfrm>
          <a:prstGeom prst="rect">
            <a:avLst/>
          </a:prstGeom>
          <a:noFill/>
        </p:spPr>
        <p:txBody>
          <a:bodyPr wrap="square">
            <a:spAutoFit/>
          </a:bodyPr>
          <a:lstStyle/>
          <a:p>
            <a:r>
              <a:rPr sz="1500" b="0" i="0">
                <a:solidFill>
                  <a:srgbClr val="1A1A1A"/>
                </a:solidFill>
                <a:latin typeface="Arial"/>
              </a:rPr>
              <a:t>Campaigns to explain it all</a:t>
            </a:r>
          </a:p>
        </p:txBody>
      </p:sp>
      <p:sp>
        <p:nvSpPr>
          <p:cNvPr id="30" name="TextBox 29"/>
          <p:cNvSpPr txBox="1"/>
          <p:nvPr/>
        </p:nvSpPr>
        <p:spPr>
          <a:xfrm>
            <a:off x="8065008" y="4637532"/>
            <a:ext cx="3364991" cy="641604"/>
          </a:xfrm>
          <a:prstGeom prst="rect">
            <a:avLst/>
          </a:prstGeom>
          <a:noFill/>
        </p:spPr>
        <p:txBody>
          <a:bodyPr wrap="square">
            <a:spAutoFit/>
          </a:bodyPr>
          <a:lstStyle/>
          <a:p>
            <a:r>
              <a:rPr sz="1500" b="0" i="0">
                <a:solidFill>
                  <a:srgbClr val="1A1A1A"/>
                </a:solidFill>
                <a:latin typeface="Arial"/>
              </a:rPr>
              <a:t>Carried by PNIA</a:t>
            </a:r>
          </a:p>
        </p:txBody>
      </p:sp>
      <p:sp>
        <p:nvSpPr>
          <p:cNvPr id="31" name="TextBox 30"/>
          <p:cNvSpPr txBox="1"/>
          <p:nvPr/>
        </p:nvSpPr>
        <p:spPr>
          <a:xfrm>
            <a:off x="658368" y="5407151"/>
            <a:ext cx="10881360" cy="365760"/>
          </a:xfrm>
          <a:prstGeom prst="rect">
            <a:avLst/>
          </a:prstGeom>
          <a:noFill/>
        </p:spPr>
        <p:txBody>
          <a:bodyPr wrap="square">
            <a:spAutoFit/>
          </a:bodyPr>
          <a:lstStyle/>
          <a:p>
            <a:r>
              <a:rPr sz="1300" b="0" i="1">
                <a:solidFill>
                  <a:srgbClr val="595959"/>
                </a:solidFill>
                <a:latin typeface="Arial"/>
              </a:rPr>
              <a:t>No figures: the point is which costs would appear twice.</a:t>
            </a:r>
          </a:p>
        </p:txBody>
      </p:sp>
      <p:sp>
        <p:nvSpPr>
          <p:cNvPr id="32" name="TextBox 3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what exists</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A country that runs an identity system reuses it behind a services facade.</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An applicant can register on a service by signing in with the foundational identity.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An identity system is costly to build and to run, so a country builds it once and every service uses it, and a ministry that builds its own pays those costs a second time.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which identity costs a sector scheme would pay twice.</a:t>
            </a:r>
          </a:p>
          <a:p>
            <a:pPr algn="l">
              <a:spcAft>
                <a:spcPts val="400"/>
              </a:spcAft>
            </a:pPr>
            <a:r>
              <a:rPr sz="1800" b="0" i="0">
                <a:solidFill>
                  <a:srgbClr val="595959"/>
                </a:solidFill>
                <a:latin typeface="Arial"/>
              </a:rPr>
              <a:t>The prompt in the companion material gives you a table of the study's six cost categories, each marked as duplicated or not by the proposed scheme.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Identity Building Block specification, Version 2.0 (December 2025), sections 2.3.1 and 2.4</a:t>
            </a:r>
          </a:p>
          <a:p>
            <a:pPr>
              <a:spcAft>
                <a:spcPts val="1000"/>
              </a:spcAft>
            </a:pPr>
            <a:r>
              <a:rPr sz="1800" b="0" i="0">
                <a:solidFill>
                  <a:srgbClr val="1A1A1A"/>
                </a:solidFill>
                <a:latin typeface="Arial"/>
              </a:rPr>
              <a:t>•  GovStack Registration Building Block specification, section 9.1.3</a:t>
            </a:r>
          </a:p>
          <a:p>
            <a:pPr>
              <a:spcAft>
                <a:spcPts val="1000"/>
              </a:spcAft>
            </a:pPr>
            <a:r>
              <a:rPr sz="1800" b="0" i="0">
                <a:solidFill>
                  <a:srgbClr val="1A1A1A"/>
                </a:solidFill>
                <a:latin typeface="Arial"/>
              </a:rPr>
              <a:t>•  World Bank, Understanding Cost Drivers of Identification Systems (2018), pages 3, 5 and 7</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