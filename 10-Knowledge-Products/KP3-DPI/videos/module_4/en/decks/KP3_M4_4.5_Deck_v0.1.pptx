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2" r:id="rId54"/>
    <p:sldId id="2733" r:id="rId55"/>
    <p:sldId id="2734" r:id="rId56"/>
    <p:sldId id="2735" r:id="rId57"/>
    <p:sldId id="2736" r:id="rId58"/>
    <p:sldId id="2737" r:id="rId59"/>
    <p:sldId id="2738" r:id="rId60"/>
    <p:sldId id="2739" r:id="rId61"/>
    <p:sldId id="2740"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Once the Payments block is installed, a service still cannot pay anyone. Five things have to be set up first, and the proof that they work is one small test payment whose status comes back.</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the sender. The block accepts payment requests only from a calling block it has been configured to accept as a source. Second, the programme. Each programme has its payment account and its currency. The specification processes each currency on its own, without conversion, and names currencies by their ISO 4217 codes. So a programme that pays in one currency must pay into accounts held in that same currency.</a:t>
            </a:r>
          </a:p>
          <a:p/>
          <a:p>
            <a:r>
              <a:t>Production cue: Configurations P1 and P2. Text-only.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the beneficiary. Before anyone is paid, the service registers each beneficiary in the block's account mapper: a functional identifier, the way of payment, such as a bank account or mobile money, and the financial address where the money goes. The mapper answers on a callback address the service gives it. The service's own register keeps no payment details. In Progressa the functional identifier is the learner's number in the learner register, never the national number.</a:t>
            </a:r>
          </a:p>
          <a:p/>
          <a:p>
            <a:r>
              <a:t>Production cue: Configuration P3. Text-only.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Fourth, the payment. The service hands the block a batch, which may hold one payment or many. The specification sets the least a payment request must contain: the payer's identifier, the payee's identifier, the amount, the currency, the policy, and the sender's own identifier for the transaction. The block gives each payment in the batch an instruction identifier of its own, so that every payment can be followed.</a:t>
            </a:r>
          </a:p>
          <a:p/>
          <a:p>
            <a:r>
              <a:t>Production cue: Configuration P4. Text-only.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Fifth, the route for status. The service gives the block an address to which status is sent, and it can also ask for the status of one payment. A status is success, failed, or in progress. Around all five sits transport and security. The block's interface is published through the Information Mediator, every call travels over a secure connection with an authorisation token, and the messages about a payment are authenticated.</a:t>
            </a:r>
          </a:p>
          <a:p/>
          <a:p>
            <a:r>
              <a:t>Production cue: Configurations P5 and P7. Text-only.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The check that proves the connection uses one test beneficiary, one test amount, and a test environment. The beneficiary is registered, and the callback confirms it. A batch of one payment is submitted. The service then asks for the status of that payment. The check passes when the answer is a status, success, failed or in progress, rather than an error, and when the same status arrives at the address configured for it.</a:t>
            </a:r>
          </a:p>
          <a:p/>
          <a:p>
            <a:r>
              <a:t>Production cue: Checks P1 to P7. Until the checks pass, the slide stays as text and the storyboard stands in for the recording.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Sender, programme, beneficiary, payment, and the route for status. Then one test payment, and its status comes back.</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Generating the payment connection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To pay through the block you configure the sender, the programme, the beneficiary, the payment and the route for its status, and the proof is one test payment whose status comes back.</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Once the Payments block is installed, a service still cannot pay anyone.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Five things have to be set up first, and the proof that they work is one small test payment whose status comes back.</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Generating the payment connection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sender and the programme</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1. The sender</a:t>
            </a:r>
          </a:p>
          <a:p>
            <a:pPr>
              <a:spcAft>
                <a:spcPts val="300"/>
              </a:spcAft>
            </a:pPr>
            <a:r>
              <a:rPr sz="1900" b="0" i="0">
                <a:solidFill>
                  <a:srgbClr val="595959"/>
                </a:solidFill>
                <a:latin typeface="Arial"/>
              </a:rPr>
              <a:t>The calling block, configured as an accepted source of payment requests.</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2. The programme</a:t>
            </a:r>
          </a:p>
          <a:p>
            <a:pPr>
              <a:spcAft>
                <a:spcPts val="300"/>
              </a:spcAft>
            </a:pPr>
            <a:r>
              <a:rPr sz="1900" b="0" i="0">
                <a:solidFill>
                  <a:srgbClr val="595959"/>
                </a:solidFill>
                <a:latin typeface="Arial"/>
              </a:rPr>
              <a:t>Its payment account and its currency, by ISO 4217 code.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Generating the payment connection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beneficiary</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3. The beneficiary, registered in the account mapper: a functional identifier, the way of payment, the financial address.</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The mapper answers on a callback address; the service's own register keeps no payment details.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Generating the payment connection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payment</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4. The payment, sent as a batch of one or many.</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At the least</a:t>
            </a:r>
          </a:p>
          <a:p>
            <a:pPr>
              <a:spcAft>
                <a:spcPts val="300"/>
              </a:spcAft>
            </a:pPr>
            <a:r>
              <a:rPr sz="1900" b="0" i="0">
                <a:solidFill>
                  <a:srgbClr val="595959"/>
                </a:solidFill>
                <a:latin typeface="Arial"/>
              </a:rPr>
              <a:t>The payer's identifier, the payee's identifier, the amount, the currency, the policy, and the sender's own transaction identifier.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Generating the payment connection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route for status, and the security around it</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5. The route for status: an address to which status is sent, and a call for the status of one payment</a:t>
            </a:r>
          </a:p>
          <a:p>
            <a:pPr>
              <a:spcAft>
                <a:spcPts val="300"/>
              </a:spcAft>
            </a:pPr>
            <a:r>
              <a:rPr sz="1900" b="0" i="0">
                <a:solidFill>
                  <a:srgbClr val="595959"/>
                </a:solidFill>
                <a:latin typeface="Arial"/>
              </a:rPr>
              <a:t>Success, failed, in progress.</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Around all five</a:t>
            </a:r>
          </a:p>
          <a:p>
            <a:pPr>
              <a:spcAft>
                <a:spcPts val="300"/>
              </a:spcAft>
            </a:pPr>
            <a:r>
              <a:rPr sz="1900" b="0" i="0">
                <a:solidFill>
                  <a:srgbClr val="595959"/>
                </a:solidFill>
                <a:latin typeface="Arial"/>
              </a:rPr>
              <a:t>The interface published through the Information Mediator, secure connections, authorisation tokens, authenticated messages.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Generating the payment connection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check: one test payment, and its status</a:t>
            </a:r>
          </a:p>
        </p:txBody>
      </p:sp>
      <p:sp>
        <p:nvSpPr>
          <p:cNvPr id="4" name="Oval 3"/>
          <p:cNvSpPr/>
          <p:nvPr/>
        </p:nvSpPr>
        <p:spPr>
          <a:xfrm>
            <a:off x="621792" y="166420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600199"/>
            <a:ext cx="10527487" cy="1143000"/>
          </a:xfrm>
          <a:prstGeom prst="rect">
            <a:avLst/>
          </a:prstGeom>
          <a:noFill/>
        </p:spPr>
        <p:txBody>
          <a:bodyPr wrap="square">
            <a:spAutoFit/>
          </a:bodyPr>
          <a:lstStyle/>
          <a:p>
            <a:pPr>
              <a:spcAft>
                <a:spcPts val="300"/>
              </a:spcAft>
            </a:pPr>
            <a:r>
              <a:rPr sz="2200" b="1" i="0">
                <a:solidFill>
                  <a:srgbClr val="1A1A1A"/>
                </a:solidFill>
                <a:latin typeface="Arial"/>
              </a:rPr>
              <a:t>One test beneficiary registered.</a:t>
            </a:r>
          </a:p>
        </p:txBody>
      </p:sp>
      <p:sp>
        <p:nvSpPr>
          <p:cNvPr id="6" name="Rectangle 5"/>
          <p:cNvSpPr/>
          <p:nvPr/>
        </p:nvSpPr>
        <p:spPr>
          <a:xfrm>
            <a:off x="621792" y="2747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85292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788920"/>
            <a:ext cx="10527487" cy="1143000"/>
          </a:xfrm>
          <a:prstGeom prst="rect">
            <a:avLst/>
          </a:prstGeom>
          <a:noFill/>
        </p:spPr>
        <p:txBody>
          <a:bodyPr wrap="square">
            <a:spAutoFit/>
          </a:bodyPr>
          <a:lstStyle/>
          <a:p>
            <a:pPr>
              <a:spcAft>
                <a:spcPts val="300"/>
              </a:spcAft>
            </a:pPr>
            <a:r>
              <a:rPr sz="2200" b="1" i="0">
                <a:solidFill>
                  <a:srgbClr val="1A1A1A"/>
                </a:solidFill>
                <a:latin typeface="Arial"/>
              </a:rPr>
              <a:t>A batch of one payment submitted.</a:t>
            </a:r>
          </a:p>
        </p:txBody>
      </p:sp>
      <p:sp>
        <p:nvSpPr>
          <p:cNvPr id="9" name="Rectangle 8"/>
          <p:cNvSpPr/>
          <p:nvPr/>
        </p:nvSpPr>
        <p:spPr>
          <a:xfrm>
            <a:off x="621792" y="39364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0416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977639"/>
            <a:ext cx="10527487" cy="1143000"/>
          </a:xfrm>
          <a:prstGeom prst="rect">
            <a:avLst/>
          </a:prstGeom>
          <a:noFill/>
        </p:spPr>
        <p:txBody>
          <a:bodyPr wrap="square">
            <a:spAutoFit/>
          </a:bodyPr>
          <a:lstStyle/>
          <a:p>
            <a:pPr>
              <a:spcAft>
                <a:spcPts val="300"/>
              </a:spcAft>
            </a:pPr>
            <a:r>
              <a:rPr sz="2200" b="1" i="0">
                <a:solidFill>
                  <a:srgbClr val="1A1A1A"/>
                </a:solidFill>
                <a:latin typeface="Arial"/>
              </a:rPr>
              <a:t>Its status returned.</a:t>
            </a:r>
          </a:p>
        </p:txBody>
      </p:sp>
      <p:sp>
        <p:nvSpPr>
          <p:cNvPr id="12" name="TextBox 11"/>
          <p:cNvSpPr txBox="1"/>
          <p:nvPr/>
        </p:nvSpPr>
        <p:spPr>
          <a:xfrm>
            <a:off x="658368" y="5239512"/>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Generating the payment connection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To pay through the block you configure the sender, the programme, the beneficiary, the payment and the route for its status, and the proof is one test payment whose status comes back.</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payment connection for one programme.</a:t>
            </a:r>
          </a:p>
          <a:p>
            <a:pPr algn="l">
              <a:spcAft>
                <a:spcPts val="400"/>
              </a:spcAft>
            </a:pPr>
            <a:r>
              <a:rPr sz="1800" b="0" i="0">
                <a:solidFill>
                  <a:srgbClr val="595959"/>
                </a:solidFill>
                <a:latin typeface="Arial"/>
              </a:rPr>
              <a:t>The prompt in the companion material gives you a draft configuration of the source, the programme, the onboarding, the batch and the route for status, with every test value marked.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Generating the payment connection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Payments Building Block specification, Version 3.0 (December 2025), sections 4.16, 5.1.14, 5.3.1, 5.4, 6.3, 6.4, 6.11, 6.14, 7.1.1, 7.2.1, 8.1.2, 8.1.4 and 9.1.1</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Generating the payment connection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