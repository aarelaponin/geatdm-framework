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ministry plans a service on the national identity, someone has to answer a plain question. What does the identity authority actually offer today, and is it what the published Identity block offers? The two are often not the same.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block's subject is foundational identity: the proof of who a person is, which serves a wide range of public and private services. Functional identity, the proof used for one purpose or one sector, is outside it, and the specification names education among the functional domains. So the block issues no learner identity. A learner number belongs to the education sector and its register. The block's work is to verify the person behind it.</a:t>
            </a:r>
          </a:p>
          <a:p/>
          <a:p>
            <a:r>
              <a:t>Production cue: The scope of the block, as the specification states it. Text-only.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lists six services the block offers to others: enrolment, identity verification, queries on identity data for authorised partners, credential management, federation with a person's other identities, and notifications of events such as a birth. Four kinds of actor use it: the administrator who runs it, registered partners, the users who manage their own identity, and subscribers to notifications. A service of the ministry of education is a registered partner.</a:t>
            </a:r>
          </a:p>
          <a:p/>
          <a:p>
            <a:r>
              <a:t>Production cue: Text-only list; no product screens.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rules shape every connection. When a person is enrolled, the block creates a unique identity number and keeps it secret inside the block. Each relying service receives instead an identifier made for that service and that person. It is the same each time the person signs in to that service, and different from the one any other service receives. The person can be verified everywhere, and no service holds the national number.</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published interfaces are a minimal set, and verification among them is OpenID Connect, a common standard for signing in. In the published flow the person's browser is taken to the block's own screens. The person signs in there and approves what may be shared, and the block releases only that. Only the calls for the token and for the person's information pass from server to server. The specification names the Information Mediator for building blocks that talk to one another, not for the person's own sign-in.</a:t>
            </a:r>
          </a:p>
          <a:p/>
          <a:p>
            <a:r>
              <a:t>Production cue: Three text boxes at most; the drawn sign-in (figure F10) belongs to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Progressa. On Linkup, PNIA offers one service today: a read of a person by national number, which only the examination authority may call. It is a contract of Progressa's own. It works server to server, with no person present, and it is keyed on the national number. The published block asks the person to sign in, and gives each service its own identifier. The specification's requirements also ask for a query of a person's attributes, but its published interfaces include none. So PNIA's read is useful, and it is Progressa's own, not the published block.</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Verify the person, release only what the person approves, issue nothing. Then check what your authority runs today before you plan on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published Identity block, and what the identity authority offers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published Identity block verifies who a person is, releases only what that person approves and issues no learner identity, so check what your identity authority really offers before you plan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Before a ministry plans a service on the national identity, someone has to answer a plain question.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What does the identity authority actually offer today, and is it what the published Identity block offers?</a:t>
            </a:r>
          </a:p>
          <a:p>
            <a:pPr>
              <a:spcAft>
                <a:spcPts val="800"/>
              </a:spcAft>
            </a:pPr>
            <a:r>
              <a:rPr sz="1700" b="0" i="0">
                <a:solidFill>
                  <a:srgbClr val="595959"/>
                </a:solidFill>
                <a:latin typeface="Arial"/>
              </a:rPr>
              <a:t>The two are often not the same.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Foundational, not functional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Foundational identity: proof of who a person is, for many public and private services</a:t>
            </a:r>
          </a:p>
          <a:p>
            <a:pPr>
              <a:spcAft>
                <a:spcPts val="300"/>
              </a:spcAft>
            </a:pPr>
            <a:r>
              <a:rPr sz="1900" b="0" i="0">
                <a:solidFill>
                  <a:srgbClr val="595959"/>
                </a:solidFill>
                <a:latin typeface="Arial"/>
              </a:rPr>
              <a:t>The block's subject.</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Functional identity: proof for one purpose or one sector, such as education</a:t>
            </a:r>
          </a:p>
          <a:p>
            <a:pPr>
              <a:spcAft>
                <a:spcPts val="300"/>
              </a:spcAft>
            </a:pPr>
            <a:r>
              <a:rPr sz="1900" b="0" i="0">
                <a:solidFill>
                  <a:srgbClr val="595959"/>
                </a:solidFill>
                <a:latin typeface="Arial"/>
              </a:rPr>
              <a:t>Outside the block.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block offers, and to whom</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Six services</a:t>
            </a:r>
          </a:p>
          <a:p>
            <a:pPr>
              <a:spcAft>
                <a:spcPts val="300"/>
              </a:spcAft>
            </a:pPr>
            <a:r>
              <a:rPr sz="1900" b="0" i="0">
                <a:solidFill>
                  <a:srgbClr val="595959"/>
                </a:solidFill>
                <a:latin typeface="Arial"/>
              </a:rPr>
              <a:t>Enrolment, identity verification, queries, credential management, federation with other identities, notifications.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Four actors</a:t>
            </a:r>
          </a:p>
          <a:p>
            <a:pPr>
              <a:spcAft>
                <a:spcPts val="300"/>
              </a:spcAft>
            </a:pPr>
            <a:r>
              <a:rPr sz="1900" b="0" i="0">
                <a:solidFill>
                  <a:srgbClr val="595959"/>
                </a:solidFill>
                <a:latin typeface="Arial"/>
              </a:rPr>
              <a:t>The administrator, registered partners, users, subscribers.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national number stays inside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The unique identity number is kept secret inside the block.</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Each relying service receives an identifier made for that service and that person.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the published block verifies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published interfaces are a minimal set; verification is OpenID Connect.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person's browser goes to the block's own screens, where the person signs in and approves what may be shared.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Only the calls for the token and for the person's information pass from server to server.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what PNIA offers today, beside the published block</a:t>
            </a:r>
          </a:p>
        </p:txBody>
      </p:sp>
      <p:sp>
        <p:nvSpPr>
          <p:cNvPr id="4" name="TextBox 3"/>
          <p:cNvSpPr txBox="1"/>
          <p:nvPr/>
        </p:nvSpPr>
        <p:spPr>
          <a:xfrm>
            <a:off x="658368" y="2151379"/>
            <a:ext cx="5330952" cy="457200"/>
          </a:xfrm>
          <a:prstGeom prst="rect">
            <a:avLst/>
          </a:prstGeom>
          <a:noFill/>
        </p:spPr>
        <p:txBody>
          <a:bodyPr wrap="square">
            <a:spAutoFit/>
          </a:bodyPr>
          <a:lstStyle/>
          <a:p>
            <a:r>
              <a:rPr sz="1600" b="1" i="0">
                <a:solidFill>
                  <a:srgbClr val="006E96"/>
                </a:solidFill>
                <a:latin typeface="Arial"/>
              </a:rPr>
              <a:t>PNIA's present service on Linkup</a:t>
            </a:r>
          </a:p>
        </p:txBody>
      </p:sp>
      <p:sp>
        <p:nvSpPr>
          <p:cNvPr id="5" name="TextBox 4"/>
          <p:cNvSpPr txBox="1"/>
          <p:nvPr/>
        </p:nvSpPr>
        <p:spPr>
          <a:xfrm>
            <a:off x="6099048" y="2151379"/>
            <a:ext cx="5330952" cy="457200"/>
          </a:xfrm>
          <a:prstGeom prst="rect">
            <a:avLst/>
          </a:prstGeom>
          <a:noFill/>
        </p:spPr>
        <p:txBody>
          <a:bodyPr wrap="square">
            <a:spAutoFit/>
          </a:bodyPr>
          <a:lstStyle/>
          <a:p>
            <a:r>
              <a:rPr sz="1600" b="1" i="0">
                <a:solidFill>
                  <a:srgbClr val="006E96"/>
                </a:solidFill>
                <a:latin typeface="Arial"/>
              </a:rPr>
              <a:t>The published Identity block</a:t>
            </a:r>
          </a:p>
        </p:txBody>
      </p:sp>
      <p:sp>
        <p:nvSpPr>
          <p:cNvPr id="6" name="Rectangle 5"/>
          <p:cNvSpPr/>
          <p:nvPr/>
        </p:nvSpPr>
        <p:spPr>
          <a:xfrm>
            <a:off x="658368" y="2608579"/>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00019"/>
            <a:ext cx="5330952" cy="410464"/>
          </a:xfrm>
          <a:prstGeom prst="rect">
            <a:avLst/>
          </a:prstGeom>
          <a:noFill/>
        </p:spPr>
        <p:txBody>
          <a:bodyPr wrap="square">
            <a:spAutoFit/>
          </a:bodyPr>
          <a:lstStyle/>
          <a:p>
            <a:r>
              <a:rPr sz="1600" b="1" i="0">
                <a:solidFill>
                  <a:srgbClr val="1A1A1A"/>
                </a:solidFill>
                <a:latin typeface="Arial"/>
              </a:rPr>
              <a:t>A read of a person by national number</a:t>
            </a:r>
          </a:p>
        </p:txBody>
      </p:sp>
      <p:sp>
        <p:nvSpPr>
          <p:cNvPr id="8" name="TextBox 7"/>
          <p:cNvSpPr txBox="1"/>
          <p:nvPr/>
        </p:nvSpPr>
        <p:spPr>
          <a:xfrm>
            <a:off x="6099048" y="2700019"/>
            <a:ext cx="5330952" cy="410464"/>
          </a:xfrm>
          <a:prstGeom prst="rect">
            <a:avLst/>
          </a:prstGeom>
          <a:noFill/>
        </p:spPr>
        <p:txBody>
          <a:bodyPr wrap="square">
            <a:spAutoFit/>
          </a:bodyPr>
          <a:lstStyle/>
          <a:p>
            <a:r>
              <a:rPr sz="1600" b="0" i="0">
                <a:solidFill>
                  <a:srgbClr val="1A1A1A"/>
                </a:solidFill>
                <a:latin typeface="Arial"/>
              </a:rPr>
              <a:t>A sign-in through OpenID Connect</a:t>
            </a:r>
          </a:p>
        </p:txBody>
      </p:sp>
      <p:sp>
        <p:nvSpPr>
          <p:cNvPr id="9" name="Rectangle 8"/>
          <p:cNvSpPr/>
          <p:nvPr/>
        </p:nvSpPr>
        <p:spPr>
          <a:xfrm>
            <a:off x="658368" y="3128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83636"/>
            <a:ext cx="5330952" cy="410464"/>
          </a:xfrm>
          <a:prstGeom prst="rect">
            <a:avLst/>
          </a:prstGeom>
          <a:noFill/>
        </p:spPr>
        <p:txBody>
          <a:bodyPr wrap="square">
            <a:spAutoFit/>
          </a:bodyPr>
          <a:lstStyle/>
          <a:p>
            <a:r>
              <a:rPr sz="1600" b="1" i="0">
                <a:solidFill>
                  <a:srgbClr val="1A1A1A"/>
                </a:solidFill>
                <a:latin typeface="Arial"/>
              </a:rPr>
              <a:t>No person present</a:t>
            </a:r>
          </a:p>
        </p:txBody>
      </p:sp>
      <p:sp>
        <p:nvSpPr>
          <p:cNvPr id="11" name="TextBox 10"/>
          <p:cNvSpPr txBox="1"/>
          <p:nvPr/>
        </p:nvSpPr>
        <p:spPr>
          <a:xfrm>
            <a:off x="6099048" y="3183636"/>
            <a:ext cx="5330952" cy="410464"/>
          </a:xfrm>
          <a:prstGeom prst="rect">
            <a:avLst/>
          </a:prstGeom>
          <a:noFill/>
        </p:spPr>
        <p:txBody>
          <a:bodyPr wrap="square">
            <a:spAutoFit/>
          </a:bodyPr>
          <a:lstStyle/>
          <a:p>
            <a:r>
              <a:rPr sz="1600" b="0" i="0">
                <a:solidFill>
                  <a:srgbClr val="1A1A1A"/>
                </a:solidFill>
                <a:latin typeface="Arial"/>
              </a:rPr>
              <a:t>The person present, approving what is shared</a:t>
            </a:r>
          </a:p>
        </p:txBody>
      </p:sp>
      <p:sp>
        <p:nvSpPr>
          <p:cNvPr id="12" name="Rectangle 11"/>
          <p:cNvSpPr/>
          <p:nvPr/>
        </p:nvSpPr>
        <p:spPr>
          <a:xfrm>
            <a:off x="658368" y="3612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667252"/>
            <a:ext cx="5330952" cy="410464"/>
          </a:xfrm>
          <a:prstGeom prst="rect">
            <a:avLst/>
          </a:prstGeom>
          <a:noFill/>
        </p:spPr>
        <p:txBody>
          <a:bodyPr wrap="square">
            <a:spAutoFit/>
          </a:bodyPr>
          <a:lstStyle/>
          <a:p>
            <a:r>
              <a:rPr sz="1600" b="1" i="0">
                <a:solidFill>
                  <a:srgbClr val="1A1A1A"/>
                </a:solidFill>
                <a:latin typeface="Arial"/>
              </a:rPr>
              <a:t>Keyed on the national number</a:t>
            </a:r>
          </a:p>
        </p:txBody>
      </p:sp>
      <p:sp>
        <p:nvSpPr>
          <p:cNvPr id="14" name="TextBox 13"/>
          <p:cNvSpPr txBox="1"/>
          <p:nvPr/>
        </p:nvSpPr>
        <p:spPr>
          <a:xfrm>
            <a:off x="6099048" y="3667252"/>
            <a:ext cx="5330952" cy="410464"/>
          </a:xfrm>
          <a:prstGeom prst="rect">
            <a:avLst/>
          </a:prstGeom>
          <a:noFill/>
        </p:spPr>
        <p:txBody>
          <a:bodyPr wrap="square">
            <a:spAutoFit/>
          </a:bodyPr>
          <a:lstStyle/>
          <a:p>
            <a:r>
              <a:rPr sz="1600" b="0" i="0">
                <a:solidFill>
                  <a:srgbClr val="1A1A1A"/>
                </a:solidFill>
                <a:latin typeface="Arial"/>
              </a:rPr>
              <a:t>Each service receives its own identifier</a:t>
            </a:r>
          </a:p>
        </p:txBody>
      </p:sp>
      <p:sp>
        <p:nvSpPr>
          <p:cNvPr id="15" name="Rectangle 14"/>
          <p:cNvSpPr/>
          <p:nvPr/>
        </p:nvSpPr>
        <p:spPr>
          <a:xfrm>
            <a:off x="658368" y="4096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150868"/>
            <a:ext cx="5330952" cy="410464"/>
          </a:xfrm>
          <a:prstGeom prst="rect">
            <a:avLst/>
          </a:prstGeom>
          <a:noFill/>
        </p:spPr>
        <p:txBody>
          <a:bodyPr wrap="square">
            <a:spAutoFit/>
          </a:bodyPr>
          <a:lstStyle/>
          <a:p>
            <a:r>
              <a:rPr sz="1600" b="1" i="0">
                <a:solidFill>
                  <a:srgbClr val="1A1A1A"/>
                </a:solidFill>
                <a:latin typeface="Arial"/>
              </a:rPr>
              <a:t>Only the examination authority may call it</a:t>
            </a:r>
          </a:p>
        </p:txBody>
      </p:sp>
      <p:sp>
        <p:nvSpPr>
          <p:cNvPr id="17" name="TextBox 16"/>
          <p:cNvSpPr txBox="1"/>
          <p:nvPr/>
        </p:nvSpPr>
        <p:spPr>
          <a:xfrm>
            <a:off x="6099048" y="4150868"/>
            <a:ext cx="5330952" cy="410464"/>
          </a:xfrm>
          <a:prstGeom prst="rect">
            <a:avLst/>
          </a:prstGeom>
          <a:noFill/>
        </p:spPr>
        <p:txBody>
          <a:bodyPr wrap="square">
            <a:spAutoFit/>
          </a:bodyPr>
          <a:lstStyle/>
          <a:p>
            <a:r>
              <a:rPr sz="1600" b="0" i="0">
                <a:solidFill>
                  <a:srgbClr val="1A1A1A"/>
                </a:solidFill>
                <a:latin typeface="Arial"/>
              </a:rPr>
              <a:t>Any registered client</a:t>
            </a:r>
          </a:p>
        </p:txBody>
      </p:sp>
      <p:sp>
        <p:nvSpPr>
          <p:cNvPr id="18" name="Rectangle 17"/>
          <p:cNvSpPr/>
          <p:nvPr/>
        </p:nvSpPr>
        <p:spPr>
          <a:xfrm>
            <a:off x="658368" y="45796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634484"/>
            <a:ext cx="5330952" cy="410464"/>
          </a:xfrm>
          <a:prstGeom prst="rect">
            <a:avLst/>
          </a:prstGeom>
          <a:noFill/>
        </p:spPr>
        <p:txBody>
          <a:bodyPr wrap="square">
            <a:spAutoFit/>
          </a:bodyPr>
          <a:lstStyle/>
          <a:p>
            <a:r>
              <a:rPr sz="1600" b="1" i="0">
                <a:solidFill>
                  <a:srgbClr val="1A1A1A"/>
                </a:solidFill>
                <a:latin typeface="Arial"/>
              </a:rPr>
              <a:t>A contract of Progressa's own</a:t>
            </a:r>
          </a:p>
        </p:txBody>
      </p:sp>
      <p:sp>
        <p:nvSpPr>
          <p:cNvPr id="20" name="TextBox 19"/>
          <p:cNvSpPr txBox="1"/>
          <p:nvPr/>
        </p:nvSpPr>
        <p:spPr>
          <a:xfrm>
            <a:off x="6099048" y="4634484"/>
            <a:ext cx="5330952" cy="410464"/>
          </a:xfrm>
          <a:prstGeom prst="rect">
            <a:avLst/>
          </a:prstGeom>
          <a:noFill/>
        </p:spPr>
        <p:txBody>
          <a:bodyPr wrap="square">
            <a:spAutoFit/>
          </a:bodyPr>
          <a:lstStyle/>
          <a:p>
            <a:r>
              <a:rPr sz="1600" b="0" i="0">
                <a:solidFill>
                  <a:srgbClr val="1A1A1A"/>
                </a:solidFill>
                <a:latin typeface="Arial"/>
              </a:rPr>
              <a:t>The published minimal set</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published Identity block verifies who a person is, releases only what that person approves and issues no learner identity, so check what your identity authority really offers before you plan on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Compare your identity provider with the published Identity block.</a:t>
            </a:r>
          </a:p>
          <a:p>
            <a:pPr algn="l">
              <a:spcAft>
                <a:spcPts val="400"/>
              </a:spcAft>
            </a:pPr>
            <a:r>
              <a:rPr sz="1800" b="0" i="0">
                <a:solidFill>
                  <a:srgbClr val="595959"/>
                </a:solidFill>
                <a:latin typeface="Arial"/>
              </a:rPr>
              <a:t>The prompt in the companion material gives you a table of the interfaces your provider offers set against the published minimal set, with what is missing and what goes beyond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2, 3, 4, 5.1.2, 6, 8 and 9.1.1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