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14" r:id="rId36"/>
    <p:sldId id="2715" r:id="rId37"/>
    <p:sldId id="2716" r:id="rId38"/>
    <p:sldId id="2717" r:id="rId39"/>
    <p:sldId id="2718" r:id="rId40"/>
    <p:sldId id="2719" r:id="rId41"/>
    <p:sldId id="2720" r:id="rId42"/>
    <p:sldId id="2721" r:id="rId43"/>
    <p:sldId id="2722"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registration service that needs to know who the applicant is does not need an identity system of its own. It needs a connection: registered once with the identity block, asking for little, and keeping the right identifier.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step is to register the service as a client of the identity block. The client registration names the service, the addresses to which the block may send the person back after signing in, and the key the service signs its requests with. The block publishes two addresses every client needs: one where it describes its own configuration, and one where it publishes the keys that sign its tokens. The client identifier the block returns is the name the service carries from then on.</a:t>
            </a:r>
          </a:p>
          <a:p/>
          <a:p>
            <a:r>
              <a:t>Production cue: Configurations I1 and I2. Text-only.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specification gives two flows. With claims, the person signs in, sees what the service asks for, approves it, and the service receives those claims. Without claims, the service asks only for proof of the person, with the scope 'openid', and no consent page is shown. Scopes such as profile, address, email and phone each release a set of claims. Ask only for what a field of your form needs. A registration that needs a name and a date of birth should not ask for an address.</a:t>
            </a:r>
          </a:p>
          <a:p/>
          <a:p>
            <a:r>
              <a:t>Production cue: Configurations I3 and I4. Text-only.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Each sign-in comes back with an ID token, a signed record of who signed in, for which service, and when. It carries an authentication context value that says how the person signed in: with a PIN or a password, with a one-time code, with biometrics, or with a combination of these. The country chooses which methods it offers. The service states which values it accepts, and refuses a token whose value is not on its list. The access token lets the service fetch the claims the person approved.</a:t>
            </a:r>
          </a:p>
          <a:p/>
          <a:p>
            <a:r>
              <a:t>Production cue: Configuration I5. The six authentication context values of the specification may be listed as plain text in the written guide.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the rule that protects every learner. The token's subject is an identifier the block made for this service and this person. Keep that identifier, never the national number, which the specification says must stay secret inside the block. In Progressa, the learner register this course sets up behind PLR keeps a learner number of its own and stores PNIA's identifier beside it. The Digital Registries specification makes the mark for the owner's identifier optional, so the register's design must state it rather than assume it.</a:t>
            </a:r>
          </a:p>
          <a:p/>
          <a:p>
            <a:r>
              <a:t>Production cue: Configuration I6. Text-only.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screen: the text stand-in for the demonstration segment, with the footer marking the walkthrough, until the configurations it needs have passed their checks and the segment is recorded.</a:t>
            </a:r>
          </a:p>
          <a:p/>
          <a:p>
            <a:r>
              <a:t>VO: The check that proves the connection is a sign-in, not a single call. An enrolled test person, never a real one, signs in on the block's own screen. The service receives a code, exchanges it for a token, and verifies the token's signature against the block's published keys. The check passes when the issuer, the audience, the expiry and the subject are present and valid. A second test service then signs in the same person, and the two identifiers must differ.</a:t>
            </a:r>
          </a:p>
          <a:p/>
          <a:p>
            <a:r>
              <a:t>Production cue: Configuration I7 and checks I1 to I7. Until the checks pass, the slide stays as text and the storyboard stands in for the recording.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Register once, ask for little, and keep the identifier the block gives you. The national number never leaves the block.</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Generating the identity connection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service connects to the identity block as its registered client, asks only for what it needs, and keeps the identifier the block gives to that service, never the national number.</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registration service that needs to know who the applicant is does not need an identity system of its own.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It needs a connection: registered once with the identity block, asking for little, and keeping the right identifier.</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Generating the identity connection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Register the service as a client</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The client registration</a:t>
            </a:r>
          </a:p>
          <a:p>
            <a:pPr>
              <a:spcAft>
                <a:spcPts val="300"/>
              </a:spcAft>
            </a:pPr>
            <a:r>
              <a:rPr sz="1800" b="0" i="0">
                <a:solidFill>
                  <a:srgbClr val="595959"/>
                </a:solidFill>
                <a:latin typeface="Arial"/>
              </a:rPr>
              <a:t>The service's name, the addresses the person is sent back to, the service's signing key.</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Two published addresses</a:t>
            </a:r>
          </a:p>
          <a:p>
            <a:pPr>
              <a:spcAft>
                <a:spcPts val="300"/>
              </a:spcAft>
            </a:pPr>
            <a:r>
              <a:rPr sz="1800" b="0" i="0">
                <a:solidFill>
                  <a:srgbClr val="595959"/>
                </a:solidFill>
                <a:latin typeface="Arial"/>
              </a:rPr>
              <a:t>The block's configuration, and the keys that sign its tokens.</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The client identifier the block returns.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Generating the identity connection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Choose the flow, and ask for little</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With claims</a:t>
            </a:r>
          </a:p>
          <a:p>
            <a:pPr>
              <a:spcAft>
                <a:spcPts val="300"/>
              </a:spcAft>
            </a:pPr>
            <a:r>
              <a:rPr sz="1800" b="0" i="0">
                <a:solidFill>
                  <a:srgbClr val="595959"/>
                </a:solidFill>
                <a:latin typeface="Arial"/>
              </a:rPr>
              <a:t>The person signs in, sees what is asked, approves, and the service receives those claims.</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Without claims: scope openid</a:t>
            </a:r>
          </a:p>
          <a:p>
            <a:pPr>
              <a:spcAft>
                <a:spcPts val="300"/>
              </a:spcAft>
            </a:pPr>
            <a:r>
              <a:rPr sz="1800" b="0" i="0">
                <a:solidFill>
                  <a:srgbClr val="595959"/>
                </a:solidFill>
                <a:latin typeface="Arial"/>
              </a:rPr>
              <a:t>Proof of the person only, no consent page.</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Ask only for what a field of your form needs.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Generating the identity connection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How the person signed in, and the tokens</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The ID token</a:t>
            </a:r>
          </a:p>
          <a:p>
            <a:pPr>
              <a:spcAft>
                <a:spcPts val="300"/>
              </a:spcAft>
            </a:pPr>
            <a:r>
              <a:rPr sz="1800" b="0" i="0">
                <a:solidFill>
                  <a:srgbClr val="595959"/>
                </a:solidFill>
                <a:latin typeface="Arial"/>
              </a:rPr>
              <a:t>A signed record of who signed in, for which service, and when.</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Its authentication context value</a:t>
            </a:r>
          </a:p>
          <a:p>
            <a:pPr>
              <a:spcAft>
                <a:spcPts val="300"/>
              </a:spcAft>
            </a:pPr>
            <a:r>
              <a:rPr sz="1800" b="0" i="0">
                <a:solidFill>
                  <a:srgbClr val="595959"/>
                </a:solidFill>
                <a:latin typeface="Arial"/>
              </a:rPr>
              <a:t>PIN or password, one-time code, biometrics, or a combination.</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The access token</a:t>
            </a:r>
          </a:p>
          <a:p>
            <a:pPr>
              <a:spcAft>
                <a:spcPts val="300"/>
              </a:spcAft>
            </a:pPr>
            <a:r>
              <a:rPr sz="1800" b="0" i="0">
                <a:solidFill>
                  <a:srgbClr val="595959"/>
                </a:solidFill>
                <a:latin typeface="Arial"/>
              </a:rPr>
              <a:t>The key to the approved claims.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Generating the identity connection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Keep the identifier the block gives you</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The token's subject</a:t>
            </a:r>
          </a:p>
          <a:p>
            <a:pPr>
              <a:spcAft>
                <a:spcPts val="300"/>
              </a:spcAft>
            </a:pPr>
            <a:r>
              <a:rPr sz="1800" b="0" i="0">
                <a:solidFill>
                  <a:srgbClr val="595959"/>
                </a:solidFill>
                <a:latin typeface="Arial"/>
              </a:rPr>
              <a:t>An identifier made for this service and this person.</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Never the national number, which stays secret inside the block.</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Progressa</a:t>
            </a:r>
          </a:p>
          <a:p>
            <a:pPr>
              <a:spcAft>
                <a:spcPts val="300"/>
              </a:spcAft>
            </a:pPr>
            <a:r>
              <a:rPr sz="1800" b="0" i="0">
                <a:solidFill>
                  <a:srgbClr val="595959"/>
                </a:solidFill>
                <a:latin typeface="Arial"/>
              </a:rPr>
              <a:t>The learner register keeps a learner number of its own, with PNIA's identifier beside it.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Generating the identity connection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check: one sign-in, verified</a:t>
            </a:r>
          </a:p>
        </p:txBody>
      </p:sp>
      <p:sp>
        <p:nvSpPr>
          <p:cNvPr id="4" name="Oval 3"/>
          <p:cNvSpPr/>
          <p:nvPr/>
        </p:nvSpPr>
        <p:spPr>
          <a:xfrm>
            <a:off x="621792" y="1664207"/>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600199"/>
            <a:ext cx="10527487" cy="1143000"/>
          </a:xfrm>
          <a:prstGeom prst="rect">
            <a:avLst/>
          </a:prstGeom>
          <a:noFill/>
        </p:spPr>
        <p:txBody>
          <a:bodyPr wrap="square">
            <a:spAutoFit/>
          </a:bodyPr>
          <a:lstStyle/>
          <a:p>
            <a:pPr>
              <a:spcAft>
                <a:spcPts val="300"/>
              </a:spcAft>
            </a:pPr>
            <a:r>
              <a:rPr sz="2200" b="1" i="0">
                <a:solidFill>
                  <a:srgbClr val="1A1A1A"/>
                </a:solidFill>
                <a:latin typeface="Arial"/>
              </a:rPr>
              <a:t>A test person signs in.</a:t>
            </a:r>
          </a:p>
        </p:txBody>
      </p:sp>
      <p:sp>
        <p:nvSpPr>
          <p:cNvPr id="6" name="Rectangle 5"/>
          <p:cNvSpPr/>
          <p:nvPr/>
        </p:nvSpPr>
        <p:spPr>
          <a:xfrm>
            <a:off x="621792" y="27477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852927"/>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788920"/>
            <a:ext cx="10527487" cy="1143000"/>
          </a:xfrm>
          <a:prstGeom prst="rect">
            <a:avLst/>
          </a:prstGeom>
          <a:noFill/>
        </p:spPr>
        <p:txBody>
          <a:bodyPr wrap="square">
            <a:spAutoFit/>
          </a:bodyPr>
          <a:lstStyle/>
          <a:p>
            <a:pPr>
              <a:spcAft>
                <a:spcPts val="300"/>
              </a:spcAft>
            </a:pPr>
            <a:r>
              <a:rPr sz="2200" b="1" i="0">
                <a:solidFill>
                  <a:srgbClr val="1A1A1A"/>
                </a:solidFill>
                <a:latin typeface="Arial"/>
              </a:rPr>
              <a:t>The token's signature is verified against the published keys.</a:t>
            </a:r>
          </a:p>
        </p:txBody>
      </p:sp>
      <p:sp>
        <p:nvSpPr>
          <p:cNvPr id="9" name="Rectangle 8"/>
          <p:cNvSpPr/>
          <p:nvPr/>
        </p:nvSpPr>
        <p:spPr>
          <a:xfrm>
            <a:off x="621792" y="393649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0416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977639"/>
            <a:ext cx="10527487" cy="1143000"/>
          </a:xfrm>
          <a:prstGeom prst="rect">
            <a:avLst/>
          </a:prstGeom>
          <a:noFill/>
        </p:spPr>
        <p:txBody>
          <a:bodyPr wrap="square">
            <a:spAutoFit/>
          </a:bodyPr>
          <a:lstStyle/>
          <a:p>
            <a:pPr>
              <a:spcAft>
                <a:spcPts val="300"/>
              </a:spcAft>
            </a:pPr>
            <a:r>
              <a:rPr sz="2200" b="1" i="0">
                <a:solidFill>
                  <a:srgbClr val="1A1A1A"/>
                </a:solidFill>
                <a:latin typeface="Arial"/>
              </a:rPr>
              <a:t>Two services, two identifiers.</a:t>
            </a:r>
          </a:p>
        </p:txBody>
      </p:sp>
      <p:sp>
        <p:nvSpPr>
          <p:cNvPr id="12" name="TextBox 11"/>
          <p:cNvSpPr txBox="1"/>
          <p:nvPr/>
        </p:nvSpPr>
        <p:spPr>
          <a:xfrm>
            <a:off x="658368" y="5239512"/>
            <a:ext cx="10881360" cy="365760"/>
          </a:xfrm>
          <a:prstGeom prst="rect">
            <a:avLst/>
          </a:prstGeom>
          <a:noFill/>
        </p:spPr>
        <p:txBody>
          <a:bodyPr wrap="square">
            <a:spAutoFit/>
          </a:bodyPr>
          <a:lstStyle/>
          <a:p>
            <a:r>
              <a:rPr sz="1300" b="0" i="1">
                <a:solidFill>
                  <a:srgbClr val="595959"/>
                </a:solidFill>
                <a:latin typeface="Arial"/>
              </a:rPr>
              <a:t>Walkthrough: what a good run shows.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Generating the identity connection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A service connects to the identity block as its registered client, asks only for what it needs, and keeps the identifier the block gives to that service, never the national number.</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identity connection for one service.</a:t>
            </a:r>
          </a:p>
          <a:p>
            <a:pPr algn="l">
              <a:spcAft>
                <a:spcPts val="400"/>
              </a:spcAft>
            </a:pPr>
            <a:r>
              <a:rPr sz="1800" b="0" i="0">
                <a:solidFill>
                  <a:srgbClr val="595959"/>
                </a:solidFill>
                <a:latin typeface="Arial"/>
              </a:rPr>
              <a:t>The prompt in the companion material gives you a draft client registration with the flow, the scopes and claims, and the accepted levels of authentication, each claim tied to a field of your form.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Generating the identity connection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GovStack Identity Building Block specification, Version 2.0 (December 2025), sections 4.1.2, 6.1, 6.2, 7.2, 8.1.1, 8.2, 9.1.1 and 9.1.2</a:t>
            </a:r>
          </a:p>
          <a:p>
            <a:pPr>
              <a:spcAft>
                <a:spcPts val="1000"/>
              </a:spcAft>
            </a:pPr>
            <a:r>
              <a:rPr sz="1800" b="0" i="0">
                <a:solidFill>
                  <a:srgbClr val="1A1A1A"/>
                </a:solidFill>
                <a:latin typeface="Arial"/>
              </a:rPr>
              <a:t>•  GovStack Digital Registries Building Block specification, Version 3.0-alpha (June 2026), DRS-14</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Generating the identity connection</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