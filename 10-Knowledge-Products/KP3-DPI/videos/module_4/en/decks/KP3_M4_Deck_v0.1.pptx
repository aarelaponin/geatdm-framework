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registration service that needs to know who the applicant is does not need an identity system of its own. It needs a connection: registered once with the identity block, asking for little, and keeping the right identifier.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ministry of education that wants to know who its learners are may be tempted to issue an identity of its own. Before it does, someone should show the finance ministry what that choice costs, and who has already paid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Identity specification makes a sharp point. An identity system is not like the registration screen of an ordinary application. It establishes a person's foundational identity, the base for every digital interaction that person will have. That makes it valuable to the person and attractive to attackers, so it demands the highest level of security. Enrolling people well takes time, documents and trained staff. Running it well is a national task, not a side task of one ministry.</a:t>
            </a:r>
          </a:p>
          <a:p/>
          <a:p>
            <a:r>
              <a:t>Production cue: The specification's own point, in plain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World Bank studied what foundational identity systems cost. It found six categories: human resources, the identity credential, central IT infrastructure, physical establishments such as offices, enrolment IT infrastructure, and information, education and communication. Together they made up over 90 percent of the cost in the start-up phase. Once a system runs, human resources are often greater than 80 percent of its annual cost. That is people, offices and machines, paid every year.</a:t>
            </a:r>
          </a:p>
          <a:p/>
          <a:p>
            <a:r>
              <a:t>Production cue: Each figure with its unit, its year and its page. Text-only.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more findings matter for a ministry tempted to go alone. The credential, the card or document in the person's hand, ranged from as low as 3 percent to over 40 percent of the total cost. And the way the government bought the system changed the overall cost by 25 percent to over 100 percent. A sector scheme would carry those costs again, and would have to get its own purchase right again.</a:t>
            </a:r>
          </a:p>
          <a:p/>
          <a:p>
            <a:r>
              <a:t>Production cue: Figures as the study states them, with their pages. Text-only.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 Suppose the ministry of education, MoEYS, gave every learner an identity of its own. Category by category it would need staff to enrol and support learners, cards to print and hand out, central systems with their back-up, offices for enrolment, kits for the schools, and campaigns to explain it all. The national identity authority, PNIA, already carries each of these. Using PNIA's service, the ministry carries one thing: the work of connecting its service and testing it. No figures are given here. The point is which costs would appear twice.</a:t>
            </a:r>
          </a:p>
          <a:p/>
          <a:p>
            <a:r>
              <a:t>Production cue: The worked example, built for Progressa. The table names categories and invents no cost.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specifications expect exactly this. A country that already runs an identity system, such as a population register or an identity document system, reuses it, equipped with a services facade, so that every other block can use it. The Registration specification goes the same way: an applicant can register on a service by signing in with the foundational identity. The country builds identity once, and every service uses it.</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Identity costs a great deal to build and more to run. A country pays that cost once. A ministry that builds its own pays it again.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 ministry plans a service on the national identity, someone has to answer a plain question. What does the identity authority actually offer today, and is it what the published Identity block offers? The two are often not the same.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block's subject is foundational identity: the proof of who a person is, which serves a wide range of public and private services. Functional identity, the proof used for one purpose or one sector, is outside it, and the specification names education among the functional domains. So the block issues no learner identity. A learner number belongs to the education sector and its register. The block's work is to verify the person behind it.</a:t>
            </a:r>
          </a:p>
          <a:p/>
          <a:p>
            <a:r>
              <a:t>Production cue: The scope of the block, as the specification states it. Text-only.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specification lists six services the block offers to others: enrolment, identity verification, queries on identity data for authorised partners, credential management, federation with a person's other identities, and notifications of events such as a birth. Four kinds of actor use it: the administrator who runs it, registered partners, the users who manage their own identity, and subscribers to notifications. A service of the ministry of education is a registered partner.</a:t>
            </a:r>
          </a:p>
          <a:p/>
          <a:p>
            <a:r>
              <a:t>Production cue: Text-only list; no product screens.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rules shape every connection. When a person is enrolled, the block creates a unique identity number and keeps it secret inside the block. Each relying service receives instead an identifier made for that service and that person. It is the same each time the person signs in to that service, and different from the one any other service receives. The person can be verified everywhere, and no service holds the national number.</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published interfaces are a minimal set, and verification among them is OpenID Connect, a common standard for signing in. In the published flow the person's browser is taken to the block's own screens. The person signs in there and approves what may be shared, and the block releases only that. Only the calls for the token and for the person's information pass from server to server. The specification names the Information Mediator for building blocks that talk to one another, not for the person's own sign-in.</a:t>
            </a:r>
          </a:p>
          <a:p/>
          <a:p>
            <a:r>
              <a:t>Production cue: Three text boxes at most; the drawn sign-in (figure F10) belongs to the written guide.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Progressa. On Linkup, PNIA offers one service today: a read of a person by national number, which only the examination authority may call. It is a contract of Progressa's own. It works server to server, with no person present, and it is keyed on the national number. The published block asks the person to sign in, and gives each service its own identifier. The specification's requirements also ask for a query of a person's attributes, but its published interfaces include none. So PNIA's read is useful, and it is Progressa's own, not the published block.</a:t>
            </a:r>
          </a:p>
          <a:p/>
          <a:p>
            <a:r>
              <a:t>Production cue: The worked example, built for Progressa. Text-only.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Verify the person, release only what the person approves, issue nothing. Then check what your authority runs today before you plan on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4 deck. Each section that follows is one standalone ~5 minute video, Architect-facing. Modules 2 and 3 stood up the registration service and the learner register; this module connects them to identity and payments, which the ministry reuses rather than builds.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4.1 to 4.3 are identity — why it is shared, what is offered, the connection. 4.4 and 4.5 are payments. 4.6 steps back to reuse.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step is to register the service as a client of the identity block. The client registration names the service, the addresses to which the block may send the person back after signing in, and the key the service signs its requests with. The block publishes two addresses every client needs: one where it describes its own configuration, and one where it publishes the keys that sign its tokens. The client identifier the block returns is the name the service carries from then on.</a:t>
            </a:r>
          </a:p>
          <a:p/>
          <a:p>
            <a:r>
              <a:t>Production cue: Configurations I1 and I2.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specification gives two flows. With claims, the person signs in, sees what the service asks for, approves it, and the service receives those claims. Without claims, the service asks only for proof of the person, with the scope 'openid', and no consent page is shown. Scopes such as profile, address, email and phone each release a set of claims. Ask only for what a field of your form needs. A registration that needs a name and a date of birth should not ask for an address.</a:t>
            </a:r>
          </a:p>
          <a:p/>
          <a:p>
            <a:r>
              <a:t>Production cue: Configurations I3 and I4. Text-only.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sign-in comes back with an ID token, a signed record of who signed in, for which service, and when. It carries an authentication context value that says how the person signed in: with a PIN or a password, with a one-time code, with biometrics, or with a combination of these. The country chooses which methods it offers. The service states which values it accepts, and refuses a token whose value is not on its list. The access token lets the service fetch the claims the person approved.</a:t>
            </a:r>
          </a:p>
          <a:p/>
          <a:p>
            <a:r>
              <a:t>Production cue: Configuration I5. The six authentication context values of the specification may be listed as plain text in the written guide.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rule that protects every learner. The token's subject is an identifier the block made for this service and this person. Keep that identifier, never the national number, which the specification says must stay secret inside the block. In Progressa, the learner register this course sets up behind PLR keeps a learner number of its own and stores PNIA's identifier beside it. The Digital Registries specification makes the mark for the owner's identifier optional, so the register's design must state it rather than assume it.</a:t>
            </a:r>
          </a:p>
          <a:p/>
          <a:p>
            <a:r>
              <a:t>Production cue: Configuration I6. Text-only.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check that proves the connection is a sign-in, not a single call. An enrolled test person, never a real one, signs in on the block's own screen. The service receives a code, exchanges it for a token, and verifies the token's signature against the block's published keys. The check passes when the issuer, the audience, the expiry and the subject are present and valid. A second test service then signs in the same person, and the two identifiers must differ.</a:t>
            </a:r>
          </a:p>
          <a:p/>
          <a:p>
            <a:r>
              <a:t>Production cue: Configuration I7 and checks I1 to I7. Until the checks pass, the slide stays as text and the storyboard stands in for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Register once, ask for little, and keep the identifier the block gives you. The national number never leaves the block.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ministry that pays scholarships or school grants may be offered a payment system of its own. The published Payments block offers something else: one connection from government to the payment systems the country already runs.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Payments specification is clear about its own limits. The block provides the connections to existing systems in the market, and it does not set out to build a new payment scheme. It sits between the government's account systems, at the ministry of finance or the central bank, and the public or private switching the market already offers. Payment systems in the market, run by a public body, a quasi-public body or a commercial firm, are required for the block to work at all.</a:t>
            </a:r>
          </a:p>
          <a:p/>
          <a:p>
            <a:r>
              <a:t>Production cue: The specification's own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the block are the parts a government needs to pay many people safely. An account mapper finds where each beneficiary is paid. Payment requests start there. A payment gateway lets banks and other financial service providers work together. There are vouchers, reconciliation, logs and an audit trail, all behind one gateway that receives the calls of other blocks. The block lets government programmes channel payments through one shared infrastructure to accounts at many providers.</a:t>
            </a:r>
          </a:p>
          <a:p/>
          <a:p>
            <a:r>
              <a:t>Production cue: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Just as important is what stays outside. Settlement between the financial institutions is handled outside the block. So are the identification and registration of people, and the checks that banks must make on their customers, such as the rules on knowing the customer and on money laundering. Those stay with the financial institutions and the systems the law gives them to. A vendor who says the block will do them is offering something the specification does not describe.</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path runs like this. The programme's account sits with the government. The Payments block receives the batch from the calling service, finds each beneficiary's account through its account mapper, and hands the batch to the payer bank, the bank that holds the programme's account. The payer bank executes the payment through the payment systems in the market. PayPro, Progressa's payment provider, is one of those systems, and it stands behind the payer bank.</a:t>
            </a:r>
          </a:p>
          <a:p/>
          <a:p>
            <a:r>
              <a:t>Production cue: Configuration P6. Text boxes and arrows only; the drawn path (figure F11) belongs to the written guide.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Brazil shows how much a shared payment system can carry. The Bank for International Settlements reports that its instant payment system, Pix, rested on two things: large banks were required to take part, and the central bank both operates the system and sets its rules. Fifteen months after launch, 67 percent of adults had used it. A government programme gains from such a system by connecting to it, not by building another.</a:t>
            </a:r>
          </a:p>
          <a:p/>
          <a:p>
            <a:r>
              <a:t>Production cue: Each figure with its unit, date and page. Text-only.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block is a connection, not a new payment system. Every programme pays through it, to the systems the country already runs.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the Payments block is installed, a service still cannot pay anyone. Five things have to be set up first, and the proof that they work is one small test payment whose status comes back.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sender. The block accepts payment requests only from a calling block it has been configured to accept as a source. Second, the programme. Each programme has its payment account and its currency. The specification processes each currency on its own, without conversion, and names currencies by their ISO 4217 codes. So a programme that pays in one currency must pay into accounts held in that same currency.</a:t>
            </a:r>
          </a:p>
          <a:p/>
          <a:p>
            <a:r>
              <a:t>Production cue: Configurations P1 and P2. Text-only.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beneficiary. Before anyone is paid, the service registers each beneficiary in the block's account mapper: a functional identifier, the way of payment, such as a bank account or mobile money, and the financial address where the money goes. The mapper answers on a callback address the service gives it. The service's own register keeps no payment details. In Progressa the functional identifier is the learner's number in the learner register, never the national number.</a:t>
            </a:r>
          </a:p>
          <a:p/>
          <a:p>
            <a:r>
              <a:t>Production cue: Configuration P3. Text-only.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payment. The service hands the block a batch, which may hold one payment or many. The specification sets the least a payment request must contain: the payer's identifier, the payee's identifier, the amount, the currency, the policy, and the sender's own identifier for the transaction. The block gives each payment in the batch an instruction identifier of its own, so that every payment can be followed.</a:t>
            </a:r>
          </a:p>
          <a:p/>
          <a:p>
            <a:r>
              <a:t>Production cue: Configuration P4. Text-only.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Fifth, the route for status. The service gives the block an address to which status is sent, and it can also ask for the status of one payment. A status is success, failed, or in progress. Around all five sits transport and security. The block's interface is published through the Information Mediator, every call travels over a secure connection with an authorisation token, and the messages about a payment are authenticated.</a:t>
            </a:r>
          </a:p>
          <a:p/>
          <a:p>
            <a:r>
              <a:t>Production cue: Configurations P5 and P7. Text-only.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check that proves the connection uses one test beneficiary, one test amount, and a test environment. The beneficiary is registered, and the callback confirms it. A batch of one payment is submitted. The service then asks for the status of that payment. The check passes when the answer is a status, success, failed or in progress, rather than an error, and when the same status arrives at the address configured for it.</a:t>
            </a:r>
          </a:p>
          <a:p/>
          <a:p>
            <a:r>
              <a:t>Production cue: Checks P1 to P7. Until the checks pass, the slide stays as text and the storyboard stands in for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Sender, programme, beneficiary, payment, and the route for status. Then one test payment, and its status comes back.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a single project, building your own identity check or your own payment link often looks quicker than waiting for a shared one. Seen from the whole government, it is the more expensive choice.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two services in Progressa. Learner registration needs to know who the applicant is, so it reuses the identity block: one sign-in, one identifier for the service, and no identity system of its own. The scholarship payment needs to pay learners, so it reuses the Payments block: one account mapper, and one route through the payer bank to the payment systems the country already runs. Neither service builds what the country already has.</a:t>
            </a:r>
          </a:p>
          <a:p/>
          <a:p>
            <a:r>
              <a:t>Production cue: The worked example, built for Progressa. Text-only.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Alone, the registration service would need its own enrolment, credentials, security and support staff, which are the costs of an identity system. Alone, the scholarship service would need its own links to each bank and mobile money provider, and every learner's account details in its own register. With the shared blocks, one verification service is used by many, and the account mapper keeps payment details out of each programme's register. The identity service can serve other blocks, public services and private services alike.</a:t>
            </a:r>
          </a:p>
          <a:p/>
          <a:p>
            <a:r>
              <a:t>Production cue: The worked example continued; no cost figures. Text-only.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Education is not a stretch for these blocks. The Payments specification itself names the payment of school fees, a group of vouchers that can be redeemed only at schools, and conditional transfers for school fee payment. The Registration specification asks that several registrations can be combined in one service, so that an applicant fills in one form instead of several. Each of these can run on the same two blocks.</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why does the saving so often go unclaimed? Each project is funded to deliver its own service on its own date, and inside the project building its own looks quicker. The first ministry pays for a shared block, and the second, third and fourth reuse it. That sum exists only at the level of the whole government. PAERA asks planners to identify shared services, workflows and data that meet the needs of several agencies, and its principles of whole-of-government and once-only point the same way. A table of which services reuse which block gives the business side and IT one shared language for that decision.</a:t>
            </a:r>
          </a:p>
          <a:p/>
          <a:p>
            <a:r>
              <a:t>Production cue: Carries the planning-enables-re-use argument. Text-only.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Two services reuse two blocks. The saving is real, but only someone who plans for the whole government can see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Identity and payments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KP3 · Education DPI Roadmap · Module 4</a:t>
            </a:r>
          </a:p>
          <a:p>
            <a:r>
              <a:rPr sz="1400" b="0" i="0">
                <a:solidFill>
                  <a:srgbClr val="595959"/>
                </a:solidFill>
                <a:latin typeface="Arial"/>
              </a:rPr>
              <a:t>Six standalone videos for the architect who connects the ministry’s services to two blocks it should never build again: why identity is built once, what the published Identity block and the identity authority offer, the identity connection, the Payments block and the payment systems behind it, the payment connection, and reuse as the return on planning.</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6 videos (4.1 – 4.6)</a:t>
            </a:r>
          </a:p>
          <a:p>
            <a:r>
              <a:rPr sz="1400" b="1" i="0">
                <a:solidFill>
                  <a:srgbClr val="1A1A1A"/>
                </a:solidFill>
                <a:latin typeface="Arial"/>
              </a:rPr>
              <a:t>Target audience: </a:t>
            </a:r>
            <a:r>
              <a:rPr sz="1400" b="0" i="0">
                <a:solidFill>
                  <a:srgbClr val="1A1A1A"/>
                </a:solidFill>
                <a:latin typeface="Arial"/>
              </a:rPr>
              <a:t>The ministry's technical lead or solution architect who connects its services to the identity block and the Payments block instead of building either again</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CONNECTS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Identity built once, reused</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sign-in, not a copy of the register</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An identifier made for each service</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Payments through the market</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test payment, its status</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Reuse as the return on planning</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2 shared blocks · 0 built again</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4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4.1  Why identity is built once</a:t>
            </a:r>
            <a:r>
              <a:rPr sz="1200" b="0" i="0">
                <a:solidFill>
                  <a:srgbClr val="595959"/>
                </a:solidFill>
                <a:latin typeface="Arial"/>
              </a:rPr>
              <a:t>   ~5 min</a:t>
            </a:r>
          </a:p>
          <a:p>
            <a:pPr algn="l">
              <a:spcAft>
                <a:spcPts val="900"/>
              </a:spcAft>
            </a:pPr>
            <a:r>
              <a:rPr sz="1500" b="1" i="0">
                <a:solidFill>
                  <a:srgbClr val="1A1A1A"/>
                </a:solidFill>
                <a:latin typeface="Arial"/>
              </a:rPr>
              <a:t>4.2  The published Identity block, and what the identity authority offers today</a:t>
            </a:r>
            <a:r>
              <a:rPr sz="1200" b="0" i="0">
                <a:solidFill>
                  <a:srgbClr val="595959"/>
                </a:solidFill>
                <a:latin typeface="Arial"/>
              </a:rPr>
              <a:t>   ~5 min</a:t>
            </a:r>
          </a:p>
          <a:p>
            <a:pPr algn="l">
              <a:spcAft>
                <a:spcPts val="900"/>
              </a:spcAft>
            </a:pPr>
            <a:r>
              <a:rPr sz="1500" b="1" i="0">
                <a:solidFill>
                  <a:srgbClr val="1A1A1A"/>
                </a:solidFill>
                <a:latin typeface="Arial"/>
              </a:rPr>
              <a:t>4.3  Generating the identity connection</a:t>
            </a:r>
            <a:r>
              <a:rPr sz="1200" b="0" i="0">
                <a:solidFill>
                  <a:srgbClr val="595959"/>
                </a:solidFill>
                <a:latin typeface="Arial"/>
              </a:rPr>
              <a:t>   ~5 min</a:t>
            </a:r>
          </a:p>
          <a:p>
            <a:pPr algn="l">
              <a:spcAft>
                <a:spcPts val="900"/>
              </a:spcAft>
            </a:pPr>
            <a:r>
              <a:rPr sz="1500" b="1" i="0">
                <a:solidFill>
                  <a:srgbClr val="1A1A1A"/>
                </a:solidFill>
                <a:latin typeface="Arial"/>
              </a:rPr>
              <a:t>4.4  The Payments block and the payment systems behind it</a:t>
            </a:r>
            <a:r>
              <a:rPr sz="1200" b="0" i="0">
                <a:solidFill>
                  <a:srgbClr val="595959"/>
                </a:solidFill>
                <a:latin typeface="Arial"/>
              </a:rPr>
              <a:t>   ~5 min</a:t>
            </a:r>
          </a:p>
          <a:p>
            <a:pPr algn="l">
              <a:spcAft>
                <a:spcPts val="900"/>
              </a:spcAft>
            </a:pPr>
            <a:r>
              <a:rPr sz="1500" b="1" i="0">
                <a:solidFill>
                  <a:srgbClr val="1A1A1A"/>
                </a:solidFill>
                <a:latin typeface="Arial"/>
              </a:rPr>
              <a:t>4.5  Generating the payment connection</a:t>
            </a:r>
            <a:r>
              <a:rPr sz="1200" b="0" i="0">
                <a:solidFill>
                  <a:srgbClr val="595959"/>
                </a:solidFill>
                <a:latin typeface="Arial"/>
              </a:rPr>
              <a:t>   ~5 min</a:t>
            </a:r>
          </a:p>
          <a:p>
            <a:pPr algn="l">
              <a:spcAft>
                <a:spcPts val="900"/>
              </a:spcAft>
            </a:pPr>
            <a:r>
              <a:rPr sz="1500" b="1" i="0">
                <a:solidFill>
                  <a:srgbClr val="1A1A1A"/>
                </a:solidFill>
                <a:latin typeface="Arial"/>
              </a:rPr>
              <a:t>4.6  Reuse is the return on planning</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Identity and payments are built once for the whole government; a ministry connects to them and builds neither again.</a:t>
            </a:r>
          </a:p>
          <a:p>
            <a:pPr>
              <a:spcAft>
                <a:spcPts val="1000"/>
              </a:spcAft>
            </a:pPr>
            <a:r>
              <a:rPr sz="1900" b="0" i="1">
                <a:solidFill>
                  <a:srgbClr val="1A1A1A"/>
                </a:solidFill>
                <a:latin typeface="Arial"/>
              </a:rPr>
              <a:t>Ask for little, keep the identifier the block gives you, route payments through the market — and count the reuse, because only planning sees it.</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identity is built once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identity system is costly to build and to run, so a country builds it once and every service uses it, and a ministry that builds its own pays those costs a second time.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ministry of education that wants to know who its learners are may be tempted to issue an identity of its own.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it does, someone should show the finance ministry what that choice costs, and who has already paid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 an ordinary registration system</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It establishes a person's foundational identity.</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digital interaction of that person rests on it.</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It attracts attackers, so it demands the highest security.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identity systems cost: the World Bank's study</a:t>
            </a:r>
          </a:p>
        </p:txBody>
      </p:sp>
      <p:sp>
        <p:nvSpPr>
          <p:cNvPr id="4" name="TextBox 3"/>
          <p:cNvSpPr txBox="1"/>
          <p:nvPr/>
        </p:nvSpPr>
        <p:spPr>
          <a:xfrm>
            <a:off x="658368" y="1897379"/>
            <a:ext cx="10984687" cy="1645920"/>
          </a:xfrm>
          <a:prstGeom prst="rect">
            <a:avLst/>
          </a:prstGeom>
          <a:noFill/>
        </p:spPr>
        <p:txBody>
          <a:bodyPr wrap="square">
            <a:spAutoFit/>
          </a:bodyPr>
          <a:lstStyle/>
          <a:p>
            <a:pPr>
              <a:spcAft>
                <a:spcPts val="300"/>
              </a:spcAft>
            </a:pPr>
            <a:r>
              <a:rPr sz="2400" b="1" i="0">
                <a:solidFill>
                  <a:srgbClr val="1A1A1A"/>
                </a:solidFill>
                <a:latin typeface="Arial"/>
              </a:rPr>
              <a:t>Six categories made up over 90 percent of the cost in the start-up phase: human resources; the identity credential; central IT infrastructure; physical establishments; enrolment IT infrastructure; information, education and communication.</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Once the system runs, human resources are often greater than 80 percent of the annual cost.</a:t>
            </a:r>
          </a:p>
        </p:txBody>
      </p:sp>
      <p:sp>
        <p:nvSpPr>
          <p:cNvPr id="7" name="TextBox 6"/>
          <p:cNvSpPr txBox="1"/>
          <p:nvPr/>
        </p:nvSpPr>
        <p:spPr>
          <a:xfrm>
            <a:off x="658368" y="4942331"/>
            <a:ext cx="10881360" cy="365760"/>
          </a:xfrm>
          <a:prstGeom prst="rect">
            <a:avLst/>
          </a:prstGeom>
          <a:noFill/>
        </p:spPr>
        <p:txBody>
          <a:bodyPr wrap="square">
            <a:spAutoFit/>
          </a:bodyPr>
          <a:lstStyle/>
          <a:p>
            <a:r>
              <a:rPr sz="1300" b="0" i="1">
                <a:solidFill>
                  <a:srgbClr val="595959"/>
                </a:solidFill>
                <a:latin typeface="Arial"/>
              </a:rPr>
              <a:t>World Bank, 2018, page 3.</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findings for a ministry tempted to go alone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The credential ranged from as low as 3% to over 40% of total cost (page 5).</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The way the government bought the system changed the overall cost by 25 percent to over 100 percent (page 7).</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learner identity of its own, or PNIA's service</a:t>
            </a:r>
          </a:p>
        </p:txBody>
      </p:sp>
      <p:sp>
        <p:nvSpPr>
          <p:cNvPr id="4" name="TextBox 3"/>
          <p:cNvSpPr txBox="1"/>
          <p:nvPr/>
        </p:nvSpPr>
        <p:spPr>
          <a:xfrm>
            <a:off x="658368" y="1505711"/>
            <a:ext cx="3456432" cy="457200"/>
          </a:xfrm>
          <a:prstGeom prst="rect">
            <a:avLst/>
          </a:prstGeom>
          <a:noFill/>
        </p:spPr>
        <p:txBody>
          <a:bodyPr wrap="square">
            <a:spAutoFit/>
          </a:bodyPr>
          <a:lstStyle/>
          <a:p>
            <a:r>
              <a:rPr sz="1500" b="1" i="0">
                <a:solidFill>
                  <a:srgbClr val="006E96"/>
                </a:solidFill>
                <a:latin typeface="Arial"/>
              </a:rPr>
              <a:t>Cost category</a:t>
            </a:r>
          </a:p>
        </p:txBody>
      </p:sp>
      <p:sp>
        <p:nvSpPr>
          <p:cNvPr id="5" name="TextBox 4"/>
          <p:cNvSpPr txBox="1"/>
          <p:nvPr/>
        </p:nvSpPr>
        <p:spPr>
          <a:xfrm>
            <a:off x="4224528" y="1505711"/>
            <a:ext cx="3730752" cy="457200"/>
          </a:xfrm>
          <a:prstGeom prst="rect">
            <a:avLst/>
          </a:prstGeom>
          <a:noFill/>
        </p:spPr>
        <p:txBody>
          <a:bodyPr wrap="square">
            <a:spAutoFit/>
          </a:bodyPr>
          <a:lstStyle/>
          <a:p>
            <a:r>
              <a:rPr sz="1500" b="1" i="0">
                <a:solidFill>
                  <a:srgbClr val="006E96"/>
                </a:solidFill>
                <a:latin typeface="Arial"/>
              </a:rPr>
              <a:t>If MoEYS ran its own learner identity</a:t>
            </a:r>
          </a:p>
        </p:txBody>
      </p:sp>
      <p:sp>
        <p:nvSpPr>
          <p:cNvPr id="6" name="TextBox 5"/>
          <p:cNvSpPr txBox="1"/>
          <p:nvPr/>
        </p:nvSpPr>
        <p:spPr>
          <a:xfrm>
            <a:off x="8065008" y="1505711"/>
            <a:ext cx="3364991" cy="457200"/>
          </a:xfrm>
          <a:prstGeom prst="rect">
            <a:avLst/>
          </a:prstGeom>
          <a:noFill/>
        </p:spPr>
        <p:txBody>
          <a:bodyPr wrap="square">
            <a:spAutoFit/>
          </a:bodyPr>
          <a:lstStyle/>
          <a:p>
            <a:r>
              <a:rPr sz="1500" b="1" i="0">
                <a:solidFill>
                  <a:srgbClr val="006E96"/>
                </a:solidFill>
                <a:latin typeface="Arial"/>
              </a:rPr>
              <a:t>If MoEYS uses PNIA's service</a:t>
            </a:r>
          </a:p>
        </p:txBody>
      </p:sp>
      <p:sp>
        <p:nvSpPr>
          <p:cNvPr id="7" name="Rectangle 6"/>
          <p:cNvSpPr/>
          <p:nvPr/>
        </p:nvSpPr>
        <p:spPr>
          <a:xfrm>
            <a:off x="658368" y="1962911"/>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054352"/>
            <a:ext cx="3456432" cy="641604"/>
          </a:xfrm>
          <a:prstGeom prst="rect">
            <a:avLst/>
          </a:prstGeom>
          <a:noFill/>
        </p:spPr>
        <p:txBody>
          <a:bodyPr wrap="square">
            <a:spAutoFit/>
          </a:bodyPr>
          <a:lstStyle/>
          <a:p>
            <a:r>
              <a:rPr sz="1500" b="1" i="0">
                <a:solidFill>
                  <a:srgbClr val="1A1A1A"/>
                </a:solidFill>
                <a:latin typeface="Arial"/>
              </a:rPr>
              <a:t>Human resources</a:t>
            </a:r>
          </a:p>
        </p:txBody>
      </p:sp>
      <p:sp>
        <p:nvSpPr>
          <p:cNvPr id="9" name="TextBox 8"/>
          <p:cNvSpPr txBox="1"/>
          <p:nvPr/>
        </p:nvSpPr>
        <p:spPr>
          <a:xfrm>
            <a:off x="4224528" y="2054352"/>
            <a:ext cx="3730752" cy="641604"/>
          </a:xfrm>
          <a:prstGeom prst="rect">
            <a:avLst/>
          </a:prstGeom>
          <a:noFill/>
        </p:spPr>
        <p:txBody>
          <a:bodyPr wrap="square">
            <a:spAutoFit/>
          </a:bodyPr>
          <a:lstStyle/>
          <a:p>
            <a:r>
              <a:rPr sz="1500" b="0" i="0">
                <a:solidFill>
                  <a:srgbClr val="1A1A1A"/>
                </a:solidFill>
                <a:latin typeface="Arial"/>
              </a:rPr>
              <a:t>Staff to enrol and support learners</a:t>
            </a:r>
          </a:p>
        </p:txBody>
      </p:sp>
      <p:sp>
        <p:nvSpPr>
          <p:cNvPr id="10" name="TextBox 9"/>
          <p:cNvSpPr txBox="1"/>
          <p:nvPr/>
        </p:nvSpPr>
        <p:spPr>
          <a:xfrm>
            <a:off x="8065008" y="2054352"/>
            <a:ext cx="3364991" cy="641604"/>
          </a:xfrm>
          <a:prstGeom prst="rect">
            <a:avLst/>
          </a:prstGeom>
          <a:noFill/>
        </p:spPr>
        <p:txBody>
          <a:bodyPr wrap="square">
            <a:spAutoFit/>
          </a:bodyPr>
          <a:lstStyle/>
          <a:p>
            <a:r>
              <a:rPr sz="1500" b="0" i="0">
                <a:solidFill>
                  <a:srgbClr val="1A1A1A"/>
                </a:solidFill>
                <a:latin typeface="Arial"/>
              </a:rPr>
              <a:t>Connecting the service and testing it</a:t>
            </a:r>
          </a:p>
        </p:txBody>
      </p:sp>
      <p:sp>
        <p:nvSpPr>
          <p:cNvPr id="11" name="Rectangle 10"/>
          <p:cNvSpPr/>
          <p:nvPr/>
        </p:nvSpPr>
        <p:spPr>
          <a:xfrm>
            <a:off x="658368" y="27142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69108"/>
            <a:ext cx="3456432" cy="393953"/>
          </a:xfrm>
          <a:prstGeom prst="rect">
            <a:avLst/>
          </a:prstGeom>
          <a:noFill/>
        </p:spPr>
        <p:txBody>
          <a:bodyPr wrap="square">
            <a:spAutoFit/>
          </a:bodyPr>
          <a:lstStyle/>
          <a:p>
            <a:r>
              <a:rPr sz="1500" b="1" i="0">
                <a:solidFill>
                  <a:srgbClr val="1A1A1A"/>
                </a:solidFill>
                <a:latin typeface="Arial"/>
              </a:rPr>
              <a:t>The identity credential</a:t>
            </a:r>
          </a:p>
        </p:txBody>
      </p:sp>
      <p:sp>
        <p:nvSpPr>
          <p:cNvPr id="13" name="TextBox 12"/>
          <p:cNvSpPr txBox="1"/>
          <p:nvPr/>
        </p:nvSpPr>
        <p:spPr>
          <a:xfrm>
            <a:off x="4224528" y="2769108"/>
            <a:ext cx="3730752" cy="393953"/>
          </a:xfrm>
          <a:prstGeom prst="rect">
            <a:avLst/>
          </a:prstGeom>
          <a:noFill/>
        </p:spPr>
        <p:txBody>
          <a:bodyPr wrap="square">
            <a:spAutoFit/>
          </a:bodyPr>
          <a:lstStyle/>
          <a:p>
            <a:r>
              <a:rPr sz="1500" b="0" i="0">
                <a:solidFill>
                  <a:srgbClr val="1A1A1A"/>
                </a:solidFill>
                <a:latin typeface="Arial"/>
              </a:rPr>
              <a:t>Cards to print and hand out</a:t>
            </a:r>
          </a:p>
        </p:txBody>
      </p:sp>
      <p:sp>
        <p:nvSpPr>
          <p:cNvPr id="14" name="TextBox 13"/>
          <p:cNvSpPr txBox="1"/>
          <p:nvPr/>
        </p:nvSpPr>
        <p:spPr>
          <a:xfrm>
            <a:off x="8065008" y="2769108"/>
            <a:ext cx="3364991" cy="393953"/>
          </a:xfrm>
          <a:prstGeom prst="rect">
            <a:avLst/>
          </a:prstGeom>
          <a:noFill/>
        </p:spPr>
        <p:txBody>
          <a:bodyPr wrap="square">
            <a:spAutoFit/>
          </a:bodyPr>
          <a:lstStyle/>
          <a:p>
            <a:r>
              <a:rPr sz="1500" b="0" i="0">
                <a:solidFill>
                  <a:srgbClr val="1A1A1A"/>
                </a:solidFill>
                <a:latin typeface="Arial"/>
              </a:rPr>
              <a:t>Carried by PNIA</a:t>
            </a:r>
          </a:p>
        </p:txBody>
      </p:sp>
      <p:sp>
        <p:nvSpPr>
          <p:cNvPr id="15" name="Rectangle 14"/>
          <p:cNvSpPr/>
          <p:nvPr/>
        </p:nvSpPr>
        <p:spPr>
          <a:xfrm>
            <a:off x="658368" y="318135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236214"/>
            <a:ext cx="3456432" cy="393953"/>
          </a:xfrm>
          <a:prstGeom prst="rect">
            <a:avLst/>
          </a:prstGeom>
          <a:noFill/>
        </p:spPr>
        <p:txBody>
          <a:bodyPr wrap="square">
            <a:spAutoFit/>
          </a:bodyPr>
          <a:lstStyle/>
          <a:p>
            <a:r>
              <a:rPr sz="1500" b="1" i="0">
                <a:solidFill>
                  <a:srgbClr val="1A1A1A"/>
                </a:solidFill>
                <a:latin typeface="Arial"/>
              </a:rPr>
              <a:t>Central IT infrastructure</a:t>
            </a:r>
          </a:p>
        </p:txBody>
      </p:sp>
      <p:sp>
        <p:nvSpPr>
          <p:cNvPr id="17" name="TextBox 16"/>
          <p:cNvSpPr txBox="1"/>
          <p:nvPr/>
        </p:nvSpPr>
        <p:spPr>
          <a:xfrm>
            <a:off x="4224528" y="3236214"/>
            <a:ext cx="3730752" cy="393953"/>
          </a:xfrm>
          <a:prstGeom prst="rect">
            <a:avLst/>
          </a:prstGeom>
          <a:noFill/>
        </p:spPr>
        <p:txBody>
          <a:bodyPr wrap="square">
            <a:spAutoFit/>
          </a:bodyPr>
          <a:lstStyle/>
          <a:p>
            <a:r>
              <a:rPr sz="1500" b="0" i="0">
                <a:solidFill>
                  <a:srgbClr val="1A1A1A"/>
                </a:solidFill>
                <a:latin typeface="Arial"/>
              </a:rPr>
              <a:t>Central systems and their back-up</a:t>
            </a:r>
          </a:p>
        </p:txBody>
      </p:sp>
      <p:sp>
        <p:nvSpPr>
          <p:cNvPr id="18" name="TextBox 17"/>
          <p:cNvSpPr txBox="1"/>
          <p:nvPr/>
        </p:nvSpPr>
        <p:spPr>
          <a:xfrm>
            <a:off x="8065008" y="3236214"/>
            <a:ext cx="3364991" cy="393953"/>
          </a:xfrm>
          <a:prstGeom prst="rect">
            <a:avLst/>
          </a:prstGeom>
          <a:noFill/>
        </p:spPr>
        <p:txBody>
          <a:bodyPr wrap="square">
            <a:spAutoFit/>
          </a:bodyPr>
          <a:lstStyle/>
          <a:p>
            <a:r>
              <a:rPr sz="1500" b="0" i="0">
                <a:solidFill>
                  <a:srgbClr val="1A1A1A"/>
                </a:solidFill>
                <a:latin typeface="Arial"/>
              </a:rPr>
              <a:t>Carried by PNIA</a:t>
            </a:r>
          </a:p>
        </p:txBody>
      </p:sp>
      <p:sp>
        <p:nvSpPr>
          <p:cNvPr id="19" name="Rectangle 18"/>
          <p:cNvSpPr/>
          <p:nvPr/>
        </p:nvSpPr>
        <p:spPr>
          <a:xfrm>
            <a:off x="658368" y="36484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703320"/>
            <a:ext cx="3456432" cy="393953"/>
          </a:xfrm>
          <a:prstGeom prst="rect">
            <a:avLst/>
          </a:prstGeom>
          <a:noFill/>
        </p:spPr>
        <p:txBody>
          <a:bodyPr wrap="square">
            <a:spAutoFit/>
          </a:bodyPr>
          <a:lstStyle/>
          <a:p>
            <a:r>
              <a:rPr sz="1500" b="1" i="0">
                <a:solidFill>
                  <a:srgbClr val="1A1A1A"/>
                </a:solidFill>
                <a:latin typeface="Arial"/>
              </a:rPr>
              <a:t>Physical establishments</a:t>
            </a:r>
          </a:p>
        </p:txBody>
      </p:sp>
      <p:sp>
        <p:nvSpPr>
          <p:cNvPr id="21" name="TextBox 20"/>
          <p:cNvSpPr txBox="1"/>
          <p:nvPr/>
        </p:nvSpPr>
        <p:spPr>
          <a:xfrm>
            <a:off x="4224528" y="3703320"/>
            <a:ext cx="3730752" cy="393953"/>
          </a:xfrm>
          <a:prstGeom prst="rect">
            <a:avLst/>
          </a:prstGeom>
          <a:noFill/>
        </p:spPr>
        <p:txBody>
          <a:bodyPr wrap="square">
            <a:spAutoFit/>
          </a:bodyPr>
          <a:lstStyle/>
          <a:p>
            <a:r>
              <a:rPr sz="1500" b="0" i="0">
                <a:solidFill>
                  <a:srgbClr val="1A1A1A"/>
                </a:solidFill>
                <a:latin typeface="Arial"/>
              </a:rPr>
              <a:t>Offices for enrolment</a:t>
            </a:r>
          </a:p>
        </p:txBody>
      </p:sp>
      <p:sp>
        <p:nvSpPr>
          <p:cNvPr id="22" name="TextBox 21"/>
          <p:cNvSpPr txBox="1"/>
          <p:nvPr/>
        </p:nvSpPr>
        <p:spPr>
          <a:xfrm>
            <a:off x="8065008" y="3703320"/>
            <a:ext cx="3364991" cy="393953"/>
          </a:xfrm>
          <a:prstGeom prst="rect">
            <a:avLst/>
          </a:prstGeom>
          <a:noFill/>
        </p:spPr>
        <p:txBody>
          <a:bodyPr wrap="square">
            <a:spAutoFit/>
          </a:bodyPr>
          <a:lstStyle/>
          <a:p>
            <a:r>
              <a:rPr sz="1500" b="0" i="0">
                <a:solidFill>
                  <a:srgbClr val="1A1A1A"/>
                </a:solidFill>
                <a:latin typeface="Arial"/>
              </a:rPr>
              <a:t>Carried by PNIA</a:t>
            </a:r>
          </a:p>
        </p:txBody>
      </p:sp>
      <p:sp>
        <p:nvSpPr>
          <p:cNvPr id="23" name="Rectangle 22"/>
          <p:cNvSpPr/>
          <p:nvPr/>
        </p:nvSpPr>
        <p:spPr>
          <a:xfrm>
            <a:off x="658368" y="41155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170425"/>
            <a:ext cx="3456432" cy="393953"/>
          </a:xfrm>
          <a:prstGeom prst="rect">
            <a:avLst/>
          </a:prstGeom>
          <a:noFill/>
        </p:spPr>
        <p:txBody>
          <a:bodyPr wrap="square">
            <a:spAutoFit/>
          </a:bodyPr>
          <a:lstStyle/>
          <a:p>
            <a:r>
              <a:rPr sz="1500" b="1" i="0">
                <a:solidFill>
                  <a:srgbClr val="1A1A1A"/>
                </a:solidFill>
                <a:latin typeface="Arial"/>
              </a:rPr>
              <a:t>Enrolment IT infrastructure</a:t>
            </a:r>
          </a:p>
        </p:txBody>
      </p:sp>
      <p:sp>
        <p:nvSpPr>
          <p:cNvPr id="25" name="TextBox 24"/>
          <p:cNvSpPr txBox="1"/>
          <p:nvPr/>
        </p:nvSpPr>
        <p:spPr>
          <a:xfrm>
            <a:off x="4224528" y="4170425"/>
            <a:ext cx="3730752" cy="393953"/>
          </a:xfrm>
          <a:prstGeom prst="rect">
            <a:avLst/>
          </a:prstGeom>
          <a:noFill/>
        </p:spPr>
        <p:txBody>
          <a:bodyPr wrap="square">
            <a:spAutoFit/>
          </a:bodyPr>
          <a:lstStyle/>
          <a:p>
            <a:r>
              <a:rPr sz="1500" b="0" i="0">
                <a:solidFill>
                  <a:srgbClr val="1A1A1A"/>
                </a:solidFill>
                <a:latin typeface="Arial"/>
              </a:rPr>
              <a:t>Kits for the schools</a:t>
            </a:r>
          </a:p>
        </p:txBody>
      </p:sp>
      <p:sp>
        <p:nvSpPr>
          <p:cNvPr id="26" name="TextBox 25"/>
          <p:cNvSpPr txBox="1"/>
          <p:nvPr/>
        </p:nvSpPr>
        <p:spPr>
          <a:xfrm>
            <a:off x="8065008" y="4170425"/>
            <a:ext cx="3364991" cy="393953"/>
          </a:xfrm>
          <a:prstGeom prst="rect">
            <a:avLst/>
          </a:prstGeom>
          <a:noFill/>
        </p:spPr>
        <p:txBody>
          <a:bodyPr wrap="square">
            <a:spAutoFit/>
          </a:bodyPr>
          <a:lstStyle/>
          <a:p>
            <a:r>
              <a:rPr sz="1500" b="0" i="0">
                <a:solidFill>
                  <a:srgbClr val="1A1A1A"/>
                </a:solidFill>
                <a:latin typeface="Arial"/>
              </a:rPr>
              <a:t>Carried by PNIA</a:t>
            </a:r>
          </a:p>
        </p:txBody>
      </p:sp>
      <p:sp>
        <p:nvSpPr>
          <p:cNvPr id="27" name="Rectangle 26"/>
          <p:cNvSpPr/>
          <p:nvPr/>
        </p:nvSpPr>
        <p:spPr>
          <a:xfrm>
            <a:off x="658368" y="45826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637532"/>
            <a:ext cx="3456432" cy="641604"/>
          </a:xfrm>
          <a:prstGeom prst="rect">
            <a:avLst/>
          </a:prstGeom>
          <a:noFill/>
        </p:spPr>
        <p:txBody>
          <a:bodyPr wrap="square">
            <a:spAutoFit/>
          </a:bodyPr>
          <a:lstStyle/>
          <a:p>
            <a:r>
              <a:rPr sz="1500" b="1" i="0">
                <a:solidFill>
                  <a:srgbClr val="1A1A1A"/>
                </a:solidFill>
                <a:latin typeface="Arial"/>
              </a:rPr>
              <a:t>Information, education and communication</a:t>
            </a:r>
          </a:p>
        </p:txBody>
      </p:sp>
      <p:sp>
        <p:nvSpPr>
          <p:cNvPr id="29" name="TextBox 28"/>
          <p:cNvSpPr txBox="1"/>
          <p:nvPr/>
        </p:nvSpPr>
        <p:spPr>
          <a:xfrm>
            <a:off x="4224528" y="4637532"/>
            <a:ext cx="3730752" cy="641604"/>
          </a:xfrm>
          <a:prstGeom prst="rect">
            <a:avLst/>
          </a:prstGeom>
          <a:noFill/>
        </p:spPr>
        <p:txBody>
          <a:bodyPr wrap="square">
            <a:spAutoFit/>
          </a:bodyPr>
          <a:lstStyle/>
          <a:p>
            <a:r>
              <a:rPr sz="1500" b="0" i="0">
                <a:solidFill>
                  <a:srgbClr val="1A1A1A"/>
                </a:solidFill>
                <a:latin typeface="Arial"/>
              </a:rPr>
              <a:t>Campaigns to explain it all</a:t>
            </a:r>
          </a:p>
        </p:txBody>
      </p:sp>
      <p:sp>
        <p:nvSpPr>
          <p:cNvPr id="30" name="TextBox 29"/>
          <p:cNvSpPr txBox="1"/>
          <p:nvPr/>
        </p:nvSpPr>
        <p:spPr>
          <a:xfrm>
            <a:off x="8065008" y="4637532"/>
            <a:ext cx="3364991" cy="641604"/>
          </a:xfrm>
          <a:prstGeom prst="rect">
            <a:avLst/>
          </a:prstGeom>
          <a:noFill/>
        </p:spPr>
        <p:txBody>
          <a:bodyPr wrap="square">
            <a:spAutoFit/>
          </a:bodyPr>
          <a:lstStyle/>
          <a:p>
            <a:r>
              <a:rPr sz="1500" b="0" i="0">
                <a:solidFill>
                  <a:srgbClr val="1A1A1A"/>
                </a:solidFill>
                <a:latin typeface="Arial"/>
              </a:rPr>
              <a:t>Carried by PNIA</a:t>
            </a:r>
          </a:p>
        </p:txBody>
      </p:sp>
      <p:sp>
        <p:nvSpPr>
          <p:cNvPr id="31" name="TextBox 30"/>
          <p:cNvSpPr txBox="1"/>
          <p:nvPr/>
        </p:nvSpPr>
        <p:spPr>
          <a:xfrm>
            <a:off x="658368" y="5407151"/>
            <a:ext cx="10881360" cy="365760"/>
          </a:xfrm>
          <a:prstGeom prst="rect">
            <a:avLst/>
          </a:prstGeom>
          <a:noFill/>
        </p:spPr>
        <p:txBody>
          <a:bodyPr wrap="square">
            <a:spAutoFit/>
          </a:bodyPr>
          <a:lstStyle/>
          <a:p>
            <a:r>
              <a:rPr sz="1300" b="0" i="1">
                <a:solidFill>
                  <a:srgbClr val="595959"/>
                </a:solidFill>
                <a:latin typeface="Arial"/>
              </a:rPr>
              <a:t>No figures: the point is which costs would appear twice.</a:t>
            </a:r>
          </a:p>
        </p:txBody>
      </p:sp>
      <p:sp>
        <p:nvSpPr>
          <p:cNvPr id="32" name="TextBox 3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what exists</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A country that runs an identity system reuses it behind a services facade.</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An applicant can register on a service by signing in with the foundational identity.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An identity system is costly to build and to run, so a country builds it once and every service uses it, and a ministry that builds its own pays those costs a second time.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which identity costs a sector scheme would pay twice.</a:t>
            </a:r>
          </a:p>
          <a:p>
            <a:pPr algn="l">
              <a:spcAft>
                <a:spcPts val="400"/>
              </a:spcAft>
            </a:pPr>
            <a:r>
              <a:rPr sz="1800" b="0" i="0">
                <a:solidFill>
                  <a:srgbClr val="595959"/>
                </a:solidFill>
                <a:latin typeface="Arial"/>
              </a:rPr>
              <a:t>The prompt in the companion material gives you a table of the study's six cost categories, each marked as duplicated or not by the proposed scheme.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Identity Building Block specification, Version 2.0 (December 2025), sections 2.3.1 and 2.4</a:t>
            </a:r>
          </a:p>
          <a:p>
            <a:pPr>
              <a:spcAft>
                <a:spcPts val="1000"/>
              </a:spcAft>
            </a:pPr>
            <a:r>
              <a:rPr sz="1800" b="0" i="0">
                <a:solidFill>
                  <a:srgbClr val="1A1A1A"/>
                </a:solidFill>
                <a:latin typeface="Arial"/>
              </a:rPr>
              <a:t>•  GovStack Registration Building Block specification, section 9.1.3</a:t>
            </a:r>
          </a:p>
          <a:p>
            <a:pPr>
              <a:spcAft>
                <a:spcPts val="1000"/>
              </a:spcAft>
            </a:pPr>
            <a:r>
              <a:rPr sz="1800" b="0" i="0">
                <a:solidFill>
                  <a:srgbClr val="1A1A1A"/>
                </a:solidFill>
                <a:latin typeface="Arial"/>
              </a:rPr>
              <a:t>•  World Bank, Understanding Cost Drivers of Identification Systems (2018), pages 3, 5 and 7</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Why identity is built once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published Identity block, and what the identity authority offers today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published Identity block verifies who a person is, releases only what that person approves and issues no learner identity, so check what your identity authority really offers before you plan on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Before a ministry plans a service on the national identity, someone has to answer a plain question.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What does the identity authority actually offer today, and is it what the published Identity block offers?</a:t>
            </a:r>
          </a:p>
          <a:p>
            <a:pPr>
              <a:spcAft>
                <a:spcPts val="800"/>
              </a:spcAft>
            </a:pPr>
            <a:r>
              <a:rPr sz="1700" b="0" i="0">
                <a:solidFill>
                  <a:srgbClr val="595959"/>
                </a:solidFill>
                <a:latin typeface="Arial"/>
              </a:rPr>
              <a:t>The two are often not the same.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Foundational, not functional</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Foundational identity: proof of who a person is, for many public and private services</a:t>
            </a:r>
          </a:p>
          <a:p>
            <a:pPr>
              <a:spcAft>
                <a:spcPts val="300"/>
              </a:spcAft>
            </a:pPr>
            <a:r>
              <a:rPr sz="1900" b="0" i="0">
                <a:solidFill>
                  <a:srgbClr val="595959"/>
                </a:solidFill>
                <a:latin typeface="Arial"/>
              </a:rPr>
              <a:t>The block's subject.</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Functional identity: proof for one purpose or one sector, such as education</a:t>
            </a:r>
          </a:p>
          <a:p>
            <a:pPr>
              <a:spcAft>
                <a:spcPts val="300"/>
              </a:spcAft>
            </a:pPr>
            <a:r>
              <a:rPr sz="1900" b="0" i="0">
                <a:solidFill>
                  <a:srgbClr val="595959"/>
                </a:solidFill>
                <a:latin typeface="Arial"/>
              </a:rPr>
              <a:t>Outside the block.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block offers, and to whom</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Six services</a:t>
            </a:r>
          </a:p>
          <a:p>
            <a:pPr>
              <a:spcAft>
                <a:spcPts val="300"/>
              </a:spcAft>
            </a:pPr>
            <a:r>
              <a:rPr sz="1900" b="0" i="0">
                <a:solidFill>
                  <a:srgbClr val="595959"/>
                </a:solidFill>
                <a:latin typeface="Arial"/>
              </a:rPr>
              <a:t>Enrolment, identity verification, queries, credential management, federation with other identities, notifications.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Four actors</a:t>
            </a:r>
          </a:p>
          <a:p>
            <a:pPr>
              <a:spcAft>
                <a:spcPts val="300"/>
              </a:spcAft>
            </a:pPr>
            <a:r>
              <a:rPr sz="1900" b="0" i="0">
                <a:solidFill>
                  <a:srgbClr val="595959"/>
                </a:solidFill>
                <a:latin typeface="Arial"/>
              </a:rPr>
              <a:t>The administrator, registered partners, users, subscribers.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national number stays inside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The unique identity number is kept secret inside the block.</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Each relying service receives an identifier made for that service and that person.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How the published block verifies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published interfaces are a minimal set; verification is OpenID Connect.</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person's browser goes to the block's own screens, where the person signs in and approves what may be shared.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Only the calls for the token and for the person's information pass from server to server.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what PNIA offers today, beside the published block</a:t>
            </a:r>
          </a:p>
        </p:txBody>
      </p:sp>
      <p:sp>
        <p:nvSpPr>
          <p:cNvPr id="4" name="TextBox 3"/>
          <p:cNvSpPr txBox="1"/>
          <p:nvPr/>
        </p:nvSpPr>
        <p:spPr>
          <a:xfrm>
            <a:off x="658368" y="2151379"/>
            <a:ext cx="5330952" cy="457200"/>
          </a:xfrm>
          <a:prstGeom prst="rect">
            <a:avLst/>
          </a:prstGeom>
          <a:noFill/>
        </p:spPr>
        <p:txBody>
          <a:bodyPr wrap="square">
            <a:spAutoFit/>
          </a:bodyPr>
          <a:lstStyle/>
          <a:p>
            <a:r>
              <a:rPr sz="1600" b="1" i="0">
                <a:solidFill>
                  <a:srgbClr val="006E96"/>
                </a:solidFill>
                <a:latin typeface="Arial"/>
              </a:rPr>
              <a:t>PNIA's present service on Linkup</a:t>
            </a:r>
          </a:p>
        </p:txBody>
      </p:sp>
      <p:sp>
        <p:nvSpPr>
          <p:cNvPr id="5" name="TextBox 4"/>
          <p:cNvSpPr txBox="1"/>
          <p:nvPr/>
        </p:nvSpPr>
        <p:spPr>
          <a:xfrm>
            <a:off x="6099048" y="2151379"/>
            <a:ext cx="5330952" cy="457200"/>
          </a:xfrm>
          <a:prstGeom prst="rect">
            <a:avLst/>
          </a:prstGeom>
          <a:noFill/>
        </p:spPr>
        <p:txBody>
          <a:bodyPr wrap="square">
            <a:spAutoFit/>
          </a:bodyPr>
          <a:lstStyle/>
          <a:p>
            <a:r>
              <a:rPr sz="1600" b="1" i="0">
                <a:solidFill>
                  <a:srgbClr val="006E96"/>
                </a:solidFill>
                <a:latin typeface="Arial"/>
              </a:rPr>
              <a:t>The published Identity block</a:t>
            </a:r>
          </a:p>
        </p:txBody>
      </p:sp>
      <p:sp>
        <p:nvSpPr>
          <p:cNvPr id="6" name="Rectangle 5"/>
          <p:cNvSpPr/>
          <p:nvPr/>
        </p:nvSpPr>
        <p:spPr>
          <a:xfrm>
            <a:off x="658368" y="2608579"/>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700019"/>
            <a:ext cx="5330952" cy="410464"/>
          </a:xfrm>
          <a:prstGeom prst="rect">
            <a:avLst/>
          </a:prstGeom>
          <a:noFill/>
        </p:spPr>
        <p:txBody>
          <a:bodyPr wrap="square">
            <a:spAutoFit/>
          </a:bodyPr>
          <a:lstStyle/>
          <a:p>
            <a:r>
              <a:rPr sz="1600" b="1" i="0">
                <a:solidFill>
                  <a:srgbClr val="1A1A1A"/>
                </a:solidFill>
                <a:latin typeface="Arial"/>
              </a:rPr>
              <a:t>A read of a person by national number</a:t>
            </a:r>
          </a:p>
        </p:txBody>
      </p:sp>
      <p:sp>
        <p:nvSpPr>
          <p:cNvPr id="8" name="TextBox 7"/>
          <p:cNvSpPr txBox="1"/>
          <p:nvPr/>
        </p:nvSpPr>
        <p:spPr>
          <a:xfrm>
            <a:off x="6099048" y="2700019"/>
            <a:ext cx="5330952" cy="410464"/>
          </a:xfrm>
          <a:prstGeom prst="rect">
            <a:avLst/>
          </a:prstGeom>
          <a:noFill/>
        </p:spPr>
        <p:txBody>
          <a:bodyPr wrap="square">
            <a:spAutoFit/>
          </a:bodyPr>
          <a:lstStyle/>
          <a:p>
            <a:r>
              <a:rPr sz="1600" b="0" i="0">
                <a:solidFill>
                  <a:srgbClr val="1A1A1A"/>
                </a:solidFill>
                <a:latin typeface="Arial"/>
              </a:rPr>
              <a:t>A sign-in through OpenID Connect</a:t>
            </a:r>
          </a:p>
        </p:txBody>
      </p:sp>
      <p:sp>
        <p:nvSpPr>
          <p:cNvPr id="9" name="Rectangle 8"/>
          <p:cNvSpPr/>
          <p:nvPr/>
        </p:nvSpPr>
        <p:spPr>
          <a:xfrm>
            <a:off x="658368" y="3128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183636"/>
            <a:ext cx="5330952" cy="410464"/>
          </a:xfrm>
          <a:prstGeom prst="rect">
            <a:avLst/>
          </a:prstGeom>
          <a:noFill/>
        </p:spPr>
        <p:txBody>
          <a:bodyPr wrap="square">
            <a:spAutoFit/>
          </a:bodyPr>
          <a:lstStyle/>
          <a:p>
            <a:r>
              <a:rPr sz="1600" b="1" i="0">
                <a:solidFill>
                  <a:srgbClr val="1A1A1A"/>
                </a:solidFill>
                <a:latin typeface="Arial"/>
              </a:rPr>
              <a:t>No person present</a:t>
            </a:r>
          </a:p>
        </p:txBody>
      </p:sp>
      <p:sp>
        <p:nvSpPr>
          <p:cNvPr id="11" name="TextBox 10"/>
          <p:cNvSpPr txBox="1"/>
          <p:nvPr/>
        </p:nvSpPr>
        <p:spPr>
          <a:xfrm>
            <a:off x="6099048" y="3183636"/>
            <a:ext cx="5330952" cy="410464"/>
          </a:xfrm>
          <a:prstGeom prst="rect">
            <a:avLst/>
          </a:prstGeom>
          <a:noFill/>
        </p:spPr>
        <p:txBody>
          <a:bodyPr wrap="square">
            <a:spAutoFit/>
          </a:bodyPr>
          <a:lstStyle/>
          <a:p>
            <a:r>
              <a:rPr sz="1600" b="0" i="0">
                <a:solidFill>
                  <a:srgbClr val="1A1A1A"/>
                </a:solidFill>
                <a:latin typeface="Arial"/>
              </a:rPr>
              <a:t>The person present, approving what is shared</a:t>
            </a:r>
          </a:p>
        </p:txBody>
      </p:sp>
      <p:sp>
        <p:nvSpPr>
          <p:cNvPr id="12" name="Rectangle 11"/>
          <p:cNvSpPr/>
          <p:nvPr/>
        </p:nvSpPr>
        <p:spPr>
          <a:xfrm>
            <a:off x="658368" y="3612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667252"/>
            <a:ext cx="5330952" cy="410464"/>
          </a:xfrm>
          <a:prstGeom prst="rect">
            <a:avLst/>
          </a:prstGeom>
          <a:noFill/>
        </p:spPr>
        <p:txBody>
          <a:bodyPr wrap="square">
            <a:spAutoFit/>
          </a:bodyPr>
          <a:lstStyle/>
          <a:p>
            <a:r>
              <a:rPr sz="1600" b="1" i="0">
                <a:solidFill>
                  <a:srgbClr val="1A1A1A"/>
                </a:solidFill>
                <a:latin typeface="Arial"/>
              </a:rPr>
              <a:t>Keyed on the national number</a:t>
            </a:r>
          </a:p>
        </p:txBody>
      </p:sp>
      <p:sp>
        <p:nvSpPr>
          <p:cNvPr id="14" name="TextBox 13"/>
          <p:cNvSpPr txBox="1"/>
          <p:nvPr/>
        </p:nvSpPr>
        <p:spPr>
          <a:xfrm>
            <a:off x="6099048" y="3667252"/>
            <a:ext cx="5330952" cy="410464"/>
          </a:xfrm>
          <a:prstGeom prst="rect">
            <a:avLst/>
          </a:prstGeom>
          <a:noFill/>
        </p:spPr>
        <p:txBody>
          <a:bodyPr wrap="square">
            <a:spAutoFit/>
          </a:bodyPr>
          <a:lstStyle/>
          <a:p>
            <a:r>
              <a:rPr sz="1600" b="0" i="0">
                <a:solidFill>
                  <a:srgbClr val="1A1A1A"/>
                </a:solidFill>
                <a:latin typeface="Arial"/>
              </a:rPr>
              <a:t>Each service receives its own identifier</a:t>
            </a:r>
          </a:p>
        </p:txBody>
      </p:sp>
      <p:sp>
        <p:nvSpPr>
          <p:cNvPr id="15" name="Rectangle 14"/>
          <p:cNvSpPr/>
          <p:nvPr/>
        </p:nvSpPr>
        <p:spPr>
          <a:xfrm>
            <a:off x="658368" y="409600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150868"/>
            <a:ext cx="5330952" cy="410464"/>
          </a:xfrm>
          <a:prstGeom prst="rect">
            <a:avLst/>
          </a:prstGeom>
          <a:noFill/>
        </p:spPr>
        <p:txBody>
          <a:bodyPr wrap="square">
            <a:spAutoFit/>
          </a:bodyPr>
          <a:lstStyle/>
          <a:p>
            <a:r>
              <a:rPr sz="1600" b="1" i="0">
                <a:solidFill>
                  <a:srgbClr val="1A1A1A"/>
                </a:solidFill>
                <a:latin typeface="Arial"/>
              </a:rPr>
              <a:t>Only the examination authority may call it</a:t>
            </a:r>
          </a:p>
        </p:txBody>
      </p:sp>
      <p:sp>
        <p:nvSpPr>
          <p:cNvPr id="17" name="TextBox 16"/>
          <p:cNvSpPr txBox="1"/>
          <p:nvPr/>
        </p:nvSpPr>
        <p:spPr>
          <a:xfrm>
            <a:off x="6099048" y="4150868"/>
            <a:ext cx="5330952" cy="410464"/>
          </a:xfrm>
          <a:prstGeom prst="rect">
            <a:avLst/>
          </a:prstGeom>
          <a:noFill/>
        </p:spPr>
        <p:txBody>
          <a:bodyPr wrap="square">
            <a:spAutoFit/>
          </a:bodyPr>
          <a:lstStyle/>
          <a:p>
            <a:r>
              <a:rPr sz="1600" b="0" i="0">
                <a:solidFill>
                  <a:srgbClr val="1A1A1A"/>
                </a:solidFill>
                <a:latin typeface="Arial"/>
              </a:rPr>
              <a:t>Any registered client</a:t>
            </a:r>
          </a:p>
        </p:txBody>
      </p:sp>
      <p:sp>
        <p:nvSpPr>
          <p:cNvPr id="18" name="Rectangle 17"/>
          <p:cNvSpPr/>
          <p:nvPr/>
        </p:nvSpPr>
        <p:spPr>
          <a:xfrm>
            <a:off x="658368" y="45796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634484"/>
            <a:ext cx="5330952" cy="410464"/>
          </a:xfrm>
          <a:prstGeom prst="rect">
            <a:avLst/>
          </a:prstGeom>
          <a:noFill/>
        </p:spPr>
        <p:txBody>
          <a:bodyPr wrap="square">
            <a:spAutoFit/>
          </a:bodyPr>
          <a:lstStyle/>
          <a:p>
            <a:r>
              <a:rPr sz="1600" b="1" i="0">
                <a:solidFill>
                  <a:srgbClr val="1A1A1A"/>
                </a:solidFill>
                <a:latin typeface="Arial"/>
              </a:rPr>
              <a:t>A contract of Progressa's own</a:t>
            </a:r>
          </a:p>
        </p:txBody>
      </p:sp>
      <p:sp>
        <p:nvSpPr>
          <p:cNvPr id="20" name="TextBox 19"/>
          <p:cNvSpPr txBox="1"/>
          <p:nvPr/>
        </p:nvSpPr>
        <p:spPr>
          <a:xfrm>
            <a:off x="6099048" y="4634484"/>
            <a:ext cx="5330952" cy="410464"/>
          </a:xfrm>
          <a:prstGeom prst="rect">
            <a:avLst/>
          </a:prstGeom>
          <a:noFill/>
        </p:spPr>
        <p:txBody>
          <a:bodyPr wrap="square">
            <a:spAutoFit/>
          </a:bodyPr>
          <a:lstStyle/>
          <a:p>
            <a:r>
              <a:rPr sz="1600" b="0" i="0">
                <a:solidFill>
                  <a:srgbClr val="1A1A1A"/>
                </a:solidFill>
                <a:latin typeface="Arial"/>
              </a:rPr>
              <a:t>The published minimal set</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The published Identity block verifies who a person is, releases only what that person approves and issues no learner identity, so check what your identity authority really offers before you plan on it.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Compare your identity provider with the published Identity block.</a:t>
            </a:r>
          </a:p>
          <a:p>
            <a:pPr algn="l">
              <a:spcAft>
                <a:spcPts val="400"/>
              </a:spcAft>
            </a:pPr>
            <a:r>
              <a:rPr sz="1800" b="0" i="0">
                <a:solidFill>
                  <a:srgbClr val="595959"/>
                </a:solidFill>
                <a:latin typeface="Arial"/>
              </a:rPr>
              <a:t>The prompt in the companion material gives you a table of the interfaces your provider offers set against the published minimal set, with what is missing and what goes beyond it.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Identity Building Block specification, Version 2.0 (December 2025), sections 2, 3, 4, 5.1.2, 6, 8 and 9.1.1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The published Identity block, and what the identity authority offers today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Generating the identity connection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service connects to the identity block as its registered client, asks only for what it needs, and keeps the identifier the block gives to that service, never the national number.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registration service that needs to know who the applicant is does not need an identity system of its own.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needs a connection: registered once with the identity block, asking for little, and keeping the right identifier.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Register the service as a client</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client registration</a:t>
            </a:r>
          </a:p>
          <a:p>
            <a:pPr>
              <a:spcAft>
                <a:spcPts val="300"/>
              </a:spcAft>
            </a:pPr>
            <a:r>
              <a:rPr sz="1800" b="0" i="0">
                <a:solidFill>
                  <a:srgbClr val="595959"/>
                </a:solidFill>
                <a:latin typeface="Arial"/>
              </a:rPr>
              <a:t>The service's name, the addresses the person is sent back to, the service's signing key.</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Two published addresses</a:t>
            </a:r>
          </a:p>
          <a:p>
            <a:pPr>
              <a:spcAft>
                <a:spcPts val="300"/>
              </a:spcAft>
            </a:pPr>
            <a:r>
              <a:rPr sz="1800" b="0" i="0">
                <a:solidFill>
                  <a:srgbClr val="595959"/>
                </a:solidFill>
                <a:latin typeface="Arial"/>
              </a:rPr>
              <a:t>The block's configuration, and the keys that sign its tokens.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client identifier the block returns.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Choose the flow, and ask for little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With claims</a:t>
            </a:r>
          </a:p>
          <a:p>
            <a:pPr>
              <a:spcAft>
                <a:spcPts val="300"/>
              </a:spcAft>
            </a:pPr>
            <a:r>
              <a:rPr sz="1800" b="0" i="0">
                <a:solidFill>
                  <a:srgbClr val="595959"/>
                </a:solidFill>
                <a:latin typeface="Arial"/>
              </a:rPr>
              <a:t>The person signs in, sees what is asked, approves, and the service receives those claims.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Without claims: scope openid</a:t>
            </a:r>
          </a:p>
          <a:p>
            <a:pPr>
              <a:spcAft>
                <a:spcPts val="300"/>
              </a:spcAft>
            </a:pPr>
            <a:r>
              <a:rPr sz="1800" b="0" i="0">
                <a:solidFill>
                  <a:srgbClr val="595959"/>
                </a:solidFill>
                <a:latin typeface="Arial"/>
              </a:rPr>
              <a:t>Proof of the person only, no consent page.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Ask only for what a field of your form needs.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How the person signed in, and the tokens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ID token</a:t>
            </a:r>
          </a:p>
          <a:p>
            <a:pPr>
              <a:spcAft>
                <a:spcPts val="300"/>
              </a:spcAft>
            </a:pPr>
            <a:r>
              <a:rPr sz="1800" b="0" i="0">
                <a:solidFill>
                  <a:srgbClr val="595959"/>
                </a:solidFill>
                <a:latin typeface="Arial"/>
              </a:rPr>
              <a:t>A signed record of who signed in, for which service, and when.</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Its authentication context value</a:t>
            </a:r>
          </a:p>
          <a:p>
            <a:pPr>
              <a:spcAft>
                <a:spcPts val="300"/>
              </a:spcAft>
            </a:pPr>
            <a:r>
              <a:rPr sz="1800" b="0" i="0">
                <a:solidFill>
                  <a:srgbClr val="595959"/>
                </a:solidFill>
                <a:latin typeface="Arial"/>
              </a:rPr>
              <a:t>PIN or password, one-time code, biometrics, or a combination.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access token</a:t>
            </a:r>
          </a:p>
          <a:p>
            <a:pPr>
              <a:spcAft>
                <a:spcPts val="300"/>
              </a:spcAft>
            </a:pPr>
            <a:r>
              <a:rPr sz="1800" b="0" i="0">
                <a:solidFill>
                  <a:srgbClr val="595959"/>
                </a:solidFill>
                <a:latin typeface="Arial"/>
              </a:rPr>
              <a:t>The key to the approved claims.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Keep the identifier the block gives you</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token's subject</a:t>
            </a:r>
          </a:p>
          <a:p>
            <a:pPr>
              <a:spcAft>
                <a:spcPts val="300"/>
              </a:spcAft>
            </a:pPr>
            <a:r>
              <a:rPr sz="1800" b="0" i="0">
                <a:solidFill>
                  <a:srgbClr val="595959"/>
                </a:solidFill>
                <a:latin typeface="Arial"/>
              </a:rPr>
              <a:t>An identifier made for this service and this person.</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Never the national number, which stays secret inside the block.</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Progressa</a:t>
            </a:r>
          </a:p>
          <a:p>
            <a:pPr>
              <a:spcAft>
                <a:spcPts val="300"/>
              </a:spcAft>
            </a:pPr>
            <a:r>
              <a:rPr sz="1800" b="0" i="0">
                <a:solidFill>
                  <a:srgbClr val="595959"/>
                </a:solidFill>
                <a:latin typeface="Arial"/>
              </a:rPr>
              <a:t>The learner register keeps a learner number of its own, with PNIA's identifier beside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one sign-in, verified</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A test person signs in.</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The token's signature is verified against the published keys.</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Two services, two identifiers.</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 service connects to the identity block as its registered client, asks only for what it needs, and keeps the identifier the block gives to that service, never the national number.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identity connection for one service.</a:t>
            </a:r>
          </a:p>
          <a:p>
            <a:pPr algn="l">
              <a:spcAft>
                <a:spcPts val="400"/>
              </a:spcAft>
            </a:pPr>
            <a:r>
              <a:rPr sz="1800" b="0" i="0">
                <a:solidFill>
                  <a:srgbClr val="595959"/>
                </a:solidFill>
                <a:latin typeface="Arial"/>
              </a:rPr>
              <a:t>The prompt in the companion material gives you a draft client registration with the flow, the scopes and claims, and the accepted levels of authentication, each claim tied to a field of your form.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Identity Building Block specification, Version 2.0 (December 2025), sections 4.1.2, 6.1, 6.2, 7.2, 8.1.1, 8.2, 9.1.1 and 9.1.2</a:t>
            </a:r>
          </a:p>
          <a:p>
            <a:pPr>
              <a:spcAft>
                <a:spcPts val="1000"/>
              </a:spcAft>
            </a:pPr>
            <a:r>
              <a:rPr sz="1800" b="0" i="0">
                <a:solidFill>
                  <a:srgbClr val="1A1A1A"/>
                </a:solidFill>
                <a:latin typeface="Arial"/>
              </a:rPr>
              <a:t>•  GovStack Digital Registries Building Block specification, Version 3.0-alpha (June 2026), DRS-14</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Generating the identity connection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Payments block and the payment systems behind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Payments block is not a new payment system: it connects government programmes to the payment systems your country already has, so every programme pays through one shared connection.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ministry that pays scholarships or school grants may be offered a payment system of its own.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published Payments block offers something else: one connection from government to the payment systems the country already runs.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 a new payment scheme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It connects to existing systems in the market; it does not build a new payment scheme.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It sits between the government's account systems and the switching the market offers.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Payment systems in the market are required for it to work.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is inside the block</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An account mapper, payment request initiation, a payment gateway, vouchers, reconciliation, logs and an audit trail.</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One gateway for the calls of other blocks.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stays outside the block</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Settlement between institutions.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Identification of people, and the checks on customers: know-your-customer and anti-money-laundering.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path of a payment</a:t>
            </a:r>
          </a:p>
        </p:txBody>
      </p:sp>
      <p:cxnSp>
        <p:nvCxnSpPr>
          <p:cNvPr id="4" name="Connector 3"/>
          <p:cNvCxnSpPr/>
          <p:nvPr/>
        </p:nvCxnSpPr>
        <p:spPr>
          <a:xfrm>
            <a:off x="2563977"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17059"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70140"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3222"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Programme account</a:t>
            </a:r>
          </a:p>
        </p:txBody>
      </p:sp>
      <p:sp>
        <p:nvSpPr>
          <p:cNvPr id="9" name="Rounded Rectangle 8"/>
          <p:cNvSpPr/>
          <p:nvPr/>
        </p:nvSpPr>
        <p:spPr>
          <a:xfrm>
            <a:off x="2911449" y="2446020"/>
            <a:ext cx="1869033"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FFFFFF"/>
                </a:solidFill>
                <a:latin typeface="Arial"/>
              </a:rPr>
              <a:t>Payments block</a:t>
            </a:r>
          </a:p>
        </p:txBody>
      </p:sp>
      <p:sp>
        <p:nvSpPr>
          <p:cNvPr id="10" name="Rounded Rectangle 9"/>
          <p:cNvSpPr/>
          <p:nvPr/>
        </p:nvSpPr>
        <p:spPr>
          <a:xfrm>
            <a:off x="5164531"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Payer bank</a:t>
            </a:r>
          </a:p>
        </p:txBody>
      </p:sp>
      <p:sp>
        <p:nvSpPr>
          <p:cNvPr id="11" name="Rounded Rectangle 10"/>
          <p:cNvSpPr/>
          <p:nvPr/>
        </p:nvSpPr>
        <p:spPr>
          <a:xfrm>
            <a:off x="7417612"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Payment systems in the market</a:t>
            </a:r>
          </a:p>
          <a:p>
            <a:pPr algn="l">
              <a:spcAft>
                <a:spcPts val="300"/>
              </a:spcAft>
            </a:pPr>
            <a:r>
              <a:rPr sz="1500" b="0" i="0">
                <a:solidFill>
                  <a:srgbClr val="1A1A1A"/>
                </a:solidFill>
                <a:latin typeface="Arial"/>
              </a:rPr>
              <a:t>PayPro among them</a:t>
            </a:r>
          </a:p>
        </p:txBody>
      </p:sp>
      <p:sp>
        <p:nvSpPr>
          <p:cNvPr id="12" name="Rounded Rectangle 11"/>
          <p:cNvSpPr/>
          <p:nvPr/>
        </p:nvSpPr>
        <p:spPr>
          <a:xfrm>
            <a:off x="9670694"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The learner's account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public payment system, built to be shared</a:t>
            </a:r>
          </a:p>
        </p:txBody>
      </p:sp>
      <p:sp>
        <p:nvSpPr>
          <p:cNvPr id="4" name="TextBox 3"/>
          <p:cNvSpPr txBox="1"/>
          <p:nvPr/>
        </p:nvSpPr>
        <p:spPr>
          <a:xfrm>
            <a:off x="658368" y="2103120"/>
            <a:ext cx="10984687" cy="1234439"/>
          </a:xfrm>
          <a:prstGeom prst="rect">
            <a:avLst/>
          </a:prstGeom>
          <a:noFill/>
        </p:spPr>
        <p:txBody>
          <a:bodyPr wrap="square">
            <a:spAutoFit/>
          </a:bodyPr>
          <a:lstStyle/>
          <a:p>
            <a:pPr>
              <a:spcAft>
                <a:spcPts val="300"/>
              </a:spcAft>
            </a:pPr>
            <a:r>
              <a:rPr sz="2400" b="1" i="0">
                <a:solidFill>
                  <a:srgbClr val="1A1A1A"/>
                </a:solidFill>
                <a:latin typeface="Arial"/>
              </a:rPr>
              <a:t>Pix, Brazil</a:t>
            </a:r>
          </a:p>
          <a:p>
            <a:pPr>
              <a:spcAft>
                <a:spcPts val="300"/>
              </a:spcAft>
            </a:pPr>
            <a:r>
              <a:rPr sz="1900" b="0" i="0">
                <a:solidFill>
                  <a:srgbClr val="595959"/>
                </a:solidFill>
                <a:latin typeface="Arial"/>
              </a:rPr>
              <a:t>Large banks were required to take part; the central bank both operates it and sets its rules (page 3).</a:t>
            </a:r>
          </a:p>
        </p:txBody>
      </p:sp>
      <p:sp>
        <p:nvSpPr>
          <p:cNvPr id="5" name="Rectangle 4"/>
          <p:cNvSpPr/>
          <p:nvPr/>
        </p:nvSpPr>
        <p:spPr>
          <a:xfrm>
            <a:off x="621792" y="3342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383279"/>
            <a:ext cx="10984687" cy="1234439"/>
          </a:xfrm>
          <a:prstGeom prst="rect">
            <a:avLst/>
          </a:prstGeom>
          <a:noFill/>
        </p:spPr>
        <p:txBody>
          <a:bodyPr wrap="square">
            <a:spAutoFit/>
          </a:bodyPr>
          <a:lstStyle/>
          <a:p>
            <a:pPr>
              <a:spcAft>
                <a:spcPts val="300"/>
              </a:spcAft>
            </a:pPr>
            <a:r>
              <a:rPr sz="2400" b="1" i="0">
                <a:solidFill>
                  <a:srgbClr val="1A1A1A"/>
                </a:solidFill>
                <a:latin typeface="Arial"/>
              </a:rPr>
              <a:t>67% of adults had used it 15 months after launch (page 5).</a:t>
            </a:r>
          </a:p>
        </p:txBody>
      </p:sp>
      <p:sp>
        <p:nvSpPr>
          <p:cNvPr id="7" name="TextBox 6"/>
          <p:cNvSpPr txBox="1"/>
          <p:nvPr/>
        </p:nvSpPr>
        <p:spPr>
          <a:xfrm>
            <a:off x="658368" y="4736592"/>
            <a:ext cx="10881360" cy="365760"/>
          </a:xfrm>
          <a:prstGeom prst="rect">
            <a:avLst/>
          </a:prstGeom>
          <a:noFill/>
        </p:spPr>
        <p:txBody>
          <a:bodyPr wrap="square">
            <a:spAutoFit/>
          </a:bodyPr>
          <a:lstStyle/>
          <a:p>
            <a:r>
              <a:rPr sz="1300" b="0" i="1">
                <a:solidFill>
                  <a:srgbClr val="595959"/>
                </a:solidFill>
                <a:latin typeface="Arial"/>
              </a:rPr>
              <a:t>Bank for International Settlements, Bulletin No 52, 2022.</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The Payments block is not a new payment system: it connects government programmes to the payment systems your country already has, so every programme pays through one shared connection.</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Place your country's payment systems on the Payments block.</a:t>
            </a:r>
          </a:p>
          <a:p>
            <a:pPr algn="l">
              <a:spcAft>
                <a:spcPts val="400"/>
              </a:spcAft>
            </a:pPr>
            <a:r>
              <a:rPr sz="1800" b="0" i="0">
                <a:solidFill>
                  <a:srgbClr val="595959"/>
                </a:solidFill>
                <a:latin typeface="Arial"/>
              </a:rPr>
              <a:t>The prompt in the companion material gives you a table that places each of your payment systems and programme accounts on the block's components, with what is missing.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Payments Building Block specification, Version 3.0 (December 2025), sections 2, 4, 5.1, 6.5, 6.17 and 9.1.3</a:t>
            </a:r>
          </a:p>
          <a:p>
            <a:pPr>
              <a:spcAft>
                <a:spcPts val="1000"/>
              </a:spcAft>
            </a:pPr>
            <a:r>
              <a:rPr sz="1800" b="0" i="0">
                <a:solidFill>
                  <a:srgbClr val="1A1A1A"/>
                </a:solidFill>
                <a:latin typeface="Arial"/>
              </a:rPr>
              <a:t>•  Bank for International Settlements, BIS Bulletin No 52, 23 March 2022, pages 3 and 5</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The Payments block and the payment systems behind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Generating the payment connection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To pay through the block you configure the sender, the programme, the beneficiary, the payment and the route for its status, and the proof is one test payment whose status comes back.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Once the Payments block is installed, a service still cannot pay anyone.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Five things have to be set up first, and the proof that they work is one small test payment whose status comes back.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sender and the programme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1. The sender</a:t>
            </a:r>
          </a:p>
          <a:p>
            <a:pPr>
              <a:spcAft>
                <a:spcPts val="300"/>
              </a:spcAft>
            </a:pPr>
            <a:r>
              <a:rPr sz="1900" b="0" i="0">
                <a:solidFill>
                  <a:srgbClr val="595959"/>
                </a:solidFill>
                <a:latin typeface="Arial"/>
              </a:rPr>
              <a:t>The calling block, configured as an accepted source of payment requests.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2. The programme</a:t>
            </a:r>
          </a:p>
          <a:p>
            <a:pPr>
              <a:spcAft>
                <a:spcPts val="300"/>
              </a:spcAft>
            </a:pPr>
            <a:r>
              <a:rPr sz="1900" b="0" i="0">
                <a:solidFill>
                  <a:srgbClr val="595959"/>
                </a:solidFill>
                <a:latin typeface="Arial"/>
              </a:rPr>
              <a:t>Its payment account and its currency, by ISO 4217 code.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beneficiary</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3. The beneficiary, registered in the account mapper: a functional identifier, the way of payment, the financial address.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The mapper answers on a callback address; the service's own register keeps no payment details.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payment</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4. The payment, sent as a batch of one or many.</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At the least</a:t>
            </a:r>
          </a:p>
          <a:p>
            <a:pPr>
              <a:spcAft>
                <a:spcPts val="300"/>
              </a:spcAft>
            </a:pPr>
            <a:r>
              <a:rPr sz="1900" b="0" i="0">
                <a:solidFill>
                  <a:srgbClr val="595959"/>
                </a:solidFill>
                <a:latin typeface="Arial"/>
              </a:rPr>
              <a:t>The payer's identifier, the payee's identifier, the amount, the currency, the policy, and the sender's own transaction identifier.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route for status, and the security around it</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5. The route for status: an address to which status is sent, and a call for the status of one payment</a:t>
            </a:r>
          </a:p>
          <a:p>
            <a:pPr>
              <a:spcAft>
                <a:spcPts val="300"/>
              </a:spcAft>
            </a:pPr>
            <a:r>
              <a:rPr sz="1900" b="0" i="0">
                <a:solidFill>
                  <a:srgbClr val="595959"/>
                </a:solidFill>
                <a:latin typeface="Arial"/>
              </a:rPr>
              <a:t>Success, failed, in progress.</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Around all five</a:t>
            </a:r>
          </a:p>
          <a:p>
            <a:pPr>
              <a:spcAft>
                <a:spcPts val="300"/>
              </a:spcAft>
            </a:pPr>
            <a:r>
              <a:rPr sz="1900" b="0" i="0">
                <a:solidFill>
                  <a:srgbClr val="595959"/>
                </a:solidFill>
                <a:latin typeface="Arial"/>
              </a:rPr>
              <a:t>The interface published through the Information Mediator, secure connections, authorisation tokens, authenticated messages.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one test payment, and its status</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One test beneficiary registered.</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A batch of one payment submitted.</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Its status returned.</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To pay through the block you configure the sender, the programme, the beneficiary, the payment and the route for its status, and the proof is one test payment whose status comes back.</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payment connection for one programme.</a:t>
            </a:r>
          </a:p>
          <a:p>
            <a:pPr algn="l">
              <a:spcAft>
                <a:spcPts val="400"/>
              </a:spcAft>
            </a:pPr>
            <a:r>
              <a:rPr sz="1800" b="0" i="0">
                <a:solidFill>
                  <a:srgbClr val="595959"/>
                </a:solidFill>
                <a:latin typeface="Arial"/>
              </a:rPr>
              <a:t>The prompt in the companion material gives you a draft configuration of the source, the programme, the onboarding, the batch and the route for status, with every test value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Payments Building Block specification, Version 3.0 (December 2025), sections 4.16, 5.1.14, 5.3.1, 5.4, 6.3, 6.4, 6.11, 6.14, 7.1.1, 7.2.1, 8.1.2, 8.1.4 and 9.1.1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Generating the payment connection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Reuse is the return on planning</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Learner registration reuses the identity block and the scholarship payment reuses the Payments block, a saving visible only to someone who plans for the whole government, because inside one project building your own looks quicker.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Inside a single project, building your own identity check or your own payment link often looks quicker than waiting for a shared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Seen from the whole government, it is the more expensive choice.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services, two shared blocks</a:t>
            </a:r>
          </a:p>
        </p:txBody>
      </p:sp>
      <p:sp>
        <p:nvSpPr>
          <p:cNvPr id="4" name="TextBox 3"/>
          <p:cNvSpPr txBox="1"/>
          <p:nvPr/>
        </p:nvSpPr>
        <p:spPr>
          <a:xfrm>
            <a:off x="658368" y="2810764"/>
            <a:ext cx="4828032" cy="457200"/>
          </a:xfrm>
          <a:prstGeom prst="rect">
            <a:avLst/>
          </a:prstGeom>
          <a:noFill/>
        </p:spPr>
        <p:txBody>
          <a:bodyPr wrap="square">
            <a:spAutoFit/>
          </a:bodyPr>
          <a:lstStyle/>
          <a:p>
            <a:r>
              <a:rPr sz="2000" b="1" i="0">
                <a:solidFill>
                  <a:srgbClr val="006E96"/>
                </a:solidFill>
                <a:latin typeface="Arial"/>
              </a:rPr>
              <a:t>Service</a:t>
            </a:r>
          </a:p>
        </p:txBody>
      </p:sp>
      <p:sp>
        <p:nvSpPr>
          <p:cNvPr id="5" name="TextBox 4"/>
          <p:cNvSpPr txBox="1"/>
          <p:nvPr/>
        </p:nvSpPr>
        <p:spPr>
          <a:xfrm>
            <a:off x="5596128" y="2810764"/>
            <a:ext cx="5833872" cy="457200"/>
          </a:xfrm>
          <a:prstGeom prst="rect">
            <a:avLst/>
          </a:prstGeom>
          <a:noFill/>
        </p:spPr>
        <p:txBody>
          <a:bodyPr wrap="square">
            <a:spAutoFit/>
          </a:bodyPr>
          <a:lstStyle/>
          <a:p>
            <a:r>
              <a:rPr sz="2000" b="1" i="0">
                <a:solidFill>
                  <a:srgbClr val="006E96"/>
                </a:solidFill>
                <a:latin typeface="Arial"/>
              </a:rPr>
              <a:t>Reuses</a:t>
            </a:r>
          </a:p>
        </p:txBody>
      </p:sp>
      <p:sp>
        <p:nvSpPr>
          <p:cNvPr id="6" name="Rectangle 5"/>
          <p:cNvSpPr/>
          <p:nvPr/>
        </p:nvSpPr>
        <p:spPr>
          <a:xfrm>
            <a:off x="658368" y="3267964"/>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359404"/>
            <a:ext cx="4828032" cy="476504"/>
          </a:xfrm>
          <a:prstGeom prst="rect">
            <a:avLst/>
          </a:prstGeom>
          <a:noFill/>
        </p:spPr>
        <p:txBody>
          <a:bodyPr wrap="square">
            <a:spAutoFit/>
          </a:bodyPr>
          <a:lstStyle/>
          <a:p>
            <a:r>
              <a:rPr sz="2000" b="1" i="0">
                <a:solidFill>
                  <a:srgbClr val="1A1A1A"/>
                </a:solidFill>
                <a:latin typeface="Arial"/>
              </a:rPr>
              <a:t>Learner registration</a:t>
            </a:r>
          </a:p>
        </p:txBody>
      </p:sp>
      <p:sp>
        <p:nvSpPr>
          <p:cNvPr id="8" name="TextBox 7"/>
          <p:cNvSpPr txBox="1"/>
          <p:nvPr/>
        </p:nvSpPr>
        <p:spPr>
          <a:xfrm>
            <a:off x="5596128" y="3359404"/>
            <a:ext cx="5833872" cy="476504"/>
          </a:xfrm>
          <a:prstGeom prst="rect">
            <a:avLst/>
          </a:prstGeom>
          <a:noFill/>
        </p:spPr>
        <p:txBody>
          <a:bodyPr wrap="square">
            <a:spAutoFit/>
          </a:bodyPr>
          <a:lstStyle/>
          <a:p>
            <a:r>
              <a:rPr sz="2000" b="0" i="0">
                <a:solidFill>
                  <a:srgbClr val="1A1A1A"/>
                </a:solidFill>
                <a:latin typeface="Arial"/>
              </a:rPr>
              <a:t>The identity block</a:t>
            </a:r>
          </a:p>
        </p:txBody>
      </p:sp>
      <p:sp>
        <p:nvSpPr>
          <p:cNvPr id="9" name="Rectangle 8"/>
          <p:cNvSpPr/>
          <p:nvPr/>
        </p:nvSpPr>
        <p:spPr>
          <a:xfrm>
            <a:off x="658368" y="38541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909060"/>
            <a:ext cx="4828032" cy="476504"/>
          </a:xfrm>
          <a:prstGeom prst="rect">
            <a:avLst/>
          </a:prstGeom>
          <a:noFill/>
        </p:spPr>
        <p:txBody>
          <a:bodyPr wrap="square">
            <a:spAutoFit/>
          </a:bodyPr>
          <a:lstStyle/>
          <a:p>
            <a:r>
              <a:rPr sz="2000" b="1" i="0">
                <a:solidFill>
                  <a:srgbClr val="1A1A1A"/>
                </a:solidFill>
                <a:latin typeface="Arial"/>
              </a:rPr>
              <a:t>Scholarship payment</a:t>
            </a:r>
          </a:p>
        </p:txBody>
      </p:sp>
      <p:sp>
        <p:nvSpPr>
          <p:cNvPr id="11" name="TextBox 10"/>
          <p:cNvSpPr txBox="1"/>
          <p:nvPr/>
        </p:nvSpPr>
        <p:spPr>
          <a:xfrm>
            <a:off x="5596128" y="3909060"/>
            <a:ext cx="5833872" cy="476504"/>
          </a:xfrm>
          <a:prstGeom prst="rect">
            <a:avLst/>
          </a:prstGeom>
          <a:noFill/>
        </p:spPr>
        <p:txBody>
          <a:bodyPr wrap="square">
            <a:spAutoFit/>
          </a:bodyPr>
          <a:lstStyle/>
          <a:p>
            <a:r>
              <a:rPr sz="2000" b="0" i="0">
                <a:solidFill>
                  <a:srgbClr val="1A1A1A"/>
                </a:solidFill>
                <a:latin typeface="Arial"/>
              </a:rPr>
              <a:t>The Payments block</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each would have built alone</a:t>
            </a:r>
          </a:p>
        </p:txBody>
      </p:sp>
      <p:sp>
        <p:nvSpPr>
          <p:cNvPr id="4" name="TextBox 3"/>
          <p:cNvSpPr txBox="1"/>
          <p:nvPr/>
        </p:nvSpPr>
        <p:spPr>
          <a:xfrm>
            <a:off x="658368" y="2398013"/>
            <a:ext cx="5330952" cy="457200"/>
          </a:xfrm>
          <a:prstGeom prst="rect">
            <a:avLst/>
          </a:prstGeom>
          <a:noFill/>
        </p:spPr>
        <p:txBody>
          <a:bodyPr wrap="square">
            <a:spAutoFit/>
          </a:bodyPr>
          <a:lstStyle/>
          <a:p>
            <a:r>
              <a:rPr sz="1800" b="1" i="0">
                <a:solidFill>
                  <a:srgbClr val="006E96"/>
                </a:solidFill>
                <a:latin typeface="Arial"/>
              </a:rPr>
              <a:t>Alone</a:t>
            </a:r>
          </a:p>
        </p:txBody>
      </p:sp>
      <p:sp>
        <p:nvSpPr>
          <p:cNvPr id="5" name="TextBox 4"/>
          <p:cNvSpPr txBox="1"/>
          <p:nvPr/>
        </p:nvSpPr>
        <p:spPr>
          <a:xfrm>
            <a:off x="6099048" y="2398013"/>
            <a:ext cx="5330952" cy="457200"/>
          </a:xfrm>
          <a:prstGeom prst="rect">
            <a:avLst/>
          </a:prstGeom>
          <a:noFill/>
        </p:spPr>
        <p:txBody>
          <a:bodyPr wrap="square">
            <a:spAutoFit/>
          </a:bodyPr>
          <a:lstStyle/>
          <a:p>
            <a:r>
              <a:rPr sz="1800" b="1" i="0">
                <a:solidFill>
                  <a:srgbClr val="006E96"/>
                </a:solidFill>
                <a:latin typeface="Arial"/>
              </a:rPr>
              <a:t>With the shared block</a:t>
            </a:r>
          </a:p>
        </p:txBody>
      </p:sp>
      <p:sp>
        <p:nvSpPr>
          <p:cNvPr id="6" name="Rectangle 5"/>
          <p:cNvSpPr/>
          <p:nvPr/>
        </p:nvSpPr>
        <p:spPr>
          <a:xfrm>
            <a:off x="658368" y="2855213"/>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946653"/>
            <a:ext cx="5330952" cy="740664"/>
          </a:xfrm>
          <a:prstGeom prst="rect">
            <a:avLst/>
          </a:prstGeom>
          <a:noFill/>
        </p:spPr>
        <p:txBody>
          <a:bodyPr wrap="square">
            <a:spAutoFit/>
          </a:bodyPr>
          <a:lstStyle/>
          <a:p>
            <a:r>
              <a:rPr sz="1800" b="1" i="0">
                <a:solidFill>
                  <a:srgbClr val="1A1A1A"/>
                </a:solidFill>
                <a:latin typeface="Arial"/>
              </a:rPr>
              <a:t>Its own enrolment, credentials, security and support staff</a:t>
            </a:r>
          </a:p>
        </p:txBody>
      </p:sp>
      <p:sp>
        <p:nvSpPr>
          <p:cNvPr id="8" name="TextBox 7"/>
          <p:cNvSpPr txBox="1"/>
          <p:nvPr/>
        </p:nvSpPr>
        <p:spPr>
          <a:xfrm>
            <a:off x="6099048" y="2946653"/>
            <a:ext cx="5330952" cy="740664"/>
          </a:xfrm>
          <a:prstGeom prst="rect">
            <a:avLst/>
          </a:prstGeom>
          <a:noFill/>
        </p:spPr>
        <p:txBody>
          <a:bodyPr wrap="square">
            <a:spAutoFit/>
          </a:bodyPr>
          <a:lstStyle/>
          <a:p>
            <a:r>
              <a:rPr sz="1800" b="0" i="0">
                <a:solidFill>
                  <a:srgbClr val="1A1A1A"/>
                </a:solidFill>
                <a:latin typeface="Arial"/>
              </a:rPr>
              <a:t>One verification service used by many</a:t>
            </a:r>
          </a:p>
        </p:txBody>
      </p:sp>
      <p:sp>
        <p:nvSpPr>
          <p:cNvPr id="9" name="Rectangle 8"/>
          <p:cNvSpPr/>
          <p:nvPr/>
        </p:nvSpPr>
        <p:spPr>
          <a:xfrm>
            <a:off x="658368" y="370560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760470"/>
            <a:ext cx="5330952" cy="1037844"/>
          </a:xfrm>
          <a:prstGeom prst="rect">
            <a:avLst/>
          </a:prstGeom>
          <a:noFill/>
        </p:spPr>
        <p:txBody>
          <a:bodyPr wrap="square">
            <a:spAutoFit/>
          </a:bodyPr>
          <a:lstStyle/>
          <a:p>
            <a:r>
              <a:rPr sz="1800" b="1" i="0">
                <a:solidFill>
                  <a:srgbClr val="1A1A1A"/>
                </a:solidFill>
                <a:latin typeface="Arial"/>
              </a:rPr>
              <a:t>Its own links to every bank and mobile money provider, and every learner's account details in its register</a:t>
            </a:r>
          </a:p>
        </p:txBody>
      </p:sp>
      <p:sp>
        <p:nvSpPr>
          <p:cNvPr id="11" name="TextBox 10"/>
          <p:cNvSpPr txBox="1"/>
          <p:nvPr/>
        </p:nvSpPr>
        <p:spPr>
          <a:xfrm>
            <a:off x="6099048" y="3760470"/>
            <a:ext cx="5330952" cy="1037844"/>
          </a:xfrm>
          <a:prstGeom prst="rect">
            <a:avLst/>
          </a:prstGeom>
          <a:noFill/>
        </p:spPr>
        <p:txBody>
          <a:bodyPr wrap="square">
            <a:spAutoFit/>
          </a:bodyPr>
          <a:lstStyle/>
          <a:p>
            <a:r>
              <a:rPr sz="1800" b="0" i="0">
                <a:solidFill>
                  <a:srgbClr val="1A1A1A"/>
                </a:solidFill>
                <a:latin typeface="Arial"/>
              </a:rPr>
              <a:t>One shared infrastructure; the account mapper keeps payment details out of the register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Education is already in the specifications</a:t>
            </a:r>
          </a:p>
        </p:txBody>
      </p:sp>
      <p:sp>
        <p:nvSpPr>
          <p:cNvPr id="4" name="TextBox 3"/>
          <p:cNvSpPr txBox="1"/>
          <p:nvPr/>
        </p:nvSpPr>
        <p:spPr>
          <a:xfrm>
            <a:off x="658368" y="1522475"/>
            <a:ext cx="10984687" cy="1143000"/>
          </a:xfrm>
          <a:prstGeom prst="rect">
            <a:avLst/>
          </a:prstGeom>
          <a:noFill/>
        </p:spPr>
        <p:txBody>
          <a:bodyPr wrap="square">
            <a:spAutoFit/>
          </a:bodyPr>
          <a:lstStyle/>
          <a:p>
            <a:pPr>
              <a:spcAft>
                <a:spcPts val="300"/>
              </a:spcAft>
            </a:pPr>
            <a:r>
              <a:rPr sz="2200" b="1" i="0">
                <a:solidFill>
                  <a:srgbClr val="1A1A1A"/>
                </a:solidFill>
                <a:latin typeface="Arial"/>
              </a:rPr>
              <a:t>The payment of school fees.</a:t>
            </a:r>
          </a:p>
        </p:txBody>
      </p:sp>
      <p:sp>
        <p:nvSpPr>
          <p:cNvPr id="5" name="Rectangle 4"/>
          <p:cNvSpPr/>
          <p:nvPr/>
        </p:nvSpPr>
        <p:spPr>
          <a:xfrm>
            <a:off x="621792" y="26700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11196"/>
            <a:ext cx="10984687" cy="1143000"/>
          </a:xfrm>
          <a:prstGeom prst="rect">
            <a:avLst/>
          </a:prstGeom>
          <a:noFill/>
        </p:spPr>
        <p:txBody>
          <a:bodyPr wrap="square">
            <a:spAutoFit/>
          </a:bodyPr>
          <a:lstStyle/>
          <a:p>
            <a:pPr>
              <a:spcAft>
                <a:spcPts val="300"/>
              </a:spcAft>
            </a:pPr>
            <a:r>
              <a:rPr sz="2200" b="1" i="0">
                <a:solidFill>
                  <a:srgbClr val="1A1A1A"/>
                </a:solidFill>
                <a:latin typeface="Arial"/>
              </a:rPr>
              <a:t>Vouchers that can be redeemed only at schools.</a:t>
            </a:r>
          </a:p>
        </p:txBody>
      </p:sp>
      <p:sp>
        <p:nvSpPr>
          <p:cNvPr id="7" name="Rectangle 6"/>
          <p:cNvSpPr/>
          <p:nvPr/>
        </p:nvSpPr>
        <p:spPr>
          <a:xfrm>
            <a:off x="621792" y="38587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99915"/>
            <a:ext cx="10984687" cy="1143000"/>
          </a:xfrm>
          <a:prstGeom prst="rect">
            <a:avLst/>
          </a:prstGeom>
          <a:noFill/>
        </p:spPr>
        <p:txBody>
          <a:bodyPr wrap="square">
            <a:spAutoFit/>
          </a:bodyPr>
          <a:lstStyle/>
          <a:p>
            <a:pPr>
              <a:spcAft>
                <a:spcPts val="300"/>
              </a:spcAft>
            </a:pPr>
            <a:r>
              <a:rPr sz="2200" b="1" i="0">
                <a:solidFill>
                  <a:srgbClr val="1A1A1A"/>
                </a:solidFill>
                <a:latin typeface="Arial"/>
              </a:rPr>
              <a:t>Conditional transfers for school fee payment.</a:t>
            </a:r>
          </a:p>
        </p:txBody>
      </p:sp>
      <p:sp>
        <p:nvSpPr>
          <p:cNvPr id="9" name="TextBox 8"/>
          <p:cNvSpPr txBox="1"/>
          <p:nvPr/>
        </p:nvSpPr>
        <p:spPr>
          <a:xfrm>
            <a:off x="658368" y="5161788"/>
            <a:ext cx="10881360" cy="548640"/>
          </a:xfrm>
          <a:prstGeom prst="rect">
            <a:avLst/>
          </a:prstGeom>
          <a:noFill/>
        </p:spPr>
        <p:txBody>
          <a:bodyPr wrap="square">
            <a:spAutoFit/>
          </a:bodyPr>
          <a:lstStyle/>
          <a:p>
            <a:r>
              <a:rPr sz="1700" b="1" i="0">
                <a:solidFill>
                  <a:srgbClr val="006E96"/>
                </a:solidFill>
                <a:latin typeface="Arial"/>
              </a:rPr>
              <a:t>Several registrations combined in one service.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only planning sees the saving</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Each project is funded for its own service, on its own date.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first ministry pays; the second, third and fourth reuse.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PAERA</a:t>
            </a:r>
          </a:p>
          <a:p>
            <a:pPr>
              <a:spcAft>
                <a:spcPts val="300"/>
              </a:spcAft>
            </a:pPr>
            <a:r>
              <a:rPr sz="1800" b="0" i="0">
                <a:solidFill>
                  <a:srgbClr val="595959"/>
                </a:solidFill>
                <a:latin typeface="Arial"/>
              </a:rPr>
              <a:t>Identify shared services, workflows and data; whole-of-government; once-only.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Learner registration reuses the identity block and the scholarship payment reuses the Payments block, a saving visible only to someone who plans for the whole government, because inside one project building your own looks quicker.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Count the services that would reuse each shared block.</a:t>
            </a:r>
          </a:p>
          <a:p>
            <a:pPr algn="l">
              <a:spcAft>
                <a:spcPts val="400"/>
              </a:spcAft>
            </a:pPr>
            <a:r>
              <a:rPr sz="1800" b="0" i="0">
                <a:solidFill>
                  <a:srgbClr val="595959"/>
                </a:solidFill>
                <a:latin typeface="Arial"/>
              </a:rPr>
              <a:t>The prompt in the companion material gives you a count, for each shared block, of the services that would reuse it, confirmed by their owners.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sections 3.3.3 and 5.2</a:t>
            </a:r>
          </a:p>
          <a:p>
            <a:pPr>
              <a:spcAft>
                <a:spcPts val="1000"/>
              </a:spcAft>
            </a:pPr>
            <a:r>
              <a:rPr sz="1800" b="0" i="0">
                <a:solidFill>
                  <a:srgbClr val="1A1A1A"/>
                </a:solidFill>
                <a:latin typeface="Arial"/>
              </a:rPr>
              <a:t>•  GovStack Identity Building Block specification, Version 2.0, sections 2.4 and 4.1.2</a:t>
            </a:r>
          </a:p>
          <a:p>
            <a:pPr>
              <a:spcAft>
                <a:spcPts val="1000"/>
              </a:spcAft>
            </a:pPr>
            <a:r>
              <a:rPr sz="1800" b="0" i="0">
                <a:solidFill>
                  <a:srgbClr val="1A1A1A"/>
                </a:solidFill>
                <a:latin typeface="Arial"/>
              </a:rPr>
              <a:t>•  GovStack Payments Building Block specification, Version 3.0, sections 2, 4, 4.3, 6.3, 9.2.1 and 9.2.2</a:t>
            </a:r>
          </a:p>
          <a:p>
            <a:pPr>
              <a:spcAft>
                <a:spcPts val="1000"/>
              </a:spcAft>
            </a:pPr>
            <a:r>
              <a:rPr sz="1800" b="0" i="0">
                <a:solidFill>
                  <a:srgbClr val="1A1A1A"/>
                </a:solidFill>
                <a:latin typeface="Arial"/>
              </a:rPr>
              <a:t>•  GovStack Registration Building Block specification, section 6.3.1.9</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