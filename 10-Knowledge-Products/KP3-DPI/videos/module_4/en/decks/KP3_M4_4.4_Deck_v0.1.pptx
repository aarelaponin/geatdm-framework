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3" r:id="rId45"/>
    <p:sldId id="2724" r:id="rId17"/>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ministry that pays scholarships or school grants may be offered a payment system of its own. The published Payments block offers something else: one connection from government to the payment systems the country already runs.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Payments specification is clear about its own limits. The block provides the connections to existing systems in the market, and it does not set out to build a new payment scheme. It sits between the government's account systems, at the ministry of finance or the central bank, and the public or private switching the market already offers. Payment systems in the market, run by a public body, a quasi-public body or a commercial firm, are required for the block to work at all.</a:t>
            </a:r>
          </a:p>
          <a:p/>
          <a:p>
            <a:r>
              <a:t>Production cue: The specification's own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the block are the parts a government needs to pay many people safely. An account mapper finds where each beneficiary is paid. Payment requests start there. A payment gateway lets banks and other financial service providers work together. There are vouchers, reconciliation, logs and an audit trail, all behind one gateway that receives the calls of other blocks. The block lets government programmes channel payments through one shared infrastructure to accounts at many providers.</a:t>
            </a:r>
          </a:p>
          <a:p/>
          <a:p>
            <a:r>
              <a:t>Production cue: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Just as important is what stays outside. Settlement between the financial institutions is handled outside the block. So are the identification and registration of people, and the checks that banks must make on their customers, such as the rules on knowing the customer and on money laundering. Those stay with the financial institutions and the systems the law gives them to. A vendor who says the block will do them is offering something the specification does not describe.</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path runs like this. The programme's account sits with the government. The Payments block receives the batch from the calling service, finds each beneficiary's account through its account mapper, and hands the batch to the payer bank, the bank that holds the programme's account. The payer bank executes the payment through the payment systems in the market. PayPro, Progressa's payment provider, is one of those systems, and it stands behind the payer bank.</a:t>
            </a:r>
          </a:p>
          <a:p/>
          <a:p>
            <a:r>
              <a:t>Production cue: Configuration P6. Text boxes and arrows only; the drawn path (figure F11) belongs to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Brazil shows how much a shared payment system can carry. The Bank for International Settlements reports that its instant payment system, Pix, rested on two things: large banks were required to take part, and the central bank both operates the system and sets its rules. Fifteen months after launch, 67 percent of adults had used it. A government programme gains from such a system by connecting to it, not by building another.</a:t>
            </a:r>
          </a:p>
          <a:p/>
          <a:p>
            <a:r>
              <a:t>Production cue: Each figure with its unit, date and page. Text-only.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block is a connection, not a new payment system. Every programme pays through it, to the systems the country already runs.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Payments block and the payment systems behind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Payments block is not a new payment system: it connects government programmes to the payment systems your country already has, so every programme pays through one shared connection.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ministry that pays scholarships or school grants may be offered a payment system of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published Payments block offers something else: one connection from government to the payment systems the country already runs.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a new payment scheme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It connects to existing systems in the market; it does not build a new payment scheme.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It sits between the government's account systems and the switching the market offers.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Payment systems in the market are required for it to work.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is inside the block</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An account mapper, payment request initiation, a payment gateway, vouchers, reconciliation, logs and an audit trail.</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One gateway for the calls of other blocks.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 outside the block</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Settlement between institutions.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Identification of people, and the checks on customers: know-your-customer and anti-money-laundering.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path of a payment</a:t>
            </a:r>
          </a:p>
        </p:txBody>
      </p:sp>
      <p:cxnSp>
        <p:nvCxnSpPr>
          <p:cNvPr id="4" name="Connector 3"/>
          <p:cNvCxnSpPr/>
          <p:nvPr/>
        </p:nvCxnSpPr>
        <p:spPr>
          <a:xfrm>
            <a:off x="2563977"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17059"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70140"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3222"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Programme account</a:t>
            </a:r>
          </a:p>
        </p:txBody>
      </p:sp>
      <p:sp>
        <p:nvSpPr>
          <p:cNvPr id="9" name="Rounded Rectangle 8"/>
          <p:cNvSpPr/>
          <p:nvPr/>
        </p:nvSpPr>
        <p:spPr>
          <a:xfrm>
            <a:off x="2911449" y="2446020"/>
            <a:ext cx="1869033"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FFFFFF"/>
                </a:solidFill>
                <a:latin typeface="Arial"/>
              </a:rPr>
              <a:t>Payments block</a:t>
            </a:r>
          </a:p>
        </p:txBody>
      </p:sp>
      <p:sp>
        <p:nvSpPr>
          <p:cNvPr id="10" name="Rounded Rectangle 9"/>
          <p:cNvSpPr/>
          <p:nvPr/>
        </p:nvSpPr>
        <p:spPr>
          <a:xfrm>
            <a:off x="5164531"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Payer bank</a:t>
            </a:r>
          </a:p>
        </p:txBody>
      </p:sp>
      <p:sp>
        <p:nvSpPr>
          <p:cNvPr id="11" name="Rounded Rectangle 10"/>
          <p:cNvSpPr/>
          <p:nvPr/>
        </p:nvSpPr>
        <p:spPr>
          <a:xfrm>
            <a:off x="7417612"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Payment systems in the market</a:t>
            </a:r>
          </a:p>
          <a:p>
            <a:pPr algn="l">
              <a:spcAft>
                <a:spcPts val="300"/>
              </a:spcAft>
            </a:pPr>
            <a:r>
              <a:rPr sz="1500" b="0" i="0">
                <a:solidFill>
                  <a:srgbClr val="1A1A1A"/>
                </a:solidFill>
                <a:latin typeface="Arial"/>
              </a:rPr>
              <a:t>PayPro among them</a:t>
            </a:r>
          </a:p>
        </p:txBody>
      </p:sp>
      <p:sp>
        <p:nvSpPr>
          <p:cNvPr id="12" name="Rounded Rectangle 11"/>
          <p:cNvSpPr/>
          <p:nvPr/>
        </p:nvSpPr>
        <p:spPr>
          <a:xfrm>
            <a:off x="9670694"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The learner's account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public payment system, built to be shared</a:t>
            </a:r>
          </a:p>
        </p:txBody>
      </p:sp>
      <p:sp>
        <p:nvSpPr>
          <p:cNvPr id="4" name="TextBox 3"/>
          <p:cNvSpPr txBox="1"/>
          <p:nvPr/>
        </p:nvSpPr>
        <p:spPr>
          <a:xfrm>
            <a:off x="658368" y="2103120"/>
            <a:ext cx="10984687" cy="1234439"/>
          </a:xfrm>
          <a:prstGeom prst="rect">
            <a:avLst/>
          </a:prstGeom>
          <a:noFill/>
        </p:spPr>
        <p:txBody>
          <a:bodyPr wrap="square">
            <a:spAutoFit/>
          </a:bodyPr>
          <a:lstStyle/>
          <a:p>
            <a:pPr>
              <a:spcAft>
                <a:spcPts val="300"/>
              </a:spcAft>
            </a:pPr>
            <a:r>
              <a:rPr sz="2400" b="1" i="0">
                <a:solidFill>
                  <a:srgbClr val="1A1A1A"/>
                </a:solidFill>
                <a:latin typeface="Arial"/>
              </a:rPr>
              <a:t>Pix, Brazil</a:t>
            </a:r>
          </a:p>
          <a:p>
            <a:pPr>
              <a:spcAft>
                <a:spcPts val="300"/>
              </a:spcAft>
            </a:pPr>
            <a:r>
              <a:rPr sz="1900" b="0" i="0">
                <a:solidFill>
                  <a:srgbClr val="595959"/>
                </a:solidFill>
                <a:latin typeface="Arial"/>
              </a:rPr>
              <a:t>Large banks were required to take part; the central bank both operates it and sets its rules (page 3).</a:t>
            </a:r>
          </a:p>
        </p:txBody>
      </p:sp>
      <p:sp>
        <p:nvSpPr>
          <p:cNvPr id="5" name="Rectangle 4"/>
          <p:cNvSpPr/>
          <p:nvPr/>
        </p:nvSpPr>
        <p:spPr>
          <a:xfrm>
            <a:off x="621792" y="3342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383279"/>
            <a:ext cx="10984687" cy="1234439"/>
          </a:xfrm>
          <a:prstGeom prst="rect">
            <a:avLst/>
          </a:prstGeom>
          <a:noFill/>
        </p:spPr>
        <p:txBody>
          <a:bodyPr wrap="square">
            <a:spAutoFit/>
          </a:bodyPr>
          <a:lstStyle/>
          <a:p>
            <a:pPr>
              <a:spcAft>
                <a:spcPts val="300"/>
              </a:spcAft>
            </a:pPr>
            <a:r>
              <a:rPr sz="2400" b="1" i="0">
                <a:solidFill>
                  <a:srgbClr val="1A1A1A"/>
                </a:solidFill>
                <a:latin typeface="Arial"/>
              </a:rPr>
              <a:t>67% of adults had used it 15 months after launch (page 5).</a:t>
            </a:r>
          </a:p>
        </p:txBody>
      </p:sp>
      <p:sp>
        <p:nvSpPr>
          <p:cNvPr id="7" name="TextBox 6"/>
          <p:cNvSpPr txBox="1"/>
          <p:nvPr/>
        </p:nvSpPr>
        <p:spPr>
          <a:xfrm>
            <a:off x="658368" y="4736592"/>
            <a:ext cx="10881360" cy="365760"/>
          </a:xfrm>
          <a:prstGeom prst="rect">
            <a:avLst/>
          </a:prstGeom>
          <a:noFill/>
        </p:spPr>
        <p:txBody>
          <a:bodyPr wrap="square">
            <a:spAutoFit/>
          </a:bodyPr>
          <a:lstStyle/>
          <a:p>
            <a:r>
              <a:rPr sz="1300" b="0" i="1">
                <a:solidFill>
                  <a:srgbClr val="595959"/>
                </a:solidFill>
                <a:latin typeface="Arial"/>
              </a:rPr>
              <a:t>Bank for International Settlements, Bulletin No 52, 2022.</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Payments block is not a new payment system: it connects government programmes to the payment systems your country already has, so every programme pays through one shared connection.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your country's payment systems on the Payments block.</a:t>
            </a:r>
          </a:p>
          <a:p>
            <a:pPr algn="l">
              <a:spcAft>
                <a:spcPts val="400"/>
              </a:spcAft>
            </a:pPr>
            <a:r>
              <a:rPr sz="1800" b="0" i="0">
                <a:solidFill>
                  <a:srgbClr val="595959"/>
                </a:solidFill>
                <a:latin typeface="Arial"/>
              </a:rPr>
              <a:t>The prompt in the companion material gives you a table that places each of your payment systems and programme accounts on the block's components, with what is missing.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Payments Building Block specification, Version 3.0 (December 2025), sections 2, 4, 5.1, 6.5, 6.17 and 9.1.3</a:t>
            </a:r>
          </a:p>
          <a:p>
            <a:pPr>
              <a:spcAft>
                <a:spcPts val="1000"/>
              </a:spcAft>
            </a:pPr>
            <a:r>
              <a:rPr sz="1800" b="0" i="0">
                <a:solidFill>
                  <a:srgbClr val="1A1A1A"/>
                </a:solidFill>
                <a:latin typeface="Arial"/>
              </a:rPr>
              <a:t>•  Bank for International Settlements, BIS Bulletin No 52, 23 March 2022, pages 3 and 5</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