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41" r:id="rId63"/>
    <p:sldId id="2742" r:id="rId64"/>
    <p:sldId id="2743" r:id="rId65"/>
    <p:sldId id="2744" r:id="rId66"/>
    <p:sldId id="2745" r:id="rId67"/>
    <p:sldId id="2746" r:id="rId68"/>
    <p:sldId id="2747" r:id="rId69"/>
    <p:sldId id="2748" r:id="rId7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63" Type="http://schemas.openxmlformats.org/officeDocument/2006/relationships/slide" Target="slides/slide48.xml"/><Relationship Id="rId64" Type="http://schemas.openxmlformats.org/officeDocument/2006/relationships/slide" Target="slides/slide49.xml"/><Relationship Id="rId65" Type="http://schemas.openxmlformats.org/officeDocument/2006/relationships/slide" Target="slides/slide50.xml"/><Relationship Id="rId66" Type="http://schemas.openxmlformats.org/officeDocument/2006/relationships/slide" Target="slides/slide51.xml"/><Relationship Id="rId67" Type="http://schemas.openxmlformats.org/officeDocument/2006/relationships/slide" Target="slides/slide52.xml"/><Relationship Id="rId68" Type="http://schemas.openxmlformats.org/officeDocument/2006/relationships/slide" Target="slides/slide53.xml"/><Relationship Id="rId69" Type="http://schemas.openxmlformats.org/officeDocument/2006/relationships/slide" Target="slides/slide54.xml"/><Relationship Id="rId70" Type="http://schemas.openxmlformats.org/officeDocument/2006/relationships/slide" Target="slides/slide5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Inside a single project, building your own identity check or your own payment link often looks quicker than waiting for a shared one. Seen from the whole government, it is the more expensive choice.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Take two services in Progressa. Learner registration needs to know who the applicant is, so it reuses the identity block: one sign-in, one identifier for the service, and no identity system of its own. The scholarship payment needs to pay learners, so it reuses the Payments block: one account mapper, and one route through the payer bank to the payment systems the country already runs. Neither service builds what the country already has.</a:t>
            </a:r>
          </a:p>
          <a:p/>
          <a:p>
            <a:r>
              <a:t>Production cue: The worked example, built for Progressa. Text-only.</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Alone, the registration service would need its own enrolment, credentials, security and support staff, which are the costs of an identity system. Alone, the scholarship service would need its own links to each bank and mobile money provider, and every learner's account details in its own register. With the shared blocks, one verification service is used by many, and the account mapper keeps payment details out of each programme's register. The identity service can serve other blocks, public services and private services alike.</a:t>
            </a:r>
          </a:p>
          <a:p/>
          <a:p>
            <a:r>
              <a:t>Production cue: The worked example continued; no cost figures. Text-only.</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Education is not a stretch for these blocks. The Payments specification itself names the payment of school fees, a group of vouchers that can be redeemed only at schools, and conditional transfers for school fee payment. The Registration specification asks that several registrations can be combined in one service, so that an applicant fills in one form instead of several. Each of these can run on the same two blocks.</a:t>
            </a:r>
          </a:p>
          <a:p/>
          <a:p>
            <a:r>
              <a:t>Production cue: Text-only.</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why does the saving so often go unclaimed? Each project is funded to deliver its own service on its own date, and inside the project building its own looks quicker. The first ministry pays for a shared block, and the second, third and fourth reuse it. That sum exists only at the level of the whole government. PAERA asks planners to identify shared services, workflows and data that meet the needs of several agencies, and its principles of whole-of-government and once-only point the same way. A table of which services reuse which block gives the business side and IT one shared language for that decision.</a:t>
            </a:r>
          </a:p>
          <a:p/>
          <a:p>
            <a:r>
              <a:t>Production cue: Carries the planning-enables-re-use argument. Text-only.</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Two services reuse two blocks. The saving is real, but only someone who plans for the whole government can see it.</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s>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4.6</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Reuse is the return on planning</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Learner registration reuses the identity block and the scholarship payment reuses the Payments block, a saving visible only to someone who plans for the whole government, because inside one project building your own looks quicker.</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Inside a single project, building your own identity check or your own payment link often looks quicker than waiting for a shared one.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Seen from the whole government, it is the more expensive choice.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Reuse is the return on planning</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services, two shared blocks</a:t>
            </a:r>
          </a:p>
        </p:txBody>
      </p:sp>
      <p:sp>
        <p:nvSpPr>
          <p:cNvPr id="4" name="TextBox 3"/>
          <p:cNvSpPr txBox="1"/>
          <p:nvPr/>
        </p:nvSpPr>
        <p:spPr>
          <a:xfrm>
            <a:off x="658368" y="2810764"/>
            <a:ext cx="4828032" cy="457200"/>
          </a:xfrm>
          <a:prstGeom prst="rect">
            <a:avLst/>
          </a:prstGeom>
          <a:noFill/>
        </p:spPr>
        <p:txBody>
          <a:bodyPr wrap="square">
            <a:spAutoFit/>
          </a:bodyPr>
          <a:lstStyle/>
          <a:p>
            <a:r>
              <a:rPr sz="2000" b="1" i="0">
                <a:solidFill>
                  <a:srgbClr val="006E96"/>
                </a:solidFill>
                <a:latin typeface="Arial"/>
              </a:rPr>
              <a:t>Service</a:t>
            </a:r>
          </a:p>
        </p:txBody>
      </p:sp>
      <p:sp>
        <p:nvSpPr>
          <p:cNvPr id="5" name="TextBox 4"/>
          <p:cNvSpPr txBox="1"/>
          <p:nvPr/>
        </p:nvSpPr>
        <p:spPr>
          <a:xfrm>
            <a:off x="5596128" y="2810764"/>
            <a:ext cx="5833872" cy="457200"/>
          </a:xfrm>
          <a:prstGeom prst="rect">
            <a:avLst/>
          </a:prstGeom>
          <a:noFill/>
        </p:spPr>
        <p:txBody>
          <a:bodyPr wrap="square">
            <a:spAutoFit/>
          </a:bodyPr>
          <a:lstStyle/>
          <a:p>
            <a:r>
              <a:rPr sz="2000" b="1" i="0">
                <a:solidFill>
                  <a:srgbClr val="006E96"/>
                </a:solidFill>
                <a:latin typeface="Arial"/>
              </a:rPr>
              <a:t>Reuses</a:t>
            </a:r>
          </a:p>
        </p:txBody>
      </p:sp>
      <p:sp>
        <p:nvSpPr>
          <p:cNvPr id="6" name="Rectangle 5"/>
          <p:cNvSpPr/>
          <p:nvPr/>
        </p:nvSpPr>
        <p:spPr>
          <a:xfrm>
            <a:off x="658368" y="3267964"/>
            <a:ext cx="10881360" cy="15875"/>
          </a:xfrm>
          <a:prstGeom prst="rect">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3359404"/>
            <a:ext cx="4828032" cy="476504"/>
          </a:xfrm>
          <a:prstGeom prst="rect">
            <a:avLst/>
          </a:prstGeom>
          <a:noFill/>
        </p:spPr>
        <p:txBody>
          <a:bodyPr wrap="square">
            <a:spAutoFit/>
          </a:bodyPr>
          <a:lstStyle/>
          <a:p>
            <a:r>
              <a:rPr sz="2000" b="1" i="0">
                <a:solidFill>
                  <a:srgbClr val="1A1A1A"/>
                </a:solidFill>
                <a:latin typeface="Arial"/>
              </a:rPr>
              <a:t>Learner registration</a:t>
            </a:r>
          </a:p>
        </p:txBody>
      </p:sp>
      <p:sp>
        <p:nvSpPr>
          <p:cNvPr id="8" name="TextBox 7"/>
          <p:cNvSpPr txBox="1"/>
          <p:nvPr/>
        </p:nvSpPr>
        <p:spPr>
          <a:xfrm>
            <a:off x="5596128" y="3359404"/>
            <a:ext cx="5833872" cy="476504"/>
          </a:xfrm>
          <a:prstGeom prst="rect">
            <a:avLst/>
          </a:prstGeom>
          <a:noFill/>
        </p:spPr>
        <p:txBody>
          <a:bodyPr wrap="square">
            <a:spAutoFit/>
          </a:bodyPr>
          <a:lstStyle/>
          <a:p>
            <a:r>
              <a:rPr sz="2000" b="0" i="0">
                <a:solidFill>
                  <a:srgbClr val="1A1A1A"/>
                </a:solidFill>
                <a:latin typeface="Arial"/>
              </a:rPr>
              <a:t>The identity block</a:t>
            </a:r>
          </a:p>
        </p:txBody>
      </p:sp>
      <p:sp>
        <p:nvSpPr>
          <p:cNvPr id="9" name="Rectangle 8"/>
          <p:cNvSpPr/>
          <p:nvPr/>
        </p:nvSpPr>
        <p:spPr>
          <a:xfrm>
            <a:off x="658368" y="385419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3909060"/>
            <a:ext cx="4828032" cy="476504"/>
          </a:xfrm>
          <a:prstGeom prst="rect">
            <a:avLst/>
          </a:prstGeom>
          <a:noFill/>
        </p:spPr>
        <p:txBody>
          <a:bodyPr wrap="square">
            <a:spAutoFit/>
          </a:bodyPr>
          <a:lstStyle/>
          <a:p>
            <a:r>
              <a:rPr sz="2000" b="1" i="0">
                <a:solidFill>
                  <a:srgbClr val="1A1A1A"/>
                </a:solidFill>
                <a:latin typeface="Arial"/>
              </a:rPr>
              <a:t>Scholarship payment</a:t>
            </a:r>
          </a:p>
        </p:txBody>
      </p:sp>
      <p:sp>
        <p:nvSpPr>
          <p:cNvPr id="11" name="TextBox 10"/>
          <p:cNvSpPr txBox="1"/>
          <p:nvPr/>
        </p:nvSpPr>
        <p:spPr>
          <a:xfrm>
            <a:off x="5596128" y="3909060"/>
            <a:ext cx="5833872" cy="476504"/>
          </a:xfrm>
          <a:prstGeom prst="rect">
            <a:avLst/>
          </a:prstGeom>
          <a:noFill/>
        </p:spPr>
        <p:txBody>
          <a:bodyPr wrap="square">
            <a:spAutoFit/>
          </a:bodyPr>
          <a:lstStyle/>
          <a:p>
            <a:r>
              <a:rPr sz="2000" b="0" i="0">
                <a:solidFill>
                  <a:srgbClr val="1A1A1A"/>
                </a:solidFill>
                <a:latin typeface="Arial"/>
              </a:rPr>
              <a:t>The Payments block</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Reuse is the return on planning</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each would have built alone</a:t>
            </a:r>
          </a:p>
        </p:txBody>
      </p:sp>
      <p:sp>
        <p:nvSpPr>
          <p:cNvPr id="4" name="TextBox 3"/>
          <p:cNvSpPr txBox="1"/>
          <p:nvPr/>
        </p:nvSpPr>
        <p:spPr>
          <a:xfrm>
            <a:off x="658368" y="2398013"/>
            <a:ext cx="5330952" cy="457200"/>
          </a:xfrm>
          <a:prstGeom prst="rect">
            <a:avLst/>
          </a:prstGeom>
          <a:noFill/>
        </p:spPr>
        <p:txBody>
          <a:bodyPr wrap="square">
            <a:spAutoFit/>
          </a:bodyPr>
          <a:lstStyle/>
          <a:p>
            <a:r>
              <a:rPr sz="1800" b="1" i="0">
                <a:solidFill>
                  <a:srgbClr val="006E96"/>
                </a:solidFill>
                <a:latin typeface="Arial"/>
              </a:rPr>
              <a:t>Alone</a:t>
            </a:r>
          </a:p>
        </p:txBody>
      </p:sp>
      <p:sp>
        <p:nvSpPr>
          <p:cNvPr id="5" name="TextBox 4"/>
          <p:cNvSpPr txBox="1"/>
          <p:nvPr/>
        </p:nvSpPr>
        <p:spPr>
          <a:xfrm>
            <a:off x="6099048" y="2398013"/>
            <a:ext cx="5330952" cy="457200"/>
          </a:xfrm>
          <a:prstGeom prst="rect">
            <a:avLst/>
          </a:prstGeom>
          <a:noFill/>
        </p:spPr>
        <p:txBody>
          <a:bodyPr wrap="square">
            <a:spAutoFit/>
          </a:bodyPr>
          <a:lstStyle/>
          <a:p>
            <a:r>
              <a:rPr sz="1800" b="1" i="0">
                <a:solidFill>
                  <a:srgbClr val="006E96"/>
                </a:solidFill>
                <a:latin typeface="Arial"/>
              </a:rPr>
              <a:t>With the shared block</a:t>
            </a:r>
          </a:p>
        </p:txBody>
      </p:sp>
      <p:sp>
        <p:nvSpPr>
          <p:cNvPr id="6" name="Rectangle 5"/>
          <p:cNvSpPr/>
          <p:nvPr/>
        </p:nvSpPr>
        <p:spPr>
          <a:xfrm>
            <a:off x="658368" y="2855213"/>
            <a:ext cx="10881360" cy="15875"/>
          </a:xfrm>
          <a:prstGeom prst="rect">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2946653"/>
            <a:ext cx="5330952" cy="740664"/>
          </a:xfrm>
          <a:prstGeom prst="rect">
            <a:avLst/>
          </a:prstGeom>
          <a:noFill/>
        </p:spPr>
        <p:txBody>
          <a:bodyPr wrap="square">
            <a:spAutoFit/>
          </a:bodyPr>
          <a:lstStyle/>
          <a:p>
            <a:r>
              <a:rPr sz="1800" b="1" i="0">
                <a:solidFill>
                  <a:srgbClr val="1A1A1A"/>
                </a:solidFill>
                <a:latin typeface="Arial"/>
              </a:rPr>
              <a:t>Its own enrolment, credentials, security and support staff</a:t>
            </a:r>
          </a:p>
        </p:txBody>
      </p:sp>
      <p:sp>
        <p:nvSpPr>
          <p:cNvPr id="8" name="TextBox 7"/>
          <p:cNvSpPr txBox="1"/>
          <p:nvPr/>
        </p:nvSpPr>
        <p:spPr>
          <a:xfrm>
            <a:off x="6099048" y="2946653"/>
            <a:ext cx="5330952" cy="740664"/>
          </a:xfrm>
          <a:prstGeom prst="rect">
            <a:avLst/>
          </a:prstGeom>
          <a:noFill/>
        </p:spPr>
        <p:txBody>
          <a:bodyPr wrap="square">
            <a:spAutoFit/>
          </a:bodyPr>
          <a:lstStyle/>
          <a:p>
            <a:r>
              <a:rPr sz="1800" b="0" i="0">
                <a:solidFill>
                  <a:srgbClr val="1A1A1A"/>
                </a:solidFill>
                <a:latin typeface="Arial"/>
              </a:rPr>
              <a:t>One verification service used by many</a:t>
            </a:r>
          </a:p>
        </p:txBody>
      </p:sp>
      <p:sp>
        <p:nvSpPr>
          <p:cNvPr id="9" name="Rectangle 8"/>
          <p:cNvSpPr/>
          <p:nvPr/>
        </p:nvSpPr>
        <p:spPr>
          <a:xfrm>
            <a:off x="658368" y="370560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3760470"/>
            <a:ext cx="5330952" cy="1037844"/>
          </a:xfrm>
          <a:prstGeom prst="rect">
            <a:avLst/>
          </a:prstGeom>
          <a:noFill/>
        </p:spPr>
        <p:txBody>
          <a:bodyPr wrap="square">
            <a:spAutoFit/>
          </a:bodyPr>
          <a:lstStyle/>
          <a:p>
            <a:r>
              <a:rPr sz="1800" b="1" i="0">
                <a:solidFill>
                  <a:srgbClr val="1A1A1A"/>
                </a:solidFill>
                <a:latin typeface="Arial"/>
              </a:rPr>
              <a:t>Its own links to every bank and mobile money provider, and every learner's account details in its register</a:t>
            </a:r>
          </a:p>
        </p:txBody>
      </p:sp>
      <p:sp>
        <p:nvSpPr>
          <p:cNvPr id="11" name="TextBox 10"/>
          <p:cNvSpPr txBox="1"/>
          <p:nvPr/>
        </p:nvSpPr>
        <p:spPr>
          <a:xfrm>
            <a:off x="6099048" y="3760470"/>
            <a:ext cx="5330952" cy="1037844"/>
          </a:xfrm>
          <a:prstGeom prst="rect">
            <a:avLst/>
          </a:prstGeom>
          <a:noFill/>
        </p:spPr>
        <p:txBody>
          <a:bodyPr wrap="square">
            <a:spAutoFit/>
          </a:bodyPr>
          <a:lstStyle/>
          <a:p>
            <a:r>
              <a:rPr sz="1800" b="0" i="0">
                <a:solidFill>
                  <a:srgbClr val="1A1A1A"/>
                </a:solidFill>
                <a:latin typeface="Arial"/>
              </a:rPr>
              <a:t>One shared infrastructure; the account mapper keeps payment details out of the register</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Reuse is the return on planning</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Education is already in the specifications</a:t>
            </a:r>
          </a:p>
        </p:txBody>
      </p:sp>
      <p:sp>
        <p:nvSpPr>
          <p:cNvPr id="4" name="TextBox 3"/>
          <p:cNvSpPr txBox="1"/>
          <p:nvPr/>
        </p:nvSpPr>
        <p:spPr>
          <a:xfrm>
            <a:off x="658368" y="1522475"/>
            <a:ext cx="10984687" cy="1143000"/>
          </a:xfrm>
          <a:prstGeom prst="rect">
            <a:avLst/>
          </a:prstGeom>
          <a:noFill/>
        </p:spPr>
        <p:txBody>
          <a:bodyPr wrap="square">
            <a:spAutoFit/>
          </a:bodyPr>
          <a:lstStyle/>
          <a:p>
            <a:pPr>
              <a:spcAft>
                <a:spcPts val="300"/>
              </a:spcAft>
            </a:pPr>
            <a:r>
              <a:rPr sz="2200" b="1" i="0">
                <a:solidFill>
                  <a:srgbClr val="1A1A1A"/>
                </a:solidFill>
                <a:latin typeface="Arial"/>
              </a:rPr>
              <a:t>The payment of school fees.</a:t>
            </a:r>
          </a:p>
        </p:txBody>
      </p:sp>
      <p:sp>
        <p:nvSpPr>
          <p:cNvPr id="5" name="Rectangle 4"/>
          <p:cNvSpPr/>
          <p:nvPr/>
        </p:nvSpPr>
        <p:spPr>
          <a:xfrm>
            <a:off x="621792" y="267004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711196"/>
            <a:ext cx="10984687" cy="1143000"/>
          </a:xfrm>
          <a:prstGeom prst="rect">
            <a:avLst/>
          </a:prstGeom>
          <a:noFill/>
        </p:spPr>
        <p:txBody>
          <a:bodyPr wrap="square">
            <a:spAutoFit/>
          </a:bodyPr>
          <a:lstStyle/>
          <a:p>
            <a:pPr>
              <a:spcAft>
                <a:spcPts val="300"/>
              </a:spcAft>
            </a:pPr>
            <a:r>
              <a:rPr sz="2200" b="1" i="0">
                <a:solidFill>
                  <a:srgbClr val="1A1A1A"/>
                </a:solidFill>
                <a:latin typeface="Arial"/>
              </a:rPr>
              <a:t>Vouchers that can be redeemed only at schools.</a:t>
            </a:r>
          </a:p>
        </p:txBody>
      </p:sp>
      <p:sp>
        <p:nvSpPr>
          <p:cNvPr id="7" name="Rectangle 6"/>
          <p:cNvSpPr/>
          <p:nvPr/>
        </p:nvSpPr>
        <p:spPr>
          <a:xfrm>
            <a:off x="621792" y="385876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99915"/>
            <a:ext cx="10984687" cy="1143000"/>
          </a:xfrm>
          <a:prstGeom prst="rect">
            <a:avLst/>
          </a:prstGeom>
          <a:noFill/>
        </p:spPr>
        <p:txBody>
          <a:bodyPr wrap="square">
            <a:spAutoFit/>
          </a:bodyPr>
          <a:lstStyle/>
          <a:p>
            <a:pPr>
              <a:spcAft>
                <a:spcPts val="300"/>
              </a:spcAft>
            </a:pPr>
            <a:r>
              <a:rPr sz="2200" b="1" i="0">
                <a:solidFill>
                  <a:srgbClr val="1A1A1A"/>
                </a:solidFill>
                <a:latin typeface="Arial"/>
              </a:rPr>
              <a:t>Conditional transfers for school fee payment.</a:t>
            </a:r>
          </a:p>
        </p:txBody>
      </p:sp>
      <p:sp>
        <p:nvSpPr>
          <p:cNvPr id="9" name="TextBox 8"/>
          <p:cNvSpPr txBox="1"/>
          <p:nvPr/>
        </p:nvSpPr>
        <p:spPr>
          <a:xfrm>
            <a:off x="658368" y="5161788"/>
            <a:ext cx="10881360" cy="548640"/>
          </a:xfrm>
          <a:prstGeom prst="rect">
            <a:avLst/>
          </a:prstGeom>
          <a:noFill/>
        </p:spPr>
        <p:txBody>
          <a:bodyPr wrap="square">
            <a:spAutoFit/>
          </a:bodyPr>
          <a:lstStyle/>
          <a:p>
            <a:r>
              <a:rPr sz="1700" b="1" i="0">
                <a:solidFill>
                  <a:srgbClr val="006E96"/>
                </a:solidFill>
                <a:latin typeface="Arial"/>
              </a:rPr>
              <a:t>Several registrations combined in one service.</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Reuse is the return on planning</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Why only planning sees the saving</a:t>
            </a:r>
          </a:p>
        </p:txBody>
      </p:sp>
      <p:sp>
        <p:nvSpPr>
          <p:cNvPr id="4" name="TextBox 3"/>
          <p:cNvSpPr txBox="1"/>
          <p:nvPr/>
        </p:nvSpPr>
        <p:spPr>
          <a:xfrm>
            <a:off x="658368" y="1805939"/>
            <a:ext cx="10984687" cy="1143000"/>
          </a:xfrm>
          <a:prstGeom prst="rect">
            <a:avLst/>
          </a:prstGeom>
          <a:noFill/>
        </p:spPr>
        <p:txBody>
          <a:bodyPr wrap="square">
            <a:spAutoFit/>
          </a:bodyPr>
          <a:lstStyle/>
          <a:p>
            <a:pPr>
              <a:spcAft>
                <a:spcPts val="300"/>
              </a:spcAft>
            </a:pPr>
            <a:r>
              <a:rPr sz="2200" b="1" i="0">
                <a:solidFill>
                  <a:srgbClr val="1A1A1A"/>
                </a:solidFill>
                <a:latin typeface="Arial"/>
              </a:rPr>
              <a:t>Each project is funded for its own service, on its own date.</a:t>
            </a:r>
          </a:p>
        </p:txBody>
      </p:sp>
      <p:sp>
        <p:nvSpPr>
          <p:cNvPr id="5" name="Rectangle 4"/>
          <p:cNvSpPr/>
          <p:nvPr/>
        </p:nvSpPr>
        <p:spPr>
          <a:xfrm>
            <a:off x="621792" y="29535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994659"/>
            <a:ext cx="10984687" cy="1143000"/>
          </a:xfrm>
          <a:prstGeom prst="rect">
            <a:avLst/>
          </a:prstGeom>
          <a:noFill/>
        </p:spPr>
        <p:txBody>
          <a:bodyPr wrap="square">
            <a:spAutoFit/>
          </a:bodyPr>
          <a:lstStyle/>
          <a:p>
            <a:pPr>
              <a:spcAft>
                <a:spcPts val="300"/>
              </a:spcAft>
            </a:pPr>
            <a:r>
              <a:rPr sz="2200" b="1" i="0">
                <a:solidFill>
                  <a:srgbClr val="1A1A1A"/>
                </a:solidFill>
                <a:latin typeface="Arial"/>
              </a:rPr>
              <a:t>The first ministry pays; the second, third and fourth reuse.</a:t>
            </a:r>
          </a:p>
        </p:txBody>
      </p:sp>
      <p:sp>
        <p:nvSpPr>
          <p:cNvPr id="7" name="Rectangle 6"/>
          <p:cNvSpPr/>
          <p:nvPr/>
        </p:nvSpPr>
        <p:spPr>
          <a:xfrm>
            <a:off x="621792" y="414223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183379"/>
            <a:ext cx="10984687" cy="1143000"/>
          </a:xfrm>
          <a:prstGeom prst="rect">
            <a:avLst/>
          </a:prstGeom>
          <a:noFill/>
        </p:spPr>
        <p:txBody>
          <a:bodyPr wrap="square">
            <a:spAutoFit/>
          </a:bodyPr>
          <a:lstStyle/>
          <a:p>
            <a:pPr>
              <a:spcAft>
                <a:spcPts val="300"/>
              </a:spcAft>
            </a:pPr>
            <a:r>
              <a:rPr sz="2200" b="1" i="0">
                <a:solidFill>
                  <a:srgbClr val="1A1A1A"/>
                </a:solidFill>
                <a:latin typeface="Arial"/>
              </a:rPr>
              <a:t>PAERA</a:t>
            </a:r>
          </a:p>
          <a:p>
            <a:pPr>
              <a:spcAft>
                <a:spcPts val="300"/>
              </a:spcAft>
            </a:pPr>
            <a:r>
              <a:rPr sz="1800" b="0" i="0">
                <a:solidFill>
                  <a:srgbClr val="595959"/>
                </a:solidFill>
                <a:latin typeface="Arial"/>
              </a:rPr>
              <a:t>Identify shared services, workflows and data; whole-of-government; once-only.</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Reuse is the return on planning</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200" b="1" i="0">
                <a:solidFill>
                  <a:srgbClr val="1A1A1A"/>
                </a:solidFill>
                <a:latin typeface="Arial"/>
              </a:rPr>
              <a:t>Learner registration reuses the identity block and the scholarship payment reuses the Payments block, a saving visible only to someone who plans for the whole government, because inside one project building your own looks quicker.</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Count the services that would reuse each shared block.</a:t>
            </a:r>
          </a:p>
          <a:p>
            <a:pPr algn="l">
              <a:spcAft>
                <a:spcPts val="400"/>
              </a:spcAft>
            </a:pPr>
            <a:r>
              <a:rPr sz="1800" b="0" i="0">
                <a:solidFill>
                  <a:srgbClr val="595959"/>
                </a:solidFill>
                <a:latin typeface="Arial"/>
              </a:rPr>
              <a:t>The prompt in the companion material gives you a count, for each shared block, of the services that would reuse it, confirmed by their owners.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Reuse is the return on planning</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4114800"/>
          </a:xfrm>
          <a:prstGeom prst="rect">
            <a:avLst/>
          </a:prstGeom>
          <a:noFill/>
        </p:spPr>
        <p:txBody>
          <a:bodyPr wrap="square">
            <a:spAutoFit/>
          </a:bodyPr>
          <a:lstStyle/>
          <a:p>
            <a:pPr>
              <a:spcAft>
                <a:spcPts val="1000"/>
              </a:spcAft>
            </a:pPr>
            <a:r>
              <a:rPr sz="1800" b="0" i="0">
                <a:solidFill>
                  <a:srgbClr val="1A1A1A"/>
                </a:solidFill>
                <a:latin typeface="Arial"/>
              </a:rPr>
              <a:t>•  PAERA v1.0, sections 3.3.3 and 5.2</a:t>
            </a:r>
          </a:p>
          <a:p>
            <a:pPr>
              <a:spcAft>
                <a:spcPts val="1000"/>
              </a:spcAft>
            </a:pPr>
            <a:r>
              <a:rPr sz="1800" b="0" i="0">
                <a:solidFill>
                  <a:srgbClr val="1A1A1A"/>
                </a:solidFill>
                <a:latin typeface="Arial"/>
              </a:rPr>
              <a:t>•  GovStack Identity Building Block specification, Version 2.0, sections 2.4 and 4.1.2</a:t>
            </a:r>
          </a:p>
          <a:p>
            <a:pPr>
              <a:spcAft>
                <a:spcPts val="1000"/>
              </a:spcAft>
            </a:pPr>
            <a:r>
              <a:rPr sz="1800" b="0" i="0">
                <a:solidFill>
                  <a:srgbClr val="1A1A1A"/>
                </a:solidFill>
                <a:latin typeface="Arial"/>
              </a:rPr>
              <a:t>•  GovStack Payments Building Block specification, Version 3.0, sections 2, 4, 4.3, 6.3, 9.2.1 and 9.2.2</a:t>
            </a:r>
          </a:p>
          <a:p>
            <a:pPr>
              <a:spcAft>
                <a:spcPts val="1000"/>
              </a:spcAft>
            </a:pPr>
            <a:r>
              <a:rPr sz="1800" b="0" i="0">
                <a:solidFill>
                  <a:srgbClr val="1A1A1A"/>
                </a:solidFill>
                <a:latin typeface="Arial"/>
              </a:rPr>
              <a:t>•  GovStack Registration Building Block specification, section 6.3.1.9</a:t>
            </a:r>
          </a:p>
        </p:txBody>
      </p:sp>
      <p:sp>
        <p:nvSpPr>
          <p:cNvPr id="5" name="TextBox 4"/>
          <p:cNvSpPr txBox="1"/>
          <p:nvPr/>
        </p:nvSpPr>
        <p:spPr>
          <a:xfrm>
            <a:off x="658368" y="5806440"/>
            <a:ext cx="10881360" cy="457200"/>
          </a:xfrm>
          <a:prstGeom prst="rect">
            <a:avLst/>
          </a:prstGeom>
          <a:noFill/>
        </p:spPr>
        <p:txBody>
          <a:bodyPr wrap="square">
            <a:spAutoFit/>
          </a:bodyPr>
          <a:lstStyle/>
          <a:p>
            <a:r>
              <a:rPr sz="15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Reuse is the return on planning</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